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6" r:id="rId13"/>
    <p:sldId id="269" r:id="rId14"/>
    <p:sldId id="271" r:id="rId15"/>
    <p:sldId id="270" r:id="rId16"/>
    <p:sldId id="274" r:id="rId17"/>
    <p:sldId id="275" r:id="rId18"/>
    <p:sldId id="272" r:id="rId19"/>
    <p:sldId id="273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5" r:id="rId39"/>
    <p:sldId id="296" r:id="rId40"/>
    <p:sldId id="297" r:id="rId41"/>
    <p:sldId id="298" r:id="rId42"/>
    <p:sldId id="300" r:id="rId43"/>
    <p:sldId id="301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57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56" r:id="rId64"/>
    <p:sldId id="322" r:id="rId65"/>
    <p:sldId id="323" r:id="rId66"/>
    <p:sldId id="324" r:id="rId67"/>
    <p:sldId id="366" r:id="rId68"/>
    <p:sldId id="367" r:id="rId69"/>
    <p:sldId id="368" r:id="rId70"/>
    <p:sldId id="369" r:id="rId71"/>
    <p:sldId id="370" r:id="rId72"/>
    <p:sldId id="371" r:id="rId73"/>
    <p:sldId id="372" r:id="rId74"/>
    <p:sldId id="373" r:id="rId75"/>
    <p:sldId id="265" r:id="rId76"/>
    <p:sldId id="374" r:id="rId77"/>
    <p:sldId id="375" r:id="rId78"/>
    <p:sldId id="376" r:id="rId79"/>
    <p:sldId id="377" r:id="rId80"/>
    <p:sldId id="346" r:id="rId81"/>
    <p:sldId id="347" r:id="rId82"/>
    <p:sldId id="348" r:id="rId83"/>
    <p:sldId id="349" r:id="rId84"/>
    <p:sldId id="350" r:id="rId85"/>
    <p:sldId id="351" r:id="rId86"/>
    <p:sldId id="352" r:id="rId87"/>
    <p:sldId id="353" r:id="rId88"/>
    <p:sldId id="354" r:id="rId89"/>
    <p:sldId id="355" r:id="rId9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B6B75A0-71FF-471A-83F3-BB2407734B5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7"/>
            <p14:sldId id="268"/>
            <p14:sldId id="266"/>
            <p14:sldId id="269"/>
            <p14:sldId id="271"/>
            <p14:sldId id="270"/>
            <p14:sldId id="274"/>
            <p14:sldId id="275"/>
            <p14:sldId id="272"/>
            <p14:sldId id="273"/>
            <p14:sldId id="276"/>
            <p14:sldId id="277"/>
          </p14:sldIdLst>
        </p14:section>
        <p14:section name="2" id="{69224B3A-4C47-46BE-8ED5-BBD34A57A665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5"/>
            <p14:sldId id="296"/>
            <p14:sldId id="297"/>
            <p14:sldId id="298"/>
            <p14:sldId id="300"/>
          </p14:sldIdLst>
        </p14:section>
        <p14:section name="3" id="{68B7F045-C5F3-4109-BE1A-2D0AC3715AE2}">
          <p14:sldIdLst>
            <p14:sldId id="301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57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56"/>
            <p14:sldId id="322"/>
            <p14:sldId id="323"/>
          </p14:sldIdLst>
        </p14:section>
        <p14:section name="4" id="{07AB3BE0-088E-45E1-8E06-4AB122FB3D99}">
          <p14:sldIdLst>
            <p14:sldId id="324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265"/>
            <p14:sldId id="374"/>
            <p14:sldId id="375"/>
            <p14:sldId id="376"/>
            <p14:sldId id="377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71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26" Type="http://schemas.openxmlformats.org/officeDocument/2006/relationships/slide" Target="slides/slide25.xml" /><ns0:Relationship Id="rId21" Type="http://schemas.openxmlformats.org/officeDocument/2006/relationships/slide" Target="slides/slide20.xml" /><ns0:Relationship Id="rId42" Type="http://schemas.openxmlformats.org/officeDocument/2006/relationships/slide" Target="slides/slide41.xml" /><ns0:Relationship Id="rId47" Type="http://schemas.openxmlformats.org/officeDocument/2006/relationships/slide" Target="slides/slide46.xml" /><ns0:Relationship Id="rId63" Type="http://schemas.openxmlformats.org/officeDocument/2006/relationships/slide" Target="slides/slide62.xml" /><ns0:Relationship Id="rId68" Type="http://schemas.openxmlformats.org/officeDocument/2006/relationships/slide" Target="slides/slide67.xml" /><ns0:Relationship Id="rId84" Type="http://schemas.openxmlformats.org/officeDocument/2006/relationships/slide" Target="slides/slide83.xml" /><ns0:Relationship Id="rId89" Type="http://schemas.openxmlformats.org/officeDocument/2006/relationships/slide" Target="slides/slide88.xml" /><ns0:Relationship Id="rId16" Type="http://schemas.openxmlformats.org/officeDocument/2006/relationships/slide" Target="slides/slide15.xml" /><ns0:Relationship Id="rId11" Type="http://schemas.openxmlformats.org/officeDocument/2006/relationships/slide" Target="slides/slide10.xml" /><ns0:Relationship Id="rId32" Type="http://schemas.openxmlformats.org/officeDocument/2006/relationships/slide" Target="slides/slide31.xml" /><ns0:Relationship Id="rId37" Type="http://schemas.openxmlformats.org/officeDocument/2006/relationships/slide" Target="slides/slide36.xml" /><ns0:Relationship Id="rId53" Type="http://schemas.openxmlformats.org/officeDocument/2006/relationships/slide" Target="slides/slide52.xml" /><ns0:Relationship Id="rId58" Type="http://schemas.openxmlformats.org/officeDocument/2006/relationships/slide" Target="slides/slide57.xml" /><ns0:Relationship Id="rId74" Type="http://schemas.openxmlformats.org/officeDocument/2006/relationships/slide" Target="slides/slide73.xml" /><ns0:Relationship Id="rId79" Type="http://schemas.openxmlformats.org/officeDocument/2006/relationships/slide" Target="slides/slide78.xml" /><ns0:Relationship Id="rId5" Type="http://schemas.openxmlformats.org/officeDocument/2006/relationships/slide" Target="slides/slide4.xml" /><ns0:Relationship Id="rId90" Type="http://schemas.openxmlformats.org/officeDocument/2006/relationships/slide" Target="slides/slide89.xml" /><ns0:Relationship Id="rId95" Type="http://schemas.openxmlformats.org/officeDocument/2006/relationships/tableStyles" Target="tableStyles.xml" /><ns0:Relationship Id="rId22" Type="http://schemas.openxmlformats.org/officeDocument/2006/relationships/slide" Target="slides/slide21.xml" /><ns0:Relationship Id="rId27" Type="http://schemas.openxmlformats.org/officeDocument/2006/relationships/slide" Target="slides/slide26.xml" /><ns0:Relationship Id="rId43" Type="http://schemas.openxmlformats.org/officeDocument/2006/relationships/slide" Target="slides/slide42.xml" /><ns0:Relationship Id="rId48" Type="http://schemas.openxmlformats.org/officeDocument/2006/relationships/slide" Target="slides/slide47.xml" /><ns0:Relationship Id="rId64" Type="http://schemas.openxmlformats.org/officeDocument/2006/relationships/slide" Target="slides/slide63.xml" /><ns0:Relationship Id="rId69" Type="http://schemas.openxmlformats.org/officeDocument/2006/relationships/slide" Target="slides/slide68.xml" /><ns0:Relationship Id="rId8" Type="http://schemas.openxmlformats.org/officeDocument/2006/relationships/slide" Target="slides/slide7.xml" /><ns0:Relationship Id="rId51" Type="http://schemas.openxmlformats.org/officeDocument/2006/relationships/slide" Target="slides/slide50.xml" /><ns0:Relationship Id="rId72" Type="http://schemas.openxmlformats.org/officeDocument/2006/relationships/slide" Target="slides/slide71.xml" /><ns0:Relationship Id="rId80" Type="http://schemas.openxmlformats.org/officeDocument/2006/relationships/slide" Target="slides/slide79.xml" /><ns0:Relationship Id="rId85" Type="http://schemas.openxmlformats.org/officeDocument/2006/relationships/slide" Target="slides/slide84.xml" /><ns0:Relationship Id="rId93" Type="http://schemas.openxmlformats.org/officeDocument/2006/relationships/viewProps" Target="viewProps.xml" /><ns0:Relationship Id="rId3" Type="http://schemas.openxmlformats.org/officeDocument/2006/relationships/slide" Target="slides/slide2.xml" /><ns0:Relationship Id="rId12" Type="http://schemas.openxmlformats.org/officeDocument/2006/relationships/slide" Target="slides/slide11.xml" /><ns0:Relationship Id="rId17" Type="http://schemas.openxmlformats.org/officeDocument/2006/relationships/slide" Target="slides/slide16.xml" /><ns0:Relationship Id="rId25" Type="http://schemas.openxmlformats.org/officeDocument/2006/relationships/slide" Target="slides/slide24.xml" /><ns0:Relationship Id="rId33" Type="http://schemas.openxmlformats.org/officeDocument/2006/relationships/slide" Target="slides/slide32.xml" /><ns0:Relationship Id="rId38" Type="http://schemas.openxmlformats.org/officeDocument/2006/relationships/slide" Target="slides/slide37.xml" /><ns0:Relationship Id="rId46" Type="http://schemas.openxmlformats.org/officeDocument/2006/relationships/slide" Target="slides/slide45.xml" /><ns0:Relationship Id="rId59" Type="http://schemas.openxmlformats.org/officeDocument/2006/relationships/slide" Target="slides/slide58.xml" /><ns0:Relationship Id="rId67" Type="http://schemas.openxmlformats.org/officeDocument/2006/relationships/slide" Target="slides/slide66.xml" /><ns0:Relationship Id="rId20" Type="http://schemas.openxmlformats.org/officeDocument/2006/relationships/slide" Target="slides/slide19.xml" /><ns0:Relationship Id="rId41" Type="http://schemas.openxmlformats.org/officeDocument/2006/relationships/slide" Target="slides/slide40.xml" /><ns0:Relationship Id="rId54" Type="http://schemas.openxmlformats.org/officeDocument/2006/relationships/slide" Target="slides/slide53.xml" /><ns0:Relationship Id="rId62" Type="http://schemas.openxmlformats.org/officeDocument/2006/relationships/slide" Target="slides/slide61.xml" /><ns0:Relationship Id="rId70" Type="http://schemas.openxmlformats.org/officeDocument/2006/relationships/slide" Target="slides/slide69.xml" /><ns0:Relationship Id="rId75" Type="http://schemas.openxmlformats.org/officeDocument/2006/relationships/slide" Target="slides/slide74.xml" /><ns0:Relationship Id="rId83" Type="http://schemas.openxmlformats.org/officeDocument/2006/relationships/slide" Target="slides/slide82.xml" /><ns0:Relationship Id="rId88" Type="http://schemas.openxmlformats.org/officeDocument/2006/relationships/slide" Target="slides/slide87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5" Type="http://schemas.openxmlformats.org/officeDocument/2006/relationships/slide" Target="slides/slide14.xml" /><ns0:Relationship Id="rId23" Type="http://schemas.openxmlformats.org/officeDocument/2006/relationships/slide" Target="slides/slide22.xml" /><ns0:Relationship Id="rId28" Type="http://schemas.openxmlformats.org/officeDocument/2006/relationships/slide" Target="slides/slide27.xml" /><ns0:Relationship Id="rId36" Type="http://schemas.openxmlformats.org/officeDocument/2006/relationships/slide" Target="slides/slide35.xml" /><ns0:Relationship Id="rId49" Type="http://schemas.openxmlformats.org/officeDocument/2006/relationships/slide" Target="slides/slide48.xml" /><ns0:Relationship Id="rId57" Type="http://schemas.openxmlformats.org/officeDocument/2006/relationships/slide" Target="slides/slide56.xml" /><ns0:Relationship Id="rId10" Type="http://schemas.openxmlformats.org/officeDocument/2006/relationships/slide" Target="slides/slide9.xml" /><ns0:Relationship Id="rId31" Type="http://schemas.openxmlformats.org/officeDocument/2006/relationships/slide" Target="slides/slide30.xml" /><ns0:Relationship Id="rId44" Type="http://schemas.openxmlformats.org/officeDocument/2006/relationships/slide" Target="slides/slide43.xml" /><ns0:Relationship Id="rId52" Type="http://schemas.openxmlformats.org/officeDocument/2006/relationships/slide" Target="slides/slide51.xml" /><ns0:Relationship Id="rId60" Type="http://schemas.openxmlformats.org/officeDocument/2006/relationships/slide" Target="slides/slide59.xml" /><ns0:Relationship Id="rId65" Type="http://schemas.openxmlformats.org/officeDocument/2006/relationships/slide" Target="slides/slide64.xml" /><ns0:Relationship Id="rId73" Type="http://schemas.openxmlformats.org/officeDocument/2006/relationships/slide" Target="slides/slide72.xml" /><ns0:Relationship Id="rId78" Type="http://schemas.openxmlformats.org/officeDocument/2006/relationships/slide" Target="slides/slide77.xml" /><ns0:Relationship Id="rId81" Type="http://schemas.openxmlformats.org/officeDocument/2006/relationships/slide" Target="slides/slide80.xml" /><ns0:Relationship Id="rId86" Type="http://schemas.openxmlformats.org/officeDocument/2006/relationships/slide" Target="slides/slide85.xml" /><ns0:Relationship Id="rId94" Type="http://schemas.openxmlformats.org/officeDocument/2006/relationships/theme" Target="theme/theme1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3" Type="http://schemas.openxmlformats.org/officeDocument/2006/relationships/slide" Target="slides/slide12.xml" /><ns0:Relationship Id="rId18" Type="http://schemas.openxmlformats.org/officeDocument/2006/relationships/slide" Target="slides/slide17.xml" /><ns0:Relationship Id="rId39" Type="http://schemas.openxmlformats.org/officeDocument/2006/relationships/slide" Target="slides/slide38.xml" /><ns0:Relationship Id="rId34" Type="http://schemas.openxmlformats.org/officeDocument/2006/relationships/slide" Target="slides/slide33.xml" /><ns0:Relationship Id="rId50" Type="http://schemas.openxmlformats.org/officeDocument/2006/relationships/slide" Target="slides/slide49.xml" /><ns0:Relationship Id="rId55" Type="http://schemas.openxmlformats.org/officeDocument/2006/relationships/slide" Target="slides/slide54.xml" /><ns0:Relationship Id="rId76" Type="http://schemas.openxmlformats.org/officeDocument/2006/relationships/slide" Target="slides/slide75.xml" /><ns0:Relationship Id="rId7" Type="http://schemas.openxmlformats.org/officeDocument/2006/relationships/slide" Target="slides/slide6.xml" /><ns0:Relationship Id="rId71" Type="http://schemas.openxmlformats.org/officeDocument/2006/relationships/slide" Target="slides/slide70.xml" /><ns0:Relationship Id="rId92" Type="http://schemas.openxmlformats.org/officeDocument/2006/relationships/presProps" Target="presProps.xml" /><ns0:Relationship Id="rId2" Type="http://schemas.openxmlformats.org/officeDocument/2006/relationships/slide" Target="slides/slide1.xml" /><ns0:Relationship Id="rId29" Type="http://schemas.openxmlformats.org/officeDocument/2006/relationships/slide" Target="slides/slide28.xml" /><ns0:Relationship Id="rId24" Type="http://schemas.openxmlformats.org/officeDocument/2006/relationships/slide" Target="slides/slide23.xml" /><ns0:Relationship Id="rId40" Type="http://schemas.openxmlformats.org/officeDocument/2006/relationships/slide" Target="slides/slide39.xml" /><ns0:Relationship Id="rId45" Type="http://schemas.openxmlformats.org/officeDocument/2006/relationships/slide" Target="slides/slide44.xml" /><ns0:Relationship Id="rId66" Type="http://schemas.openxmlformats.org/officeDocument/2006/relationships/slide" Target="slides/slide65.xml" /><ns0:Relationship Id="rId87" Type="http://schemas.openxmlformats.org/officeDocument/2006/relationships/slide" Target="slides/slide86.xml" /><ns0:Relationship Id="rId61" Type="http://schemas.openxmlformats.org/officeDocument/2006/relationships/slide" Target="slides/slide60.xml" /><ns0:Relationship Id="rId82" Type="http://schemas.openxmlformats.org/officeDocument/2006/relationships/slide" Target="slides/slide81.xml" /><ns0:Relationship Id="rId19" Type="http://schemas.openxmlformats.org/officeDocument/2006/relationships/slide" Target="slides/slide18.xml" /><ns0:Relationship Id="rId14" Type="http://schemas.openxmlformats.org/officeDocument/2006/relationships/slide" Target="slides/slide13.xml" /><ns0:Relationship Id="rId30" Type="http://schemas.openxmlformats.org/officeDocument/2006/relationships/slide" Target="slides/slide29.xml" /><ns0:Relationship Id="rId35" Type="http://schemas.openxmlformats.org/officeDocument/2006/relationships/slide" Target="slides/slide34.xml" /><ns0:Relationship Id="rId56" Type="http://schemas.openxmlformats.org/officeDocument/2006/relationships/slide" Target="slides/slide55.xml" /><ns0:Relationship Id="rId77" Type="http://schemas.openxmlformats.org/officeDocument/2006/relationships/slide" Target="slides/slide76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29185-7C7B-4FF8-B890-16D5319D0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5D722-46D8-4D20-BFAA-AFDBC012A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8BB63-0225-4B63-B145-2BF43FD7D8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B9FD9F5-5BD9-477B-A6EA-39E8DEA706E4}" type="datetime1">
              <a:t>2026/9/21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EC0FE-8431-43C1-8DD3-BE5803AE16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3A58C-699F-4CEC-A07C-08C73725CA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64DE-30F3-450D-B7C4-BA89935A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EA101-CC97-49E7-9C04-E9EF4A94A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918C2-D912-47BD-8B5D-E63C269368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1E1282-1713-4503-8FAC-3492F84CBD77}" type="datetime1">
              <a:t>2026/9/21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98D03-77C0-43CC-8401-143BEB91A1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21710-5E78-4094-9188-229C0D8E5F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554B-CDE7-4EEE-96EF-792D7862E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5C773-CDAD-4C46-9690-6FDB32635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A14FB-9F45-42F7-B48E-D1BC63656A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19A289E-62A9-436B-9A9F-282065A7F155}" type="datetime1">
              <a:t>2026/9/21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BBB0C-E733-4F00-A028-822C740CEC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401B3-C709-4838-9709-B618799C29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EE13C-7108-477A-B8F4-F05F7CDDF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8A251-DC1B-4384-8E4C-D389E1343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387"/>
            <a:ext cx="5181600" cy="4854576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39A69-1541-42E1-8FBD-6257771BDC2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322387"/>
            <a:ext cx="5181600" cy="4854576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1A6E0-69E2-45F3-B434-095BFCBF1B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E4C648-B6C6-4A52-B90F-61606739B62B}" type="datetime1">
              <a:t>2026/9/21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D9E9B-A1A0-4929-9D64-5C0FD93FDC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54528-237E-41FB-ABA8-BD142132D9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21E3D-58D9-4DC5-A95B-86DBAB5E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4ACD4-843F-452F-B9A6-393E20FD1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691E2-76B6-48E4-AD09-DEDDCE3A653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79432-0287-406A-9D1D-343108888E2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03A7AB-03C4-4C6C-85FB-AC248284187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6C4D1A-9807-4C7C-85B4-B6F595EDA9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0C479AF-0A40-4808-A50D-D10632ACFF90}" type="datetime1">
              <a:t>2026/9/21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687DF2-67C0-4EEC-9899-53214D98D9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EE32EB-4913-4D87-B2F9-7B62EB3322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F8684-D0C1-4E0B-84C4-ECA97C06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557AB-342D-4F83-B72F-BAA106AA3C1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5D6B249-A3F2-4ECD-9740-1F7A09DF8B30}" type="datetime1">
              <a:t>2026/9/21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48AB2-98BF-42AD-9141-006AA149EB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83471-665C-4165-A651-E748A7F32C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2FFDE-582F-4AD2-9942-E03C5B3D9D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CB563C0-9B0B-489F-A195-B4246373F749}" type="datetime1">
              <a:t>2026/9/21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EB1B9C-C88F-409B-AF5D-10B4E406993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11853-ABF7-4F99-B130-0AAB4D7B18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4A87-1FCA-4659-89CC-27C12607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756A0-A6D2-4592-B6A4-40E8195CC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72F58-454B-464C-9D5A-57548EEAE77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69235-CD60-4FE1-A58A-C185D334A17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034EF01-F33E-4BB3-AF65-A3CC8283B837}" type="datetime1">
              <a:t>2026/9/21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539B0-C438-45B0-AFEF-7B7025725F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0D1EC-2B35-4B1A-B566-E03A58555A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C1D4B-E495-4D7C-B445-952B79D7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3C351B-C8CA-4F3C-A4F4-BA8984AC7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1EAFD-1F87-4F89-B760-2834A089CA7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16ED8-CFBB-431D-BBAB-421324785E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F26084E-7A48-4757-8657-FAC426E6DE74}" type="datetime1">
              <a:t>2026/9/21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0E88F-3E2C-40E0-B580-5508A6A419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90EBF-AE91-4714-8918-9A505774E5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717B6-93F8-4E96-996E-7330F8A7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0D38E-C21F-4CA5-9EDD-15E3F359E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B7A5E-413C-48E7-9096-49AD8975D0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4E65D9-5686-4925-8261-ACE60EDE1277}" type="datetime1">
              <a:t>2026/9/21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7DDCC-9C43-41B8-B859-45B7E8CE6C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DEC65-5DB5-4D2F-9382-DC430E0487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892AE7-81A6-493E-8A63-6987386F0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CE33A-3EA9-4773-865E-AEE77BC3B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E4CB1-B576-45F6-81A9-C7A4ACE0A2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05E10B8-6EF8-4287-855B-349FAEE500B3}" type="datetime1">
              <a:t>2026/9/21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03A24-B94E-484F-909D-27BD53762D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18A2F-CF4A-4F15-BC91-64DEE96E2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C4344-EFC0-4F42-B75A-E3B3D9BF8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0C832-DCA1-4632-89FE-0FC82AD50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8E682-EA5C-45B4-8BD2-92FE0F420C2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05698-BF43-4E12-B42C-287A58E2B7B4}" type="datetime1">
              <a:t>2026/9/21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530FC-7EEB-4B41-966A-CF01F713A27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BFBD2-E525-4E86-8DD2-397D735AE56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D2C7D-F957-4DD0-9E0D-C651C0C06F55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hyperlink" Target="mailto:heguoxiong@whu.edu.cn" TargetMode="External" /><ns0:Relationship Id="rId1" Type="http://schemas.openxmlformats.org/officeDocument/2006/relationships/slideLayout" Target="../slideLayouts/slideLayout4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4.xml.rels><?xml version='1.0' encoding='utf-8'?>
<ns0:Relationships xmlns:ns0="http://schemas.openxmlformats.org/package/2006/relationships"><ns0:Relationship Id="rId3" Type="http://schemas.openxmlformats.org/officeDocument/2006/relationships/image" Target="../media/image1.jpeg" /><ns0:Relationship Id="rId1" Type="http://schemas.openxmlformats.org/officeDocument/2006/relationships/slideLayout" Target="../slideLayouts/slideLayout2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.xml.rels><?xml version='1.0' encoding='utf-8'?>
<ns0:Relationships xmlns:ns0="http://schemas.openxmlformats.org/package/2006/relationships"><ns0:Relationship Id="rId3" Type="http://schemas.openxmlformats.org/officeDocument/2006/relationships/hyperlink" Target="https://www.sqlite.org/download.html" TargetMode="External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3.png" /><ns0:Relationship Id="rId5" Type="http://schemas.openxmlformats.org/officeDocument/2006/relationships/image" Target="../media/image2.png" /><ns0:Relationship Id="rId4" Type="http://schemas.openxmlformats.org/officeDocument/2006/relationships/hyperlink" Target="https://github.com/HAaron-hub/database-systems/tree/main/labs" TargetMode="Externa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9.xml.rels><?xml version='1.0' encoding='utf-8'?>
<ns0:Relationships xmlns:ns0="http://schemas.openxmlformats.org/package/2006/relationships"><ns0:Relationship Id="rId3" Type="http://schemas.openxmlformats.org/officeDocument/2006/relationships/image" Target="../media/image4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5.png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12.xml.rels><?xml version='1.0' encoding='utf-8'?>
<ns0:Relationships xmlns:ns0="http://schemas.openxmlformats.org/package/2006/relationships"><ns0:Relationship Id="rId3" Type="http://schemas.openxmlformats.org/officeDocument/2006/relationships/image" Target="../media/image6.png" /><ns0:Relationship Id="rId1" Type="http://schemas.openxmlformats.org/officeDocument/2006/relationships/slideLayout" Target="../slideLayouts/slideLayout2.xml" /></ns0:Relationships>
</file>

<file path=ppt/slides/_rels/slide13.xml.rels><?xml version='1.0' encoding='utf-8'?>
<ns0:Relationships xmlns:ns0="http://schemas.openxmlformats.org/package/2006/relationships"><ns0:Relationship Id="rId3" Type="http://schemas.openxmlformats.org/officeDocument/2006/relationships/hyperlink" Target="https://www.sqlitetutorial.net/sqlite-sample-database/" TargetMode="External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7.png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15.xml.rels><?xml version='1.0' encoding='utf-8'?>
<ns0:Relationships xmlns:ns0="http://schemas.openxmlformats.org/package/2006/relationships"><ns0:Relationship Id="rId3" Type="http://schemas.openxmlformats.org/officeDocument/2006/relationships/image" Target="../media/image8.png" /><ns0:Relationship Id="rId1" Type="http://schemas.openxmlformats.org/officeDocument/2006/relationships/slideLayout" Target="../slideLayouts/slideLayout2.xml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image9.png" /><ns0:Relationship Id="rId1" Type="http://schemas.openxmlformats.org/officeDocument/2006/relationships/slideLayout" Target="../slideLayouts/slideLayout2.xml" /></ns0:Relationships>
</file>

<file path=ppt/slides/_rels/slide1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23.xml.rels><?xml version='1.0' encoding='utf-8'?>
<ns0:Relationships xmlns:ns0="http://schemas.openxmlformats.org/package/2006/relationships"><ns0:Relationship Id="rId3" Type="http://schemas.openxmlformats.org/officeDocument/2006/relationships/image" Target="../media/image10.png" /><ns0:Relationship Id="rId1" Type="http://schemas.openxmlformats.org/officeDocument/2006/relationships/slideLayout" Target="../slideLayouts/slideLayout2.xml" /></ns0:Relationships>
</file>

<file path=ppt/slides/_rels/slide2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5.xml.rels><?xml version='1.0' encoding='utf-8'?>
<ns0:Relationships xmlns:ns0="http://schemas.openxmlformats.org/package/2006/relationships"><ns0:Relationship Id="rId3" Type="http://schemas.openxmlformats.org/officeDocument/2006/relationships/hyperlink" Target="https://www.sqlite.org/cli.html" TargetMode="External" /><ns0:Relationship Id="rId1" Type="http://schemas.openxmlformats.org/officeDocument/2006/relationships/slideLayout" Target="../slideLayouts/slideLayout2.xml" /></ns0:Relationships>
</file>

<file path=ppt/slides/_rels/slide26.xml.rels><?xml version='1.0' encoding='utf-8'?>
<ns0:Relationships xmlns:ns0="http://schemas.openxmlformats.org/package/2006/relationships"><ns0:Relationship Id="rId3" Type="http://schemas.openxmlformats.org/officeDocument/2006/relationships/image" Target="../media/image11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12.png" /></ns0:Relationships>
</file>

<file path=ppt/slides/_rels/slide27.xml.rels><?xml version='1.0' encoding='utf-8'?>
<ns0:Relationships xmlns:ns0="http://schemas.openxmlformats.org/package/2006/relationships"><ns0:Relationship Id="rId3" Type="http://schemas.openxmlformats.org/officeDocument/2006/relationships/image" Target="../media/image13.png" /><ns0:Relationship Id="rId1" Type="http://schemas.openxmlformats.org/officeDocument/2006/relationships/slideLayout" Target="../slideLayouts/slideLayout2.xml" /></ns0:Relationships>
</file>

<file path=ppt/slides/_rels/slide2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2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30.xml.rels><?xml version='1.0' encoding='utf-8'?>
<ns0:Relationships xmlns:ns0="http://schemas.openxmlformats.org/package/2006/relationships"><ns0:Relationship Id="rId3" Type="http://schemas.openxmlformats.org/officeDocument/2006/relationships/image" Target="../media/image14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15.png" /></ns0:Relationships>
</file>

<file path=ppt/slides/_rels/slide31.xml.rels><?xml version='1.0' encoding='utf-8'?>
<ns0:Relationships xmlns:ns0="http://schemas.openxmlformats.org/package/2006/relationships"><ns0:Relationship Id="rId3" Type="http://schemas.openxmlformats.org/officeDocument/2006/relationships/image" Target="../media/image16.png" /><ns0:Relationship Id="rId1" Type="http://schemas.openxmlformats.org/officeDocument/2006/relationships/slideLayout" Target="../slideLayouts/slideLayout2.xml" /></ns0:Relationships>
</file>

<file path=ppt/slides/_rels/slide32.xml.rels><?xml version='1.0' encoding='utf-8'?>
<ns0:Relationships xmlns:ns0="http://schemas.openxmlformats.org/package/2006/relationships"><ns0:Relationship Id="rId3" Type="http://schemas.openxmlformats.org/officeDocument/2006/relationships/image" Target="../media/image17.png" /><ns0:Relationship Id="rId1" Type="http://schemas.openxmlformats.org/officeDocument/2006/relationships/slideLayout" Target="../slideLayouts/slideLayout2.xml" /><ns0:Relationship Id="rId5" Type="http://schemas.openxmlformats.org/officeDocument/2006/relationships/hyperlink" Target="https://github.com/sqlitebrowser/sqlitebrowser/wiki" TargetMode="External" /><ns0:Relationship Id="rId4" Type="http://schemas.openxmlformats.org/officeDocument/2006/relationships/image" Target="../media/image18.png" /></ns0:Relationships>
</file>

<file path=ppt/slides/_rels/slide33.xml.rels><?xml version='1.0' encoding='utf-8'?>
<ns0:Relationships xmlns:ns0="http://schemas.openxmlformats.org/package/2006/relationships"><ns0:Relationship Id="rId3" Type="http://schemas.openxmlformats.org/officeDocument/2006/relationships/hyperlink" Target="https://github.com/sqlitebrowser/sqlitebrowser/wiki/Browse-Data" TargetMode="External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19.png" /></ns0:Relationships>
</file>

<file path=ppt/slides/_rels/slide34.xml.rels><?xml version='1.0' encoding='utf-8'?>
<ns0:Relationships xmlns:ns0="http://schemas.openxmlformats.org/package/2006/relationships"><ns0:Relationship Id="rId3" Type="http://schemas.openxmlformats.org/officeDocument/2006/relationships/hyperlink" Target="https://github.com/sqlitebrowser/sqlitebrowser/wiki/Using-the-Filters" TargetMode="External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21.png" /><ns0:Relationship Id="rId4" Type="http://schemas.openxmlformats.org/officeDocument/2006/relationships/image" Target="../media/image20.png" /></ns0:Relationships>
</file>

<file path=ppt/slides/_rels/slide3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3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37.xml.rels><?xml version='1.0' encoding='utf-8'?>
<ns0:Relationships xmlns:ns0="http://schemas.openxmlformats.org/package/2006/relationships"><ns0:Relationship Id="rId3" Type="http://schemas.openxmlformats.org/officeDocument/2006/relationships/image" Target="../media/image22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24.png" /><ns0:Relationship Id="rId4" Type="http://schemas.openxmlformats.org/officeDocument/2006/relationships/image" Target="../media/image23.png" /></ns0:Relationships>
</file>

<file path=ppt/slides/_rels/slide3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3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4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4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4.xml.rels><?xml version='1.0' encoding='utf-8'?>
<ns0:Relationships xmlns:ns0="http://schemas.openxmlformats.org/package/2006/relationships"><ns0:Relationship Id="rId3" Type="http://schemas.openxmlformats.org/officeDocument/2006/relationships/image" Target="../media/image25.png" /><ns0:Relationship Id="rId1" Type="http://schemas.openxmlformats.org/officeDocument/2006/relationships/slideLayout" Target="../slideLayouts/slideLayout2.xml" /></ns0:Relationships>
</file>

<file path=ppt/slides/_rels/slide4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4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8.xml.rels><?xml version='1.0' encoding='utf-8'?>
<ns0:Relationships xmlns:ns0="http://schemas.openxmlformats.org/package/2006/relationships"><ns0:Relationship Id="rId3" Type="http://schemas.openxmlformats.org/officeDocument/2006/relationships/image" Target="../media/image26.png" /><ns0:Relationship Id="rId1" Type="http://schemas.openxmlformats.org/officeDocument/2006/relationships/slideLayout" Target="../slideLayouts/slideLayout2.xml" /></ns0:Relationships>
</file>

<file path=ppt/slides/_rels/slide5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61.xml.rels><?xml version='1.0' encoding='utf-8'?>
<ns0:Relationships xmlns:ns0="http://schemas.openxmlformats.org/package/2006/relationships"><ns0:Relationship Id="rId3" Type="http://schemas.openxmlformats.org/officeDocument/2006/relationships/image" Target="../media/image27.png" /><ns0:Relationship Id="rId1" Type="http://schemas.openxmlformats.org/officeDocument/2006/relationships/slideLayout" Target="../slideLayouts/slideLayout2.xml" /></ns0:Relationships>
</file>

<file path=ppt/slides/_rels/slide6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64.xml.rels><?xml version='1.0' encoding='utf-8'?>
<ns0:Relationships xmlns:ns0="http://schemas.openxmlformats.org/package/2006/relationships"><ns0:Relationship Id="rId3" Type="http://schemas.openxmlformats.org/officeDocument/2006/relationships/image" Target="../media/image28.png" /><ns0:Relationship Id="rId1" Type="http://schemas.openxmlformats.org/officeDocument/2006/relationships/slideLayout" Target="../slideLayouts/slideLayout2.xml" /></ns0:Relationships>
</file>

<file path=ppt/slides/_rels/slide65.xml.rels><?xml version='1.0' encoding='utf-8'?>
<ns0:Relationships xmlns:ns0="http://schemas.openxmlformats.org/package/2006/relationships"><ns0:Relationship Id="rId3" Type="http://schemas.openxmlformats.org/officeDocument/2006/relationships/image" Target="../media/image29.png" /><ns0:Relationship Id="rId1" Type="http://schemas.openxmlformats.org/officeDocument/2006/relationships/slideLayout" Target="../slideLayouts/slideLayout2.xml" /></ns0:Relationships>
</file>

<file path=ppt/slides/_rels/slide6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8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8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8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8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8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8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8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8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8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8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6FBB6-F801-4877-A680-B3ECBE55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the SQLite Labs</a:t>
            </a: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C54A93AA-F54A-4FD3-B1C5-28A61E40CDB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8200" y="1228725"/>
            <a:ext cx="9991725" cy="4854576"/>
          </a:xfrm>
        </p:spPr>
        <p:txBody>
          <a:bodyPr/>
          <a:lstStyle/>
          <a:p>
            <a:pPr marL="0" indent="0">
              <a:buNone/>
            </a:pPr>
            <a:r>
              <a:rPr i="1" dirty="0"/>
              <a:t>Intro to Database Systems </a:t>
            </a:r>
          </a:p>
          <a:p>
            <a:pPr marL="0" indent="0">
              <a:buNone/>
            </a:pPr>
            <a:r>
              <a:rPr i="1" dirty="0"/>
              <a:t>Two practical sessions: around 45*3 + 45*3 minutes</a:t>
            </a:r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r>
              <a:rPr dirty="0"/>
              <a:t>For course related Q/A, write to </a:t>
            </a:r>
            <a:r>
              <a:rPr dirty="0">
                <a:hlinkClick r:id="rId3"/>
              </a:rPr>
              <a:t>heguoxiong@whu.edu.cn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C4629-CD40-44B4-8E6B-7157434E78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</a:t>
            </a:fld>
            <a:endParaRPr/>
          </a:p>
        </p:txBody>
      </p:sp>
      <p:graphicFrame>
        <p:nvGraphicFramePr>
          <p:cNvPr id="9" name="表格 6"/>
          <p:cNvGraphicFramePr/>
          <p:nvPr/>
        </p:nvGraphicFramePr>
        <p:xfrm>
          <a:off x="838200" y="2861055"/>
          <a:ext cx="10287000" cy="1319784"/>
        </p:xfrm>
        <a:graphic>
          <a:graphicData uri="http://schemas.openxmlformats.org/drawingml/2006/table">
            <a:tbl>
              <a:tblPr/>
              <a:tblGrid>
                <a:gridCol w="1132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9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Session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Main work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Setup, tables, constraints, changes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Create and modify a working SQLite database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Grouping, joins and subqueries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Write and explain multi-table queries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526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2E7B-0FF9-4F33-9AE2-36F390D46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Classroom Workflow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6DEBB501-F761-477E-9E49-12BF5233832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Show some cases of SQL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then explain the output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and give some practices.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557E0B6F-B502-47E7-9E78-79E33D3BE040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75565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Keep your SQL scripts and record the first error message.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332DF810-3109-4FEB-AF2B-4BE9BFB03C94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 and DB Browser are two ways to access SQLite database files.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FEC360EE-AD36-43E1-B2B7-16975C4938D6}"/>
              </a:ext>
            </a:extLst>
          </p:cNvPr>
          <p:cNvSpPr>
            <a:spLocks noGrp="1"/>
          </p:cNvSpPr>
          <p:nvPr/>
        </p:nvSpPr>
        <p:spPr>
          <a:xfrm>
            <a:off x="933450" y="3297555"/>
            <a:ext cx="102870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Practice answers follow the question slides. Ask for help after one independent attempt.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81237C6-EEC1-44B6-8A26-D7BE69C95E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2</a:t>
            </a:fld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ECDC16-5FF4-634C-399E-9591929349B9}"/>
              </a:ext>
            </a:extLst>
          </p:cNvPr>
          <p:cNvSpPr>
            <a:spLocks noGrp="1"/>
          </p:cNvSpPr>
          <p:nvPr/>
        </p:nvSpPr>
        <p:spPr>
          <a:xfrm>
            <a:off x="2748558" y="4932790"/>
            <a:ext cx="7081242" cy="593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400" b="1" i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Feel free to raise questions whenever you want</a:t>
            </a:r>
          </a:p>
        </p:txBody>
      </p:sp>
    </p:spTree>
    <p:extLst>
      <p:ext uri="{BB962C8B-B14F-4D97-AF65-F5344CB8AC3E}">
        <p14:creationId xmlns:p14="http://schemas.microsoft.com/office/powerpoint/2010/main" val="178620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F9B144B4-C40D-4CA1-9B5C-986AF585F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1 - SQLite Setup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8DEFB72A-2E65-4C24-B4CA-BB4466B473FF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Session 1: use database files and run your first commands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BB557-D0FA-4661-B3A2-37F9FC2563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881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CB55E-C655-42AC-B6CC-F8F61B8FD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  <a:ea typeface="Calibri"/>
                <a:cs typeface="Calibri"/>
              </a:rPr>
              <a:t>Same Starting Line towards SQL 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C13CE-E250-45B1-8461-4BC3E634D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t>There are many DBMSs (DataBase Management Systems)</a:t>
            </a:r>
          </a:p>
          <a:p>
            <a:pPr>
              <a:lnSpc>
                <a:spcPct val="150000"/>
              </a:lnSpc>
              <a:buNone/>
            </a:pPr>
            <a:r>
              <a:t>We will begin our journey with </a:t>
            </a:r>
            <a:r>
              <a:rPr>
                <a:solidFill>
                  <a:srgbClr val="FF0000"/>
                </a:solidFill>
              </a:rPr>
              <a:t>SQLite</a:t>
            </a:r>
            <a:r>
              <a:t>.</a:t>
            </a:r>
          </a:p>
          <a:p>
            <a:pPr lvl="1">
              <a:lnSpc>
                <a:spcPct val="150000"/>
              </a:lnSpc>
              <a:buNone/>
            </a:pPr>
            <a:r>
              <a:t>A </a:t>
            </a:r>
            <a:r>
              <a:rPr b="1"/>
              <a:t>lightweight</a:t>
            </a:r>
            <a:r>
              <a:t>, </a:t>
            </a:r>
            <a:r>
              <a:rPr b="1"/>
              <a:t>self-contained</a:t>
            </a:r>
            <a:r>
              <a:t>, </a:t>
            </a:r>
            <a:r>
              <a:rPr b="1"/>
              <a:t>serverless</a:t>
            </a:r>
            <a:r>
              <a:t> relational database management system (RDBMS).</a:t>
            </a:r>
          </a:p>
          <a:p>
            <a:pPr lvl="1">
              <a:lnSpc>
                <a:spcPct val="150000"/>
              </a:lnSpc>
              <a:buNone/>
            </a:pPr>
            <a:r>
              <a:t>"Lite" refers to minimal setup, administration, and resource requirements</a:t>
            </a: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04" y="5411509"/>
            <a:ext cx="2296147" cy="108136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637F125-44EB-4FF4-8882-5D37C8EE66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5603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760C3-B7E2-4BAD-9772-C17BF9D25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Nice SQLite Properties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8FB3B-BA6F-4B56-93A2-0545CEF77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i="1" u="sng"/>
              <a:t>Self-contained</a:t>
            </a:r>
          </a:p>
          <a:p>
            <a:pPr lvl="1">
              <a:lnSpc>
                <a:spcPct val="150000"/>
              </a:lnSpc>
              <a:buNone/>
            </a:pPr>
            <a:r>
              <a:t>Minimal support needed from OS or external libraries</a:t>
            </a:r>
          </a:p>
          <a:p>
            <a:pPr lvl="1">
              <a:lnSpc>
                <a:spcPct val="150000"/>
              </a:lnSpc>
              <a:buNone/>
            </a:pPr>
            <a:r>
              <a:t>Suitable for embedded devices (e.g., smartphones, game consoles)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i="1" u="sng"/>
              <a:t>Serverless</a:t>
            </a:r>
          </a:p>
          <a:p>
            <a:pPr lvl="1">
              <a:lnSpc>
                <a:spcPct val="150000"/>
              </a:lnSpc>
              <a:buNone/>
            </a:pPr>
            <a:r>
              <a:t>No separate server process required</a:t>
            </a:r>
          </a:p>
          <a:p>
            <a:pPr lvl="1">
              <a:lnSpc>
                <a:spcPct val="150000"/>
              </a:lnSpc>
              <a:buNone/>
            </a:pPr>
            <a:r>
              <a:t>Applications interact directly with database files on disk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i="1" u="sng"/>
              <a:t>Zero-configuration</a:t>
            </a:r>
          </a:p>
          <a:p>
            <a:pPr lvl="1">
              <a:lnSpc>
                <a:spcPct val="150000"/>
              </a:lnSpc>
              <a:buNone/>
            </a:pPr>
            <a:r>
              <a:t>No installation or configuration files needed</a:t>
            </a:r>
          </a:p>
          <a:p>
            <a:pPr lvl="1">
              <a:lnSpc>
                <a:spcPct val="150000"/>
              </a:lnSpc>
              <a:buNone/>
            </a:pPr>
            <a:r>
              <a:t>No server processes to start or stop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68239-DFFC-4689-88CE-D204181EDF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0170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0AF49-C996-461A-AEC5-4C18AA2C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Installation (10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3F5A7-2071-4E57-8D4A-A7606EBFA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775" y="1075434"/>
            <a:ext cx="10515600" cy="5189855"/>
          </a:xfrm>
        </p:spPr>
        <p:txBody>
          <a:bodyPr>
            <a:normAutofit fontScale="97500"/>
          </a:bodyPr>
          <a:lstStyle/>
          <a:p>
            <a:pPr>
              <a:lnSpc>
                <a:spcPct val="150000"/>
              </a:lnSpc>
              <a:buNone/>
            </a:pPr>
            <a:r>
              <a:rPr dirty="0">
                <a:latin typeface="Calibri"/>
                <a:ea typeface="Calibri"/>
                <a:cs typeface="Calibri"/>
              </a:rPr>
              <a:t>Download SQLite </a:t>
            </a:r>
            <a:r>
              <a:rPr u="sng" dirty="0">
                <a:solidFill>
                  <a:srgbClr val="467886"/>
                </a:solidFill>
                <a:latin typeface="Calibri"/>
                <a:ea typeface="Calibri"/>
                <a:cs typeface="Calibri"/>
                <a:hlinkClick r:id="rId3"/>
              </a:rPr>
              <a:t>https://www.sqlite.org/download.html</a:t>
            </a:r>
            <a:endParaRPr u="sng" dirty="0">
              <a:solidFill>
                <a:schemeClr val="hlink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endParaRPr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endParaRPr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endParaRPr lang="zh-CN" alt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Download database: </a:t>
            </a:r>
            <a:r>
              <a:rPr lang="en-US" dirty="0">
                <a:latin typeface="Calibri"/>
                <a:ea typeface="Calibri"/>
                <a:cs typeface="Calibri"/>
                <a:hlinkClick r:id="rId4"/>
              </a:rPr>
              <a:t>https://github.com/HAaron-hub/database-systems/tree/main/labs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endParaRPr u="sng" dirty="0">
              <a:solidFill>
                <a:schemeClr val="hlink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buNone/>
            </a:pPr>
            <a:endParaRPr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endParaRPr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F3C0A38-0E93-4C18-A2A1-8087C7D4D3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6</a:t>
            </a:fld>
            <a:endParaRPr/>
          </a:p>
        </p:txBody>
      </p:sp>
      <p:pic>
        <p:nvPicPr>
          <p:cNvPr id="1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862661"/>
            <a:ext cx="9244965" cy="2854325"/>
          </a:xfrm>
          <a:prstGeom prst="rect">
            <a:avLst/>
          </a:prstGeom>
        </p:spPr>
      </p:pic>
      <p:sp>
        <p:nvSpPr>
          <p:cNvPr id="7" name="矩形 4">
            <a:extLst>
              <a:ext uri="{FF2B5EF4-FFF2-40B4-BE49-F238E27FC236}">
                <a16:creationId xmlns:a16="http://schemas.microsoft.com/office/drawing/2014/main" id="{EC40588F-0E84-4FB8-B2C5-BA0FF19A80C4}"/>
              </a:ext>
            </a:extLst>
          </p:cNvPr>
          <p:cNvSpPr>
            <a:spLocks noGrp="1"/>
          </p:cNvSpPr>
          <p:nvPr/>
        </p:nvSpPr>
        <p:spPr>
          <a:xfrm>
            <a:off x="1007745" y="4391231"/>
            <a:ext cx="1751330" cy="2603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矩形 4">
            <a:extLst>
              <a:ext uri="{FF2B5EF4-FFF2-40B4-BE49-F238E27FC236}">
                <a16:creationId xmlns:a16="http://schemas.microsoft.com/office/drawing/2014/main" id="{218C4A49-E98B-4649-A781-F352F433528B}"/>
              </a:ext>
            </a:extLst>
          </p:cNvPr>
          <p:cNvSpPr>
            <a:spLocks noGrp="1"/>
          </p:cNvSpPr>
          <p:nvPr/>
        </p:nvSpPr>
        <p:spPr>
          <a:xfrm>
            <a:off x="1007745" y="2364311"/>
            <a:ext cx="1751330" cy="2603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5E540C21-F042-0D71-43F3-7DA5311745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013" t="59647" r="62980" b="24037"/>
          <a:stretch>
            <a:fillRect/>
          </a:stretch>
        </p:blipFill>
        <p:spPr>
          <a:xfrm>
            <a:off x="8107729" y="5528151"/>
            <a:ext cx="1874471" cy="1090077"/>
          </a:xfrm>
          <a:prstGeom prst="rect">
            <a:avLst/>
          </a:prstGeom>
        </p:spPr>
      </p:pic>
      <p:sp>
        <p:nvSpPr>
          <p:cNvPr id="6" name="explanation-lead">
            <a:extLst>
              <a:ext uri="{FF2B5EF4-FFF2-40B4-BE49-F238E27FC236}">
                <a16:creationId xmlns:a16="http://schemas.microsoft.com/office/drawing/2014/main" id="{75FC0FC5-C614-B5A2-2492-73A2FC2392BF}"/>
              </a:ext>
            </a:extLst>
          </p:cNvPr>
          <p:cNvSpPr>
            <a:spLocks noGrp="1"/>
          </p:cNvSpPr>
          <p:nvPr/>
        </p:nvSpPr>
        <p:spPr>
          <a:xfrm>
            <a:off x="5787443" y="784810"/>
            <a:ext cx="5798714" cy="44925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 lnSpcReduction="20000"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 dirty="0">
                <a:solidFill>
                  <a:srgbClr val="4F4F4F"/>
                </a:solidFill>
                <a:latin typeface="Aptos"/>
                <a:ea typeface="Aptos"/>
                <a:cs typeface="Aptos"/>
              </a:rPr>
              <a:t>The location</a:t>
            </a:r>
            <a:r>
              <a:rPr lang="en-US" sz="2175" dirty="0">
                <a:solidFill>
                  <a:srgbClr val="4F4F4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2175" dirty="0">
                <a:solidFill>
                  <a:srgbClr val="4F4F4F"/>
                </a:solidFill>
                <a:latin typeface="Aptos"/>
                <a:ea typeface="Aptos"/>
                <a:cs typeface="Aptos"/>
              </a:rPr>
              <a:t>of SQLite and database</a:t>
            </a:r>
            <a:r>
              <a:rPr sz="2175" dirty="0">
                <a:solidFill>
                  <a:srgbClr val="4F4F4F"/>
                </a:solidFill>
                <a:latin typeface="Aptos"/>
                <a:ea typeface="Aptos"/>
                <a:cs typeface="Aptos"/>
              </a:rPr>
              <a:t> do not have to be the same.</a:t>
            </a:r>
          </a:p>
        </p:txBody>
      </p:sp>
    </p:spTree>
    <p:extLst>
      <p:ext uri="{BB962C8B-B14F-4D97-AF65-F5344CB8AC3E}">
        <p14:creationId xmlns:p14="http://schemas.microsoft.com/office/powerpoint/2010/main" val="208978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55A3-757B-4E51-85D3-C1FEFEB5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SQLite Version Requirements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665D45E1-4128-424E-98ED-B062C944B4AF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Core SQL is designed for SQLite 3.39 or later.</a:t>
            </a:r>
          </a:p>
        </p:txBody>
      </p:sp>
      <p:graphicFrame>
        <p:nvGraphicFramePr>
          <p:cNvPr id="10" name="表格 3"/>
          <p:cNvGraphicFramePr/>
          <p:nvPr/>
        </p:nvGraphicFramePr>
        <p:xfrm>
          <a:off x="933450" y="2025015"/>
          <a:ext cx="10287000" cy="1847088"/>
        </p:xfrm>
        <a:graphic>
          <a:graphicData uri="http://schemas.openxmlformats.org/drawingml/2006/table">
            <a:tbl>
              <a:tblPr/>
              <a:tblGrid>
                <a:gridCol w="451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3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Feature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Minimum SQLite version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Classroom use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DROP COLUMN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3.35.0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Schema changes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RIGHT / FULL JOIN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3.39.0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Join practice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Direct NOT NULL / CHECK changes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3.53.0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Optional shortcut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body-2">
            <a:extLst>
              <a:ext uri="{FF2B5EF4-FFF2-40B4-BE49-F238E27FC236}">
                <a16:creationId xmlns:a16="http://schemas.microsoft.com/office/drawing/2014/main" id="{BDD6C4B6-572C-4361-9B5B-CC60318E2D5D}"/>
              </a:ext>
            </a:extLst>
          </p:cNvPr>
          <p:cNvSpPr>
            <a:spLocks noGrp="1"/>
          </p:cNvSpPr>
          <p:nvPr/>
        </p:nvSpPr>
        <p:spPr>
          <a:xfrm>
            <a:off x="933450" y="4081653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DB Browser can embed a different engine version from your sqlite3 CLI.</a:t>
            </a:r>
          </a:p>
        </p:txBody>
      </p:sp>
      <p:sp>
        <p:nvSpPr>
          <p:cNvPr id="6" name="Slide Number Placeholder 12">
            <a:extLst>
              <a:ext uri="{FF2B5EF4-FFF2-40B4-BE49-F238E27FC236}">
                <a16:creationId xmlns:a16="http://schemas.microsoft.com/office/drawing/2014/main" id="{A92A70B4-8127-4CFB-A297-EECD2B9222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422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54265A52-9CCA-45DE-BBC1-E164661ED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2 - Database Files and Commands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F447E9-8F0F-4F98-8988-EC7410045B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529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EB632-92EF-4E67-8C76-2BFBCD60B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Opening SQLite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E5588FD-5DB2-48FA-B5B6-CCB9AFFEF092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Open a terminal and change to the folder that contains the database files.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9C596CC6-406D-4D0B-BBB8-D8AA4A744E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9</a:t>
            </a:fld>
            <a:endParaRPr/>
          </a:p>
        </p:txBody>
      </p:sp>
      <p:pic>
        <p:nvPicPr>
          <p:cNvPr id="2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566" y="1924024"/>
            <a:ext cx="4857143" cy="571429"/>
          </a:xfrm>
          <a:prstGeom prst="rect">
            <a:avLst/>
          </a:prstGeom>
        </p:spPr>
      </p:pic>
      <p:sp>
        <p:nvSpPr>
          <p:cNvPr id="11" name="body-0">
            <a:extLst>
              <a:ext uri="{FF2B5EF4-FFF2-40B4-BE49-F238E27FC236}">
                <a16:creationId xmlns:a16="http://schemas.microsoft.com/office/drawing/2014/main" id="{1ECF4B8B-F659-FA98-A01B-AED9DF9D8F12}"/>
              </a:ext>
            </a:extLst>
          </p:cNvPr>
          <p:cNvSpPr>
            <a:spLocks noGrp="1"/>
          </p:cNvSpPr>
          <p:nvPr/>
        </p:nvSpPr>
        <p:spPr>
          <a:xfrm>
            <a:off x="933450" y="2774257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Open SQLite</a:t>
            </a:r>
          </a:p>
        </p:txBody>
      </p:sp>
      <p:pic>
        <p:nvPicPr>
          <p:cNvPr id="22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566" y="3582275"/>
            <a:ext cx="7761905" cy="1457143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1DF8A564-A737-4073-90AF-0D8AAEE95299}"/>
              </a:ext>
            </a:extLst>
          </p:cNvPr>
          <p:cNvSpPr>
            <a:spLocks noGrp="1"/>
          </p:cNvSpPr>
          <p:nvPr/>
        </p:nvSpPr>
        <p:spPr>
          <a:xfrm>
            <a:off x="609018" y="5454219"/>
            <a:ext cx="10389677" cy="95410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Before you go, briefly </a:t>
            </a:r>
            <a:r>
              <a:rPr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show</a:t>
            </a:r>
            <a:r>
              <a:rPr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 TA that you’ve downloaded SQLite to receive your tutorial mark</a:t>
            </a:r>
          </a:p>
        </p:txBody>
      </p:sp>
      <p:sp>
        <p:nvSpPr>
          <p:cNvPr id="5" name="practice-time">
            <a:extLst>
              <a:ext uri="{FF2B5EF4-FFF2-40B4-BE49-F238E27FC236}">
                <a16:creationId xmlns:a16="http://schemas.microsoft.com/office/drawing/2014/main" id="{DC35BF40-2DD1-CC17-2942-0F166979E95A}"/>
              </a:ext>
            </a:extLst>
          </p:cNvPr>
          <p:cNvSpPr>
            <a:spLocks noGrp="1"/>
          </p:cNvSpPr>
          <p:nvPr/>
        </p:nvSpPr>
        <p:spPr>
          <a:xfrm>
            <a:off x="9518650" y="728548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1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minute.</a:t>
            </a:r>
          </a:p>
        </p:txBody>
      </p:sp>
    </p:spTree>
    <p:extLst>
      <p:ext uri="{BB962C8B-B14F-4D97-AF65-F5344CB8AC3E}">
        <p14:creationId xmlns:p14="http://schemas.microsoft.com/office/powerpoint/2010/main" val="416460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41851154-9FEB-4821-BEA9-8672C48B75B7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Opening and Inspecting a Database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8C0FE74B-124D-428B-8A0E-ECA2CD8164C3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A dot-command controls the sqlite3 program. It does not end with a semicolon.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363B3A66-48AB-417B-94A1-BDF9CF1DEAE8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.open lab_work.db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04A3085D-553F-4C91-9B99-8ED9F401EB39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Open this file as main. A wrong path may create a new, empty database file.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31A2A782-6D52-40C9-B722-BB2A1E3FC137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.databases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F27CD94A-A9A6-4D3A-B4D2-8D3169778AD2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Show every connected database and its exact file path.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D37680D5-E88C-4E80-9E14-CF465D9F7A0B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.tables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4AB4EEC6-A237-4694-948A-614E1D5EAB96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List the tables in the current database.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429D96DC-53F4-499E-B2D4-E940C4183E51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.schema student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7407BE4F-E7F3-4F74-AB34-5BCA58306690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Show the CREATE statement that defines the student table.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9D7E5A57-FBA4-43E2-B99C-7A2643B99B23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SELECT COUNT(*) ...;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3B667434-7D74-4999-9BAC-C0E22076194E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Run SQL in the database engine. The semicolon ends the SQL statement.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EDCF536D-C3D9-4AB3-8566-EDD8F297F459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If .tables is unexpectedly empty, check .databases before doing anything else.</a:t>
            </a:r>
          </a:p>
        </p:txBody>
      </p:sp>
    </p:spTree>
    <p:extLst>
      <p:ext uri="{BB962C8B-B14F-4D97-AF65-F5344CB8AC3E}">
        <p14:creationId xmlns:p14="http://schemas.microsoft.com/office/powerpoint/2010/main" val="1110966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xplanation-title">
            <a:extLst>
              <a:ext uri="{FF2B5EF4-FFF2-40B4-BE49-F238E27FC236}">
                <a16:creationId xmlns:a16="http://schemas.microsoft.com/office/drawing/2014/main" id="{21144126-2A0B-43FF-B4C1-99261BCF0D53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Running the Setup Script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9D3CAA3B-33BD-4205-AEE0-EBF274F9475A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The setup file contains SQL statements that create and populate practice tables.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B398B1F8-13F2-4D0F-AB0D-605C77D36F5C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.read 01_lab_setup.sql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39C82E4F-0BA5-4B11-B905-DFAD122B4908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Read the named text file and execute its SQL in the current connection.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B5BE6179-CC96-473B-84CC-8C5C58ED4795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Run it once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78B78563-01C3-4B04-8D89-D81E74B88768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Running the setup again may try to recreate tables or duplicate seed data.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EA9D7C6E-779F-4648-8D46-656B1A296CB6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SELECT COUNT(*)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F552663D-AAE0-450E-AB16-57D1B9501A3F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Check that the setup produced the expected six student rows.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4143EA14-B74E-4385-9F97-0E57896D3095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Path rule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83E362F5-1469-4E0E-9737-E7E37796B33D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If the script is in another folder, supply a relative or complete file path.</a:t>
            </a:r>
          </a:p>
        </p:txBody>
      </p:sp>
      <p:sp>
        <p:nvSpPr>
          <p:cNvPr id="11" name="explanation-tail">
            <a:extLst>
              <a:ext uri="{FF2B5EF4-FFF2-40B4-BE49-F238E27FC236}">
                <a16:creationId xmlns:a16="http://schemas.microsoft.com/office/drawing/2014/main" id="{F17C1B15-CF95-4ED5-817F-4E6AB723274A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The .</a:t>
            </a:r>
            <a:r>
              <a:rPr sz="1875" dirty="0" err="1">
                <a:solidFill>
                  <a:srgbClr val="555500"/>
                </a:solidFill>
                <a:latin typeface="Aptos"/>
                <a:ea typeface="Aptos"/>
                <a:cs typeface="Aptos"/>
              </a:rPr>
              <a:t>sql</a:t>
            </a: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 file is a script. </a:t>
            </a:r>
            <a:r>
              <a:rPr sz="1875" dirty="0" err="1">
                <a:solidFill>
                  <a:srgbClr val="555500"/>
                </a:solidFill>
                <a:latin typeface="Aptos"/>
                <a:ea typeface="Aptos"/>
                <a:cs typeface="Aptos"/>
              </a:rPr>
              <a:t>lab_work.db</a:t>
            </a: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 is the database changed by that script.</a:t>
            </a:r>
          </a:p>
        </p:txBody>
      </p:sp>
    </p:spTree>
    <p:extLst>
      <p:ext uri="{BB962C8B-B14F-4D97-AF65-F5344CB8AC3E}">
        <p14:creationId xmlns:p14="http://schemas.microsoft.com/office/powerpoint/2010/main" val="813407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8DDF-C6E8-81AE-BFB0-AD1574F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2"/>
            <a:ext cx="10717635" cy="904875"/>
          </a:xfrm>
        </p:spPr>
        <p:txBody>
          <a:bodyPr>
            <a:normAutofit fontScale="94763"/>
          </a:bodyPr>
          <a:lstStyle/>
          <a:p>
            <a:r>
              <a:rPr sz="4400" b="0" dirty="0">
                <a:latin typeface="Calibri"/>
                <a:ea typeface="Calibri"/>
                <a:cs typeface="Calibri"/>
              </a:rPr>
              <a:t>Opening the Two Lab Databases: 1. </a:t>
            </a:r>
            <a:r>
              <a:rPr sz="4400" b="0" dirty="0" err="1">
                <a:latin typeface="Calibri"/>
                <a:ea typeface="Calibri"/>
                <a:cs typeface="Calibri"/>
              </a:rPr>
              <a:t>lab_work.db</a:t>
            </a:r>
            <a:endParaRPr sz="4400" b="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24A20FC-65EB-24B1-3AF3-F24E2F04A97B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Create a NEW lab_work.db and run the supplied setup once.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1EAF1173-10A9-AEC5-1ACE-5B4A83186785}"/>
              </a:ext>
            </a:extLst>
          </p:cNvPr>
          <p:cNvSpPr>
            <a:spLocks noGrp="1"/>
          </p:cNvSpPr>
          <p:nvPr/>
        </p:nvSpPr>
        <p:spPr>
          <a:xfrm>
            <a:off x="952500" y="1774694"/>
            <a:ext cx="10127456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.open lab_work.db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.read 01_lab_setup.sql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.databases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.tables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.schema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COUNT(*) FROM student;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3EC47817-5123-C970-2807-27933F46C947}"/>
              </a:ext>
            </a:extLst>
          </p:cNvPr>
          <p:cNvSpPr>
            <a:spLocks noGrp="1"/>
          </p:cNvSpPr>
          <p:nvPr/>
        </p:nvSpPr>
        <p:spPr>
          <a:xfrm>
            <a:off x="952500" y="3868797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Expected: 6 students. Keep chinook.db separate for the music-store queries.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8680B1BE-7F22-C93F-CA04-149ABA43D5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12</a:t>
            </a:fld>
            <a:endParaRPr/>
          </a:p>
        </p:txBody>
      </p:sp>
      <p:pic>
        <p:nvPicPr>
          <p:cNvPr id="13" name="图片 6"/>
          <p:cNvPicPr>
            <a:picLocks noChangeAspect="1"/>
          </p:cNvPicPr>
          <p:nvPr/>
        </p:nvPicPr>
        <p:blipFill>
          <a:blip r:embed="rId3"/>
          <a:srcRect t="27687"/>
          <a:stretch>
            <a:fillRect/>
          </a:stretch>
        </p:blipFill>
        <p:spPr>
          <a:xfrm>
            <a:off x="933450" y="4206795"/>
            <a:ext cx="10146506" cy="2387759"/>
          </a:xfrm>
          <a:prstGeom prst="rect">
            <a:avLst/>
          </a:prstGeom>
        </p:spPr>
      </p:pic>
      <p:sp>
        <p:nvSpPr>
          <p:cNvPr id="7" name="practice-time">
            <a:extLst>
              <a:ext uri="{FF2B5EF4-FFF2-40B4-BE49-F238E27FC236}">
                <a16:creationId xmlns:a16="http://schemas.microsoft.com/office/drawing/2014/main" id="{9C3D8C38-2615-E226-C191-23C13B904678}"/>
              </a:ext>
            </a:extLst>
          </p:cNvPr>
          <p:cNvSpPr>
            <a:spLocks noGrp="1"/>
          </p:cNvSpPr>
          <p:nvPr/>
        </p:nvSpPr>
        <p:spPr>
          <a:xfrm>
            <a:off x="9683750" y="1215909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2619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3E605-49B0-43C6-8FE5-DBB631411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 fontScale="90000"/>
          </a:bodyPr>
          <a:lstStyle/>
          <a:p>
            <a:r>
              <a:rPr>
                <a:latin typeface="Calibri"/>
                <a:ea typeface="Calibri"/>
                <a:cs typeface="Calibri"/>
              </a:rPr>
              <a:t>Opening the Two Lab Databases: 2. chinook.db</a:t>
            </a:r>
            <a:endParaRPr sz="4400" b="0">
              <a:latin typeface="Calibri"/>
              <a:ea typeface="Calibri"/>
              <a:cs typeface="Calibri"/>
            </a:endParaRP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6E2814E9-7476-46E7-8DBC-DD5D3134E99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Download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chinook.db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here </a:t>
            </a:r>
            <a:r>
              <a:rPr dirty="0">
                <a:latin typeface="Calibri"/>
                <a:ea typeface="Calibri"/>
                <a:cs typeface="Calibri"/>
                <a:hlinkClick r:id="rId3"/>
              </a:rPr>
              <a:t>https://www.sqlitetutorial.net/sqlite-sample-database/</a:t>
            </a:r>
            <a:r>
              <a:rPr dirty="0">
                <a:latin typeface="Calibri"/>
                <a:ea typeface="Calibri"/>
                <a:cs typeface="Calibri"/>
              </a:rPr>
              <a:t> 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0362A824-5BF9-4C18-9F85-F8BDDAC34492}"/>
              </a:ext>
            </a:extLst>
          </p:cNvPr>
          <p:cNvSpPr>
            <a:spLocks noGrp="1"/>
          </p:cNvSpPr>
          <p:nvPr/>
        </p:nvSpPr>
        <p:spPr>
          <a:xfrm>
            <a:off x="1397794" y="199929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Open it with </a:t>
            </a:r>
            <a:r>
              <a:rPr sz="24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.open </a:t>
            </a:r>
            <a:r>
              <a:rPr sz="2400" i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chinook.db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then use </a:t>
            </a:r>
            <a:r>
              <a:rPr sz="24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.tables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A3515F27-3583-48DC-9CAD-032FBD77120E}"/>
              </a:ext>
            </a:extLst>
          </p:cNvPr>
          <p:cNvSpPr>
            <a:spLocks noGrp="1"/>
          </p:cNvSpPr>
          <p:nvPr/>
        </p:nvSpPr>
        <p:spPr>
          <a:xfrm>
            <a:off x="1397794" y="261270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Expected application tables include artists, albums, tracks and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invoice_items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F2965941-04BB-4C38-837B-B96ECAD54E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13</a:t>
            </a:fld>
            <a:endParaRPr/>
          </a:p>
        </p:txBody>
      </p:sp>
      <p:pic>
        <p:nvPicPr>
          <p:cNvPr id="19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482" y="3549195"/>
            <a:ext cx="8114286" cy="1428571"/>
          </a:xfrm>
          <a:prstGeom prst="rect">
            <a:avLst/>
          </a:prstGeom>
        </p:spPr>
      </p:pic>
      <p:sp>
        <p:nvSpPr>
          <p:cNvPr id="10" name="practice-time">
            <a:extLst>
              <a:ext uri="{FF2B5EF4-FFF2-40B4-BE49-F238E27FC236}">
                <a16:creationId xmlns:a16="http://schemas.microsoft.com/office/drawing/2014/main" id="{43F47306-9D18-E591-4DBB-77539F912647}"/>
              </a:ext>
            </a:extLst>
          </p:cNvPr>
          <p:cNvSpPr>
            <a:spLocks noGrp="1"/>
          </p:cNvSpPr>
          <p:nvPr/>
        </p:nvSpPr>
        <p:spPr>
          <a:xfrm>
            <a:off x="9683750" y="1215909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1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minute.</a:t>
            </a:r>
          </a:p>
        </p:txBody>
      </p:sp>
    </p:spTree>
    <p:extLst>
      <p:ext uri="{BB962C8B-B14F-4D97-AF65-F5344CB8AC3E}">
        <p14:creationId xmlns:p14="http://schemas.microsoft.com/office/powerpoint/2010/main" val="2089326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24DFBBB5-8100-4B0B-A79E-0547DEF45523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002"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ATTACH: A Second Database in One Connection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CCC5FE7C-32EE-451E-96F3-F18A612BCE43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ATTACH adds another database without replacing the database named main.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21A8BA66-5490-4599-A14E-46950368C847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.open chinook.db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222A74BA-4959-44D2-9AA2-4C57FABB48B5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Open chinook.db as the main database for this connection.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D7CDCB31-CD55-4319-8009-336743593E93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ATTACH ... AS lab;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529B86F7-D316-4DA0-A980-544C86A16011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87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Connect lab_work.db and give it the temporary database name lab.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78A38092-B135-4A46-A49C-810CD38AED5D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lab.student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FFA07B4B-0F7E-408F-B3C9-21784457CE5F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31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prefix selects the student table from the attached database lab.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1DED47CE-3487-4FEE-B918-833BC9BF6D6E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131" lnSpcReduction="10000"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DETACH DATABASE lab;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CA722A8E-9504-440B-A77C-E8DE8BEEE0E7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Remove the attached connection. The database file remains unchanged.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E85200F1-5F5F-44F8-A593-CD5F3BDB72B3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Use .databases to see the names main, temp and any attached database.</a:t>
            </a:r>
          </a:p>
        </p:txBody>
      </p:sp>
    </p:spTree>
    <p:extLst>
      <p:ext uri="{BB962C8B-B14F-4D97-AF65-F5344CB8AC3E}">
        <p14:creationId xmlns:p14="http://schemas.microsoft.com/office/powerpoint/2010/main" val="814527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675A584F-8D19-48FB-B6B1-EE6AEC336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SQLite Shell Commands and SQL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BB25C1D1-550F-41A4-929D-1ED83639F216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Dot-commands belong to sqlite3. SQL statements run in the database engine.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CF952961-DFF2-4C3D-A266-0C14A0615DED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173736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.open chinook.db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ATTACH DATABASE 'lab_work.db' AS lab;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.databases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COUNT(*) FROM lab.student;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DETACH DATABASE lab;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AB67D7D3-0CB6-4A1D-A5B6-67A76653E953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Use .open to replace the main connection; ATTACH adds another database to it.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FB8A24D-8753-4307-A1DE-DD23CFD3B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15</a:t>
            </a:fld>
            <a:endParaRPr/>
          </a:p>
        </p:txBody>
      </p:sp>
      <p:pic>
        <p:nvPicPr>
          <p:cNvPr id="13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379" y="4347210"/>
            <a:ext cx="5821142" cy="2316158"/>
          </a:xfrm>
          <a:prstGeom prst="rect">
            <a:avLst/>
          </a:prstGeom>
        </p:spPr>
      </p:pic>
      <p:sp>
        <p:nvSpPr>
          <p:cNvPr id="7" name="practice-time">
            <a:extLst>
              <a:ext uri="{FF2B5EF4-FFF2-40B4-BE49-F238E27FC236}">
                <a16:creationId xmlns:a16="http://schemas.microsoft.com/office/drawing/2014/main" id="{9C3D8C38-2615-E226-C191-23C13B904678}"/>
              </a:ext>
            </a:extLst>
          </p:cNvPr>
          <p:cNvSpPr>
            <a:spLocks noGrp="1"/>
          </p:cNvSpPr>
          <p:nvPr/>
        </p:nvSpPr>
        <p:spPr>
          <a:xfrm>
            <a:off x="9982200" y="1052282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3258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B1ADCD82-62AD-45EC-8161-FC205B042F4B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Output Commands and Their Scope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85428446-A288-4058-BC53-FDC6D247431B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These dot-commands change how sqlite3 displays or saves query results.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4D8A8AB6-FAE4-4B0A-A889-2EE4A481EB39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.headers on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1CEA8750-66C6-444A-AA74-B8AF90E3EA84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Include column names in the output.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2F0BB9F4-6662-4741-8434-A8FCFC5C235D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.mode csv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43E0D462-ADC9-4FD2-BD80-339BF5BEA0DE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Format subsequent query results as comma-separated values.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9A78E3D2-CDD4-4018-9795-0195C0F99AA9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.once result.csv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23C59DE9-A35B-4BA7-8491-232E7EE6F562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Send only the next query result to this file, then return to the terminal.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AD7487B6-4FE5-467D-B5B4-6DF1EB6AA248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.output result.csv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279702CB-97B3-48CB-BA06-C216E25A649C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Send all following output to this file until the destination changes.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98800F98-5874-496B-BB73-99C1F6A52496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.output stdout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E8A928E4-1F5C-43A2-8C58-A571EFFABAE3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Restore output to the terminal window.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C3029B3C-276B-42A7-8444-A5AEBAAF7CD5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For one query, .once is safer because the redirection resets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725275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FA781D6D-3BFC-4A99-A53C-29BF32D2ECE2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sqlite&gt; and ...&gt; Prompts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8463C3D4-4E45-43D9-8303-31D5F71996EE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The prompt shows whether sqlite3 is ready or waiting for more SQL text.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A08271CB-5E28-4DD8-8C7D-155BB44BD5D3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sqlite&gt;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D4DA9B5E-DFC0-421D-A1A0-6F46FCA48160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SQLite is ready for a new dot-command or SQL statement.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1E35AEFD-E05E-4177-B0F6-4BEEE35708A0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...&gt;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4351E2BE-BF7B-4655-97CA-278833E6BA6C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current SQL statement is incomplete, often because a semicolon, quote or parenthesis is missing.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41661546-9A92-48D9-B5D3-D03EE977C4FB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4E5DE402-9BC9-48B5-8DCA-68F8CEA7C6F7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Completes a SQL statement and asks SQLite to execute it.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DF8D6179-5E8D-45D8-BF3E-B10CE8C40EA8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Ctrl+C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B3E87757-FEB5-47AC-8BF9-8014FC5D4849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Cancel unfinished input and return to the sqlite&gt; prompt.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EC105C40-E5F1-4AE9-A9C2-8FFB7A7A1E3A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.quit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1DDC7191-579F-439D-867A-2C08F4D0C2CF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Close the sqlite3 program.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7A1CBF82-68BD-463A-B076-682CC430E6CF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Dot-commands begin with a period and normally do not use a semicolon.</a:t>
            </a:r>
          </a:p>
        </p:txBody>
      </p:sp>
    </p:spTree>
    <p:extLst>
      <p:ext uri="{BB962C8B-B14F-4D97-AF65-F5344CB8AC3E}">
        <p14:creationId xmlns:p14="http://schemas.microsoft.com/office/powerpoint/2010/main" val="1024012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0AEA5730-C5A7-4514-954A-336B31CC6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Reading a SQL File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D226DBE0-1A17-4331-A928-4493FFB0A44B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Create the file in a text editor and save it as UTF-8.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4D6EB353-B086-447D-94B3-07E89E382239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i="1" dirty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-- Save this line in </a:t>
            </a:r>
            <a:r>
              <a:rPr sz="2100" i="1" dirty="0" err="1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sample_query.sql</a:t>
            </a:r>
            <a:r>
              <a:rPr sz="2100" i="1" dirty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: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Title FROM albums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LIMIT </a:t>
            </a:r>
            <a:r>
              <a:rPr lang="en-US" altLang="zh-CN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3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  <a:p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-- At the sqlite3 prompt, run: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.read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sample_query.sql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9724CDBC-5EC6-466D-93D8-639D7085A3BF}"/>
              </a:ext>
            </a:extLst>
          </p:cNvPr>
          <p:cNvSpPr>
            <a:spLocks noGrp="1"/>
          </p:cNvSpPr>
          <p:nvPr/>
        </p:nvSpPr>
        <p:spPr>
          <a:xfrm>
            <a:off x="933450" y="429082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SQL statements end with a semicolon. Put each dot-command on its own line.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61CE76F-DFA7-4503-A068-041DF1F4A7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18</a:t>
            </a:fld>
            <a:endParaRPr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E38A8E7C-A6FB-0929-408D-AA22D89C3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178" y="4843532"/>
            <a:ext cx="5657143" cy="1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9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6AE20A5B-71F2-4CC8-ACA8-B7C1DDE2E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Saving Query Output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83DD432B-AC9D-40E7-BBA9-C757F7E7F3C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Run at the sqlite3 prompt while chinook.db is open.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6F2C514E-F655-4E4D-980D-BECFB0BB2F39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.headers on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.mode csv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.output sample_output.csv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Title FROM albums ORDER BY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LIMIT </a:t>
            </a:r>
            <a:r>
              <a:rPr lang="en-US" altLang="zh-CN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3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.output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stdout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F9E44258-6139-4302-B092-2408D11A58E9}"/>
              </a:ext>
            </a:extLst>
          </p:cNvPr>
          <p:cNvSpPr>
            <a:spLocks noGrp="1"/>
          </p:cNvSpPr>
          <p:nvPr/>
        </p:nvSpPr>
        <p:spPr>
          <a:xfrm>
            <a:off x="933450" y="429082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For just the next query, use .once sample_output.csv instead.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4599CD0-D0AA-4052-A9EC-719ADD502A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19</a:t>
            </a:fld>
            <a:endParaRPr/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78BAAC61-91B3-DBAF-12C6-1876EEA124F3}"/>
              </a:ext>
            </a:extLst>
          </p:cNvPr>
          <p:cNvSpPr>
            <a:spLocks noGrp="1"/>
          </p:cNvSpPr>
          <p:nvPr/>
        </p:nvSpPr>
        <p:spPr>
          <a:xfrm>
            <a:off x="9982200" y="1052282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3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6698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EFE1FADE-367F-44E4-B3FA-253A101AA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Practice 01: CLI Checkpoint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FDF341A3-33FC-4B21-8B8F-F3C92E293B62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chinook.db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01FAE9E5-7D5F-4DBE-9187-1BE5DDA2425E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List the open database files and the tables.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8B8EE6E6-E421-49A2-AA19-5D1DEC185A82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Inspect albums and return its first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rows by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AlbumId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10291242-C2BA-4A79-B749-441AAD21ECD3}"/>
              </a:ext>
            </a:extLst>
          </p:cNvPr>
          <p:cNvSpPr>
            <a:spLocks noGrp="1"/>
          </p:cNvSpPr>
          <p:nvPr/>
        </p:nvSpPr>
        <p:spPr>
          <a:xfrm>
            <a:off x="933450" y="3362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Save those rows to CSV, then restore terminal output.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74F9A182-A6EA-4957-B586-5020C9155924}"/>
              </a:ext>
            </a:extLst>
          </p:cNvPr>
          <p:cNvSpPr>
            <a:spLocks noGrp="1"/>
          </p:cNvSpPr>
          <p:nvPr/>
        </p:nvSpPr>
        <p:spPr>
          <a:xfrm>
            <a:off x="1231900" y="4325302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altLang="zh-CN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ow to cancel an unfinished SQL statement</a:t>
            </a:r>
            <a:r>
              <a:rPr lang="zh-CN" alt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？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practice-time">
            <a:extLst>
              <a:ext uri="{FF2B5EF4-FFF2-40B4-BE49-F238E27FC236}">
                <a16:creationId xmlns:a16="http://schemas.microsoft.com/office/drawing/2014/main" id="{C24570C9-B47F-45A9-A457-E55280742B3F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5 minutes.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E79705F2-0DEF-4D90-A7D8-52DD66B7B9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5919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93D1DCED-AC53-4F49-A2D7-E30188C2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Solution 01: CLI Checkpoint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5077753-F4C2-4D52-AA8B-A1690D41B206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974848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.databases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.tables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.schema albums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.headers on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.mode csv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.once first_albums.csv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Title FROM albums ORDER BY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LIMIT </a:t>
            </a:r>
            <a:r>
              <a:rPr lang="en-US"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2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.output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stdout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EA5771B4-B738-47C2-BD2C-92BEB8056029}"/>
              </a:ext>
            </a:extLst>
          </p:cNvPr>
          <p:cNvSpPr>
            <a:spLocks noGrp="1"/>
          </p:cNvSpPr>
          <p:nvPr/>
        </p:nvSpPr>
        <p:spPr>
          <a:xfrm>
            <a:off x="933450" y="4651248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At the ...&gt; continuation prompt, Ctrl+C cancels the unfinished input. (“;” also works with errors)   </a:t>
            </a:r>
          </a:p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.quit exits the CLI.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D788646-9029-4165-8B2F-E49F2A4C19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9873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0014-CFD5-468A-BFE8-E37CC268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3 - Output and 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1653038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DF148-81CE-4409-8632-12E84423D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Formatting techniques on the terminal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FC3745-732C-4804-B0B0-543D3804B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>
                <a:latin typeface="Calibri"/>
                <a:ea typeface="Calibri"/>
                <a:cs typeface="Calibri"/>
              </a:rPr>
              <a:t>Turn on/off the header of the output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.header on		</a:t>
            </a:r>
            <a:r>
              <a:rPr b="1">
                <a:latin typeface="Calibri"/>
                <a:ea typeface="Calibri"/>
                <a:cs typeface="Calibri"/>
              </a:rPr>
              <a:t>OR</a:t>
            </a: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		.header off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  <a:p>
            <a:r>
              <a:rPr>
                <a:latin typeface="Calibri"/>
                <a:ea typeface="Calibri"/>
                <a:cs typeface="Calibri"/>
              </a:rPr>
              <a:t>Different outputting format on the terminal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.mode column	</a:t>
            </a:r>
            <a:r>
              <a:rPr b="1">
                <a:latin typeface="Calibri"/>
                <a:ea typeface="Calibri"/>
                <a:cs typeface="Calibri"/>
              </a:rPr>
              <a:t>OR</a:t>
            </a: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	.mode csv	</a:t>
            </a:r>
            <a:r>
              <a:rPr b="1">
                <a:latin typeface="Calibri"/>
                <a:ea typeface="Calibri"/>
                <a:cs typeface="Calibri"/>
              </a:rPr>
              <a:t>OR</a:t>
            </a: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	.mode json	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>
                <a:latin typeface="Calibri"/>
                <a:ea typeface="Calibri"/>
                <a:cs typeface="Calibri"/>
              </a:rPr>
              <a:t>OR</a:t>
            </a: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	</a:t>
            </a:r>
            <a:r>
              <a:rPr>
                <a:latin typeface="Calibri"/>
                <a:ea typeface="Calibri"/>
                <a:cs typeface="Calibri"/>
              </a:rPr>
              <a:t>any from below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3F8920-ABC3-4374-9441-810DF1577D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23</a:t>
            </a:fld>
            <a:endParaRPr/>
          </a:p>
        </p:txBody>
      </p:sp>
      <p:pic>
        <p:nvPicPr>
          <p:cNvPr id="10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4302381"/>
            <a:ext cx="10172700" cy="8858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Star: 5 Points 4">
            <a:extLst>
              <a:ext uri="{FF2B5EF4-FFF2-40B4-BE49-F238E27FC236}">
                <a16:creationId xmlns:a16="http://schemas.microsoft.com/office/drawing/2014/main" id="{CC956EC2-8E88-41A3-B3D4-01582896C8BC}"/>
              </a:ext>
            </a:extLst>
          </p:cNvPr>
          <p:cNvSpPr>
            <a:spLocks noGrp="1"/>
          </p:cNvSpPr>
          <p:nvPr/>
        </p:nvSpPr>
        <p:spPr>
          <a:xfrm>
            <a:off x="370416" y="2907467"/>
            <a:ext cx="467784" cy="432632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399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66284-3BE6-4FCF-85A8-7F8E1490B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Formatting techniques on the terminal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EDC0C5-06B1-47E3-858A-218EAC5A0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>
                <a:latin typeface="Calibri"/>
                <a:ea typeface="Calibri"/>
                <a:cs typeface="Calibri"/>
              </a:rPr>
              <a:t>Width of the output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.width NUM NUM 	</a:t>
            </a:r>
            <a:r>
              <a:rPr b="1" i="1">
                <a:latin typeface="Calibri"/>
                <a:ea typeface="Calibri"/>
                <a:cs typeface="Calibri"/>
              </a:rPr>
              <a:t>-- </a:t>
            </a:r>
            <a:r>
              <a:rPr>
                <a:latin typeface="Calibri"/>
                <a:ea typeface="Calibri"/>
                <a:cs typeface="Calibri"/>
              </a:rPr>
              <a:t>Example:  </a:t>
            </a:r>
            <a:r>
              <a:rPr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.width 12 -6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.width 			</a:t>
            </a:r>
            <a:r>
              <a:rPr>
                <a:latin typeface="Calibri"/>
                <a:ea typeface="Calibri"/>
                <a:cs typeface="Calibri"/>
              </a:rPr>
              <a:t>-- resets width settings</a:t>
            </a:r>
          </a:p>
          <a:p>
            <a:r>
              <a:rPr>
                <a:latin typeface="Calibri"/>
                <a:ea typeface="Calibri"/>
                <a:cs typeface="Calibri"/>
              </a:rPr>
              <a:t>Show all the format settings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.show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78CD3E-FB98-4882-83FC-ADD8DC8BA2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5519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A1359-9BCF-4D73-9210-A41A4494E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>
                <a:latin typeface="Calibri"/>
                <a:ea typeface="Calibri"/>
                <a:cs typeface="Calibri"/>
              </a:rPr>
              <a:t>DEMO</a:t>
            </a:r>
            <a:r>
              <a:rPr sz="4000">
                <a:latin typeface="Calibri"/>
                <a:ea typeface="Calibri"/>
                <a:cs typeface="Calibri"/>
              </a:rPr>
              <a:t>: Other useful commands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23168D-D840-4343-98B4-D938E6C3D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>
                <a:latin typeface="Calibri"/>
                <a:ea typeface="Calibri"/>
                <a:cs typeface="Calibri"/>
              </a:rPr>
              <a:t>To check all useful commands in SQL Lite (very useful)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.help</a:t>
            </a:r>
          </a:p>
          <a:p>
            <a:r>
              <a:rPr>
                <a:latin typeface="Calibri"/>
                <a:ea typeface="Calibri"/>
                <a:cs typeface="Calibri"/>
              </a:rPr>
              <a:t>Dump the database in an SQL text format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.dump</a:t>
            </a:r>
          </a:p>
          <a:p>
            <a:r>
              <a:rPr>
                <a:latin typeface="Calibri"/>
                <a:ea typeface="Calibri"/>
                <a:cs typeface="Calibri"/>
              </a:rPr>
              <a:t>Record the error log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.log sample_log.txt</a:t>
            </a:r>
          </a:p>
          <a:p>
            <a:r>
              <a:rPr>
                <a:latin typeface="Calibri"/>
                <a:ea typeface="Calibri"/>
                <a:cs typeface="Calibri"/>
              </a:rPr>
              <a:t>Time a query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b="1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.timer on/off</a:t>
            </a:r>
          </a:p>
          <a:p>
            <a:pPr marL="0" indent="0">
              <a:buNone/>
            </a:pPr>
            <a:endParaRPr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>
              <a:latin typeface="Calibri"/>
              <a:ea typeface="Calibri"/>
              <a:cs typeface="Calibri"/>
            </a:endParaRPr>
          </a:p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797185-1575-4B23-A8A3-8B1561F465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25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95E971-CE5F-47DF-AA27-D0F2361EEAA5}"/>
              </a:ext>
            </a:extLst>
          </p:cNvPr>
          <p:cNvSpPr>
            <a:spLocks noGrp="1"/>
          </p:cNvSpPr>
          <p:nvPr/>
        </p:nvSpPr>
        <p:spPr>
          <a:xfrm>
            <a:off x="5398587" y="4558497"/>
            <a:ext cx="5790554" cy="113877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2400">
                <a:latin typeface="Calibri"/>
                <a:ea typeface="Calibri"/>
                <a:cs typeface="Calibri"/>
              </a:rPr>
              <a:t>For some other useful commands and usage you can refer to:</a:t>
            </a:r>
          </a:p>
          <a:p>
            <a:pPr marL="0" indent="0">
              <a:buNone/>
            </a:pPr>
            <a:r>
              <a:rPr sz="2000">
                <a:latin typeface="Calibri"/>
                <a:ea typeface="Calibri"/>
                <a:cs typeface="Calibri"/>
                <a:hlinkClick r:id="rId3"/>
              </a:rPr>
              <a:t>https://www.sqlite.org/cli.html</a:t>
            </a:r>
            <a:endParaRPr sz="2000">
              <a:latin typeface="Calibri"/>
              <a:ea typeface="Calibri"/>
              <a:cs typeface="Calibri"/>
            </a:endParaRPr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791CEE75-3602-4BA7-AB16-F3BB3BD5AD7E}"/>
              </a:ext>
            </a:extLst>
          </p:cNvPr>
          <p:cNvSpPr>
            <a:spLocks noGrp="1"/>
          </p:cNvSpPr>
          <p:nvPr/>
        </p:nvSpPr>
        <p:spPr>
          <a:xfrm>
            <a:off x="370416" y="1825625"/>
            <a:ext cx="467784" cy="432632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8467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99A0C3-BC27-413F-B6EA-DA7F4373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More commands? </a:t>
            </a:r>
            <a:endParaRPr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E83BA6-49E6-4C81-8A11-9B92CABB1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9"/>
            <a:ext cx="10515600" cy="39705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t>Enter "</a:t>
            </a:r>
            <a:r>
              <a:rPr b="1"/>
              <a:t>.help</a:t>
            </a:r>
            <a:r>
              <a:t>" for usage hints: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AE803-1C0F-4FF6-A2B4-252BC8C3D4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26</a:t>
            </a:fld>
            <a:endParaRPr/>
          </a:p>
        </p:txBody>
      </p:sp>
      <p:pic>
        <p:nvPicPr>
          <p:cNvPr id="1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90" y="1547495"/>
            <a:ext cx="967740" cy="36576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015" y="2028825"/>
            <a:ext cx="6271895" cy="323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5ED087-126D-4F3E-9A25-6E0D167E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Useful SQLite Shell Commands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4F23CF03-17EC-43EE-8247-64F725FD9CA7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diagnostic log is not a record of every SQL command you type.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7500B1E1-B4CC-4165-A8E2-54B7ED0AEF66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356104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.help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.schema albums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.log sample_log.txt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.timer on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COUNT(*) FROM tracks;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.timer off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.log off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79DA2A1C-9DBF-4921-9376-6CC7FF5B3C33}"/>
              </a:ext>
            </a:extLst>
          </p:cNvPr>
          <p:cNvSpPr>
            <a:spLocks noGrp="1"/>
          </p:cNvSpPr>
          <p:nvPr/>
        </p:nvSpPr>
        <p:spPr>
          <a:xfrm>
            <a:off x="933450" y="4600194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.dump exports SQL text; .output redirects it to a file. Keep a copy of your own SQL script.</a:t>
            </a:r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6CFA5E4D-37C8-48A7-9948-8CBDA650AB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27</a:t>
            </a:fld>
            <a:endParaRPr/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1ECAF7E8-E812-5AFF-79B4-328CA78C56CE}"/>
              </a:ext>
            </a:extLst>
          </p:cNvPr>
          <p:cNvSpPr>
            <a:spLocks noGrp="1"/>
          </p:cNvSpPr>
          <p:nvPr/>
        </p:nvSpPr>
        <p:spPr>
          <a:xfrm>
            <a:off x="9982200" y="1052282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BCC659CA-458D-A0CE-4FF6-F289CDEDF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314" y="5246866"/>
            <a:ext cx="5114286" cy="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1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0BF41-1444-41D5-840D-7AD0C7BA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4 - DB Browser for SQLite</a:t>
            </a:r>
          </a:p>
        </p:txBody>
      </p:sp>
    </p:spTree>
    <p:extLst>
      <p:ext uri="{BB962C8B-B14F-4D97-AF65-F5344CB8AC3E}">
        <p14:creationId xmlns:p14="http://schemas.microsoft.com/office/powerpoint/2010/main" val="1859675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7074E-AFFA-42D7-A91A-1DF3AD878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Calibri"/>
                <a:ea typeface="Calibri"/>
                <a:cs typeface="Calibri"/>
              </a:rPr>
              <a:t>Intro</a:t>
            </a:r>
            <a:r>
              <a:rPr dirty="0">
                <a:latin typeface="Calibri"/>
                <a:ea typeface="Calibri"/>
                <a:cs typeface="Calibri"/>
              </a:rPr>
              <a:t>: DB Browser for SQLite (DB4S)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848E57-4346-4F94-BD06-F8D517625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high quality, visual, open-source tool designed for people who want to create, search, and edit </a:t>
            </a:r>
            <a:r>
              <a:rPr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SQLite </a:t>
            </a:r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or </a:t>
            </a:r>
            <a:r>
              <a:rPr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SQLCipher</a:t>
            </a:r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database files</a:t>
            </a:r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different way to access the DBMS</a:t>
            </a:r>
          </a:p>
          <a:p>
            <a:pPr lvl="1">
              <a:buNone/>
            </a:pPr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GUI </a:t>
            </a:r>
            <a:r>
              <a:rPr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(Graphical User Interface)</a:t>
            </a:r>
          </a:p>
          <a:p>
            <a:pPr lvl="1">
              <a:buNone/>
            </a:pPr>
            <a:r>
              <a:rPr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CLI</a:t>
            </a:r>
            <a:r>
              <a:rPr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(Command Line Interface)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F608DB-DF27-4D3A-92C7-A999379756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5112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38421-7FCB-40B1-ADB8-5B6150F3A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DB Browser Setup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E87E0F78-1672-48CF-BDC1-C8F8E166460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>
                <a:latin typeface="Calibri"/>
                <a:ea typeface="Calibri"/>
                <a:cs typeface="Calibri"/>
              </a:rPr>
              <a:t>Download DB Browser https://sqlitebrowser.org/dl/</a:t>
            </a: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D1A74D44-CACF-4F23-A78E-F7BA7B8661DB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Open the SAME lab_work.db or chinook.db used in the CLI.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02E59451-872C-4E84-9F44-232BD1A7ADF9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Execute SQL to run SELECT sqlite_version();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5A380FA5-4289-4936-91E1-3FFC5702BBC6}"/>
              </a:ext>
            </a:extLst>
          </p:cNvPr>
          <p:cNvSpPr>
            <a:spLocks noGrp="1"/>
          </p:cNvSpPr>
          <p:nvPr/>
        </p:nvSpPr>
        <p:spPr>
          <a:xfrm>
            <a:off x="933450" y="329755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CLI and GUI versions can differ. Verify features in the tool you use.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5736192A-BC9E-4B2C-8CC7-94CB05D55B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30</a:t>
            </a:fld>
            <a:endParaRPr/>
          </a:p>
        </p:txBody>
      </p:sp>
      <p:pic>
        <p:nvPicPr>
          <p:cNvPr id="21" name="图片 8"/>
          <p:cNvPicPr>
            <a:picLocks noChangeAspect="1"/>
          </p:cNvPicPr>
          <p:nvPr/>
        </p:nvPicPr>
        <p:blipFill>
          <a:blip r:embed="rId3"/>
          <a:srcRect t="-182" r="3397"/>
          <a:stretch>
            <a:fillRect/>
          </a:stretch>
        </p:blipFill>
        <p:spPr>
          <a:xfrm>
            <a:off x="619022" y="3905882"/>
            <a:ext cx="6767371" cy="2751381"/>
          </a:xfrm>
          <a:prstGeom prst="rect">
            <a:avLst/>
          </a:prstGeom>
        </p:spPr>
      </p:pic>
      <p:pic>
        <p:nvPicPr>
          <p:cNvPr id="22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231" y="4130771"/>
            <a:ext cx="4373245" cy="1804670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910F772B-D948-7895-E4A0-67205D86483B}"/>
              </a:ext>
            </a:extLst>
          </p:cNvPr>
          <p:cNvSpPr>
            <a:spLocks noGrp="1"/>
          </p:cNvSpPr>
          <p:nvPr/>
        </p:nvSpPr>
        <p:spPr>
          <a:xfrm>
            <a:off x="7868281" y="5847598"/>
            <a:ext cx="3295650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OR:</a:t>
            </a:r>
            <a:endParaRPr sz="2000">
              <a:solidFill>
                <a:srgbClr val="000000"/>
              </a:solidFill>
            </a:endParaRPr>
          </a:p>
          <a:p>
            <a:r>
              <a:rPr sz="1600">
                <a:solidFill>
                  <a:srgbClr val="333333"/>
                </a:solidFill>
              </a:rPr>
              <a:t>brew install db-browser-for-sqlite</a:t>
            </a:r>
            <a:endParaRPr sz="2000"/>
          </a:p>
        </p:txBody>
      </p:sp>
      <p:sp>
        <p:nvSpPr>
          <p:cNvPr id="10" name="practice-time">
            <a:extLst>
              <a:ext uri="{FF2B5EF4-FFF2-40B4-BE49-F238E27FC236}">
                <a16:creationId xmlns:a16="http://schemas.microsoft.com/office/drawing/2014/main" id="{523A0D5C-339D-5EF0-D154-CB4A148A404B}"/>
              </a:ext>
            </a:extLst>
          </p:cNvPr>
          <p:cNvSpPr>
            <a:spLocks noGrp="1"/>
          </p:cNvSpPr>
          <p:nvPr/>
        </p:nvSpPr>
        <p:spPr>
          <a:xfrm>
            <a:off x="9982200" y="1052282"/>
            <a:ext cx="1314450" cy="295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10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4538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ED0A5-EDB4-4448-9ECD-CB07C318E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Access database via GUI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30ED28-251A-48BF-AE70-98B325624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065"/>
            <a:ext cx="10669905" cy="530923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sz="2800">
                <a:latin typeface="Calibri"/>
                <a:ea typeface="Calibri"/>
                <a:cs typeface="Calibri"/>
              </a:rPr>
              <a:t>Open database file</a:t>
            </a:r>
          </a:p>
          <a:p>
            <a:pPr>
              <a:lnSpc>
                <a:spcPct val="90000"/>
              </a:lnSpc>
              <a:buNone/>
            </a:pPr>
            <a:r>
              <a:rPr sz="2800">
                <a:latin typeface="Calibri"/>
                <a:ea typeface="Calibri"/>
                <a:cs typeface="Calibri"/>
              </a:rPr>
              <a:t>[File] &gt; [Open Database...] &gt; select .db file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00D3B4-1848-43CC-818A-4774914EC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31</a:t>
            </a:fld>
            <a:endParaRPr/>
          </a:p>
        </p:txBody>
      </p:sp>
      <p:pic>
        <p:nvPicPr>
          <p:cNvPr id="11" name="图片 7"/>
          <p:cNvPicPr>
            <a:picLocks noChangeAspect="1"/>
          </p:cNvPicPr>
          <p:nvPr/>
        </p:nvPicPr>
        <p:blipFill>
          <a:blip r:embed="rId3"/>
          <a:srcRect l="327" t="-986" r="-5" b="40870"/>
          <a:stretch>
            <a:fillRect/>
          </a:stretch>
        </p:blipFill>
        <p:spPr>
          <a:xfrm>
            <a:off x="1985645" y="2221733"/>
            <a:ext cx="7696237" cy="3644808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DDF50B4-0DBC-49B2-8AA7-1F8B29627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62650"/>
            <a:ext cx="10515600" cy="42862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sz="1800">
                <a:latin typeface="Calibri"/>
                <a:ea typeface="Calibri"/>
                <a:cs typeface="Calibri"/>
              </a:rPr>
              <a:t>Use [File] &gt; [Import] to import CSV or SQL files.</a:t>
            </a:r>
          </a:p>
        </p:txBody>
      </p:sp>
    </p:spTree>
    <p:extLst>
      <p:ext uri="{BB962C8B-B14F-4D97-AF65-F5344CB8AC3E}">
        <p14:creationId xmlns:p14="http://schemas.microsoft.com/office/powerpoint/2010/main" val="2274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1CA17-D403-4108-94A9-CFA6D4B5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Access database via GUI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80D042-C2D2-4D79-8E1D-7A07E2F0F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065"/>
            <a:ext cx="5897245" cy="4894580"/>
          </a:xfrm>
        </p:spPr>
        <p:txBody>
          <a:bodyPr/>
          <a:lstStyle/>
          <a:p>
            <a:r>
              <a:rPr>
                <a:latin typeface="Calibri"/>
                <a:ea typeface="Calibri"/>
                <a:cs typeface="Calibri"/>
              </a:rPr>
              <a:t>Inspect [Database Structure] tab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should be the same as shown in command line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49B1B0-34C9-4628-BAFA-89FB662402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32</a:t>
            </a:fld>
            <a:endParaRPr/>
          </a:p>
        </p:txBody>
      </p:sp>
      <p:pic>
        <p:nvPicPr>
          <p:cNvPr id="14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" y="3037840"/>
            <a:ext cx="6044565" cy="3030855"/>
          </a:xfrm>
          <a:prstGeom prst="rect">
            <a:avLst/>
          </a:prstGeom>
        </p:spPr>
      </p:pic>
      <p:pic>
        <p:nvPicPr>
          <p:cNvPr id="15" name="图片 12"/>
          <p:cNvPicPr>
            <a:picLocks noChangeAspect="1"/>
          </p:cNvPicPr>
          <p:nvPr/>
        </p:nvPicPr>
        <p:blipFill>
          <a:blip r:embed="rId4"/>
          <a:srcRect r="5890" b="-220"/>
          <a:stretch>
            <a:fillRect/>
          </a:stretch>
        </p:blipFill>
        <p:spPr>
          <a:xfrm>
            <a:off x="6735445" y="1143000"/>
            <a:ext cx="5001895" cy="4925695"/>
          </a:xfrm>
          <a:prstGeom prst="rect">
            <a:avLst/>
          </a:prstGeom>
        </p:spPr>
      </p:pic>
      <p:sp>
        <p:nvSpPr>
          <p:cNvPr id="7" name="文本框 4">
            <a:extLst>
              <a:ext uri="{FF2B5EF4-FFF2-40B4-BE49-F238E27FC236}">
                <a16:creationId xmlns:a16="http://schemas.microsoft.com/office/drawing/2014/main" id="{752465FB-73D9-4B97-AE75-5023A433AC8E}"/>
              </a:ext>
            </a:extLst>
          </p:cNvPr>
          <p:cNvSpPr>
            <a:spLocks noGrp="1"/>
          </p:cNvSpPr>
          <p:nvPr/>
        </p:nvSpPr>
        <p:spPr>
          <a:xfrm>
            <a:off x="165735" y="6315710"/>
            <a:ext cx="8689975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>
                <a:latin typeface="Calibri"/>
                <a:ea typeface="Calibri"/>
                <a:cs typeface="Calibri"/>
              </a:rPr>
              <a:t>For more, refer to </a:t>
            </a:r>
            <a:r>
              <a:rPr sz="2000">
                <a:latin typeface="Calibri"/>
                <a:ea typeface="Calibri"/>
                <a:cs typeface="Calibri"/>
                <a:hlinkClick r:id="rId5"/>
              </a:rPr>
              <a:t>https://github.com/sqlitebrowser/sqlitebrowser/wiki</a:t>
            </a:r>
          </a:p>
        </p:txBody>
      </p:sp>
      <p:sp>
        <p:nvSpPr>
          <p:cNvPr id="8" name="矩形 6">
            <a:extLst>
              <a:ext uri="{FF2B5EF4-FFF2-40B4-BE49-F238E27FC236}">
                <a16:creationId xmlns:a16="http://schemas.microsoft.com/office/drawing/2014/main" id="{473AE3BA-D4B4-4CDA-A75D-8778C375229A}"/>
              </a:ext>
            </a:extLst>
          </p:cNvPr>
          <p:cNvSpPr>
            <a:spLocks noGrp="1"/>
          </p:cNvSpPr>
          <p:nvPr/>
        </p:nvSpPr>
        <p:spPr>
          <a:xfrm>
            <a:off x="6630670" y="1039495"/>
            <a:ext cx="1760855" cy="5454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07604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1461F-7938-4253-9947-E4FF17DDC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[Browse Data] tab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2B04B5-8801-41B6-BCAA-03DCEFD4D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065"/>
            <a:ext cx="5680710" cy="4894580"/>
          </a:xfrm>
        </p:spPr>
        <p:txBody>
          <a:bodyPr/>
          <a:lstStyle/>
          <a:p>
            <a:r>
              <a:rPr>
                <a:latin typeface="Calibri"/>
                <a:ea typeface="Calibri"/>
                <a:cs typeface="Calibri"/>
              </a:rPr>
              <a:t>Browse Data shows rows in the selected table.</a:t>
            </a:r>
          </a:p>
          <a:p>
            <a:r>
              <a:rPr>
                <a:latin typeface="Calibri"/>
                <a:ea typeface="Calibri"/>
                <a:cs typeface="Calibri"/>
              </a:rPr>
              <a:t>Sorting columns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Click a column header to sort the table by the column values 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By multiple columns : </a:t>
            </a:r>
            <a:r>
              <a:rPr b="1">
                <a:latin typeface="Calibri"/>
                <a:ea typeface="Calibri"/>
                <a:cs typeface="Calibri"/>
              </a:rPr>
              <a:t>Ctrl </a:t>
            </a:r>
            <a:r>
              <a:rPr>
                <a:latin typeface="Calibri"/>
                <a:ea typeface="Calibri"/>
                <a:cs typeface="Calibri"/>
              </a:rPr>
              <a:t>+ click</a:t>
            </a:r>
          </a:p>
          <a:p>
            <a:pPr lvl="0">
              <a:buNone/>
            </a:pPr>
            <a:r>
              <a:rPr>
                <a:latin typeface="Calibri"/>
                <a:ea typeface="Calibri"/>
                <a:cs typeface="Calibri"/>
              </a:rPr>
              <a:t>Resizing columns</a:t>
            </a:r>
            <a:r>
              <a:rPr sz="2800">
                <a:latin typeface="Calibri"/>
                <a:ea typeface="Calibri"/>
                <a:cs typeface="Calibri"/>
              </a:rPr>
              <a:t> width</a:t>
            </a:r>
          </a:p>
          <a:p>
            <a:pPr lvl="0">
              <a:buNone/>
            </a:pPr>
            <a:r>
              <a:rPr sz="2800">
                <a:latin typeface="Calibri"/>
                <a:ea typeface="Calibri"/>
                <a:cs typeface="Calibri"/>
              </a:rPr>
              <a:t>Highlight columns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Double click header</a:t>
            </a:r>
          </a:p>
          <a:p>
            <a:pPr lvl="1">
              <a:buNone/>
            </a:pPr>
            <a:r>
              <a:rPr b="1">
                <a:latin typeface="Calibri"/>
                <a:ea typeface="Calibri"/>
                <a:cs typeface="Calibri"/>
              </a:rPr>
              <a:t>Ctrl </a:t>
            </a:r>
            <a:r>
              <a:rPr>
                <a:latin typeface="Calibri"/>
                <a:ea typeface="Calibri"/>
                <a:cs typeface="Calibri"/>
              </a:rPr>
              <a:t>+ Space (Windows)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8B4664-728D-49B5-97AA-1EBDA9ACB2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33</a:t>
            </a:fld>
            <a:endParaRPr/>
          </a:p>
        </p:txBody>
      </p:sp>
      <p:sp>
        <p:nvSpPr>
          <p:cNvPr id="5" name="文本框 6">
            <a:hlinkClick r:id="rId3" action="ppaction://hlinkfile"/>
            <a:extLst>
              <a:ext uri="{FF2B5EF4-FFF2-40B4-BE49-F238E27FC236}">
                <a16:creationId xmlns:a16="http://schemas.microsoft.com/office/drawing/2014/main" id="{D4E03EF8-1E09-4D36-B4E1-1785AB4FCBA1}"/>
              </a:ext>
            </a:extLst>
          </p:cNvPr>
          <p:cNvSpPr>
            <a:spLocks noGrp="1"/>
          </p:cNvSpPr>
          <p:nvPr/>
        </p:nvSpPr>
        <p:spPr>
          <a:xfrm>
            <a:off x="165735" y="6315710"/>
            <a:ext cx="11889740" cy="3987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000">
                <a:latin typeface="Calibri"/>
                <a:ea typeface="Calibri"/>
                <a:cs typeface="Calibri"/>
              </a:rPr>
              <a:t>For more, refer to </a:t>
            </a:r>
            <a:r>
              <a:rPr sz="2000">
                <a:latin typeface="Calibri"/>
                <a:ea typeface="Calibri"/>
                <a:cs typeface="Calibri"/>
                <a:hlinkClick r:id="rId3"/>
              </a:rPr>
              <a:t>https://github.com/sqlitebrowser/sqlitebrowser/wiki/Browse-Data</a:t>
            </a:r>
            <a:r>
              <a:rPr sz="2000">
                <a:latin typeface="Calibri"/>
                <a:ea typeface="Calibri"/>
                <a:cs typeface="Calibri"/>
              </a:rPr>
              <a:t>  </a:t>
            </a:r>
          </a:p>
        </p:txBody>
      </p:sp>
      <p:pic>
        <p:nvPicPr>
          <p:cNvPr id="13" name="图片 9"/>
          <p:cNvPicPr>
            <a:picLocks noChangeAspect="1"/>
          </p:cNvPicPr>
          <p:nvPr/>
        </p:nvPicPr>
        <p:blipFill>
          <a:blip r:embed="rId4"/>
          <a:srcRect r="32977" b="5793"/>
          <a:stretch>
            <a:fillRect/>
          </a:stretch>
        </p:blipFill>
        <p:spPr>
          <a:xfrm>
            <a:off x="6673215" y="1282065"/>
            <a:ext cx="5095875" cy="4781550"/>
          </a:xfrm>
          <a:prstGeom prst="rect">
            <a:avLst/>
          </a:prstGeom>
        </p:spPr>
      </p:pic>
      <p:sp>
        <p:nvSpPr>
          <p:cNvPr id="7" name="矩形 10">
            <a:extLst>
              <a:ext uri="{FF2B5EF4-FFF2-40B4-BE49-F238E27FC236}">
                <a16:creationId xmlns:a16="http://schemas.microsoft.com/office/drawing/2014/main" id="{E7E59525-3497-486D-A80E-AF1E71B789BA}"/>
              </a:ext>
            </a:extLst>
          </p:cNvPr>
          <p:cNvSpPr>
            <a:spLocks noGrp="1"/>
          </p:cNvSpPr>
          <p:nvPr/>
        </p:nvSpPr>
        <p:spPr>
          <a:xfrm>
            <a:off x="8039100" y="1211580"/>
            <a:ext cx="1183640" cy="438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95239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03CED-D12B-4C89-A49C-71EFD971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Calibri"/>
                <a:ea typeface="Calibri"/>
                <a:cs typeface="Calibri"/>
              </a:rPr>
              <a:t>Demo</a:t>
            </a:r>
            <a:r>
              <a:rPr>
                <a:latin typeface="Calibri"/>
                <a:ea typeface="Calibri"/>
                <a:cs typeface="Calibri"/>
              </a:rPr>
              <a:t>: Filters in [Browse Data] tab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45069A-A250-45BF-A2CA-A10522C59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065"/>
            <a:ext cx="5850890" cy="4894580"/>
          </a:xfrm>
        </p:spPr>
        <p:txBody>
          <a:bodyPr/>
          <a:lstStyle/>
          <a:p>
            <a:r>
              <a:rPr>
                <a:latin typeface="Calibri"/>
                <a:ea typeface="Calibri"/>
                <a:cs typeface="Calibri"/>
              </a:rPr>
              <a:t>Using Filters to perform quick filters in current table</a:t>
            </a:r>
          </a:p>
          <a:p>
            <a:pPr lvl="1">
              <a:buNone/>
            </a:pPr>
            <a:r>
              <a:rPr sz="2400">
                <a:latin typeface="Calibri"/>
                <a:ea typeface="Calibri"/>
                <a:cs typeface="Calibri"/>
              </a:rPr>
              <a:t>default: sub-string match</a:t>
            </a:r>
          </a:p>
          <a:p>
            <a:pPr lvl="1">
              <a:buNone/>
            </a:pPr>
            <a:r>
              <a:rPr sz="2400">
                <a:latin typeface="Calibri"/>
                <a:ea typeface="Calibri"/>
                <a:cs typeface="Calibri"/>
              </a:rPr>
              <a:t>exact match: =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wildcard: </a:t>
            </a:r>
            <a:r>
              <a:rPr sz="2400">
                <a:latin typeface="Calibri"/>
                <a:ea typeface="Calibri"/>
                <a:cs typeface="Calibri"/>
              </a:rPr>
              <a:t>% 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operators: &gt;, &gt;=, &lt;&gt;</a:t>
            </a:r>
          </a:p>
          <a:p>
            <a:pPr lvl="1">
              <a:buNone/>
            </a:pPr>
            <a:r>
              <a:rPr>
                <a:latin typeface="Calibri"/>
                <a:ea typeface="Calibri"/>
                <a:cs typeface="Calibri"/>
              </a:rPr>
              <a:t>range: 1~6</a:t>
            </a:r>
          </a:p>
          <a:p>
            <a:pPr lvl="1">
              <a:buNone/>
            </a:pPr>
            <a:r>
              <a:rPr b="1">
                <a:latin typeface="Calibri"/>
                <a:ea typeface="Calibri"/>
                <a:cs typeface="Calibri"/>
              </a:rPr>
              <a:t>Regular-expression</a:t>
            </a:r>
          </a:p>
          <a:p>
            <a:pPr lvl="1">
              <a:buNone/>
            </a:pPr>
            <a:r>
              <a:rPr b="1">
                <a:latin typeface="Calibri"/>
                <a:ea typeface="Calibri"/>
                <a:cs typeface="Calibri"/>
              </a:rPr>
              <a:t>Filters in any column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3125E0-7D6E-44BA-B440-9022AFE223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34</a:t>
            </a:fld>
            <a:endParaRPr/>
          </a:p>
        </p:txBody>
      </p:sp>
      <p:sp>
        <p:nvSpPr>
          <p:cNvPr id="5" name="文本框 6">
            <a:extLst>
              <a:ext uri="{FF2B5EF4-FFF2-40B4-BE49-F238E27FC236}">
                <a16:creationId xmlns:a16="http://schemas.microsoft.com/office/drawing/2014/main" id="{7CEC6016-E919-42AF-AC61-020B97589170}"/>
              </a:ext>
            </a:extLst>
          </p:cNvPr>
          <p:cNvSpPr>
            <a:spLocks noGrp="1"/>
          </p:cNvSpPr>
          <p:nvPr/>
        </p:nvSpPr>
        <p:spPr>
          <a:xfrm>
            <a:off x="165735" y="6315710"/>
            <a:ext cx="1188974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>
                <a:latin typeface="Calibri"/>
                <a:ea typeface="Calibri"/>
                <a:cs typeface="Calibri"/>
              </a:rPr>
              <a:t>For more, refer to </a:t>
            </a:r>
            <a:r>
              <a:rPr sz="2000">
                <a:latin typeface="Calibri"/>
                <a:ea typeface="Calibri"/>
                <a:cs typeface="Calibri"/>
                <a:hlinkClick r:id="rId3"/>
              </a:rPr>
              <a:t>https://github.com/sqlitebrowser/sqlitebrowser/wiki/Using-the-Filters   </a:t>
            </a:r>
            <a:endParaRPr sz="2000">
              <a:latin typeface="Calibri"/>
              <a:ea typeface="Calibri"/>
              <a:cs typeface="Calibri"/>
            </a:endParaRPr>
          </a:p>
        </p:txBody>
      </p:sp>
      <p:pic>
        <p:nvPicPr>
          <p:cNvPr id="17" name="图片 4"/>
          <p:cNvPicPr>
            <a:picLocks noChangeAspect="1"/>
          </p:cNvPicPr>
          <p:nvPr/>
        </p:nvPicPr>
        <p:blipFill>
          <a:blip r:embed="rId4"/>
          <a:srcRect r="13493" b="29377"/>
          <a:stretch>
            <a:fillRect/>
          </a:stretch>
        </p:blipFill>
        <p:spPr>
          <a:xfrm>
            <a:off x="6689090" y="1143000"/>
            <a:ext cx="5033010" cy="3532505"/>
          </a:xfrm>
          <a:prstGeom prst="rect">
            <a:avLst/>
          </a:prstGeom>
        </p:spPr>
      </p:pic>
      <p:sp>
        <p:nvSpPr>
          <p:cNvPr id="7" name="矩形 10">
            <a:extLst>
              <a:ext uri="{FF2B5EF4-FFF2-40B4-BE49-F238E27FC236}">
                <a16:creationId xmlns:a16="http://schemas.microsoft.com/office/drawing/2014/main" id="{D084DAF5-2A7D-425F-A5F6-DC9E6FE9AB6B}"/>
              </a:ext>
            </a:extLst>
          </p:cNvPr>
          <p:cNvSpPr>
            <a:spLocks noGrp="1"/>
          </p:cNvSpPr>
          <p:nvPr/>
        </p:nvSpPr>
        <p:spPr>
          <a:xfrm>
            <a:off x="7842250" y="1968500"/>
            <a:ext cx="918210" cy="339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pic>
        <p:nvPicPr>
          <p:cNvPr id="19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5054600"/>
            <a:ext cx="7047230" cy="1009650"/>
          </a:xfrm>
          <a:prstGeom prst="rect">
            <a:avLst/>
          </a:prstGeom>
        </p:spPr>
      </p:pic>
      <p:sp>
        <p:nvSpPr>
          <p:cNvPr id="9" name="矩形 7">
            <a:extLst>
              <a:ext uri="{FF2B5EF4-FFF2-40B4-BE49-F238E27FC236}">
                <a16:creationId xmlns:a16="http://schemas.microsoft.com/office/drawing/2014/main" id="{2B7F1D26-30D0-4671-B67F-34B5F016C88A}"/>
              </a:ext>
            </a:extLst>
          </p:cNvPr>
          <p:cNvSpPr>
            <a:spLocks noGrp="1"/>
          </p:cNvSpPr>
          <p:nvPr/>
        </p:nvSpPr>
        <p:spPr>
          <a:xfrm>
            <a:off x="10034905" y="5325745"/>
            <a:ext cx="1646555" cy="339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89538942-FA2E-44FB-9A66-3D97BA597AA4}"/>
              </a:ext>
            </a:extLst>
          </p:cNvPr>
          <p:cNvSpPr>
            <a:spLocks noGrp="1"/>
          </p:cNvSpPr>
          <p:nvPr/>
        </p:nvSpPr>
        <p:spPr>
          <a:xfrm>
            <a:off x="9780905" y="5325745"/>
            <a:ext cx="254000" cy="339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52919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xplanation-title">
            <a:extLst>
              <a:ext uri="{FF2B5EF4-FFF2-40B4-BE49-F238E27FC236}">
                <a16:creationId xmlns:a16="http://schemas.microsoft.com/office/drawing/2014/main" id="{77548761-E50F-4008-A35A-68C62F63E3FD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One Database File, Two Connections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D428840F-84F9-4B3A-8B84-F470DDBE8FB7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CLI and DB Browser can open the same file, but each program keeps its own connection.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6247FC5E-38CC-4ADA-A705-B1C0DA3894E5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Save or commit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3DD24525-1610-4928-B8DD-586978CD6541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other program sees a change only after the writer completes its transaction.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5DB95231-CD4F-4029-B3AC-3F632BFEF23A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5092CB66-0D3D-4582-9239-93DF7004514B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87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DB Browser may still show old rows until Browse Data is refreshed.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B6075249-4E4B-45AE-8139-2F0CDC8EC47F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Write lock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ABE6F0EB-A755-4D8E-85ED-947458F25EE4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Finish or revert GUI edits before the CLI writes, and finish CLI work before GUI edits.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5F511856-09BF-461B-8420-86CF02546C57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Working copy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1C504AA0-31A6-4D71-9AC3-20D69FDD5B32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502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Use a copy of chinook.db so an accidental change can be discarded.</a:t>
            </a:r>
          </a:p>
        </p:txBody>
      </p:sp>
      <p:sp>
        <p:nvSpPr>
          <p:cNvPr id="11" name="explanation-tail">
            <a:extLst>
              <a:ext uri="{FF2B5EF4-FFF2-40B4-BE49-F238E27FC236}">
                <a16:creationId xmlns:a16="http://schemas.microsoft.com/office/drawing/2014/main" id="{6FCDCBED-2B06-47C6-90C1-7C2ABE426845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The file is shared. Connection state, transactions and the displayed rows are separate.</a:t>
            </a:r>
          </a:p>
        </p:txBody>
      </p:sp>
    </p:spTree>
    <p:extLst>
      <p:ext uri="{BB962C8B-B14F-4D97-AF65-F5344CB8AC3E}">
        <p14:creationId xmlns:p14="http://schemas.microsoft.com/office/powerpoint/2010/main" val="10913459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xplanation-title">
            <a:extLst>
              <a:ext uri="{FF2B5EF4-FFF2-40B4-BE49-F238E27FC236}">
                <a16:creationId xmlns:a16="http://schemas.microsoft.com/office/drawing/2014/main" id="{5426F39C-0C16-4049-8F77-A04F4838D156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Test Change Used in Practice 02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C14E854E-01D7-428B-B495-FA858A48FF6A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The practice adds one identifiable row, checks it in both tools, then removes it.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D02254D8-05BA-4C3B-BCC3-88B14BC002EF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INSERT INTO albums ...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BBF57190-F9FA-43B8-A511-B6F05E8DE42B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Add one row. Omitting AlbumId lets INTEGER PRIMARY KEY generate the ID.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A22E0A1C-479B-408B-89AC-18C375DA1978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last_insert_rowid()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A34E52BB-9B3F-4B25-A9DB-E303C31B4080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Return the most recent generated row ID in this CLI connection.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6B1D7490-66EF-406E-A4AC-F849379DB4F2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DELETE ... WHERE ...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9ECA7A0F-B61D-4F47-96D2-7E21330591D7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Remove only rows that satisfy the WHERE condition.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E32D97E5-0DF3-4EAA-A849-62E35A182398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Automatic commit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91BD10D3-4F43-403E-ABD6-A38869D081B2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Outside BEGIN, each successful statement commits and becomes visible after the GUI refreshes.</a:t>
            </a:r>
          </a:p>
        </p:txBody>
      </p:sp>
      <p:sp>
        <p:nvSpPr>
          <p:cNvPr id="11" name="explanation-tail">
            <a:extLst>
              <a:ext uri="{FF2B5EF4-FFF2-40B4-BE49-F238E27FC236}">
                <a16:creationId xmlns:a16="http://schemas.microsoft.com/office/drawing/2014/main" id="{F0E17C76-F92D-4A69-AE62-87370937F175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Do not run another INSERT in this connection before using last_insert_rowid() for the DELETE.</a:t>
            </a:r>
          </a:p>
        </p:txBody>
      </p:sp>
    </p:spTree>
    <p:extLst>
      <p:ext uri="{BB962C8B-B14F-4D97-AF65-F5344CB8AC3E}">
        <p14:creationId xmlns:p14="http://schemas.microsoft.com/office/powerpoint/2010/main" val="16954683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A3522-D3B9-4B31-BFEA-FD03FE4BE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lang="en-US" altLang="zh-CN" sz="4400" b="0" dirty="0">
                <a:latin typeface="Calibri"/>
                <a:ea typeface="Calibri"/>
                <a:cs typeface="Calibri"/>
              </a:rPr>
              <a:t>Case</a:t>
            </a:r>
            <a:r>
              <a:rPr sz="4400" b="0" dirty="0">
                <a:latin typeface="Calibri"/>
                <a:ea typeface="Calibri"/>
                <a:cs typeface="Calibri"/>
              </a:rPr>
              <a:t>: CLI and GUI Share a File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4DE2436A-8235-4973-8D70-E1CE76317FC1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copy of chinook.db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4F465E91-FEB2-470C-A36C-D3862CB28E92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Open a WORKING COPY of chinook.db in both tools.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4DBFC73F-7F61-41B5-B3B7-FB9E84E453ED}"/>
              </a:ext>
            </a:extLst>
          </p:cNvPr>
          <p:cNvSpPr>
            <a:spLocks noGrp="1"/>
          </p:cNvSpPr>
          <p:nvPr/>
        </p:nvSpPr>
        <p:spPr>
          <a:xfrm>
            <a:off x="933450" y="274208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From the CLI, add an album called Test album for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ArtistId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=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999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DB92FDCA-7DE2-4343-A5A2-DF44AC061269}"/>
              </a:ext>
            </a:extLst>
          </p:cNvPr>
          <p:cNvSpPr>
            <a:spLocks noGrp="1"/>
          </p:cNvSpPr>
          <p:nvPr/>
        </p:nvSpPr>
        <p:spPr>
          <a:xfrm>
            <a:off x="933450" y="3985578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Refresh Browse Data in DB Browser and locate the new row.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1B6AC773-C87D-4DDE-A68F-F20EB9779354}"/>
              </a:ext>
            </a:extLst>
          </p:cNvPr>
          <p:cNvSpPr>
            <a:spLocks noGrp="1"/>
          </p:cNvSpPr>
          <p:nvPr/>
        </p:nvSpPr>
        <p:spPr>
          <a:xfrm>
            <a:off x="933450" y="5130873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Remove only that new row, then verify it disappeared.</a:t>
            </a:r>
          </a:p>
        </p:txBody>
      </p:sp>
      <p:sp>
        <p:nvSpPr>
          <p:cNvPr id="8" name="practice-time">
            <a:extLst>
              <a:ext uri="{FF2B5EF4-FFF2-40B4-BE49-F238E27FC236}">
                <a16:creationId xmlns:a16="http://schemas.microsoft.com/office/drawing/2014/main" id="{6E2CA168-BD1F-4B6A-9E25-8FB6B7548E7A}"/>
              </a:ext>
            </a:extLst>
          </p:cNvPr>
          <p:cNvSpPr>
            <a:spLocks noGrp="1"/>
          </p:cNvSpPr>
          <p:nvPr/>
        </p:nvSpPr>
        <p:spPr>
          <a:xfrm>
            <a:off x="8045450" y="1241743"/>
            <a:ext cx="36830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</a:t>
            </a: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6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minutes.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6A7C9849-AB37-4F48-805E-C5F3A0C729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37</a:t>
            </a:fld>
            <a:endParaRPr/>
          </a:p>
        </p:txBody>
      </p:sp>
      <p:sp>
        <p:nvSpPr>
          <p:cNvPr id="12" name="body-1">
            <a:extLst>
              <a:ext uri="{FF2B5EF4-FFF2-40B4-BE49-F238E27FC236}">
                <a16:creationId xmlns:a16="http://schemas.microsoft.com/office/drawing/2014/main" id="{3FEEBB59-C3AA-F579-75A4-2C20ED7A469C}"/>
              </a:ext>
            </a:extLst>
          </p:cNvPr>
          <p:cNvSpPr>
            <a:spLocks noGrp="1"/>
          </p:cNvSpPr>
          <p:nvPr/>
        </p:nvSpPr>
        <p:spPr>
          <a:xfrm>
            <a:off x="1962150" y="3224211"/>
            <a:ext cx="7874000" cy="702153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albums(Title,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ArtistId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VALUES ('Test album</a:t>
            </a:r>
            <a:r>
              <a:rPr lang="en-US"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'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999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last_insert_rowid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() AS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new_album_id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BE11BB9-84DA-31F8-8F3A-F49FD0E3F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021" y="4629330"/>
            <a:ext cx="3600000" cy="32144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72BB93E-3515-55C2-C860-EF9EA3C0C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30" y="4629330"/>
            <a:ext cx="3600000" cy="235229"/>
          </a:xfrm>
          <a:prstGeom prst="rect">
            <a:avLst/>
          </a:prstGeom>
        </p:spPr>
      </p:pic>
      <p:sp>
        <p:nvSpPr>
          <p:cNvPr id="20" name="body-1">
            <a:extLst>
              <a:ext uri="{FF2B5EF4-FFF2-40B4-BE49-F238E27FC236}">
                <a16:creationId xmlns:a16="http://schemas.microsoft.com/office/drawing/2014/main" id="{02293497-8FA6-3063-EAF7-11182EFD9C5E}"/>
              </a:ext>
            </a:extLst>
          </p:cNvPr>
          <p:cNvSpPr>
            <a:spLocks noGrp="1"/>
          </p:cNvSpPr>
          <p:nvPr/>
        </p:nvSpPr>
        <p:spPr>
          <a:xfrm>
            <a:off x="1962150" y="5608515"/>
            <a:ext cx="7874000" cy="509025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DELETE FROM albums</a:t>
            </a:r>
            <a:r>
              <a:rPr lang="en-US"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AlbumId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=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last_insert_rowid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();</a:t>
            </a:r>
          </a:p>
        </p:txBody>
      </p:sp>
      <p:pic>
        <p:nvPicPr>
          <p:cNvPr id="22" name="图片 2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C9A81EF-99CC-E39A-AA82-2E1CD2CD7F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643" t="60767" r="39142"/>
          <a:stretch>
            <a:fillRect/>
          </a:stretch>
        </p:blipFill>
        <p:spPr>
          <a:xfrm>
            <a:off x="1473200" y="4435694"/>
            <a:ext cx="1111250" cy="64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202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B3F9D-EE39-4225-8810-5E6AA5F01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/>
              <a:t>5 - Tables and Data Types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20566D3D-30CE-480A-B595-2309F05DFBAB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 in lab_work.db for schema and update practice</a:t>
            </a:r>
          </a:p>
        </p:txBody>
      </p:sp>
    </p:spTree>
    <p:extLst>
      <p:ext uri="{BB962C8B-B14F-4D97-AF65-F5344CB8AC3E}">
        <p14:creationId xmlns:p14="http://schemas.microsoft.com/office/powerpoint/2010/main" val="39068010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AB0DA-06AB-6CA1-0998-9F6C3E33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Creating a SQLite Table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5EBE4A89-F5F7-4934-86B0-346A1B64867F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table definition gives each column a name, declared type and constraints.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E58262A-498A-49DC-BC9A-9A04B3F9356D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example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price REAL CHECK (price &gt; 0),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created_on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TEXT DEFAULT CURRENT_DATE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4275C0CC-1C1F-432C-920A-18450AFFA77A}"/>
              </a:ext>
            </a:extLst>
          </p:cNvPr>
          <p:cNvSpPr>
            <a:spLocks noGrp="1"/>
          </p:cNvSpPr>
          <p:nvPr/>
        </p:nvSpPr>
        <p:spPr>
          <a:xfrm>
            <a:off x="933450" y="429082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CURRENT_DATE produces a UTC date in YYYY-MM-DD form.</a:t>
            </a:r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9612439C-112A-CA85-35BB-B15500FA65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18896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FBE0F862-DB76-424B-9ED2-E7025BB92CFB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How to Read a CREATE TABLE Statement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F369149B-C55C-4396-9A02-AB8897372095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Read the statement from the table name down to each column rule.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DB14785B-469A-4296-839A-84A3CEA8C828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009" lnSpcReduction="10000"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CREATE TABLE example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1B964C3B-1677-4448-B420-15E96FFB0A13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Create a new table named example in the current database.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7D1835CB-322D-4CFC-9144-5B52B1EF8EAD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id INTEGER PRIMARY KEY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58FC2266-9680-4B97-8DC6-8F6599FF9D06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0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Column name, declared type and constraints appear in that order.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B7E74DD7-2824-4EB6-88E7-BF2D2F7920A8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name TEXT NOT NULL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85099DAD-86F9-4843-B41D-32685D58CF84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05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column stores text and every row must supply a non-NULL value.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8F8844AC-7B78-4470-BC70-4FB8B8A5B41D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price REAL CHECK (...)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DF8332E1-4349-4C2E-9CEA-E0F2B2C86799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7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CHECK expression must not evaluate to false for an inserted row.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C29A0AB2-81C1-4A63-A2BF-962601EB91F0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Comma and semicolon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D6D4C435-CECB-4E6A-83A6-A465DF414736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000000"/>
                </a:solidFill>
                <a:latin typeface="Aptos"/>
                <a:ea typeface="Aptos"/>
                <a:cs typeface="Aptos"/>
              </a:rPr>
              <a:t>Commas separate definitions. The final semicolon ends the SQL statement.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9548391C-3064-4495-8945-0109E13CF137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The CREATE statement defines allowed data. It does not insert any rows.</a:t>
            </a:r>
          </a:p>
        </p:txBody>
      </p:sp>
    </p:spTree>
    <p:extLst>
      <p:ext uri="{BB962C8B-B14F-4D97-AF65-F5344CB8AC3E}">
        <p14:creationId xmlns:p14="http://schemas.microsoft.com/office/powerpoint/2010/main" val="16937032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AB0DA-06AB-6CA1-0998-9F6C3E33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>
                <a:latin typeface="Calibri"/>
                <a:ea typeface="Calibri"/>
                <a:cs typeface="Calibri"/>
              </a:rPr>
              <a:t>SQLite Types: Storage and Affinity</a:t>
            </a:r>
          </a:p>
        </p:txBody>
      </p:sp>
      <p:graphicFrame>
        <p:nvGraphicFramePr>
          <p:cNvPr id="8" name="表格 2"/>
          <p:cNvGraphicFramePr/>
          <p:nvPr/>
        </p:nvGraphicFramePr>
        <p:xfrm>
          <a:off x="933450" y="1457325"/>
          <a:ext cx="10287000" cy="2770632"/>
        </p:xfrm>
        <a:graphic>
          <a:graphicData uri="http://schemas.openxmlformats.org/drawingml/2006/table">
            <a:tbl>
              <a:tblPr/>
              <a:tblGrid>
                <a:gridCol w="3435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1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Concept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SQLite behavior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Storage classes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NULL, INTEGER, REAL, TEXT, BLOB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Declared type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Normally gives a preferred type (affinity)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BOOLEAN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 separate storage class; typically use 0 and 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Dates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Store as TEXT, INTEGER or REAL by convention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VARCHAR(n), DECIMAL(p,s)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Length and decimal scale are not automatically enforced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body-1">
            <a:extLst>
              <a:ext uri="{FF2B5EF4-FFF2-40B4-BE49-F238E27FC236}">
                <a16:creationId xmlns:a16="http://schemas.microsoft.com/office/drawing/2014/main" id="{F9C473BD-8456-426D-9851-DAD469DB09FE}"/>
              </a:ext>
            </a:extLst>
          </p:cNvPr>
          <p:cNvSpPr>
            <a:spLocks noGrp="1"/>
          </p:cNvSpPr>
          <p:nvPr/>
        </p:nvSpPr>
        <p:spPr>
          <a:xfrm>
            <a:off x="933450" y="4437507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These labs use INTEGER, REAL and TEXT. STRICT tables are an optional extension.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9612439C-112A-CA85-35BB-B15500FA65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18896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C8DE14A3-110D-44FE-BEF6-DA80BAACEE35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778"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Constraints Decide Whether a Row Is Accepted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D9174A17-463F-441E-A4E8-CA0F8BA80DA8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SQLite evaluates the declared constraints when INSERT or UPDATE runs.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4798ED8C-D223-482F-999D-6ADACD8A45DA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05"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INTEGER PRIMARY KEY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998C5C62-21FA-43BE-92E3-43842901767C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Identifies one row uniquely and can generate an ID when the value is omitted.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7D3D7782-9EF7-47A8-B35A-28E055AE0A6B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NOT NULL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8706AEC5-F007-4271-BC15-114ACEC7B7E8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Rejects SQL NULL. An empty string is still a value.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7A91456E-4AC6-4304-9262-0203F73BD108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DEFAULT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F072BE9F-22E5-45A3-8519-737FF65A15DB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Supplies a value only when the column is omitted, not when NULL is written explicitly.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7923A1F4-C691-4F76-AFBA-475DAB818A1F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UNIQUE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1B6E159A-68BE-4141-BCCD-0684F86D8101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906"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Rejects a duplicate non-NULL value in that column or column group.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96EF43D8-21C2-4B74-8090-85BFA82D1A9A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357AD90E-9491-47C0-B425-0E1D6B790F9B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Rejects false. A NULL result passes unless another constraint forbids NULL.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015DB120-3E88-4C0F-A4EB-84402814547C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When an INSERT fails, read the first error message and identify the violated rule.</a:t>
            </a:r>
          </a:p>
        </p:txBody>
      </p:sp>
    </p:spTree>
    <p:extLst>
      <p:ext uri="{BB962C8B-B14F-4D97-AF65-F5344CB8AC3E}">
        <p14:creationId xmlns:p14="http://schemas.microsoft.com/office/powerpoint/2010/main" val="12153018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38EEC-4440-404C-0F3A-5DCDB435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lang="en-US" altLang="zh-CN" sz="4400" b="0" dirty="0"/>
              <a:t>Case</a:t>
            </a:r>
            <a:r>
              <a:rPr sz="4400" b="0" dirty="0"/>
              <a:t>: Employees Table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E88BD56-0472-4284-BB8A-D546C351C039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</a:t>
            </a:r>
            <a:r>
              <a:rPr sz="1950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lab_work.db</a:t>
            </a:r>
            <a:endParaRPr sz="1950" dirty="0">
              <a:solidFill>
                <a:srgbClr val="52530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6B1FBDB9-00AB-4742-B1C6-776DEB7A1778}"/>
              </a:ext>
            </a:extLst>
          </p:cNvPr>
          <p:cNvSpPr>
            <a:spLocks noGrp="1"/>
          </p:cNvSpPr>
          <p:nvPr/>
        </p:nvSpPr>
        <p:spPr>
          <a:xfrm>
            <a:off x="933450" y="1806889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Create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lab_employees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with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EmployeeID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as INTEGER PRIMARY KEY.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A1ABE56D-C870-4576-A52B-182A4FE3E758}"/>
              </a:ext>
            </a:extLst>
          </p:cNvPr>
          <p:cNvSpPr>
            <a:spLocks noGrp="1"/>
          </p:cNvSpPr>
          <p:nvPr/>
        </p:nvSpPr>
        <p:spPr>
          <a:xfrm>
            <a:off x="933450" y="2206623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FirstName, LastName and Email must not be NULL. Email must be UNIQUE.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C62C7F0E-A7D0-43E4-8BBB-77E882E1F4DF}"/>
              </a:ext>
            </a:extLst>
          </p:cNvPr>
          <p:cNvSpPr>
            <a:spLocks noGrp="1"/>
          </p:cNvSpPr>
          <p:nvPr/>
        </p:nvSpPr>
        <p:spPr>
          <a:xfrm>
            <a:off x="933450" y="260635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Store HireDate as TEXT, defaulting to CURRENT_DATE.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AF211BA5-C5AA-49C8-8BD5-B0DC46C087A6}"/>
              </a:ext>
            </a:extLst>
          </p:cNvPr>
          <p:cNvSpPr>
            <a:spLocks noGrp="1"/>
          </p:cNvSpPr>
          <p:nvPr/>
        </p:nvSpPr>
        <p:spPr>
          <a:xfrm>
            <a:off x="933450" y="3006090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Salary is REAL and defaults to 50000.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4977E56E-0C9A-BFB4-CD0F-C128B4A9F9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43</a:t>
            </a:fld>
            <a:endParaRPr/>
          </a:p>
        </p:txBody>
      </p:sp>
      <p:sp>
        <p:nvSpPr>
          <p:cNvPr id="12" name="body-0">
            <a:extLst>
              <a:ext uri="{FF2B5EF4-FFF2-40B4-BE49-F238E27FC236}">
                <a16:creationId xmlns:a16="http://schemas.microsoft.com/office/drawing/2014/main" id="{65EE9633-E3AF-DEC5-32AA-299C8F1360B6}"/>
              </a:ext>
            </a:extLst>
          </p:cNvPr>
          <p:cNvSpPr>
            <a:spLocks noGrp="1"/>
          </p:cNvSpPr>
          <p:nvPr/>
        </p:nvSpPr>
        <p:spPr>
          <a:xfrm>
            <a:off x="933450" y="3471799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lab_employees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EmployeeID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FirstName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LastName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Email TEXT UNIQUE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HireDate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TEXT DEFAULT CURRENT_DATE,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Salary REAL DEFAULT 50000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13" name="body-1">
            <a:extLst>
              <a:ext uri="{FF2B5EF4-FFF2-40B4-BE49-F238E27FC236}">
                <a16:creationId xmlns:a16="http://schemas.microsoft.com/office/drawing/2014/main" id="{9DFF7A8D-1D26-8F35-1379-2046262A0FD8}"/>
              </a:ext>
            </a:extLst>
          </p:cNvPr>
          <p:cNvSpPr>
            <a:spLocks noGrp="1"/>
          </p:cNvSpPr>
          <p:nvPr/>
        </p:nvSpPr>
        <p:spPr>
          <a:xfrm>
            <a:off x="933450" y="635635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Use .schema lab_employees or PRAGMA table_info(lab_employees); to inspect the definition.</a:t>
            </a:r>
          </a:p>
        </p:txBody>
      </p:sp>
    </p:spTree>
    <p:extLst>
      <p:ext uri="{BB962C8B-B14F-4D97-AF65-F5344CB8AC3E}">
        <p14:creationId xmlns:p14="http://schemas.microsoft.com/office/powerpoint/2010/main" val="6786859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A0616-0B65-BC1C-3262-8FA725D5D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Inserting Multiple Rows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09EC0146-ED5B-47BB-AC45-56E439C6F715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lab_employees</a:t>
            </a:r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(FirstName, LastName, Email)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VALUES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('Alice', 'Johnson', 'alice.johnson@example.com'),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('Bob', 'Smith', 'bob.smith@example.com');</a:t>
            </a:r>
          </a:p>
          <a:p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EmployeeID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FirstName,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HireDate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, Salary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lab_employees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ORDER BY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EmployeeID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93946B1A-D4F1-43D3-B3AE-561E727DC912}"/>
              </a:ext>
            </a:extLst>
          </p:cNvPr>
          <p:cNvSpPr>
            <a:spLocks noGrp="1"/>
          </p:cNvSpPr>
          <p:nvPr/>
        </p:nvSpPr>
        <p:spPr>
          <a:xfrm>
            <a:off x="933450" y="4341876"/>
            <a:ext cx="10287000" cy="6743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Each row gets an ID and the date/salary defaults. Run this INSERT once; repeating it violates</a:t>
            </a:r>
          </a:p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UNIQUE.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63E3821C-5A03-3E96-505E-906D96914D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44</a:t>
            </a:fld>
            <a:endParaRPr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AE661A41-25F0-984C-2291-4374F49FD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550" y="4836795"/>
            <a:ext cx="6462185" cy="18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206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D2569A5C-C062-4026-B42D-59706E074D9D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How INSERT Maps Values to Columns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F768D815-914A-48CB-A065-3D7931F84994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The column list states exactly where each value will be stored.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92A510B8-E345-4FA3-B759-9423638223B8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INSERT INTO book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3AD5F791-8771-453D-A016-671CD46C6DEC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Choose the target table in the current database.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7B83B073-33F9-4447-B430-F489431D42D1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(title, isbn)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DDED43F7-69C1-4471-A98D-C64747B5B978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Name the destination columns. The order matters.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2CC1E8C7-12E7-425A-B13E-AEE38073A8EC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555500"/>
                </a:solidFill>
                <a:latin typeface="Arial"/>
                <a:ea typeface="Arial"/>
                <a:cs typeface="Arial"/>
              </a:rPr>
              <a:t>VALUES ('SQL Practice', ...)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87AE45B2-73BC-44CB-8BFF-4A8D62CD2B74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Supply one value for each named column in the same order.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29C8C261-32EB-4950-A7F2-2F38891C882B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Omitted columns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DEAEFB54-1BDF-4D4A-996D-20A0176DB5CD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53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SQLite uses a declared default; otherwise it uses NULL if the column allows it.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7F90D1EE-CC19-41F9-87E4-CA8C65220F21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Multiple rows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C7D860D1-B7F2-40F2-A264-B3AEBB990D27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Add comma-separated parenthesized value groups after VALUES.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7EE2B6ED-6762-4F66-BAE8-4811D9BE36BD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55500"/>
                </a:solidFill>
                <a:latin typeface="Aptos"/>
                <a:ea typeface="Aptos"/>
                <a:cs typeface="Aptos"/>
              </a:rPr>
              <a:t>A required column with no default must appear in the INSERT with a valid value.</a:t>
            </a:r>
          </a:p>
        </p:txBody>
      </p:sp>
    </p:spTree>
    <p:extLst>
      <p:ext uri="{BB962C8B-B14F-4D97-AF65-F5344CB8AC3E}">
        <p14:creationId xmlns:p14="http://schemas.microsoft.com/office/powerpoint/2010/main" val="12091130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F68F4-F845-5714-14C3-6217CB47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Practice 04: Two CREATE TABLE Statements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222180E0-34B7-4B33-B06E-F89CBF0149C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lab_work.db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FE90FD4-E6F9-46EE-BC93-43CCDF507527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Create company and book using the specifications on the next slide.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5433BE0A-64B3-4449-AF77-540A1A8752B0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Specify types and PRIMARY KEY, NOT NULL, UNIQUE, CHECK and DEFAULT</a:t>
            </a:r>
          </a:p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needed.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B709D7B4-6941-453C-8C9B-B19E2A177706}"/>
              </a:ext>
            </a:extLst>
          </p:cNvPr>
          <p:cNvSpPr>
            <a:spLocks noGrp="1"/>
          </p:cNvSpPr>
          <p:nvPr/>
        </p:nvSpPr>
        <p:spPr>
          <a:xfrm>
            <a:off x="933450" y="372808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Then inspect both table definitions.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A1780E8F-EC56-4891-9DE9-1C8164463AD6}"/>
              </a:ext>
            </a:extLst>
          </p:cNvPr>
          <p:cNvSpPr>
            <a:spLocks noGrp="1"/>
          </p:cNvSpPr>
          <p:nvPr/>
        </p:nvSpPr>
        <p:spPr>
          <a:xfrm>
            <a:off x="9982200" y="1300162"/>
            <a:ext cx="12319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minutes.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5B8B10F2-62EF-39E8-E4C4-876E07F127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026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B0FAB-1AFD-ADDF-2F21-F9AD19D28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Practice 04: Schema Specifications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BEC1FA93-9F68-40FC-B711-4F69F5D59C7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the name book consistently in this and the next practice.</a:t>
            </a:r>
          </a:p>
        </p:txBody>
      </p:sp>
      <p:graphicFrame>
        <p:nvGraphicFramePr>
          <p:cNvPr id="9" name="表格 3"/>
          <p:cNvGraphicFramePr/>
          <p:nvPr>
            <p:extLst>
              <p:ext uri="{D42A27DB-BD31-4B8C-83A1-F6EECF244321}">
                <p14:modId xmlns:p14="http://schemas.microsoft.com/office/powerpoint/2010/main" val="3605966614"/>
              </p:ext>
            </p:extLst>
          </p:nvPr>
        </p:nvGraphicFramePr>
        <p:xfrm>
          <a:off x="933450" y="1833880"/>
          <a:ext cx="6051550" cy="349453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Table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Columns and requirements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company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id: INTEGER PRIMARY KEY;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name: required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  <a:endParaRPr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address: optional TEXT;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salary: required REAL &gt; 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53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book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book_id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INTEGER PRIMARY KEY;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title: required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author and </a:t>
                      </a: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pub_date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optional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</a:p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isbn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required UNIQUE TEXT;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add_date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TEXT DEFAULT CURRENT_DATE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DC298E2-1B8B-4AB6-CC52-CF18E627D8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47</a:t>
            </a:fld>
            <a:endParaRPr/>
          </a:p>
        </p:txBody>
      </p:sp>
      <p:sp>
        <p:nvSpPr>
          <p:cNvPr id="4" name="practice-time">
            <a:extLst>
              <a:ext uri="{FF2B5EF4-FFF2-40B4-BE49-F238E27FC236}">
                <a16:creationId xmlns:a16="http://schemas.microsoft.com/office/drawing/2014/main" id="{AD4F64D2-FAF1-F848-A29C-9978CB822D30}"/>
              </a:ext>
            </a:extLst>
          </p:cNvPr>
          <p:cNvSpPr>
            <a:spLocks noGrp="1"/>
          </p:cNvSpPr>
          <p:nvPr/>
        </p:nvSpPr>
        <p:spPr>
          <a:xfrm>
            <a:off x="10026650" y="1204913"/>
            <a:ext cx="12319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minutes.</a:t>
            </a:r>
          </a:p>
        </p:txBody>
      </p:sp>
      <p:sp>
        <p:nvSpPr>
          <p:cNvPr id="6" name="body-0">
            <a:extLst>
              <a:ext uri="{FF2B5EF4-FFF2-40B4-BE49-F238E27FC236}">
                <a16:creationId xmlns:a16="http://schemas.microsoft.com/office/drawing/2014/main" id="{CD2C6E2E-C66D-CAC0-C084-561A60D1F9D8}"/>
              </a:ext>
            </a:extLst>
          </p:cNvPr>
          <p:cNvSpPr>
            <a:spLocks noGrp="1"/>
          </p:cNvSpPr>
          <p:nvPr/>
        </p:nvSpPr>
        <p:spPr>
          <a:xfrm>
            <a:off x="7378700" y="2879312"/>
            <a:ext cx="4559300" cy="2116963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lab_employees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EmployeeID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FirstName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LastName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Email TEXT UNIQUE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16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HireDate</a:t>
            </a: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TEXT DEFAULT CURRENT_DATE,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Salary REAL DEFAULT 50000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7" name="practice-time">
            <a:extLst>
              <a:ext uri="{FF2B5EF4-FFF2-40B4-BE49-F238E27FC236}">
                <a16:creationId xmlns:a16="http://schemas.microsoft.com/office/drawing/2014/main" id="{02F6EB59-8263-C78C-EC8B-C9EFD6E9D56B}"/>
              </a:ext>
            </a:extLst>
          </p:cNvPr>
          <p:cNvSpPr>
            <a:spLocks noGrp="1"/>
          </p:cNvSpPr>
          <p:nvPr/>
        </p:nvSpPr>
        <p:spPr>
          <a:xfrm>
            <a:off x="7378700" y="2384060"/>
            <a:ext cx="12319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b="1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Example</a:t>
            </a:r>
            <a:endParaRPr sz="1725" b="1" dirty="0">
              <a:solidFill>
                <a:schemeClr val="accent6">
                  <a:lumMod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31133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B0FAB-1AFD-ADDF-2F21-F9AD19D28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Solution 04: Company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8F7B8E76-AEB3-424E-8A6E-F071BFA1077C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company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address TEXT,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salary REAL NOT NULL CHECK (salary &gt; 0)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73B50E93-E5BA-48C2-A608-A3D8D6E8C23E}"/>
              </a:ext>
            </a:extLst>
          </p:cNvPr>
          <p:cNvSpPr>
            <a:spLocks noGrp="1"/>
          </p:cNvSpPr>
          <p:nvPr/>
        </p:nvSpPr>
        <p:spPr>
          <a:xfrm>
            <a:off x="933450" y="372313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NOT NULL is required here: CHECK(salary &gt; 0) alone would still permit NULL.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DC298E2-1B8B-4AB6-CC52-CF18E627D8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48</a:t>
            </a:fld>
            <a:endParaRPr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29341FF-F32E-0F3F-2DD3-73CBE48CA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67957"/>
              </p:ext>
            </p:extLst>
          </p:nvPr>
        </p:nvGraphicFramePr>
        <p:xfrm>
          <a:off x="933450" y="4491609"/>
          <a:ext cx="6051550" cy="181813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614719921"/>
                    </a:ext>
                  </a:extLst>
                </a:gridCol>
                <a:gridCol w="4832350">
                  <a:extLst>
                    <a:ext uri="{9D8B030D-6E8A-4147-A177-3AD203B41FA5}">
                      <a16:colId xmlns:a16="http://schemas.microsoft.com/office/drawing/2014/main" val="4131965065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Table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Columns and requirements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558888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company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id: INTEGER PRIMARY KEY;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name: required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  <a:endParaRPr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address: optional TEXT;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salary: required REAL &gt; 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078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31133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B0FAB-1AFD-ADDF-2F21-F9AD19D28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Solution 04: Book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FA6542A-CB49-4ACC-95CD-BBAB747D9739}"/>
              </a:ext>
            </a:extLst>
          </p:cNvPr>
          <p:cNvSpPr>
            <a:spLocks noGrp="1"/>
          </p:cNvSpPr>
          <p:nvPr/>
        </p:nvSpPr>
        <p:spPr>
          <a:xfrm>
            <a:off x="889000" y="1269997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book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book_id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title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author TEXT,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pub_date TEXT,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isbn TEXT NOT NULL UNIQUE,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add_date TEXT DEFAULT CURRENT_DATE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B9E9D33F-237D-4360-B1C3-52D8DBC432AF}"/>
              </a:ext>
            </a:extLst>
          </p:cNvPr>
          <p:cNvSpPr>
            <a:spLocks noGrp="1"/>
          </p:cNvSpPr>
          <p:nvPr/>
        </p:nvSpPr>
        <p:spPr>
          <a:xfrm>
            <a:off x="889000" y="4051106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pub_date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add_date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 use ISO date text. The default date is generated at insertion time.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DDC298E2-1B8B-4AB6-CC52-CF18E627D8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49</a:t>
            </a:fld>
            <a:endParaRPr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FD33FEC-6EE0-D69A-DEEE-F49AA5F47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287112"/>
              </p:ext>
            </p:extLst>
          </p:nvPr>
        </p:nvGraphicFramePr>
        <p:xfrm>
          <a:off x="889000" y="4532500"/>
          <a:ext cx="6051550" cy="213817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292442241"/>
                    </a:ext>
                  </a:extLst>
                </a:gridCol>
                <a:gridCol w="4832350">
                  <a:extLst>
                    <a:ext uri="{9D8B030D-6E8A-4147-A177-3AD203B41FA5}">
                      <a16:colId xmlns:a16="http://schemas.microsoft.com/office/drawing/2014/main" val="3173710175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Table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Columns and requirements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272503"/>
                  </a:ext>
                </a:extLst>
              </a:tr>
              <a:tr h="13853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book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book_id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INTEGER PRIMARY KEY;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title: required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</a:p>
                    <a:p>
                      <a:pPr algn="l">
                        <a:buNone/>
                      </a:pP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author and </a:t>
                      </a: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pub_date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optional TEXT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</a:p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isbn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required UNIQUE TEXT; </a:t>
                      </a:r>
                      <a:endParaRPr lang="en-US" sz="2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buNone/>
                      </a:pPr>
                      <a:r>
                        <a:rPr sz="2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add_date</a:t>
                      </a:r>
                      <a:r>
                        <a:rPr sz="2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: TEXT DEFAULT CURRENT_DATE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041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31133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768F2-23AC-4E05-4C66-79E2993C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lang="en-US" sz="4400" b="0" dirty="0"/>
              <a:t>Practice 05</a:t>
            </a:r>
            <a:r>
              <a:rPr sz="4400" b="0" dirty="0"/>
              <a:t>: Defaults and a Failed Insert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381D9CF9-9667-4342-8725-FABF2F2004EB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lab_work.db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DE39C67B-9951-4E85-92E3-E1B1142146D2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Write one INSERT supplying all book columns.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AC37E1D7-42BE-4475-B707-27FC96FAF768}"/>
              </a:ext>
            </a:extLst>
          </p:cNvPr>
          <p:cNvSpPr>
            <a:spLocks noGrp="1"/>
          </p:cNvSpPr>
          <p:nvPr/>
        </p:nvSpPr>
        <p:spPr>
          <a:xfrm>
            <a:off x="933450" y="3429000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Write one INSERT supplying only the required title and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isbn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35E03184-E1ED-467A-8510-D3CA6FE4F9AF}"/>
              </a:ext>
            </a:extLst>
          </p:cNvPr>
          <p:cNvSpPr>
            <a:spLocks noGrp="1"/>
          </p:cNvSpPr>
          <p:nvPr/>
        </p:nvSpPr>
        <p:spPr>
          <a:xfrm>
            <a:off x="933450" y="4665980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Attempt an INSERT supplying only </a:t>
            </a:r>
            <a:r>
              <a:rPr sz="2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book_id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= 103.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4E5AE14D-D457-4E03-8163-11AD87DF7BC0}"/>
              </a:ext>
            </a:extLst>
          </p:cNvPr>
          <p:cNvSpPr>
            <a:spLocks noGrp="1"/>
          </p:cNvSpPr>
          <p:nvPr/>
        </p:nvSpPr>
        <p:spPr>
          <a:xfrm>
            <a:off x="933450" y="582866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Predict which statement fails and name the violated constraint.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BFBAC062-BF4F-AE43-E666-1F00B00B4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50</a:t>
            </a:fld>
            <a:endParaRPr/>
          </a:p>
        </p:txBody>
      </p:sp>
      <p:sp>
        <p:nvSpPr>
          <p:cNvPr id="10" name="practice-time">
            <a:extLst>
              <a:ext uri="{FF2B5EF4-FFF2-40B4-BE49-F238E27FC236}">
                <a16:creationId xmlns:a16="http://schemas.microsoft.com/office/drawing/2014/main" id="{C978D2D7-3DD8-A40F-A658-406781497ECD}"/>
              </a:ext>
            </a:extLst>
          </p:cNvPr>
          <p:cNvSpPr>
            <a:spLocks noGrp="1"/>
          </p:cNvSpPr>
          <p:nvPr/>
        </p:nvSpPr>
        <p:spPr>
          <a:xfrm>
            <a:off x="10026650" y="1204913"/>
            <a:ext cx="12319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5</a:t>
            </a:r>
            <a:r>
              <a:rPr sz="1725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minutes.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5729D64-BE36-BFD9-17B5-3F445DC91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636632"/>
              </p:ext>
            </p:extLst>
          </p:nvPr>
        </p:nvGraphicFramePr>
        <p:xfrm>
          <a:off x="1676400" y="2539047"/>
          <a:ext cx="8305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>
                  <a:extLst>
                    <a:ext uri="{9D8B030D-6E8A-4147-A177-3AD203B41FA5}">
                      <a16:colId xmlns:a16="http://schemas.microsoft.com/office/drawing/2014/main" val="3171046475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850540219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3164089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456036383"/>
                    </a:ext>
                  </a:extLst>
                </a:gridCol>
                <a:gridCol w="1784350">
                  <a:extLst>
                    <a:ext uri="{9D8B030D-6E8A-4147-A177-3AD203B41FA5}">
                      <a16:colId xmlns:a16="http://schemas.microsoft.com/office/drawing/2014/main" val="12492402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834592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book_id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title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author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pub_date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isbn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add_date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17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SQLite Basics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Ada Chen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2025-08-01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9780000000001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2026-09-01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619901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7D6A749-E7AB-B533-E33D-F1E877B12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855343"/>
              </p:ext>
            </p:extLst>
          </p:nvPr>
        </p:nvGraphicFramePr>
        <p:xfrm>
          <a:off x="1676400" y="3873183"/>
          <a:ext cx="335915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4068586878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1261046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title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isbn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506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SQLite Basics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9780000000002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806309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B9537BB-AAF0-C1AD-5A39-0CBA5CDBF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502511"/>
              </p:ext>
            </p:extLst>
          </p:nvPr>
        </p:nvGraphicFramePr>
        <p:xfrm>
          <a:off x="1676400" y="5029835"/>
          <a:ext cx="10033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>
                  <a:extLst>
                    <a:ext uri="{9D8B030D-6E8A-4147-A177-3AD203B41FA5}">
                      <a16:colId xmlns:a16="http://schemas.microsoft.com/office/drawing/2014/main" val="4293352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book_id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400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639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9314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768F2-23AC-4E05-4C66-79E2993C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Solution 05: Successful Inserts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9BC98DA9-6E87-4D9A-AFE2-D4D795EB287E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book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book_id,title,author,pub_date,isbn,add_date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VALUES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(101,'SQLite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Basics','Ada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Chen','2025-08-01',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'9780000000001','2026-09-01');</a:t>
            </a:r>
          </a:p>
          <a:p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book(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title,isbn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VALUES ('SQL Practice','9780000000002');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051E8334-C2E0-4A44-B6EB-68986266321D}"/>
              </a:ext>
            </a:extLst>
          </p:cNvPr>
          <p:cNvSpPr>
            <a:spLocks noGrp="1"/>
          </p:cNvSpPr>
          <p:nvPr/>
        </p:nvSpPr>
        <p:spPr>
          <a:xfrm>
            <a:off x="933450" y="4341876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The second row gets an ID and current add_date; author and pub_date are NULL.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BFBAC062-BF4F-AE43-E666-1F00B00B4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19314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768F2-23AC-4E05-4C66-79E2993C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Solution 05: Expected Failure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0C44B5C6-FF31-4102-A9BF-BB4E7F637E2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i="1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-- Expected error: NOT NULL constraint failed: </a:t>
            </a:r>
            <a:r>
              <a:rPr sz="2100" i="1" dirty="0" err="1">
                <a:solidFill>
                  <a:schemeClr val="accent2"/>
                </a:solidFill>
                <a:latin typeface="Arial"/>
                <a:ea typeface="Arial"/>
                <a:cs typeface="Arial"/>
              </a:rPr>
              <a:t>book.title</a:t>
            </a:r>
            <a:endParaRPr sz="2100" i="1" dirty="0">
              <a:solidFill>
                <a:schemeClr val="accent2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book(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book_id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 VALUES (103);</a:t>
            </a:r>
          </a:p>
          <a:p>
            <a:endParaRPr sz="2100" dirty="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i="1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-- Valid correction: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book(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book_id,title,isbn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VALUES (103,'Query Patterns','9780000000003');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146ABA0D-D80C-4534-8D2A-9C6F560FF372}"/>
              </a:ext>
            </a:extLst>
          </p:cNvPr>
          <p:cNvSpPr>
            <a:spLocks noGrp="1"/>
          </p:cNvSpPr>
          <p:nvPr/>
        </p:nvSpPr>
        <p:spPr>
          <a:xfrm>
            <a:off x="933450" y="372313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Both title and isbn are required. The error may report the first failed NOT NULL constraint.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BFBAC062-BF4F-AE43-E666-1F00B00B4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AED2C7D-F957-4DD0-9E0D-C651C0C06F55}" type="slidenum">
              <a:rPr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19314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63F9ABA7-D857-470D-BE73-6D68AF55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</p:spPr>
        <p:txBody>
          <a:bodyPr/>
          <a:lstStyle/>
          <a:p>
            <a:r>
              <a:rPr sz="4400" b="0">
                <a:latin typeface="Calibri"/>
                <a:ea typeface="Calibri"/>
                <a:cs typeface="Calibri"/>
              </a:rPr>
              <a:t>6 - CHECK and Foreign Keys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734F784-F077-4DB6-B871-40A6D14DCB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845E83-0E96-4FC2-A2F8-C06E687B247B}" type="slidenum">
              <a:rPr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43001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Col. Constraints in SQLite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altLang="zh-CN" dirty="0"/>
              <a:t>Sets additional restriction on the columns, the RDBMS will enforce the restrictions such that values that meet the conditions are permitted.  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GB" altLang="zh-CN" dirty="0"/>
              <a:t>Constraints covered so far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altLang="zh-CN" sz="2400" dirty="0"/>
              <a:t>NOT NULL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altLang="zh-CN" sz="2400" dirty="0"/>
              <a:t>PRIMARY KEY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altLang="zh-CN" sz="2400" dirty="0"/>
              <a:t>UNIQUE</a:t>
            </a:r>
          </a:p>
          <a:p>
            <a:pPr>
              <a:lnSpc>
                <a:spcPct val="100000"/>
              </a:lnSpc>
            </a:pPr>
            <a:r>
              <a:rPr lang="en-GB" altLang="zh-CN" dirty="0"/>
              <a:t>Constraints to mention today.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altLang="zh-CN" sz="2400" dirty="0">
                <a:solidFill>
                  <a:srgbClr val="FF0000"/>
                </a:solidFill>
              </a:rPr>
              <a:t>CHECK (today)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altLang="zh-CN" sz="2400" dirty="0">
                <a:solidFill>
                  <a:srgbClr val="FF0000"/>
                </a:solidFill>
              </a:rPr>
              <a:t>FOREIGN KEY (today)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60167-4931-47E6-BA6A-407CBD079E47}" type="slidenum">
              <a:rPr lang="en-US" altLang="zh-CN" smtClean="0"/>
              <a:t>54</a:t>
            </a:fld>
            <a:endParaRPr lang="en-US" altLang="zh-C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9">
            <a:extLst>
              <a:ext uri="{FF2B5EF4-FFF2-40B4-BE49-F238E27FC236}">
                <a16:creationId xmlns:a16="http://schemas.microsoft.com/office/drawing/2014/main" id="{09CC804E-09F5-49FA-944B-4B27D5DF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What CHECK Can Enforce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8C8FA6B4-06BE-4627-B4F6-3433299B207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 expressions may compare multiple columns in the same row.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594996D7-80B2-4A97-AD74-6B3E6BB9AD0A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CHECK(price &gt; 0) accepts NULL; add NOT NULL if NULL is forbidden.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5FB2ED75-10BA-4424-BF15-83174AE8AE72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6045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CHECK(x IS NOT NULL) can test non-NULL, but NOT NULL states the intent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clearly.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78E5C982-04F8-4F70-8316-1E8363AC8B9A}"/>
              </a:ext>
            </a:extLst>
          </p:cNvPr>
          <p:cNvSpPr>
            <a:spLocks noGrp="1"/>
          </p:cNvSpPr>
          <p:nvPr/>
        </p:nvSpPr>
        <p:spPr>
          <a:xfrm>
            <a:off x="933450" y="330104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 cannot contain a subquery, so use UNIQUE/PRIMARY KEY for uniqueness.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B60080-52CC-4541-9B27-CF3D0B9F00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55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6081588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7117A0A6-39AA-4842-B179-DA8B4E53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CHECK: Read the Whole Definition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E137995-CAD6-4544-85CE-D51EEF7609F5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Already created by 01_lab_setup.sql. Inspect it rather than creating it again.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23D50B5F-F192-47F5-A5F0-BD34D27A7A14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company3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name TEXT NOT NULL CHECK (length(name) &gt;= 5),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address TEXT,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salary REAL CHECK (salary &gt; 0)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5A8B4425-2729-4304-89D5-5A870730CB98}"/>
              </a:ext>
            </a:extLst>
          </p:cNvPr>
          <p:cNvSpPr>
            <a:spLocks noGrp="1"/>
          </p:cNvSpPr>
          <p:nvPr/>
        </p:nvSpPr>
        <p:spPr>
          <a:xfrm>
            <a:off x="933450" y="429082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This example allows a NULL salary. Practice 04 company deliberately does not.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9E3BAF6-6B6B-414C-BCD1-A9FCE81D8A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56</a:t>
            </a:fld>
            <a:endParaRPr spc="-50"/>
          </a:p>
        </p:txBody>
      </p:sp>
      <p:sp>
        <p:nvSpPr>
          <p:cNvPr id="7" name="body-0">
            <a:extLst>
              <a:ext uri="{FF2B5EF4-FFF2-40B4-BE49-F238E27FC236}">
                <a16:creationId xmlns:a16="http://schemas.microsoft.com/office/drawing/2014/main" id="{DE95C0CB-394B-2FB4-1CDB-DD8888DC7551}"/>
              </a:ext>
            </a:extLst>
          </p:cNvPr>
          <p:cNvSpPr>
            <a:spLocks noGrp="1"/>
          </p:cNvSpPr>
          <p:nvPr/>
        </p:nvSpPr>
        <p:spPr>
          <a:xfrm>
            <a:off x="3143250" y="4674743"/>
            <a:ext cx="6432550" cy="2046732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company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name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address TEXT,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salary REAL NOT NULL CHECK (salary &gt; 0)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357171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0E9C2211-C343-4F65-9A6D-9EA8BCB12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CHECK Across Multiple Columns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6AEC6C5A-2385-45B6-AA8C-97FC2802849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Already created by the setup. REAL is adequate for this teaching example.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D960B201-CD7A-49C4-99C2-32061ECE421A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665476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products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product_id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product_name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list_price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REAL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discount REAL NOT NULL DEFAULT 0,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CHECK (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list_price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&gt;= discount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AND discount &gt;= 0 AND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list_price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&gt;= 0)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1E18E5AC-6DEA-4AF2-BC1D-848B04820FDE}"/>
              </a:ext>
            </a:extLst>
          </p:cNvPr>
          <p:cNvSpPr>
            <a:spLocks noGrp="1"/>
          </p:cNvSpPr>
          <p:nvPr/>
        </p:nvSpPr>
        <p:spPr>
          <a:xfrm>
            <a:off x="933450" y="4909566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For exact financial amounts, integer cents are an alternative to floating-point prices.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8A619B0-E473-427F-9344-AE38A6B1B0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57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5102902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3">
            <a:extLst>
              <a:ext uri="{FF2B5EF4-FFF2-40B4-BE49-F238E27FC236}">
                <a16:creationId xmlns:a16="http://schemas.microsoft.com/office/drawing/2014/main" id="{E662B615-123F-42B1-97C9-4718429E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>
            <a:normAutofit/>
          </a:bodyPr>
          <a:lstStyle/>
          <a:p>
            <a:r>
              <a:rPr sz="4400" b="0"/>
              <a:t>A Foreign Key Relationship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7AA9D9DA-CC62-43D5-879F-8D4BE6812D9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Both tables are already present in lab_work.db.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06EC32E-2412-405D-BA88-320301C16325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7505700" cy="328422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company4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id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name TEXT NOT NULL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TABLE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item_restrict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(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item_id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INTEGER PRIMARY KEY,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item_desc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TEXT NOT NULL,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dirty="0" err="1">
                <a:solidFill>
                  <a:srgbClr val="525308"/>
                </a:solidFill>
                <a:latin typeface="Arial"/>
                <a:ea typeface="Arial"/>
                <a:cs typeface="Arial"/>
              </a:rPr>
              <a:t>com_id</a:t>
            </a: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INTEGER NOT NULL REFERENCES company4(id)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        ON UPDATE RESTRICT ON DELETE RESTRICT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525308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43F7C893-E12B-4B4D-B267-ADD2F204B25E}"/>
              </a:ext>
            </a:extLst>
          </p:cNvPr>
          <p:cNvSpPr>
            <a:spLocks noGrp="1"/>
          </p:cNvSpPr>
          <p:nvPr/>
        </p:nvSpPr>
        <p:spPr>
          <a:xfrm>
            <a:off x="933450" y="552831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The setup has parents 1, 2, 3 and one item referencing parent 1.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28F61187-4176-40D9-AB83-4A6424296A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58</a:t>
            </a:fld>
            <a:endParaRPr spc="-50" dirty="0"/>
          </a:p>
        </p:txBody>
      </p:sp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038069EC-2AC0-3CDA-854A-255D4B266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997" y="1614190"/>
            <a:ext cx="3576746" cy="4097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A8090F8-06D8-48EF-E7DE-BCCF92CAD0C3}"/>
              </a:ext>
            </a:extLst>
          </p:cNvPr>
          <p:cNvSpPr/>
          <p:nvPr/>
        </p:nvSpPr>
        <p:spPr>
          <a:xfrm>
            <a:off x="9391650" y="1685333"/>
            <a:ext cx="8763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Parent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F1CE95-5FA0-2CE8-9492-224E1575E48D}"/>
              </a:ext>
            </a:extLst>
          </p:cNvPr>
          <p:cNvSpPr/>
          <p:nvPr/>
        </p:nvSpPr>
        <p:spPr>
          <a:xfrm>
            <a:off x="9829800" y="4104683"/>
            <a:ext cx="8763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Child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CAAEC3-B4F2-9B27-5C00-969267505904}"/>
              </a:ext>
            </a:extLst>
          </p:cNvPr>
          <p:cNvSpPr/>
          <p:nvPr/>
        </p:nvSpPr>
        <p:spPr>
          <a:xfrm>
            <a:off x="10909300" y="3670300"/>
            <a:ext cx="1201443" cy="434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Foreign key reference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620731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419A905A-CDED-420F-B345-9DA0439E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Foreign Keys: Enable and Verify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AC9831FE-EB7F-462B-BBC9-2B32C34101D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Enable enforcement in EACH connection before starting a transaction.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9070DF9F-CE24-442B-8517-7393E07FCFE2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1427988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PRAGMA foreign_keys = ON;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PRAGMA foreign_keys;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PRAGMA foreign_key_list(item_restrict);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PRAGMA foreign_key_check;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0C816863-E1E0-4383-9720-3DACF5C707D3}"/>
              </a:ext>
            </a:extLst>
          </p:cNvPr>
          <p:cNvSpPr>
            <a:spLocks noGrp="1"/>
          </p:cNvSpPr>
          <p:nvPr/>
        </p:nvSpPr>
        <p:spPr>
          <a:xfrm>
            <a:off x="933450" y="3672078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Expect 1 from </a:t>
            </a: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foreign_keys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 and no rows from </a:t>
            </a: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foreign_key_check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. Do not rely on a default setting.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AFCC10C-3501-4E11-A4FA-D449E1FE2B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59</a:t>
            </a:fld>
            <a:endParaRPr spc="-5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1BF9EF-9DA1-A929-94E0-24767D06E702}"/>
              </a:ext>
            </a:extLst>
          </p:cNvPr>
          <p:cNvSpPr/>
          <p:nvPr/>
        </p:nvSpPr>
        <p:spPr>
          <a:xfrm>
            <a:off x="6775450" y="2105285"/>
            <a:ext cx="26670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Open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A18CF7-63C0-D150-DC23-FAEABE70DBF3}"/>
              </a:ext>
            </a:extLst>
          </p:cNvPr>
          <p:cNvSpPr/>
          <p:nvPr/>
        </p:nvSpPr>
        <p:spPr>
          <a:xfrm>
            <a:off x="6775450" y="2443526"/>
            <a:ext cx="26670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Return  open status 0/1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DCA8B9-D75B-309B-BFF3-9089DC154A39}"/>
              </a:ext>
            </a:extLst>
          </p:cNvPr>
          <p:cNvSpPr/>
          <p:nvPr/>
        </p:nvSpPr>
        <p:spPr>
          <a:xfrm>
            <a:off x="6775450" y="2781767"/>
            <a:ext cx="26670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Return foreign key name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8CC833-9B73-7CE4-0A43-257F10BE6939}"/>
              </a:ext>
            </a:extLst>
          </p:cNvPr>
          <p:cNvSpPr/>
          <p:nvPr/>
        </p:nvSpPr>
        <p:spPr>
          <a:xfrm>
            <a:off x="6775450" y="3120008"/>
            <a:ext cx="2667000" cy="26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Check and return error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30937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806B829F-8507-48E9-8204-58057BBE4C61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A Routine for Predicting Constraint Results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329204B4-7469-4F39-84C5-DC5CE8F7D3F0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Read the actual table definition, then test the proposed change in this order.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762B452A-2755-41C9-9187-8A15CFCD1991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1. Required values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88650BFA-5357-4800-9B5D-FED101AEEAE8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every NOT NULL column receive a non-NULL value?</a:t>
            </a: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8E0F17C9-36AD-4D71-A655-EF0D7B284D51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2. Row checks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CC4BBDD1-D483-4E1E-9970-D818B886FC61}"/>
              </a:ext>
            </a:extLst>
          </p:cNvPr>
          <p:cNvSpPr>
            <a:spLocks noGrp="1"/>
          </p:cNvSpPr>
          <p:nvPr/>
        </p:nvSpPr>
        <p:spPr>
          <a:xfrm>
            <a:off x="4171950" y="27432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each CHECK expression evaluate to true or NULL?</a:t>
            </a: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4C1F9BD5-0F33-43D2-A5A8-7E039EA15F76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3. Identity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89267342-BA35-430E-933C-7DB4114814DC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the PRIMARY KEY or UNIQUE value already exist?</a:t>
            </a: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D5369462-F2BC-4EC9-AD0D-1DA57B1F98CD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4. Relationships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0335DC44-EDFB-4AE6-96B2-59F3D10251F7}"/>
              </a:ext>
            </a:extLst>
          </p:cNvPr>
          <p:cNvSpPr>
            <a:spLocks noGrp="1"/>
          </p:cNvSpPr>
          <p:nvPr/>
        </p:nvSpPr>
        <p:spPr>
          <a:xfrm>
            <a:off x="4171950" y="41910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every non-NULL foreign key match a parent row?</a:t>
            </a: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8FA28C3C-93A8-4FAB-ABC8-B1B24DCB284A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5. Parent changes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4C908C1B-589A-4EC7-B5C9-81D85601C924}"/>
              </a:ext>
            </a:extLst>
          </p:cNvPr>
          <p:cNvSpPr>
            <a:spLocks noGrp="1"/>
          </p:cNvSpPr>
          <p:nvPr/>
        </p:nvSpPr>
        <p:spPr>
          <a:xfrm>
            <a:off x="4171950" y="4914900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02"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What does ON DELETE or ON UPDATE require for existing child rows?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94FE6B4B-A747-4F60-9B6B-B39413AAB90A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A constraint error can be the expected result. Record which rule caused it.</a:t>
            </a:r>
          </a:p>
        </p:txBody>
      </p:sp>
    </p:spTree>
    <p:extLst>
      <p:ext uri="{BB962C8B-B14F-4D97-AF65-F5344CB8AC3E}">
        <p14:creationId xmlns:p14="http://schemas.microsoft.com/office/powerpoint/2010/main" val="4069745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>
            <a:extLst>
              <a:ext uri="{FF2B5EF4-FFF2-40B4-BE49-F238E27FC236}">
                <a16:creationId xmlns:a16="http://schemas.microsoft.com/office/drawing/2014/main" id="{8F983849-B116-45A6-AE49-559D465FE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 dirty="0"/>
              <a:t>Practice 06: Constraint Predictions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E8BCDEC2-49A5-4450-B775-16D80090E202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lab_work.db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51C69A88-55EB-44EC-A8E4-E732BAC0820E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788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For company3, try name = cool and salary = 10. Then try name = Alpha and</a:t>
            </a:r>
          </a:p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salary = 0.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6284D10D-8213-40CD-B445-389F90CD8197}"/>
              </a:ext>
            </a:extLst>
          </p:cNvPr>
          <p:cNvSpPr>
            <a:spLocks noGrp="1"/>
          </p:cNvSpPr>
          <p:nvPr/>
        </p:nvSpPr>
        <p:spPr>
          <a:xfrm>
            <a:off x="933450" y="307657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Try name = Alpha and salary = NULL. Explain the result.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7FFE6324-4138-41A1-8BFC-7F0DB099B149}"/>
              </a:ext>
            </a:extLst>
          </p:cNvPr>
          <p:cNvSpPr>
            <a:spLocks noGrp="1"/>
          </p:cNvSpPr>
          <p:nvPr/>
        </p:nvSpPr>
        <p:spPr>
          <a:xfrm>
            <a:off x="933450" y="372808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Insert an item_restrict row with com_id = 4.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024C204E-4E47-401E-ADBA-A340F7DD4F38}"/>
              </a:ext>
            </a:extLst>
          </p:cNvPr>
          <p:cNvSpPr>
            <a:spLocks noGrp="1"/>
          </p:cNvSpPr>
          <p:nvPr/>
        </p:nvSpPr>
        <p:spPr>
          <a:xfrm>
            <a:off x="933450" y="437959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Delete company4 id = 1, which has a child item.</a:t>
            </a:r>
          </a:p>
        </p:txBody>
      </p:sp>
      <p:sp>
        <p:nvSpPr>
          <p:cNvPr id="8" name="practice-time">
            <a:extLst>
              <a:ext uri="{FF2B5EF4-FFF2-40B4-BE49-F238E27FC236}">
                <a16:creationId xmlns:a16="http://schemas.microsoft.com/office/drawing/2014/main" id="{62ED5EB5-28D9-45A9-B10C-501496443D6D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6 minutes.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A1759D0C-96D5-4ADD-9FC3-AE1FC08C3B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61</a:t>
            </a:fld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150AE05-CD01-BDB0-2931-399C28D54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19564"/>
            <a:ext cx="12192000" cy="66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9651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>
            <a:extLst>
              <a:ext uri="{FF2B5EF4-FFF2-40B4-BE49-F238E27FC236}">
                <a16:creationId xmlns:a16="http://schemas.microsoft.com/office/drawing/2014/main" id="{3C0E43AD-3EC3-4541-B41B-5418E8907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Solution 06: Predict Before Running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AAA7036F-CED4-4359-88D1-B0271D1DC10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28422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company3 VALUES(10,'cool','X',10);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Fails: length(name) &gt;= 5.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company3 VALUES(11,'Alpha','X',0);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Fails: salary &gt; 0.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company3 VALUES(12,'Alpha','X',NULL);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Succeeds: CHECK accepts a NULL result.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INSERT INTO item_restrict VALUES(10,'Test',4);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Fails: parent 4 does not exist.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DELETE FROM company4 WHERE id = 1;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Fails: RESTRICT protects the referenced parent.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45B0CBE-0745-45EA-9793-FAEF158081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D60167-4931-47E6-BA6A-407CBD079E47}" type="slidenum">
              <a:rPr/>
              <a:t>62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16992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A07D6-4EE5-06DF-6539-9FA17F493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xplanation-title">
            <a:extLst>
              <a:ext uri="{FF2B5EF4-FFF2-40B4-BE49-F238E27FC236}">
                <a16:creationId xmlns:a16="http://schemas.microsoft.com/office/drawing/2014/main" id="{F13B97C0-E1CA-C7AC-E2DD-BA52223D57D4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A Routine for Predicting Constraint Results</a:t>
            </a:r>
          </a:p>
        </p:txBody>
      </p:sp>
      <p:sp>
        <p:nvSpPr>
          <p:cNvPr id="2" name="explanation-lead">
            <a:extLst>
              <a:ext uri="{FF2B5EF4-FFF2-40B4-BE49-F238E27FC236}">
                <a16:creationId xmlns:a16="http://schemas.microsoft.com/office/drawing/2014/main" id="{86A6EEB4-3202-6961-2BD4-DB68B927C8A2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>
                <a:solidFill>
                  <a:srgbClr val="4F4F4F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4F4F4F"/>
                </a:solidFill>
                <a:latin typeface="Aptos"/>
                <a:ea typeface="Aptos"/>
                <a:cs typeface="Aptos"/>
              </a:rPr>
              <a:t>Read the actual table definition, then test the proposed change in this order.</a:t>
            </a:r>
          </a:p>
        </p:txBody>
      </p:sp>
      <p:sp>
        <p:nvSpPr>
          <p:cNvPr id="3" name="command-1">
            <a:extLst>
              <a:ext uri="{FF2B5EF4-FFF2-40B4-BE49-F238E27FC236}">
                <a16:creationId xmlns:a16="http://schemas.microsoft.com/office/drawing/2014/main" id="{34DC3D2F-D340-17B0-BE80-8CB4E00B2FE1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1. Required values</a:t>
            </a:r>
          </a:p>
        </p:txBody>
      </p:sp>
      <p:sp>
        <p:nvSpPr>
          <p:cNvPr id="4" name="meaning-1">
            <a:extLst>
              <a:ext uri="{FF2B5EF4-FFF2-40B4-BE49-F238E27FC236}">
                <a16:creationId xmlns:a16="http://schemas.microsoft.com/office/drawing/2014/main" id="{583B5610-E95A-A5BF-DB4A-21E9DE66BC53}"/>
              </a:ext>
            </a:extLst>
          </p:cNvPr>
          <p:cNvSpPr>
            <a:spLocks noGrp="1"/>
          </p:cNvSpPr>
          <p:nvPr/>
        </p:nvSpPr>
        <p:spPr>
          <a:xfrm>
            <a:off x="3632200" y="1971675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Q. </a:t>
            </a:r>
            <a:r>
              <a:rPr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every NOT NULL column receive a non-NULL value?</a:t>
            </a:r>
            <a: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A. 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Every NOT NULL column must receive a non-NULL value.</a:t>
            </a:r>
            <a:endParaRPr sz="1600" dirty="0">
              <a:solidFill>
                <a:srgbClr val="000000"/>
              </a:solidFill>
              <a:highlight>
                <a:srgbClr val="FFFF00"/>
              </a:highlight>
              <a:latin typeface="Aptos"/>
              <a:ea typeface="Aptos"/>
              <a:cs typeface="Aptos"/>
            </a:endParaRPr>
          </a:p>
        </p:txBody>
      </p:sp>
      <p:sp>
        <p:nvSpPr>
          <p:cNvPr id="5" name="command-2">
            <a:extLst>
              <a:ext uri="{FF2B5EF4-FFF2-40B4-BE49-F238E27FC236}">
                <a16:creationId xmlns:a16="http://schemas.microsoft.com/office/drawing/2014/main" id="{A9B44110-E30A-FC12-8026-C3BFAE8244FD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2. Row checks</a:t>
            </a:r>
          </a:p>
        </p:txBody>
      </p:sp>
      <p:sp>
        <p:nvSpPr>
          <p:cNvPr id="6" name="meaning-2">
            <a:extLst>
              <a:ext uri="{FF2B5EF4-FFF2-40B4-BE49-F238E27FC236}">
                <a16:creationId xmlns:a16="http://schemas.microsoft.com/office/drawing/2014/main" id="{124DC6D0-BC0B-69F4-FFA7-59097C60E745}"/>
              </a:ext>
            </a:extLst>
          </p:cNvPr>
          <p:cNvSpPr>
            <a:spLocks noGrp="1"/>
          </p:cNvSpPr>
          <p:nvPr/>
        </p:nvSpPr>
        <p:spPr>
          <a:xfrm>
            <a:off x="3632200" y="2786063"/>
            <a:ext cx="874395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Q. </a:t>
            </a:r>
            <a:r>
              <a:rPr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each CHECK expression evaluate to true or NULL?</a:t>
            </a:r>
            <a:b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</a:b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A. </a:t>
            </a:r>
            <a:r>
              <a:rPr lang="en-US" altLang="zh-CN" sz="1600" dirty="0">
                <a:highlight>
                  <a:srgbClr val="FFFF00"/>
                </a:highlight>
              </a:rPr>
              <a:t>Every CHECK expression must evaluate to TRUE or NULL; FALSE causes a constraint error.</a:t>
            </a:r>
            <a:endParaRPr sz="1600" dirty="0">
              <a:solidFill>
                <a:srgbClr val="000000"/>
              </a:solidFill>
              <a:highlight>
                <a:srgbClr val="FFFF00"/>
              </a:highlight>
              <a:latin typeface="Aptos"/>
              <a:ea typeface="Aptos"/>
              <a:cs typeface="Aptos"/>
            </a:endParaRPr>
          </a:p>
        </p:txBody>
      </p:sp>
      <p:sp>
        <p:nvSpPr>
          <p:cNvPr id="7" name="command-3">
            <a:extLst>
              <a:ext uri="{FF2B5EF4-FFF2-40B4-BE49-F238E27FC236}">
                <a16:creationId xmlns:a16="http://schemas.microsoft.com/office/drawing/2014/main" id="{BE211148-D439-007C-D1F0-149C5D4F2EB9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3. Identity</a:t>
            </a:r>
          </a:p>
        </p:txBody>
      </p:sp>
      <p:sp>
        <p:nvSpPr>
          <p:cNvPr id="8" name="meaning-3">
            <a:extLst>
              <a:ext uri="{FF2B5EF4-FFF2-40B4-BE49-F238E27FC236}">
                <a16:creationId xmlns:a16="http://schemas.microsoft.com/office/drawing/2014/main" id="{6FA18E97-1698-1600-D4D6-9DA22183B3D5}"/>
              </a:ext>
            </a:extLst>
          </p:cNvPr>
          <p:cNvSpPr>
            <a:spLocks noGrp="1"/>
          </p:cNvSpPr>
          <p:nvPr/>
        </p:nvSpPr>
        <p:spPr>
          <a:xfrm>
            <a:off x="3632200" y="3419475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Q. </a:t>
            </a:r>
            <a:r>
              <a:rPr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the PRIMARY KEY or UNIQUE value already exist?</a:t>
            </a:r>
            <a:endParaRPr lang="en-US" sz="1600" dirty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600" dirty="0">
                <a:highlight>
                  <a:srgbClr val="FFFF00"/>
                </a:highlight>
              </a:rPr>
              <a:t>A. PRIMARY KEY and UNIQUE values must not duplicate an existing value.</a:t>
            </a:r>
            <a:endParaRPr sz="1600" dirty="0">
              <a:solidFill>
                <a:srgbClr val="000000"/>
              </a:solidFill>
              <a:highlight>
                <a:srgbClr val="FFFF00"/>
              </a:highlight>
              <a:latin typeface="Aptos"/>
              <a:ea typeface="Aptos"/>
              <a:cs typeface="Aptos"/>
            </a:endParaRPr>
          </a:p>
        </p:txBody>
      </p:sp>
      <p:sp>
        <p:nvSpPr>
          <p:cNvPr id="9" name="command-4">
            <a:extLst>
              <a:ext uri="{FF2B5EF4-FFF2-40B4-BE49-F238E27FC236}">
                <a16:creationId xmlns:a16="http://schemas.microsoft.com/office/drawing/2014/main" id="{CC8268C6-0E5D-66DD-CC70-DB96B7A6F6F8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4. Relationships</a:t>
            </a:r>
          </a:p>
        </p:txBody>
      </p:sp>
      <p:sp>
        <p:nvSpPr>
          <p:cNvPr id="10" name="meaning-4">
            <a:extLst>
              <a:ext uri="{FF2B5EF4-FFF2-40B4-BE49-F238E27FC236}">
                <a16:creationId xmlns:a16="http://schemas.microsoft.com/office/drawing/2014/main" id="{78CD02AF-4DC5-AE85-A92A-BDF1C626AB17}"/>
              </a:ext>
            </a:extLst>
          </p:cNvPr>
          <p:cNvSpPr>
            <a:spLocks noGrp="1"/>
          </p:cNvSpPr>
          <p:nvPr/>
        </p:nvSpPr>
        <p:spPr>
          <a:xfrm>
            <a:off x="3632200" y="4143375"/>
            <a:ext cx="70485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Q. </a:t>
            </a:r>
            <a:r>
              <a:rPr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Does every non-NULL foreign key match a parent row?</a:t>
            </a:r>
            <a:b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</a:b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A. </a:t>
            </a:r>
            <a:r>
              <a:rPr lang="en-US" altLang="zh-CN" sz="1600" dirty="0">
                <a:highlight>
                  <a:srgbClr val="FFFF00"/>
                </a:highlight>
              </a:rPr>
              <a:t>Every non-NULL foreign key must match an existing parent row.</a:t>
            </a:r>
            <a:endParaRPr sz="1600" dirty="0">
              <a:solidFill>
                <a:srgbClr val="000000"/>
              </a:solidFill>
              <a:highlight>
                <a:srgbClr val="FFFF00"/>
              </a:highlight>
              <a:latin typeface="Aptos"/>
              <a:ea typeface="Aptos"/>
              <a:cs typeface="Aptos"/>
            </a:endParaRPr>
          </a:p>
        </p:txBody>
      </p:sp>
      <p:sp>
        <p:nvSpPr>
          <p:cNvPr id="11" name="command-5">
            <a:extLst>
              <a:ext uri="{FF2B5EF4-FFF2-40B4-BE49-F238E27FC236}">
                <a16:creationId xmlns:a16="http://schemas.microsoft.com/office/drawing/2014/main" id="{F2B9C13D-31BB-FE53-BC6E-E625B70173FC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555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00"/>
                </a:solidFill>
                <a:latin typeface="Arial"/>
                <a:ea typeface="Arial"/>
                <a:cs typeface="Arial"/>
              </a:rPr>
              <a:t>5. Parent changes</a:t>
            </a:r>
          </a:p>
        </p:txBody>
      </p:sp>
      <p:sp>
        <p:nvSpPr>
          <p:cNvPr id="12" name="meaning-5">
            <a:extLst>
              <a:ext uri="{FF2B5EF4-FFF2-40B4-BE49-F238E27FC236}">
                <a16:creationId xmlns:a16="http://schemas.microsoft.com/office/drawing/2014/main" id="{C65A67A7-5ACD-4262-E78F-D43DFBBECE06}"/>
              </a:ext>
            </a:extLst>
          </p:cNvPr>
          <p:cNvSpPr>
            <a:spLocks noGrp="1"/>
          </p:cNvSpPr>
          <p:nvPr/>
        </p:nvSpPr>
        <p:spPr>
          <a:xfrm>
            <a:off x="3632200" y="4956175"/>
            <a:ext cx="8496300" cy="676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Q. </a:t>
            </a:r>
            <a:r>
              <a:rPr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What does ON DELETE or ON UPDATE require for existing child rows?</a:t>
            </a:r>
            <a:br>
              <a:rPr lang="en-US" sz="16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</a:b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A. </a:t>
            </a:r>
            <a:r>
              <a:rPr lang="en-US" altLang="zh-CN" sz="1600" dirty="0">
                <a:highlight>
                  <a:srgbClr val="FFFF00"/>
                </a:highlight>
              </a:rPr>
              <a:t>Changes to a parent row must follow the specified ON DELETE or ON UPDATE action for existing child rows. </a:t>
            </a:r>
          </a:p>
        </p:txBody>
      </p:sp>
      <p:sp>
        <p:nvSpPr>
          <p:cNvPr id="13" name="explanation-tail">
            <a:extLst>
              <a:ext uri="{FF2B5EF4-FFF2-40B4-BE49-F238E27FC236}">
                <a16:creationId xmlns:a16="http://schemas.microsoft.com/office/drawing/2014/main" id="{9E1A6898-B77D-8C20-4D6D-0E4526999DA2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555500"/>
                </a:solidFill>
                <a:latin typeface="Aptos"/>
                <a:ea typeface="Aptos"/>
                <a:cs typeface="Aptos"/>
              </a:defRPr>
            </a:pPr>
            <a:r>
              <a:rPr sz="1875" dirty="0">
                <a:solidFill>
                  <a:srgbClr val="555500"/>
                </a:solidFill>
                <a:latin typeface="Aptos"/>
                <a:ea typeface="Aptos"/>
                <a:cs typeface="Aptos"/>
              </a:rPr>
              <a:t>A constraint error can be the expected result. Record which rule caused it.</a:t>
            </a:r>
          </a:p>
        </p:txBody>
      </p:sp>
    </p:spTree>
    <p:extLst>
      <p:ext uri="{BB962C8B-B14F-4D97-AF65-F5344CB8AC3E}">
        <p14:creationId xmlns:p14="http://schemas.microsoft.com/office/powerpoint/2010/main" val="42946476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353F231E-E3E9-4D1A-BCDE-7B3A2B095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Foreign Key Action: RESTRICT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B812309D-E23A-45EB-AF5A-E24D84DB6CBC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referenced parent cannot be deleted.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C3646AFD-8A87-43A3-86A1-D8FFD7F7D54A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referenced parent key cannot be updated.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1F24ABB8-04BD-4E59-AE1D-7AA3DD972D0B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 unrelated parent is not blocked by this child relationship.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9EA96AC1-D942-4FDE-8653-57FBA6AE5801}"/>
              </a:ext>
            </a:extLst>
          </p:cNvPr>
          <p:cNvSpPr>
            <a:spLocks noGrp="1"/>
          </p:cNvSpPr>
          <p:nvPr/>
        </p:nvSpPr>
        <p:spPr>
          <a:xfrm>
            <a:off x="190500" y="3490367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setup </a:t>
            </a:r>
            <a:r>
              <a:rPr sz="21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item_restrict</a:t>
            </a:r>
            <a:r>
              <a:rPr sz="2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row references company4 id = 1.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DF6F2AC-166E-4E7E-9DD9-DA8E7F1BD2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64</a:t>
            </a:fld>
            <a:endParaRPr spc="-5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6D084DF-0CCE-31A3-B974-A1AEA544B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" y="4140048"/>
            <a:ext cx="12192000" cy="3760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3416BA3-ABA6-6E30-D1DC-0A82994F95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19" b="37531"/>
          <a:stretch>
            <a:fillRect/>
          </a:stretch>
        </p:blipFill>
        <p:spPr>
          <a:xfrm>
            <a:off x="1498891" y="5368177"/>
            <a:ext cx="10147010" cy="38503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8758190-10B9-FE6E-28B8-0E5A0E7AA479}"/>
              </a:ext>
            </a:extLst>
          </p:cNvPr>
          <p:cNvSpPr/>
          <p:nvPr/>
        </p:nvSpPr>
        <p:spPr>
          <a:xfrm>
            <a:off x="5981700" y="4062578"/>
            <a:ext cx="6146800" cy="37607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7BC6B57-8C3E-6146-A194-BBCA025E3EFD}"/>
              </a:ext>
            </a:extLst>
          </p:cNvPr>
          <p:cNvCxnSpPr>
            <a:endCxn id="10" idx="0"/>
          </p:cNvCxnSpPr>
          <p:nvPr/>
        </p:nvCxnSpPr>
        <p:spPr>
          <a:xfrm flipH="1">
            <a:off x="6572396" y="4438650"/>
            <a:ext cx="2609704" cy="92952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3061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EC423-533A-46D4-990F-29B45940F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</p:spPr>
        <p:txBody>
          <a:bodyPr/>
          <a:lstStyle/>
          <a:p>
            <a:r>
              <a:rPr sz="4400" b="0"/>
              <a:t>Foreign Key Action: SET NULL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FCFF0AE3-FE7F-4A5D-B22D-CD37D68D872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Already created by the setup, with an item referencing company4 id = 2.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4DF29A8C-06C3-449A-8C01-6C46F51F900A}"/>
              </a:ext>
            </a:extLst>
          </p:cNvPr>
          <p:cNvSpPr>
            <a:spLocks noGrp="1"/>
          </p:cNvSpPr>
          <p:nvPr/>
        </p:nvSpPr>
        <p:spPr>
          <a:xfrm>
            <a:off x="933450" y="3986022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 dirty="0" err="1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com_id</a:t>
            </a:r>
            <a:r>
              <a:rPr sz="2025" dirty="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 MUST allow NULL.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8E17091-0D94-4A7B-A5C2-41EBA39590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  <a:buNone/>
            </a:pPr>
            <a:fld id="{81D60167-4931-47E6-BA6A-407CBD079E47}" type="slidenum">
              <a:rPr spc="-50"/>
              <a:t>65</a:t>
            </a:fld>
            <a:endParaRPr spc="-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DC101E8-F29F-4DDC-7F7D-17D8F0C0A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1404"/>
            <a:ext cx="12192000" cy="4070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8062698-6776-F67E-7682-56D97EDA4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98" b="50000"/>
          <a:stretch>
            <a:fillRect/>
          </a:stretch>
        </p:blipFill>
        <p:spPr>
          <a:xfrm>
            <a:off x="1187451" y="3169158"/>
            <a:ext cx="10674349" cy="3651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A946E60-E0E2-0863-3A03-E19459FCD131}"/>
              </a:ext>
            </a:extLst>
          </p:cNvPr>
          <p:cNvSpPr/>
          <p:nvPr/>
        </p:nvSpPr>
        <p:spPr>
          <a:xfrm>
            <a:off x="6267450" y="2152984"/>
            <a:ext cx="5867400" cy="37607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8F22B9E-169E-C06F-5DE0-748BB0C0AEC7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6524626" y="2529056"/>
            <a:ext cx="2943224" cy="640102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687AF91A-55D0-380C-1435-27DE8D180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715156"/>
              </p:ext>
            </p:extLst>
          </p:nvPr>
        </p:nvGraphicFramePr>
        <p:xfrm>
          <a:off x="3108325" y="4893945"/>
          <a:ext cx="6318250" cy="10972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01850">
                  <a:extLst>
                    <a:ext uri="{9D8B030D-6E8A-4147-A177-3AD203B41FA5}">
                      <a16:colId xmlns:a16="http://schemas.microsoft.com/office/drawing/2014/main" val="3314880919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903221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/>
                        <a:t>Foreign Key Action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/>
                        <a:t>Deleting Parent Record</a:t>
                      </a:r>
                      <a:endParaRPr lang="zh-CN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431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RESTRICT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Not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allowed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903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SET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Allowed,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but foreign key change to NULL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247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2039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771D71FA-C3DE-4EC4-93AF-401EC9594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sz="4400" b="0">
                <a:latin typeface="Calibri"/>
                <a:ea typeface="Calibri"/>
                <a:cs typeface="Calibri"/>
              </a:rPr>
              <a:t>7 - Changing a Table Schema</a:t>
            </a:r>
          </a:p>
        </p:txBody>
      </p:sp>
      <p:sp>
        <p:nvSpPr>
          <p:cNvPr id="3" name="Google Shape;99;p14">
            <a:extLst>
              <a:ext uri="{FF2B5EF4-FFF2-40B4-BE49-F238E27FC236}">
                <a16:creationId xmlns:a16="http://schemas.microsoft.com/office/drawing/2014/main" id="{CD92FC07-2CA9-4FCF-9E08-B0E95BC32D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66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20444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SQLite </a:t>
            </a:r>
            <a:r>
              <a:rPr kumimoji="1" lang="en-GB" altLang="zh-CN" dirty="0">
                <a:ea typeface="等线 Light"/>
              </a:rPr>
              <a:t>ALTER TABLE</a:t>
            </a:r>
            <a:endParaRPr lang="en-GB" altLang="zh-CN" dirty="0">
              <a:latin typeface="Aptos Display"/>
              <a:ea typeface="等线 Light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244048"/>
            <a:ext cx="10515600" cy="560919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GB" altLang="zh-CN" sz="2400" b="1" dirty="0">
                <a:solidFill>
                  <a:srgbClr val="000000"/>
                </a:solidFill>
                <a:latin typeface="24"/>
                <a:ea typeface="等线" panose="020F0502020204030204"/>
                <a:cs typeface="+mn-lt"/>
              </a:rPr>
              <a:t>ALTER TABLE</a:t>
            </a:r>
            <a:r>
              <a:rPr lang="en-GB" altLang="zh-CN" sz="2400" dirty="0">
                <a:solidFill>
                  <a:srgbClr val="000000"/>
                </a:solidFill>
                <a:latin typeface="24"/>
                <a:ea typeface="等线" panose="020F0502020204030204"/>
                <a:cs typeface="+mn-lt"/>
              </a:rPr>
              <a:t> allows you to modify </a:t>
            </a:r>
            <a:r>
              <a:rPr lang="en-GB" altLang="zh-CN" sz="2400" i="0" dirty="0">
                <a:solidFill>
                  <a:srgbClr val="000000"/>
                </a:solidFill>
                <a:effectLst/>
                <a:latin typeface="24"/>
                <a:ea typeface="等线" panose="020F0502020204030204"/>
                <a:cs typeface="+mn-lt"/>
              </a:rPr>
              <a:t>the </a:t>
            </a:r>
            <a:r>
              <a:rPr lang="en-GB" altLang="zh-CN" sz="2400" dirty="0">
                <a:solidFill>
                  <a:srgbClr val="000000"/>
                </a:solidFill>
                <a:latin typeface="24"/>
                <a:ea typeface="等线" panose="020F0502020204030204"/>
                <a:cs typeface="+mn-lt"/>
              </a:rPr>
              <a:t>definition of existing table</a:t>
            </a:r>
            <a:endParaRPr lang="en-GB" altLang="zh-CN" sz="2400" dirty="0">
              <a:solidFill>
                <a:srgbClr val="000000"/>
              </a:solidFill>
              <a:latin typeface="24"/>
              <a:ea typeface="等线" panose="020F0502020204030204"/>
            </a:endParaRP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000000"/>
                </a:solidFill>
                <a:latin typeface="24"/>
                <a:ea typeface="+mn-lt"/>
                <a:cs typeface="+mn-lt"/>
              </a:rPr>
              <a:t>Add / drop columns</a:t>
            </a:r>
            <a:endParaRPr lang="en-GB" altLang="zh-CN" dirty="0">
              <a:solidFill>
                <a:srgbClr val="000000"/>
              </a:solidFill>
              <a:latin typeface="24"/>
              <a:ea typeface="等线" panose="020F0502020204030204"/>
            </a:endParaRP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000000"/>
                </a:solidFill>
                <a:latin typeface="24"/>
                <a:ea typeface="+mn-lt"/>
                <a:cs typeface="+mn-lt"/>
              </a:rPr>
              <a:t>Add / drop constraints</a:t>
            </a:r>
            <a:endParaRPr lang="en-GB" dirty="0">
              <a:latin typeface="24"/>
            </a:endParaRP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000000"/>
                </a:solidFill>
                <a:latin typeface="24"/>
                <a:ea typeface="+mn-lt"/>
                <a:cs typeface="+mn-lt"/>
              </a:rPr>
              <a:t>Rename table or column</a:t>
            </a:r>
            <a:endParaRPr lang="en-GB" dirty="0">
              <a:latin typeface="24"/>
            </a:endParaRP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000000"/>
                </a:solidFill>
                <a:latin typeface="24"/>
                <a:ea typeface="+mn-lt"/>
                <a:cs typeface="+mn-lt"/>
              </a:rPr>
              <a:t>Change column data types</a:t>
            </a:r>
            <a:endParaRPr lang="en-GB" dirty="0">
              <a:solidFill>
                <a:srgbClr val="000000"/>
              </a:solidFill>
              <a:latin typeface="24"/>
            </a:endParaRP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C00000"/>
                </a:solidFill>
                <a:highlight>
                  <a:srgbClr val="FFFF00"/>
                </a:highlight>
                <a:latin typeface="24"/>
                <a:ea typeface="Verdana" panose="020B0604030504040204"/>
              </a:rPr>
              <a:t>SQLite only supports a </a:t>
            </a:r>
            <a:r>
              <a:rPr lang="en-GB" b="1" dirty="0">
                <a:solidFill>
                  <a:srgbClr val="C00000"/>
                </a:solidFill>
                <a:highlight>
                  <a:srgbClr val="FFFF00"/>
                </a:highlight>
                <a:latin typeface="24"/>
                <a:ea typeface="Verdana" panose="020B0604030504040204"/>
              </a:rPr>
              <a:t>limited </a:t>
            </a:r>
            <a:r>
              <a:rPr lang="en-GB" dirty="0">
                <a:solidFill>
                  <a:srgbClr val="C00000"/>
                </a:solidFill>
                <a:highlight>
                  <a:srgbClr val="FFFF00"/>
                </a:highlight>
                <a:latin typeface="24"/>
                <a:ea typeface="Verdana" panose="020B0604030504040204"/>
              </a:rPr>
              <a:t>subset of ALTER TABLE </a:t>
            </a:r>
            <a:endParaRPr lang="en-GB" altLang="zh-CN" dirty="0">
              <a:solidFill>
                <a:srgbClr val="C00000"/>
              </a:solidFill>
              <a:highlight>
                <a:srgbClr val="FFFF00"/>
              </a:highlight>
              <a:latin typeface="24"/>
              <a:ea typeface="等线" panose="02010600030101010101" pitchFamily="2" charset="-122"/>
            </a:endParaRPr>
          </a:p>
          <a:p>
            <a:pPr lvl="2">
              <a:lnSpc>
                <a:spcPct val="100000"/>
              </a:lnSpc>
            </a:pPr>
            <a:r>
              <a:rPr lang="en-GB" sz="2400" dirty="0">
                <a:latin typeface="24"/>
                <a:ea typeface="Verdana" panose="020B0604030504040204"/>
              </a:rPr>
              <a:t>rename, add/drop columns</a:t>
            </a:r>
            <a:endParaRPr lang="en-GB" altLang="zh-CN" sz="2400" b="0" i="0" dirty="0">
              <a:effectLst/>
              <a:latin typeface="24"/>
              <a:ea typeface="等线" panose="02010600030101010101" pitchFamily="2" charset="-122"/>
            </a:endParaRPr>
          </a:p>
          <a:p>
            <a:pPr>
              <a:lnSpc>
                <a:spcPct val="100000"/>
              </a:lnSpc>
              <a:buNone/>
            </a:pPr>
            <a:endParaRPr lang="en-GB" sz="1800" dirty="0">
              <a:solidFill>
                <a:srgbClr val="000000"/>
              </a:solidFill>
              <a:latin typeface="24"/>
              <a:ea typeface="等线" panose="02010600030101010101" pitchFamily="2" charset="-122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altLang="zh-CN" spc="-50" smtClean="0"/>
              <a:t>67</a:t>
            </a:fld>
            <a:endParaRPr lang="en-US" altLang="zh-CN" spc="-5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Alter Table or Column Name </a:t>
            </a:r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Rename Table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ALTER TABLE old_table_name 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RENAME TO new_table_name;</a:t>
            </a:r>
            <a:endParaRPr sz="2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0" i="0">
                <a:latin typeface="Arial"/>
                <a:ea typeface="Arial"/>
                <a:cs typeface="Arial"/>
                <a:sym typeface="Arial"/>
              </a:rPr>
              <a:t>Rename Column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ALTER TABLE table_name</a:t>
            </a:r>
            <a:endParaRPr>
              <a:solidFill>
                <a:srgbClr val="A0C554"/>
              </a:solidFill>
            </a:endParaRPr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RENAME COLUMN old_column_name TO new_column_name;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Adding a New Column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000"/>
              <a:buNone/>
            </a:pPr>
            <a:r>
              <a:rPr lang="en-US" sz="2000">
                <a:solidFill>
                  <a:srgbClr val="A0C554"/>
                </a:solidFill>
              </a:rPr>
              <a:t>ALTER TABLE table_name ADD column_name datatype [DEFAULT default_value];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N</a:t>
            </a:r>
            <a:r>
              <a:rPr lang="en-US" b="0" i="0">
                <a:solidFill>
                  <a:srgbClr val="FF0000"/>
                </a:solidFill>
                <a:highlight>
                  <a:srgbClr val="FFFF00"/>
                </a:highlight>
              </a:rPr>
              <a:t>ewly added columns are filled with </a:t>
            </a:r>
            <a:r>
              <a:rPr lang="en-US" i="0">
                <a:solidFill>
                  <a:srgbClr val="FF0000"/>
                </a:solidFill>
                <a:highlight>
                  <a:srgbClr val="FFFF00"/>
                </a:highlight>
              </a:rPr>
              <a:t>NULL</a:t>
            </a:r>
            <a:r>
              <a:rPr lang="en-US" b="0" i="0">
                <a:solidFill>
                  <a:srgbClr val="FF0000"/>
                </a:solidFill>
                <a:highlight>
                  <a:srgbClr val="FFFF00"/>
                </a:highlight>
              </a:rPr>
              <a:t> values (default values).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Leading Question</a:t>
            </a:r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329"/>
              </a:buClr>
              <a:buSzPts val="2800"/>
              <a:buChar char="•"/>
            </a:pPr>
            <a:r>
              <a:rPr lang="en-US">
                <a:solidFill>
                  <a:srgbClr val="1F2329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We already have an existing </a:t>
            </a:r>
            <a:r>
              <a:rPr lang="en-US" b="0" i="0">
                <a:solidFill>
                  <a:srgbClr val="1F2329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table but need to make further alterations to its schema</a:t>
            </a:r>
            <a:endParaRPr/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are there any limitations or possible </a:t>
            </a:r>
            <a:r>
              <a:rPr lang="en-US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restrictions when adding columns? </a:t>
            </a:r>
            <a:endParaRPr i="1">
              <a:solidFill>
                <a:srgbClr val="FF0000"/>
              </a:solidFill>
            </a:endParaRPr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Adding Columns</a:t>
            </a:r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>
                <a:solidFill>
                  <a:srgbClr val="000000"/>
                </a:solidFill>
              </a:rPr>
              <a:t>Some r</a:t>
            </a:r>
            <a:r>
              <a:rPr lang="en-US" b="0" i="0">
                <a:solidFill>
                  <a:srgbClr val="000000"/>
                </a:solidFill>
              </a:rPr>
              <a:t>estrictions</a:t>
            </a:r>
            <a:r>
              <a:rPr lang="en-US"/>
              <a:t> when </a:t>
            </a:r>
            <a:r>
              <a:rPr lang="en-US">
                <a:highlight>
                  <a:srgbClr val="FFFF00"/>
                </a:highlight>
              </a:rPr>
              <a:t>adding new columns to an existing table </a:t>
            </a:r>
            <a:r>
              <a:rPr lang="en-US"/>
              <a:t>in SQLite</a:t>
            </a:r>
            <a:endParaRPr/>
          </a:p>
          <a:p>
            <a:pPr marL="914400" lvl="1" indent="-4572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New column may not have a PRIMARY KEY or UNIQUE constraint</a:t>
            </a:r>
            <a:endParaRPr/>
          </a:p>
          <a:p>
            <a:pPr marL="914400" lvl="1" indent="-4572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New column with a NOT NULL constraint must have a default value </a:t>
            </a:r>
            <a:endParaRPr/>
          </a:p>
          <a:p>
            <a:pPr marL="914400" lvl="1" indent="-4572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/>
              <a:t>New column with a REFERENCES clause must have a default value of NULL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Etc. 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>
                <a:solidFill>
                  <a:srgbClr val="FF0000"/>
                </a:solidFill>
              </a:rPr>
              <a:t>Migration: how to create a new column with a  default value of CURRENT_TIME?  (or CURRENT_DATE, CURRENT_TIMESTAMP)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Deleting Columns</a:t>
            </a: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329"/>
              </a:buClr>
              <a:buSzPts val="2800"/>
              <a:buChar char="•"/>
            </a:pPr>
            <a:r>
              <a:rPr lang="en-US" b="0" i="0">
                <a:solidFill>
                  <a:srgbClr val="1F2329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Same context: make alterations to an existing schema (with data)</a:t>
            </a:r>
            <a:endParaRPr/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are there any limitations or possible </a:t>
            </a:r>
            <a:r>
              <a:rPr lang="en-US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restrictions when removing columns? 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Delete Column</a:t>
            </a:r>
            <a:endParaRPr/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Char char="•"/>
            </a:pPr>
            <a:r>
              <a:rPr lang="en-US">
                <a:solidFill>
                  <a:srgbClr val="A0C554"/>
                </a:solidFill>
              </a:rPr>
              <a:t>ALTER TABLE table_name DROP COLUMN column_name;</a:t>
            </a:r>
            <a:endParaRPr b="0" i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i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W</a:t>
            </a:r>
            <a:r>
              <a:rPr lang="en-US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hen might the DROP COLUMN command fail? Try it (2 min)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Restrictions on DROP COLUMN</a:t>
            </a:r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/>
              <a:t>Column is PRIMARY KEY (or part of)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/>
              <a:t>Column has UNIQUE constraint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/>
              <a:t>Column used in FOREIGN KEY constraint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/>
              <a:t>Column named in table or column CHECK constraint not associated with column being dropped (Recall last week's example)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CREATE TABLE products (</a:t>
            </a:r>
            <a:endParaRPr/>
          </a:p>
          <a:p>
            <a:pPr marL="271463" lvl="1" indent="18573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	</a:t>
            </a: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product_id  INTEGER  PRIMARY KEY,</a:t>
            </a:r>
            <a:endParaRPr/>
          </a:p>
          <a:p>
            <a:pPr marL="271463" lvl="1" indent="18573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	product_name TEXT  NOT NULL,</a:t>
            </a:r>
            <a:endParaRPr/>
          </a:p>
          <a:p>
            <a:pPr marL="271463" lvl="1" indent="18573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	list_price  DECIMAL (10, 2) NOT NULL,</a:t>
            </a:r>
            <a:endParaRPr/>
          </a:p>
          <a:p>
            <a:pPr marL="271463" lvl="1" indent="18573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	discount  DECIMAL (10, 2) NOT NULL DEFAULT 0,</a:t>
            </a:r>
            <a:endParaRPr/>
          </a:p>
          <a:p>
            <a:pPr marL="271463" lvl="1" indent="18573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CHECK (list_price &gt;= discount AND discount &gt;= 0 AND list_price &gt;= 0)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Change Column Attributes - ALTER TABLE</a:t>
            </a:r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329"/>
              </a:buClr>
              <a:buSzPts val="2800"/>
              <a:buChar char="•"/>
            </a:pPr>
            <a:r>
              <a:rPr lang="en-US" b="0" i="0">
                <a:solidFill>
                  <a:srgbClr val="1F2329"/>
                </a:solidFill>
                <a:highlight>
                  <a:srgbClr val="FFFF00"/>
                </a:highlight>
                <a:latin typeface="Inter"/>
                <a:ea typeface="Inter"/>
                <a:cs typeface="Inter"/>
                <a:sym typeface="Inter"/>
              </a:rPr>
              <a:t>Same context: make alterations to an existing schema (already with data)</a:t>
            </a:r>
            <a:endParaRPr/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are there any limitations or possible </a:t>
            </a:r>
            <a:r>
              <a:rPr lang="en-US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restrictions when updating columns? </a:t>
            </a:r>
            <a:endParaRPr b="0" i="0">
              <a:solidFill>
                <a:srgbClr val="1F2329"/>
              </a:solidFill>
              <a:highlight>
                <a:srgbClr val="FFFF00"/>
              </a:highlight>
              <a:latin typeface="Inter"/>
              <a:ea typeface="Inter"/>
              <a:cs typeface="Inter"/>
              <a:sym typeface="Inter"/>
            </a:endParaRPr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SQL syntax for modifying the data type of a column:</a:t>
            </a:r>
            <a:endParaRPr>
              <a:solidFill>
                <a:srgbClr val="A0C554"/>
              </a:solidFill>
            </a:endParaRPr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Char char="•"/>
            </a:pPr>
            <a:r>
              <a:rPr lang="en-US">
                <a:solidFill>
                  <a:srgbClr val="A0C554"/>
                </a:solidFill>
              </a:rPr>
              <a:t>ALTER COLUMN column_name datatype;</a:t>
            </a:r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  <p:sp>
        <p:nvSpPr>
          <p:cNvPr id="144" name="Google Shape;144;p20"/>
          <p:cNvSpPr txBox="1"/>
          <p:nvPr/>
        </p:nvSpPr>
        <p:spPr>
          <a:xfrm>
            <a:off x="532599" y="4620546"/>
            <a:ext cx="9179292" cy="190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SQLite does not support modifying datatype of an existing column by ALTER TABLE. </a:t>
            </a:r>
            <a:endParaRPr/>
          </a:p>
          <a:p>
            <a:pPr marL="457200" marR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only implement it by </a:t>
            </a:r>
            <a:r>
              <a:rPr lang="en-US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rebuild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1371600" marR="0" lvl="2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Play"/>
              <a:buAutoNum type="arabicPeriod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Create a new table and define new column data types you require</a:t>
            </a:r>
            <a:endParaRPr/>
          </a:p>
          <a:p>
            <a:pPr marL="1371600" marR="0" lvl="2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Play"/>
              <a:buAutoNum type="arabicPeriod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Copy the data from the old table to the new table</a:t>
            </a:r>
            <a:endParaRPr/>
          </a:p>
          <a:p>
            <a:pPr marL="1371600" marR="0" lvl="2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Play"/>
              <a:buAutoNum type="arabicPeriod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Delete old table</a:t>
            </a:r>
            <a:endParaRPr/>
          </a:p>
          <a:p>
            <a:pPr marL="1371600" marR="0" lvl="2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Play"/>
              <a:buAutoNum type="arabicPeriod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Rename new table to name of old table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DEMO</a:t>
            </a:r>
            <a:r>
              <a:rPr lang="en-US"/>
              <a:t> SQLite: Changing Col. Type</a:t>
            </a:r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532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00FFFF"/>
                </a:highlight>
              </a:rPr>
              <a:t>Goal: Changing publication_year from TEXT to INTEGER datatype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FFFF00"/>
                </a:highlight>
              </a:rPr>
              <a:t>0. </a:t>
            </a:r>
            <a:r>
              <a:rPr lang="en-US">
                <a:highlight>
                  <a:srgbClr val="FFFF00"/>
                </a:highlight>
              </a:rPr>
              <a:t>Initial table creation</a:t>
            </a:r>
            <a:endParaRPr>
              <a:solidFill>
                <a:srgbClr val="262626"/>
              </a:solidFill>
              <a:highlight>
                <a:srgbClr val="FFFF00"/>
              </a:highlight>
            </a:endParaRPr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CREATE TABLE books(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book_id INTEGER PRIMARY KEY,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title TEXT NOT NULL,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publication_year </a:t>
            </a:r>
            <a:r>
              <a:rPr lang="en-US" b="1">
                <a:solidFill>
                  <a:srgbClr val="A0C554"/>
                </a:solidFill>
              </a:rPr>
              <a:t>TEXT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);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INSERT INTO books (book_id, title, publication_year) VALUES (0, 'a', '2013');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INSERT INTO books (book_id, title, publication_year) VALUES (1, 'b', '2014’);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View table structure: 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b="1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.schema &lt;TABLE_NAME&gt;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lang="en-US" b="1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PRAGMA table_info(TABLE_NAME);</a:t>
            </a:r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DEMO A</a:t>
            </a:r>
            <a:r>
              <a:rPr lang="en-US"/>
              <a:t> SQLite: Changing Col. Type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00FFFF"/>
                </a:highlight>
              </a:rPr>
              <a:t>Goal: Changing publication_year from TEXT to INTEGER datatype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</a:rPr>
              <a:t>1. Create new table and define new column data types you require</a:t>
            </a:r>
            <a:endParaRPr>
              <a:solidFill>
                <a:srgbClr val="A0C554"/>
              </a:solidFill>
              <a:highlight>
                <a:srgbClr val="FFFF00"/>
              </a:highlight>
            </a:endParaRPr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CREATE TABLE books_new(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book_id INTEGER PRIMARY KEY,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title TEXT NOT NULL,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    publication_year </a:t>
            </a:r>
            <a:r>
              <a:rPr lang="en-US" b="1">
                <a:solidFill>
                  <a:srgbClr val="A0C554"/>
                </a:solidFill>
              </a:rPr>
              <a:t>INTEGER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);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DEMO</a:t>
            </a:r>
            <a:r>
              <a:rPr lang="en-US"/>
              <a:t> SQLite: Changing Col. Type</a:t>
            </a:r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00FFFF"/>
                </a:highlight>
              </a:rPr>
              <a:t>Goal: Changing publication_year from TEXT to INTEGER datatype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</a:rPr>
              <a:t>2. Copy data from old table to new table.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INSERT INTO books_new (book_id, title, </a:t>
            </a:r>
            <a:r>
              <a:rPr lang="en-US" b="1">
                <a:solidFill>
                  <a:srgbClr val="A0C554"/>
                </a:solidFill>
              </a:rPr>
              <a:t>publication_year</a:t>
            </a:r>
            <a:r>
              <a:rPr lang="en-US">
                <a:solidFill>
                  <a:srgbClr val="A0C554"/>
                </a:solidFill>
              </a:rPr>
              <a:t>)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SELECT *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A0C554"/>
                </a:solidFill>
              </a:rPr>
              <a:t>FROM books;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rgbClr val="A0C55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T</a:t>
            </a:r>
            <a:r>
              <a:rPr lang="en-US" sz="2400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hink about potential pitfalls are here? </a:t>
            </a:r>
            <a:endParaRPr sz="2400" b="1" i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6" name="Google Shape;16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76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DEMO</a:t>
            </a:r>
            <a:r>
              <a:rPr lang="en-US"/>
              <a:t> SQLite: Changing Col. Type</a:t>
            </a:r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00FFFF"/>
                </a:highlight>
              </a:rPr>
              <a:t>Goal: Changing publication_year from TEXT to INTEGER datatype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</a:rPr>
              <a:t>2. Copy data from old table to new table.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INSERT INTO books_new (book_id, title, publication_year)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SELECT book_id, title, </a:t>
            </a:r>
            <a:r>
              <a:rPr lang="en-US" b="1">
                <a:solidFill>
                  <a:srgbClr val="FF0000"/>
                </a:solidFill>
              </a:rPr>
              <a:t>CAST(publication_year AS INTEGER)</a:t>
            </a:r>
            <a:endParaRPr/>
          </a:p>
          <a:p>
            <a:pPr marL="457200" lvl="1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0C554"/>
              </a:buClr>
              <a:buSzPts val="2400"/>
              <a:buNone/>
            </a:pPr>
            <a:r>
              <a:rPr lang="en-US">
                <a:solidFill>
                  <a:srgbClr val="A0C554"/>
                </a:solidFill>
              </a:rPr>
              <a:t>FROM books;</a:t>
            </a:r>
            <a:endParaRPr b="1" i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When copying data, if the original column type is different from the new column type, you can use a type conversion (CAST) in INSERT INTO</a:t>
            </a:r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DEMO</a:t>
            </a:r>
            <a:r>
              <a:rPr lang="en-US"/>
              <a:t> SQLite: Changing Col. Type</a:t>
            </a:r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body" idx="1"/>
          </p:nvPr>
        </p:nvSpPr>
        <p:spPr>
          <a:xfrm>
            <a:off x="838200" y="1282148"/>
            <a:ext cx="10515600" cy="489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n-US">
                <a:solidFill>
                  <a:srgbClr val="262626"/>
                </a:solidFill>
                <a:highlight>
                  <a:srgbClr val="00FFFF"/>
                </a:highlight>
              </a:rPr>
              <a:t>Goal: Changing publication_year from TEXT to INTEGER datatype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</a:rPr>
              <a:t>3. Delete old table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A0C554"/>
              </a:buClr>
              <a:buSzPts val="2800"/>
              <a:buNone/>
            </a:pPr>
            <a:r>
              <a:rPr lang="en-US">
                <a:solidFill>
                  <a:srgbClr val="A0C554"/>
                </a:solidFill>
              </a:rPr>
              <a:t>	DROP TABLE books;</a:t>
            </a:r>
            <a:endParaRPr b="1" i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4. Rename the new table to the name of the old table.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A0C554"/>
              </a:buClr>
              <a:buSzPts val="2800"/>
              <a:buNone/>
            </a:pPr>
            <a:r>
              <a:rPr lang="en-US">
                <a:solidFill>
                  <a:srgbClr val="A0C554"/>
                </a:solidFill>
              </a:rPr>
              <a:t>	ALTER TABLE books_new RENAME TO books;</a:t>
            </a:r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  <p:sp>
        <p:nvSpPr>
          <p:cNvPr id="182" name="Google Shape;182;p25"/>
          <p:cNvSpPr txBox="1"/>
          <p:nvPr/>
        </p:nvSpPr>
        <p:spPr>
          <a:xfrm>
            <a:off x="449980" y="5504719"/>
            <a:ext cx="11042584" cy="749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omic Sans MS"/>
              <a:buNone/>
            </a:pPr>
            <a:r>
              <a:rPr lang="en-US"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M: Success! In this case, we changed the data type only (a column attribute); constraints are also another type of column attribute. How might we change that?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Summary of Table Modification - </a:t>
            </a:r>
            <a:r>
              <a:rPr lang="en-US" b="1"/>
              <a:t>SQLite</a:t>
            </a:r>
            <a:endParaRPr b="1"/>
          </a:p>
        </p:txBody>
      </p:sp>
      <p:sp>
        <p:nvSpPr>
          <p:cNvPr id="188" name="Google Shape;18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  <p:graphicFrame>
        <p:nvGraphicFramePr>
          <p:cNvPr id="189" name="Google Shape;189;p26"/>
          <p:cNvGraphicFramePr/>
          <p:nvPr/>
        </p:nvGraphicFramePr>
        <p:xfrm>
          <a:off x="1011454" y="1143000"/>
          <a:ext cx="9961350" cy="539503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8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Operation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Directly Supported?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Solution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Rename Table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ALTER TABLE RENAME TO</a:t>
                      </a:r>
                      <a:endParaRPr sz="2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Rename Column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ALTER TABLE RENAME COLUMN.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Add Column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ALTER TABLE ADD COLUMN.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Remove Column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ALTER TABLE DROP COLUMN.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9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Change Data Type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Create a new table with the desired data type and migrate data (use CAST if necessary).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19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Add / Remove Constraints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No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Create a new table with the constraints and ensure data complies before migration.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5;p39">
            <a:extLst>
              <a:ext uri="{FF2B5EF4-FFF2-40B4-BE49-F238E27FC236}">
                <a16:creationId xmlns:a16="http://schemas.microsoft.com/office/drawing/2014/main" id="{06EC7E36-15DE-4D02-A758-86715486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sz="4400" b="0">
                <a:latin typeface="Calibri"/>
                <a:ea typeface="Calibri"/>
                <a:cs typeface="Calibri"/>
              </a:rPr>
              <a:t>8 - Querying and Updating Rows</a:t>
            </a:r>
          </a:p>
        </p:txBody>
      </p:sp>
      <p:sp>
        <p:nvSpPr>
          <p:cNvPr id="3" name="Google Shape;296;p39">
            <a:extLst>
              <a:ext uri="{FF2B5EF4-FFF2-40B4-BE49-F238E27FC236}">
                <a16:creationId xmlns:a16="http://schemas.microsoft.com/office/drawing/2014/main" id="{47841F13-CC5A-4B70-A6EA-106F3FCB5B5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98116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5;p39">
            <a:extLst>
              <a:ext uri="{FF2B5EF4-FFF2-40B4-BE49-F238E27FC236}">
                <a16:creationId xmlns:a16="http://schemas.microsoft.com/office/drawing/2014/main" id="{04723EEC-D99B-4ABA-BAAE-FCC6548E2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sz="4400" b="0">
                <a:latin typeface="Calibri"/>
                <a:ea typeface="Calibri"/>
                <a:cs typeface="Calibri"/>
              </a:rPr>
              <a:t>Student Data for the Next Examples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C30DA6F5-D2BD-4984-B614-B66B33EBC458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setup also contains programme and graduate_list (student_id = 1116).</a:t>
            </a:r>
          </a:p>
        </p:txBody>
      </p:sp>
      <p:graphicFrame>
        <p:nvGraphicFramePr>
          <p:cNvPr id="10" name="表格 3"/>
          <p:cNvGraphicFramePr/>
          <p:nvPr/>
        </p:nvGraphicFramePr>
        <p:xfrm>
          <a:off x="933450" y="2025015"/>
          <a:ext cx="10287000" cy="3232404"/>
        </p:xfrm>
        <a:graphic>
          <a:graphicData uri="http://schemas.openxmlformats.org/drawingml/2006/table">
            <a:tbl>
              <a:tblPr/>
              <a:tblGrid>
                <a:gridCol w="2991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9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5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student_id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prog_code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Chan Ada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Ben Lee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Chan Cara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Dev Wu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 Lin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1116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Fay Ho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body-2">
            <a:extLst>
              <a:ext uri="{FF2B5EF4-FFF2-40B4-BE49-F238E27FC236}">
                <a16:creationId xmlns:a16="http://schemas.microsoft.com/office/drawing/2014/main" id="{33A028BA-1BEE-483D-9C21-F09E58F324F3}"/>
              </a:ext>
            </a:extLst>
          </p:cNvPr>
          <p:cNvSpPr>
            <a:spLocks noGrp="1"/>
          </p:cNvSpPr>
          <p:nvPr/>
        </p:nvSpPr>
        <p:spPr>
          <a:xfrm>
            <a:off x="933450" y="5466969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Use lab_work.db. NULL denotes a missing value, not the literal text "NULL".</a:t>
            </a:r>
          </a:p>
        </p:txBody>
      </p:sp>
      <p:sp>
        <p:nvSpPr>
          <p:cNvPr id="6" name="Google Shape;296;p39">
            <a:extLst>
              <a:ext uri="{FF2B5EF4-FFF2-40B4-BE49-F238E27FC236}">
                <a16:creationId xmlns:a16="http://schemas.microsoft.com/office/drawing/2014/main" id="{BFD9C817-F250-4074-B462-7604711FF0A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93337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0;p43">
            <a:extLst>
              <a:ext uri="{FF2B5EF4-FFF2-40B4-BE49-F238E27FC236}">
                <a16:creationId xmlns:a16="http://schemas.microsoft.com/office/drawing/2014/main" id="{747BD7A6-F855-484E-AE4F-BB9217C34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SELECT, WHERE and DISTINCT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423664E4-4EDD-408C-A15B-4AF108FF4A03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173736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 name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year &gt; 1 AND name LIKE 'Chan%';</a:t>
            </a:r>
          </a:p>
          <a:p>
            <a:endParaRPr sz="210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DISTINCT year FROM student ORDER BY year;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7C79F74D-21B4-4AEF-857F-8A6390F772B1}"/>
              </a:ext>
            </a:extLst>
          </p:cNvPr>
          <p:cNvSpPr>
            <a:spLocks noGrp="1"/>
          </p:cNvSpPr>
          <p:nvPr/>
        </p:nvSpPr>
        <p:spPr>
          <a:xfrm>
            <a:off x="933450" y="341376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Expected: (1113, Chan Cara). Distinct years: 1, 2, 3, 4.</a:t>
            </a:r>
          </a:p>
        </p:txBody>
      </p:sp>
      <p:sp>
        <p:nvSpPr>
          <p:cNvPr id="5" name="Google Shape;332;p43">
            <a:extLst>
              <a:ext uri="{FF2B5EF4-FFF2-40B4-BE49-F238E27FC236}">
                <a16:creationId xmlns:a16="http://schemas.microsoft.com/office/drawing/2014/main" id="{AB55DBEA-BDD1-4D57-B537-78C42EED235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36896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0;p42">
            <a:extLst>
              <a:ext uri="{FF2B5EF4-FFF2-40B4-BE49-F238E27FC236}">
                <a16:creationId xmlns:a16="http://schemas.microsoft.com/office/drawing/2014/main" id="{2567608B-DCAF-4992-BE20-B9F2708C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ORDER BY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46F69BC-07AD-46D0-ACDB-61E71F7670F7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ORDER BY for a defined output order; ASC is the default.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94A04EC7-2511-4304-AE17-4B6759595E07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173736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 name, year 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student_id DESC;</a:t>
            </a:r>
          </a:p>
          <a:p>
            <a:endParaRPr sz="210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name, year 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ORDER BY name ASC, year ASC;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7680F4C7-036A-4AE8-8EE9-92B63D79EA03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For a stable tie-break, add a unique key to the ORDER BY list.</a:t>
            </a:r>
          </a:p>
        </p:txBody>
      </p:sp>
      <p:sp>
        <p:nvSpPr>
          <p:cNvPr id="6" name="Google Shape;322;p42">
            <a:extLst>
              <a:ext uri="{FF2B5EF4-FFF2-40B4-BE49-F238E27FC236}">
                <a16:creationId xmlns:a16="http://schemas.microsoft.com/office/drawing/2014/main" id="{20521362-B9E9-4963-B3D5-1AE6833726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03177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1;p40">
            <a:extLst>
              <a:ext uri="{FF2B5EF4-FFF2-40B4-BE49-F238E27FC236}">
                <a16:creationId xmlns:a16="http://schemas.microsoft.com/office/drawing/2014/main" id="{2889745E-3249-4295-9DCC-9415A4ED1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UPDATE: Check the Target Rows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BFE2F352-C448-46B4-8EFA-48D27084C697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1737360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BEGIN;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UPDATE student SET name = 'XYZ', year = 2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student_id = 1111;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* FROM student WHERE student_id = 1111;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ROLLBACK;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37E8E6CB-933B-453D-867F-FEF08EAB437C}"/>
              </a:ext>
            </a:extLst>
          </p:cNvPr>
          <p:cNvSpPr>
            <a:spLocks noGrp="1"/>
          </p:cNvSpPr>
          <p:nvPr/>
        </p:nvSpPr>
        <p:spPr>
          <a:xfrm>
            <a:off x="933450" y="3413760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Removing WHERE would update every row. ROLLBACK restores the dataset for later questions.</a:t>
            </a:r>
          </a:p>
        </p:txBody>
      </p:sp>
      <p:sp>
        <p:nvSpPr>
          <p:cNvPr id="5" name="Google Shape;303;p40">
            <a:extLst>
              <a:ext uri="{FF2B5EF4-FFF2-40B4-BE49-F238E27FC236}">
                <a16:creationId xmlns:a16="http://schemas.microsoft.com/office/drawing/2014/main" id="{941819BA-45F5-4005-A95B-F19BE60D65B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60582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10;p41">
            <a:extLst>
              <a:ext uri="{FF2B5EF4-FFF2-40B4-BE49-F238E27FC236}">
                <a16:creationId xmlns:a16="http://schemas.microsoft.com/office/drawing/2014/main" id="{18735FED-BFD6-412F-9524-74AC62F60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DELETE: Rows versus the Table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13872A53-9EFB-4D7A-9FD9-631A8BF3CDB5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356104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BEGIN;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DELETE 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student_id IN (SELECT student_id FROM graduate_list);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COUNT(*) FROM student;  -- 5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ROLLBACK;</a:t>
            </a:r>
          </a:p>
          <a:p>
            <a:endParaRPr sz="210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-- DELETE FROM student; removes all rows, not the schema.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F4716AD1-3D66-4A27-910D-F24FD270BB55}"/>
              </a:ext>
            </a:extLst>
          </p:cNvPr>
          <p:cNvSpPr>
            <a:spLocks noGrp="1"/>
          </p:cNvSpPr>
          <p:nvPr/>
        </p:nvSpPr>
        <p:spPr>
          <a:xfrm>
            <a:off x="933450" y="4032504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SQLite has no TRUNCATE statement. Avoid assuming a fixed performance difference.</a:t>
            </a:r>
          </a:p>
        </p:txBody>
      </p:sp>
      <p:sp>
        <p:nvSpPr>
          <p:cNvPr id="5" name="Google Shape;312;p41">
            <a:extLst>
              <a:ext uri="{FF2B5EF4-FFF2-40B4-BE49-F238E27FC236}">
                <a16:creationId xmlns:a16="http://schemas.microsoft.com/office/drawing/2014/main" id="{986E4090-2AF9-46AF-9698-513D176FE1C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943338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9;p44">
            <a:extLst>
              <a:ext uri="{FF2B5EF4-FFF2-40B4-BE49-F238E27FC236}">
                <a16:creationId xmlns:a16="http://schemas.microsoft.com/office/drawing/2014/main" id="{1A3449D8-C5B2-453F-8049-124DD095D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Views in SQLite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52DA596E-D0C7-4D8D-B959-F28A931924FF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771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view stores a SELECT definition; it is not a materialized temporary table.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6BFC89BD-BBDC-42FD-9017-4445A158BBAA}"/>
              </a:ext>
            </a:extLst>
          </p:cNvPr>
          <p:cNvSpPr>
            <a:spLocks noGrp="1"/>
          </p:cNvSpPr>
          <p:nvPr/>
        </p:nvSpPr>
        <p:spPr>
          <a:xfrm>
            <a:off x="933450" y="2025015"/>
            <a:ext cx="10287000" cy="2356104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VIEW year2_students AS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 name FROM student WHERE year = 2;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* FROM year2_students;</a:t>
            </a:r>
          </a:p>
          <a:p>
            <a:endParaRPr sz="2100">
              <a:solidFill>
                <a:srgbClr val="525308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DROP VIEW year2_students;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CREATE VIEW year2_students AS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 name, year FROM student WHERE year = 2;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81A04E60-0FBE-4148-8C4E-DE4E337696C6}"/>
              </a:ext>
            </a:extLst>
          </p:cNvPr>
          <p:cNvSpPr>
            <a:spLocks noGrp="1"/>
          </p:cNvSpPr>
          <p:nvPr/>
        </p:nvSpPr>
        <p:spPr>
          <a:xfrm>
            <a:off x="933450" y="4600194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To change the definition here, DROP then CREATE the view.</a:t>
            </a:r>
          </a:p>
        </p:txBody>
      </p:sp>
      <p:sp>
        <p:nvSpPr>
          <p:cNvPr id="6" name="Google Shape;341;p44">
            <a:extLst>
              <a:ext uri="{FF2B5EF4-FFF2-40B4-BE49-F238E27FC236}">
                <a16:creationId xmlns:a16="http://schemas.microsoft.com/office/drawing/2014/main" id="{E2524BB0-94E8-472B-9B7D-9AB937145A7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07440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0;p43">
            <a:extLst>
              <a:ext uri="{FF2B5EF4-FFF2-40B4-BE49-F238E27FC236}">
                <a16:creationId xmlns:a16="http://schemas.microsoft.com/office/drawing/2014/main" id="{8F4A6ADE-863B-4728-AA2F-E318B443C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Practice 10: Filter, Update and Undo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92D3155B-5839-425F-A3F7-4CA20E3783F4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950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Database: lab_work.db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045F5038-89F8-48A6-9639-D0DDAB8A9B72}"/>
              </a:ext>
            </a:extLst>
          </p:cNvPr>
          <p:cNvSpPr>
            <a:spLocks noGrp="1"/>
          </p:cNvSpPr>
          <p:nvPr/>
        </p:nvSpPr>
        <p:spPr>
          <a:xfrm>
            <a:off x="933450" y="205930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Return CS students ordered by student_id.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B6181785-64CD-43C2-9750-3713DC5EE4EE}"/>
              </a:ext>
            </a:extLst>
          </p:cNvPr>
          <p:cNvSpPr>
            <a:spLocks noGrp="1"/>
          </p:cNvSpPr>
          <p:nvPr/>
        </p:nvSpPr>
        <p:spPr>
          <a:xfrm>
            <a:off x="933450" y="271081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Within a transaction, increase their year by 1.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7BB79FF4-286E-4F41-A5DC-B6D682316ACA}"/>
              </a:ext>
            </a:extLst>
          </p:cNvPr>
          <p:cNvSpPr>
            <a:spLocks noGrp="1"/>
          </p:cNvSpPr>
          <p:nvPr/>
        </p:nvSpPr>
        <p:spPr>
          <a:xfrm>
            <a:off x="933450" y="3362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Check the two changed rows, then ROLLBACK.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D9316160-9E19-4E6F-9C06-F35F3F69EA24}"/>
              </a:ext>
            </a:extLst>
          </p:cNvPr>
          <p:cNvSpPr>
            <a:spLocks noGrp="1"/>
          </p:cNvSpPr>
          <p:nvPr/>
        </p:nvSpPr>
        <p:spPr>
          <a:xfrm>
            <a:off x="933450" y="40138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Verify that later practice still starts with the original six students.</a:t>
            </a:r>
          </a:p>
        </p:txBody>
      </p:sp>
      <p:sp>
        <p:nvSpPr>
          <p:cNvPr id="8" name="practice-time">
            <a:extLst>
              <a:ext uri="{FF2B5EF4-FFF2-40B4-BE49-F238E27FC236}">
                <a16:creationId xmlns:a16="http://schemas.microsoft.com/office/drawing/2014/main" id="{377FA0C4-A8A5-4503-B945-C9C9E8296427}"/>
              </a:ext>
            </a:extLst>
          </p:cNvPr>
          <p:cNvSpPr>
            <a:spLocks noGrp="1"/>
          </p:cNvSpPr>
          <p:nvPr/>
        </p:nvSpPr>
        <p:spPr>
          <a:xfrm>
            <a:off x="933450" y="6134100"/>
            <a:ext cx="10096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1725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Write, run and check: about 5 minutes.</a:t>
            </a:r>
          </a:p>
        </p:txBody>
      </p:sp>
      <p:sp>
        <p:nvSpPr>
          <p:cNvPr id="9" name="Google Shape;332;p43">
            <a:extLst>
              <a:ext uri="{FF2B5EF4-FFF2-40B4-BE49-F238E27FC236}">
                <a16:creationId xmlns:a16="http://schemas.microsoft.com/office/drawing/2014/main" id="{D9D416F8-5CC1-4314-A9FA-CE1B0BEC88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9556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1;p40">
            <a:extLst>
              <a:ext uri="{FF2B5EF4-FFF2-40B4-BE49-F238E27FC236}">
                <a16:creationId xmlns:a16="http://schemas.microsoft.com/office/drawing/2014/main" id="{FA201E10-9C9C-48E1-AE3A-38765BE2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Solution 10: Filter, Update and Undo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44C7EFF7-E2CD-4A6F-8DD0-7EBCA425CDDC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2356104"/>
          </a:xfrm>
          <a:prstGeom prst="rect">
            <a:avLst/>
          </a:prstGeom>
          <a:solidFill>
            <a:srgbClr val="EBF0DE"/>
          </a:solidFill>
          <a:ln w="25718">
            <a:solidFill>
              <a:srgbClr val="525308"/>
            </a:solidFill>
          </a:ln>
        </p:spPr>
        <p:txBody>
          <a:bodyPr wrap="none" lIns="95250" tIns="66675" rIns="95250" bIns="0" anchor="t">
            <a:noAutofit/>
          </a:bodyPr>
          <a:lstStyle/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student_id,name,year 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prog_code = 'CS' ORDER BY student_id;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BEGIN;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UPDATE student SET year = year + 1 WHERE prog_code = 'CS';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SELECT student_id,year FROM student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WHERE prog_code = 'CS' ORDER BY student_id;</a:t>
            </a:r>
          </a:p>
          <a:p>
            <a:pPr>
              <a:buNone/>
              <a:defRPr sz="2100">
                <a:solidFill>
                  <a:srgbClr val="52530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5308"/>
                </a:solidFill>
                <a:latin typeface="Arial"/>
                <a:ea typeface="Arial"/>
                <a:cs typeface="Arial"/>
              </a:rPr>
              <a:t>ROLLBACK;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AA58757B-EB31-447B-AF07-7167A7F8AF23}"/>
              </a:ext>
            </a:extLst>
          </p:cNvPr>
          <p:cNvSpPr>
            <a:spLocks noGrp="1"/>
          </p:cNvSpPr>
          <p:nvPr/>
        </p:nvSpPr>
        <p:spPr>
          <a:xfrm>
            <a:off x="933450" y="4032504"/>
            <a:ext cx="102870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buNone/>
              <a:defRPr sz="2025">
                <a:solidFill>
                  <a:srgbClr val="525308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525308"/>
                </a:solidFill>
                <a:latin typeface="Calibri"/>
                <a:ea typeface="Calibri"/>
                <a:cs typeface="Calibri"/>
              </a:rPr>
              <a:t>During the transaction: (1111,2), (1113,3). After rollback: years 1 and 2.</a:t>
            </a:r>
          </a:p>
        </p:txBody>
      </p:sp>
      <p:sp>
        <p:nvSpPr>
          <p:cNvPr id="5" name="Google Shape;303;p40">
            <a:extLst>
              <a:ext uri="{FF2B5EF4-FFF2-40B4-BE49-F238E27FC236}">
                <a16:creationId xmlns:a16="http://schemas.microsoft.com/office/drawing/2014/main" id="{662327C3-49BB-45DB-A505-FEE4FC3083E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078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7;p26">
            <a:extLst>
              <a:ext uri="{FF2B5EF4-FFF2-40B4-BE49-F238E27FC236}">
                <a16:creationId xmlns:a16="http://schemas.microsoft.com/office/drawing/2014/main" id="{94A37034-1AFC-4D13-AFA4-5027130BC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2"/>
            <a:ext cx="105156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sz="4400" b="0"/>
              <a:t>Session 1 Checkpoint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CB83BE9B-E598-4908-83F8-4D65348D6CD5}"/>
              </a:ext>
            </a:extLst>
          </p:cNvPr>
          <p:cNvSpPr>
            <a:spLocks noGrp="1"/>
          </p:cNvSpPr>
          <p:nvPr/>
        </p:nvSpPr>
        <p:spPr>
          <a:xfrm>
            <a:off x="933450" y="145732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You can open the intended file and distinguish SQL from dot-commands.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931C32B6-DFFF-42EA-971E-189A4BC44C81}"/>
              </a:ext>
            </a:extLst>
          </p:cNvPr>
          <p:cNvSpPr>
            <a:spLocks noGrp="1"/>
          </p:cNvSpPr>
          <p:nvPr/>
        </p:nvSpPr>
        <p:spPr>
          <a:xfrm>
            <a:off x="933450" y="207073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You can create tables, insert rows and explain expected constraint failures.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6FE25FCF-F109-47CD-ACE7-A17BB376CD83}"/>
              </a:ext>
            </a:extLst>
          </p:cNvPr>
          <p:cNvSpPr>
            <a:spLocks noGrp="1"/>
          </p:cNvSpPr>
          <p:nvPr/>
        </p:nvSpPr>
        <p:spPr>
          <a:xfrm>
            <a:off x="933450" y="268414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You can migrate a simple schema without losing rows.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DEED7F93-2A32-4471-B580-BEC28A1A8D1D}"/>
              </a:ext>
            </a:extLst>
          </p:cNvPr>
          <p:cNvSpPr>
            <a:spLocks noGrp="1"/>
          </p:cNvSpPr>
          <p:nvPr/>
        </p:nvSpPr>
        <p:spPr>
          <a:xfrm>
            <a:off x="933450" y="329755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You can select, sort, update and delete rows with a clear target.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DFA07604-2069-4C72-BB46-567541FEFDBA}"/>
              </a:ext>
            </a:extLst>
          </p:cNvPr>
          <p:cNvSpPr>
            <a:spLocks noGrp="1"/>
          </p:cNvSpPr>
          <p:nvPr/>
        </p:nvSpPr>
        <p:spPr>
          <a:xfrm>
            <a:off x="933450" y="3910965"/>
            <a:ext cx="10287000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228600" indent="-228600"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Save your scripts. Keep chinook.db unchanged for Session 2.</a:t>
            </a:r>
          </a:p>
        </p:txBody>
      </p:sp>
      <p:sp>
        <p:nvSpPr>
          <p:cNvPr id="8" name="Google Shape;188;p26">
            <a:extLst>
              <a:ext uri="{FF2B5EF4-FFF2-40B4-BE49-F238E27FC236}">
                <a16:creationId xmlns:a16="http://schemas.microsoft.com/office/drawing/2014/main" id="{ED0A1755-5B6B-4352-BAD6-64ECC3AD73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3213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7603</Words>
  <Application>Microsoft Office PowerPoint</Application>
  <DocSecurity>0</DocSecurity>
  <PresentationFormat>宽屏</PresentationFormat>
  <Paragraphs>1001</Paragraphs>
  <Slides>89</Slides>
  <Notes>87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100" baseType="lpstr">
      <vt:lpstr>24</vt:lpstr>
      <vt:lpstr>Inter</vt:lpstr>
      <vt:lpstr>Play</vt:lpstr>
      <vt:lpstr>等线 Light</vt:lpstr>
      <vt:lpstr>Aptos</vt:lpstr>
      <vt:lpstr>Aptos Display</vt:lpstr>
      <vt:lpstr>Arial</vt:lpstr>
      <vt:lpstr>Calibri</vt:lpstr>
      <vt:lpstr>Comic Sans MS</vt:lpstr>
      <vt:lpstr>Times New Roman</vt:lpstr>
      <vt:lpstr>Office Theme</vt:lpstr>
      <vt:lpstr>Welcome to the SQLite Labs</vt:lpstr>
      <vt:lpstr>Classroom Workflow</vt:lpstr>
      <vt:lpstr>1 - SQLite Setup</vt:lpstr>
      <vt:lpstr>Same Starting Line towards SQL </vt:lpstr>
      <vt:lpstr>Nice SQLite Properties </vt:lpstr>
      <vt:lpstr>Installation (10 min)</vt:lpstr>
      <vt:lpstr>SQLite Version Requirements</vt:lpstr>
      <vt:lpstr>2 - Database Files and Commands</vt:lpstr>
      <vt:lpstr>Opening SQLite</vt:lpstr>
      <vt:lpstr>PowerPoint 演示文稿</vt:lpstr>
      <vt:lpstr>PowerPoint 演示文稿</vt:lpstr>
      <vt:lpstr>Opening the Two Lab Databases: 1. lab_work.db</vt:lpstr>
      <vt:lpstr>Opening the Two Lab Databases: 2. chinook.db</vt:lpstr>
      <vt:lpstr>PowerPoint 演示文稿</vt:lpstr>
      <vt:lpstr>SQLite Shell Commands and SQL</vt:lpstr>
      <vt:lpstr>PowerPoint 演示文稿</vt:lpstr>
      <vt:lpstr>PowerPoint 演示文稿</vt:lpstr>
      <vt:lpstr>Reading a SQL File</vt:lpstr>
      <vt:lpstr>Saving Query Output</vt:lpstr>
      <vt:lpstr>Practice 01: CLI Checkpoint</vt:lpstr>
      <vt:lpstr>Solution 01: CLI Checkpoint</vt:lpstr>
      <vt:lpstr>3 - Output and Troubleshooting</vt:lpstr>
      <vt:lpstr>DEMO: Formatting techniques on the terminal</vt:lpstr>
      <vt:lpstr>DEMO: Formatting techniques on the terminal</vt:lpstr>
      <vt:lpstr>DEMO: Other useful commands</vt:lpstr>
      <vt:lpstr>More commands? </vt:lpstr>
      <vt:lpstr>Useful SQLite Shell Commands</vt:lpstr>
      <vt:lpstr>4 - DB Browser for SQLite</vt:lpstr>
      <vt:lpstr>Intro: DB Browser for SQLite (DB4S)  </vt:lpstr>
      <vt:lpstr>DB Browser Setup</vt:lpstr>
      <vt:lpstr>Demo: Access database via GUI</vt:lpstr>
      <vt:lpstr>Demo: Access database via GUI</vt:lpstr>
      <vt:lpstr>Demo: [Browse Data] tab </vt:lpstr>
      <vt:lpstr>Demo: Filters in [Browse Data] tab</vt:lpstr>
      <vt:lpstr>PowerPoint 演示文稿</vt:lpstr>
      <vt:lpstr>PowerPoint 演示文稿</vt:lpstr>
      <vt:lpstr>Case: CLI and GUI Share a File</vt:lpstr>
      <vt:lpstr>5 - Tables and Data Types</vt:lpstr>
      <vt:lpstr>Creating a SQLite Table</vt:lpstr>
      <vt:lpstr>PowerPoint 演示文稿</vt:lpstr>
      <vt:lpstr>SQLite Types: Storage and Affinity</vt:lpstr>
      <vt:lpstr>PowerPoint 演示文稿</vt:lpstr>
      <vt:lpstr>Case: Employees Table</vt:lpstr>
      <vt:lpstr>Inserting Multiple Rows</vt:lpstr>
      <vt:lpstr>PowerPoint 演示文稿</vt:lpstr>
      <vt:lpstr>Practice 04: Two CREATE TABLE Statements</vt:lpstr>
      <vt:lpstr>Practice 04: Schema Specifications</vt:lpstr>
      <vt:lpstr>Solution 04: Company</vt:lpstr>
      <vt:lpstr>Solution 04: Book</vt:lpstr>
      <vt:lpstr>Practice 05: Defaults and a Failed Insert</vt:lpstr>
      <vt:lpstr>Solution 05: Successful Inserts</vt:lpstr>
      <vt:lpstr>Solution 05: Expected Failure</vt:lpstr>
      <vt:lpstr>6 - CHECK and Foreign Keys</vt:lpstr>
      <vt:lpstr>Col. Constraints in SQLite</vt:lpstr>
      <vt:lpstr>What CHECK Can Enforce</vt:lpstr>
      <vt:lpstr>CHECK: Read the Whole Definition</vt:lpstr>
      <vt:lpstr>CHECK Across Multiple Columns</vt:lpstr>
      <vt:lpstr>A Foreign Key Relationship</vt:lpstr>
      <vt:lpstr>Foreign Keys: Enable and Verify</vt:lpstr>
      <vt:lpstr>PowerPoint 演示文稿</vt:lpstr>
      <vt:lpstr>Practice 06: Constraint Predictions</vt:lpstr>
      <vt:lpstr>Solution 06: Predict Before Running</vt:lpstr>
      <vt:lpstr>PowerPoint 演示文稿</vt:lpstr>
      <vt:lpstr>Foreign Key Action: RESTRICT</vt:lpstr>
      <vt:lpstr>Foreign Key Action: SET NULL</vt:lpstr>
      <vt:lpstr>7 - Changing a Table Schema</vt:lpstr>
      <vt:lpstr>SQLite ALTER TABLE</vt:lpstr>
      <vt:lpstr>Alter Table or Column Name </vt:lpstr>
      <vt:lpstr>Leading Question</vt:lpstr>
      <vt:lpstr>Adding Columns</vt:lpstr>
      <vt:lpstr>Deleting Columns</vt:lpstr>
      <vt:lpstr>Restrictions on DROP COLUMN</vt:lpstr>
      <vt:lpstr>Change Column Attributes - ALTER TABLE</vt:lpstr>
      <vt:lpstr>DEMO SQLite: Changing Col. Type</vt:lpstr>
      <vt:lpstr>DEMO A SQLite: Changing Col. Type</vt:lpstr>
      <vt:lpstr>DEMO SQLite: Changing Col. Type</vt:lpstr>
      <vt:lpstr>DEMO SQLite: Changing Col. Type</vt:lpstr>
      <vt:lpstr>DEMO SQLite: Changing Col. Type</vt:lpstr>
      <vt:lpstr>Summary of Table Modification - SQLite</vt:lpstr>
      <vt:lpstr>8 - Querying and Updating Rows</vt:lpstr>
      <vt:lpstr>Student Data for the Next Examples</vt:lpstr>
      <vt:lpstr>SELECT, WHERE and DISTINCT</vt:lpstr>
      <vt:lpstr>ORDER BY</vt:lpstr>
      <vt:lpstr>UPDATE: Check the Target Rows</vt:lpstr>
      <vt:lpstr>DELETE: Rows versus the Table</vt:lpstr>
      <vt:lpstr>Views in SQLite</vt:lpstr>
      <vt:lpstr>Practice 10: Filter, Update and Undo</vt:lpstr>
      <vt:lpstr>Solution 10: Filter, Update and Undo</vt:lpstr>
      <vt:lpstr>Session 1 Checkpoint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Guoxiong He</cp:lastModifiedBy>
  <cp:revision>45</cp:revision>
  <dcterms:created xsi:type="dcterms:W3CDTF">2026-09-20T15:01:35Z</dcterms:created>
  <dcterms:modified xsi:type="dcterms:W3CDTF">2026-09-21T14:56:08Z</dcterms:modified>
</cp:coreProperties>
</file>