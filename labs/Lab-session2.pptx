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464" r:id="rId23"/>
    <p:sldId id="465" r:id="rId24"/>
    <p:sldId id="466" r:id="rId25"/>
    <p:sldId id="467" r:id="rId26"/>
    <p:sldId id="468" r:id="rId27"/>
    <p:sldId id="469" r:id="rId28"/>
    <p:sldId id="470" r:id="rId29"/>
    <p:sldId id="471" r:id="rId30"/>
    <p:sldId id="277" r:id="rId31"/>
    <p:sldId id="278" r:id="rId32"/>
    <p:sldId id="279" r:id="rId33"/>
    <p:sldId id="280" r:id="rId34"/>
    <p:sldId id="281" r:id="rId35"/>
    <p:sldId id="282" r:id="rId36"/>
    <p:sldId id="283" r:id="rId37"/>
    <p:sldId id="284" r:id="rId38"/>
    <p:sldId id="285" r:id="rId39"/>
    <p:sldId id="286" r:id="rId40"/>
    <p:sldId id="287" r:id="rId41"/>
    <p:sldId id="288" r:id="rId42"/>
    <p:sldId id="289" r:id="rId43"/>
    <p:sldId id="290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</p:sldIdLst>
  <p:sldSz cx="12192000" cy="6858000"/>
  <p:notesSz cx="6858000" cy="9144000"/>
  <p:defaultTextStyle>
    <a:defPPr>
      <a:buNone/>
    </a:defPPr>
    <a:lvl1pPr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56839" autoAdjust="0"/>
  </p:normalViewPr>
  <p:slideViewPr>
    <p:cSldViewPr snapToGrid="0">
      <p:cViewPr varScale="1">
        <p:scale>
          <a:sx n="62" d="100"/>
          <a:sy n="62" d="100"/>
        </p:scale>
        <p:origin x="169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?>
<ns0:Relationships xmlns:ns0="http://schemas.openxmlformats.org/package/2006/relationships"><ns0:Relationship Id="rId26" Type="http://schemas.openxmlformats.org/officeDocument/2006/relationships/slide" Target="slides/slide25.xml" /><ns0:Relationship Id="rId21" Type="http://schemas.openxmlformats.org/officeDocument/2006/relationships/slide" Target="slides/slide20.xml" /><ns0:Relationship Id="rId42" Type="http://schemas.openxmlformats.org/officeDocument/2006/relationships/slide" Target="slides/slide41.xml" /><ns0:Relationship Id="rId47" Type="http://schemas.openxmlformats.org/officeDocument/2006/relationships/slide" Target="slides/slide46.xml" /><ns0:Relationship Id="rId63" Type="http://schemas.openxmlformats.org/officeDocument/2006/relationships/slide" Target="slides/slide62.xml" /><ns0:Relationship Id="rId68" Type="http://schemas.openxmlformats.org/officeDocument/2006/relationships/slide" Target="slides/slide67.xml" /><ns0:Relationship Id="rId16" Type="http://schemas.openxmlformats.org/officeDocument/2006/relationships/slide" Target="slides/slide15.xml" /><ns0:Relationship Id="rId11" Type="http://schemas.openxmlformats.org/officeDocument/2006/relationships/slide" Target="slides/slide10.xml" /><ns0:Relationship Id="rId32" Type="http://schemas.openxmlformats.org/officeDocument/2006/relationships/slide" Target="slides/slide31.xml" /><ns0:Relationship Id="rId37" Type="http://schemas.openxmlformats.org/officeDocument/2006/relationships/slide" Target="slides/slide36.xml" /><ns0:Relationship Id="rId53" Type="http://schemas.openxmlformats.org/officeDocument/2006/relationships/slide" Target="slides/slide52.xml" /><ns0:Relationship Id="rId58" Type="http://schemas.openxmlformats.org/officeDocument/2006/relationships/slide" Target="slides/slide57.xml" /><ns0:Relationship Id="rId74" Type="http://schemas.openxmlformats.org/officeDocument/2006/relationships/slide" Target="slides/slide73.xml" /><ns0:Relationship Id="rId79" Type="http://schemas.openxmlformats.org/officeDocument/2006/relationships/presProps" Target="presProps.xml" /><ns0:Relationship Id="rId5" Type="http://schemas.openxmlformats.org/officeDocument/2006/relationships/slide" Target="slides/slide4.xml" /><ns0:Relationship Id="rId61" Type="http://schemas.openxmlformats.org/officeDocument/2006/relationships/slide" Target="slides/slide60.xml" /><ns0:Relationship Id="rId82" Type="http://schemas.openxmlformats.org/officeDocument/2006/relationships/tableStyles" Target="tableStyles.xml" /><ns0:Relationship Id="rId19" Type="http://schemas.openxmlformats.org/officeDocument/2006/relationships/slide" Target="slides/slide18.xml" /><ns0:Relationship Id="rId14" Type="http://schemas.openxmlformats.org/officeDocument/2006/relationships/slide" Target="slides/slide13.xml" /><ns0:Relationship Id="rId22" Type="http://schemas.openxmlformats.org/officeDocument/2006/relationships/slide" Target="slides/slide21.xml" /><ns0:Relationship Id="rId27" Type="http://schemas.openxmlformats.org/officeDocument/2006/relationships/slide" Target="slides/slide26.xml" /><ns0:Relationship Id="rId30" Type="http://schemas.openxmlformats.org/officeDocument/2006/relationships/slide" Target="slides/slide29.xml" /><ns0:Relationship Id="rId35" Type="http://schemas.openxmlformats.org/officeDocument/2006/relationships/slide" Target="slides/slide34.xml" /><ns0:Relationship Id="rId43" Type="http://schemas.openxmlformats.org/officeDocument/2006/relationships/slide" Target="slides/slide42.xml" /><ns0:Relationship Id="rId48" Type="http://schemas.openxmlformats.org/officeDocument/2006/relationships/slide" Target="slides/slide47.xml" /><ns0:Relationship Id="rId56" Type="http://schemas.openxmlformats.org/officeDocument/2006/relationships/slide" Target="slides/slide55.xml" /><ns0:Relationship Id="rId64" Type="http://schemas.openxmlformats.org/officeDocument/2006/relationships/slide" Target="slides/slide63.xml" /><ns0:Relationship Id="rId69" Type="http://schemas.openxmlformats.org/officeDocument/2006/relationships/slide" Target="slides/slide68.xml" /><ns0:Relationship Id="rId77" Type="http://schemas.openxmlformats.org/officeDocument/2006/relationships/slide" Target="slides/slide76.xml" /><ns0:Relationship Id="rId8" Type="http://schemas.openxmlformats.org/officeDocument/2006/relationships/slide" Target="slides/slide7.xml" /><ns0:Relationship Id="rId51" Type="http://schemas.openxmlformats.org/officeDocument/2006/relationships/slide" Target="slides/slide50.xml" /><ns0:Relationship Id="rId72" Type="http://schemas.openxmlformats.org/officeDocument/2006/relationships/slide" Target="slides/slide71.xml" /><ns0:Relationship Id="rId80" Type="http://schemas.openxmlformats.org/officeDocument/2006/relationships/viewProps" Target="viewProps.xml" /><ns0:Relationship Id="rId3" Type="http://schemas.openxmlformats.org/officeDocument/2006/relationships/slide" Target="slides/slide2.xml" /><ns0:Relationship Id="rId12" Type="http://schemas.openxmlformats.org/officeDocument/2006/relationships/slide" Target="slides/slide11.xml" /><ns0:Relationship Id="rId17" Type="http://schemas.openxmlformats.org/officeDocument/2006/relationships/slide" Target="slides/slide16.xml" /><ns0:Relationship Id="rId25" Type="http://schemas.openxmlformats.org/officeDocument/2006/relationships/slide" Target="slides/slide24.xml" /><ns0:Relationship Id="rId33" Type="http://schemas.openxmlformats.org/officeDocument/2006/relationships/slide" Target="slides/slide32.xml" /><ns0:Relationship Id="rId38" Type="http://schemas.openxmlformats.org/officeDocument/2006/relationships/slide" Target="slides/slide37.xml" /><ns0:Relationship Id="rId46" Type="http://schemas.openxmlformats.org/officeDocument/2006/relationships/slide" Target="slides/slide45.xml" /><ns0:Relationship Id="rId59" Type="http://schemas.openxmlformats.org/officeDocument/2006/relationships/slide" Target="slides/slide58.xml" /><ns0:Relationship Id="rId67" Type="http://schemas.openxmlformats.org/officeDocument/2006/relationships/slide" Target="slides/slide66.xml" /><ns0:Relationship Id="rId20" Type="http://schemas.openxmlformats.org/officeDocument/2006/relationships/slide" Target="slides/slide19.xml" /><ns0:Relationship Id="rId41" Type="http://schemas.openxmlformats.org/officeDocument/2006/relationships/slide" Target="slides/slide40.xml" /><ns0:Relationship Id="rId54" Type="http://schemas.openxmlformats.org/officeDocument/2006/relationships/slide" Target="slides/slide53.xml" /><ns0:Relationship Id="rId62" Type="http://schemas.openxmlformats.org/officeDocument/2006/relationships/slide" Target="slides/slide61.xml" /><ns0:Relationship Id="rId70" Type="http://schemas.openxmlformats.org/officeDocument/2006/relationships/slide" Target="slides/slide69.xml" /><ns0:Relationship Id="rId75" Type="http://schemas.openxmlformats.org/officeDocument/2006/relationships/slide" Target="slides/slide74.xml" /><ns0:Relationship Id="rId1" Type="http://schemas.openxmlformats.org/officeDocument/2006/relationships/slideMaster" Target="slideMasters/slideMaster1.xml" /><ns0:Relationship Id="rId6" Type="http://schemas.openxmlformats.org/officeDocument/2006/relationships/slide" Target="slides/slide5.xml" /><ns0:Relationship Id="rId15" Type="http://schemas.openxmlformats.org/officeDocument/2006/relationships/slide" Target="slides/slide14.xml" /><ns0:Relationship Id="rId23" Type="http://schemas.openxmlformats.org/officeDocument/2006/relationships/slide" Target="slides/slide22.xml" /><ns0:Relationship Id="rId28" Type="http://schemas.openxmlformats.org/officeDocument/2006/relationships/slide" Target="slides/slide27.xml" /><ns0:Relationship Id="rId36" Type="http://schemas.openxmlformats.org/officeDocument/2006/relationships/slide" Target="slides/slide35.xml" /><ns0:Relationship Id="rId49" Type="http://schemas.openxmlformats.org/officeDocument/2006/relationships/slide" Target="slides/slide48.xml" /><ns0:Relationship Id="rId57" Type="http://schemas.openxmlformats.org/officeDocument/2006/relationships/slide" Target="slides/slide56.xml" /><ns0:Relationship Id="rId10" Type="http://schemas.openxmlformats.org/officeDocument/2006/relationships/slide" Target="slides/slide9.xml" /><ns0:Relationship Id="rId31" Type="http://schemas.openxmlformats.org/officeDocument/2006/relationships/slide" Target="slides/slide30.xml" /><ns0:Relationship Id="rId44" Type="http://schemas.openxmlformats.org/officeDocument/2006/relationships/slide" Target="slides/slide43.xml" /><ns0:Relationship Id="rId52" Type="http://schemas.openxmlformats.org/officeDocument/2006/relationships/slide" Target="slides/slide51.xml" /><ns0:Relationship Id="rId60" Type="http://schemas.openxmlformats.org/officeDocument/2006/relationships/slide" Target="slides/slide59.xml" /><ns0:Relationship Id="rId65" Type="http://schemas.openxmlformats.org/officeDocument/2006/relationships/slide" Target="slides/slide64.xml" /><ns0:Relationship Id="rId73" Type="http://schemas.openxmlformats.org/officeDocument/2006/relationships/slide" Target="slides/slide72.xml" /><ns0:Relationship Id="rId81" Type="http://schemas.openxmlformats.org/officeDocument/2006/relationships/theme" Target="theme/theme1.xml" /><ns0:Relationship Id="rId4" Type="http://schemas.openxmlformats.org/officeDocument/2006/relationships/slide" Target="slides/slide3.xml" /><ns0:Relationship Id="rId9" Type="http://schemas.openxmlformats.org/officeDocument/2006/relationships/slide" Target="slides/slide8.xml" /><ns0:Relationship Id="rId13" Type="http://schemas.openxmlformats.org/officeDocument/2006/relationships/slide" Target="slides/slide12.xml" /><ns0:Relationship Id="rId18" Type="http://schemas.openxmlformats.org/officeDocument/2006/relationships/slide" Target="slides/slide17.xml" /><ns0:Relationship Id="rId39" Type="http://schemas.openxmlformats.org/officeDocument/2006/relationships/slide" Target="slides/slide38.xml" /><ns0:Relationship Id="rId34" Type="http://schemas.openxmlformats.org/officeDocument/2006/relationships/slide" Target="slides/slide33.xml" /><ns0:Relationship Id="rId50" Type="http://schemas.openxmlformats.org/officeDocument/2006/relationships/slide" Target="slides/slide49.xml" /><ns0:Relationship Id="rId55" Type="http://schemas.openxmlformats.org/officeDocument/2006/relationships/slide" Target="slides/slide54.xml" /><ns0:Relationship Id="rId76" Type="http://schemas.openxmlformats.org/officeDocument/2006/relationships/slide" Target="slides/slide75.xml" /><ns0:Relationship Id="rId7" Type="http://schemas.openxmlformats.org/officeDocument/2006/relationships/slide" Target="slides/slide6.xml" /><ns0:Relationship Id="rId71" Type="http://schemas.openxmlformats.org/officeDocument/2006/relationships/slide" Target="slides/slide70.xml" /><ns0:Relationship Id="rId2" Type="http://schemas.openxmlformats.org/officeDocument/2006/relationships/slide" Target="slides/slide1.xml" /><ns0:Relationship Id="rId29" Type="http://schemas.openxmlformats.org/officeDocument/2006/relationships/slide" Target="slides/slide28.xml" /><ns0:Relationship Id="rId24" Type="http://schemas.openxmlformats.org/officeDocument/2006/relationships/slide" Target="slides/slide23.xml" /><ns0:Relationship Id="rId40" Type="http://schemas.openxmlformats.org/officeDocument/2006/relationships/slide" Target="slides/slide39.xml" /><ns0:Relationship Id="rId45" Type="http://schemas.openxmlformats.org/officeDocument/2006/relationships/slide" Target="slides/slide44.xml" /><ns0:Relationship Id="rId66" Type="http://schemas.openxmlformats.org/officeDocument/2006/relationships/slide" Target="slides/slide65.xml" /></ns0: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688B65-7AF1-46A9-9EB8-30D501A939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016C95-9F55-4195-B071-4014243E34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5D5866-BF5A-48C1-9693-9E7D669ABB2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8B9FD9F5-5BD9-477B-A6EA-39E8DEA706E4}" type="datetime1">
              <a:t>2026/10/26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4C505-5A7B-490D-B1C2-CA96823D799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5EAF25-5C11-498F-8C49-62FDF6FE2E7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7AED2C7D-F957-4DD0-9E0D-C651C0C06F55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C1351A-18DB-4389-8975-694A261289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A5D1B0-ECFF-450B-9063-19114C56C9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90D1FC-AEE6-4E64-A67D-E125A543A2B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11E1282-1713-4503-8FAC-3492F84CBD77}" type="datetime1">
              <a:t>2026/10/26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A74E8-E786-4C63-8DEB-32711BB614F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35FF42-72E8-4D86-9315-95C6699D268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7AED2C7D-F957-4DD0-9E0D-C651C0C06F55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CCABF9-432E-464A-B87E-807395288D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buNone/>
              <a:defRPr sz="60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7D46E3-3E46-41F4-9565-3891B80A0C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29DEFE-B979-48E0-9570-9608B3479B0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B19A289E-62A9-436B-9A9F-282065A7F155}" type="datetime1">
              <a:t>2026/10/26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EC21BB-1C18-4F30-B478-2F049B4DE18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43B690-A2EB-4602-9883-9BD21A44A26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7AED2C7D-F957-4DD0-9E0D-C651C0C06F55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B5F85-D23E-437D-B91D-68E5D6F8AC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D4C582-CF3C-46BB-B87F-042BC959A6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2387"/>
            <a:ext cx="5181600" cy="4854576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1D9945-9B13-49D8-B6D1-A845013627E4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172200" y="1322387"/>
            <a:ext cx="5181600" cy="4854576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4C9E2C-8232-4EF9-84E3-0DC3996D227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2E4C648-B6C6-4A52-B90F-61606739B62B}" type="datetime1">
              <a:t>2026/10/26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3FECA1-2BF2-4FA1-879F-2258D93D6E9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467A19-CA58-4376-BD3C-34F226B73B0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7AED2C7D-F957-4DD0-9E0D-C651C0C06F55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A0EE45-ED6F-4EF6-9440-F194AC7530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46D94D-FF93-47BD-BD08-0BB750B66E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BB500A-2A66-424A-8E10-783CCFD231E1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9BF105-39FB-428B-ADB1-388514774650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7F58268-C9CC-42DE-8B79-EE7E383147F3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8314203-ABEA-461B-AD2A-4188008E037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0C479AF-0A40-4808-A50D-D10632ACFF90}" type="datetime1">
              <a:t>2026/10/26</a:t>
            </a:fld>
            <a:endParaRPr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DE551B-1931-4553-97C8-08F8AB82E6F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514BE82-D6B2-4A63-BF01-32BE1205E86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7AED2C7D-F957-4DD0-9E0D-C651C0C06F55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D3115-57EC-4352-A2F2-9F24CDE19D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291B089-4D84-4BD6-933E-3967B7570D4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5D6B249-A3F2-4ECD-9740-1F7A09DF8B30}" type="datetime1">
              <a:t>2026/10/26</a:t>
            </a:fld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8DCEA00-AB4D-479F-92E8-F4612C7C814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05ACDE-9A2F-4C26-BE4E-215FCB98F11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7AED2C7D-F957-4DD0-9E0D-C651C0C06F55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7F0410E-0C40-4B17-93F2-A10A005E5FE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CB563C0-9B0B-489F-A195-B4246373F749}" type="datetime1">
              <a:t>2026/10/26</a:t>
            </a:fld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43CD97E-BC31-4C6A-9D05-CE4AB3C458F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9823FB-9195-44F3-89FA-396DF587D25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7AED2C7D-F957-4DD0-9E0D-C651C0C06F55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804FFE-7555-48A0-A3CD-45AA3BF4FD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035304-F85B-499B-9FC5-31A49AE4D5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C4FC89-81DA-4BE1-B146-78C46C96968C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7A8774-7C00-4810-B0D9-7763B5538D6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C034EF01-F33E-4BB3-AF65-A3CC8283B837}" type="datetime1">
              <a:t>2026/10/26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653F08-9B6D-466C-AE39-33D6FA12F6E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92EF8A-EA4F-4ADF-B990-75E427156B3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7AED2C7D-F957-4DD0-9E0D-C651C0C06F55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074E9-7510-4775-8986-464D1FEC0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0349A6C-DDF8-4406-9B78-CB599DCFAC6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3D770C-66A7-4A77-AB2E-A224284DFD42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1F8FBE-1F8B-47CA-B1ED-B5CD30454A1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BF26084E-7A48-4757-8657-FAC426E6DE74}" type="datetime1">
              <a:t>2026/10/26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911BC0-FEDF-428F-8D9C-B82B85192AF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2D6DD2-CF61-4169-8BD3-A112753DBD2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7AED2C7D-F957-4DD0-9E0D-C651C0C06F55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B14819-6D68-492F-9CFD-27EE7D2A03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7C6D87-9AE5-452E-A2CC-7188AB8F7F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2A9037-A2B2-4BB4-B355-3130AA51AD5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04E65D9-5686-4925-8261-ACE60EDE1277}" type="datetime1">
              <a:t>2026/10/26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BEBA15-9B2D-4D32-8590-43AF627FEA5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68ECBC-D1DE-43E5-AE25-5940BB94CE5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7AED2C7D-F957-4DD0-9E0D-C651C0C06F55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483ADFC-0108-4833-82F9-08882606CB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DAA659-0910-411F-9BB5-37EABA5FF7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053571-3343-4E90-928A-A80AD48202D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305E10B8-6EF8-4287-855B-349FAEE500B3}" type="datetime1">
              <a:t>2026/10/26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25E659-2318-498D-915A-660830DCE8D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979C1D-57AA-4999-A52C-9C1C65EFBD4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7AED2C7D-F957-4DD0-9E0D-C651C0C06F55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4262732-E4FE-4385-9C63-90AEAC4717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77875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C6752E-D7F4-4E71-9C29-5297328B1B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282148"/>
            <a:ext cx="10515600" cy="4894815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30DB04-6B14-4B74-AFDA-AB1E3343FF68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A505698-BF43-4E12-B42C-287A58E2B7B4}" type="datetime1">
              <a:t>2026/10/26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6DB36D-3760-485B-96B3-90FB97BE7DA3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6F1601-9905-4037-B513-99C2BA0911D0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ED2C7D-F957-4DD0-9E0D-C651C0C06F55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3.xml" /></ns0:Relationships>
</file>

<file path=ppt/slides/_rels/slide2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3.xml" /></ns0:Relationships>
</file>

<file path=ppt/slides/_rels/slide3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3.xml" /></ns0:Relationships>
</file>

<file path=ppt/slides/_rels/slide4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2.xml" /></ns0:Relationships>
</file>

<file path=ppt/slides/_rels/slide5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3.xml" /></ns0:Relationships>
</file>

<file path=ppt/slides/_rels/slide6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2.xml" /></ns0:Relationships>
</file>

<file path=ppt/slides/_rels/slide7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2.xml" /></ns0:Relationships>
</file>

<file path=ppt/slides/_rels/slide8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2.xml" /></ns0:Relationships>
</file>

<file path=ppt/slides/_rels/slide9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2.xml" /></ns0:Relationships>
</file>

<file path=ppt/slides/_rels/slide10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2.xml" /></ns0:Relationships>
</file>

<file path=ppt/slides/_rels/slide11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2.xml" /></ns0:Relationships>
</file>

<file path=ppt/slides/_rels/slide12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2.xml" /></ns0:Relationships>
</file>

<file path=ppt/slides/_rels/slide13.xml.rels><?xml version='1.0' encoding='utf-8'?>
<ns0:Relationships xmlns:ns0="http://schemas.openxmlformats.org/package/2006/relationships"><ns0:Relationship Id="rId3" Type="http://schemas.openxmlformats.org/officeDocument/2006/relationships/image" Target="../media/image1.png" /><ns0:Relationship Id="rId1" Type="http://schemas.openxmlformats.org/officeDocument/2006/relationships/slideLayout" Target="../slideLayouts/slideLayout2.xml" /></ns0:Relationships>
</file>

<file path=ppt/slides/_rels/slide14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2.xml" /></ns0:Relationships>
</file>

<file path=ppt/slides/_rels/slide15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2.xml" /></ns0:Relationships>
</file>

<file path=ppt/slides/_rels/slide16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2.xml" /></ns0:Relationships>
</file>

<file path=ppt/slides/_rels/slide17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2.xml" /></ns0:Relationships>
</file>

<file path=ppt/slides/_rels/slide18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2.xml" /></ns0:Relationships>
</file>

<file path=ppt/slides/_rels/slide19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2.xml" /></ns0:Relationships>
</file>

<file path=ppt/slides/_rels/slide20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2.xml" /></ns0:Relationships>
</file>

<file path=ppt/slides/_rels/slide21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3.xml" /></ns0:Relationships>
</file>

<file path=ppt/slides/_rels/slide22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2.xml" /></ns0:Relationships>
</file>

<file path=ppt/slides/_rels/slide23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2.xml" /></ns0:Relationships>
</file>

<file path=ppt/slides/_rels/slide24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2.xml" /></ns0:Relationships>
</file>

<file path=ppt/slides/_rels/slide25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2.xml" /></ns0:Relationships>
</file>

<file path=ppt/slides/_rels/slide26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2.xml" /></ns0:Relationships>
</file>

<file path=ppt/slides/_rels/slide27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2.xml" /></ns0:Relationships>
</file>

<file path=ppt/slides/_rels/slide28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2.xml" /></ns0:Relationships>
</file>

<file path=ppt/slides/_rels/slide29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2.xml" /></ns0:Relationships>
</file>

<file path=ppt/slides/_rels/slide30.xml.rels><?xml version='1.0' encoding='utf-8'?>
<ns0:Relationships xmlns:ns0="http://schemas.openxmlformats.org/package/2006/relationships"><ns0:Relationship Id="rId3" Type="http://schemas.openxmlformats.org/officeDocument/2006/relationships/image" Target="../media/image2.png" /><ns0:Relationship Id="rId1" Type="http://schemas.openxmlformats.org/officeDocument/2006/relationships/slideLayout" Target="../slideLayouts/slideLayout2.xml" /></ns0:Relationships>
</file>

<file path=ppt/slides/_rels/slide31.xml.rels><?xml version='1.0' encoding='utf-8'?>
<ns0:Relationships xmlns:ns0="http://schemas.openxmlformats.org/package/2006/relationships"><ns0:Relationship Id="rId3" Type="http://schemas.openxmlformats.org/officeDocument/2006/relationships/image" Target="../media/image3.png" /><ns0:Relationship Id="rId1" Type="http://schemas.openxmlformats.org/officeDocument/2006/relationships/slideLayout" Target="../slideLayouts/slideLayout2.xml" /><ns0:Relationship Id="rId4" Type="http://schemas.openxmlformats.org/officeDocument/2006/relationships/image" Target="../media/image4.png" /></ns0:Relationships>
</file>

<file path=ppt/slides/_rels/slide32.xml.rels><?xml version='1.0' encoding='utf-8'?>
<ns0:Relationships xmlns:ns0="http://schemas.openxmlformats.org/package/2006/relationships"><ns0:Relationship Id="rId3" Type="http://schemas.openxmlformats.org/officeDocument/2006/relationships/image" Target="../media/image3.png" /><ns0:Relationship Id="rId1" Type="http://schemas.openxmlformats.org/officeDocument/2006/relationships/slideLayout" Target="../slideLayouts/slideLayout2.xml" /></ns0:Relationships>
</file>

<file path=ppt/slides/_rels/slide33.xml.rels><?xml version='1.0' encoding='utf-8'?>
<ns0:Relationships xmlns:ns0="http://schemas.openxmlformats.org/package/2006/relationships"><ns0:Relationship Id="rId3" Type="http://schemas.openxmlformats.org/officeDocument/2006/relationships/image" Target="../media/image5.png" /><ns0:Relationship Id="rId1" Type="http://schemas.openxmlformats.org/officeDocument/2006/relationships/slideLayout" Target="../slideLayouts/slideLayout2.xml" /><ns0:Relationship Id="rId4" Type="http://schemas.openxmlformats.org/officeDocument/2006/relationships/image" Target="../media/image4.png" /></ns0:Relationships>
</file>

<file path=ppt/slides/_rels/slide34.xml.rels><?xml version='1.0' encoding='utf-8'?>
<ns0:Relationships xmlns:ns0="http://schemas.openxmlformats.org/package/2006/relationships"><ns0:Relationship Id="rId3" Type="http://schemas.openxmlformats.org/officeDocument/2006/relationships/image" Target="../media/image5.png" /><ns0:Relationship Id="rId1" Type="http://schemas.openxmlformats.org/officeDocument/2006/relationships/slideLayout" Target="../slideLayouts/slideLayout2.xml" /></ns0:Relationships>
</file>

<file path=ppt/slides/_rels/slide35.xml.rels><?xml version='1.0' encoding='utf-8'?>
<ns0:Relationships xmlns:ns0="http://schemas.openxmlformats.org/package/2006/relationships"><ns0:Relationship Id="rId3" Type="http://schemas.openxmlformats.org/officeDocument/2006/relationships/image" Target="../media/image6.png" /><ns0:Relationship Id="rId1" Type="http://schemas.openxmlformats.org/officeDocument/2006/relationships/slideLayout" Target="../slideLayouts/slideLayout2.xml" /><ns0:Relationship Id="rId4" Type="http://schemas.openxmlformats.org/officeDocument/2006/relationships/image" Target="../media/image4.png" /></ns0:Relationships>
</file>

<file path=ppt/slides/_rels/slide36.xml.rels><?xml version='1.0' encoding='utf-8'?>
<ns0:Relationships xmlns:ns0="http://schemas.openxmlformats.org/package/2006/relationships"><ns0:Relationship Id="rId3" Type="http://schemas.openxmlformats.org/officeDocument/2006/relationships/image" Target="../media/image6.png" /><ns0:Relationship Id="rId1" Type="http://schemas.openxmlformats.org/officeDocument/2006/relationships/slideLayout" Target="../slideLayouts/slideLayout2.xml" /></ns0:Relationships>
</file>

<file path=ppt/slides/_rels/slide37.xml.rels><?xml version='1.0' encoding='utf-8'?>
<ns0:Relationships xmlns:ns0="http://schemas.openxmlformats.org/package/2006/relationships"><ns0:Relationship Id="rId3" Type="http://schemas.openxmlformats.org/officeDocument/2006/relationships/image" Target="../media/image7.png" /><ns0:Relationship Id="rId1" Type="http://schemas.openxmlformats.org/officeDocument/2006/relationships/slideLayout" Target="../slideLayouts/slideLayout2.xml" /><ns0:Relationship Id="rId4" Type="http://schemas.openxmlformats.org/officeDocument/2006/relationships/image" Target="../media/image4.png" /></ns0:Relationships>
</file>

<file path=ppt/slides/_rels/slide38.xml.rels><?xml version='1.0' encoding='utf-8'?>
<ns0:Relationships xmlns:ns0="http://schemas.openxmlformats.org/package/2006/relationships"><ns0:Relationship Id="rId3" Type="http://schemas.openxmlformats.org/officeDocument/2006/relationships/image" Target="../media/image7.png" /><ns0:Relationship Id="rId1" Type="http://schemas.openxmlformats.org/officeDocument/2006/relationships/slideLayout" Target="../slideLayouts/slideLayout2.xml" /></ns0:Relationships>
</file>

<file path=ppt/slides/_rels/slide39.xml.rels><?xml version='1.0' encoding='utf-8'?>
<ns0:Relationships xmlns:ns0="http://schemas.openxmlformats.org/package/2006/relationships"><ns0:Relationship Id="rId3" Type="http://schemas.openxmlformats.org/officeDocument/2006/relationships/image" Target="../media/image4.png" /><ns0:Relationship Id="rId1" Type="http://schemas.openxmlformats.org/officeDocument/2006/relationships/slideLayout" Target="../slideLayouts/slideLayout2.xml" /><ns0:Relationship Id="rId4" Type="http://schemas.openxmlformats.org/officeDocument/2006/relationships/image" Target="../media/image8.png" /></ns0:Relationships>
</file>

<file path=ppt/slides/_rels/slide40.xml.rels><?xml version='1.0' encoding='utf-8'?>
<ns0:Relationships xmlns:ns0="http://schemas.openxmlformats.org/package/2006/relationships"><ns0:Relationship Id="rId3" Type="http://schemas.openxmlformats.org/officeDocument/2006/relationships/image" Target="../media/image9.png" /><ns0:Relationship Id="rId1" Type="http://schemas.openxmlformats.org/officeDocument/2006/relationships/slideLayout" Target="../slideLayouts/slideLayout2.xml" /></ns0:Relationships>
</file>

<file path=ppt/slides/_rels/slide41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2.xml" /></ns0:Relationships>
</file>

<file path=ppt/slides/_rels/slide42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2.xml" /></ns0:Relationships>
</file>

<file path=ppt/slides/_rels/slide43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2.xml" /></ns0:Relationships>
</file>

<file path=ppt/slides/_rels/slide44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3.xml" /></ns0:Relationships>
</file>

<file path=ppt/slides/_rels/slide45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2.xml" /></ns0:Relationships>
</file>

<file path=ppt/slides/_rels/slide46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2.xml" /></ns0:Relationships>
</file>

<file path=ppt/slides/_rels/slide47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2.xml" /></ns0:Relationships>
</file>

<file path=ppt/slides/_rels/slide48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2.xml" /></ns0:Relationships>
</file>

<file path=ppt/slides/_rels/slide49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2.xml" /></ns0:Relationships>
</file>

<file path=ppt/slides/_rels/slide50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2.xml" /></ns0:Relationships>
</file>

<file path=ppt/slides/_rels/slide51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2.xml" /></ns0:Relationships>
</file>

<file path=ppt/slides/_rels/slide52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2.xml" /></ns0:Relationships>
</file>

<file path=ppt/slides/_rels/slide53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2.xml" /></ns0:Relationships>
</file>

<file path=ppt/slides/_rels/slide54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2.xml" /></ns0:Relationships>
</file>

<file path=ppt/slides/_rels/slide55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2.xml" /></ns0:Relationships>
</file>

<file path=ppt/slides/_rels/slide56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3.xml" /></ns0:Relationships>
</file>

<file path=ppt/slides/_rels/slide57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2.xml" /></ns0:Relationships>
</file>

<file path=ppt/slides/_rels/slide58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2.xml" /></ns0:Relationships>
</file>

<file path=ppt/slides/_rels/slide59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2.xml" /></ns0:Relationships>
</file>

<file path=ppt/slides/_rels/slide60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2.xml" /></ns0:Relationships>
</file>

<file path=ppt/slides/_rels/slide61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2.xml" /></ns0:Relationships>
</file>

<file path=ppt/slides/_rels/slide62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2.xml" /></ns0:Relationships>
</file>

<file path=ppt/slides/_rels/slide63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2.xml" /></ns0:Relationships>
</file>

<file path=ppt/slides/_rels/slide64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2.xml" /></ns0:Relationships>
</file>

<file path=ppt/slides/_rels/slide65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2.xml" /></ns0:Relationships>
</file>

<file path=ppt/slides/_rels/slide66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2.xml" /></ns0:Relationships>
</file>

<file path=ppt/slides/_rels/slide67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2.xml" /></ns0:Relationships>
</file>

<file path=ppt/slides/_rels/slide68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2.xml" /></ns0:Relationships>
</file>

<file path=ppt/slides/_rels/slide69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2.xml" /></ns0:Relationships>
</file>

<file path=ppt/slides/_rels/slide70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2.xml" /></ns0:Relationships>
</file>

<file path=ppt/slides/_rels/slide71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2.xml" /></ns0:Relationships>
</file>

<file path=ppt/slides/_rels/slide72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2.xml" /></ns0:Relationships>
</file>

<file path=ppt/slides/_rels/slide73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2.xml" /></ns0:Relationships>
</file>

<file path=ppt/slides/_rels/slide74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2.xml" /></ns0:Relationships>
</file>

<file path=ppt/slides/_rels/slide75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2.xml" /></ns0:Relationships>
</file>

<file path=ppt/slides/_rels/slide76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2.xml" /></ns0: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4">
            <a:extLst>
              <a:ext uri="{FF2B5EF4-FFF2-40B4-BE49-F238E27FC236}">
                <a16:creationId xmlns:a16="http://schemas.microsoft.com/office/drawing/2014/main" id="{3928FF50-86BD-6C7E-8D03-223A1F26EE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29000"/>
            <a:ext cx="10515600" cy="904875"/>
          </a:xfrm>
        </p:spPr>
        <p:txBody>
          <a:bodyPr/>
          <a:lstStyle/>
          <a:p>
            <a:r>
              <a:rPr sz="4400" b="0">
                <a:latin typeface="Calibri"/>
                <a:ea typeface="Calibri"/>
                <a:cs typeface="Calibri"/>
              </a:rPr>
              <a:t>Session 2 - Queries Across Rows and Tables</a:t>
            </a:r>
          </a:p>
        </p:txBody>
      </p:sp>
      <p:sp>
        <p:nvSpPr>
          <p:cNvPr id="3" name="body-0">
            <a:extLst>
              <a:ext uri="{FF2B5EF4-FFF2-40B4-BE49-F238E27FC236}">
                <a16:creationId xmlns:a16="http://schemas.microsoft.com/office/drawing/2014/main" id="{37A921B3-FBBE-426E-BCAD-01C4AADDDAD9}"/>
              </a:ext>
            </a:extLst>
          </p:cNvPr>
          <p:cNvSpPr>
            <a:spLocks noGrp="1"/>
          </p:cNvSpPr>
          <p:nvPr/>
        </p:nvSpPr>
        <p:spPr>
          <a:xfrm>
            <a:off x="933450" y="4495800"/>
            <a:ext cx="10287000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225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25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Grouping, joins, subqueries and an integrated report</a:t>
            </a:r>
          </a:p>
        </p:txBody>
      </p:sp>
      <p:sp>
        <p:nvSpPr>
          <p:cNvPr id="4" name="Slide Number Placeholder 1">
            <a:extLst>
              <a:ext uri="{FF2B5EF4-FFF2-40B4-BE49-F238E27FC236}">
                <a16:creationId xmlns:a16="http://schemas.microsoft.com/office/drawing/2014/main" id="{DA3ED195-33C4-4EA7-B4C6-C29088440C9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4845E83-0E96-4FC2-A2F8-C06E687B247B}" type="slidenum">
              <a:rPr/>
              <a:t>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079121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4">
            <a:extLst>
              <a:ext uri="{FF2B5EF4-FFF2-40B4-BE49-F238E27FC236}">
                <a16:creationId xmlns:a16="http://schemas.microsoft.com/office/drawing/2014/main" id="{3928FF50-86BD-6C7E-8D03-223A1F26EE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2"/>
            <a:ext cx="10515600" cy="904875"/>
          </a:xfrm>
        </p:spPr>
        <p:txBody>
          <a:bodyPr/>
          <a:lstStyle/>
          <a:p>
            <a:r>
              <a:rPr sz="4400" b="0">
                <a:latin typeface="Calibri"/>
                <a:ea typeface="Calibri"/>
                <a:cs typeface="Calibri"/>
              </a:rPr>
              <a:t>Session 2 Route</a:t>
            </a:r>
          </a:p>
        </p:txBody>
      </p:sp>
      <p:graphicFrame>
        <p:nvGraphicFramePr>
          <p:cNvPr id="8" name="表格 2"/>
          <p:cNvGraphicFramePr/>
          <p:nvPr/>
        </p:nvGraphicFramePr>
        <p:xfrm>
          <a:off x="933450" y="1457325"/>
          <a:ext cx="10287000" cy="2308860"/>
        </p:xfrm>
        <a:graphic>
          <a:graphicData uri="http://schemas.openxmlformats.org/drawingml/2006/table">
            <a:tbl>
              <a:tblPr/>
              <a:tblGrid>
                <a:gridCol w="29232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637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177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Stage</a:t>
                      </a: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Question</a:t>
                      </a: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177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Aggregate / GROUP BY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What is one output row: an item, a group or a total?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177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JOIN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Which rows match, and which unmatched rows should stay?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177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Subquery / EXISTS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Is the requirement any, none or every?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177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Integrated query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Can joins multiply rows and distort counts?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body-1">
            <a:extLst>
              <a:ext uri="{FF2B5EF4-FFF2-40B4-BE49-F238E27FC236}">
                <a16:creationId xmlns:a16="http://schemas.microsoft.com/office/drawing/2014/main" id="{4CE8817B-7CCE-43F7-AF0E-AA498E8E75AF}"/>
              </a:ext>
            </a:extLst>
          </p:cNvPr>
          <p:cNvSpPr>
            <a:spLocks noGrp="1"/>
          </p:cNvSpPr>
          <p:nvPr/>
        </p:nvSpPr>
        <p:spPr>
          <a:xfrm>
            <a:off x="933450" y="3975735"/>
            <a:ext cx="10287000" cy="35433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1950">
                <a:solidFill>
                  <a:srgbClr val="525308"/>
                </a:solidFill>
                <a:latin typeface="Calibri"/>
                <a:ea typeface="Calibri"/>
                <a:cs typeface="Calibri"/>
              </a:defRPr>
            </a:pPr>
            <a:r>
              <a:rPr sz="1950">
                <a:solidFill>
                  <a:srgbClr val="525308"/>
                </a:solidFill>
                <a:latin typeface="Calibri"/>
                <a:ea typeface="Calibri"/>
                <a:cs typeface="Calibri"/>
              </a:rPr>
              <a:t>Core practice is followed by optional challenges from the original deck.</a:t>
            </a:r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DA3ED195-33C4-4EA7-B4C6-C29088440C9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4845E83-0E96-4FC2-A2F8-C06E687B247B}" type="slidenum">
              <a:rPr/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079121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3928FF50-86BD-6C7E-8D03-223A1F26EE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715816"/>
            <a:ext cx="10515600" cy="1846659"/>
          </a:xfrm>
        </p:spPr>
        <p:txBody>
          <a:bodyPr/>
          <a:lstStyle/>
          <a:p>
            <a:r>
              <a:rPr>
                <a:latin typeface="Calibri"/>
                <a:ea typeface="Calibri"/>
                <a:cs typeface="Calibri"/>
              </a:rPr>
              <a:t>9 - Basic SQL Statement Cont.</a:t>
            </a:r>
            <a:br>
              <a:rPr>
                <a:latin typeface="Calibri"/>
                <a:ea typeface="Calibri"/>
                <a:cs typeface="Calibri"/>
              </a:rPr>
            </a:br>
            <a:endParaRPr>
              <a:latin typeface="Calibri"/>
              <a:ea typeface="Calibri"/>
              <a:cs typeface="Calibri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A3ED195-33C4-4EA7-B4C6-C29088440C9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4845E83-0E96-4FC2-A2F8-C06E687B247B}" type="slidenum">
              <a:rPr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450183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9BC473A-2DE3-373F-2A77-1B5982B02D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SELECT - Aggregate Functions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BB2A8D-B24A-F893-0E32-B5BA878145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anchor="t">
            <a:normAutofit lnSpcReduction="10000"/>
          </a:bodyPr>
          <a:lstStyle/>
          <a:p>
            <a:r>
              <a:rPr sz="2400" dirty="0"/>
              <a:t>MIN() - returns smallest value within the selected column</a:t>
            </a:r>
          </a:p>
          <a:p>
            <a:r>
              <a:rPr sz="2400" dirty="0"/>
              <a:t>MAX() - returns largest value within the selected column</a:t>
            </a:r>
          </a:p>
          <a:p>
            <a:r>
              <a:rPr sz="2400" dirty="0"/>
              <a:t>SUM() - returns sum of all values in a numerical column</a:t>
            </a:r>
          </a:p>
          <a:p>
            <a:r>
              <a:rPr sz="2400" dirty="0"/>
              <a:t>AVG() - returns average of all (unique) values in a numerical column</a:t>
            </a:r>
            <a:endParaRPr lang="en-US" sz="2400" dirty="0"/>
          </a:p>
          <a:p>
            <a:r>
              <a:rPr lang="en-US" altLang="zh-CN" sz="2400" dirty="0"/>
              <a:t>COUNT() - returns number of value in a column</a:t>
            </a:r>
          </a:p>
          <a:p>
            <a:pPr marL="457200" lvl="1" indent="0">
              <a:buNone/>
            </a:pPr>
            <a:r>
              <a:rPr lang="en-US" altLang="zh-CN" sz="2000" dirty="0"/>
              <a:t>COUNT(*) counts rows. </a:t>
            </a:r>
          </a:p>
          <a:p>
            <a:pPr marL="457200" lvl="1" indent="0">
              <a:buNone/>
            </a:pPr>
            <a:r>
              <a:rPr lang="en-US" altLang="zh-CN" sz="2000" dirty="0"/>
              <a:t>COUNT(column) counts only rows where that column is not NULL. </a:t>
            </a:r>
          </a:p>
          <a:p>
            <a:pPr marL="457200" lvl="1" indent="0">
              <a:buNone/>
            </a:pPr>
            <a:r>
              <a:rPr lang="en-US" altLang="zh-CN" sz="2000" dirty="0"/>
              <a:t>COUNT(DISTINCT column) counts distinct non-NULL values.</a:t>
            </a:r>
          </a:p>
          <a:p>
            <a:pPr marL="0" indent="0">
              <a:buNone/>
            </a:pPr>
            <a:endParaRPr sz="2400" dirty="0"/>
          </a:p>
          <a:p>
            <a:r>
              <a:rPr sz="2400" b="1" dirty="0">
                <a:solidFill>
                  <a:srgbClr val="FF0000"/>
                </a:solidFill>
              </a:rPr>
              <a:t>NOTE: </a:t>
            </a:r>
            <a:endParaRPr lang="en-US" sz="2400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sz="2400" dirty="0">
                <a:solidFill>
                  <a:srgbClr val="FF0000"/>
                </a:solidFill>
              </a:rPr>
              <a:t>Aggregate functions ignore null values (except for COUNT(</a:t>
            </a:r>
            <a:r>
              <a:rPr lang="en-US" sz="2400" dirty="0">
                <a:solidFill>
                  <a:srgbClr val="FF0000"/>
                </a:solidFill>
              </a:rPr>
              <a:t>*</a:t>
            </a:r>
            <a:r>
              <a:rPr sz="2400" dirty="0">
                <a:solidFill>
                  <a:srgbClr val="FF0000"/>
                </a:solidFill>
              </a:rPr>
              <a:t>)).</a:t>
            </a:r>
            <a:endParaRPr lang="en-US" sz="2400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sz="2400" dirty="0">
                <a:solidFill>
                  <a:srgbClr val="FF0000"/>
                </a:solidFill>
              </a:rPr>
              <a:t>DSITINCT </a:t>
            </a:r>
            <a:r>
              <a:rPr lang="en-US" altLang="zh-CN" sz="2400" dirty="0">
                <a:solidFill>
                  <a:srgbClr val="FF0000"/>
                </a:solidFill>
              </a:rPr>
              <a:t>means unique,</a:t>
            </a:r>
            <a:r>
              <a:rPr lang="zh-CN" altLang="en-US" sz="2400" dirty="0">
                <a:solidFill>
                  <a:srgbClr val="FF0000"/>
                </a:solidFill>
              </a:rPr>
              <a:t> </a:t>
            </a:r>
            <a:r>
              <a:rPr lang="en-US" altLang="zh-CN" sz="2400" dirty="0">
                <a:solidFill>
                  <a:srgbClr val="FF0000"/>
                </a:solidFill>
              </a:rPr>
              <a:t>it</a:t>
            </a:r>
            <a:r>
              <a:rPr lang="zh-CN" altLang="en-US" sz="2400" dirty="0">
                <a:solidFill>
                  <a:srgbClr val="FF0000"/>
                </a:solidFill>
              </a:rPr>
              <a:t> </a:t>
            </a:r>
            <a:r>
              <a:rPr lang="en-US" sz="2400" dirty="0">
                <a:solidFill>
                  <a:srgbClr val="FF0000"/>
                </a:solidFill>
              </a:rPr>
              <a:t>remove all repeated values at first.  </a:t>
            </a:r>
            <a:endParaRPr sz="2400" dirty="0"/>
          </a:p>
          <a:p>
            <a:endParaRPr sz="2400" dirty="0"/>
          </a:p>
          <a:p>
            <a:endParaRPr sz="24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7B403B5-2CF7-D17E-CC01-B2242A81A9C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4DC27CF-623A-486E-94B6-994B2881FD60}" type="slidenum">
              <a:rPr/>
              <a:t>4</a:t>
            </a:fld>
            <a:endParaRPr/>
          </a:p>
        </p:txBody>
      </p:sp>
      <p:graphicFrame>
        <p:nvGraphicFramePr>
          <p:cNvPr id="12" name="表格 5"/>
          <p:cNvGraphicFramePr/>
          <p:nvPr>
            <p:extLst>
              <p:ext uri="{D42A27DB-BD31-4B8C-83A1-F6EECF244321}">
                <p14:modId xmlns:p14="http://schemas.microsoft.com/office/powerpoint/2010/main" val="1920415959"/>
              </p:ext>
            </p:extLst>
          </p:nvPr>
        </p:nvGraphicFramePr>
        <p:xfrm>
          <a:off x="9167907" y="3951923"/>
          <a:ext cx="1244600" cy="2225040"/>
        </p:xfrm>
        <a:graphic>
          <a:graphicData uri="http://schemas.openxmlformats.org/drawingml/2006/table">
            <a:tbl>
              <a:tblPr firstRow="1">
                <a:tableStyleId>{B301B821-A1FF-4177-AEE7-76D212191A09}</a:tableStyleId>
              </a:tblPr>
              <a:tblGrid>
                <a:gridCol w="1244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dirty="0"/>
                        <a:t>year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4" name="表格 5"/>
          <p:cNvGraphicFramePr/>
          <p:nvPr>
            <p:extLst>
              <p:ext uri="{D42A27DB-BD31-4B8C-83A1-F6EECF244321}">
                <p14:modId xmlns:p14="http://schemas.microsoft.com/office/powerpoint/2010/main" val="2644267319"/>
              </p:ext>
            </p:extLst>
          </p:nvPr>
        </p:nvGraphicFramePr>
        <p:xfrm>
          <a:off x="10642600" y="5435283"/>
          <a:ext cx="1244600" cy="741680"/>
        </p:xfrm>
        <a:graphic>
          <a:graphicData uri="http://schemas.openxmlformats.org/drawingml/2006/table">
            <a:tbl>
              <a:tblPr firstRow="1">
                <a:tableStyleId>{B301B821-A1FF-4177-AEE7-76D212191A09}</a:tableStyleId>
              </a:tblPr>
              <a:tblGrid>
                <a:gridCol w="1244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COUNT(*)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箭头: 直角上 4">
            <a:extLst>
              <a:ext uri="{FF2B5EF4-FFF2-40B4-BE49-F238E27FC236}">
                <a16:creationId xmlns:a16="http://schemas.microsoft.com/office/drawing/2014/main" id="{E6807A1A-ACEA-90A4-24DE-0918D0063EB6}"/>
              </a:ext>
            </a:extLst>
          </p:cNvPr>
          <p:cNvSpPr/>
          <p:nvPr/>
        </p:nvSpPr>
        <p:spPr>
          <a:xfrm flipV="1">
            <a:off x="10529048" y="4624029"/>
            <a:ext cx="833717" cy="741680"/>
          </a:xfrm>
          <a:prstGeom prst="bent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87433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95;p39">
            <a:extLst>
              <a:ext uri="{FF2B5EF4-FFF2-40B4-BE49-F238E27FC236}">
                <a16:creationId xmlns:a16="http://schemas.microsoft.com/office/drawing/2014/main" id="{04723EEC-D99B-4ABA-BAAE-FCC6548E2F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2"/>
            <a:ext cx="10515600" cy="904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/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sz="4400" b="0">
                <a:latin typeface="Calibri"/>
                <a:ea typeface="Calibri"/>
                <a:cs typeface="Calibri"/>
              </a:rPr>
              <a:t>Student Data for the Next Examples</a:t>
            </a:r>
          </a:p>
        </p:txBody>
      </p:sp>
      <p:sp>
        <p:nvSpPr>
          <p:cNvPr id="3" name="body-0">
            <a:extLst>
              <a:ext uri="{FF2B5EF4-FFF2-40B4-BE49-F238E27FC236}">
                <a16:creationId xmlns:a16="http://schemas.microsoft.com/office/drawing/2014/main" id="{C30DA6F5-D2BD-4984-B614-B66B33EBC458}"/>
              </a:ext>
            </a:extLst>
          </p:cNvPr>
          <p:cNvSpPr>
            <a:spLocks noGrp="1"/>
          </p:cNvSpPr>
          <p:nvPr/>
        </p:nvSpPr>
        <p:spPr>
          <a:xfrm>
            <a:off x="933450" y="1457325"/>
            <a:ext cx="10287000" cy="37719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21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The setup also contains programme and graduate_list (student_id = 1116).</a:t>
            </a:r>
          </a:p>
        </p:txBody>
      </p:sp>
      <p:graphicFrame>
        <p:nvGraphicFramePr>
          <p:cNvPr id="10" name="表格 3"/>
          <p:cNvGraphicFramePr/>
          <p:nvPr/>
        </p:nvGraphicFramePr>
        <p:xfrm>
          <a:off x="933450" y="2025015"/>
          <a:ext cx="10287000" cy="3232404"/>
        </p:xfrm>
        <a:graphic>
          <a:graphicData uri="http://schemas.openxmlformats.org/drawingml/2006/table">
            <a:tbl>
              <a:tblPr/>
              <a:tblGrid>
                <a:gridCol w="29912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91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007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5580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6177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student_id</a:t>
                      </a: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name</a:t>
                      </a: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year</a:t>
                      </a: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prog_code</a:t>
                      </a: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177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1111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Chan Ada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CS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177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1112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Ben Lee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DS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177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1113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Chan Cara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CS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177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1114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Dev Wu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EE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177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1115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Eli Lin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NULL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177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1116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Fay Ho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DS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body-2">
            <a:extLst>
              <a:ext uri="{FF2B5EF4-FFF2-40B4-BE49-F238E27FC236}">
                <a16:creationId xmlns:a16="http://schemas.microsoft.com/office/drawing/2014/main" id="{33A028BA-1BEE-483D-9C21-F09E58F324F3}"/>
              </a:ext>
            </a:extLst>
          </p:cNvPr>
          <p:cNvSpPr>
            <a:spLocks noGrp="1"/>
          </p:cNvSpPr>
          <p:nvPr/>
        </p:nvSpPr>
        <p:spPr>
          <a:xfrm>
            <a:off x="933450" y="5466969"/>
            <a:ext cx="10287000" cy="35433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1950">
                <a:solidFill>
                  <a:srgbClr val="525308"/>
                </a:solidFill>
                <a:latin typeface="Calibri"/>
                <a:ea typeface="Calibri"/>
                <a:cs typeface="Calibri"/>
              </a:defRPr>
            </a:pPr>
            <a:r>
              <a:rPr sz="1950">
                <a:solidFill>
                  <a:srgbClr val="525308"/>
                </a:solidFill>
                <a:latin typeface="Calibri"/>
                <a:ea typeface="Calibri"/>
                <a:cs typeface="Calibri"/>
              </a:rPr>
              <a:t>Use lab_work.db. NULL denotes a missing value, not the literal text "NULL".</a:t>
            </a:r>
          </a:p>
        </p:txBody>
      </p:sp>
      <p:sp>
        <p:nvSpPr>
          <p:cNvPr id="6" name="Google Shape;296;p39">
            <a:extLst>
              <a:ext uri="{FF2B5EF4-FFF2-40B4-BE49-F238E27FC236}">
                <a16:creationId xmlns:a16="http://schemas.microsoft.com/office/drawing/2014/main" id="{BFD9C817-F250-4074-B462-7604711FF0A7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  <a:t>5</a:t>
            </a:fld>
            <a:endParaRPr/>
          </a:p>
        </p:txBody>
      </p:sp>
      <p:sp>
        <p:nvSpPr>
          <p:cNvPr id="4" name="文本框 6">
            <a:extLst>
              <a:ext uri="{FF2B5EF4-FFF2-40B4-BE49-F238E27FC236}">
                <a16:creationId xmlns:a16="http://schemas.microsoft.com/office/drawing/2014/main" id="{AE178BBA-2892-6471-8CC8-946CA618E983}"/>
              </a:ext>
            </a:extLst>
          </p:cNvPr>
          <p:cNvSpPr txBox="1"/>
          <p:nvPr/>
        </p:nvSpPr>
        <p:spPr>
          <a:xfrm>
            <a:off x="838200" y="5798145"/>
            <a:ext cx="368913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COUNT(*)                  -- 6</a:t>
            </a:r>
            <a:endParaRPr lang="en-US" altLang="zh-CN" dirty="0"/>
          </a:p>
          <a:p>
            <a:r>
              <a:rPr lang="zh-CN" altLang="en-US" dirty="0"/>
              <a:t>COUNT(prog_code)          -- 5</a:t>
            </a:r>
            <a:endParaRPr lang="en-US" altLang="zh-CN" dirty="0"/>
          </a:p>
          <a:p>
            <a:r>
              <a:rPr lang="zh-CN" altLang="en-US" dirty="0"/>
              <a:t>COUNT(DISTINCT prog_code) -- 3</a:t>
            </a:r>
          </a:p>
        </p:txBody>
      </p:sp>
    </p:spTree>
    <p:extLst>
      <p:ext uri="{BB962C8B-B14F-4D97-AF65-F5344CB8AC3E}">
        <p14:creationId xmlns:p14="http://schemas.microsoft.com/office/powerpoint/2010/main" val="18893337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9BC473A-2DE3-373F-2A77-1B5982B02D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SELECT - Aggregate Functions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BB2A8D-B24A-F893-0E32-B5BA878145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anchor="t">
            <a:normAutofit/>
          </a:bodyPr>
          <a:lstStyle/>
          <a:p>
            <a:r>
              <a:rPr sz="2400"/>
              <a:t>Count the number of rows</a:t>
            </a:r>
          </a:p>
          <a:p>
            <a:endParaRPr sz="2400"/>
          </a:p>
          <a:p>
            <a:endParaRPr sz="2400"/>
          </a:p>
          <a:p>
            <a:r>
              <a:rPr sz="2400"/>
              <a:t>Select aggregate value with other columns</a:t>
            </a:r>
          </a:p>
          <a:p>
            <a:endParaRPr sz="2400"/>
          </a:p>
          <a:p>
            <a:endParaRPr sz="240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7B403B5-2CF7-D17E-CC01-B2242A81A9C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4DC27CF-623A-486E-94B6-994B2881FD60}" type="slidenum">
              <a:rPr/>
              <a:t>6</a:t>
            </a:fld>
            <a:endParaRPr/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4A4CD44A-C548-8B67-CE07-4C90D1D4C904}"/>
              </a:ext>
            </a:extLst>
          </p:cNvPr>
          <p:cNvSpPr>
            <a:spLocks noGrp="1"/>
          </p:cNvSpPr>
          <p:nvPr/>
        </p:nvSpPr>
        <p:spPr>
          <a:xfrm>
            <a:off x="1242461" y="1898951"/>
            <a:ext cx="8244840" cy="418063"/>
          </a:xfrm>
          <a:prstGeom prst="rect">
            <a:avLst/>
          </a:prstGeom>
          <a:solidFill>
            <a:srgbClr val="EBF0DE"/>
          </a:solidFill>
          <a:ln w="38100">
            <a:solidFill>
              <a:srgbClr val="525308"/>
            </a:solidFill>
          </a:ln>
        </p:spPr>
        <p:txBody>
          <a:bodyPr vert="horz" wrap="square" lIns="0" tIns="48260" rIns="0" bIns="0">
            <a:spAutoFit/>
          </a:bodyPr>
          <a:lstStyle/>
          <a:p>
            <a:pPr marL="90170">
              <a:spcBef>
                <a:spcPts val="380"/>
              </a:spcBef>
              <a:buNone/>
            </a:pPr>
            <a:r>
              <a:rPr sz="2400">
                <a:solidFill>
                  <a:srgbClr val="525308"/>
                </a:solidFill>
                <a:latin typeface="+mn-lt"/>
                <a:ea typeface="+mn-lt"/>
                <a:cs typeface="+mn-lt"/>
              </a:rPr>
              <a:t>SELECT COUNT(*) FROM student;</a:t>
            </a:r>
          </a:p>
        </p:txBody>
      </p:sp>
      <p:sp>
        <p:nvSpPr>
          <p:cNvPr id="9" name="object 5">
            <a:extLst>
              <a:ext uri="{FF2B5EF4-FFF2-40B4-BE49-F238E27FC236}">
                <a16:creationId xmlns:a16="http://schemas.microsoft.com/office/drawing/2014/main" id="{5D120934-2793-5422-5F1A-95C09156E124}"/>
              </a:ext>
            </a:extLst>
          </p:cNvPr>
          <p:cNvSpPr>
            <a:spLocks noGrp="1"/>
          </p:cNvSpPr>
          <p:nvPr/>
        </p:nvSpPr>
        <p:spPr>
          <a:xfrm>
            <a:off x="1242461" y="3335065"/>
            <a:ext cx="8244840" cy="418063"/>
          </a:xfrm>
          <a:prstGeom prst="rect">
            <a:avLst/>
          </a:prstGeom>
          <a:solidFill>
            <a:srgbClr val="EBF0DE"/>
          </a:solidFill>
          <a:ln w="38100">
            <a:solidFill>
              <a:srgbClr val="525308"/>
            </a:solidFill>
          </a:ln>
        </p:spPr>
        <p:txBody>
          <a:bodyPr vert="horz" wrap="square" lIns="0" tIns="48260" rIns="0" bIns="0">
            <a:spAutoFit/>
          </a:bodyPr>
          <a:lstStyle/>
          <a:p>
            <a:pPr marL="90170">
              <a:spcBef>
                <a:spcPts val="380"/>
              </a:spcBef>
              <a:buNone/>
            </a:pPr>
            <a:r>
              <a:rPr sz="2400">
                <a:solidFill>
                  <a:srgbClr val="525308"/>
                </a:solidFill>
                <a:latin typeface="+mn-lt"/>
                <a:ea typeface="+mn-lt"/>
                <a:cs typeface="+mn-lt"/>
              </a:rPr>
              <a:t>SELECT year, COUNT(*) FROM student;</a:t>
            </a:r>
          </a:p>
        </p:txBody>
      </p:sp>
      <p:sp>
        <p:nvSpPr>
          <p:cNvPr id="10" name="乘 9">
            <a:extLst>
              <a:ext uri="{FF2B5EF4-FFF2-40B4-BE49-F238E27FC236}">
                <a16:creationId xmlns:a16="http://schemas.microsoft.com/office/drawing/2014/main" id="{C5253D5A-D616-0C7B-4B7C-38941F8FE4C4}"/>
              </a:ext>
            </a:extLst>
          </p:cNvPr>
          <p:cNvSpPr>
            <a:spLocks noGrp="1"/>
          </p:cNvSpPr>
          <p:nvPr/>
        </p:nvSpPr>
        <p:spPr>
          <a:xfrm>
            <a:off x="7643261" y="2953546"/>
            <a:ext cx="942975" cy="1181100"/>
          </a:xfrm>
          <a:prstGeom prst="mathMultiply">
            <a:avLst>
              <a:gd name="adj1" fmla="val 15078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957909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9BC473A-2DE3-373F-2A77-1B5982B02D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SELECT - GROUP BY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BB2A8D-B24A-F893-0E32-B5BA878145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82148"/>
            <a:ext cx="4446069" cy="4894815"/>
          </a:xfrm>
        </p:spPr>
        <p:txBody>
          <a:bodyPr vert="horz" lIns="91440" tIns="45720" rIns="91440" bIns="45720" anchor="t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sz="2400"/>
              <a:t>Select aggregate value with other columns</a:t>
            </a:r>
          </a:p>
          <a:p>
            <a:pPr>
              <a:lnSpc>
                <a:spcPct val="100000"/>
              </a:lnSpc>
              <a:buNone/>
            </a:pPr>
            <a:r>
              <a:rPr sz="2400"/>
              <a:t>Aggregate functions are often used with  GROUP BY clause of the SELECT statement. </a:t>
            </a:r>
          </a:p>
          <a:p>
            <a:pPr>
              <a:lnSpc>
                <a:spcPct val="100000"/>
              </a:lnSpc>
              <a:buNone/>
            </a:pPr>
            <a:r>
              <a:rPr sz="2400"/>
              <a:t>GROUP BY clause splits result-set into groups of values and the aggregate function can be used to return a single value for each group.</a:t>
            </a:r>
          </a:p>
          <a:p>
            <a:pPr>
              <a:lnSpc>
                <a:spcPct val="100000"/>
              </a:lnSpc>
              <a:buNone/>
            </a:pPr>
            <a:endParaRPr sz="2400"/>
          </a:p>
          <a:p>
            <a:pPr>
              <a:lnSpc>
                <a:spcPct val="100000"/>
              </a:lnSpc>
              <a:buNone/>
            </a:pPr>
            <a:endParaRPr sz="2400"/>
          </a:p>
        </p:txBody>
      </p:sp>
      <p:sp>
        <p:nvSpPr>
          <p:cNvPr id="9" name="object 5">
            <a:extLst>
              <a:ext uri="{FF2B5EF4-FFF2-40B4-BE49-F238E27FC236}">
                <a16:creationId xmlns:a16="http://schemas.microsoft.com/office/drawing/2014/main" id="{5D120934-2793-5422-5F1A-95C09156E124}"/>
              </a:ext>
            </a:extLst>
          </p:cNvPr>
          <p:cNvSpPr>
            <a:spLocks noGrp="1"/>
          </p:cNvSpPr>
          <p:nvPr/>
        </p:nvSpPr>
        <p:spPr>
          <a:xfrm>
            <a:off x="6275672" y="1562557"/>
            <a:ext cx="4693920" cy="1208023"/>
          </a:xfrm>
          <a:prstGeom prst="rect">
            <a:avLst/>
          </a:prstGeom>
          <a:solidFill>
            <a:srgbClr val="EBF0DE"/>
          </a:solidFill>
          <a:ln w="38100">
            <a:solidFill>
              <a:srgbClr val="525308"/>
            </a:solidFill>
          </a:ln>
        </p:spPr>
        <p:txBody>
          <a:bodyPr vert="horz" wrap="square" lIns="0" tIns="48260" rIns="0" bIns="0" anchor="t">
            <a:spAutoFit/>
          </a:bodyPr>
          <a:lstStyle/>
          <a:p>
            <a:pPr marL="90170">
              <a:spcBef>
                <a:spcPts val="380"/>
              </a:spcBef>
              <a:buNone/>
            </a:pPr>
            <a:r>
              <a:rPr sz="2400">
                <a:solidFill>
                  <a:srgbClr val="525308"/>
                </a:solidFill>
                <a:latin typeface="+mn-lt"/>
                <a:ea typeface="+mn-lt"/>
                <a:cs typeface="+mn-lt"/>
              </a:rPr>
              <a:t>SELECT year, COUNT(*) </a:t>
            </a:r>
            <a:br>
              <a:rPr sz="2400">
                <a:solidFill>
                  <a:srgbClr val="525308"/>
                </a:solidFill>
                <a:latin typeface="+mn-lt"/>
                <a:ea typeface="+mn-lt"/>
                <a:cs typeface="+mn-lt"/>
              </a:rPr>
            </a:br>
            <a:r>
              <a:rPr sz="2400">
                <a:solidFill>
                  <a:srgbClr val="525308"/>
                </a:solidFill>
                <a:latin typeface="+mn-lt"/>
                <a:ea typeface="+mn-lt"/>
                <a:cs typeface="+mn-lt"/>
              </a:rPr>
              <a:t>FROM student </a:t>
            </a:r>
            <a:endParaRPr>
              <a:solidFill>
                <a:srgbClr val="000000"/>
              </a:solidFill>
            </a:endParaRPr>
          </a:p>
          <a:p>
            <a:pPr marL="90170">
              <a:spcBef>
                <a:spcPts val="380"/>
              </a:spcBef>
              <a:buNone/>
            </a:pPr>
            <a:r>
              <a:rPr sz="2400" b="1">
                <a:solidFill>
                  <a:srgbClr val="FF0000"/>
                </a:solidFill>
                <a:latin typeface="+mn-lt"/>
                <a:ea typeface="+mn-lt"/>
                <a:cs typeface="+mn-lt"/>
              </a:rPr>
              <a:t>GROUP BY </a:t>
            </a:r>
            <a:r>
              <a:rPr sz="2400">
                <a:solidFill>
                  <a:srgbClr val="525308"/>
                </a:solidFill>
                <a:latin typeface="+mn-lt"/>
                <a:ea typeface="+mn-lt"/>
                <a:cs typeface="+mn-lt"/>
              </a:rPr>
              <a:t>year;</a:t>
            </a:r>
            <a:endParaRPr/>
          </a:p>
        </p:txBody>
      </p:sp>
      <p:sp>
        <p:nvSpPr>
          <p:cNvPr id="6" name="右箭头 5">
            <a:extLst>
              <a:ext uri="{FF2B5EF4-FFF2-40B4-BE49-F238E27FC236}">
                <a16:creationId xmlns:a16="http://schemas.microsoft.com/office/drawing/2014/main" id="{5F5E9D29-6D0D-263D-E6FA-C802D8E79483}"/>
              </a:ext>
            </a:extLst>
          </p:cNvPr>
          <p:cNvSpPr>
            <a:spLocks noGrp="1"/>
          </p:cNvSpPr>
          <p:nvPr/>
        </p:nvSpPr>
        <p:spPr>
          <a:xfrm>
            <a:off x="7696200" y="4185720"/>
            <a:ext cx="1066800" cy="457200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graphicFrame>
        <p:nvGraphicFramePr>
          <p:cNvPr id="17" name="表格 5"/>
          <p:cNvGraphicFramePr/>
          <p:nvPr/>
        </p:nvGraphicFramePr>
        <p:xfrm>
          <a:off x="8998860" y="3687928"/>
          <a:ext cx="2038170" cy="1854200"/>
        </p:xfrm>
        <a:graphic>
          <a:graphicData uri="http://schemas.openxmlformats.org/drawingml/2006/table">
            <a:tbl>
              <a:tblPr firstRow="1">
                <a:tableStyleId>{B301B821-A1FF-4177-AEE7-76D212191A09}</a:tableStyleId>
              </a:tblPr>
              <a:tblGrid>
                <a:gridCol w="7710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71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COUNT(*)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E2CD527F-76C0-41AC-AD3E-D53BF40889EE}"/>
              </a:ext>
            </a:extLst>
          </p:cNvPr>
          <p:cNvSpPr>
            <a:spLocks noGrp="1"/>
          </p:cNvSpPr>
          <p:nvPr/>
        </p:nvSpPr>
        <p:spPr>
          <a:xfrm>
            <a:off x="243840" y="6249675"/>
            <a:ext cx="1030544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FF0000"/>
                </a:solidFill>
                <a:latin typeface="Comic Sans MS"/>
                <a:ea typeface="Comic Sans MS"/>
                <a:cs typeface="Comic Sans MS"/>
              </a:rPr>
              <a:t>M: Think backwards, what might the student relation looked like before projection?</a:t>
            </a:r>
          </a:p>
        </p:txBody>
      </p:sp>
      <p:graphicFrame>
        <p:nvGraphicFramePr>
          <p:cNvPr id="20" name="表格 5"/>
          <p:cNvGraphicFramePr/>
          <p:nvPr/>
        </p:nvGraphicFramePr>
        <p:xfrm>
          <a:off x="6215740" y="3366196"/>
          <a:ext cx="1244600" cy="2595880"/>
        </p:xfrm>
        <a:graphic>
          <a:graphicData uri="http://schemas.openxmlformats.org/drawingml/2006/table">
            <a:tbl>
              <a:tblPr firstRow="1">
                <a:tableStyleId>{B301B821-A1FF-4177-AEE7-76D212191A09}</a:tableStyleId>
              </a:tblPr>
              <a:tblGrid>
                <a:gridCol w="1244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year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995967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9BC473A-2DE3-373F-2A77-1B5982B02D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SELECT - GROUP BY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BB2A8D-B24A-F893-0E32-B5BA878145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7800"/>
            <a:ext cx="5591476" cy="4729163"/>
          </a:xfrm>
        </p:spPr>
        <p:txBody>
          <a:bodyPr/>
          <a:lstStyle/>
          <a:p>
            <a:r>
              <a:rPr b="1"/>
              <a:t>Having</a:t>
            </a:r>
            <a:r>
              <a:t> and </a:t>
            </a:r>
            <a:r>
              <a:rPr b="1"/>
              <a:t>Where</a:t>
            </a:r>
            <a:r>
              <a:t> both function to express constraints on the records present in the final result set.</a:t>
            </a:r>
          </a:p>
          <a:p>
            <a:pPr lvl="1">
              <a:buNone/>
            </a:pPr>
            <a:r>
              <a:t>They are different HOW?</a:t>
            </a:r>
          </a:p>
          <a:p>
            <a:pPr lvl="1">
              <a:buNone/>
            </a:pPr>
            <a:r>
              <a:t>Key: </a:t>
            </a:r>
            <a:r>
              <a:rPr b="1">
                <a:solidFill>
                  <a:srgbClr val="FF0000"/>
                </a:solidFill>
                <a:highlight>
                  <a:srgbClr val="FFFF00"/>
                </a:highlight>
              </a:rPr>
              <a:t>operational semantics!</a:t>
            </a:r>
          </a:p>
          <a:p>
            <a:endParaRPr/>
          </a:p>
          <a:p>
            <a:endParaRPr/>
          </a:p>
          <a:p>
            <a:endParaRPr/>
          </a:p>
          <a:p>
            <a:pPr marL="0" indent="0">
              <a:buNone/>
            </a:pPr>
            <a:endParaRPr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7B403B5-2CF7-D17E-CC01-B2242A81A9C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4DC27CF-623A-486E-94B6-994B2881FD60}" type="slidenum">
              <a:rPr/>
              <a:t>8</a:t>
            </a:fld>
            <a:endParaRPr/>
          </a:p>
        </p:txBody>
      </p:sp>
      <p:graphicFrame>
        <p:nvGraphicFramePr>
          <p:cNvPr id="20" name="表格 5"/>
          <p:cNvGraphicFramePr/>
          <p:nvPr/>
        </p:nvGraphicFramePr>
        <p:xfrm>
          <a:off x="7093811" y="3369925"/>
          <a:ext cx="1244600" cy="2595880"/>
        </p:xfrm>
        <a:graphic>
          <a:graphicData uri="http://schemas.openxmlformats.org/drawingml/2006/table">
            <a:tbl>
              <a:tblPr firstRow="1">
                <a:tableStyleId>{B301B821-A1FF-4177-AEE7-76D212191A09}</a:tableStyleId>
              </a:tblPr>
              <a:tblGrid>
                <a:gridCol w="1244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year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" name="object 5">
            <a:extLst>
              <a:ext uri="{FF2B5EF4-FFF2-40B4-BE49-F238E27FC236}">
                <a16:creationId xmlns:a16="http://schemas.microsoft.com/office/drawing/2014/main" id="{0B3DE686-5DB9-48A7-8124-381AFAB289E2}"/>
              </a:ext>
            </a:extLst>
          </p:cNvPr>
          <p:cNvSpPr>
            <a:spLocks noGrp="1"/>
          </p:cNvSpPr>
          <p:nvPr/>
        </p:nvSpPr>
        <p:spPr>
          <a:xfrm>
            <a:off x="6632608" y="930102"/>
            <a:ext cx="4965834" cy="2049279"/>
          </a:xfrm>
          <a:prstGeom prst="rect">
            <a:avLst/>
          </a:prstGeom>
          <a:solidFill>
            <a:srgbClr val="EBF0DE"/>
          </a:solidFill>
          <a:ln w="38100">
            <a:solidFill>
              <a:srgbClr val="525308"/>
            </a:solidFill>
          </a:ln>
        </p:spPr>
        <p:txBody>
          <a:bodyPr vert="horz" wrap="square" lIns="0" tIns="48260" rIns="0" bIns="0">
            <a:spAutoFit/>
          </a:bodyPr>
          <a:lstStyle/>
          <a:p>
            <a:pPr marL="90170">
              <a:spcBef>
                <a:spcPts val="380"/>
              </a:spcBef>
              <a:buNone/>
            </a:pPr>
            <a:r>
              <a:rPr sz="2400" dirty="0">
                <a:solidFill>
                  <a:srgbClr val="525308"/>
                </a:solidFill>
                <a:latin typeface="+mn-lt"/>
                <a:ea typeface="+mn-lt"/>
                <a:cs typeface="+mn-lt"/>
              </a:rPr>
              <a:t>SELECT year, COUNT(*) </a:t>
            </a:r>
            <a:br>
              <a:rPr sz="2400" dirty="0">
                <a:solidFill>
                  <a:srgbClr val="525308"/>
                </a:solidFill>
                <a:latin typeface="+mn-lt"/>
                <a:ea typeface="+mn-lt"/>
                <a:cs typeface="+mn-lt"/>
              </a:rPr>
            </a:br>
            <a:r>
              <a:rPr sz="2400" dirty="0">
                <a:solidFill>
                  <a:srgbClr val="525308"/>
                </a:solidFill>
                <a:latin typeface="+mn-lt"/>
                <a:ea typeface="+mn-lt"/>
                <a:cs typeface="+mn-lt"/>
              </a:rPr>
              <a:t>FROM student</a:t>
            </a:r>
          </a:p>
          <a:p>
            <a:pPr marL="90170">
              <a:spcBef>
                <a:spcPts val="380"/>
              </a:spcBef>
              <a:buNone/>
            </a:pPr>
            <a:r>
              <a:rPr sz="2400" b="1" dirty="0">
                <a:solidFill>
                  <a:srgbClr val="FF0000"/>
                </a:solidFill>
                <a:latin typeface="+mn-lt"/>
                <a:ea typeface="+mn-lt"/>
                <a:cs typeface="+mn-lt"/>
              </a:rPr>
              <a:t>WHERE</a:t>
            </a:r>
            <a:r>
              <a:rPr sz="2400" dirty="0">
                <a:solidFill>
                  <a:srgbClr val="525308"/>
                </a:solidFill>
                <a:latin typeface="+mn-lt"/>
                <a:ea typeface="+mn-lt"/>
                <a:cs typeface="+mn-lt"/>
              </a:rPr>
              <a:t> year &lt; 4</a:t>
            </a:r>
          </a:p>
          <a:p>
            <a:pPr marL="90170">
              <a:spcBef>
                <a:spcPts val="380"/>
              </a:spcBef>
              <a:buNone/>
            </a:pPr>
            <a:r>
              <a:rPr sz="2400" b="1" dirty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GROUP BY </a:t>
            </a:r>
            <a:r>
              <a:rPr sz="2400" dirty="0">
                <a:solidFill>
                  <a:srgbClr val="525308"/>
                </a:solidFill>
                <a:latin typeface="+mn-lt"/>
                <a:ea typeface="+mn-lt"/>
                <a:cs typeface="+mn-lt"/>
              </a:rPr>
              <a:t>year</a:t>
            </a:r>
          </a:p>
          <a:p>
            <a:pPr marL="90170">
              <a:spcBef>
                <a:spcPts val="380"/>
              </a:spcBef>
              <a:buNone/>
            </a:pPr>
            <a:r>
              <a:rPr sz="2400" b="1" dirty="0">
                <a:solidFill>
                  <a:srgbClr val="FF0000"/>
                </a:solidFill>
                <a:latin typeface="+mn-lt"/>
                <a:ea typeface="+mn-lt"/>
                <a:cs typeface="+mn-lt"/>
              </a:rPr>
              <a:t>HAVING</a:t>
            </a:r>
            <a:r>
              <a:rPr sz="2400" dirty="0">
                <a:solidFill>
                  <a:srgbClr val="525308"/>
                </a:solidFill>
                <a:latin typeface="+mn-lt"/>
                <a:ea typeface="+mn-lt"/>
                <a:cs typeface="+mn-lt"/>
              </a:rPr>
              <a:t> COUNT(*) &gt; 1;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337C433-76DB-4007-BA69-93710A5143C4}"/>
              </a:ext>
            </a:extLst>
          </p:cNvPr>
          <p:cNvSpPr>
            <a:spLocks noGrp="1"/>
          </p:cNvSpPr>
          <p:nvPr/>
        </p:nvSpPr>
        <p:spPr>
          <a:xfrm>
            <a:off x="243841" y="6249675"/>
            <a:ext cx="917929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FF0000"/>
                </a:solidFill>
                <a:latin typeface="Comic Sans MS"/>
                <a:ea typeface="Comic Sans MS"/>
                <a:cs typeface="Comic Sans MS"/>
              </a:rPr>
              <a:t>M: Can you achieve a SQL HAVING just by using WHERE? Or vice versa?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DCC3214-9AB1-45C6-8B2E-F65FC2075D11}"/>
              </a:ext>
            </a:extLst>
          </p:cNvPr>
          <p:cNvSpPr>
            <a:spLocks noGrp="1"/>
          </p:cNvSpPr>
          <p:nvPr/>
        </p:nvSpPr>
        <p:spPr>
          <a:xfrm>
            <a:off x="5534386" y="5669185"/>
            <a:ext cx="21817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525308"/>
                </a:solidFill>
                <a:latin typeface="+mn-lt"/>
                <a:ea typeface="+mn-lt"/>
                <a:cs typeface="+mn-lt"/>
              </a:rPr>
              <a:t>π</a:t>
            </a:r>
            <a:r>
              <a:rPr sz="1200">
                <a:solidFill>
                  <a:srgbClr val="525308"/>
                </a:solidFill>
              </a:rPr>
              <a:t>year</a:t>
            </a:r>
            <a:r>
              <a:rPr sz="1800">
                <a:solidFill>
                  <a:srgbClr val="525308"/>
                </a:solidFill>
                <a:latin typeface="+mn-lt"/>
                <a:ea typeface="+mn-lt"/>
                <a:cs typeface="+mn-lt"/>
              </a:rPr>
              <a:t>(Student)</a:t>
            </a:r>
            <a:endParaRPr/>
          </a:p>
        </p:txBody>
      </p:sp>
      <p:sp>
        <p:nvSpPr>
          <p:cNvPr id="15" name="右箭头 5">
            <a:extLst>
              <a:ext uri="{FF2B5EF4-FFF2-40B4-BE49-F238E27FC236}">
                <a16:creationId xmlns:a16="http://schemas.microsoft.com/office/drawing/2014/main" id="{54CD4E17-F491-462F-A877-0B0EDA9392A3}"/>
              </a:ext>
            </a:extLst>
          </p:cNvPr>
          <p:cNvSpPr>
            <a:spLocks noGrp="1"/>
          </p:cNvSpPr>
          <p:nvPr/>
        </p:nvSpPr>
        <p:spPr>
          <a:xfrm>
            <a:off x="8610600" y="4321057"/>
            <a:ext cx="1066800" cy="457200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265650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9BC473A-2DE3-373F-2A77-1B5982B02D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GROUP BY </a:t>
            </a:r>
            <a:r>
              <a:rPr>
                <a:solidFill>
                  <a:srgbClr val="FF0000"/>
                </a:solidFill>
                <a:highlight>
                  <a:srgbClr val="FFFF00"/>
                </a:highlight>
              </a:rPr>
              <a:t>operational semantics!</a:t>
            </a:r>
            <a:endParaRPr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7B403B5-2CF7-D17E-CC01-B2242A81A9C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048689" y="6492875"/>
            <a:ext cx="2743200" cy="365125"/>
          </a:xfrm>
        </p:spPr>
        <p:txBody>
          <a:bodyPr/>
          <a:lstStyle/>
          <a:p>
            <a:fld id="{A4DC27CF-623A-486E-94B6-994B2881FD60}" type="slidenum">
              <a:rPr/>
              <a:t>9</a:t>
            </a:fld>
            <a:endParaRPr/>
          </a:p>
        </p:txBody>
      </p:sp>
      <p:graphicFrame>
        <p:nvGraphicFramePr>
          <p:cNvPr id="23" name="表格 5"/>
          <p:cNvGraphicFramePr/>
          <p:nvPr/>
        </p:nvGraphicFramePr>
        <p:xfrm>
          <a:off x="5870485" y="1819451"/>
          <a:ext cx="1244600" cy="2595880"/>
        </p:xfrm>
        <a:graphic>
          <a:graphicData uri="http://schemas.openxmlformats.org/drawingml/2006/table">
            <a:tbl>
              <a:tblPr firstRow="1">
                <a:tableStyleId>{B301B821-A1FF-4177-AEE7-76D212191A09}</a:tableStyleId>
              </a:tblPr>
              <a:tblGrid>
                <a:gridCol w="1244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year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右箭头 5">
            <a:extLst>
              <a:ext uri="{FF2B5EF4-FFF2-40B4-BE49-F238E27FC236}">
                <a16:creationId xmlns:a16="http://schemas.microsoft.com/office/drawing/2014/main" id="{2C7F10EC-5513-6B35-5E86-0EA5D85E24AB}"/>
              </a:ext>
            </a:extLst>
          </p:cNvPr>
          <p:cNvSpPr>
            <a:spLocks noGrp="1"/>
          </p:cNvSpPr>
          <p:nvPr/>
        </p:nvSpPr>
        <p:spPr>
          <a:xfrm>
            <a:off x="7933442" y="2945590"/>
            <a:ext cx="1066800" cy="457200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B68FEB8-E411-3F29-9A64-51CAF41DE85A}"/>
              </a:ext>
            </a:extLst>
          </p:cNvPr>
          <p:cNvSpPr>
            <a:spLocks noGrp="1"/>
          </p:cNvSpPr>
          <p:nvPr/>
        </p:nvSpPr>
        <p:spPr>
          <a:xfrm>
            <a:off x="7511187" y="2367191"/>
            <a:ext cx="1915909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buNone/>
            </a:pPr>
            <a:r>
              <a:rPr>
                <a:highlight>
                  <a:srgbClr val="FFFF00"/>
                </a:highlight>
                <a:latin typeface="Calibri"/>
                <a:ea typeface="Calibri"/>
                <a:cs typeface="Calibri"/>
              </a:rPr>
              <a:t>1. Filter by </a:t>
            </a:r>
          </a:p>
          <a:p>
            <a:pPr algn="ctr">
              <a:buNone/>
            </a:pPr>
            <a:r>
              <a:rPr>
                <a:highlight>
                  <a:srgbClr val="FFFF00"/>
                </a:highlight>
                <a:latin typeface="Calibri"/>
                <a:ea typeface="Calibri"/>
                <a:cs typeface="Calibri"/>
              </a:rPr>
              <a:t>WHERE conditions</a:t>
            </a:r>
          </a:p>
        </p:txBody>
      </p:sp>
      <p:graphicFrame>
        <p:nvGraphicFramePr>
          <p:cNvPr id="26" name="表格 5"/>
          <p:cNvGraphicFramePr/>
          <p:nvPr/>
        </p:nvGraphicFramePr>
        <p:xfrm>
          <a:off x="9823881" y="1659804"/>
          <a:ext cx="1244600" cy="2225040"/>
        </p:xfrm>
        <a:graphic>
          <a:graphicData uri="http://schemas.openxmlformats.org/drawingml/2006/table">
            <a:tbl>
              <a:tblPr firstRow="1">
                <a:tableStyleId>{B301B821-A1FF-4177-AEE7-76D212191A09}</a:tableStyleId>
              </a:tblPr>
              <a:tblGrid>
                <a:gridCol w="1244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year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右箭头 9">
            <a:extLst>
              <a:ext uri="{FF2B5EF4-FFF2-40B4-BE49-F238E27FC236}">
                <a16:creationId xmlns:a16="http://schemas.microsoft.com/office/drawing/2014/main" id="{1E459C75-0BE2-92BA-023D-88666440F020}"/>
              </a:ext>
            </a:extLst>
          </p:cNvPr>
          <p:cNvSpPr>
            <a:spLocks noGrp="1"/>
          </p:cNvSpPr>
          <p:nvPr/>
        </p:nvSpPr>
        <p:spPr>
          <a:xfrm rot="5400000">
            <a:off x="10060937" y="4170881"/>
            <a:ext cx="770488" cy="457200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772D257-2F65-25DC-0EB9-52C1E870C1EC}"/>
              </a:ext>
            </a:extLst>
          </p:cNvPr>
          <p:cNvSpPr>
            <a:spLocks noGrp="1"/>
          </p:cNvSpPr>
          <p:nvPr/>
        </p:nvSpPr>
        <p:spPr>
          <a:xfrm>
            <a:off x="8922020" y="4180104"/>
            <a:ext cx="1283813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>
                <a:highlight>
                  <a:srgbClr val="FFFF00"/>
                </a:highlight>
                <a:latin typeface="Calibri"/>
                <a:ea typeface="Calibri"/>
                <a:cs typeface="Calibri"/>
              </a:rPr>
              <a:t>2. Grouping</a:t>
            </a:r>
          </a:p>
        </p:txBody>
      </p:sp>
      <p:graphicFrame>
        <p:nvGraphicFramePr>
          <p:cNvPr id="29" name="表格 5"/>
          <p:cNvGraphicFramePr/>
          <p:nvPr/>
        </p:nvGraphicFramePr>
        <p:xfrm>
          <a:off x="9427096" y="4895533"/>
          <a:ext cx="2038170" cy="1483360"/>
        </p:xfrm>
        <a:graphic>
          <a:graphicData uri="http://schemas.openxmlformats.org/drawingml/2006/table">
            <a:tbl>
              <a:tblPr firstRow="1">
                <a:tableStyleId>{B301B821-A1FF-4177-AEE7-76D212191A09}</a:tableStyleId>
              </a:tblPr>
              <a:tblGrid>
                <a:gridCol w="7710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71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COUNT(*)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3" name="右箭头 12">
            <a:extLst>
              <a:ext uri="{FF2B5EF4-FFF2-40B4-BE49-F238E27FC236}">
                <a16:creationId xmlns:a16="http://schemas.microsoft.com/office/drawing/2014/main" id="{2B32C6B6-EC05-DEA9-ADDF-FE32A64A5658}"/>
              </a:ext>
            </a:extLst>
          </p:cNvPr>
          <p:cNvSpPr>
            <a:spLocks noGrp="1"/>
          </p:cNvSpPr>
          <p:nvPr/>
        </p:nvSpPr>
        <p:spPr>
          <a:xfrm rot="10800000">
            <a:off x="7754019" y="5408613"/>
            <a:ext cx="1066800" cy="457200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1B59E68B-B9BD-BE7C-8DA6-6E559DBF9AEA}"/>
              </a:ext>
            </a:extLst>
          </p:cNvPr>
          <p:cNvSpPr>
            <a:spLocks noGrp="1"/>
          </p:cNvSpPr>
          <p:nvPr/>
        </p:nvSpPr>
        <p:spPr>
          <a:xfrm>
            <a:off x="7298204" y="4800939"/>
            <a:ext cx="1978427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buNone/>
            </a:pPr>
            <a:r>
              <a:rPr>
                <a:highlight>
                  <a:srgbClr val="FFFF00"/>
                </a:highlight>
                <a:latin typeface="Calibri"/>
                <a:ea typeface="Calibri"/>
                <a:cs typeface="Calibri"/>
              </a:rPr>
              <a:t>3. Filter by </a:t>
            </a:r>
          </a:p>
          <a:p>
            <a:pPr algn="ctr">
              <a:buNone/>
            </a:pPr>
            <a:r>
              <a:rPr>
                <a:highlight>
                  <a:srgbClr val="FFFF00"/>
                </a:highlight>
                <a:latin typeface="Calibri"/>
                <a:ea typeface="Calibri"/>
                <a:cs typeface="Calibri"/>
              </a:rPr>
              <a:t>HAVING conditions</a:t>
            </a:r>
          </a:p>
        </p:txBody>
      </p:sp>
      <p:graphicFrame>
        <p:nvGraphicFramePr>
          <p:cNvPr id="32" name="表格 5"/>
          <p:cNvGraphicFramePr/>
          <p:nvPr/>
        </p:nvGraphicFramePr>
        <p:xfrm>
          <a:off x="5076915" y="5080953"/>
          <a:ext cx="2038170" cy="1112520"/>
        </p:xfrm>
        <a:graphic>
          <a:graphicData uri="http://schemas.openxmlformats.org/drawingml/2006/table">
            <a:tbl>
              <a:tblPr firstRow="1">
                <a:tableStyleId>{B301B821-A1FF-4177-AEE7-76D212191A09}</a:tableStyleId>
              </a:tblPr>
              <a:tblGrid>
                <a:gridCol w="7710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71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COUNT(*)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" name="object 5">
            <a:extLst>
              <a:ext uri="{FF2B5EF4-FFF2-40B4-BE49-F238E27FC236}">
                <a16:creationId xmlns:a16="http://schemas.microsoft.com/office/drawing/2014/main" id="{943C94B1-A4AC-47EE-57AC-0220147ED1AB}"/>
              </a:ext>
            </a:extLst>
          </p:cNvPr>
          <p:cNvSpPr>
            <a:spLocks noGrp="1"/>
          </p:cNvSpPr>
          <p:nvPr/>
        </p:nvSpPr>
        <p:spPr>
          <a:xfrm>
            <a:off x="620377" y="2055731"/>
            <a:ext cx="3817604" cy="2100575"/>
          </a:xfrm>
          <a:prstGeom prst="rect">
            <a:avLst/>
          </a:prstGeom>
          <a:solidFill>
            <a:srgbClr val="EBF0DE"/>
          </a:solidFill>
          <a:ln w="38100">
            <a:solidFill>
              <a:srgbClr val="525308"/>
            </a:solidFill>
          </a:ln>
        </p:spPr>
        <p:txBody>
          <a:bodyPr vert="horz" wrap="square" lIns="0" tIns="48260" rIns="0" bIns="0">
            <a:spAutoFit/>
          </a:bodyPr>
          <a:lstStyle/>
          <a:p>
            <a:pPr marL="90170">
              <a:spcBef>
                <a:spcPts val="380"/>
              </a:spcBef>
              <a:buNone/>
            </a:pPr>
            <a:r>
              <a:rPr sz="2400">
                <a:solidFill>
                  <a:srgbClr val="525308"/>
                </a:solidFill>
                <a:latin typeface="+mn-lt"/>
                <a:ea typeface="+mn-lt"/>
                <a:cs typeface="+mn-lt"/>
              </a:rPr>
              <a:t>SELECT year, COUNT(*) </a:t>
            </a:r>
          </a:p>
          <a:p>
            <a:pPr marL="90170">
              <a:spcBef>
                <a:spcPts val="380"/>
              </a:spcBef>
              <a:buNone/>
            </a:pPr>
            <a:r>
              <a:rPr sz="2400">
                <a:solidFill>
                  <a:srgbClr val="525308"/>
                </a:solidFill>
                <a:latin typeface="+mn-lt"/>
                <a:ea typeface="+mn-lt"/>
                <a:cs typeface="+mn-lt"/>
              </a:rPr>
              <a:t>FROM student</a:t>
            </a:r>
          </a:p>
          <a:p>
            <a:pPr marL="90170">
              <a:spcBef>
                <a:spcPts val="380"/>
              </a:spcBef>
              <a:buNone/>
            </a:pPr>
            <a:r>
              <a:rPr sz="2400">
                <a:solidFill>
                  <a:srgbClr val="525308"/>
                </a:solidFill>
                <a:latin typeface="+mn-lt"/>
                <a:ea typeface="+mn-lt"/>
                <a:cs typeface="+mn-lt"/>
              </a:rPr>
              <a:t>WHERE year &lt; 4</a:t>
            </a:r>
          </a:p>
          <a:p>
            <a:pPr marL="90170">
              <a:spcBef>
                <a:spcPts val="380"/>
              </a:spcBef>
              <a:buNone/>
            </a:pPr>
            <a:r>
              <a:rPr sz="2400" b="1">
                <a:solidFill>
                  <a:schemeClr val="tx1"/>
                </a:solidFill>
                <a:latin typeface="+mn-lt"/>
                <a:ea typeface="+mn-lt"/>
                <a:cs typeface="+mn-lt"/>
              </a:rPr>
              <a:t>GROUP BY </a:t>
            </a:r>
            <a:r>
              <a:rPr sz="2400">
                <a:solidFill>
                  <a:srgbClr val="525308"/>
                </a:solidFill>
                <a:latin typeface="+mn-lt"/>
                <a:ea typeface="+mn-lt"/>
                <a:cs typeface="+mn-lt"/>
              </a:rPr>
              <a:t>year</a:t>
            </a:r>
          </a:p>
          <a:p>
            <a:pPr marL="90170">
              <a:spcBef>
                <a:spcPts val="380"/>
              </a:spcBef>
              <a:buNone/>
            </a:pPr>
            <a:r>
              <a:rPr sz="2400" b="1">
                <a:solidFill>
                  <a:srgbClr val="FF0000"/>
                </a:solidFill>
                <a:latin typeface="+mn-lt"/>
                <a:ea typeface="+mn-lt"/>
                <a:cs typeface="+mn-lt"/>
              </a:rPr>
              <a:t>HAVING</a:t>
            </a:r>
            <a:r>
              <a:rPr sz="2400">
                <a:solidFill>
                  <a:srgbClr val="525308"/>
                </a:solidFill>
                <a:latin typeface="+mn-lt"/>
                <a:ea typeface="+mn-lt"/>
                <a:cs typeface="+mn-lt"/>
              </a:rPr>
              <a:t> COUNT(*) &gt; 1;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761802F-8607-4410-9173-2C9909DD0924}"/>
              </a:ext>
            </a:extLst>
          </p:cNvPr>
          <p:cNvSpPr>
            <a:spLocks noGrp="1"/>
          </p:cNvSpPr>
          <p:nvPr/>
        </p:nvSpPr>
        <p:spPr>
          <a:xfrm>
            <a:off x="5870485" y="1345586"/>
            <a:ext cx="21817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525308"/>
                </a:solidFill>
                <a:latin typeface="+mn-lt"/>
                <a:ea typeface="+mn-lt"/>
                <a:cs typeface="+mn-lt"/>
              </a:rPr>
              <a:t>π</a:t>
            </a:r>
            <a:r>
              <a:rPr sz="1200">
                <a:solidFill>
                  <a:srgbClr val="525308"/>
                </a:solidFill>
              </a:rPr>
              <a:t>year</a:t>
            </a:r>
            <a:r>
              <a:rPr sz="1800">
                <a:solidFill>
                  <a:srgbClr val="525308"/>
                </a:solidFill>
                <a:latin typeface="+mn-lt"/>
                <a:ea typeface="+mn-lt"/>
                <a:cs typeface="+mn-lt"/>
              </a:rPr>
              <a:t>(Student)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3101713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349;p45">
            <a:extLst>
              <a:ext uri="{FF2B5EF4-FFF2-40B4-BE49-F238E27FC236}">
                <a16:creationId xmlns:a16="http://schemas.microsoft.com/office/drawing/2014/main" id="{FF432DC8-A8E2-40B7-9441-F1C94D3877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29000"/>
            <a:ext cx="10515600" cy="904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/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t>10</a:t>
            </a:r>
            <a:r>
              <a:rPr sz="4400" b="0"/>
              <a:t> - Joining Tables</a:t>
            </a:r>
          </a:p>
        </p:txBody>
      </p:sp>
      <p:sp>
        <p:nvSpPr>
          <p:cNvPr id="3" name="Google Shape;351;p45">
            <a:extLst>
              <a:ext uri="{FF2B5EF4-FFF2-40B4-BE49-F238E27FC236}">
                <a16:creationId xmlns:a16="http://schemas.microsoft.com/office/drawing/2014/main" id="{A6671EA9-6286-4EF7-84B8-437769A6DF16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433799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45">
            <a:extLst>
              <a:ext uri="{FF2B5EF4-FFF2-40B4-BE49-F238E27FC236}">
                <a16:creationId xmlns:a16="http://schemas.microsoft.com/office/drawing/2014/main" id="{83072D7F-48F1-4F18-904B-767675F993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77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/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t>Join</a:t>
            </a:r>
          </a:p>
        </p:txBody>
      </p:sp>
      <p:sp>
        <p:nvSpPr>
          <p:cNvPr id="350" name="Google Shape;350;p45">
            <a:extLst>
              <a:ext uri="{FF2B5EF4-FFF2-40B4-BE49-F238E27FC236}">
                <a16:creationId xmlns:a16="http://schemas.microsoft.com/office/drawing/2014/main" id="{95093140-9007-4319-BBC4-C0ABC46D14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282148"/>
            <a:ext cx="10515600" cy="48948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/>
          <a:p>
            <a:pPr marL="2286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t>Display from multiple tables</a:t>
            </a:r>
          </a:p>
          <a:p>
            <a:pPr marL="228600" lvl="0" indent="-50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0" lv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/>
              <a:t>Schema</a:t>
            </a:r>
            <a:endParaRPr/>
          </a:p>
          <a:p>
            <a:pPr marL="0" lv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>student (student_id, name, year, prog_code)</a:t>
            </a:r>
          </a:p>
          <a:p>
            <a:pPr marL="0" lv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>programme (programme_id, name)</a:t>
            </a:r>
          </a:p>
          <a:p>
            <a:pPr marL="0" lv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sp>
        <p:nvSpPr>
          <p:cNvPr id="351" name="Google Shape;351;p45">
            <a:extLst>
              <a:ext uri="{FF2B5EF4-FFF2-40B4-BE49-F238E27FC236}">
                <a16:creationId xmlns:a16="http://schemas.microsoft.com/office/drawing/2014/main" id="{D5D5DFC5-CCA2-45B8-A2F8-B88B4110B569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  <a:t>11</a:t>
            </a:fld>
            <a:endParaRPr/>
          </a:p>
        </p:txBody>
      </p:sp>
      <p:sp>
        <p:nvSpPr>
          <p:cNvPr id="352" name="Google Shape;352;p45">
            <a:extLst>
              <a:ext uri="{FF2B5EF4-FFF2-40B4-BE49-F238E27FC236}">
                <a16:creationId xmlns:a16="http://schemas.microsoft.com/office/drawing/2014/main" id="{5C27F339-E524-49DB-8480-29829EEEC781}"/>
              </a:ext>
            </a:extLst>
          </p:cNvPr>
          <p:cNvSpPr>
            <a:spLocks noGrp="1"/>
          </p:cNvSpPr>
          <p:nvPr/>
        </p:nvSpPr>
        <p:spPr>
          <a:xfrm>
            <a:off x="838200" y="3962400"/>
            <a:ext cx="8244840" cy="1259319"/>
          </a:xfrm>
          <a:prstGeom prst="rect">
            <a:avLst/>
          </a:prstGeom>
          <a:solidFill>
            <a:srgbClr val="EBF0DE"/>
          </a:solidFill>
          <a:ln w="38100" cap="flat" cmpd="sng">
            <a:solidFill>
              <a:srgbClr val="52530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48250" rIns="0" bIns="0" anchor="t">
            <a:spAutoFit/>
          </a:bodyPr>
          <a:lstStyle/>
          <a:p>
            <a:pPr marL="9017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400">
                <a:solidFill>
                  <a:srgbClr val="525308"/>
                </a:solidFill>
                <a:latin typeface="Arial"/>
                <a:ea typeface="Arial"/>
                <a:cs typeface="Arial"/>
              </a:rPr>
              <a:t>SELECT programme.name, student_id </a:t>
            </a:r>
            <a:endParaRPr/>
          </a:p>
          <a:p>
            <a:pPr marL="90170" marR="0" lvl="0" indent="0" algn="l">
              <a:spcBef>
                <a:spcPts val="380"/>
              </a:spcBef>
              <a:spcAft>
                <a:spcPts val="0"/>
              </a:spcAft>
              <a:buNone/>
            </a:pPr>
            <a:r>
              <a:rPr sz="2400">
                <a:solidFill>
                  <a:srgbClr val="525308"/>
                </a:solidFill>
                <a:latin typeface="Arial"/>
                <a:ea typeface="Arial"/>
                <a:cs typeface="Arial"/>
              </a:rPr>
              <a:t>FROM student, programme</a:t>
            </a:r>
          </a:p>
          <a:p>
            <a:pPr marL="90170" marR="0" lvl="0" indent="0" algn="l">
              <a:spcBef>
                <a:spcPts val="380"/>
              </a:spcBef>
              <a:spcAft>
                <a:spcPts val="0"/>
              </a:spcAft>
              <a:buNone/>
            </a:pPr>
            <a:r>
              <a:rPr sz="2400">
                <a:solidFill>
                  <a:srgbClr val="525308"/>
                </a:solidFill>
                <a:latin typeface="Arial"/>
                <a:ea typeface="Arial"/>
                <a:cs typeface="Arial"/>
              </a:rPr>
              <a:t>WHERE prog_code = programme_id;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744763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46">
            <a:extLst>
              <a:ext uri="{FF2B5EF4-FFF2-40B4-BE49-F238E27FC236}">
                <a16:creationId xmlns:a16="http://schemas.microsoft.com/office/drawing/2014/main" id="{5DB2D324-A297-4EF1-B333-5020803004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77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/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t>Join</a:t>
            </a:r>
          </a:p>
        </p:txBody>
      </p:sp>
      <p:sp>
        <p:nvSpPr>
          <p:cNvPr id="358" name="Google Shape;358;p46">
            <a:extLst>
              <a:ext uri="{FF2B5EF4-FFF2-40B4-BE49-F238E27FC236}">
                <a16:creationId xmlns:a16="http://schemas.microsoft.com/office/drawing/2014/main" id="{2B11E32C-E036-432A-8B2B-C8BEC10AE9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282148"/>
            <a:ext cx="10515600" cy="48948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/>
          <a:p>
            <a:pPr marL="2286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dirty="0"/>
              <a:t>Use table alias</a:t>
            </a:r>
          </a:p>
          <a:p>
            <a:pPr marL="228600" lvl="0" indent="-50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</p:txBody>
      </p:sp>
      <p:sp>
        <p:nvSpPr>
          <p:cNvPr id="359" name="Google Shape;359;p46">
            <a:extLst>
              <a:ext uri="{FF2B5EF4-FFF2-40B4-BE49-F238E27FC236}">
                <a16:creationId xmlns:a16="http://schemas.microsoft.com/office/drawing/2014/main" id="{416A6F73-AF9D-4AA3-BFAE-5766A9FF6115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  <a:t>12</a:t>
            </a:fld>
            <a:endParaRPr/>
          </a:p>
        </p:txBody>
      </p:sp>
      <p:sp>
        <p:nvSpPr>
          <p:cNvPr id="360" name="Google Shape;360;p46">
            <a:extLst>
              <a:ext uri="{FF2B5EF4-FFF2-40B4-BE49-F238E27FC236}">
                <a16:creationId xmlns:a16="http://schemas.microsoft.com/office/drawing/2014/main" id="{ECCD68BD-CD86-42AD-BC64-A3002DE7CD85}"/>
              </a:ext>
            </a:extLst>
          </p:cNvPr>
          <p:cNvSpPr>
            <a:spLocks noGrp="1"/>
          </p:cNvSpPr>
          <p:nvPr/>
        </p:nvSpPr>
        <p:spPr>
          <a:xfrm>
            <a:off x="838200" y="1870075"/>
            <a:ext cx="8244840" cy="1259319"/>
          </a:xfrm>
          <a:prstGeom prst="rect">
            <a:avLst/>
          </a:prstGeom>
          <a:solidFill>
            <a:srgbClr val="EBF0DE"/>
          </a:solidFill>
          <a:ln w="38100" cap="flat" cmpd="sng">
            <a:solidFill>
              <a:srgbClr val="52530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48250" rIns="0" bIns="0" anchor="t">
            <a:spAutoFit/>
          </a:bodyPr>
          <a:lstStyle/>
          <a:p>
            <a:pPr marL="9017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4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SELECT </a:t>
            </a:r>
            <a:r>
              <a:rPr sz="2400" b="1" dirty="0">
                <a:solidFill>
                  <a:srgbClr val="FF0000"/>
                </a:solidFill>
                <a:latin typeface="Arial"/>
                <a:ea typeface="Arial"/>
                <a:cs typeface="Arial"/>
              </a:rPr>
              <a:t>P</a:t>
            </a:r>
            <a:r>
              <a:rPr sz="24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.name, </a:t>
            </a:r>
            <a:r>
              <a:rPr sz="2400" dirty="0" err="1">
                <a:solidFill>
                  <a:srgbClr val="525308"/>
                </a:solidFill>
                <a:latin typeface="Arial"/>
                <a:ea typeface="Arial"/>
                <a:cs typeface="Arial"/>
              </a:rPr>
              <a:t>student_id</a:t>
            </a:r>
            <a:r>
              <a:rPr sz="24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 </a:t>
            </a:r>
            <a:endParaRPr dirty="0"/>
          </a:p>
          <a:p>
            <a:pPr marL="90170" marR="0" lvl="0" indent="0" algn="l">
              <a:spcBef>
                <a:spcPts val="380"/>
              </a:spcBef>
              <a:spcAft>
                <a:spcPts val="0"/>
              </a:spcAft>
              <a:buNone/>
            </a:pPr>
            <a:r>
              <a:rPr sz="24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FROM student, </a:t>
            </a:r>
            <a:r>
              <a:rPr sz="2400" dirty="0" err="1">
                <a:solidFill>
                  <a:srgbClr val="525308"/>
                </a:solidFill>
                <a:latin typeface="Arial"/>
                <a:ea typeface="Arial"/>
                <a:cs typeface="Arial"/>
              </a:rPr>
              <a:t>programme</a:t>
            </a:r>
            <a:r>
              <a:rPr sz="24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 </a:t>
            </a:r>
            <a:r>
              <a:rPr sz="2400" b="1" dirty="0">
                <a:solidFill>
                  <a:srgbClr val="FF0000"/>
                </a:solidFill>
                <a:latin typeface="Arial"/>
                <a:ea typeface="Arial"/>
                <a:cs typeface="Arial"/>
              </a:rPr>
              <a:t>P</a:t>
            </a:r>
            <a:endParaRPr sz="2400" dirty="0">
              <a:solidFill>
                <a:srgbClr val="525308"/>
              </a:solidFill>
              <a:latin typeface="Arial"/>
              <a:ea typeface="Arial"/>
              <a:cs typeface="Arial"/>
            </a:endParaRPr>
          </a:p>
          <a:p>
            <a:pPr marL="90170" marR="0" lvl="0" indent="0" algn="l">
              <a:spcBef>
                <a:spcPts val="380"/>
              </a:spcBef>
              <a:spcAft>
                <a:spcPts val="0"/>
              </a:spcAft>
              <a:buNone/>
            </a:pPr>
            <a:r>
              <a:rPr sz="24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WHERE </a:t>
            </a:r>
            <a:r>
              <a:rPr sz="2400" dirty="0" err="1">
                <a:solidFill>
                  <a:srgbClr val="525308"/>
                </a:solidFill>
                <a:latin typeface="Arial"/>
                <a:ea typeface="Arial"/>
                <a:cs typeface="Arial"/>
              </a:rPr>
              <a:t>prog_code</a:t>
            </a:r>
            <a:r>
              <a:rPr sz="24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 = </a:t>
            </a:r>
            <a:r>
              <a:rPr sz="2400" dirty="0" err="1">
                <a:solidFill>
                  <a:srgbClr val="525308"/>
                </a:solidFill>
                <a:latin typeface="Arial"/>
                <a:ea typeface="Arial"/>
                <a:cs typeface="Arial"/>
              </a:rPr>
              <a:t>programme_id</a:t>
            </a:r>
            <a:r>
              <a:rPr sz="24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;</a:t>
            </a:r>
            <a:endParaRPr dirty="0"/>
          </a:p>
        </p:txBody>
      </p:sp>
      <p:sp>
        <p:nvSpPr>
          <p:cNvPr id="361" name="Google Shape;361;p46">
            <a:extLst>
              <a:ext uri="{FF2B5EF4-FFF2-40B4-BE49-F238E27FC236}">
                <a16:creationId xmlns:a16="http://schemas.microsoft.com/office/drawing/2014/main" id="{8FACC559-A70F-4669-898F-CFEDFB100240}"/>
              </a:ext>
            </a:extLst>
          </p:cNvPr>
          <p:cNvSpPr>
            <a:spLocks noGrp="1"/>
          </p:cNvSpPr>
          <p:nvPr/>
        </p:nvSpPr>
        <p:spPr>
          <a:xfrm>
            <a:off x="838200" y="4221728"/>
            <a:ext cx="8244840" cy="1526059"/>
          </a:xfrm>
          <a:prstGeom prst="rect">
            <a:avLst/>
          </a:prstGeom>
          <a:solidFill>
            <a:srgbClr val="EBF0DE"/>
          </a:solidFill>
          <a:ln w="38100" cap="flat" cmpd="sng">
            <a:solidFill>
              <a:srgbClr val="52530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48250" rIns="0" bIns="0" anchor="t">
            <a:spAutoFit/>
          </a:bodyPr>
          <a:lstStyle/>
          <a:p>
            <a:pPr marL="9017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4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SELECT  P.name, </a:t>
            </a:r>
            <a:r>
              <a:rPr lang="en-US" sz="2400" dirty="0" err="1">
                <a:solidFill>
                  <a:srgbClr val="525308"/>
                </a:solidFill>
                <a:latin typeface="Arial"/>
                <a:ea typeface="Arial"/>
                <a:cs typeface="Arial"/>
              </a:rPr>
              <a:t>S.</a:t>
            </a:r>
            <a:r>
              <a:rPr sz="2400" dirty="0" err="1">
                <a:solidFill>
                  <a:srgbClr val="525308"/>
                </a:solidFill>
                <a:latin typeface="Arial"/>
                <a:ea typeface="Arial"/>
                <a:cs typeface="Arial"/>
              </a:rPr>
              <a:t>student_id</a:t>
            </a:r>
            <a:r>
              <a:rPr sz="24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 </a:t>
            </a:r>
            <a:br>
              <a:rPr sz="24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</a:br>
            <a:r>
              <a:rPr lang="en-US" sz="24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FROM student AS S </a:t>
            </a:r>
            <a:br>
              <a:rPr sz="24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</a:br>
            <a:r>
              <a:rPr lang="en-US" sz="24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(INNER) JOIN </a:t>
            </a:r>
            <a:r>
              <a:rPr lang="en-US" sz="2400" dirty="0" err="1">
                <a:solidFill>
                  <a:srgbClr val="525308"/>
                </a:solidFill>
                <a:latin typeface="Arial"/>
                <a:ea typeface="Arial"/>
                <a:cs typeface="Arial"/>
              </a:rPr>
              <a:t>programme</a:t>
            </a:r>
            <a:r>
              <a:rPr lang="en-US" sz="24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 AS P</a:t>
            </a:r>
            <a:br>
              <a:rPr sz="24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</a:br>
            <a:r>
              <a:rPr sz="24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ON  </a:t>
            </a:r>
            <a:r>
              <a:rPr lang="en-US" sz="2400" dirty="0" err="1">
                <a:solidFill>
                  <a:srgbClr val="525308"/>
                </a:solidFill>
                <a:latin typeface="Arial"/>
                <a:ea typeface="Arial"/>
                <a:cs typeface="Arial"/>
              </a:rPr>
              <a:t>S.</a:t>
            </a:r>
            <a:r>
              <a:rPr sz="2400" dirty="0" err="1">
                <a:solidFill>
                  <a:srgbClr val="525308"/>
                </a:solidFill>
                <a:latin typeface="Arial"/>
                <a:ea typeface="Arial"/>
                <a:cs typeface="Arial"/>
              </a:rPr>
              <a:t>prog_code</a:t>
            </a:r>
            <a:r>
              <a:rPr sz="24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 = </a:t>
            </a:r>
            <a:r>
              <a:rPr lang="en-US" sz="2400" dirty="0" err="1">
                <a:solidFill>
                  <a:srgbClr val="525308"/>
                </a:solidFill>
                <a:latin typeface="Arial"/>
                <a:ea typeface="Arial"/>
                <a:cs typeface="Arial"/>
              </a:rPr>
              <a:t>P.</a:t>
            </a:r>
            <a:r>
              <a:rPr sz="2400" dirty="0" err="1">
                <a:solidFill>
                  <a:srgbClr val="525308"/>
                </a:solidFill>
                <a:latin typeface="Arial"/>
                <a:ea typeface="Arial"/>
                <a:cs typeface="Arial"/>
              </a:rPr>
              <a:t>programme_id</a:t>
            </a:r>
            <a:r>
              <a:rPr sz="24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;</a:t>
            </a:r>
            <a:endParaRPr dirty="0"/>
          </a:p>
        </p:txBody>
      </p:sp>
      <p:sp>
        <p:nvSpPr>
          <p:cNvPr id="362" name="Google Shape;362;p46">
            <a:extLst>
              <a:ext uri="{FF2B5EF4-FFF2-40B4-BE49-F238E27FC236}">
                <a16:creationId xmlns:a16="http://schemas.microsoft.com/office/drawing/2014/main" id="{6BF6EAB1-E32F-4B8A-BE23-DAAE1946BE6E}"/>
              </a:ext>
            </a:extLst>
          </p:cNvPr>
          <p:cNvSpPr>
            <a:spLocks noGrp="1"/>
          </p:cNvSpPr>
          <p:nvPr/>
        </p:nvSpPr>
        <p:spPr>
          <a:xfrm rot="5400000">
            <a:off x="4503420" y="3185704"/>
            <a:ext cx="914400" cy="914400"/>
          </a:xfrm>
          <a:prstGeom prst="mathEqual">
            <a:avLst>
              <a:gd name="adj1" fmla="val 23520"/>
              <a:gd name="adj2" fmla="val 1176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63" name="Google Shape;363;p46">
            <a:extLst>
              <a:ext uri="{FF2B5EF4-FFF2-40B4-BE49-F238E27FC236}">
                <a16:creationId xmlns:a16="http://schemas.microsoft.com/office/drawing/2014/main" id="{7C3650B9-09A2-411E-8BA1-91C07338B2EA}"/>
              </a:ext>
            </a:extLst>
          </p:cNvPr>
          <p:cNvSpPr>
            <a:spLocks noGrp="1"/>
          </p:cNvSpPr>
          <p:nvPr/>
        </p:nvSpPr>
        <p:spPr>
          <a:xfrm>
            <a:off x="4256741" y="5860587"/>
            <a:ext cx="1407758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400">
                <a:solidFill>
                  <a:schemeClr val="dk1"/>
                </a:solidFill>
                <a:latin typeface="Arial"/>
                <a:ea typeface="Arial"/>
                <a:cs typeface="Arial"/>
              </a:rPr>
              <a:t>Inner Join</a:t>
            </a:r>
          </a:p>
        </p:txBody>
      </p:sp>
    </p:spTree>
    <p:extLst>
      <p:ext uri="{BB962C8B-B14F-4D97-AF65-F5344CB8AC3E}">
        <p14:creationId xmlns:p14="http://schemas.microsoft.com/office/powerpoint/2010/main" val="15420314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47">
            <a:extLst>
              <a:ext uri="{FF2B5EF4-FFF2-40B4-BE49-F238E27FC236}">
                <a16:creationId xmlns:a16="http://schemas.microsoft.com/office/drawing/2014/main" id="{60BC9D59-C242-49D8-AAC3-D7C6040131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77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/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t>Different Types of SQL JOINs</a:t>
            </a:r>
          </a:p>
        </p:txBody>
      </p:sp>
      <p:sp>
        <p:nvSpPr>
          <p:cNvPr id="369" name="Google Shape;369;p47">
            <a:extLst>
              <a:ext uri="{FF2B5EF4-FFF2-40B4-BE49-F238E27FC236}">
                <a16:creationId xmlns:a16="http://schemas.microsoft.com/office/drawing/2014/main" id="{88CD3FB8-82BC-4D65-B6D6-0B1A1CBA9A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282148"/>
            <a:ext cx="10515600" cy="48948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/>
          <a:p>
            <a:pPr marL="2286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Char char="•"/>
            </a:pPr>
            <a:r>
              <a:rPr>
                <a:solidFill>
                  <a:srgbClr val="FF0000"/>
                </a:solidFill>
              </a:rPr>
              <a:t>(INNER) JOIN</a:t>
            </a:r>
            <a:r>
              <a:t>: Returns records that have matching values in both tables</a:t>
            </a:r>
          </a:p>
          <a:p>
            <a:pPr marL="2286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800"/>
              <a:buChar char="•"/>
            </a:pPr>
            <a:r>
              <a:rPr>
                <a:solidFill>
                  <a:srgbClr val="FF0000"/>
                </a:solidFill>
              </a:rPr>
              <a:t>LEFT (OUTER) JOIN</a:t>
            </a:r>
            <a:r>
              <a:t>: Returns all records from the left table, and the matched records from the right table</a:t>
            </a:r>
          </a:p>
          <a:p>
            <a:pPr marL="2286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800"/>
              <a:buChar char="•"/>
            </a:pPr>
            <a:r>
              <a:rPr>
                <a:solidFill>
                  <a:srgbClr val="FF0000"/>
                </a:solidFill>
              </a:rPr>
              <a:t>RIGHT (OUTER) JOIN</a:t>
            </a:r>
            <a:r>
              <a:t>: Returns all records from the right table, and the matched records from the left table</a:t>
            </a:r>
          </a:p>
          <a:p>
            <a:pPr marL="2286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800"/>
              <a:buChar char="•"/>
            </a:pPr>
            <a:r>
              <a:rPr>
                <a:solidFill>
                  <a:srgbClr val="FF0000"/>
                </a:solidFill>
              </a:rPr>
              <a:t>FULL (OUTER) JOIN</a:t>
            </a:r>
            <a:r>
              <a:t>: Returns all records when there is a match in either left or right table</a:t>
            </a:r>
          </a:p>
          <a:p>
            <a:pPr marL="228600" lvl="0" indent="-50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sp>
        <p:nvSpPr>
          <p:cNvPr id="370" name="Google Shape;370;p47">
            <a:extLst>
              <a:ext uri="{FF2B5EF4-FFF2-40B4-BE49-F238E27FC236}">
                <a16:creationId xmlns:a16="http://schemas.microsoft.com/office/drawing/2014/main" id="{F8D4DE08-F8D4-4094-8822-17EDD49A2D7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  <a:t>13</a:t>
            </a:fld>
            <a:endParaRPr/>
          </a:p>
        </p:txBody>
      </p:sp>
      <p:pic>
        <p:nvPicPr>
          <p:cNvPr id="375" name="Google Shape;371;p47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68334" y="4408442"/>
            <a:ext cx="10255332" cy="1768521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361200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48">
            <a:extLst>
              <a:ext uri="{FF2B5EF4-FFF2-40B4-BE49-F238E27FC236}">
                <a16:creationId xmlns:a16="http://schemas.microsoft.com/office/drawing/2014/main" id="{316F48B0-2A65-4396-BA7B-BC0078368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77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/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t>LEFT JOIN</a:t>
            </a:r>
          </a:p>
        </p:txBody>
      </p:sp>
      <p:sp>
        <p:nvSpPr>
          <p:cNvPr id="377" name="Google Shape;377;p48">
            <a:extLst>
              <a:ext uri="{FF2B5EF4-FFF2-40B4-BE49-F238E27FC236}">
                <a16:creationId xmlns:a16="http://schemas.microsoft.com/office/drawing/2014/main" id="{C0E9CC30-2390-4DBA-A22B-586081657C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282148"/>
            <a:ext cx="10515600" cy="48948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/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>The LEFT JOIN keyword returns all records from the left table (table1), and the matching records from the right table (table2).</a:t>
            </a:r>
          </a:p>
          <a:p>
            <a:pPr marL="2286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t>Syntax</a:t>
            </a:r>
          </a:p>
        </p:txBody>
      </p:sp>
      <p:sp>
        <p:nvSpPr>
          <p:cNvPr id="378" name="Google Shape;378;p48">
            <a:extLst>
              <a:ext uri="{FF2B5EF4-FFF2-40B4-BE49-F238E27FC236}">
                <a16:creationId xmlns:a16="http://schemas.microsoft.com/office/drawing/2014/main" id="{02353659-16B7-4F6F-8346-9641F8C43BD7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  <a:t>14</a:t>
            </a:fld>
            <a:endParaRPr/>
          </a:p>
        </p:txBody>
      </p:sp>
      <p:sp>
        <p:nvSpPr>
          <p:cNvPr id="379" name="Google Shape;379;p48">
            <a:extLst>
              <a:ext uri="{FF2B5EF4-FFF2-40B4-BE49-F238E27FC236}">
                <a16:creationId xmlns:a16="http://schemas.microsoft.com/office/drawing/2014/main" id="{AF670ADC-00FE-4200-B897-6D776594BF0C}"/>
              </a:ext>
            </a:extLst>
          </p:cNvPr>
          <p:cNvSpPr>
            <a:spLocks noGrp="1"/>
          </p:cNvSpPr>
          <p:nvPr/>
        </p:nvSpPr>
        <p:spPr>
          <a:xfrm>
            <a:off x="838200" y="2802266"/>
            <a:ext cx="8244840" cy="1526059"/>
          </a:xfrm>
          <a:prstGeom prst="rect">
            <a:avLst/>
          </a:prstGeom>
          <a:solidFill>
            <a:srgbClr val="EBF0DE"/>
          </a:solidFill>
          <a:ln w="38100" cap="flat" cmpd="sng">
            <a:solidFill>
              <a:srgbClr val="52530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48250" rIns="0" bIns="0" anchor="t">
            <a:spAutoFit/>
          </a:bodyPr>
          <a:lstStyle/>
          <a:p>
            <a:pPr marL="9017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400">
                <a:solidFill>
                  <a:srgbClr val="525308"/>
                </a:solidFill>
                <a:latin typeface="Arial"/>
                <a:ea typeface="Arial"/>
                <a:cs typeface="Arial"/>
              </a:rPr>
              <a:t>SELECT column_name(s)</a:t>
            </a:r>
            <a:br>
              <a:rPr sz="2400">
                <a:solidFill>
                  <a:srgbClr val="525308"/>
                </a:solidFill>
                <a:latin typeface="Arial"/>
                <a:ea typeface="Arial"/>
                <a:cs typeface="Arial"/>
              </a:rPr>
            </a:br>
            <a:r>
              <a:rPr sz="2400">
                <a:solidFill>
                  <a:srgbClr val="525308"/>
                </a:solidFill>
                <a:latin typeface="Arial"/>
                <a:ea typeface="Arial"/>
                <a:cs typeface="Arial"/>
              </a:rPr>
              <a:t>FROM table1</a:t>
            </a:r>
            <a:br>
              <a:rPr sz="2400">
                <a:solidFill>
                  <a:srgbClr val="525308"/>
                </a:solidFill>
                <a:latin typeface="Arial"/>
                <a:ea typeface="Arial"/>
                <a:cs typeface="Arial"/>
              </a:rPr>
            </a:br>
            <a:r>
              <a:rPr sz="2400" b="1">
                <a:solidFill>
                  <a:srgbClr val="FF0000"/>
                </a:solidFill>
                <a:latin typeface="Arial"/>
                <a:ea typeface="Arial"/>
                <a:cs typeface="Arial"/>
              </a:rPr>
              <a:t>LEFT JOIN </a:t>
            </a:r>
            <a:r>
              <a:rPr sz="2400">
                <a:solidFill>
                  <a:srgbClr val="525308"/>
                </a:solidFill>
                <a:latin typeface="Arial"/>
                <a:ea typeface="Arial"/>
                <a:cs typeface="Arial"/>
              </a:rPr>
              <a:t>table2</a:t>
            </a:r>
            <a:br>
              <a:rPr sz="2400">
                <a:solidFill>
                  <a:srgbClr val="525308"/>
                </a:solidFill>
                <a:latin typeface="Arial"/>
                <a:ea typeface="Arial"/>
                <a:cs typeface="Arial"/>
              </a:rPr>
            </a:br>
            <a:r>
              <a:rPr sz="2400">
                <a:solidFill>
                  <a:srgbClr val="525308"/>
                </a:solidFill>
                <a:latin typeface="Arial"/>
                <a:ea typeface="Arial"/>
                <a:cs typeface="Arial"/>
              </a:rPr>
              <a:t>ON table1.column_name = table2.column_name;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5413380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49">
            <a:extLst>
              <a:ext uri="{FF2B5EF4-FFF2-40B4-BE49-F238E27FC236}">
                <a16:creationId xmlns:a16="http://schemas.microsoft.com/office/drawing/2014/main" id="{4B60CE14-1313-4074-B2C7-7A401A26A3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77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/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t>RIGHT JOIN</a:t>
            </a:r>
          </a:p>
        </p:txBody>
      </p:sp>
      <p:sp>
        <p:nvSpPr>
          <p:cNvPr id="385" name="Google Shape;385;p49">
            <a:extLst>
              <a:ext uri="{FF2B5EF4-FFF2-40B4-BE49-F238E27FC236}">
                <a16:creationId xmlns:a16="http://schemas.microsoft.com/office/drawing/2014/main" id="{398FF0F5-6DA9-4C66-BF54-ACDCB7F365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282148"/>
            <a:ext cx="10515600" cy="48948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/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>The RIGHT JOIN keyword returns all records from the right table (table2), and the matching records from the left table (table1).</a:t>
            </a:r>
          </a:p>
          <a:p>
            <a:pPr marL="2286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t>Syntax</a:t>
            </a:r>
          </a:p>
        </p:txBody>
      </p:sp>
      <p:sp>
        <p:nvSpPr>
          <p:cNvPr id="386" name="Google Shape;386;p49">
            <a:extLst>
              <a:ext uri="{FF2B5EF4-FFF2-40B4-BE49-F238E27FC236}">
                <a16:creationId xmlns:a16="http://schemas.microsoft.com/office/drawing/2014/main" id="{F4EBDE93-8417-43F7-BC43-B79E20A2CFC0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  <a:t>15</a:t>
            </a:fld>
            <a:endParaRPr/>
          </a:p>
        </p:txBody>
      </p:sp>
      <p:sp>
        <p:nvSpPr>
          <p:cNvPr id="387" name="Google Shape;387;p49">
            <a:extLst>
              <a:ext uri="{FF2B5EF4-FFF2-40B4-BE49-F238E27FC236}">
                <a16:creationId xmlns:a16="http://schemas.microsoft.com/office/drawing/2014/main" id="{2C71DD90-C8FF-4B55-BE67-587DC59E4609}"/>
              </a:ext>
            </a:extLst>
          </p:cNvPr>
          <p:cNvSpPr>
            <a:spLocks noGrp="1"/>
          </p:cNvSpPr>
          <p:nvPr/>
        </p:nvSpPr>
        <p:spPr>
          <a:xfrm>
            <a:off x="838200" y="2802266"/>
            <a:ext cx="8244840" cy="1526059"/>
          </a:xfrm>
          <a:prstGeom prst="rect">
            <a:avLst/>
          </a:prstGeom>
          <a:solidFill>
            <a:srgbClr val="EBF0DE"/>
          </a:solidFill>
          <a:ln w="38100" cap="flat" cmpd="sng">
            <a:solidFill>
              <a:srgbClr val="52530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48250" rIns="0" bIns="0" anchor="t">
            <a:spAutoFit/>
          </a:bodyPr>
          <a:lstStyle/>
          <a:p>
            <a:pPr marL="9017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4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SELECT </a:t>
            </a:r>
            <a:r>
              <a:rPr sz="2400" dirty="0" err="1">
                <a:solidFill>
                  <a:srgbClr val="525308"/>
                </a:solidFill>
                <a:latin typeface="Arial"/>
                <a:ea typeface="Arial"/>
                <a:cs typeface="Arial"/>
              </a:rPr>
              <a:t>column_name</a:t>
            </a:r>
            <a:r>
              <a:rPr sz="24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(s)</a:t>
            </a:r>
            <a:br>
              <a:rPr sz="24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</a:br>
            <a:r>
              <a:rPr sz="24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FROM table1</a:t>
            </a:r>
            <a:br>
              <a:rPr sz="24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</a:br>
            <a:r>
              <a:rPr sz="2400" b="1" dirty="0">
                <a:solidFill>
                  <a:srgbClr val="FF0000"/>
                </a:solidFill>
                <a:latin typeface="Arial"/>
                <a:ea typeface="Arial"/>
                <a:cs typeface="Arial"/>
              </a:rPr>
              <a:t>RIGHT JOIN </a:t>
            </a:r>
            <a:r>
              <a:rPr sz="24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table2</a:t>
            </a:r>
            <a:br>
              <a:rPr sz="24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</a:br>
            <a:r>
              <a:rPr sz="24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ON table1.column_name = table2.column_name;</a:t>
            </a:r>
            <a:endParaRPr dirty="0"/>
          </a:p>
        </p:txBody>
      </p:sp>
      <p:sp>
        <p:nvSpPr>
          <p:cNvPr id="2" name="Google Shape;387;p49">
            <a:extLst>
              <a:ext uri="{FF2B5EF4-FFF2-40B4-BE49-F238E27FC236}">
                <a16:creationId xmlns:a16="http://schemas.microsoft.com/office/drawing/2014/main" id="{48FA1423-46C2-95CF-E7D5-48A2D0A16506}"/>
              </a:ext>
            </a:extLst>
          </p:cNvPr>
          <p:cNvSpPr>
            <a:spLocks noGrp="1"/>
          </p:cNvSpPr>
          <p:nvPr/>
        </p:nvSpPr>
        <p:spPr>
          <a:xfrm>
            <a:off x="2266308" y="5157799"/>
            <a:ext cx="2572820" cy="418053"/>
          </a:xfrm>
          <a:prstGeom prst="rect">
            <a:avLst/>
          </a:prstGeom>
          <a:solidFill>
            <a:srgbClr val="EBF0DE"/>
          </a:solidFill>
          <a:ln w="38100" cap="flat" cmpd="sng">
            <a:solidFill>
              <a:srgbClr val="52530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48250" rIns="0" bIns="0" anchor="t">
            <a:spAutoFit/>
          </a:bodyPr>
          <a:lstStyle/>
          <a:p>
            <a:pPr marL="9017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A RIGHT JOIN B </a:t>
            </a:r>
            <a:endParaRPr dirty="0"/>
          </a:p>
        </p:txBody>
      </p:sp>
      <p:sp>
        <p:nvSpPr>
          <p:cNvPr id="3" name="Google Shape;387;p49">
            <a:extLst>
              <a:ext uri="{FF2B5EF4-FFF2-40B4-BE49-F238E27FC236}">
                <a16:creationId xmlns:a16="http://schemas.microsoft.com/office/drawing/2014/main" id="{6A2907E5-B79A-AEAF-DB93-A963DCB65CDA}"/>
              </a:ext>
            </a:extLst>
          </p:cNvPr>
          <p:cNvSpPr>
            <a:spLocks noGrp="1"/>
          </p:cNvSpPr>
          <p:nvPr/>
        </p:nvSpPr>
        <p:spPr>
          <a:xfrm>
            <a:off x="6267236" y="5157798"/>
            <a:ext cx="2572820" cy="418053"/>
          </a:xfrm>
          <a:prstGeom prst="rect">
            <a:avLst/>
          </a:prstGeom>
          <a:solidFill>
            <a:srgbClr val="EBF0DE"/>
          </a:solidFill>
          <a:ln w="38100" cap="flat" cmpd="sng">
            <a:solidFill>
              <a:srgbClr val="52530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48250" rIns="0" bIns="0" anchor="t">
            <a:spAutoFit/>
          </a:bodyPr>
          <a:lstStyle/>
          <a:p>
            <a:pPr marL="9017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B LEFT JOIN A</a:t>
            </a:r>
            <a:endParaRPr dirty="0"/>
          </a:p>
        </p:txBody>
      </p:sp>
      <p:sp>
        <p:nvSpPr>
          <p:cNvPr id="4" name="Google Shape;362;p46">
            <a:extLst>
              <a:ext uri="{FF2B5EF4-FFF2-40B4-BE49-F238E27FC236}">
                <a16:creationId xmlns:a16="http://schemas.microsoft.com/office/drawing/2014/main" id="{CD31863A-7280-A408-1539-693F24AB266C}"/>
              </a:ext>
            </a:extLst>
          </p:cNvPr>
          <p:cNvSpPr>
            <a:spLocks noGrp="1"/>
          </p:cNvSpPr>
          <p:nvPr/>
        </p:nvSpPr>
        <p:spPr>
          <a:xfrm>
            <a:off x="5216823" y="5069797"/>
            <a:ext cx="598349" cy="598349"/>
          </a:xfrm>
          <a:prstGeom prst="mathEqual">
            <a:avLst>
              <a:gd name="adj1" fmla="val 23520"/>
              <a:gd name="adj2" fmla="val 1176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508358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50">
            <a:extLst>
              <a:ext uri="{FF2B5EF4-FFF2-40B4-BE49-F238E27FC236}">
                <a16:creationId xmlns:a16="http://schemas.microsoft.com/office/drawing/2014/main" id="{CA7EBF73-6B32-422F-9DE0-18E3D71B1E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77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/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t>FULL OUTER JOIN</a:t>
            </a:r>
          </a:p>
        </p:txBody>
      </p:sp>
      <p:sp>
        <p:nvSpPr>
          <p:cNvPr id="393" name="Google Shape;393;p50">
            <a:extLst>
              <a:ext uri="{FF2B5EF4-FFF2-40B4-BE49-F238E27FC236}">
                <a16:creationId xmlns:a16="http://schemas.microsoft.com/office/drawing/2014/main" id="{7B57F609-6121-48BA-82F5-261D4E8E7B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282148"/>
            <a:ext cx="10515600" cy="48948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/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dirty="0"/>
              <a:t>The </a:t>
            </a:r>
            <a:r>
              <a:rPr lang="en-US" altLang="zh-CN" dirty="0"/>
              <a:t>FULL OUTER</a:t>
            </a:r>
            <a:r>
              <a:rPr dirty="0"/>
              <a:t> JOIN keyword returns all </a:t>
            </a:r>
            <a:r>
              <a:rPr lang="en-US" dirty="0"/>
              <a:t>matching </a:t>
            </a:r>
            <a:r>
              <a:rPr dirty="0"/>
              <a:t>records from </a:t>
            </a:r>
            <a:r>
              <a:rPr lang="en-US" dirty="0"/>
              <a:t>both </a:t>
            </a:r>
            <a:r>
              <a:rPr dirty="0"/>
              <a:t>table</a:t>
            </a:r>
            <a:r>
              <a:rPr lang="en-US" dirty="0"/>
              <a:t>s</a:t>
            </a:r>
            <a:r>
              <a:rPr dirty="0"/>
              <a:t>, and the </a:t>
            </a:r>
            <a:r>
              <a:rPr lang="en-US" dirty="0"/>
              <a:t>un</a:t>
            </a:r>
            <a:r>
              <a:rPr dirty="0"/>
              <a:t>match</a:t>
            </a:r>
            <a:r>
              <a:rPr lang="en-US" dirty="0"/>
              <a:t>ed</a:t>
            </a:r>
            <a:r>
              <a:rPr dirty="0"/>
              <a:t> records </a:t>
            </a:r>
            <a:r>
              <a:rPr lang="en-US" dirty="0"/>
              <a:t>return with NULL.</a:t>
            </a:r>
          </a:p>
          <a:p>
            <a:pPr marL="2286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Syntax</a:t>
            </a:r>
          </a:p>
        </p:txBody>
      </p:sp>
      <p:sp>
        <p:nvSpPr>
          <p:cNvPr id="394" name="Google Shape;394;p50">
            <a:extLst>
              <a:ext uri="{FF2B5EF4-FFF2-40B4-BE49-F238E27FC236}">
                <a16:creationId xmlns:a16="http://schemas.microsoft.com/office/drawing/2014/main" id="{90850ADD-533A-4E2A-BFDB-A39B8DCA5AB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  <a:t>16</a:t>
            </a:fld>
            <a:endParaRPr/>
          </a:p>
        </p:txBody>
      </p:sp>
      <p:sp>
        <p:nvSpPr>
          <p:cNvPr id="395" name="Google Shape;395;p50">
            <a:extLst>
              <a:ext uri="{FF2B5EF4-FFF2-40B4-BE49-F238E27FC236}">
                <a16:creationId xmlns:a16="http://schemas.microsoft.com/office/drawing/2014/main" id="{9196CB5B-422D-4E85-B6CD-B12DFFA979E7}"/>
              </a:ext>
            </a:extLst>
          </p:cNvPr>
          <p:cNvSpPr>
            <a:spLocks noGrp="1"/>
          </p:cNvSpPr>
          <p:nvPr/>
        </p:nvSpPr>
        <p:spPr>
          <a:xfrm>
            <a:off x="838200" y="2802266"/>
            <a:ext cx="8244840" cy="1679947"/>
          </a:xfrm>
          <a:prstGeom prst="rect">
            <a:avLst/>
          </a:prstGeom>
          <a:solidFill>
            <a:srgbClr val="EBF0DE"/>
          </a:solidFill>
          <a:ln w="38100" cap="flat" cmpd="sng">
            <a:solidFill>
              <a:srgbClr val="52530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48250" rIns="0" bIns="0" anchor="t">
            <a:spAutoFit/>
          </a:bodyPr>
          <a:lstStyle/>
          <a:p>
            <a:pPr marL="9017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4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SELECT </a:t>
            </a:r>
            <a:r>
              <a:rPr sz="2400" dirty="0" err="1">
                <a:solidFill>
                  <a:srgbClr val="525308"/>
                </a:solidFill>
                <a:latin typeface="Arial"/>
                <a:ea typeface="Arial"/>
                <a:cs typeface="Arial"/>
              </a:rPr>
              <a:t>column_name</a:t>
            </a:r>
            <a:r>
              <a:rPr sz="24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(s) </a:t>
            </a:r>
            <a:endParaRPr dirty="0"/>
          </a:p>
          <a:p>
            <a:pPr marL="90170" marR="0" lvl="0" indent="0" algn="l">
              <a:spcBef>
                <a:spcPts val="380"/>
              </a:spcBef>
              <a:spcAft>
                <a:spcPts val="0"/>
              </a:spcAft>
              <a:buNone/>
            </a:pPr>
            <a:r>
              <a:rPr sz="24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FROM table1 </a:t>
            </a:r>
            <a:endParaRPr dirty="0"/>
          </a:p>
          <a:p>
            <a:pPr marL="90170" marR="0" lvl="0" indent="0" algn="l">
              <a:spcBef>
                <a:spcPts val="380"/>
              </a:spcBef>
              <a:spcAft>
                <a:spcPts val="0"/>
              </a:spcAft>
              <a:buNone/>
            </a:pPr>
            <a:r>
              <a:rPr sz="24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FULL [OUTER] JOIN table2 </a:t>
            </a:r>
            <a:endParaRPr dirty="0"/>
          </a:p>
          <a:p>
            <a:pPr marL="90170" marR="0" lvl="0" indent="0" algn="l">
              <a:spcBef>
                <a:spcPts val="380"/>
              </a:spcBef>
              <a:spcAft>
                <a:spcPts val="0"/>
              </a:spcAft>
              <a:buNone/>
            </a:pPr>
            <a:r>
              <a:rPr sz="24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ON table1.column_name = table2.column_name;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888759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51">
            <a:extLst>
              <a:ext uri="{FF2B5EF4-FFF2-40B4-BE49-F238E27FC236}">
                <a16:creationId xmlns:a16="http://schemas.microsoft.com/office/drawing/2014/main" id="{08B14C75-65A4-43FA-99C5-10A6DB05AC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77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/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t>DEMO: Different Types of SQL JOINs</a:t>
            </a:r>
          </a:p>
        </p:txBody>
      </p:sp>
      <p:sp>
        <p:nvSpPr>
          <p:cNvPr id="401" name="Google Shape;401;p51">
            <a:extLst>
              <a:ext uri="{FF2B5EF4-FFF2-40B4-BE49-F238E27FC236}">
                <a16:creationId xmlns:a16="http://schemas.microsoft.com/office/drawing/2014/main" id="{8D0D00C5-7882-4CD6-98FB-75F3FBC0C31A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  <a:t>17</a:t>
            </a:fld>
            <a:endParaRPr/>
          </a:p>
        </p:txBody>
      </p:sp>
      <p:sp>
        <p:nvSpPr>
          <p:cNvPr id="402" name="Google Shape;402;p51">
            <a:extLst>
              <a:ext uri="{FF2B5EF4-FFF2-40B4-BE49-F238E27FC236}">
                <a16:creationId xmlns:a16="http://schemas.microsoft.com/office/drawing/2014/main" id="{28B840D0-75BF-4238-85C8-B3649B9FFFEE}"/>
              </a:ext>
            </a:extLst>
          </p:cNvPr>
          <p:cNvSpPr>
            <a:spLocks noGrp="1"/>
          </p:cNvSpPr>
          <p:nvPr/>
        </p:nvSpPr>
        <p:spPr>
          <a:xfrm>
            <a:off x="838200" y="1531133"/>
            <a:ext cx="10668000" cy="4203705"/>
          </a:xfrm>
          <a:prstGeom prst="rect">
            <a:avLst/>
          </a:prstGeom>
          <a:solidFill>
            <a:srgbClr val="EBF0DE"/>
          </a:solidFill>
          <a:ln w="38100" cap="flat" cmpd="sng">
            <a:solidFill>
              <a:srgbClr val="52530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48250" rIns="0" bIns="0" anchor="t">
            <a:spAutoFit/>
          </a:bodyPr>
          <a:lstStyle/>
          <a:p>
            <a:pPr marL="9017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4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CREATE TABLE customers ( </a:t>
            </a:r>
            <a:endParaRPr dirty="0"/>
          </a:p>
          <a:p>
            <a:pPr marL="90170" marR="0" lvl="0" indent="0" algn="l">
              <a:spcBef>
                <a:spcPts val="380"/>
              </a:spcBef>
              <a:spcAft>
                <a:spcPts val="0"/>
              </a:spcAft>
              <a:buNone/>
            </a:pPr>
            <a:r>
              <a:rPr sz="24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	</a:t>
            </a:r>
            <a:r>
              <a:rPr sz="2400" dirty="0" err="1">
                <a:solidFill>
                  <a:srgbClr val="525308"/>
                </a:solidFill>
                <a:latin typeface="Arial"/>
                <a:ea typeface="Arial"/>
                <a:cs typeface="Arial"/>
              </a:rPr>
              <a:t>customer_id</a:t>
            </a:r>
            <a:r>
              <a:rPr sz="24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 INT PRIMARY KEY, </a:t>
            </a:r>
            <a:endParaRPr dirty="0"/>
          </a:p>
          <a:p>
            <a:pPr marL="90170" marR="0" lvl="0" indent="0" algn="l">
              <a:spcBef>
                <a:spcPts val="380"/>
              </a:spcBef>
              <a:spcAft>
                <a:spcPts val="0"/>
              </a:spcAft>
              <a:buNone/>
            </a:pPr>
            <a:r>
              <a:rPr sz="24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	</a:t>
            </a:r>
            <a:r>
              <a:rPr sz="2400" dirty="0" err="1">
                <a:solidFill>
                  <a:srgbClr val="525308"/>
                </a:solidFill>
                <a:latin typeface="Arial"/>
                <a:ea typeface="Arial"/>
                <a:cs typeface="Arial"/>
              </a:rPr>
              <a:t>customer_name</a:t>
            </a:r>
            <a:r>
              <a:rPr sz="24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 VARCHAR(100) ); </a:t>
            </a:r>
            <a:endParaRPr dirty="0"/>
          </a:p>
          <a:p>
            <a:pPr marL="90170" marR="0" lvl="0" indent="0" algn="l">
              <a:spcBef>
                <a:spcPts val="380"/>
              </a:spcBef>
              <a:spcAft>
                <a:spcPts val="0"/>
              </a:spcAft>
              <a:buNone/>
            </a:pPr>
            <a:endParaRPr sz="2400" dirty="0">
              <a:solidFill>
                <a:srgbClr val="525308"/>
              </a:solidFill>
              <a:latin typeface="Arial"/>
              <a:ea typeface="Arial"/>
              <a:cs typeface="Arial"/>
            </a:endParaRPr>
          </a:p>
          <a:p>
            <a:pPr marL="90170" marR="0" lvl="0" indent="0" algn="l">
              <a:spcBef>
                <a:spcPts val="380"/>
              </a:spcBef>
              <a:spcAft>
                <a:spcPts val="0"/>
              </a:spcAft>
              <a:buNone/>
            </a:pPr>
            <a:r>
              <a:rPr sz="24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CREATE TABLE orders ( </a:t>
            </a:r>
            <a:endParaRPr dirty="0"/>
          </a:p>
          <a:p>
            <a:pPr marL="90170" marR="0" lvl="0" indent="0" algn="l">
              <a:spcBef>
                <a:spcPts val="380"/>
              </a:spcBef>
              <a:spcAft>
                <a:spcPts val="0"/>
              </a:spcAft>
              <a:buNone/>
            </a:pPr>
            <a:r>
              <a:rPr sz="24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	</a:t>
            </a:r>
            <a:r>
              <a:rPr sz="2400" dirty="0" err="1">
                <a:solidFill>
                  <a:srgbClr val="525308"/>
                </a:solidFill>
                <a:latin typeface="Arial"/>
                <a:ea typeface="Arial"/>
                <a:cs typeface="Arial"/>
              </a:rPr>
              <a:t>order_id</a:t>
            </a:r>
            <a:r>
              <a:rPr sz="24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 INT PRIMARY KEY, </a:t>
            </a:r>
            <a:endParaRPr dirty="0"/>
          </a:p>
          <a:p>
            <a:pPr marL="90170" marR="0" lvl="0" indent="0" algn="l">
              <a:spcBef>
                <a:spcPts val="380"/>
              </a:spcBef>
              <a:spcAft>
                <a:spcPts val="0"/>
              </a:spcAft>
              <a:buNone/>
            </a:pPr>
            <a:r>
              <a:rPr sz="24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	</a:t>
            </a:r>
            <a:r>
              <a:rPr sz="2400" dirty="0" err="1">
                <a:solidFill>
                  <a:srgbClr val="525308"/>
                </a:solidFill>
                <a:latin typeface="Arial"/>
                <a:ea typeface="Arial"/>
                <a:cs typeface="Arial"/>
              </a:rPr>
              <a:t>customer_id</a:t>
            </a:r>
            <a:r>
              <a:rPr sz="24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 INT, </a:t>
            </a:r>
            <a:endParaRPr dirty="0"/>
          </a:p>
          <a:p>
            <a:pPr marL="90170" marR="0" lvl="0" indent="0" algn="l">
              <a:spcBef>
                <a:spcPts val="380"/>
              </a:spcBef>
              <a:spcAft>
                <a:spcPts val="0"/>
              </a:spcAft>
              <a:buNone/>
            </a:pPr>
            <a:r>
              <a:rPr sz="24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	</a:t>
            </a:r>
            <a:r>
              <a:rPr sz="2400" dirty="0" err="1">
                <a:solidFill>
                  <a:srgbClr val="525308"/>
                </a:solidFill>
                <a:latin typeface="Arial"/>
                <a:ea typeface="Arial"/>
                <a:cs typeface="Arial"/>
              </a:rPr>
              <a:t>order_date</a:t>
            </a:r>
            <a:r>
              <a:rPr sz="24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 DATE, </a:t>
            </a:r>
            <a:endParaRPr dirty="0"/>
          </a:p>
          <a:p>
            <a:pPr marL="90170" marR="0" lvl="0" indent="0" algn="l">
              <a:spcBef>
                <a:spcPts val="380"/>
              </a:spcBef>
              <a:spcAft>
                <a:spcPts val="0"/>
              </a:spcAft>
              <a:buNone/>
            </a:pPr>
            <a:r>
              <a:rPr sz="24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	FOREIGN KEY (</a:t>
            </a:r>
            <a:r>
              <a:rPr sz="2400" dirty="0" err="1">
                <a:solidFill>
                  <a:srgbClr val="525308"/>
                </a:solidFill>
                <a:latin typeface="Arial"/>
                <a:ea typeface="Arial"/>
                <a:cs typeface="Arial"/>
              </a:rPr>
              <a:t>customer_id</a:t>
            </a:r>
            <a:r>
              <a:rPr sz="24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) REFERENCES customers(</a:t>
            </a:r>
            <a:r>
              <a:rPr sz="2400" dirty="0" err="1">
                <a:solidFill>
                  <a:srgbClr val="525308"/>
                </a:solidFill>
                <a:latin typeface="Arial"/>
                <a:ea typeface="Arial"/>
                <a:cs typeface="Arial"/>
              </a:rPr>
              <a:t>customer_id</a:t>
            </a:r>
            <a:r>
              <a:rPr sz="24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)</a:t>
            </a:r>
          </a:p>
          <a:p>
            <a:pPr marL="90170" marR="0" lvl="0" indent="0" algn="l">
              <a:spcBef>
                <a:spcPts val="380"/>
              </a:spcBef>
              <a:spcAft>
                <a:spcPts val="0"/>
              </a:spcAft>
              <a:buNone/>
            </a:pPr>
            <a:r>
              <a:rPr sz="24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 ); 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793769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52">
            <a:extLst>
              <a:ext uri="{FF2B5EF4-FFF2-40B4-BE49-F238E27FC236}">
                <a16:creationId xmlns:a16="http://schemas.microsoft.com/office/drawing/2014/main" id="{8A67FCD6-F2F7-49DE-96AB-844ADC1AC9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77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/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t>DEMO: Different Types of SQL JOINs</a:t>
            </a:r>
          </a:p>
        </p:txBody>
      </p:sp>
      <p:sp>
        <p:nvSpPr>
          <p:cNvPr id="408" name="Google Shape;408;p52">
            <a:extLst>
              <a:ext uri="{FF2B5EF4-FFF2-40B4-BE49-F238E27FC236}">
                <a16:creationId xmlns:a16="http://schemas.microsoft.com/office/drawing/2014/main" id="{B9F0D361-83DE-4A9C-8C80-C693ACE9331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  <a:t>18</a:t>
            </a:fld>
            <a:endParaRPr/>
          </a:p>
        </p:txBody>
      </p:sp>
      <p:sp>
        <p:nvSpPr>
          <p:cNvPr id="409" name="Google Shape;409;p52">
            <a:extLst>
              <a:ext uri="{FF2B5EF4-FFF2-40B4-BE49-F238E27FC236}">
                <a16:creationId xmlns:a16="http://schemas.microsoft.com/office/drawing/2014/main" id="{76ABC8AB-E96E-4149-B30A-6FEDFDE8B08B}"/>
              </a:ext>
            </a:extLst>
          </p:cNvPr>
          <p:cNvSpPr>
            <a:spLocks noGrp="1"/>
          </p:cNvSpPr>
          <p:nvPr/>
        </p:nvSpPr>
        <p:spPr>
          <a:xfrm>
            <a:off x="838200" y="1531133"/>
            <a:ext cx="10668000" cy="3362459"/>
          </a:xfrm>
          <a:prstGeom prst="rect">
            <a:avLst/>
          </a:prstGeom>
          <a:solidFill>
            <a:srgbClr val="EBF0DE"/>
          </a:solidFill>
          <a:ln w="38100" cap="flat" cmpd="sng">
            <a:solidFill>
              <a:srgbClr val="52530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48250" rIns="0" bIns="0" anchor="t">
            <a:spAutoFit/>
          </a:bodyPr>
          <a:lstStyle/>
          <a:p>
            <a:pPr marL="9017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4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INSERT INTO customers (</a:t>
            </a:r>
            <a:r>
              <a:rPr sz="2400" dirty="0" err="1">
                <a:solidFill>
                  <a:srgbClr val="525308"/>
                </a:solidFill>
                <a:latin typeface="Arial"/>
                <a:ea typeface="Arial"/>
                <a:cs typeface="Arial"/>
              </a:rPr>
              <a:t>customer_id</a:t>
            </a:r>
            <a:r>
              <a:rPr sz="24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, </a:t>
            </a:r>
            <a:r>
              <a:rPr sz="2400" dirty="0" err="1">
                <a:solidFill>
                  <a:srgbClr val="525308"/>
                </a:solidFill>
                <a:latin typeface="Arial"/>
                <a:ea typeface="Arial"/>
                <a:cs typeface="Arial"/>
              </a:rPr>
              <a:t>customer_name</a:t>
            </a:r>
            <a:r>
              <a:rPr sz="24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) VALUES </a:t>
            </a:r>
            <a:endParaRPr dirty="0"/>
          </a:p>
          <a:p>
            <a:pPr marL="90170" marR="0" lvl="0" indent="0" algn="l">
              <a:spcBef>
                <a:spcPts val="380"/>
              </a:spcBef>
              <a:spcAft>
                <a:spcPts val="0"/>
              </a:spcAft>
              <a:buNone/>
            </a:pPr>
            <a:r>
              <a:rPr sz="24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	(1, 'John Doe’), </a:t>
            </a:r>
            <a:endParaRPr dirty="0"/>
          </a:p>
          <a:p>
            <a:pPr marL="90170" marR="0" lvl="0" indent="0" algn="l">
              <a:spcBef>
                <a:spcPts val="380"/>
              </a:spcBef>
              <a:spcAft>
                <a:spcPts val="0"/>
              </a:spcAft>
              <a:buNone/>
            </a:pPr>
            <a:r>
              <a:rPr sz="24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	(2, 'Jane Smith’), </a:t>
            </a:r>
            <a:endParaRPr dirty="0"/>
          </a:p>
          <a:p>
            <a:pPr marL="90170" marR="0" lvl="0" indent="0" algn="l">
              <a:spcBef>
                <a:spcPts val="380"/>
              </a:spcBef>
              <a:spcAft>
                <a:spcPts val="0"/>
              </a:spcAft>
              <a:buNone/>
            </a:pPr>
            <a:r>
              <a:rPr sz="24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	(3, 'Bob Johnson’); </a:t>
            </a:r>
            <a:endParaRPr dirty="0"/>
          </a:p>
          <a:p>
            <a:pPr marL="90170" marR="0" lvl="0" indent="0" algn="l">
              <a:spcBef>
                <a:spcPts val="380"/>
              </a:spcBef>
              <a:spcAft>
                <a:spcPts val="0"/>
              </a:spcAft>
              <a:buNone/>
            </a:pPr>
            <a:endParaRPr sz="2400" dirty="0">
              <a:solidFill>
                <a:srgbClr val="525308"/>
              </a:solidFill>
              <a:latin typeface="Arial"/>
              <a:ea typeface="Arial"/>
              <a:cs typeface="Arial"/>
            </a:endParaRPr>
          </a:p>
          <a:p>
            <a:pPr marL="90170" marR="0" lvl="0" indent="0" algn="l">
              <a:spcBef>
                <a:spcPts val="380"/>
              </a:spcBef>
              <a:spcAft>
                <a:spcPts val="0"/>
              </a:spcAft>
              <a:buNone/>
            </a:pPr>
            <a:r>
              <a:rPr sz="24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INSERT INTO orders (</a:t>
            </a:r>
            <a:r>
              <a:rPr sz="2400" dirty="0" err="1">
                <a:solidFill>
                  <a:srgbClr val="525308"/>
                </a:solidFill>
                <a:latin typeface="Arial"/>
                <a:ea typeface="Arial"/>
                <a:cs typeface="Arial"/>
              </a:rPr>
              <a:t>order_id</a:t>
            </a:r>
            <a:r>
              <a:rPr sz="24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, </a:t>
            </a:r>
            <a:r>
              <a:rPr sz="2400" dirty="0" err="1">
                <a:solidFill>
                  <a:srgbClr val="525308"/>
                </a:solidFill>
                <a:latin typeface="Arial"/>
                <a:ea typeface="Arial"/>
                <a:cs typeface="Arial"/>
              </a:rPr>
              <a:t>customer_id</a:t>
            </a:r>
            <a:r>
              <a:rPr sz="24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, </a:t>
            </a:r>
            <a:r>
              <a:rPr sz="2400" dirty="0" err="1">
                <a:solidFill>
                  <a:srgbClr val="525308"/>
                </a:solidFill>
                <a:latin typeface="Arial"/>
                <a:ea typeface="Arial"/>
                <a:cs typeface="Arial"/>
              </a:rPr>
              <a:t>order_date</a:t>
            </a:r>
            <a:r>
              <a:rPr sz="24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) VALUES </a:t>
            </a:r>
            <a:endParaRPr dirty="0"/>
          </a:p>
          <a:p>
            <a:pPr marL="90170" marR="0" lvl="0" indent="0" algn="l">
              <a:spcBef>
                <a:spcPts val="380"/>
              </a:spcBef>
              <a:spcAft>
                <a:spcPts val="0"/>
              </a:spcAft>
              <a:buNone/>
            </a:pPr>
            <a:r>
              <a:rPr sz="24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	(1, 1, '2023-01-01’), </a:t>
            </a:r>
            <a:endParaRPr dirty="0"/>
          </a:p>
          <a:p>
            <a:pPr marL="90170" marR="0" lvl="0" indent="0" algn="l">
              <a:spcBef>
                <a:spcPts val="380"/>
              </a:spcBef>
              <a:spcAft>
                <a:spcPts val="0"/>
              </a:spcAft>
              <a:buNone/>
            </a:pPr>
            <a:r>
              <a:rPr sz="24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	(2, 1, '2023-02-01');</a:t>
            </a:r>
            <a:endParaRPr dirty="0"/>
          </a:p>
        </p:txBody>
      </p:sp>
      <p:sp>
        <p:nvSpPr>
          <p:cNvPr id="410" name="Google Shape;410;p52">
            <a:extLst>
              <a:ext uri="{FF2B5EF4-FFF2-40B4-BE49-F238E27FC236}">
                <a16:creationId xmlns:a16="http://schemas.microsoft.com/office/drawing/2014/main" id="{0937F3BB-83C8-451E-B117-C6772F2403D8}"/>
              </a:ext>
            </a:extLst>
          </p:cNvPr>
          <p:cNvSpPr>
            <a:spLocks noGrp="1"/>
          </p:cNvSpPr>
          <p:nvPr/>
        </p:nvSpPr>
        <p:spPr>
          <a:xfrm>
            <a:off x="838199" y="5096034"/>
            <a:ext cx="10515600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  <a:latin typeface="Arial"/>
                <a:ea typeface="Arial"/>
                <a:cs typeface="Arial"/>
              </a:rPr>
              <a:t>Predict which customers or orders each join must retain.</a:t>
            </a:r>
          </a:p>
          <a:p>
            <a:pPr lvl="0"/>
            <a:r>
              <a:rPr lang="en-US" sz="2400" dirty="0">
                <a:solidFill>
                  <a:schemeClr val="dk1"/>
                </a:solidFill>
                <a:latin typeface="Arial"/>
                <a:ea typeface="Arial"/>
                <a:cs typeface="Arial"/>
              </a:rPr>
              <a:t>Write SQL for </a:t>
            </a:r>
            <a:r>
              <a:rPr lang="en-US" altLang="zh-CN" sz="2400" dirty="0">
                <a:solidFill>
                  <a:schemeClr val="dk1"/>
                </a:solidFill>
                <a:latin typeface="Arial"/>
                <a:ea typeface="Arial"/>
                <a:cs typeface="Arial"/>
              </a:rPr>
              <a:t>different join types and t</a:t>
            </a:r>
            <a:r>
              <a:rPr sz="2400" dirty="0">
                <a:solidFill>
                  <a:schemeClr val="dk1"/>
                </a:solidFill>
                <a:latin typeface="Arial"/>
                <a:ea typeface="Arial"/>
                <a:cs typeface="Arial"/>
              </a:rPr>
              <a:t>hink about the</a:t>
            </a:r>
            <a:r>
              <a:rPr lang="en-US" sz="2400" dirty="0">
                <a:solidFill>
                  <a:schemeClr val="dk1"/>
                </a:solidFill>
                <a:latin typeface="Arial"/>
                <a:ea typeface="Arial"/>
                <a:cs typeface="Arial"/>
              </a:rPr>
              <a:t>ir</a:t>
            </a:r>
            <a:r>
              <a:rPr sz="2400" dirty="0">
                <a:solidFill>
                  <a:schemeClr val="dk1"/>
                </a:solidFill>
                <a:latin typeface="Arial"/>
                <a:ea typeface="Arial"/>
                <a:cs typeface="Arial"/>
              </a:rPr>
              <a:t> results</a:t>
            </a:r>
            <a:r>
              <a:rPr lang="en-US" sz="2400" dirty="0">
                <a:solidFill>
                  <a:schemeClr val="dk1"/>
                </a:solidFill>
                <a:latin typeface="Arial"/>
                <a:ea typeface="Arial"/>
                <a:cs typeface="Arial"/>
              </a:rPr>
              <a:t>.</a:t>
            </a:r>
            <a:r>
              <a:rPr sz="2400" dirty="0">
                <a:solidFill>
                  <a:schemeClr val="dk1"/>
                </a:solidFill>
                <a:latin typeface="Arial"/>
                <a:ea typeface="Arial"/>
                <a:cs typeface="Arial"/>
              </a:rPr>
              <a:t>(</a:t>
            </a:r>
            <a:r>
              <a:rPr lang="en-US" sz="2400" dirty="0">
                <a:solidFill>
                  <a:srgbClr val="FF0000"/>
                </a:solidFill>
                <a:latin typeface="Arial"/>
                <a:ea typeface="Arial"/>
                <a:cs typeface="Arial"/>
              </a:rPr>
              <a:t>5</a:t>
            </a:r>
            <a:r>
              <a:rPr sz="2400" dirty="0">
                <a:solidFill>
                  <a:srgbClr val="FF0000"/>
                </a:solidFill>
                <a:latin typeface="Arial"/>
                <a:ea typeface="Arial"/>
                <a:cs typeface="Arial"/>
              </a:rPr>
              <a:t> mins</a:t>
            </a:r>
            <a:r>
              <a:rPr sz="2400" dirty="0">
                <a:solidFill>
                  <a:schemeClr val="dk1"/>
                </a:solidFill>
                <a:latin typeface="Arial"/>
                <a:ea typeface="Arial"/>
                <a:cs typeface="Arial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5292102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53">
            <a:extLst>
              <a:ext uri="{FF2B5EF4-FFF2-40B4-BE49-F238E27FC236}">
                <a16:creationId xmlns:a16="http://schemas.microsoft.com/office/drawing/2014/main" id="{95E17A85-926B-42D7-970C-609EBAE634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77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/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t>DEMO: Different Types of SQL JOINs</a:t>
            </a:r>
          </a:p>
        </p:txBody>
      </p:sp>
      <p:sp>
        <p:nvSpPr>
          <p:cNvPr id="416" name="Google Shape;416;p53">
            <a:extLst>
              <a:ext uri="{FF2B5EF4-FFF2-40B4-BE49-F238E27FC236}">
                <a16:creationId xmlns:a16="http://schemas.microsoft.com/office/drawing/2014/main" id="{5744B37D-16B2-4073-8CD6-5C3FBD956737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  <a:t>19</a:t>
            </a:fld>
            <a:endParaRPr/>
          </a:p>
        </p:txBody>
      </p:sp>
      <p:sp>
        <p:nvSpPr>
          <p:cNvPr id="417" name="Google Shape;417;p53">
            <a:extLst>
              <a:ext uri="{FF2B5EF4-FFF2-40B4-BE49-F238E27FC236}">
                <a16:creationId xmlns:a16="http://schemas.microsoft.com/office/drawing/2014/main" id="{C964D924-77FE-453B-B095-9E5306AC48BC}"/>
              </a:ext>
            </a:extLst>
          </p:cNvPr>
          <p:cNvSpPr>
            <a:spLocks noGrp="1"/>
          </p:cNvSpPr>
          <p:nvPr/>
        </p:nvSpPr>
        <p:spPr>
          <a:xfrm>
            <a:off x="838200" y="2057400"/>
            <a:ext cx="10668000" cy="1679947"/>
          </a:xfrm>
          <a:prstGeom prst="rect">
            <a:avLst/>
          </a:prstGeom>
          <a:solidFill>
            <a:srgbClr val="EBF0DE"/>
          </a:solidFill>
          <a:ln w="38100" cap="flat" cmpd="sng">
            <a:solidFill>
              <a:srgbClr val="52530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48250" rIns="0" bIns="0" anchor="t">
            <a:spAutoFit/>
          </a:bodyPr>
          <a:lstStyle/>
          <a:p>
            <a:pPr marL="9017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4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SELECT </a:t>
            </a:r>
            <a:r>
              <a:rPr sz="2400" dirty="0" err="1">
                <a:solidFill>
                  <a:srgbClr val="525308"/>
                </a:solidFill>
                <a:latin typeface="Arial"/>
                <a:ea typeface="Arial"/>
                <a:cs typeface="Arial"/>
              </a:rPr>
              <a:t>customers.customer_name</a:t>
            </a:r>
            <a:r>
              <a:rPr sz="24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, </a:t>
            </a:r>
            <a:r>
              <a:rPr sz="2400" dirty="0" err="1">
                <a:solidFill>
                  <a:srgbClr val="525308"/>
                </a:solidFill>
                <a:latin typeface="Arial"/>
                <a:ea typeface="Arial"/>
                <a:cs typeface="Arial"/>
              </a:rPr>
              <a:t>orders.order_date</a:t>
            </a:r>
            <a:endParaRPr sz="2400" dirty="0">
              <a:solidFill>
                <a:srgbClr val="525308"/>
              </a:solidFill>
              <a:latin typeface="Arial"/>
              <a:ea typeface="Arial"/>
              <a:cs typeface="Arial"/>
            </a:endParaRPr>
          </a:p>
          <a:p>
            <a:pPr marL="90170" marR="0" lvl="0" indent="0" algn="l">
              <a:spcBef>
                <a:spcPts val="380"/>
              </a:spcBef>
              <a:spcAft>
                <a:spcPts val="0"/>
              </a:spcAft>
              <a:buNone/>
            </a:pPr>
            <a:r>
              <a:rPr sz="24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FROM customers </a:t>
            </a:r>
            <a:endParaRPr dirty="0"/>
          </a:p>
          <a:p>
            <a:pPr marL="90170" marR="0" lvl="0" indent="0" algn="l">
              <a:spcBef>
                <a:spcPts val="380"/>
              </a:spcBef>
              <a:spcAft>
                <a:spcPts val="0"/>
              </a:spcAft>
              <a:buNone/>
            </a:pPr>
            <a:r>
              <a:rPr sz="24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LEFT JOIN orders </a:t>
            </a:r>
            <a:endParaRPr dirty="0"/>
          </a:p>
          <a:p>
            <a:pPr marL="90170" marR="0" lvl="0" indent="0" algn="l">
              <a:spcBef>
                <a:spcPts val="380"/>
              </a:spcBef>
              <a:spcAft>
                <a:spcPts val="0"/>
              </a:spcAft>
              <a:buNone/>
            </a:pPr>
            <a:r>
              <a:rPr sz="24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ON </a:t>
            </a:r>
            <a:r>
              <a:rPr sz="2400" dirty="0" err="1">
                <a:solidFill>
                  <a:srgbClr val="525308"/>
                </a:solidFill>
                <a:latin typeface="Arial"/>
                <a:ea typeface="Arial"/>
                <a:cs typeface="Arial"/>
              </a:rPr>
              <a:t>customers.customer_id</a:t>
            </a:r>
            <a:r>
              <a:rPr sz="24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 = </a:t>
            </a:r>
            <a:r>
              <a:rPr sz="2400" dirty="0" err="1">
                <a:solidFill>
                  <a:srgbClr val="525308"/>
                </a:solidFill>
                <a:latin typeface="Arial"/>
                <a:ea typeface="Arial"/>
                <a:cs typeface="Arial"/>
              </a:rPr>
              <a:t>orders.customer_id</a:t>
            </a:r>
            <a:r>
              <a:rPr sz="24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;</a:t>
            </a:r>
          </a:p>
        </p:txBody>
      </p:sp>
      <p:sp>
        <p:nvSpPr>
          <p:cNvPr id="418" name="Google Shape;418;p53">
            <a:extLst>
              <a:ext uri="{FF2B5EF4-FFF2-40B4-BE49-F238E27FC236}">
                <a16:creationId xmlns:a16="http://schemas.microsoft.com/office/drawing/2014/main" id="{36DBC457-D7A4-46C4-BC35-171BB3784982}"/>
              </a:ext>
            </a:extLst>
          </p:cNvPr>
          <p:cNvSpPr>
            <a:spLocks noGrp="1"/>
          </p:cNvSpPr>
          <p:nvPr/>
        </p:nvSpPr>
        <p:spPr>
          <a:xfrm>
            <a:off x="838200" y="1595735"/>
            <a:ext cx="210820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400">
                <a:solidFill>
                  <a:schemeClr val="dk1"/>
                </a:solidFill>
                <a:latin typeface="Arial"/>
                <a:ea typeface="Arial"/>
                <a:cs typeface="Arial"/>
              </a:rPr>
              <a:t>LEFT JOIN</a:t>
            </a:r>
          </a:p>
        </p:txBody>
      </p:sp>
      <p:sp>
        <p:nvSpPr>
          <p:cNvPr id="419" name="Google Shape;419;p53">
            <a:extLst>
              <a:ext uri="{FF2B5EF4-FFF2-40B4-BE49-F238E27FC236}">
                <a16:creationId xmlns:a16="http://schemas.microsoft.com/office/drawing/2014/main" id="{BBB5B835-00BD-4A79-9B18-4401C8151049}"/>
              </a:ext>
            </a:extLst>
          </p:cNvPr>
          <p:cNvSpPr>
            <a:spLocks noGrp="1"/>
          </p:cNvSpPr>
          <p:nvPr/>
        </p:nvSpPr>
        <p:spPr>
          <a:xfrm>
            <a:off x="838200" y="4111942"/>
            <a:ext cx="2531533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400">
                <a:solidFill>
                  <a:schemeClr val="dk1"/>
                </a:solidFill>
                <a:latin typeface="Arial"/>
                <a:ea typeface="Arial"/>
                <a:cs typeface="Arial"/>
              </a:rPr>
              <a:t>RIGHT JOIN JOIN</a:t>
            </a:r>
          </a:p>
        </p:txBody>
      </p:sp>
      <p:sp>
        <p:nvSpPr>
          <p:cNvPr id="420" name="Google Shape;420;p53">
            <a:extLst>
              <a:ext uri="{FF2B5EF4-FFF2-40B4-BE49-F238E27FC236}">
                <a16:creationId xmlns:a16="http://schemas.microsoft.com/office/drawing/2014/main" id="{CBF10DA3-0D77-43BC-B0BC-62D7900D025D}"/>
              </a:ext>
            </a:extLst>
          </p:cNvPr>
          <p:cNvSpPr>
            <a:spLocks noGrp="1"/>
          </p:cNvSpPr>
          <p:nvPr/>
        </p:nvSpPr>
        <p:spPr>
          <a:xfrm>
            <a:off x="838200" y="4573607"/>
            <a:ext cx="10668000" cy="1679947"/>
          </a:xfrm>
          <a:prstGeom prst="rect">
            <a:avLst/>
          </a:prstGeom>
          <a:solidFill>
            <a:srgbClr val="EBF0DE"/>
          </a:solidFill>
          <a:ln w="38100" cap="flat" cmpd="sng">
            <a:solidFill>
              <a:srgbClr val="52530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48250" rIns="0" bIns="0" anchor="t">
            <a:spAutoFit/>
          </a:bodyPr>
          <a:lstStyle/>
          <a:p>
            <a:pPr marL="9017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4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SELECT </a:t>
            </a:r>
            <a:r>
              <a:rPr sz="2400" dirty="0" err="1">
                <a:solidFill>
                  <a:srgbClr val="525308"/>
                </a:solidFill>
                <a:latin typeface="Arial"/>
                <a:ea typeface="Arial"/>
                <a:cs typeface="Arial"/>
              </a:rPr>
              <a:t>customers.customer_name</a:t>
            </a:r>
            <a:r>
              <a:rPr sz="24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, </a:t>
            </a:r>
            <a:r>
              <a:rPr sz="2400" dirty="0" err="1">
                <a:solidFill>
                  <a:srgbClr val="525308"/>
                </a:solidFill>
                <a:latin typeface="Arial"/>
                <a:ea typeface="Arial"/>
                <a:cs typeface="Arial"/>
              </a:rPr>
              <a:t>orders.order_date</a:t>
            </a:r>
            <a:r>
              <a:rPr sz="24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 </a:t>
            </a:r>
            <a:endParaRPr dirty="0"/>
          </a:p>
          <a:p>
            <a:pPr marL="90170" marR="0" lvl="0" indent="0" algn="l">
              <a:spcBef>
                <a:spcPts val="380"/>
              </a:spcBef>
              <a:spcAft>
                <a:spcPts val="0"/>
              </a:spcAft>
              <a:buNone/>
            </a:pPr>
            <a:r>
              <a:rPr sz="24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FROM customers </a:t>
            </a:r>
            <a:endParaRPr dirty="0"/>
          </a:p>
          <a:p>
            <a:pPr marL="90170" marR="0" lvl="0" indent="0" algn="l">
              <a:spcBef>
                <a:spcPts val="380"/>
              </a:spcBef>
              <a:spcAft>
                <a:spcPts val="0"/>
              </a:spcAft>
              <a:buNone/>
            </a:pPr>
            <a:r>
              <a:rPr sz="24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RIGHT JOIN orders </a:t>
            </a:r>
            <a:endParaRPr dirty="0"/>
          </a:p>
          <a:p>
            <a:pPr marL="90170" marR="0" lvl="0" indent="0" algn="l">
              <a:spcBef>
                <a:spcPts val="380"/>
              </a:spcBef>
              <a:spcAft>
                <a:spcPts val="0"/>
              </a:spcAft>
              <a:buNone/>
            </a:pPr>
            <a:r>
              <a:rPr sz="24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ON </a:t>
            </a:r>
            <a:r>
              <a:rPr sz="2400" dirty="0" err="1">
                <a:solidFill>
                  <a:srgbClr val="525308"/>
                </a:solidFill>
                <a:latin typeface="Arial"/>
                <a:ea typeface="Arial"/>
                <a:cs typeface="Arial"/>
              </a:rPr>
              <a:t>customers.customer_id</a:t>
            </a:r>
            <a:r>
              <a:rPr sz="24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 = </a:t>
            </a:r>
            <a:r>
              <a:rPr sz="2400" dirty="0" err="1">
                <a:solidFill>
                  <a:srgbClr val="525308"/>
                </a:solidFill>
                <a:latin typeface="Arial"/>
                <a:ea typeface="Arial"/>
                <a:cs typeface="Arial"/>
              </a:rPr>
              <a:t>orders.customer_id</a:t>
            </a:r>
            <a:r>
              <a:rPr sz="24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4163294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54">
            <a:extLst>
              <a:ext uri="{FF2B5EF4-FFF2-40B4-BE49-F238E27FC236}">
                <a16:creationId xmlns:a16="http://schemas.microsoft.com/office/drawing/2014/main" id="{B4014CF9-B919-4C25-8C61-59EC856644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77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/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t>DEMO: Different Types of SQL JOINs</a:t>
            </a:r>
          </a:p>
        </p:txBody>
      </p:sp>
      <p:sp>
        <p:nvSpPr>
          <p:cNvPr id="426" name="Google Shape;426;p54">
            <a:extLst>
              <a:ext uri="{FF2B5EF4-FFF2-40B4-BE49-F238E27FC236}">
                <a16:creationId xmlns:a16="http://schemas.microsoft.com/office/drawing/2014/main" id="{CF7ACCDF-6465-4E96-9E18-2A89B321BF9E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  <a:t>20</a:t>
            </a:fld>
            <a:endParaRPr/>
          </a:p>
        </p:txBody>
      </p:sp>
      <p:sp>
        <p:nvSpPr>
          <p:cNvPr id="427" name="Google Shape;427;p54">
            <a:extLst>
              <a:ext uri="{FF2B5EF4-FFF2-40B4-BE49-F238E27FC236}">
                <a16:creationId xmlns:a16="http://schemas.microsoft.com/office/drawing/2014/main" id="{6C254572-C854-4624-949E-1B79EA392722}"/>
              </a:ext>
            </a:extLst>
          </p:cNvPr>
          <p:cNvSpPr>
            <a:spLocks noGrp="1"/>
          </p:cNvSpPr>
          <p:nvPr/>
        </p:nvSpPr>
        <p:spPr>
          <a:xfrm>
            <a:off x="838200" y="2057400"/>
            <a:ext cx="10668000" cy="1679947"/>
          </a:xfrm>
          <a:prstGeom prst="rect">
            <a:avLst/>
          </a:prstGeom>
          <a:solidFill>
            <a:srgbClr val="EBF0DE"/>
          </a:solidFill>
          <a:ln w="38100" cap="flat" cmpd="sng">
            <a:solidFill>
              <a:srgbClr val="52530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48250" rIns="0" bIns="0" anchor="t">
            <a:spAutoFit/>
          </a:bodyPr>
          <a:lstStyle/>
          <a:p>
            <a:pPr marL="9017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400">
                <a:solidFill>
                  <a:srgbClr val="525308"/>
                </a:solidFill>
                <a:latin typeface="Arial"/>
                <a:ea typeface="Arial"/>
                <a:cs typeface="Arial"/>
              </a:rPr>
              <a:t>SELECT customers.customer_name, orders.order_date </a:t>
            </a:r>
            <a:endParaRPr/>
          </a:p>
          <a:p>
            <a:pPr marL="90170" marR="0" lvl="0" indent="0" algn="l">
              <a:spcBef>
                <a:spcPts val="380"/>
              </a:spcBef>
              <a:spcAft>
                <a:spcPts val="0"/>
              </a:spcAft>
              <a:buNone/>
            </a:pPr>
            <a:r>
              <a:rPr sz="2400">
                <a:solidFill>
                  <a:srgbClr val="525308"/>
                </a:solidFill>
                <a:latin typeface="Arial"/>
                <a:ea typeface="Arial"/>
                <a:cs typeface="Arial"/>
              </a:rPr>
              <a:t>FROM customers </a:t>
            </a:r>
            <a:endParaRPr/>
          </a:p>
          <a:p>
            <a:pPr marL="90170" marR="0" lvl="0" indent="0" algn="l">
              <a:spcBef>
                <a:spcPts val="380"/>
              </a:spcBef>
              <a:spcAft>
                <a:spcPts val="0"/>
              </a:spcAft>
              <a:buNone/>
            </a:pPr>
            <a:r>
              <a:rPr sz="2400">
                <a:solidFill>
                  <a:srgbClr val="525308"/>
                </a:solidFill>
                <a:latin typeface="Arial"/>
                <a:ea typeface="Arial"/>
                <a:cs typeface="Arial"/>
              </a:rPr>
              <a:t>FULL JOIN orders </a:t>
            </a:r>
            <a:endParaRPr/>
          </a:p>
          <a:p>
            <a:pPr marL="90170" marR="0" lvl="0" indent="0" algn="l">
              <a:spcBef>
                <a:spcPts val="380"/>
              </a:spcBef>
              <a:spcAft>
                <a:spcPts val="0"/>
              </a:spcAft>
              <a:buNone/>
            </a:pPr>
            <a:r>
              <a:rPr sz="2400">
                <a:solidFill>
                  <a:srgbClr val="525308"/>
                </a:solidFill>
                <a:latin typeface="Arial"/>
                <a:ea typeface="Arial"/>
                <a:cs typeface="Arial"/>
              </a:rPr>
              <a:t>ON customers.customer_id = orders.customer_id;</a:t>
            </a:r>
          </a:p>
        </p:txBody>
      </p:sp>
      <p:sp>
        <p:nvSpPr>
          <p:cNvPr id="428" name="Google Shape;428;p54">
            <a:extLst>
              <a:ext uri="{FF2B5EF4-FFF2-40B4-BE49-F238E27FC236}">
                <a16:creationId xmlns:a16="http://schemas.microsoft.com/office/drawing/2014/main" id="{826BA6D9-0C8A-4860-BF42-E37AED4DC4B5}"/>
              </a:ext>
            </a:extLst>
          </p:cNvPr>
          <p:cNvSpPr>
            <a:spLocks noGrp="1"/>
          </p:cNvSpPr>
          <p:nvPr/>
        </p:nvSpPr>
        <p:spPr>
          <a:xfrm>
            <a:off x="838199" y="1595735"/>
            <a:ext cx="2658533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400" dirty="0">
                <a:solidFill>
                  <a:schemeClr val="dk1"/>
                </a:solidFill>
                <a:latin typeface="Arial"/>
                <a:ea typeface="Arial"/>
                <a:cs typeface="Arial"/>
              </a:rPr>
              <a:t>OUTER JOIN</a:t>
            </a:r>
          </a:p>
        </p:txBody>
      </p:sp>
      <p:sp>
        <p:nvSpPr>
          <p:cNvPr id="2" name="Google Shape;427;p54">
            <a:extLst>
              <a:ext uri="{FF2B5EF4-FFF2-40B4-BE49-F238E27FC236}">
                <a16:creationId xmlns:a16="http://schemas.microsoft.com/office/drawing/2014/main" id="{09DE65D3-C9CA-C8F2-2572-D0809F79A1AD}"/>
              </a:ext>
            </a:extLst>
          </p:cNvPr>
          <p:cNvSpPr>
            <a:spLocks noGrp="1"/>
          </p:cNvSpPr>
          <p:nvPr/>
        </p:nvSpPr>
        <p:spPr>
          <a:xfrm>
            <a:off x="838200" y="4422291"/>
            <a:ext cx="10668000" cy="1679947"/>
          </a:xfrm>
          <a:prstGeom prst="rect">
            <a:avLst/>
          </a:prstGeom>
          <a:solidFill>
            <a:srgbClr val="EBF0DE"/>
          </a:solidFill>
          <a:ln w="38100" cap="flat" cmpd="sng">
            <a:solidFill>
              <a:srgbClr val="52530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48250" rIns="0" bIns="0" anchor="t">
            <a:spAutoFit/>
          </a:bodyPr>
          <a:lstStyle/>
          <a:p>
            <a:pPr marL="9017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4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SELECT </a:t>
            </a:r>
            <a:r>
              <a:rPr sz="2400" dirty="0" err="1">
                <a:solidFill>
                  <a:srgbClr val="525308"/>
                </a:solidFill>
                <a:latin typeface="Arial"/>
                <a:ea typeface="Arial"/>
                <a:cs typeface="Arial"/>
              </a:rPr>
              <a:t>customers.customer_name</a:t>
            </a:r>
            <a:r>
              <a:rPr sz="24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, </a:t>
            </a:r>
            <a:r>
              <a:rPr sz="2400" dirty="0" err="1">
                <a:solidFill>
                  <a:srgbClr val="525308"/>
                </a:solidFill>
                <a:latin typeface="Arial"/>
                <a:ea typeface="Arial"/>
                <a:cs typeface="Arial"/>
              </a:rPr>
              <a:t>orders.order_date</a:t>
            </a:r>
            <a:r>
              <a:rPr sz="24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 </a:t>
            </a:r>
            <a:endParaRPr dirty="0"/>
          </a:p>
          <a:p>
            <a:pPr marL="90170" marR="0" lvl="0" indent="0" algn="l">
              <a:spcBef>
                <a:spcPts val="380"/>
              </a:spcBef>
              <a:spcAft>
                <a:spcPts val="0"/>
              </a:spcAft>
              <a:buNone/>
            </a:pPr>
            <a:r>
              <a:rPr sz="24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FROM customers </a:t>
            </a:r>
            <a:endParaRPr dirty="0"/>
          </a:p>
          <a:p>
            <a:pPr marL="90170" marR="0" lvl="0" indent="0" algn="l">
              <a:spcBef>
                <a:spcPts val="38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(INNER)</a:t>
            </a:r>
            <a:r>
              <a:rPr sz="24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 JOIN orders </a:t>
            </a:r>
            <a:endParaRPr dirty="0"/>
          </a:p>
          <a:p>
            <a:pPr marL="90170" marR="0" lvl="0" indent="0" algn="l">
              <a:spcBef>
                <a:spcPts val="380"/>
              </a:spcBef>
              <a:spcAft>
                <a:spcPts val="0"/>
              </a:spcAft>
              <a:buNone/>
            </a:pPr>
            <a:r>
              <a:rPr sz="24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ON </a:t>
            </a:r>
            <a:r>
              <a:rPr sz="2400" dirty="0" err="1">
                <a:solidFill>
                  <a:srgbClr val="525308"/>
                </a:solidFill>
                <a:latin typeface="Arial"/>
                <a:ea typeface="Arial"/>
                <a:cs typeface="Arial"/>
              </a:rPr>
              <a:t>customers.customer_id</a:t>
            </a:r>
            <a:r>
              <a:rPr sz="24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 = </a:t>
            </a:r>
            <a:r>
              <a:rPr sz="2400" dirty="0" err="1">
                <a:solidFill>
                  <a:srgbClr val="525308"/>
                </a:solidFill>
                <a:latin typeface="Arial"/>
                <a:ea typeface="Arial"/>
                <a:cs typeface="Arial"/>
              </a:rPr>
              <a:t>orders.customer_id</a:t>
            </a:r>
            <a:r>
              <a:rPr sz="24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;</a:t>
            </a:r>
          </a:p>
        </p:txBody>
      </p:sp>
      <p:sp>
        <p:nvSpPr>
          <p:cNvPr id="3" name="Google Shape;428;p54">
            <a:extLst>
              <a:ext uri="{FF2B5EF4-FFF2-40B4-BE49-F238E27FC236}">
                <a16:creationId xmlns:a16="http://schemas.microsoft.com/office/drawing/2014/main" id="{3015C85B-D77B-E309-0101-191CFABCDEDB}"/>
              </a:ext>
            </a:extLst>
          </p:cNvPr>
          <p:cNvSpPr>
            <a:spLocks noGrp="1"/>
          </p:cNvSpPr>
          <p:nvPr/>
        </p:nvSpPr>
        <p:spPr>
          <a:xfrm>
            <a:off x="838198" y="3968179"/>
            <a:ext cx="2658533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  <a:latin typeface="Arial"/>
                <a:ea typeface="Arial"/>
                <a:cs typeface="Arial"/>
              </a:rPr>
              <a:t>INNER</a:t>
            </a:r>
            <a:r>
              <a:rPr sz="2400" dirty="0">
                <a:solidFill>
                  <a:schemeClr val="dk1"/>
                </a:solidFill>
                <a:latin typeface="Arial"/>
                <a:ea typeface="Arial"/>
                <a:cs typeface="Arial"/>
              </a:rPr>
              <a:t> JOIN</a:t>
            </a:r>
          </a:p>
        </p:txBody>
      </p:sp>
    </p:spTree>
    <p:extLst>
      <p:ext uri="{BB962C8B-B14F-4D97-AF65-F5344CB8AC3E}">
        <p14:creationId xmlns:p14="http://schemas.microsoft.com/office/powerpoint/2010/main" val="4150240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5217A-99D9-493E-8243-7DDCB556B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29000"/>
            <a:ext cx="10515600" cy="904875"/>
          </a:xfrm>
        </p:spPr>
        <p:txBody>
          <a:bodyPr/>
          <a:lstStyle/>
          <a:p>
            <a:r>
              <a:rPr sz="4400" b="0"/>
              <a:t>11 - Subquery</a:t>
            </a:r>
          </a:p>
        </p:txBody>
      </p:sp>
      <p:sp>
        <p:nvSpPr>
          <p:cNvPr id="3" name="Google Shape;434;p55">
            <a:extLst>
              <a:ext uri="{FF2B5EF4-FFF2-40B4-BE49-F238E27FC236}">
                <a16:creationId xmlns:a16="http://schemas.microsoft.com/office/drawing/2014/main" id="{DD237810-06BD-49C5-83CB-564C74B28EE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6903218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new-title">
            <a:extLst>
              <a:ext uri="{FF2B5EF4-FFF2-40B4-BE49-F238E27FC236}">
                <a16:creationId xmlns:a16="http://schemas.microsoft.com/office/drawing/2014/main" id="{40A3894B-5823-4517-A99C-EE1A09544A03}"/>
              </a:ext>
            </a:extLst>
          </p:cNvPr>
          <p:cNvSpPr>
            <a:spLocks noGrp="1"/>
          </p:cNvSpPr>
          <p:nvPr/>
        </p:nvSpPr>
        <p:spPr>
          <a:xfrm>
            <a:off x="914400" y="400050"/>
            <a:ext cx="1036320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37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  <a:lvl1pPr>
              <a:defRPr sz="37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1pPr>
            <a:lvl2pPr>
              <a:defRPr sz="37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2pPr>
            <a:lvl3pPr>
              <a:defRPr sz="37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3pPr>
            <a:lvl4pPr>
              <a:defRPr sz="37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4pPr>
            <a:lvl5pPr>
              <a:defRPr sz="37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5pPr>
            <a:lvl6pPr>
              <a:defRPr sz="37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6pPr>
            <a:lvl7pPr>
              <a:defRPr sz="37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7pPr>
            <a:lvl8pPr>
              <a:defRPr sz="37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8pPr>
            <a:lvl9pPr>
              <a:defRPr sz="37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37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7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Subquery: a query inside a query</a:t>
            </a:r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32F7E481-DEF6-4EB9-9F0F-A2EC3E676927}"/>
              </a:ext>
            </a:extLst>
          </p:cNvPr>
          <p:cNvSpPr>
            <a:spLocks noGrp="1"/>
          </p:cNvSpPr>
          <p:nvPr/>
        </p:nvSpPr>
        <p:spPr>
          <a:xfrm>
            <a:off x="933450" y="1352550"/>
            <a:ext cx="102870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  <a:lvl1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1pPr>
            <a:lvl2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2pPr>
            <a:lvl3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3pPr>
            <a:lvl4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4pPr>
            <a:lvl5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5pPr>
            <a:lvl6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6pPr>
            <a:lvl7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7pPr>
            <a:lvl8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8pPr>
            <a:lvl9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 subquery is a SELECT statement inside another SQL statement, usually enclosed in parentheses.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BAFA4159-C0A3-49C8-A86D-FBCC583320B8}"/>
              </a:ext>
            </a:extLst>
          </p:cNvPr>
          <p:cNvGraphicFramePr/>
          <p:nvPr/>
        </p:nvGraphicFramePr>
        <p:xfrm>
          <a:off x="933450" y="2286000"/>
          <a:ext cx="10287000" cy="2286000"/>
        </p:xfrm>
        <a:graphic>
          <a:graphicData uri="http://schemas.openxmlformats.org/drawingml/2006/table">
            <a:tbl>
              <a:tblPr/>
              <a:tblGrid>
                <a:gridCol w="36502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367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95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Inner query supplies</a:t>
                      </a:r>
                    </a:p>
                  </a:txBody>
                  <a:tcPr marL="114300" marR="114300" marT="57150" marB="57150" anchor="ctr">
                    <a:lnL w="9525">
                      <a:solidFill>
                        <a:srgbClr val="777777"/>
                      </a:solidFill>
                      <a:prstDash val="solid"/>
                    </a:lnL>
                    <a:lnR w="9525">
                      <a:solidFill>
                        <a:srgbClr val="777777"/>
                      </a:solidFill>
                      <a:prstDash val="solid"/>
                    </a:lnR>
                    <a:lnT w="9525">
                      <a:solidFill>
                        <a:srgbClr val="777777"/>
                      </a:solidFill>
                      <a:prstDash val="solid"/>
                    </a:lnT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5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How the outer query uses it</a:t>
                      </a:r>
                    </a:p>
                  </a:txBody>
                  <a:tcPr marL="114300" marR="114300" marT="57150" marB="57150" anchor="ctr">
                    <a:lnL w="9525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777777"/>
                      </a:solidFill>
                      <a:prstDash val="solid"/>
                    </a:lnR>
                    <a:lnT w="9525">
                      <a:solidFill>
                        <a:srgbClr val="777777"/>
                      </a:solidFill>
                      <a:prstDash val="solid"/>
                    </a:lnT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9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One value</a:t>
                      </a:r>
                    </a:p>
                  </a:txBody>
                  <a:tcPr marL="114300" marR="114300" marT="57150" marB="57150" anchor="ctr">
                    <a:lnL w="9525">
                      <a:solidFill>
                        <a:srgbClr val="777777"/>
                      </a:solidFill>
                      <a:prstDash val="solid"/>
                    </a:lnL>
                    <a:lnR w="9525">
                      <a:solidFill>
                        <a:srgbClr val="777777"/>
                      </a:solidFill>
                      <a:prstDash val="solid"/>
                    </a:lnR>
                    <a:lnT w="9525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Compare with =, &gt;, &lt;, or another operator</a:t>
                      </a:r>
                    </a:p>
                  </a:txBody>
                  <a:tcPr marL="114300" marR="114300" marT="57150" marB="57150" anchor="ctr">
                    <a:lnL w="9525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777777"/>
                      </a:solidFill>
                      <a:prstDash val="solid"/>
                    </a:lnR>
                    <a:lnT w="9525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9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A set of values</a:t>
                      </a:r>
                    </a:p>
                  </a:txBody>
                  <a:tcPr marL="114300" marR="114300" marT="57150" marB="57150" anchor="ctr">
                    <a:lnL w="9525">
                      <a:solidFill>
                        <a:srgbClr val="777777"/>
                      </a:solidFill>
                      <a:prstDash val="solid"/>
                    </a:lnL>
                    <a:lnR w="9525">
                      <a:solidFill>
                        <a:srgbClr val="777777"/>
                      </a:solidFill>
                      <a:prstDash val="solid"/>
                    </a:lnR>
                    <a:lnT w="9525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Check membership with IN or NOT IN</a:t>
                      </a:r>
                    </a:p>
                  </a:txBody>
                  <a:tcPr marL="114300" marR="114300" marT="57150" marB="57150" anchor="ctr">
                    <a:lnL w="9525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777777"/>
                      </a:solidFill>
                      <a:prstDash val="solid"/>
                    </a:lnR>
                    <a:lnT w="9525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9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Matching rows</a:t>
                      </a:r>
                    </a:p>
                  </a:txBody>
                  <a:tcPr marL="114300" marR="114300" marT="57150" marB="57150" anchor="ctr">
                    <a:lnL w="9525">
                      <a:solidFill>
                        <a:srgbClr val="777777"/>
                      </a:solidFill>
                      <a:prstDash val="solid"/>
                    </a:lnL>
                    <a:lnR w="9525">
                      <a:solidFill>
                        <a:srgbClr val="777777"/>
                      </a:solidFill>
                      <a:prstDash val="solid"/>
                    </a:lnR>
                    <a:lnT w="9525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Test existence with EXISTS or NOT EXISTS</a:t>
                      </a:r>
                    </a:p>
                  </a:txBody>
                  <a:tcPr marL="114300" marR="114300" marT="57150" marB="57150" anchor="ctr">
                    <a:lnL w="9525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777777"/>
                      </a:solidFill>
                      <a:prstDash val="solid"/>
                    </a:lnR>
                    <a:lnT w="9525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body">
            <a:extLst>
              <a:ext uri="{FF2B5EF4-FFF2-40B4-BE49-F238E27FC236}">
                <a16:creationId xmlns:a16="http://schemas.microsoft.com/office/drawing/2014/main" id="{5C42AF9F-134C-4A0A-A9B7-A39FCA0A5751}"/>
              </a:ext>
            </a:extLst>
          </p:cNvPr>
          <p:cNvSpPr>
            <a:spLocks noGrp="1"/>
          </p:cNvSpPr>
          <p:nvPr/>
        </p:nvSpPr>
        <p:spPr>
          <a:xfrm>
            <a:off x="933450" y="4762500"/>
            <a:ext cx="102870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  <a:lvl1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1pPr>
            <a:lvl2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2pPr>
            <a:lvl3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3pPr>
            <a:lvl4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4pPr>
            <a:lvl5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5pPr>
            <a:lvl6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6pPr>
            <a:lvl7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7pPr>
            <a:lvl8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8pPr>
            <a:lvl9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The inner query answers a supporting question. The outer query produces the requested final result.</a:t>
            </a:r>
          </a:p>
        </p:txBody>
      </p:sp>
      <p:sp>
        <p:nvSpPr>
          <p:cNvPr id="5" name="body">
            <a:extLst>
              <a:ext uri="{FF2B5EF4-FFF2-40B4-BE49-F238E27FC236}">
                <a16:creationId xmlns:a16="http://schemas.microsoft.com/office/drawing/2014/main" id="{9DBC4CF2-3F44-46EF-80AA-E48347502E9E}"/>
              </a:ext>
            </a:extLst>
          </p:cNvPr>
          <p:cNvSpPr>
            <a:spLocks noGrp="1"/>
          </p:cNvSpPr>
          <p:nvPr/>
        </p:nvSpPr>
        <p:spPr>
          <a:xfrm>
            <a:off x="933450" y="5695950"/>
            <a:ext cx="102870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250" b="0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defPPr>
            <a:lvl1pPr>
              <a:defRPr sz="2250" b="0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lvl1pPr>
            <a:lvl2pPr>
              <a:defRPr sz="2250" b="0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lvl2pPr>
            <a:lvl3pPr>
              <a:defRPr sz="2250" b="0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lvl3pPr>
            <a:lvl4pPr>
              <a:defRPr sz="2250" b="0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lvl4pPr>
            <a:lvl5pPr>
              <a:defRPr sz="2250" b="0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lvl5pPr>
            <a:lvl6pPr>
              <a:defRPr sz="2250" b="0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lvl6pPr>
            <a:lvl7pPr>
              <a:defRPr sz="2250" b="0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lvl7pPr>
            <a:lvl8pPr>
              <a:defRPr sz="2250" b="0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lvl8pPr>
            <a:lvl9pPr>
              <a:defRPr sz="2250" b="0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250" b="0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Examples on the next pages use the existing lab_work.db tables.</a:t>
            </a:r>
          </a:p>
        </p:txBody>
      </p:sp>
      <p:sp>
        <p:nvSpPr>
          <p:cNvPr id="6" name="new-page">
            <a:extLst>
              <a:ext uri="{FF2B5EF4-FFF2-40B4-BE49-F238E27FC236}">
                <a16:creationId xmlns:a16="http://schemas.microsoft.com/office/drawing/2014/main" id="{D01CAB66-05C8-4EA2-B7BC-9BDC47C78E08}"/>
              </a:ext>
            </a:extLst>
          </p:cNvPr>
          <p:cNvSpPr>
            <a:spLocks noGrp="1"/>
          </p:cNvSpPr>
          <p:nvPr/>
        </p:nvSpPr>
        <p:spPr>
          <a:xfrm>
            <a:off x="11144250" y="6457950"/>
            <a:ext cx="42862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200" b="0">
                <a:solidFill>
                  <a:srgbClr val="777777"/>
                </a:solidFill>
                <a:latin typeface="Calibri"/>
                <a:ea typeface="Calibri"/>
                <a:cs typeface="Calibri"/>
              </a:defRPr>
            </a:defPPr>
            <a:lvl1pPr>
              <a:defRPr sz="1200" b="0">
                <a:solidFill>
                  <a:srgbClr val="777777"/>
                </a:solidFill>
                <a:latin typeface="Calibri"/>
                <a:ea typeface="Calibri"/>
                <a:cs typeface="Calibri"/>
              </a:defRPr>
            </a:lvl1pPr>
            <a:lvl2pPr>
              <a:defRPr sz="1200" b="0">
                <a:solidFill>
                  <a:srgbClr val="777777"/>
                </a:solidFill>
                <a:latin typeface="Calibri"/>
                <a:ea typeface="Calibri"/>
                <a:cs typeface="Calibri"/>
              </a:defRPr>
            </a:lvl2pPr>
            <a:lvl3pPr>
              <a:defRPr sz="1200" b="0">
                <a:solidFill>
                  <a:srgbClr val="777777"/>
                </a:solidFill>
                <a:latin typeface="Calibri"/>
                <a:ea typeface="Calibri"/>
                <a:cs typeface="Calibri"/>
              </a:defRPr>
            </a:lvl3pPr>
            <a:lvl4pPr>
              <a:defRPr sz="1200" b="0">
                <a:solidFill>
                  <a:srgbClr val="777777"/>
                </a:solidFill>
                <a:latin typeface="Calibri"/>
                <a:ea typeface="Calibri"/>
                <a:cs typeface="Calibri"/>
              </a:defRPr>
            </a:lvl4pPr>
            <a:lvl5pPr>
              <a:defRPr sz="1200" b="0">
                <a:solidFill>
                  <a:srgbClr val="777777"/>
                </a:solidFill>
                <a:latin typeface="Calibri"/>
                <a:ea typeface="Calibri"/>
                <a:cs typeface="Calibri"/>
              </a:defRPr>
            </a:lvl5pPr>
            <a:lvl6pPr>
              <a:defRPr sz="1200" b="0">
                <a:solidFill>
                  <a:srgbClr val="777777"/>
                </a:solidFill>
                <a:latin typeface="Calibri"/>
                <a:ea typeface="Calibri"/>
                <a:cs typeface="Calibri"/>
              </a:defRPr>
            </a:lvl6pPr>
            <a:lvl7pPr>
              <a:defRPr sz="1200" b="0">
                <a:solidFill>
                  <a:srgbClr val="777777"/>
                </a:solidFill>
                <a:latin typeface="Calibri"/>
                <a:ea typeface="Calibri"/>
                <a:cs typeface="Calibri"/>
              </a:defRPr>
            </a:lvl7pPr>
            <a:lvl8pPr>
              <a:defRPr sz="1200" b="0">
                <a:solidFill>
                  <a:srgbClr val="777777"/>
                </a:solidFill>
                <a:latin typeface="Calibri"/>
                <a:ea typeface="Calibri"/>
                <a:cs typeface="Calibri"/>
              </a:defRPr>
            </a:lvl8pPr>
            <a:lvl9pPr>
              <a:defRPr sz="1200" b="0">
                <a:solidFill>
                  <a:srgbClr val="777777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200" b="0">
                <a:solidFill>
                  <a:srgbClr val="777777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777777"/>
                </a:solidFill>
                <a:latin typeface="Calibri"/>
                <a:ea typeface="Calibri"/>
                <a:cs typeface="Calibri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104572518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new-title">
            <a:extLst>
              <a:ext uri="{FF2B5EF4-FFF2-40B4-BE49-F238E27FC236}">
                <a16:creationId xmlns:a16="http://schemas.microsoft.com/office/drawing/2014/main" id="{320CEF7E-F703-4A70-A9C8-496B9D95034B}"/>
              </a:ext>
            </a:extLst>
          </p:cNvPr>
          <p:cNvSpPr>
            <a:spLocks noGrp="1"/>
          </p:cNvSpPr>
          <p:nvPr/>
        </p:nvSpPr>
        <p:spPr>
          <a:xfrm>
            <a:off x="914400" y="400050"/>
            <a:ext cx="1036320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37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  <a:lvl1pPr>
              <a:defRPr sz="37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1pPr>
            <a:lvl2pPr>
              <a:defRPr sz="37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2pPr>
            <a:lvl3pPr>
              <a:defRPr sz="37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3pPr>
            <a:lvl4pPr>
              <a:defRPr sz="37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4pPr>
            <a:lvl5pPr>
              <a:defRPr sz="37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5pPr>
            <a:lvl6pPr>
              <a:defRPr sz="37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6pPr>
            <a:lvl7pPr>
              <a:defRPr sz="37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7pPr>
            <a:lvl8pPr>
              <a:defRPr sz="37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8pPr>
            <a:lvl9pPr>
              <a:defRPr sz="37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37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7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One value: a scalar subquery</a:t>
            </a:r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0E4869BC-9319-4EE5-AC09-FEF60681DF1D}"/>
              </a:ext>
            </a:extLst>
          </p:cNvPr>
          <p:cNvSpPr>
            <a:spLocks noGrp="1"/>
          </p:cNvSpPr>
          <p:nvPr/>
        </p:nvSpPr>
        <p:spPr>
          <a:xfrm>
            <a:off x="933450" y="1352550"/>
            <a:ext cx="102870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  <a:lvl1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1pPr>
            <a:lvl2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2pPr>
            <a:lvl3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3pPr>
            <a:lvl4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4pPr>
            <a:lvl5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5pPr>
            <a:lvl6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6pPr>
            <a:lvl7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7pPr>
            <a:lvl8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8pPr>
            <a:lvl9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Example: find students in the highest year. The student years are 1, 1, 2, 3, 3, 4.</a:t>
            </a:r>
          </a:p>
        </p:txBody>
      </p:sp>
      <p:sp>
        <p:nvSpPr>
          <p:cNvPr id="3" name="body">
            <a:extLst>
              <a:ext uri="{FF2B5EF4-FFF2-40B4-BE49-F238E27FC236}">
                <a16:creationId xmlns:a16="http://schemas.microsoft.com/office/drawing/2014/main" id="{8D55330F-A688-4E37-B7D7-CDD783E70BB6}"/>
              </a:ext>
            </a:extLst>
          </p:cNvPr>
          <p:cNvSpPr>
            <a:spLocks noGrp="1"/>
          </p:cNvSpPr>
          <p:nvPr/>
        </p:nvSpPr>
        <p:spPr>
          <a:xfrm>
            <a:off x="933450" y="2286000"/>
            <a:ext cx="102870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  <a:lvl1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1pPr>
            <a:lvl2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2pPr>
            <a:lvl3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3pPr>
            <a:lvl4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4pPr>
            <a:lvl5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5pPr>
            <a:lvl6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6pPr>
            <a:lvl7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7pPr>
            <a:lvl8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8pPr>
            <a:lvl9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1. Inner query: SELECT MAX(year) FROM student; returns 4.</a:t>
            </a:r>
          </a:p>
        </p:txBody>
      </p:sp>
      <p:sp>
        <p:nvSpPr>
          <p:cNvPr id="4" name="body">
            <a:extLst>
              <a:ext uri="{FF2B5EF4-FFF2-40B4-BE49-F238E27FC236}">
                <a16:creationId xmlns:a16="http://schemas.microsoft.com/office/drawing/2014/main" id="{41EC3E3B-5308-4CB4-A82B-3F3400F3B643}"/>
              </a:ext>
            </a:extLst>
          </p:cNvPr>
          <p:cNvSpPr>
            <a:spLocks noGrp="1"/>
          </p:cNvSpPr>
          <p:nvPr/>
        </p:nvSpPr>
        <p:spPr>
          <a:xfrm>
            <a:off x="933450" y="2867025"/>
            <a:ext cx="102870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  <a:lvl1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1pPr>
            <a:lvl2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2pPr>
            <a:lvl3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3pPr>
            <a:lvl4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4pPr>
            <a:lvl5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5pPr>
            <a:lvl6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6pPr>
            <a:lvl7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7pPr>
            <a:lvl8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8pPr>
            <a:lvl9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2. Outer condition: WHERE year = 4.</a:t>
            </a:r>
          </a:p>
        </p:txBody>
      </p:sp>
      <p:sp>
        <p:nvSpPr>
          <p:cNvPr id="5" name="worked-sql">
            <a:extLst>
              <a:ext uri="{FF2B5EF4-FFF2-40B4-BE49-F238E27FC236}">
                <a16:creationId xmlns:a16="http://schemas.microsoft.com/office/drawing/2014/main" id="{2DC7401E-E543-4E8E-8AC1-FEA3FA91C30D}"/>
              </a:ext>
            </a:extLst>
          </p:cNvPr>
          <p:cNvSpPr>
            <a:spLocks noGrp="1"/>
          </p:cNvSpPr>
          <p:nvPr/>
        </p:nvSpPr>
        <p:spPr>
          <a:xfrm>
            <a:off x="1066800" y="3448050"/>
            <a:ext cx="10096500" cy="1257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950" b="1">
                <a:solidFill>
                  <a:srgbClr val="8CAF42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1950" b="1">
                <a:solidFill>
                  <a:srgbClr val="8CAF42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1950" b="1">
                <a:solidFill>
                  <a:srgbClr val="8CAF42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1950" b="1">
                <a:solidFill>
                  <a:srgbClr val="8CAF42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1950" b="1">
                <a:solidFill>
                  <a:srgbClr val="8CAF42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1950" b="1">
                <a:solidFill>
                  <a:srgbClr val="8CAF42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1950" b="1">
                <a:solidFill>
                  <a:srgbClr val="8CAF42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1950" b="1">
                <a:solidFill>
                  <a:srgbClr val="8CAF42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1950" b="1">
                <a:solidFill>
                  <a:srgbClr val="8CAF42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1950" b="1">
                <a:solidFill>
                  <a:srgbClr val="8CAF42"/>
                </a:solidFill>
                <a:latin typeface="Courier New"/>
                <a:ea typeface="Courier New"/>
                <a:cs typeface="Courier New"/>
              </a:defRPr>
            </a:lvl9pPr>
          </a:lstStyle>
          <a:p>
            <a:pPr>
              <a:defRPr sz="1950" b="1">
                <a:solidFill>
                  <a:srgbClr val="8CAF42"/>
                </a:solidFill>
                <a:latin typeface="Courier New"/>
                <a:ea typeface="Courier New"/>
                <a:cs typeface="Courier New"/>
              </a:defRPr>
            </a:pPr>
            <a:r>
              <a:rPr sz="1950" b="1">
                <a:solidFill>
                  <a:srgbClr val="8CAF42"/>
                </a:solidFill>
                <a:latin typeface="Courier New"/>
                <a:ea typeface="Courier New"/>
                <a:cs typeface="Courier New"/>
              </a:rPr>
              <a:t>SELECT student_id, name, year</a:t>
            </a:r>
          </a:p>
          <a:p>
            <a:pPr>
              <a:defRPr sz="1950" b="1">
                <a:solidFill>
                  <a:srgbClr val="8CAF42"/>
                </a:solidFill>
                <a:latin typeface="Courier New"/>
                <a:ea typeface="Courier New"/>
                <a:cs typeface="Courier New"/>
              </a:defRPr>
            </a:pPr>
            <a:r>
              <a:rPr sz="1950" b="1">
                <a:solidFill>
                  <a:srgbClr val="8CAF42"/>
                </a:solidFill>
                <a:latin typeface="Courier New"/>
                <a:ea typeface="Courier New"/>
                <a:cs typeface="Courier New"/>
              </a:rPr>
              <a:t>FROM student</a:t>
            </a:r>
          </a:p>
          <a:p>
            <a:pPr>
              <a:defRPr sz="1950" b="1">
                <a:solidFill>
                  <a:srgbClr val="8CAF42"/>
                </a:solidFill>
                <a:latin typeface="Courier New"/>
                <a:ea typeface="Courier New"/>
                <a:cs typeface="Courier New"/>
              </a:defRPr>
            </a:pPr>
            <a:r>
              <a:rPr sz="1950" b="1">
                <a:solidFill>
                  <a:srgbClr val="8CAF42"/>
                </a:solidFill>
                <a:latin typeface="Courier New"/>
                <a:ea typeface="Courier New"/>
                <a:cs typeface="Courier New"/>
              </a:rPr>
              <a:t>WHERE year = (SELECT MAX(year) FROM student)</a:t>
            </a:r>
          </a:p>
          <a:p>
            <a:pPr>
              <a:defRPr sz="1950" b="1">
                <a:solidFill>
                  <a:srgbClr val="8CAF42"/>
                </a:solidFill>
                <a:latin typeface="Courier New"/>
                <a:ea typeface="Courier New"/>
                <a:cs typeface="Courier New"/>
              </a:defRPr>
            </a:pPr>
            <a:r>
              <a:rPr sz="1950" b="1">
                <a:solidFill>
                  <a:srgbClr val="8CAF42"/>
                </a:solidFill>
                <a:latin typeface="Courier New"/>
                <a:ea typeface="Courier New"/>
                <a:cs typeface="Courier New"/>
              </a:rPr>
              <a:t>ORDER BY student_id;</a:t>
            </a:r>
          </a:p>
        </p:txBody>
      </p:sp>
      <p:sp>
        <p:nvSpPr>
          <p:cNvPr id="6" name="body">
            <a:extLst>
              <a:ext uri="{FF2B5EF4-FFF2-40B4-BE49-F238E27FC236}">
                <a16:creationId xmlns:a16="http://schemas.microsoft.com/office/drawing/2014/main" id="{88B8FDDA-E970-44A4-9D94-1DF702A6DEFB}"/>
              </a:ext>
            </a:extLst>
          </p:cNvPr>
          <p:cNvSpPr>
            <a:spLocks noGrp="1"/>
          </p:cNvSpPr>
          <p:nvPr/>
        </p:nvSpPr>
        <p:spPr>
          <a:xfrm>
            <a:off x="933450" y="4876800"/>
            <a:ext cx="102870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250" b="0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defPPr>
            <a:lvl1pPr>
              <a:defRPr sz="2250" b="0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lvl1pPr>
            <a:lvl2pPr>
              <a:defRPr sz="2250" b="0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lvl2pPr>
            <a:lvl3pPr>
              <a:defRPr sz="2250" b="0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lvl3pPr>
            <a:lvl4pPr>
              <a:defRPr sz="2250" b="0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lvl4pPr>
            <a:lvl5pPr>
              <a:defRPr sz="2250" b="0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lvl5pPr>
            <a:lvl6pPr>
              <a:defRPr sz="2250" b="0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lvl6pPr>
            <a:lvl7pPr>
              <a:defRPr sz="2250" b="0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lvl7pPr>
            <a:lvl8pPr>
              <a:defRPr sz="2250" b="0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lvl8pPr>
            <a:lvl9pPr>
              <a:defRPr sz="2250" b="0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250" b="0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Result: 1116 | Fay Ho | 4. The value comes from the data, so it does not need to be hard-coded.</a:t>
            </a:r>
          </a:p>
        </p:txBody>
      </p:sp>
      <p:sp>
        <p:nvSpPr>
          <p:cNvPr id="7" name="new-page">
            <a:extLst>
              <a:ext uri="{FF2B5EF4-FFF2-40B4-BE49-F238E27FC236}">
                <a16:creationId xmlns:a16="http://schemas.microsoft.com/office/drawing/2014/main" id="{C0B04DE6-7A20-4F49-ACBC-3E9E326DF827}"/>
              </a:ext>
            </a:extLst>
          </p:cNvPr>
          <p:cNvSpPr>
            <a:spLocks noGrp="1"/>
          </p:cNvSpPr>
          <p:nvPr/>
        </p:nvSpPr>
        <p:spPr>
          <a:xfrm>
            <a:off x="11144250" y="6457950"/>
            <a:ext cx="42862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200" b="0">
                <a:solidFill>
                  <a:srgbClr val="777777"/>
                </a:solidFill>
                <a:latin typeface="Calibri"/>
                <a:ea typeface="Calibri"/>
                <a:cs typeface="Calibri"/>
              </a:defRPr>
            </a:defPPr>
            <a:lvl1pPr>
              <a:defRPr sz="1200" b="0">
                <a:solidFill>
                  <a:srgbClr val="777777"/>
                </a:solidFill>
                <a:latin typeface="Calibri"/>
                <a:ea typeface="Calibri"/>
                <a:cs typeface="Calibri"/>
              </a:defRPr>
            </a:lvl1pPr>
            <a:lvl2pPr>
              <a:defRPr sz="1200" b="0">
                <a:solidFill>
                  <a:srgbClr val="777777"/>
                </a:solidFill>
                <a:latin typeface="Calibri"/>
                <a:ea typeface="Calibri"/>
                <a:cs typeface="Calibri"/>
              </a:defRPr>
            </a:lvl2pPr>
            <a:lvl3pPr>
              <a:defRPr sz="1200" b="0">
                <a:solidFill>
                  <a:srgbClr val="777777"/>
                </a:solidFill>
                <a:latin typeface="Calibri"/>
                <a:ea typeface="Calibri"/>
                <a:cs typeface="Calibri"/>
              </a:defRPr>
            </a:lvl3pPr>
            <a:lvl4pPr>
              <a:defRPr sz="1200" b="0">
                <a:solidFill>
                  <a:srgbClr val="777777"/>
                </a:solidFill>
                <a:latin typeface="Calibri"/>
                <a:ea typeface="Calibri"/>
                <a:cs typeface="Calibri"/>
              </a:defRPr>
            </a:lvl4pPr>
            <a:lvl5pPr>
              <a:defRPr sz="1200" b="0">
                <a:solidFill>
                  <a:srgbClr val="777777"/>
                </a:solidFill>
                <a:latin typeface="Calibri"/>
                <a:ea typeface="Calibri"/>
                <a:cs typeface="Calibri"/>
              </a:defRPr>
            </a:lvl5pPr>
            <a:lvl6pPr>
              <a:defRPr sz="1200" b="0">
                <a:solidFill>
                  <a:srgbClr val="777777"/>
                </a:solidFill>
                <a:latin typeface="Calibri"/>
                <a:ea typeface="Calibri"/>
                <a:cs typeface="Calibri"/>
              </a:defRPr>
            </a:lvl6pPr>
            <a:lvl7pPr>
              <a:defRPr sz="1200" b="0">
                <a:solidFill>
                  <a:srgbClr val="777777"/>
                </a:solidFill>
                <a:latin typeface="Calibri"/>
                <a:ea typeface="Calibri"/>
                <a:cs typeface="Calibri"/>
              </a:defRPr>
            </a:lvl7pPr>
            <a:lvl8pPr>
              <a:defRPr sz="1200" b="0">
                <a:solidFill>
                  <a:srgbClr val="777777"/>
                </a:solidFill>
                <a:latin typeface="Calibri"/>
                <a:ea typeface="Calibri"/>
                <a:cs typeface="Calibri"/>
              </a:defRPr>
            </a:lvl8pPr>
            <a:lvl9pPr>
              <a:defRPr sz="1200" b="0">
                <a:solidFill>
                  <a:srgbClr val="777777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200" b="0">
                <a:solidFill>
                  <a:srgbClr val="777777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777777"/>
                </a:solidFill>
                <a:latin typeface="Calibri"/>
                <a:ea typeface="Calibri"/>
                <a:cs typeface="Calibri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86897049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new-title">
            <a:extLst>
              <a:ext uri="{FF2B5EF4-FFF2-40B4-BE49-F238E27FC236}">
                <a16:creationId xmlns:a16="http://schemas.microsoft.com/office/drawing/2014/main" id="{ED858AF2-8F66-4136-B43B-464329D15305}"/>
              </a:ext>
            </a:extLst>
          </p:cNvPr>
          <p:cNvSpPr>
            <a:spLocks noGrp="1"/>
          </p:cNvSpPr>
          <p:nvPr/>
        </p:nvSpPr>
        <p:spPr>
          <a:xfrm>
            <a:off x="914400" y="400050"/>
            <a:ext cx="1036320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37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  <a:lvl1pPr>
              <a:defRPr sz="37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1pPr>
            <a:lvl2pPr>
              <a:defRPr sz="37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2pPr>
            <a:lvl3pPr>
              <a:defRPr sz="37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3pPr>
            <a:lvl4pPr>
              <a:defRPr sz="37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4pPr>
            <a:lvl5pPr>
              <a:defRPr sz="37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5pPr>
            <a:lvl6pPr>
              <a:defRPr sz="37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6pPr>
            <a:lvl7pPr>
              <a:defRPr sz="37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7pPr>
            <a:lvl8pPr>
              <a:defRPr sz="37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8pPr>
            <a:lvl9pPr>
              <a:defRPr sz="37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37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7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Several values: IN</a:t>
            </a:r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D58F8FA6-28D2-4523-82DC-3B66D2942149}"/>
              </a:ext>
            </a:extLst>
          </p:cNvPr>
          <p:cNvSpPr>
            <a:spLocks noGrp="1"/>
          </p:cNvSpPr>
          <p:nvPr/>
        </p:nvSpPr>
        <p:spPr>
          <a:xfrm>
            <a:off x="933450" y="1352550"/>
            <a:ext cx="102870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  <a:lvl1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1pPr>
            <a:lvl2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2pPr>
            <a:lvl3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3pPr>
            <a:lvl4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4pPr>
            <a:lvl5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5pPr>
            <a:lvl6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6pPr>
            <a:lvl7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7pPr>
            <a:lvl8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8pPr>
            <a:lvl9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Example: find students in programmes whose names contain Science.</a:t>
            </a:r>
          </a:p>
        </p:txBody>
      </p:sp>
      <p:sp>
        <p:nvSpPr>
          <p:cNvPr id="3" name="worked-sql">
            <a:extLst>
              <a:ext uri="{FF2B5EF4-FFF2-40B4-BE49-F238E27FC236}">
                <a16:creationId xmlns:a16="http://schemas.microsoft.com/office/drawing/2014/main" id="{A8F9D379-AAB6-4288-B276-76BE64991A50}"/>
              </a:ext>
            </a:extLst>
          </p:cNvPr>
          <p:cNvSpPr>
            <a:spLocks noGrp="1"/>
          </p:cNvSpPr>
          <p:nvPr/>
        </p:nvSpPr>
        <p:spPr>
          <a:xfrm>
            <a:off x="1066800" y="1933575"/>
            <a:ext cx="10096500" cy="2143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950" b="1">
                <a:solidFill>
                  <a:srgbClr val="8CAF42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1950" b="1">
                <a:solidFill>
                  <a:srgbClr val="8CAF42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1950" b="1">
                <a:solidFill>
                  <a:srgbClr val="8CAF42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1950" b="1">
                <a:solidFill>
                  <a:srgbClr val="8CAF42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1950" b="1">
                <a:solidFill>
                  <a:srgbClr val="8CAF42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1950" b="1">
                <a:solidFill>
                  <a:srgbClr val="8CAF42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1950" b="1">
                <a:solidFill>
                  <a:srgbClr val="8CAF42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1950" b="1">
                <a:solidFill>
                  <a:srgbClr val="8CAF42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1950" b="1">
                <a:solidFill>
                  <a:srgbClr val="8CAF42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1950" b="1">
                <a:solidFill>
                  <a:srgbClr val="8CAF42"/>
                </a:solidFill>
                <a:latin typeface="Courier New"/>
                <a:ea typeface="Courier New"/>
                <a:cs typeface="Courier New"/>
              </a:defRPr>
            </a:lvl9pPr>
          </a:lstStyle>
          <a:p>
            <a:pPr>
              <a:defRPr sz="1950" b="1">
                <a:solidFill>
                  <a:srgbClr val="8CAF42"/>
                </a:solidFill>
                <a:latin typeface="Courier New"/>
                <a:ea typeface="Courier New"/>
                <a:cs typeface="Courier New"/>
              </a:defRPr>
            </a:pPr>
            <a:r>
              <a:rPr sz="1950" b="1">
                <a:solidFill>
                  <a:srgbClr val="8CAF42"/>
                </a:solidFill>
                <a:latin typeface="Courier New"/>
                <a:ea typeface="Courier New"/>
                <a:cs typeface="Courier New"/>
              </a:rPr>
              <a:t>SELECT student_id, name</a:t>
            </a:r>
          </a:p>
          <a:p>
            <a:pPr>
              <a:defRPr sz="1950" b="1">
                <a:solidFill>
                  <a:srgbClr val="8CAF42"/>
                </a:solidFill>
                <a:latin typeface="Courier New"/>
                <a:ea typeface="Courier New"/>
                <a:cs typeface="Courier New"/>
              </a:defRPr>
            </a:pPr>
            <a:r>
              <a:rPr sz="1950" b="1">
                <a:solidFill>
                  <a:srgbClr val="8CAF42"/>
                </a:solidFill>
                <a:latin typeface="Courier New"/>
                <a:ea typeface="Courier New"/>
                <a:cs typeface="Courier New"/>
              </a:rPr>
              <a:t>FROM student</a:t>
            </a:r>
          </a:p>
          <a:p>
            <a:pPr>
              <a:defRPr sz="1950" b="1">
                <a:solidFill>
                  <a:srgbClr val="8CAF42"/>
                </a:solidFill>
                <a:latin typeface="Courier New"/>
                <a:ea typeface="Courier New"/>
                <a:cs typeface="Courier New"/>
              </a:defRPr>
            </a:pPr>
            <a:r>
              <a:rPr sz="1950" b="1">
                <a:solidFill>
                  <a:srgbClr val="8CAF42"/>
                </a:solidFill>
                <a:latin typeface="Courier New"/>
                <a:ea typeface="Courier New"/>
                <a:cs typeface="Courier New"/>
              </a:rPr>
              <a:t>WHERE prog_code IN (</a:t>
            </a:r>
          </a:p>
          <a:p>
            <a:pPr>
              <a:defRPr sz="1950" b="1">
                <a:solidFill>
                  <a:srgbClr val="8CAF42"/>
                </a:solidFill>
                <a:latin typeface="Courier New"/>
                <a:ea typeface="Courier New"/>
                <a:cs typeface="Courier New"/>
              </a:defRPr>
            </a:pPr>
            <a:r>
              <a:rPr sz="1950" b="1">
                <a:solidFill>
                  <a:srgbClr val="8CAF42"/>
                </a:solidFill>
                <a:latin typeface="Courier New"/>
                <a:ea typeface="Courier New"/>
                <a:cs typeface="Courier New"/>
              </a:rPr>
              <a:t>    SELECT programme_id FROM programme</a:t>
            </a:r>
          </a:p>
          <a:p>
            <a:pPr>
              <a:defRPr sz="1950" b="1">
                <a:solidFill>
                  <a:srgbClr val="8CAF42"/>
                </a:solidFill>
                <a:latin typeface="Courier New"/>
                <a:ea typeface="Courier New"/>
                <a:cs typeface="Courier New"/>
              </a:defRPr>
            </a:pPr>
            <a:r>
              <a:rPr sz="1950" b="1">
                <a:solidFill>
                  <a:srgbClr val="8CAF42"/>
                </a:solidFill>
                <a:latin typeface="Courier New"/>
                <a:ea typeface="Courier New"/>
                <a:cs typeface="Courier New"/>
              </a:rPr>
              <a:t>    WHERE name LIKE '%Science%'</a:t>
            </a:r>
          </a:p>
          <a:p>
            <a:pPr>
              <a:defRPr sz="1950" b="1">
                <a:solidFill>
                  <a:srgbClr val="8CAF42"/>
                </a:solidFill>
                <a:latin typeface="Courier New"/>
                <a:ea typeface="Courier New"/>
                <a:cs typeface="Courier New"/>
              </a:defRPr>
            </a:pPr>
            <a:r>
              <a:rPr sz="1950" b="1">
                <a:solidFill>
                  <a:srgbClr val="8CAF42"/>
                </a:solidFill>
                <a:latin typeface="Courier New"/>
                <a:ea typeface="Courier New"/>
                <a:cs typeface="Courier New"/>
              </a:rPr>
              <a:t>)</a:t>
            </a:r>
          </a:p>
          <a:p>
            <a:pPr>
              <a:defRPr sz="1950" b="1">
                <a:solidFill>
                  <a:srgbClr val="8CAF42"/>
                </a:solidFill>
                <a:latin typeface="Courier New"/>
                <a:ea typeface="Courier New"/>
                <a:cs typeface="Courier New"/>
              </a:defRPr>
            </a:pPr>
            <a:r>
              <a:rPr sz="1950" b="1">
                <a:solidFill>
                  <a:srgbClr val="8CAF42"/>
                </a:solidFill>
                <a:latin typeface="Courier New"/>
                <a:ea typeface="Courier New"/>
                <a:cs typeface="Courier New"/>
              </a:rPr>
              <a:t>ORDER BY student_id;</a:t>
            </a:r>
          </a:p>
        </p:txBody>
      </p:sp>
      <p:sp>
        <p:nvSpPr>
          <p:cNvPr id="4" name="body">
            <a:extLst>
              <a:ext uri="{FF2B5EF4-FFF2-40B4-BE49-F238E27FC236}">
                <a16:creationId xmlns:a16="http://schemas.microsoft.com/office/drawing/2014/main" id="{785881E1-90CF-4DF9-B0DA-D22D17192755}"/>
              </a:ext>
            </a:extLst>
          </p:cNvPr>
          <p:cNvSpPr>
            <a:spLocks noGrp="1"/>
          </p:cNvSpPr>
          <p:nvPr/>
        </p:nvSpPr>
        <p:spPr>
          <a:xfrm>
            <a:off x="933450" y="4248150"/>
            <a:ext cx="102870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  <a:lvl1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1pPr>
            <a:lvl2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2pPr>
            <a:lvl3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3pPr>
            <a:lvl4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4pPr>
            <a:lvl5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5pPr>
            <a:lvl6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6pPr>
            <a:lvl7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7pPr>
            <a:lvl8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8pPr>
            <a:lvl9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Inner result: {CS, DS}. IN checks whether each student's prog_code belongs to this set.</a:t>
            </a:r>
          </a:p>
        </p:txBody>
      </p:sp>
      <p:sp>
        <p:nvSpPr>
          <p:cNvPr id="5" name="body">
            <a:extLst>
              <a:ext uri="{FF2B5EF4-FFF2-40B4-BE49-F238E27FC236}">
                <a16:creationId xmlns:a16="http://schemas.microsoft.com/office/drawing/2014/main" id="{363708A7-DA14-48D9-9653-C3C68D2790A1}"/>
              </a:ext>
            </a:extLst>
          </p:cNvPr>
          <p:cNvSpPr>
            <a:spLocks noGrp="1"/>
          </p:cNvSpPr>
          <p:nvPr/>
        </p:nvSpPr>
        <p:spPr>
          <a:xfrm>
            <a:off x="933450" y="5181600"/>
            <a:ext cx="102870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250" b="0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defPPr>
            <a:lvl1pPr>
              <a:defRPr sz="2250" b="0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lvl1pPr>
            <a:lvl2pPr>
              <a:defRPr sz="2250" b="0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lvl2pPr>
            <a:lvl3pPr>
              <a:defRPr sz="2250" b="0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lvl3pPr>
            <a:lvl4pPr>
              <a:defRPr sz="2250" b="0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lvl4pPr>
            <a:lvl5pPr>
              <a:defRPr sz="2250" b="0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lvl5pPr>
            <a:lvl6pPr>
              <a:defRPr sz="2250" b="0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lvl6pPr>
            <a:lvl7pPr>
              <a:defRPr sz="2250" b="0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lvl7pPr>
            <a:lvl8pPr>
              <a:defRPr sz="2250" b="0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lvl8pPr>
            <a:lvl9pPr>
              <a:defRPr sz="2250" b="0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250" b="0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Result IDs: 1111, 1112, 1113, 1116. Repeated values in the inner result do not duplicate students.</a:t>
            </a:r>
          </a:p>
        </p:txBody>
      </p:sp>
      <p:sp>
        <p:nvSpPr>
          <p:cNvPr id="6" name="new-page">
            <a:extLst>
              <a:ext uri="{FF2B5EF4-FFF2-40B4-BE49-F238E27FC236}">
                <a16:creationId xmlns:a16="http://schemas.microsoft.com/office/drawing/2014/main" id="{36A51C08-40FF-4957-B79F-95248C0EF2D2}"/>
              </a:ext>
            </a:extLst>
          </p:cNvPr>
          <p:cNvSpPr>
            <a:spLocks noGrp="1"/>
          </p:cNvSpPr>
          <p:nvPr/>
        </p:nvSpPr>
        <p:spPr>
          <a:xfrm>
            <a:off x="11144250" y="6457950"/>
            <a:ext cx="42862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200" b="0">
                <a:solidFill>
                  <a:srgbClr val="777777"/>
                </a:solidFill>
                <a:latin typeface="Calibri"/>
                <a:ea typeface="Calibri"/>
                <a:cs typeface="Calibri"/>
              </a:defRPr>
            </a:defPPr>
            <a:lvl1pPr>
              <a:defRPr sz="1200" b="0">
                <a:solidFill>
                  <a:srgbClr val="777777"/>
                </a:solidFill>
                <a:latin typeface="Calibri"/>
                <a:ea typeface="Calibri"/>
                <a:cs typeface="Calibri"/>
              </a:defRPr>
            </a:lvl1pPr>
            <a:lvl2pPr>
              <a:defRPr sz="1200" b="0">
                <a:solidFill>
                  <a:srgbClr val="777777"/>
                </a:solidFill>
                <a:latin typeface="Calibri"/>
                <a:ea typeface="Calibri"/>
                <a:cs typeface="Calibri"/>
              </a:defRPr>
            </a:lvl2pPr>
            <a:lvl3pPr>
              <a:defRPr sz="1200" b="0">
                <a:solidFill>
                  <a:srgbClr val="777777"/>
                </a:solidFill>
                <a:latin typeface="Calibri"/>
                <a:ea typeface="Calibri"/>
                <a:cs typeface="Calibri"/>
              </a:defRPr>
            </a:lvl3pPr>
            <a:lvl4pPr>
              <a:defRPr sz="1200" b="0">
                <a:solidFill>
                  <a:srgbClr val="777777"/>
                </a:solidFill>
                <a:latin typeface="Calibri"/>
                <a:ea typeface="Calibri"/>
                <a:cs typeface="Calibri"/>
              </a:defRPr>
            </a:lvl4pPr>
            <a:lvl5pPr>
              <a:defRPr sz="1200" b="0">
                <a:solidFill>
                  <a:srgbClr val="777777"/>
                </a:solidFill>
                <a:latin typeface="Calibri"/>
                <a:ea typeface="Calibri"/>
                <a:cs typeface="Calibri"/>
              </a:defRPr>
            </a:lvl5pPr>
            <a:lvl6pPr>
              <a:defRPr sz="1200" b="0">
                <a:solidFill>
                  <a:srgbClr val="777777"/>
                </a:solidFill>
                <a:latin typeface="Calibri"/>
                <a:ea typeface="Calibri"/>
                <a:cs typeface="Calibri"/>
              </a:defRPr>
            </a:lvl6pPr>
            <a:lvl7pPr>
              <a:defRPr sz="1200" b="0">
                <a:solidFill>
                  <a:srgbClr val="777777"/>
                </a:solidFill>
                <a:latin typeface="Calibri"/>
                <a:ea typeface="Calibri"/>
                <a:cs typeface="Calibri"/>
              </a:defRPr>
            </a:lvl7pPr>
            <a:lvl8pPr>
              <a:defRPr sz="1200" b="0">
                <a:solidFill>
                  <a:srgbClr val="777777"/>
                </a:solidFill>
                <a:latin typeface="Calibri"/>
                <a:ea typeface="Calibri"/>
                <a:cs typeface="Calibri"/>
              </a:defRPr>
            </a:lvl8pPr>
            <a:lvl9pPr>
              <a:defRPr sz="1200" b="0">
                <a:solidFill>
                  <a:srgbClr val="777777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200" b="0">
                <a:solidFill>
                  <a:srgbClr val="777777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777777"/>
                </a:solidFill>
                <a:latin typeface="Calibri"/>
                <a:ea typeface="Calibri"/>
                <a:cs typeface="Calibri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65848302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new-title">
            <a:extLst>
              <a:ext uri="{FF2B5EF4-FFF2-40B4-BE49-F238E27FC236}">
                <a16:creationId xmlns:a16="http://schemas.microsoft.com/office/drawing/2014/main" id="{205DACA4-DFE4-41B5-8CCB-D0CA3E2AA2EC}"/>
              </a:ext>
            </a:extLst>
          </p:cNvPr>
          <p:cNvSpPr>
            <a:spLocks noGrp="1"/>
          </p:cNvSpPr>
          <p:nvPr/>
        </p:nvSpPr>
        <p:spPr>
          <a:xfrm>
            <a:off x="914400" y="400050"/>
            <a:ext cx="1036320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37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  <a:lvl1pPr>
              <a:defRPr sz="37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1pPr>
            <a:lvl2pPr>
              <a:defRPr sz="37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2pPr>
            <a:lvl3pPr>
              <a:defRPr sz="37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3pPr>
            <a:lvl4pPr>
              <a:defRPr sz="37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4pPr>
            <a:lvl5pPr>
              <a:defRPr sz="37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5pPr>
            <a:lvl6pPr>
              <a:defRPr sz="37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6pPr>
            <a:lvl7pPr>
              <a:defRPr sz="37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7pPr>
            <a:lvl8pPr>
              <a:defRPr sz="37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8pPr>
            <a:lvl9pPr>
              <a:defRPr sz="37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37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7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NOT IN and missing values</a:t>
            </a:r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5D95E448-2147-4CA8-B765-AC19E23DC433}"/>
              </a:ext>
            </a:extLst>
          </p:cNvPr>
          <p:cNvSpPr>
            <a:spLocks noGrp="1"/>
          </p:cNvSpPr>
          <p:nvPr/>
        </p:nvSpPr>
        <p:spPr>
          <a:xfrm>
            <a:off x="933450" y="1352550"/>
            <a:ext cx="102870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  <a:lvl1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1pPr>
            <a:lvl2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2pPr>
            <a:lvl3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3pPr>
            <a:lvl4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4pPr>
            <a:lvl5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5pPr>
            <a:lvl6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6pPr>
            <a:lvl7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7pPr>
            <a:lvl8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8pPr>
            <a:lvl9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Example: find students whose IDs are absent from graduate_list. Its current ID is 1116.</a:t>
            </a:r>
          </a:p>
        </p:txBody>
      </p:sp>
      <p:sp>
        <p:nvSpPr>
          <p:cNvPr id="3" name="worked-sql">
            <a:extLst>
              <a:ext uri="{FF2B5EF4-FFF2-40B4-BE49-F238E27FC236}">
                <a16:creationId xmlns:a16="http://schemas.microsoft.com/office/drawing/2014/main" id="{34D995D4-377E-4E3D-92D1-6D8A33A51D50}"/>
              </a:ext>
            </a:extLst>
          </p:cNvPr>
          <p:cNvSpPr>
            <a:spLocks noGrp="1"/>
          </p:cNvSpPr>
          <p:nvPr/>
        </p:nvSpPr>
        <p:spPr>
          <a:xfrm>
            <a:off x="1066800" y="2286000"/>
            <a:ext cx="10096500" cy="1847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950" b="1">
                <a:solidFill>
                  <a:srgbClr val="8CAF42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1950" b="1">
                <a:solidFill>
                  <a:srgbClr val="8CAF42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1950" b="1">
                <a:solidFill>
                  <a:srgbClr val="8CAF42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1950" b="1">
                <a:solidFill>
                  <a:srgbClr val="8CAF42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1950" b="1">
                <a:solidFill>
                  <a:srgbClr val="8CAF42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1950" b="1">
                <a:solidFill>
                  <a:srgbClr val="8CAF42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1950" b="1">
                <a:solidFill>
                  <a:srgbClr val="8CAF42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1950" b="1">
                <a:solidFill>
                  <a:srgbClr val="8CAF42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1950" b="1">
                <a:solidFill>
                  <a:srgbClr val="8CAF42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1950" b="1">
                <a:solidFill>
                  <a:srgbClr val="8CAF42"/>
                </a:solidFill>
                <a:latin typeface="Courier New"/>
                <a:ea typeface="Courier New"/>
                <a:cs typeface="Courier New"/>
              </a:defRPr>
            </a:lvl9pPr>
          </a:lstStyle>
          <a:p>
            <a:pPr>
              <a:defRPr sz="1950" b="1">
                <a:solidFill>
                  <a:srgbClr val="8CAF42"/>
                </a:solidFill>
                <a:latin typeface="Courier New"/>
                <a:ea typeface="Courier New"/>
                <a:cs typeface="Courier New"/>
              </a:defRPr>
            </a:pPr>
            <a:r>
              <a:rPr sz="1950" b="1">
                <a:solidFill>
                  <a:srgbClr val="8CAF42"/>
                </a:solidFill>
                <a:latin typeface="Courier New"/>
                <a:ea typeface="Courier New"/>
                <a:cs typeface="Courier New"/>
              </a:rPr>
              <a:t>SELECT student_id, name</a:t>
            </a:r>
          </a:p>
          <a:p>
            <a:pPr>
              <a:defRPr sz="1950" b="1">
                <a:solidFill>
                  <a:srgbClr val="8CAF42"/>
                </a:solidFill>
                <a:latin typeface="Courier New"/>
                <a:ea typeface="Courier New"/>
                <a:cs typeface="Courier New"/>
              </a:defRPr>
            </a:pPr>
            <a:r>
              <a:rPr sz="1950" b="1">
                <a:solidFill>
                  <a:srgbClr val="8CAF42"/>
                </a:solidFill>
                <a:latin typeface="Courier New"/>
                <a:ea typeface="Courier New"/>
                <a:cs typeface="Courier New"/>
              </a:rPr>
              <a:t>FROM student</a:t>
            </a:r>
          </a:p>
          <a:p>
            <a:pPr>
              <a:defRPr sz="1950" b="1">
                <a:solidFill>
                  <a:srgbClr val="8CAF42"/>
                </a:solidFill>
                <a:latin typeface="Courier New"/>
                <a:ea typeface="Courier New"/>
                <a:cs typeface="Courier New"/>
              </a:defRPr>
            </a:pPr>
            <a:r>
              <a:rPr sz="1950" b="1">
                <a:solidFill>
                  <a:srgbClr val="8CAF42"/>
                </a:solidFill>
                <a:latin typeface="Courier New"/>
                <a:ea typeface="Courier New"/>
                <a:cs typeface="Courier New"/>
              </a:rPr>
              <a:t>WHERE student_id NOT IN (</a:t>
            </a:r>
          </a:p>
          <a:p>
            <a:pPr>
              <a:defRPr sz="1950" b="1">
                <a:solidFill>
                  <a:srgbClr val="8CAF42"/>
                </a:solidFill>
                <a:latin typeface="Courier New"/>
                <a:ea typeface="Courier New"/>
                <a:cs typeface="Courier New"/>
              </a:defRPr>
            </a:pPr>
            <a:r>
              <a:rPr sz="1950" b="1">
                <a:solidFill>
                  <a:srgbClr val="8CAF42"/>
                </a:solidFill>
                <a:latin typeface="Courier New"/>
                <a:ea typeface="Courier New"/>
                <a:cs typeface="Courier New"/>
              </a:rPr>
              <a:t>    SELECT student_id FROM graduate_list</a:t>
            </a:r>
          </a:p>
          <a:p>
            <a:pPr>
              <a:defRPr sz="1950" b="1">
                <a:solidFill>
                  <a:srgbClr val="8CAF42"/>
                </a:solidFill>
                <a:latin typeface="Courier New"/>
                <a:ea typeface="Courier New"/>
                <a:cs typeface="Courier New"/>
              </a:defRPr>
            </a:pPr>
            <a:r>
              <a:rPr sz="1950" b="1">
                <a:solidFill>
                  <a:srgbClr val="8CAF42"/>
                </a:solidFill>
                <a:latin typeface="Courier New"/>
                <a:ea typeface="Courier New"/>
                <a:cs typeface="Courier New"/>
              </a:rPr>
              <a:t>)</a:t>
            </a:r>
          </a:p>
          <a:p>
            <a:pPr>
              <a:defRPr sz="1950" b="1">
                <a:solidFill>
                  <a:srgbClr val="8CAF42"/>
                </a:solidFill>
                <a:latin typeface="Courier New"/>
                <a:ea typeface="Courier New"/>
                <a:cs typeface="Courier New"/>
              </a:defRPr>
            </a:pPr>
            <a:r>
              <a:rPr sz="1950" b="1">
                <a:solidFill>
                  <a:srgbClr val="8CAF42"/>
                </a:solidFill>
                <a:latin typeface="Courier New"/>
                <a:ea typeface="Courier New"/>
                <a:cs typeface="Courier New"/>
              </a:rPr>
              <a:t>ORDER BY student_id;</a:t>
            </a:r>
          </a:p>
        </p:txBody>
      </p:sp>
      <p:sp>
        <p:nvSpPr>
          <p:cNvPr id="4" name="body">
            <a:extLst>
              <a:ext uri="{FF2B5EF4-FFF2-40B4-BE49-F238E27FC236}">
                <a16:creationId xmlns:a16="http://schemas.microsoft.com/office/drawing/2014/main" id="{E814B48F-9D3F-499B-83FF-8C37015321EE}"/>
              </a:ext>
            </a:extLst>
          </p:cNvPr>
          <p:cNvSpPr>
            <a:spLocks noGrp="1"/>
          </p:cNvSpPr>
          <p:nvPr/>
        </p:nvSpPr>
        <p:spPr>
          <a:xfrm>
            <a:off x="933450" y="4305300"/>
            <a:ext cx="102870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  <a:lvl1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1pPr>
            <a:lvl2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2pPr>
            <a:lvl3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3pPr>
            <a:lvl4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4pPr>
            <a:lvl5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5pPr>
            <a:lvl6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6pPr>
            <a:lvl7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7pPr>
            <a:lvl8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8pPr>
            <a:lvl9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Result IDs: 1111–1115. This example uses a non-NULL student_id key.</a:t>
            </a:r>
          </a:p>
        </p:txBody>
      </p:sp>
      <p:sp>
        <p:nvSpPr>
          <p:cNvPr id="5" name="body">
            <a:extLst>
              <a:ext uri="{FF2B5EF4-FFF2-40B4-BE49-F238E27FC236}">
                <a16:creationId xmlns:a16="http://schemas.microsoft.com/office/drawing/2014/main" id="{76A286C5-1111-4C28-90D5-9D2370A92F63}"/>
              </a:ext>
            </a:extLst>
          </p:cNvPr>
          <p:cNvSpPr>
            <a:spLocks noGrp="1"/>
          </p:cNvSpPr>
          <p:nvPr/>
        </p:nvSpPr>
        <p:spPr>
          <a:xfrm>
            <a:off x="933450" y="4886325"/>
            <a:ext cx="102870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250" b="0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defPPr>
            <a:lvl1pPr>
              <a:defRPr sz="2250" b="0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lvl1pPr>
            <a:lvl2pPr>
              <a:defRPr sz="2250" b="0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lvl2pPr>
            <a:lvl3pPr>
              <a:defRPr sz="2250" b="0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lvl3pPr>
            <a:lvl4pPr>
              <a:defRPr sz="2250" b="0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lvl4pPr>
            <a:lvl5pPr>
              <a:defRPr sz="2250" b="0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lvl5pPr>
            <a:lvl6pPr>
              <a:defRPr sz="2250" b="0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lvl6pPr>
            <a:lvl7pPr>
              <a:defRPr sz="2250" b="0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lvl7pPr>
            <a:lvl8pPr>
              <a:defRPr sz="2250" b="0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lvl8pPr>
            <a:lvl9pPr>
              <a:defRPr sz="2250" b="0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250" b="0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NULL caution: 1113 NOT IN (1116, NULL) is unknown, not true. WHERE does not keep an unknown result.</a:t>
            </a:r>
          </a:p>
        </p:txBody>
      </p:sp>
      <p:sp>
        <p:nvSpPr>
          <p:cNvPr id="6" name="new-page">
            <a:extLst>
              <a:ext uri="{FF2B5EF4-FFF2-40B4-BE49-F238E27FC236}">
                <a16:creationId xmlns:a16="http://schemas.microsoft.com/office/drawing/2014/main" id="{AAA82D00-C572-42E1-877D-ADE2438BE7FA}"/>
              </a:ext>
            </a:extLst>
          </p:cNvPr>
          <p:cNvSpPr>
            <a:spLocks noGrp="1"/>
          </p:cNvSpPr>
          <p:nvPr/>
        </p:nvSpPr>
        <p:spPr>
          <a:xfrm>
            <a:off x="11144250" y="6457950"/>
            <a:ext cx="42862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200" b="0">
                <a:solidFill>
                  <a:srgbClr val="777777"/>
                </a:solidFill>
                <a:latin typeface="Calibri"/>
                <a:ea typeface="Calibri"/>
                <a:cs typeface="Calibri"/>
              </a:defRPr>
            </a:defPPr>
            <a:lvl1pPr>
              <a:defRPr sz="1200" b="0">
                <a:solidFill>
                  <a:srgbClr val="777777"/>
                </a:solidFill>
                <a:latin typeface="Calibri"/>
                <a:ea typeface="Calibri"/>
                <a:cs typeface="Calibri"/>
              </a:defRPr>
            </a:lvl1pPr>
            <a:lvl2pPr>
              <a:defRPr sz="1200" b="0">
                <a:solidFill>
                  <a:srgbClr val="777777"/>
                </a:solidFill>
                <a:latin typeface="Calibri"/>
                <a:ea typeface="Calibri"/>
                <a:cs typeface="Calibri"/>
              </a:defRPr>
            </a:lvl2pPr>
            <a:lvl3pPr>
              <a:defRPr sz="1200" b="0">
                <a:solidFill>
                  <a:srgbClr val="777777"/>
                </a:solidFill>
                <a:latin typeface="Calibri"/>
                <a:ea typeface="Calibri"/>
                <a:cs typeface="Calibri"/>
              </a:defRPr>
            </a:lvl3pPr>
            <a:lvl4pPr>
              <a:defRPr sz="1200" b="0">
                <a:solidFill>
                  <a:srgbClr val="777777"/>
                </a:solidFill>
                <a:latin typeface="Calibri"/>
                <a:ea typeface="Calibri"/>
                <a:cs typeface="Calibri"/>
              </a:defRPr>
            </a:lvl4pPr>
            <a:lvl5pPr>
              <a:defRPr sz="1200" b="0">
                <a:solidFill>
                  <a:srgbClr val="777777"/>
                </a:solidFill>
                <a:latin typeface="Calibri"/>
                <a:ea typeface="Calibri"/>
                <a:cs typeface="Calibri"/>
              </a:defRPr>
            </a:lvl5pPr>
            <a:lvl6pPr>
              <a:defRPr sz="1200" b="0">
                <a:solidFill>
                  <a:srgbClr val="777777"/>
                </a:solidFill>
                <a:latin typeface="Calibri"/>
                <a:ea typeface="Calibri"/>
                <a:cs typeface="Calibri"/>
              </a:defRPr>
            </a:lvl6pPr>
            <a:lvl7pPr>
              <a:defRPr sz="1200" b="0">
                <a:solidFill>
                  <a:srgbClr val="777777"/>
                </a:solidFill>
                <a:latin typeface="Calibri"/>
                <a:ea typeface="Calibri"/>
                <a:cs typeface="Calibri"/>
              </a:defRPr>
            </a:lvl7pPr>
            <a:lvl8pPr>
              <a:defRPr sz="1200" b="0">
                <a:solidFill>
                  <a:srgbClr val="777777"/>
                </a:solidFill>
                <a:latin typeface="Calibri"/>
                <a:ea typeface="Calibri"/>
                <a:cs typeface="Calibri"/>
              </a:defRPr>
            </a:lvl8pPr>
            <a:lvl9pPr>
              <a:defRPr sz="1200" b="0">
                <a:solidFill>
                  <a:srgbClr val="777777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200" b="0">
                <a:solidFill>
                  <a:srgbClr val="777777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777777"/>
                </a:solidFill>
                <a:latin typeface="Calibri"/>
                <a:ea typeface="Calibri"/>
                <a:cs typeface="Calibri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132103825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new-title">
            <a:extLst>
              <a:ext uri="{FF2B5EF4-FFF2-40B4-BE49-F238E27FC236}">
                <a16:creationId xmlns:a16="http://schemas.microsoft.com/office/drawing/2014/main" id="{781DF981-9972-4995-9ECB-9EB16BE9853D}"/>
              </a:ext>
            </a:extLst>
          </p:cNvPr>
          <p:cNvSpPr>
            <a:spLocks noGrp="1"/>
          </p:cNvSpPr>
          <p:nvPr/>
        </p:nvSpPr>
        <p:spPr>
          <a:xfrm>
            <a:off x="914400" y="400050"/>
            <a:ext cx="1036320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37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  <a:lvl1pPr>
              <a:defRPr sz="37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1pPr>
            <a:lvl2pPr>
              <a:defRPr sz="37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2pPr>
            <a:lvl3pPr>
              <a:defRPr sz="37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3pPr>
            <a:lvl4pPr>
              <a:defRPr sz="37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4pPr>
            <a:lvl5pPr>
              <a:defRPr sz="37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5pPr>
            <a:lvl6pPr>
              <a:defRPr sz="37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6pPr>
            <a:lvl7pPr>
              <a:defRPr sz="37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7pPr>
            <a:lvl8pPr>
              <a:defRPr sz="37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8pPr>
            <a:lvl9pPr>
              <a:defRPr sz="37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37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7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Correlated subquery: the current row</a:t>
            </a:r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9FF5988F-DD2D-4993-9C60-01154AA929AF}"/>
              </a:ext>
            </a:extLst>
          </p:cNvPr>
          <p:cNvSpPr>
            <a:spLocks noGrp="1"/>
          </p:cNvSpPr>
          <p:nvPr/>
        </p:nvSpPr>
        <p:spPr>
          <a:xfrm>
            <a:off x="933450" y="1352550"/>
            <a:ext cx="102870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  <a:lvl1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1pPr>
            <a:lvl2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2pPr>
            <a:lvl3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3pPr>
            <a:lvl4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4pPr>
            <a:lvl5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5pPr>
            <a:lvl6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6pPr>
            <a:lvl7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7pPr>
            <a:lvl8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8pPr>
            <a:lvl9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Example: find students in the highest year within their own programme.</a:t>
            </a:r>
          </a:p>
        </p:txBody>
      </p:sp>
      <p:sp>
        <p:nvSpPr>
          <p:cNvPr id="3" name="worked-sql">
            <a:extLst>
              <a:ext uri="{FF2B5EF4-FFF2-40B4-BE49-F238E27FC236}">
                <a16:creationId xmlns:a16="http://schemas.microsoft.com/office/drawing/2014/main" id="{DB6E972D-BAA9-4638-8B7C-A1A1E9D67DE8}"/>
              </a:ext>
            </a:extLst>
          </p:cNvPr>
          <p:cNvSpPr>
            <a:spLocks noGrp="1"/>
          </p:cNvSpPr>
          <p:nvPr/>
        </p:nvSpPr>
        <p:spPr>
          <a:xfrm>
            <a:off x="1066800" y="1933575"/>
            <a:ext cx="10096500" cy="2143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950" b="1">
                <a:solidFill>
                  <a:srgbClr val="8CAF42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1950" b="1">
                <a:solidFill>
                  <a:srgbClr val="8CAF42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1950" b="1">
                <a:solidFill>
                  <a:srgbClr val="8CAF42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1950" b="1">
                <a:solidFill>
                  <a:srgbClr val="8CAF42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1950" b="1">
                <a:solidFill>
                  <a:srgbClr val="8CAF42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1950" b="1">
                <a:solidFill>
                  <a:srgbClr val="8CAF42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1950" b="1">
                <a:solidFill>
                  <a:srgbClr val="8CAF42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1950" b="1">
                <a:solidFill>
                  <a:srgbClr val="8CAF42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1950" b="1">
                <a:solidFill>
                  <a:srgbClr val="8CAF42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1950" b="1">
                <a:solidFill>
                  <a:srgbClr val="8CAF42"/>
                </a:solidFill>
                <a:latin typeface="Courier New"/>
                <a:ea typeface="Courier New"/>
                <a:cs typeface="Courier New"/>
              </a:defRPr>
            </a:lvl9pPr>
          </a:lstStyle>
          <a:p>
            <a:pPr>
              <a:defRPr sz="1950" b="1">
                <a:solidFill>
                  <a:srgbClr val="8CAF42"/>
                </a:solidFill>
                <a:latin typeface="Courier New"/>
                <a:ea typeface="Courier New"/>
                <a:cs typeface="Courier New"/>
              </a:defRPr>
            </a:pPr>
            <a:r>
              <a:rPr sz="1950" b="1">
                <a:solidFill>
                  <a:srgbClr val="8CAF42"/>
                </a:solidFill>
                <a:latin typeface="Courier New"/>
                <a:ea typeface="Courier New"/>
                <a:cs typeface="Courier New"/>
              </a:rPr>
              <a:t>SELECT s.student_id, s.name, s.prog_code</a:t>
            </a:r>
          </a:p>
          <a:p>
            <a:pPr>
              <a:defRPr sz="1950" b="1">
                <a:solidFill>
                  <a:srgbClr val="8CAF42"/>
                </a:solidFill>
                <a:latin typeface="Courier New"/>
                <a:ea typeface="Courier New"/>
                <a:cs typeface="Courier New"/>
              </a:defRPr>
            </a:pPr>
            <a:r>
              <a:rPr sz="1950" b="1">
                <a:solidFill>
                  <a:srgbClr val="8CAF42"/>
                </a:solidFill>
                <a:latin typeface="Courier New"/>
                <a:ea typeface="Courier New"/>
                <a:cs typeface="Courier New"/>
              </a:rPr>
              <a:t>FROM student AS s</a:t>
            </a:r>
          </a:p>
          <a:p>
            <a:pPr>
              <a:defRPr sz="1950" b="1">
                <a:solidFill>
                  <a:srgbClr val="8CAF42"/>
                </a:solidFill>
                <a:latin typeface="Courier New"/>
                <a:ea typeface="Courier New"/>
                <a:cs typeface="Courier New"/>
              </a:defRPr>
            </a:pPr>
            <a:r>
              <a:rPr sz="1950" b="1">
                <a:solidFill>
                  <a:srgbClr val="8CAF42"/>
                </a:solidFill>
                <a:latin typeface="Courier New"/>
                <a:ea typeface="Courier New"/>
                <a:cs typeface="Courier New"/>
              </a:rPr>
              <a:t>WHERE s.year = (</a:t>
            </a:r>
          </a:p>
          <a:p>
            <a:pPr>
              <a:defRPr sz="1950" b="1">
                <a:solidFill>
                  <a:srgbClr val="8CAF42"/>
                </a:solidFill>
                <a:latin typeface="Courier New"/>
                <a:ea typeface="Courier New"/>
                <a:cs typeface="Courier New"/>
              </a:defRPr>
            </a:pPr>
            <a:r>
              <a:rPr sz="1950" b="1">
                <a:solidFill>
                  <a:srgbClr val="8CAF42"/>
                </a:solidFill>
                <a:latin typeface="Courier New"/>
                <a:ea typeface="Courier New"/>
                <a:cs typeface="Courier New"/>
              </a:rPr>
              <a:t>    SELECT MAX(s2.year) FROM student AS s2</a:t>
            </a:r>
          </a:p>
          <a:p>
            <a:pPr>
              <a:defRPr sz="1950" b="1">
                <a:solidFill>
                  <a:srgbClr val="8CAF42"/>
                </a:solidFill>
                <a:latin typeface="Courier New"/>
                <a:ea typeface="Courier New"/>
                <a:cs typeface="Courier New"/>
              </a:defRPr>
            </a:pPr>
            <a:r>
              <a:rPr sz="1950" b="1">
                <a:solidFill>
                  <a:srgbClr val="8CAF42"/>
                </a:solidFill>
                <a:latin typeface="Courier New"/>
                <a:ea typeface="Courier New"/>
                <a:cs typeface="Courier New"/>
              </a:rPr>
              <a:t>    WHERE s2.prog_code = s.prog_code</a:t>
            </a:r>
          </a:p>
          <a:p>
            <a:pPr>
              <a:defRPr sz="1950" b="1">
                <a:solidFill>
                  <a:srgbClr val="8CAF42"/>
                </a:solidFill>
                <a:latin typeface="Courier New"/>
                <a:ea typeface="Courier New"/>
                <a:cs typeface="Courier New"/>
              </a:defRPr>
            </a:pPr>
            <a:r>
              <a:rPr sz="1950" b="1">
                <a:solidFill>
                  <a:srgbClr val="8CAF42"/>
                </a:solidFill>
                <a:latin typeface="Courier New"/>
                <a:ea typeface="Courier New"/>
                <a:cs typeface="Courier New"/>
              </a:rPr>
              <a:t>)</a:t>
            </a:r>
          </a:p>
          <a:p>
            <a:pPr>
              <a:defRPr sz="1950" b="1">
                <a:solidFill>
                  <a:srgbClr val="8CAF42"/>
                </a:solidFill>
                <a:latin typeface="Courier New"/>
                <a:ea typeface="Courier New"/>
                <a:cs typeface="Courier New"/>
              </a:defRPr>
            </a:pPr>
            <a:r>
              <a:rPr sz="1950" b="1">
                <a:solidFill>
                  <a:srgbClr val="8CAF42"/>
                </a:solidFill>
                <a:latin typeface="Courier New"/>
                <a:ea typeface="Courier New"/>
                <a:cs typeface="Courier New"/>
              </a:rPr>
              <a:t>ORDER BY s.student_id;</a:t>
            </a:r>
          </a:p>
        </p:txBody>
      </p:sp>
      <p:sp>
        <p:nvSpPr>
          <p:cNvPr id="4" name="body">
            <a:extLst>
              <a:ext uri="{FF2B5EF4-FFF2-40B4-BE49-F238E27FC236}">
                <a16:creationId xmlns:a16="http://schemas.microsoft.com/office/drawing/2014/main" id="{63679B02-67C3-404E-851E-C09FD51988DF}"/>
              </a:ext>
            </a:extLst>
          </p:cNvPr>
          <p:cNvSpPr>
            <a:spLocks noGrp="1"/>
          </p:cNvSpPr>
          <p:nvPr/>
        </p:nvSpPr>
        <p:spPr>
          <a:xfrm>
            <a:off x="933450" y="4248150"/>
            <a:ext cx="102870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  <a:lvl1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1pPr>
            <a:lvl2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2pPr>
            <a:lvl3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3pPr>
            <a:lvl4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4pPr>
            <a:lvl5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5pPr>
            <a:lvl6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6pPr>
            <a:lvl7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7pPr>
            <a:lvl8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8pPr>
            <a:lvl9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 is the current outer student. s2 is the inner set of students. The condition uses s.prog_code to select the comparison group.</a:t>
            </a:r>
          </a:p>
        </p:txBody>
      </p:sp>
      <p:sp>
        <p:nvSpPr>
          <p:cNvPr id="5" name="body">
            <a:extLst>
              <a:ext uri="{FF2B5EF4-FFF2-40B4-BE49-F238E27FC236}">
                <a16:creationId xmlns:a16="http://schemas.microsoft.com/office/drawing/2014/main" id="{5995E2F0-4811-4D25-A1C9-96FC1EAFC4A0}"/>
              </a:ext>
            </a:extLst>
          </p:cNvPr>
          <p:cNvSpPr>
            <a:spLocks noGrp="1"/>
          </p:cNvSpPr>
          <p:nvPr/>
        </p:nvSpPr>
        <p:spPr>
          <a:xfrm>
            <a:off x="933450" y="5181600"/>
            <a:ext cx="102870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250" b="0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defPPr>
            <a:lvl1pPr>
              <a:defRPr sz="2250" b="0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lvl1pPr>
            <a:lvl2pPr>
              <a:defRPr sz="2250" b="0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lvl2pPr>
            <a:lvl3pPr>
              <a:defRPr sz="2250" b="0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lvl3pPr>
            <a:lvl4pPr>
              <a:defRPr sz="2250" b="0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lvl4pPr>
            <a:lvl5pPr>
              <a:defRPr sz="2250" b="0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lvl5pPr>
            <a:lvl6pPr>
              <a:defRPr sz="2250" b="0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lvl6pPr>
            <a:lvl7pPr>
              <a:defRPr sz="2250" b="0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lvl7pPr>
            <a:lvl8pPr>
              <a:defRPr sz="2250" b="0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lvl8pPr>
            <a:lvl9pPr>
              <a:defRPr sz="2250" b="0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250" b="0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CS maximum = 2; DS maximum = 4; EE maximum = 3. Result IDs: 1113, 1114, 1116.</a:t>
            </a:r>
          </a:p>
        </p:txBody>
      </p:sp>
      <p:sp>
        <p:nvSpPr>
          <p:cNvPr id="6" name="new-page">
            <a:extLst>
              <a:ext uri="{FF2B5EF4-FFF2-40B4-BE49-F238E27FC236}">
                <a16:creationId xmlns:a16="http://schemas.microsoft.com/office/drawing/2014/main" id="{DA75F639-5B3D-4894-B84B-53395A0C3C22}"/>
              </a:ext>
            </a:extLst>
          </p:cNvPr>
          <p:cNvSpPr>
            <a:spLocks noGrp="1"/>
          </p:cNvSpPr>
          <p:nvPr/>
        </p:nvSpPr>
        <p:spPr>
          <a:xfrm>
            <a:off x="11144250" y="6457950"/>
            <a:ext cx="42862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200" b="0">
                <a:solidFill>
                  <a:srgbClr val="777777"/>
                </a:solidFill>
                <a:latin typeface="Calibri"/>
                <a:ea typeface="Calibri"/>
                <a:cs typeface="Calibri"/>
              </a:defRPr>
            </a:defPPr>
            <a:lvl1pPr>
              <a:defRPr sz="1200" b="0">
                <a:solidFill>
                  <a:srgbClr val="777777"/>
                </a:solidFill>
                <a:latin typeface="Calibri"/>
                <a:ea typeface="Calibri"/>
                <a:cs typeface="Calibri"/>
              </a:defRPr>
            </a:lvl1pPr>
            <a:lvl2pPr>
              <a:defRPr sz="1200" b="0">
                <a:solidFill>
                  <a:srgbClr val="777777"/>
                </a:solidFill>
                <a:latin typeface="Calibri"/>
                <a:ea typeface="Calibri"/>
                <a:cs typeface="Calibri"/>
              </a:defRPr>
            </a:lvl2pPr>
            <a:lvl3pPr>
              <a:defRPr sz="1200" b="0">
                <a:solidFill>
                  <a:srgbClr val="777777"/>
                </a:solidFill>
                <a:latin typeface="Calibri"/>
                <a:ea typeface="Calibri"/>
                <a:cs typeface="Calibri"/>
              </a:defRPr>
            </a:lvl3pPr>
            <a:lvl4pPr>
              <a:defRPr sz="1200" b="0">
                <a:solidFill>
                  <a:srgbClr val="777777"/>
                </a:solidFill>
                <a:latin typeface="Calibri"/>
                <a:ea typeface="Calibri"/>
                <a:cs typeface="Calibri"/>
              </a:defRPr>
            </a:lvl4pPr>
            <a:lvl5pPr>
              <a:defRPr sz="1200" b="0">
                <a:solidFill>
                  <a:srgbClr val="777777"/>
                </a:solidFill>
                <a:latin typeface="Calibri"/>
                <a:ea typeface="Calibri"/>
                <a:cs typeface="Calibri"/>
              </a:defRPr>
            </a:lvl5pPr>
            <a:lvl6pPr>
              <a:defRPr sz="1200" b="0">
                <a:solidFill>
                  <a:srgbClr val="777777"/>
                </a:solidFill>
                <a:latin typeface="Calibri"/>
                <a:ea typeface="Calibri"/>
                <a:cs typeface="Calibri"/>
              </a:defRPr>
            </a:lvl6pPr>
            <a:lvl7pPr>
              <a:defRPr sz="1200" b="0">
                <a:solidFill>
                  <a:srgbClr val="777777"/>
                </a:solidFill>
                <a:latin typeface="Calibri"/>
                <a:ea typeface="Calibri"/>
                <a:cs typeface="Calibri"/>
              </a:defRPr>
            </a:lvl7pPr>
            <a:lvl8pPr>
              <a:defRPr sz="1200" b="0">
                <a:solidFill>
                  <a:srgbClr val="777777"/>
                </a:solidFill>
                <a:latin typeface="Calibri"/>
                <a:ea typeface="Calibri"/>
                <a:cs typeface="Calibri"/>
              </a:defRPr>
            </a:lvl8pPr>
            <a:lvl9pPr>
              <a:defRPr sz="1200" b="0">
                <a:solidFill>
                  <a:srgbClr val="777777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200" b="0">
                <a:solidFill>
                  <a:srgbClr val="777777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777777"/>
                </a:solidFill>
                <a:latin typeface="Calibri"/>
                <a:ea typeface="Calibri"/>
                <a:cs typeface="Calibri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13522477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new-title">
            <a:extLst>
              <a:ext uri="{FF2B5EF4-FFF2-40B4-BE49-F238E27FC236}">
                <a16:creationId xmlns:a16="http://schemas.microsoft.com/office/drawing/2014/main" id="{A610C5DE-5E18-4594-8BED-ED51F5A61A81}"/>
              </a:ext>
            </a:extLst>
          </p:cNvPr>
          <p:cNvSpPr>
            <a:spLocks noGrp="1"/>
          </p:cNvSpPr>
          <p:nvPr/>
        </p:nvSpPr>
        <p:spPr>
          <a:xfrm>
            <a:off x="914400" y="400050"/>
            <a:ext cx="1036320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37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  <a:lvl1pPr>
              <a:defRPr sz="37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1pPr>
            <a:lvl2pPr>
              <a:defRPr sz="37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2pPr>
            <a:lvl3pPr>
              <a:defRPr sz="37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3pPr>
            <a:lvl4pPr>
              <a:defRPr sz="37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4pPr>
            <a:lvl5pPr>
              <a:defRPr sz="37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5pPr>
            <a:lvl6pPr>
              <a:defRPr sz="37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6pPr>
            <a:lvl7pPr>
              <a:defRPr sz="37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7pPr>
            <a:lvl8pPr>
              <a:defRPr sz="37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8pPr>
            <a:lvl9pPr>
              <a:defRPr sz="37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37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7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EXISTS: at least one matching row</a:t>
            </a:r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59C7FA91-4137-471F-A67A-509D01E7505B}"/>
              </a:ext>
            </a:extLst>
          </p:cNvPr>
          <p:cNvSpPr>
            <a:spLocks noGrp="1"/>
          </p:cNvSpPr>
          <p:nvPr/>
        </p:nvSpPr>
        <p:spPr>
          <a:xfrm>
            <a:off x="933450" y="1352550"/>
            <a:ext cx="102870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  <a:lvl1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1pPr>
            <a:lvl2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2pPr>
            <a:lvl3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3pPr>
            <a:lvl4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4pPr>
            <a:lvl5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5pPr>
            <a:lvl6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6pPr>
            <a:lvl7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7pPr>
            <a:lvl8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8pPr>
            <a:lvl9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Example: list programmes that have at least one student.</a:t>
            </a:r>
          </a:p>
        </p:txBody>
      </p:sp>
      <p:sp>
        <p:nvSpPr>
          <p:cNvPr id="3" name="worked-sql">
            <a:extLst>
              <a:ext uri="{FF2B5EF4-FFF2-40B4-BE49-F238E27FC236}">
                <a16:creationId xmlns:a16="http://schemas.microsoft.com/office/drawing/2014/main" id="{A1629B53-1164-4DE2-B741-461E904EF163}"/>
              </a:ext>
            </a:extLst>
          </p:cNvPr>
          <p:cNvSpPr>
            <a:spLocks noGrp="1"/>
          </p:cNvSpPr>
          <p:nvPr/>
        </p:nvSpPr>
        <p:spPr>
          <a:xfrm>
            <a:off x="1066800" y="1933575"/>
            <a:ext cx="10096500" cy="2143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950" b="1">
                <a:solidFill>
                  <a:srgbClr val="8CAF42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1950" b="1">
                <a:solidFill>
                  <a:srgbClr val="8CAF42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1950" b="1">
                <a:solidFill>
                  <a:srgbClr val="8CAF42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1950" b="1">
                <a:solidFill>
                  <a:srgbClr val="8CAF42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1950" b="1">
                <a:solidFill>
                  <a:srgbClr val="8CAF42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1950" b="1">
                <a:solidFill>
                  <a:srgbClr val="8CAF42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1950" b="1">
                <a:solidFill>
                  <a:srgbClr val="8CAF42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1950" b="1">
                <a:solidFill>
                  <a:srgbClr val="8CAF42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1950" b="1">
                <a:solidFill>
                  <a:srgbClr val="8CAF42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1950" b="1">
                <a:solidFill>
                  <a:srgbClr val="8CAF42"/>
                </a:solidFill>
                <a:latin typeface="Courier New"/>
                <a:ea typeface="Courier New"/>
                <a:cs typeface="Courier New"/>
              </a:defRPr>
            </a:lvl9pPr>
          </a:lstStyle>
          <a:p>
            <a:pPr>
              <a:defRPr sz="1950" b="1">
                <a:solidFill>
                  <a:srgbClr val="8CAF42"/>
                </a:solidFill>
                <a:latin typeface="Courier New"/>
                <a:ea typeface="Courier New"/>
                <a:cs typeface="Courier New"/>
              </a:defRPr>
            </a:pPr>
            <a:r>
              <a:rPr sz="1950" b="1">
                <a:solidFill>
                  <a:srgbClr val="8CAF42"/>
                </a:solidFill>
                <a:latin typeface="Courier New"/>
                <a:ea typeface="Courier New"/>
                <a:cs typeface="Courier New"/>
              </a:rPr>
              <a:t>SELECT p.programme_id, p.name</a:t>
            </a:r>
          </a:p>
          <a:p>
            <a:pPr>
              <a:defRPr sz="1950" b="1">
                <a:solidFill>
                  <a:srgbClr val="8CAF42"/>
                </a:solidFill>
                <a:latin typeface="Courier New"/>
                <a:ea typeface="Courier New"/>
                <a:cs typeface="Courier New"/>
              </a:defRPr>
            </a:pPr>
            <a:r>
              <a:rPr sz="1950" b="1">
                <a:solidFill>
                  <a:srgbClr val="8CAF42"/>
                </a:solidFill>
                <a:latin typeface="Courier New"/>
                <a:ea typeface="Courier New"/>
                <a:cs typeface="Courier New"/>
              </a:rPr>
              <a:t>FROM programme AS p</a:t>
            </a:r>
          </a:p>
          <a:p>
            <a:pPr>
              <a:defRPr sz="1950" b="1">
                <a:solidFill>
                  <a:srgbClr val="8CAF42"/>
                </a:solidFill>
                <a:latin typeface="Courier New"/>
                <a:ea typeface="Courier New"/>
                <a:cs typeface="Courier New"/>
              </a:defRPr>
            </a:pPr>
            <a:r>
              <a:rPr sz="1950" b="1">
                <a:solidFill>
                  <a:srgbClr val="8CAF42"/>
                </a:solidFill>
                <a:latin typeface="Courier New"/>
                <a:ea typeface="Courier New"/>
                <a:cs typeface="Courier New"/>
              </a:rPr>
              <a:t>WHERE EXISTS (</a:t>
            </a:r>
          </a:p>
          <a:p>
            <a:pPr>
              <a:defRPr sz="1950" b="1">
                <a:solidFill>
                  <a:srgbClr val="8CAF42"/>
                </a:solidFill>
                <a:latin typeface="Courier New"/>
                <a:ea typeface="Courier New"/>
                <a:cs typeface="Courier New"/>
              </a:defRPr>
            </a:pPr>
            <a:r>
              <a:rPr sz="1950" b="1">
                <a:solidFill>
                  <a:srgbClr val="8CAF42"/>
                </a:solidFill>
                <a:latin typeface="Courier New"/>
                <a:ea typeface="Courier New"/>
                <a:cs typeface="Courier New"/>
              </a:rPr>
              <a:t>    SELECT 1 FROM student AS s</a:t>
            </a:r>
          </a:p>
          <a:p>
            <a:pPr>
              <a:defRPr sz="1950" b="1">
                <a:solidFill>
                  <a:srgbClr val="8CAF42"/>
                </a:solidFill>
                <a:latin typeface="Courier New"/>
                <a:ea typeface="Courier New"/>
                <a:cs typeface="Courier New"/>
              </a:defRPr>
            </a:pPr>
            <a:r>
              <a:rPr sz="1950" b="1">
                <a:solidFill>
                  <a:srgbClr val="8CAF42"/>
                </a:solidFill>
                <a:latin typeface="Courier New"/>
                <a:ea typeface="Courier New"/>
                <a:cs typeface="Courier New"/>
              </a:rPr>
              <a:t>    WHERE s.prog_code = p.programme_id</a:t>
            </a:r>
          </a:p>
          <a:p>
            <a:pPr>
              <a:defRPr sz="1950" b="1">
                <a:solidFill>
                  <a:srgbClr val="8CAF42"/>
                </a:solidFill>
                <a:latin typeface="Courier New"/>
                <a:ea typeface="Courier New"/>
                <a:cs typeface="Courier New"/>
              </a:defRPr>
            </a:pPr>
            <a:r>
              <a:rPr sz="1950" b="1">
                <a:solidFill>
                  <a:srgbClr val="8CAF42"/>
                </a:solidFill>
                <a:latin typeface="Courier New"/>
                <a:ea typeface="Courier New"/>
                <a:cs typeface="Courier New"/>
              </a:rPr>
              <a:t>)</a:t>
            </a:r>
          </a:p>
          <a:p>
            <a:pPr>
              <a:defRPr sz="1950" b="1">
                <a:solidFill>
                  <a:srgbClr val="8CAF42"/>
                </a:solidFill>
                <a:latin typeface="Courier New"/>
                <a:ea typeface="Courier New"/>
                <a:cs typeface="Courier New"/>
              </a:defRPr>
            </a:pPr>
            <a:r>
              <a:rPr sz="1950" b="1">
                <a:solidFill>
                  <a:srgbClr val="8CAF42"/>
                </a:solidFill>
                <a:latin typeface="Courier New"/>
                <a:ea typeface="Courier New"/>
                <a:cs typeface="Courier New"/>
              </a:rPr>
              <a:t>ORDER BY p.programme_id;</a:t>
            </a:r>
          </a:p>
        </p:txBody>
      </p:sp>
      <p:sp>
        <p:nvSpPr>
          <p:cNvPr id="4" name="body">
            <a:extLst>
              <a:ext uri="{FF2B5EF4-FFF2-40B4-BE49-F238E27FC236}">
                <a16:creationId xmlns:a16="http://schemas.microsoft.com/office/drawing/2014/main" id="{D3513164-0ADA-4949-95C1-8BC3460AF37A}"/>
              </a:ext>
            </a:extLst>
          </p:cNvPr>
          <p:cNvSpPr>
            <a:spLocks noGrp="1"/>
          </p:cNvSpPr>
          <p:nvPr/>
        </p:nvSpPr>
        <p:spPr>
          <a:xfrm>
            <a:off x="933450" y="4248150"/>
            <a:ext cx="102870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  <a:lvl1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1pPr>
            <a:lvl2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2pPr>
            <a:lvl3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3pPr>
            <a:lvl4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4pPr>
            <a:lvl5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5pPr>
            <a:lvl6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6pPr>
            <a:lvl7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7pPr>
            <a:lvl8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8pPr>
            <a:lvl9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EXISTS is true when the inner query finds a matching row. SELECT 1 is a constant, not the first row or a row with ID 1.</a:t>
            </a:r>
          </a:p>
        </p:txBody>
      </p:sp>
      <p:sp>
        <p:nvSpPr>
          <p:cNvPr id="5" name="body">
            <a:extLst>
              <a:ext uri="{FF2B5EF4-FFF2-40B4-BE49-F238E27FC236}">
                <a16:creationId xmlns:a16="http://schemas.microsoft.com/office/drawing/2014/main" id="{0F98E03B-134A-4E13-A6AC-36BC47A710C1}"/>
              </a:ext>
            </a:extLst>
          </p:cNvPr>
          <p:cNvSpPr>
            <a:spLocks noGrp="1"/>
          </p:cNvSpPr>
          <p:nvPr/>
        </p:nvSpPr>
        <p:spPr>
          <a:xfrm>
            <a:off x="933450" y="5181600"/>
            <a:ext cx="102870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250" b="0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defPPr>
            <a:lvl1pPr>
              <a:defRPr sz="2250" b="0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lvl1pPr>
            <a:lvl2pPr>
              <a:defRPr sz="2250" b="0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lvl2pPr>
            <a:lvl3pPr>
              <a:defRPr sz="2250" b="0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lvl3pPr>
            <a:lvl4pPr>
              <a:defRPr sz="2250" b="0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lvl4pPr>
            <a:lvl5pPr>
              <a:defRPr sz="2250" b="0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lvl5pPr>
            <a:lvl6pPr>
              <a:defRPr sz="2250" b="0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lvl6pPr>
            <a:lvl7pPr>
              <a:defRPr sz="2250" b="0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lvl7pPr>
            <a:lvl8pPr>
              <a:defRPr sz="2250" b="0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lvl8pPr>
            <a:lvl9pPr>
              <a:defRPr sz="2250" b="0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250" b="0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Each programme appears once, even with many students. Result IDs: CS, DS, EE.</a:t>
            </a:r>
          </a:p>
        </p:txBody>
      </p:sp>
      <p:sp>
        <p:nvSpPr>
          <p:cNvPr id="6" name="new-page">
            <a:extLst>
              <a:ext uri="{FF2B5EF4-FFF2-40B4-BE49-F238E27FC236}">
                <a16:creationId xmlns:a16="http://schemas.microsoft.com/office/drawing/2014/main" id="{90E8EEB7-DFF4-4302-97FE-442A39D8CF8F}"/>
              </a:ext>
            </a:extLst>
          </p:cNvPr>
          <p:cNvSpPr>
            <a:spLocks noGrp="1"/>
          </p:cNvSpPr>
          <p:nvPr/>
        </p:nvSpPr>
        <p:spPr>
          <a:xfrm>
            <a:off x="11144250" y="6457950"/>
            <a:ext cx="42862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200" b="0">
                <a:solidFill>
                  <a:srgbClr val="777777"/>
                </a:solidFill>
                <a:latin typeface="Calibri"/>
                <a:ea typeface="Calibri"/>
                <a:cs typeface="Calibri"/>
              </a:defRPr>
            </a:defPPr>
            <a:lvl1pPr>
              <a:defRPr sz="1200" b="0">
                <a:solidFill>
                  <a:srgbClr val="777777"/>
                </a:solidFill>
                <a:latin typeface="Calibri"/>
                <a:ea typeface="Calibri"/>
                <a:cs typeface="Calibri"/>
              </a:defRPr>
            </a:lvl1pPr>
            <a:lvl2pPr>
              <a:defRPr sz="1200" b="0">
                <a:solidFill>
                  <a:srgbClr val="777777"/>
                </a:solidFill>
                <a:latin typeface="Calibri"/>
                <a:ea typeface="Calibri"/>
                <a:cs typeface="Calibri"/>
              </a:defRPr>
            </a:lvl2pPr>
            <a:lvl3pPr>
              <a:defRPr sz="1200" b="0">
                <a:solidFill>
                  <a:srgbClr val="777777"/>
                </a:solidFill>
                <a:latin typeface="Calibri"/>
                <a:ea typeface="Calibri"/>
                <a:cs typeface="Calibri"/>
              </a:defRPr>
            </a:lvl3pPr>
            <a:lvl4pPr>
              <a:defRPr sz="1200" b="0">
                <a:solidFill>
                  <a:srgbClr val="777777"/>
                </a:solidFill>
                <a:latin typeface="Calibri"/>
                <a:ea typeface="Calibri"/>
                <a:cs typeface="Calibri"/>
              </a:defRPr>
            </a:lvl4pPr>
            <a:lvl5pPr>
              <a:defRPr sz="1200" b="0">
                <a:solidFill>
                  <a:srgbClr val="777777"/>
                </a:solidFill>
                <a:latin typeface="Calibri"/>
                <a:ea typeface="Calibri"/>
                <a:cs typeface="Calibri"/>
              </a:defRPr>
            </a:lvl5pPr>
            <a:lvl6pPr>
              <a:defRPr sz="1200" b="0">
                <a:solidFill>
                  <a:srgbClr val="777777"/>
                </a:solidFill>
                <a:latin typeface="Calibri"/>
                <a:ea typeface="Calibri"/>
                <a:cs typeface="Calibri"/>
              </a:defRPr>
            </a:lvl6pPr>
            <a:lvl7pPr>
              <a:defRPr sz="1200" b="0">
                <a:solidFill>
                  <a:srgbClr val="777777"/>
                </a:solidFill>
                <a:latin typeface="Calibri"/>
                <a:ea typeface="Calibri"/>
                <a:cs typeface="Calibri"/>
              </a:defRPr>
            </a:lvl7pPr>
            <a:lvl8pPr>
              <a:defRPr sz="1200" b="0">
                <a:solidFill>
                  <a:srgbClr val="777777"/>
                </a:solidFill>
                <a:latin typeface="Calibri"/>
                <a:ea typeface="Calibri"/>
                <a:cs typeface="Calibri"/>
              </a:defRPr>
            </a:lvl8pPr>
            <a:lvl9pPr>
              <a:defRPr sz="1200" b="0">
                <a:solidFill>
                  <a:srgbClr val="777777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200" b="0">
                <a:solidFill>
                  <a:srgbClr val="777777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777777"/>
                </a:solidFill>
                <a:latin typeface="Calibri"/>
                <a:ea typeface="Calibri"/>
                <a:cs typeface="Calibri"/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140752567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new-title">
            <a:extLst>
              <a:ext uri="{FF2B5EF4-FFF2-40B4-BE49-F238E27FC236}">
                <a16:creationId xmlns:a16="http://schemas.microsoft.com/office/drawing/2014/main" id="{8EE5688D-A3D7-4DEF-B615-BBA8F4CE8136}"/>
              </a:ext>
            </a:extLst>
          </p:cNvPr>
          <p:cNvSpPr>
            <a:spLocks noGrp="1"/>
          </p:cNvSpPr>
          <p:nvPr/>
        </p:nvSpPr>
        <p:spPr>
          <a:xfrm>
            <a:off x="914400" y="400050"/>
            <a:ext cx="1036320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37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  <a:lvl1pPr>
              <a:defRPr sz="37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1pPr>
            <a:lvl2pPr>
              <a:defRPr sz="37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2pPr>
            <a:lvl3pPr>
              <a:defRPr sz="37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3pPr>
            <a:lvl4pPr>
              <a:defRPr sz="37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4pPr>
            <a:lvl5pPr>
              <a:defRPr sz="37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5pPr>
            <a:lvl6pPr>
              <a:defRPr sz="37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6pPr>
            <a:lvl7pPr>
              <a:defRPr sz="37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7pPr>
            <a:lvl8pPr>
              <a:defRPr sz="37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8pPr>
            <a:lvl9pPr>
              <a:defRPr sz="37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37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7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NOT EXISTS: no matching row</a:t>
            </a:r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2899D24C-0440-4B9E-BE69-2BDD3F977FBD}"/>
              </a:ext>
            </a:extLst>
          </p:cNvPr>
          <p:cNvSpPr>
            <a:spLocks noGrp="1"/>
          </p:cNvSpPr>
          <p:nvPr/>
        </p:nvSpPr>
        <p:spPr>
          <a:xfrm>
            <a:off x="933450" y="1352550"/>
            <a:ext cx="102870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  <a:lvl1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1pPr>
            <a:lvl2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2pPr>
            <a:lvl3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3pPr>
            <a:lvl4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4pPr>
            <a:lvl5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5pPr>
            <a:lvl6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6pPr>
            <a:lvl7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7pPr>
            <a:lvl8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8pPr>
            <a:lvl9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Example: list students who have no matching row in graduate_list.</a:t>
            </a:r>
          </a:p>
        </p:txBody>
      </p:sp>
      <p:sp>
        <p:nvSpPr>
          <p:cNvPr id="3" name="worked-sql">
            <a:extLst>
              <a:ext uri="{FF2B5EF4-FFF2-40B4-BE49-F238E27FC236}">
                <a16:creationId xmlns:a16="http://schemas.microsoft.com/office/drawing/2014/main" id="{7D9CAA1B-D479-437F-920C-6282277F34F1}"/>
              </a:ext>
            </a:extLst>
          </p:cNvPr>
          <p:cNvSpPr>
            <a:spLocks noGrp="1"/>
          </p:cNvSpPr>
          <p:nvPr/>
        </p:nvSpPr>
        <p:spPr>
          <a:xfrm>
            <a:off x="1066800" y="1933575"/>
            <a:ext cx="10096500" cy="2143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950" b="1">
                <a:solidFill>
                  <a:srgbClr val="8CAF42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1950" b="1">
                <a:solidFill>
                  <a:srgbClr val="8CAF42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1950" b="1">
                <a:solidFill>
                  <a:srgbClr val="8CAF42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1950" b="1">
                <a:solidFill>
                  <a:srgbClr val="8CAF42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1950" b="1">
                <a:solidFill>
                  <a:srgbClr val="8CAF42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1950" b="1">
                <a:solidFill>
                  <a:srgbClr val="8CAF42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1950" b="1">
                <a:solidFill>
                  <a:srgbClr val="8CAF42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1950" b="1">
                <a:solidFill>
                  <a:srgbClr val="8CAF42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1950" b="1">
                <a:solidFill>
                  <a:srgbClr val="8CAF42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1950" b="1">
                <a:solidFill>
                  <a:srgbClr val="8CAF42"/>
                </a:solidFill>
                <a:latin typeface="Courier New"/>
                <a:ea typeface="Courier New"/>
                <a:cs typeface="Courier New"/>
              </a:defRPr>
            </a:lvl9pPr>
          </a:lstStyle>
          <a:p>
            <a:pPr>
              <a:defRPr sz="1950" b="1">
                <a:solidFill>
                  <a:srgbClr val="8CAF42"/>
                </a:solidFill>
                <a:latin typeface="Courier New"/>
                <a:ea typeface="Courier New"/>
                <a:cs typeface="Courier New"/>
              </a:defRPr>
            </a:pPr>
            <a:r>
              <a:rPr sz="1950" b="1">
                <a:solidFill>
                  <a:srgbClr val="8CAF42"/>
                </a:solidFill>
                <a:latin typeface="Courier New"/>
                <a:ea typeface="Courier New"/>
                <a:cs typeface="Courier New"/>
              </a:rPr>
              <a:t>SELECT s.student_id, s.name</a:t>
            </a:r>
          </a:p>
          <a:p>
            <a:pPr>
              <a:defRPr sz="1950" b="1">
                <a:solidFill>
                  <a:srgbClr val="8CAF42"/>
                </a:solidFill>
                <a:latin typeface="Courier New"/>
                <a:ea typeface="Courier New"/>
                <a:cs typeface="Courier New"/>
              </a:defRPr>
            </a:pPr>
            <a:r>
              <a:rPr sz="1950" b="1">
                <a:solidFill>
                  <a:srgbClr val="8CAF42"/>
                </a:solidFill>
                <a:latin typeface="Courier New"/>
                <a:ea typeface="Courier New"/>
                <a:cs typeface="Courier New"/>
              </a:rPr>
              <a:t>FROM student AS s</a:t>
            </a:r>
          </a:p>
          <a:p>
            <a:pPr>
              <a:defRPr sz="1950" b="1">
                <a:solidFill>
                  <a:srgbClr val="8CAF42"/>
                </a:solidFill>
                <a:latin typeface="Courier New"/>
                <a:ea typeface="Courier New"/>
                <a:cs typeface="Courier New"/>
              </a:defRPr>
            </a:pPr>
            <a:r>
              <a:rPr sz="1950" b="1">
                <a:solidFill>
                  <a:srgbClr val="8CAF42"/>
                </a:solidFill>
                <a:latin typeface="Courier New"/>
                <a:ea typeface="Courier New"/>
                <a:cs typeface="Courier New"/>
              </a:rPr>
              <a:t>WHERE NOT EXISTS (</a:t>
            </a:r>
          </a:p>
          <a:p>
            <a:pPr>
              <a:defRPr sz="1950" b="1">
                <a:solidFill>
                  <a:srgbClr val="8CAF42"/>
                </a:solidFill>
                <a:latin typeface="Courier New"/>
                <a:ea typeface="Courier New"/>
                <a:cs typeface="Courier New"/>
              </a:defRPr>
            </a:pPr>
            <a:r>
              <a:rPr sz="1950" b="1">
                <a:solidFill>
                  <a:srgbClr val="8CAF42"/>
                </a:solidFill>
                <a:latin typeface="Courier New"/>
                <a:ea typeface="Courier New"/>
                <a:cs typeface="Courier New"/>
              </a:rPr>
              <a:t>    SELECT 1 FROM graduate_list AS g</a:t>
            </a:r>
          </a:p>
          <a:p>
            <a:pPr>
              <a:defRPr sz="1950" b="1">
                <a:solidFill>
                  <a:srgbClr val="8CAF42"/>
                </a:solidFill>
                <a:latin typeface="Courier New"/>
                <a:ea typeface="Courier New"/>
                <a:cs typeface="Courier New"/>
              </a:defRPr>
            </a:pPr>
            <a:r>
              <a:rPr sz="1950" b="1">
                <a:solidFill>
                  <a:srgbClr val="8CAF42"/>
                </a:solidFill>
                <a:latin typeface="Courier New"/>
                <a:ea typeface="Courier New"/>
                <a:cs typeface="Courier New"/>
              </a:rPr>
              <a:t>    WHERE g.student_id = s.student_id</a:t>
            </a:r>
          </a:p>
          <a:p>
            <a:pPr>
              <a:defRPr sz="1950" b="1">
                <a:solidFill>
                  <a:srgbClr val="8CAF42"/>
                </a:solidFill>
                <a:latin typeface="Courier New"/>
                <a:ea typeface="Courier New"/>
                <a:cs typeface="Courier New"/>
              </a:defRPr>
            </a:pPr>
            <a:r>
              <a:rPr sz="1950" b="1">
                <a:solidFill>
                  <a:srgbClr val="8CAF42"/>
                </a:solidFill>
                <a:latin typeface="Courier New"/>
                <a:ea typeface="Courier New"/>
                <a:cs typeface="Courier New"/>
              </a:rPr>
              <a:t>)</a:t>
            </a:r>
          </a:p>
          <a:p>
            <a:pPr>
              <a:defRPr sz="1950" b="1">
                <a:solidFill>
                  <a:srgbClr val="8CAF42"/>
                </a:solidFill>
                <a:latin typeface="Courier New"/>
                <a:ea typeface="Courier New"/>
                <a:cs typeface="Courier New"/>
              </a:defRPr>
            </a:pPr>
            <a:r>
              <a:rPr sz="1950" b="1">
                <a:solidFill>
                  <a:srgbClr val="8CAF42"/>
                </a:solidFill>
                <a:latin typeface="Courier New"/>
                <a:ea typeface="Courier New"/>
                <a:cs typeface="Courier New"/>
              </a:rPr>
              <a:t>ORDER BY s.student_id;</a:t>
            </a:r>
          </a:p>
        </p:txBody>
      </p:sp>
      <p:sp>
        <p:nvSpPr>
          <p:cNvPr id="4" name="body">
            <a:extLst>
              <a:ext uri="{FF2B5EF4-FFF2-40B4-BE49-F238E27FC236}">
                <a16:creationId xmlns:a16="http://schemas.microsoft.com/office/drawing/2014/main" id="{36B89F77-0A2B-492A-97E3-24A55BE28051}"/>
              </a:ext>
            </a:extLst>
          </p:cNvPr>
          <p:cNvSpPr>
            <a:spLocks noGrp="1"/>
          </p:cNvSpPr>
          <p:nvPr/>
        </p:nvSpPr>
        <p:spPr>
          <a:xfrm>
            <a:off x="933450" y="4248150"/>
            <a:ext cx="102870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  <a:lvl1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1pPr>
            <a:lvl2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2pPr>
            <a:lvl3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3pPr>
            <a:lvl4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4pPr>
            <a:lvl5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5pPr>
            <a:lvl6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6pPr>
            <a:lvl7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7pPr>
            <a:lvl8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8pPr>
            <a:lvl9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For 1116: a matching row exists, so NOT EXISTS is false. For 1111: no match exists, so NOT EXISTS is true.</a:t>
            </a:r>
          </a:p>
        </p:txBody>
      </p:sp>
      <p:sp>
        <p:nvSpPr>
          <p:cNvPr id="5" name="body">
            <a:extLst>
              <a:ext uri="{FF2B5EF4-FFF2-40B4-BE49-F238E27FC236}">
                <a16:creationId xmlns:a16="http://schemas.microsoft.com/office/drawing/2014/main" id="{64436342-FE77-47B0-9508-97E26ACA4B5D}"/>
              </a:ext>
            </a:extLst>
          </p:cNvPr>
          <p:cNvSpPr>
            <a:spLocks noGrp="1"/>
          </p:cNvSpPr>
          <p:nvPr/>
        </p:nvSpPr>
        <p:spPr>
          <a:xfrm>
            <a:off x="933450" y="5181600"/>
            <a:ext cx="102870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250" b="0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defPPr>
            <a:lvl1pPr>
              <a:defRPr sz="2250" b="0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lvl1pPr>
            <a:lvl2pPr>
              <a:defRPr sz="2250" b="0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lvl2pPr>
            <a:lvl3pPr>
              <a:defRPr sz="2250" b="0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lvl3pPr>
            <a:lvl4pPr>
              <a:defRPr sz="2250" b="0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lvl4pPr>
            <a:lvl5pPr>
              <a:defRPr sz="2250" b="0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lvl5pPr>
            <a:lvl6pPr>
              <a:defRPr sz="2250" b="0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lvl6pPr>
            <a:lvl7pPr>
              <a:defRPr sz="2250" b="0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lvl7pPr>
            <a:lvl8pPr>
              <a:defRPr sz="2250" b="0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lvl8pPr>
            <a:lvl9pPr>
              <a:defRPr sz="2250" b="0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250" b="0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Result IDs: 1111–1115. The correlation condition makes the absence test specific to the current student.</a:t>
            </a:r>
          </a:p>
        </p:txBody>
      </p:sp>
      <p:sp>
        <p:nvSpPr>
          <p:cNvPr id="6" name="new-page">
            <a:extLst>
              <a:ext uri="{FF2B5EF4-FFF2-40B4-BE49-F238E27FC236}">
                <a16:creationId xmlns:a16="http://schemas.microsoft.com/office/drawing/2014/main" id="{A8FD8DD8-2F97-47B6-8F01-9B3F6972B58B}"/>
              </a:ext>
            </a:extLst>
          </p:cNvPr>
          <p:cNvSpPr>
            <a:spLocks noGrp="1"/>
          </p:cNvSpPr>
          <p:nvPr/>
        </p:nvSpPr>
        <p:spPr>
          <a:xfrm>
            <a:off x="11144250" y="6457950"/>
            <a:ext cx="42862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200" b="0">
                <a:solidFill>
                  <a:srgbClr val="777777"/>
                </a:solidFill>
                <a:latin typeface="Calibri"/>
                <a:ea typeface="Calibri"/>
                <a:cs typeface="Calibri"/>
              </a:defRPr>
            </a:defPPr>
            <a:lvl1pPr>
              <a:defRPr sz="1200" b="0">
                <a:solidFill>
                  <a:srgbClr val="777777"/>
                </a:solidFill>
                <a:latin typeface="Calibri"/>
                <a:ea typeface="Calibri"/>
                <a:cs typeface="Calibri"/>
              </a:defRPr>
            </a:lvl1pPr>
            <a:lvl2pPr>
              <a:defRPr sz="1200" b="0">
                <a:solidFill>
                  <a:srgbClr val="777777"/>
                </a:solidFill>
                <a:latin typeface="Calibri"/>
                <a:ea typeface="Calibri"/>
                <a:cs typeface="Calibri"/>
              </a:defRPr>
            </a:lvl2pPr>
            <a:lvl3pPr>
              <a:defRPr sz="1200" b="0">
                <a:solidFill>
                  <a:srgbClr val="777777"/>
                </a:solidFill>
                <a:latin typeface="Calibri"/>
                <a:ea typeface="Calibri"/>
                <a:cs typeface="Calibri"/>
              </a:defRPr>
            </a:lvl3pPr>
            <a:lvl4pPr>
              <a:defRPr sz="1200" b="0">
                <a:solidFill>
                  <a:srgbClr val="777777"/>
                </a:solidFill>
                <a:latin typeface="Calibri"/>
                <a:ea typeface="Calibri"/>
                <a:cs typeface="Calibri"/>
              </a:defRPr>
            </a:lvl4pPr>
            <a:lvl5pPr>
              <a:defRPr sz="1200" b="0">
                <a:solidFill>
                  <a:srgbClr val="777777"/>
                </a:solidFill>
                <a:latin typeface="Calibri"/>
                <a:ea typeface="Calibri"/>
                <a:cs typeface="Calibri"/>
              </a:defRPr>
            </a:lvl5pPr>
            <a:lvl6pPr>
              <a:defRPr sz="1200" b="0">
                <a:solidFill>
                  <a:srgbClr val="777777"/>
                </a:solidFill>
                <a:latin typeface="Calibri"/>
                <a:ea typeface="Calibri"/>
                <a:cs typeface="Calibri"/>
              </a:defRPr>
            </a:lvl6pPr>
            <a:lvl7pPr>
              <a:defRPr sz="1200" b="0">
                <a:solidFill>
                  <a:srgbClr val="777777"/>
                </a:solidFill>
                <a:latin typeface="Calibri"/>
                <a:ea typeface="Calibri"/>
                <a:cs typeface="Calibri"/>
              </a:defRPr>
            </a:lvl7pPr>
            <a:lvl8pPr>
              <a:defRPr sz="1200" b="0">
                <a:solidFill>
                  <a:srgbClr val="777777"/>
                </a:solidFill>
                <a:latin typeface="Calibri"/>
                <a:ea typeface="Calibri"/>
                <a:cs typeface="Calibri"/>
              </a:defRPr>
            </a:lvl8pPr>
            <a:lvl9pPr>
              <a:defRPr sz="1200" b="0">
                <a:solidFill>
                  <a:srgbClr val="777777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200" b="0">
                <a:solidFill>
                  <a:srgbClr val="777777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777777"/>
                </a:solidFill>
                <a:latin typeface="Calibri"/>
                <a:ea typeface="Calibri"/>
                <a:cs typeface="Calibri"/>
              </a:rP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45018483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new-title">
            <a:extLst>
              <a:ext uri="{FF2B5EF4-FFF2-40B4-BE49-F238E27FC236}">
                <a16:creationId xmlns:a16="http://schemas.microsoft.com/office/drawing/2014/main" id="{4212E154-17C8-4B0E-B751-69F8592489F4}"/>
              </a:ext>
            </a:extLst>
          </p:cNvPr>
          <p:cNvSpPr>
            <a:spLocks noGrp="1"/>
          </p:cNvSpPr>
          <p:nvPr/>
        </p:nvSpPr>
        <p:spPr>
          <a:xfrm>
            <a:off x="914400" y="400050"/>
            <a:ext cx="1036320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37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  <a:lvl1pPr>
              <a:defRPr sz="37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1pPr>
            <a:lvl2pPr>
              <a:defRPr sz="37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2pPr>
            <a:lvl3pPr>
              <a:defRPr sz="37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3pPr>
            <a:lvl4pPr>
              <a:defRPr sz="37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4pPr>
            <a:lvl5pPr>
              <a:defRPr sz="37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5pPr>
            <a:lvl6pPr>
              <a:defRPr sz="37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6pPr>
            <a:lvl7pPr>
              <a:defRPr sz="37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7pPr>
            <a:lvl8pPr>
              <a:defRPr sz="37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8pPr>
            <a:lvl9pPr>
              <a:defRPr sz="37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37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7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Reading a subquery before writing SQL</a:t>
            </a: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4BEB61DD-6BC4-4635-BE35-5FCC7FF6B116}"/>
              </a:ext>
            </a:extLst>
          </p:cNvPr>
          <p:cNvGraphicFramePr/>
          <p:nvPr/>
        </p:nvGraphicFramePr>
        <p:xfrm>
          <a:off x="933450" y="1352550"/>
          <a:ext cx="10287000" cy="3619500"/>
        </p:xfrm>
        <a:graphic>
          <a:graphicData uri="http://schemas.openxmlformats.org/drawingml/2006/table">
            <a:tbl>
              <a:tblPr/>
              <a:tblGrid>
                <a:gridCol w="40524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345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3900">
                <a:tc>
                  <a:txBody>
                    <a:bodyPr/>
                    <a:lstStyle/>
                    <a:p>
                      <a:pPr algn="l"/>
                      <a:r>
                        <a:rPr sz="195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Question to ask</a:t>
                      </a:r>
                    </a:p>
                  </a:txBody>
                  <a:tcPr marL="114300" marR="114300" marT="57150" marB="57150" anchor="ctr">
                    <a:lnL w="9525">
                      <a:solidFill>
                        <a:srgbClr val="777777"/>
                      </a:solidFill>
                      <a:prstDash val="solid"/>
                    </a:lnL>
                    <a:lnR w="9525">
                      <a:solidFill>
                        <a:srgbClr val="777777"/>
                      </a:solidFill>
                      <a:prstDash val="solid"/>
                    </a:lnR>
                    <a:lnT w="9525">
                      <a:solidFill>
                        <a:srgbClr val="777777"/>
                      </a:solidFill>
                      <a:prstDash val="solid"/>
                    </a:lnT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5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What to identify</a:t>
                      </a:r>
                    </a:p>
                  </a:txBody>
                  <a:tcPr marL="114300" marR="114300" marT="57150" marB="57150" anchor="ctr">
                    <a:lnL w="9525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777777"/>
                      </a:solidFill>
                      <a:prstDash val="solid"/>
                    </a:lnR>
                    <a:lnT w="9525">
                      <a:solidFill>
                        <a:srgbClr val="777777"/>
                      </a:solidFill>
                      <a:prstDash val="solid"/>
                    </a:lnT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3900">
                <a:tc>
                  <a:txBody>
                    <a:bodyPr/>
                    <a:lstStyle/>
                    <a:p>
                      <a:pPr algn="l"/>
                      <a:r>
                        <a:rPr sz="19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What should one final row represent?</a:t>
                      </a:r>
                    </a:p>
                  </a:txBody>
                  <a:tcPr marL="114300" marR="114300" marT="57150" marB="57150" anchor="ctr">
                    <a:lnL w="9525">
                      <a:solidFill>
                        <a:srgbClr val="777777"/>
                      </a:solidFill>
                      <a:prstDash val="solid"/>
                    </a:lnL>
                    <a:lnR w="9525">
                      <a:solidFill>
                        <a:srgbClr val="777777"/>
                      </a:solidFill>
                      <a:prstDash val="solid"/>
                    </a:lnR>
                    <a:lnT w="9525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Choose the outer table and output columns.</a:t>
                      </a:r>
                    </a:p>
                  </a:txBody>
                  <a:tcPr marL="114300" marR="114300" marT="57150" marB="57150" anchor="ctr">
                    <a:lnL w="9525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777777"/>
                      </a:solidFill>
                      <a:prstDash val="solid"/>
                    </a:lnR>
                    <a:lnT w="9525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3900">
                <a:tc>
                  <a:txBody>
                    <a:bodyPr/>
                    <a:lstStyle/>
                    <a:p>
                      <a:pPr algn="l"/>
                      <a:r>
                        <a:rPr sz="19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What supporting information is needed?</a:t>
                      </a:r>
                    </a:p>
                  </a:txBody>
                  <a:tcPr marL="114300" marR="114300" marT="57150" marB="57150" anchor="ctr">
                    <a:lnL w="9525">
                      <a:solidFill>
                        <a:srgbClr val="777777"/>
                      </a:solidFill>
                      <a:prstDash val="solid"/>
                    </a:lnL>
                    <a:lnR w="9525">
                      <a:solidFill>
                        <a:srgbClr val="777777"/>
                      </a:solidFill>
                      <a:prstDash val="solid"/>
                    </a:lnR>
                    <a:lnT w="9525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One value, a value set, or matching rows.</a:t>
                      </a:r>
                    </a:p>
                  </a:txBody>
                  <a:tcPr marL="114300" marR="114300" marT="57150" marB="57150" anchor="ctr">
                    <a:lnL w="9525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777777"/>
                      </a:solidFill>
                      <a:prstDash val="solid"/>
                    </a:lnR>
                    <a:lnT w="9525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3900">
                <a:tc>
                  <a:txBody>
                    <a:bodyPr/>
                    <a:lstStyle/>
                    <a:p>
                      <a:pPr algn="l"/>
                      <a:r>
                        <a:rPr sz="19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Does the inner query use the current outer row?</a:t>
                      </a:r>
                    </a:p>
                  </a:txBody>
                  <a:tcPr marL="114300" marR="114300" marT="57150" marB="57150" anchor="ctr">
                    <a:lnL w="9525">
                      <a:solidFill>
                        <a:srgbClr val="777777"/>
                      </a:solidFill>
                      <a:prstDash val="solid"/>
                    </a:lnL>
                    <a:lnR w="9525">
                      <a:solidFill>
                        <a:srgbClr val="777777"/>
                      </a:solidFill>
                      <a:prstDash val="solid"/>
                    </a:lnR>
                    <a:lnT w="9525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Find the alias reference and matching condition.</a:t>
                      </a:r>
                    </a:p>
                  </a:txBody>
                  <a:tcPr marL="114300" marR="114300" marT="57150" marB="57150" anchor="ctr">
                    <a:lnL w="9525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777777"/>
                      </a:solidFill>
                      <a:prstDash val="solid"/>
                    </a:lnR>
                    <a:lnT w="9525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3900">
                <a:tc>
                  <a:txBody>
                    <a:bodyPr/>
                    <a:lstStyle/>
                    <a:p>
                      <a:pPr algn="l"/>
                      <a:r>
                        <a:rPr sz="19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Which condition matches the requirement?</a:t>
                      </a:r>
                    </a:p>
                  </a:txBody>
                  <a:tcPr marL="114300" marR="114300" marT="57150" marB="57150" anchor="ctr">
                    <a:lnL w="9525">
                      <a:solidFill>
                        <a:srgbClr val="777777"/>
                      </a:solidFill>
                      <a:prstDash val="solid"/>
                    </a:lnL>
                    <a:lnR w="9525">
                      <a:solidFill>
                        <a:srgbClr val="777777"/>
                      </a:solidFill>
                      <a:prstDash val="solid"/>
                    </a:lnR>
                    <a:lnT w="9525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= / &gt; for a value; IN for a set; EXISTS for any; NOT EXISTS for none.</a:t>
                      </a:r>
                    </a:p>
                  </a:txBody>
                  <a:tcPr marL="114300" marR="114300" marT="57150" marB="57150" anchor="ctr">
                    <a:lnL w="9525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777777"/>
                      </a:solidFill>
                      <a:prstDash val="solid"/>
                    </a:lnR>
                    <a:lnT w="9525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" name="body">
            <a:extLst>
              <a:ext uri="{FF2B5EF4-FFF2-40B4-BE49-F238E27FC236}">
                <a16:creationId xmlns:a16="http://schemas.microsoft.com/office/drawing/2014/main" id="{9C697AB5-3AEB-4BF4-8DA5-EAD9DBB62A21}"/>
              </a:ext>
            </a:extLst>
          </p:cNvPr>
          <p:cNvSpPr>
            <a:spLocks noGrp="1"/>
          </p:cNvSpPr>
          <p:nvPr/>
        </p:nvSpPr>
        <p:spPr>
          <a:xfrm>
            <a:off x="933450" y="5162550"/>
            <a:ext cx="102870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  <a:lvl1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1pPr>
            <a:lvl2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2pPr>
            <a:lvl3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3pPr>
            <a:lvl4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4pPr>
            <a:lvl5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5pPr>
            <a:lvl6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6pPr>
            <a:lvl7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7pPr>
            <a:lvl8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8pPr>
            <a:lvl9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2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Check a small inner result, then identify the outer rows that remain.</a:t>
            </a:r>
          </a:p>
        </p:txBody>
      </p:sp>
      <p:sp>
        <p:nvSpPr>
          <p:cNvPr id="4" name="body">
            <a:extLst>
              <a:ext uri="{FF2B5EF4-FFF2-40B4-BE49-F238E27FC236}">
                <a16:creationId xmlns:a16="http://schemas.microsoft.com/office/drawing/2014/main" id="{2061C713-B734-4D3C-A997-5C4ACC6BC61E}"/>
              </a:ext>
            </a:extLst>
          </p:cNvPr>
          <p:cNvSpPr>
            <a:spLocks noGrp="1"/>
          </p:cNvSpPr>
          <p:nvPr/>
        </p:nvSpPr>
        <p:spPr>
          <a:xfrm>
            <a:off x="933450" y="5743575"/>
            <a:ext cx="102870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250" b="0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defPPr>
            <a:lvl1pPr>
              <a:defRPr sz="2250" b="0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lvl1pPr>
            <a:lvl2pPr>
              <a:defRPr sz="2250" b="0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lvl2pPr>
            <a:lvl3pPr>
              <a:defRPr sz="2250" b="0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lvl3pPr>
            <a:lvl4pPr>
              <a:defRPr sz="2250" b="0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lvl4pPr>
            <a:lvl5pPr>
              <a:defRPr sz="2250" b="0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lvl5pPr>
            <a:lvl6pPr>
              <a:defRPr sz="2250" b="0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lvl6pPr>
            <a:lvl7pPr>
              <a:defRPr sz="2250" b="0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lvl7pPr>
            <a:lvl8pPr>
              <a:defRPr sz="2250" b="0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lvl8pPr>
            <a:lvl9pPr>
              <a:defRPr sz="2250" b="0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250" b="0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Next: switch to chinook.db for the original Q1–Q5 exercises.</a:t>
            </a:r>
          </a:p>
        </p:txBody>
      </p:sp>
      <p:sp>
        <p:nvSpPr>
          <p:cNvPr id="5" name="new-page">
            <a:extLst>
              <a:ext uri="{FF2B5EF4-FFF2-40B4-BE49-F238E27FC236}">
                <a16:creationId xmlns:a16="http://schemas.microsoft.com/office/drawing/2014/main" id="{824F15C1-6358-4A76-BA97-97FC04F1896D}"/>
              </a:ext>
            </a:extLst>
          </p:cNvPr>
          <p:cNvSpPr>
            <a:spLocks noGrp="1"/>
          </p:cNvSpPr>
          <p:nvPr/>
        </p:nvSpPr>
        <p:spPr>
          <a:xfrm>
            <a:off x="11144250" y="6457950"/>
            <a:ext cx="42862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200" b="0">
                <a:solidFill>
                  <a:srgbClr val="777777"/>
                </a:solidFill>
                <a:latin typeface="Calibri"/>
                <a:ea typeface="Calibri"/>
                <a:cs typeface="Calibri"/>
              </a:defRPr>
            </a:defPPr>
            <a:lvl1pPr>
              <a:defRPr sz="1200" b="0">
                <a:solidFill>
                  <a:srgbClr val="777777"/>
                </a:solidFill>
                <a:latin typeface="Calibri"/>
                <a:ea typeface="Calibri"/>
                <a:cs typeface="Calibri"/>
              </a:defRPr>
            </a:lvl1pPr>
            <a:lvl2pPr>
              <a:defRPr sz="1200" b="0">
                <a:solidFill>
                  <a:srgbClr val="777777"/>
                </a:solidFill>
                <a:latin typeface="Calibri"/>
                <a:ea typeface="Calibri"/>
                <a:cs typeface="Calibri"/>
              </a:defRPr>
            </a:lvl2pPr>
            <a:lvl3pPr>
              <a:defRPr sz="1200" b="0">
                <a:solidFill>
                  <a:srgbClr val="777777"/>
                </a:solidFill>
                <a:latin typeface="Calibri"/>
                <a:ea typeface="Calibri"/>
                <a:cs typeface="Calibri"/>
              </a:defRPr>
            </a:lvl3pPr>
            <a:lvl4pPr>
              <a:defRPr sz="1200" b="0">
                <a:solidFill>
                  <a:srgbClr val="777777"/>
                </a:solidFill>
                <a:latin typeface="Calibri"/>
                <a:ea typeface="Calibri"/>
                <a:cs typeface="Calibri"/>
              </a:defRPr>
            </a:lvl4pPr>
            <a:lvl5pPr>
              <a:defRPr sz="1200" b="0">
                <a:solidFill>
                  <a:srgbClr val="777777"/>
                </a:solidFill>
                <a:latin typeface="Calibri"/>
                <a:ea typeface="Calibri"/>
                <a:cs typeface="Calibri"/>
              </a:defRPr>
            </a:lvl5pPr>
            <a:lvl6pPr>
              <a:defRPr sz="1200" b="0">
                <a:solidFill>
                  <a:srgbClr val="777777"/>
                </a:solidFill>
                <a:latin typeface="Calibri"/>
                <a:ea typeface="Calibri"/>
                <a:cs typeface="Calibri"/>
              </a:defRPr>
            </a:lvl6pPr>
            <a:lvl7pPr>
              <a:defRPr sz="1200" b="0">
                <a:solidFill>
                  <a:srgbClr val="777777"/>
                </a:solidFill>
                <a:latin typeface="Calibri"/>
                <a:ea typeface="Calibri"/>
                <a:cs typeface="Calibri"/>
              </a:defRPr>
            </a:lvl7pPr>
            <a:lvl8pPr>
              <a:defRPr sz="1200" b="0">
                <a:solidFill>
                  <a:srgbClr val="777777"/>
                </a:solidFill>
                <a:latin typeface="Calibri"/>
                <a:ea typeface="Calibri"/>
                <a:cs typeface="Calibri"/>
              </a:defRPr>
            </a:lvl8pPr>
            <a:lvl9pPr>
              <a:defRPr sz="1200" b="0">
                <a:solidFill>
                  <a:srgbClr val="777777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200" b="0">
                <a:solidFill>
                  <a:srgbClr val="777777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777777"/>
                </a:solidFill>
                <a:latin typeface="Calibri"/>
                <a:ea typeface="Calibri"/>
                <a:cs typeface="Calibri"/>
              </a:rPr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88281855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440;p56">
            <a:extLst>
              <a:ext uri="{FF2B5EF4-FFF2-40B4-BE49-F238E27FC236}">
                <a16:creationId xmlns:a16="http://schemas.microsoft.com/office/drawing/2014/main" id="{BFDA33F7-F9A2-419C-B863-39928F239F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77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/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t>SQLite Example database</a:t>
            </a:r>
          </a:p>
        </p:txBody>
      </p:sp>
      <p:sp>
        <p:nvSpPr>
          <p:cNvPr id="3" name="Google Shape;441;p56">
            <a:extLst>
              <a:ext uri="{FF2B5EF4-FFF2-40B4-BE49-F238E27FC236}">
                <a16:creationId xmlns:a16="http://schemas.microsoft.com/office/drawing/2014/main" id="{CF2529B1-2752-4604-8397-D509B520ED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282148"/>
            <a:ext cx="10515600" cy="48948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/>
          <a:p>
            <a:pPr marL="228600" lvl="0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</a:pPr>
            <a:r>
              <a:rPr sz="2400">
                <a:solidFill>
                  <a:srgbClr val="000000"/>
                </a:solidFill>
              </a:rPr>
              <a:t>Open the unchanged chinook.db for the following queries.</a:t>
            </a:r>
          </a:p>
          <a:p>
            <a:pPr marL="228600" lvl="0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</a:pPr>
            <a:r>
              <a:rPr sz="2400">
                <a:solidFill>
                  <a:srgbClr val="000000"/>
                </a:solidFill>
              </a:rPr>
              <a:t>DB for a digital media store, tables for artists, albums, invoices, customers, etc.,</a:t>
            </a:r>
          </a:p>
        </p:txBody>
      </p:sp>
      <p:sp>
        <p:nvSpPr>
          <p:cNvPr id="4" name="Google Shape;442;p56">
            <a:extLst>
              <a:ext uri="{FF2B5EF4-FFF2-40B4-BE49-F238E27FC236}">
                <a16:creationId xmlns:a16="http://schemas.microsoft.com/office/drawing/2014/main" id="{3AE52301-114A-4E18-8486-DC8E9FFEAD3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  <a:t>30</a:t>
            </a:fld>
            <a:endParaRPr/>
          </a:p>
        </p:txBody>
      </p:sp>
      <p:pic>
        <p:nvPicPr>
          <p:cNvPr id="9" name="Google Shape;443;p56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38878" y="2462931"/>
            <a:ext cx="7343322" cy="3939774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0673772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>
            <a:extLst>
              <a:ext uri="{FF2B5EF4-FFF2-40B4-BE49-F238E27FC236}">
                <a16:creationId xmlns:a16="http://schemas.microsoft.com/office/drawing/2014/main" id="{1CC222E2-B717-4BAF-87FA-868AF6DF46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Q1: Basics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156888-5C7B-4BF8-939D-6691353B86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77611"/>
            <a:ext cx="5834325" cy="5374341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  <a:buNone/>
            </a:pPr>
            <a:r>
              <a:rPr sz="2400" b="1"/>
              <a:t>Tables</a:t>
            </a:r>
            <a:r>
              <a:rPr sz="2400"/>
              <a:t>: tracks, genres</a:t>
            </a:r>
          </a:p>
          <a:p>
            <a:pPr>
              <a:lnSpc>
                <a:spcPct val="110000"/>
              </a:lnSpc>
              <a:buNone/>
            </a:pPr>
            <a:r>
              <a:rPr sz="2400" b="1"/>
              <a:t>Task</a:t>
            </a:r>
            <a:r>
              <a:rPr sz="2400"/>
              <a:t>: </a:t>
            </a:r>
          </a:p>
          <a:p>
            <a:pPr lvl="1">
              <a:lnSpc>
                <a:spcPct val="110000"/>
              </a:lnSpc>
              <a:buNone/>
            </a:pPr>
            <a:r>
              <a:t>Find all Pop tracks (Genre).</a:t>
            </a:r>
          </a:p>
          <a:p>
            <a:pPr lvl="1">
              <a:lnSpc>
                <a:spcPct val="110000"/>
              </a:lnSpc>
              <a:buNone/>
            </a:pPr>
            <a:r>
              <a:rPr>
                <a:highlight>
                  <a:srgbClr val="FFFF00"/>
                </a:highlight>
              </a:rPr>
              <a:t>Tip: Genre Name = ‘Pop’</a:t>
            </a:r>
          </a:p>
          <a:p>
            <a:pPr>
              <a:lnSpc>
                <a:spcPct val="110000"/>
              </a:lnSpc>
              <a:buNone/>
            </a:pPr>
            <a:r>
              <a:rPr sz="2400">
                <a:solidFill>
                  <a:srgbClr val="FF0000"/>
                </a:solidFill>
              </a:rPr>
              <a:t>Try to solve it. (2 mins)</a:t>
            </a:r>
          </a:p>
          <a:p>
            <a:pPr lvl="1">
              <a:lnSpc>
                <a:spcPct val="110000"/>
              </a:lnSpc>
              <a:buNone/>
            </a:pPr>
            <a:r>
              <a:rPr>
                <a:solidFill>
                  <a:srgbClr val="FF0000"/>
                </a:solidFill>
              </a:rPr>
              <a:t>Read</a:t>
            </a:r>
            <a:r>
              <a:rPr b="1">
                <a:solidFill>
                  <a:srgbClr val="FF0000"/>
                </a:solidFill>
              </a:rPr>
              <a:t> Crow’s Foot Notation </a:t>
            </a:r>
            <a:r>
              <a:rPr>
                <a:solidFill>
                  <a:srgbClr val="FF0000"/>
                </a:solidFill>
              </a:rPr>
              <a:t>as additional fun hurdle to this lab…</a:t>
            </a:r>
          </a:p>
          <a:p>
            <a:pPr lvl="1">
              <a:lnSpc>
                <a:spcPct val="110000"/>
              </a:lnSpc>
              <a:buNone/>
            </a:pPr>
            <a:r>
              <a:rPr>
                <a:solidFill>
                  <a:srgbClr val="FF0000"/>
                </a:solidFill>
              </a:rPr>
              <a:t>Genres to tracks is </a:t>
            </a:r>
            <a:r>
              <a:rPr b="1">
                <a:solidFill>
                  <a:srgbClr val="FF0000"/>
                </a:solidFill>
              </a:rPr>
              <a:t>1:M</a:t>
            </a:r>
            <a:r>
              <a:rPr>
                <a:solidFill>
                  <a:srgbClr val="FF0000"/>
                </a:solidFill>
              </a:rPr>
              <a:t> relation.</a:t>
            </a:r>
          </a:p>
          <a:p>
            <a:pPr lvl="2">
              <a:lnSpc>
                <a:spcPct val="110000"/>
              </a:lnSpc>
              <a:buNone/>
            </a:pPr>
            <a:r>
              <a:rPr sz="2400">
                <a:solidFill>
                  <a:srgbClr val="FF0000"/>
                </a:solidFill>
              </a:rPr>
              <a:t>One track has one genre</a:t>
            </a:r>
          </a:p>
          <a:p>
            <a:pPr lvl="2">
              <a:lnSpc>
                <a:spcPct val="110000"/>
              </a:lnSpc>
              <a:buNone/>
            </a:pPr>
            <a:r>
              <a:rPr sz="2400">
                <a:solidFill>
                  <a:srgbClr val="FF0000"/>
                </a:solidFill>
              </a:rPr>
              <a:t>One genre has many tracks</a:t>
            </a:r>
          </a:p>
          <a:p>
            <a:pPr lvl="1">
              <a:lnSpc>
                <a:spcPct val="110000"/>
              </a:lnSpc>
              <a:buNone/>
            </a:pPr>
            <a:r>
              <a:rPr>
                <a:solidFill>
                  <a:srgbClr val="FF0000"/>
                </a:solidFill>
              </a:rPr>
              <a:t>Good Job! (?)</a:t>
            </a:r>
          </a:p>
          <a:p>
            <a:pPr marL="0" indent="0">
              <a:lnSpc>
                <a:spcPct val="110000"/>
              </a:lnSpc>
              <a:buNone/>
            </a:pPr>
            <a:endParaRPr sz="2400">
              <a:solidFill>
                <a:srgbClr val="FF0000"/>
              </a:solidFill>
            </a:endParaRPr>
          </a:p>
          <a:p>
            <a:pPr marL="0" indent="0">
              <a:lnSpc>
                <a:spcPct val="110000"/>
              </a:lnSpc>
              <a:buNone/>
            </a:pPr>
            <a:endParaRPr sz="2400"/>
          </a:p>
          <a:p>
            <a:pPr>
              <a:lnSpc>
                <a:spcPct val="110000"/>
              </a:lnSpc>
              <a:buNone/>
            </a:pPr>
            <a:endParaRPr sz="2400"/>
          </a:p>
          <a:p>
            <a:endParaRPr sz="240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FD23A6-30CB-401B-A8FF-022AFE3B9DD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81D60167-4931-47E6-BA6A-407CBD079E47}" type="slidenum">
              <a:rPr/>
              <a:t>31</a:t>
            </a:fld>
            <a:endParaRPr/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E9722F5E-C8A1-D245-4813-9C86A5856803}"/>
              </a:ext>
            </a:extLst>
          </p:cNvPr>
          <p:cNvSpPr>
            <a:spLocks noGrp="1"/>
          </p:cNvSpPr>
          <p:nvPr/>
        </p:nvSpPr>
        <p:spPr>
          <a:xfrm>
            <a:off x="990600" y="1600200"/>
            <a:ext cx="10515600" cy="4729163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>
              <a:lnSpc>
                <a:spcPct val="110000"/>
              </a:lnSpc>
              <a:buNone/>
            </a:pPr>
            <a:endParaRPr/>
          </a:p>
        </p:txBody>
      </p:sp>
      <p:pic>
        <p:nvPicPr>
          <p:cNvPr id="25" name="Picture 11"/>
          <p:cNvPicPr>
            <a:picLocks noChangeAspect="1"/>
          </p:cNvPicPr>
          <p:nvPr/>
        </p:nvPicPr>
        <p:blipFill>
          <a:blip r:embed="rId3"/>
          <a:srcRect t="13776"/>
          <a:stretch/>
        </p:blipFill>
        <p:spPr>
          <a:xfrm>
            <a:off x="5327237" y="1113278"/>
            <a:ext cx="6342202" cy="249904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6CB93C13-330A-4C68-8BB5-6898099D1D1A}"/>
              </a:ext>
            </a:extLst>
          </p:cNvPr>
          <p:cNvSpPr>
            <a:spLocks noGrp="1"/>
          </p:cNvSpPr>
          <p:nvPr/>
        </p:nvSpPr>
        <p:spPr>
          <a:xfrm>
            <a:off x="5414556" y="972767"/>
            <a:ext cx="3428198" cy="914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A70EA04-5646-4B19-9568-30EA1D8875B9}"/>
              </a:ext>
            </a:extLst>
          </p:cNvPr>
          <p:cNvSpPr>
            <a:spLocks noGrp="1"/>
          </p:cNvSpPr>
          <p:nvPr/>
        </p:nvSpPr>
        <p:spPr>
          <a:xfrm>
            <a:off x="8093588" y="1429967"/>
            <a:ext cx="749166" cy="914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26E96C2-E006-4094-A563-4E7A514B65A0}"/>
              </a:ext>
            </a:extLst>
          </p:cNvPr>
          <p:cNvSpPr>
            <a:spLocks noGrp="1"/>
          </p:cNvSpPr>
          <p:nvPr/>
        </p:nvSpPr>
        <p:spPr>
          <a:xfrm>
            <a:off x="11514254" y="1322485"/>
            <a:ext cx="379708" cy="914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29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1325" y="4051869"/>
            <a:ext cx="3815390" cy="2277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768991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>
            <a:extLst>
              <a:ext uri="{FF2B5EF4-FFF2-40B4-BE49-F238E27FC236}">
                <a16:creationId xmlns:a16="http://schemas.microsoft.com/office/drawing/2014/main" id="{76CFC27D-9E24-B0B9-7468-9443EEC6B5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/>
              <a:t>Demo1: </a:t>
            </a:r>
            <a:r>
              <a:t>Basics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0200B8-2664-44F7-8BB2-0957DDD3F6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10000"/>
              </a:lnSpc>
              <a:buNone/>
            </a:pPr>
            <a:r>
              <a:rPr sz="2400" b="1" dirty="0"/>
              <a:t>Tables</a:t>
            </a:r>
            <a:r>
              <a:rPr sz="2400" dirty="0"/>
              <a:t>: tracks, genres</a:t>
            </a:r>
          </a:p>
          <a:p>
            <a:pPr>
              <a:lnSpc>
                <a:spcPct val="110000"/>
              </a:lnSpc>
              <a:buNone/>
            </a:pPr>
            <a:r>
              <a:rPr sz="2400" b="1" dirty="0"/>
              <a:t>Task</a:t>
            </a:r>
            <a:r>
              <a:rPr sz="2400" dirty="0"/>
              <a:t>: </a:t>
            </a:r>
          </a:p>
          <a:p>
            <a:pPr lvl="1">
              <a:lnSpc>
                <a:spcPct val="110000"/>
              </a:lnSpc>
              <a:buNone/>
            </a:pPr>
            <a:r>
              <a:rPr dirty="0"/>
              <a:t>Find all Pop tracks (Genre).</a:t>
            </a:r>
          </a:p>
          <a:p>
            <a:pPr lvl="1">
              <a:lnSpc>
                <a:spcPct val="110000"/>
              </a:lnSpc>
              <a:buNone/>
            </a:pPr>
            <a:r>
              <a:rPr dirty="0"/>
              <a:t>Tip: Genre Name = ‘Pop’</a:t>
            </a:r>
          </a:p>
          <a:p>
            <a:pPr>
              <a:lnSpc>
                <a:spcPct val="110000"/>
              </a:lnSpc>
              <a:buNone/>
            </a:pPr>
            <a:r>
              <a:rPr sz="2400" dirty="0">
                <a:solidFill>
                  <a:srgbClr val="FF0000"/>
                </a:solidFill>
              </a:rPr>
              <a:t>Try it on SQLite. (</a:t>
            </a:r>
            <a:r>
              <a:rPr lang="en-US" sz="2400" dirty="0">
                <a:solidFill>
                  <a:srgbClr val="FF0000"/>
                </a:solidFill>
              </a:rPr>
              <a:t>2</a:t>
            </a:r>
            <a:r>
              <a:rPr sz="2400" dirty="0">
                <a:solidFill>
                  <a:srgbClr val="FF0000"/>
                </a:solidFill>
              </a:rPr>
              <a:t> min)</a:t>
            </a:r>
          </a:p>
          <a:p>
            <a:pPr marL="457200" lvl="1" indent="0">
              <a:lnSpc>
                <a:spcPct val="110000"/>
              </a:lnSpc>
              <a:buNone/>
            </a:pPr>
            <a:r>
              <a:rPr b="1" dirty="0">
                <a:solidFill>
                  <a:srgbClr val="A0C554"/>
                </a:solidFill>
                <a:latin typeface="Courier New"/>
                <a:ea typeface="Courier New"/>
                <a:cs typeface="Courier New"/>
              </a:rPr>
              <a:t>SELECT </a:t>
            </a:r>
            <a:r>
              <a:rPr b="1" dirty="0" err="1">
                <a:solidFill>
                  <a:srgbClr val="A0C554"/>
                </a:solidFill>
                <a:latin typeface="Courier New"/>
                <a:ea typeface="Courier New"/>
                <a:cs typeface="Courier New"/>
              </a:rPr>
              <a:t>t.Name</a:t>
            </a:r>
            <a:endParaRPr b="1" dirty="0">
              <a:solidFill>
                <a:srgbClr val="A0C554"/>
              </a:solidFill>
              <a:latin typeface="Courier New"/>
              <a:ea typeface="Courier New"/>
              <a:cs typeface="Courier New"/>
            </a:endParaRPr>
          </a:p>
          <a:p>
            <a:pPr marL="457200" lvl="1" indent="0">
              <a:lnSpc>
                <a:spcPct val="110000"/>
              </a:lnSpc>
              <a:buNone/>
            </a:pPr>
            <a:r>
              <a:rPr b="1" dirty="0">
                <a:solidFill>
                  <a:srgbClr val="A0C554"/>
                </a:solidFill>
                <a:latin typeface="Courier New"/>
                <a:ea typeface="Courier New"/>
                <a:cs typeface="Courier New"/>
              </a:rPr>
              <a:t>FROM tracks t</a:t>
            </a:r>
          </a:p>
          <a:p>
            <a:pPr marL="457200" lvl="1" indent="0">
              <a:lnSpc>
                <a:spcPct val="110000"/>
              </a:lnSpc>
              <a:buNone/>
            </a:pPr>
            <a:r>
              <a:rPr b="1" dirty="0">
                <a:solidFill>
                  <a:srgbClr val="A0C554"/>
                </a:solidFill>
                <a:latin typeface="Courier New"/>
                <a:ea typeface="Courier New"/>
                <a:cs typeface="Courier New"/>
              </a:rPr>
              <a:t>WHERE </a:t>
            </a:r>
            <a:r>
              <a:rPr b="1" dirty="0" err="1">
                <a:solidFill>
                  <a:srgbClr val="A0C554"/>
                </a:solidFill>
                <a:latin typeface="Courier New"/>
                <a:ea typeface="Courier New"/>
                <a:cs typeface="Courier New"/>
              </a:rPr>
              <a:t>t.GenreId</a:t>
            </a:r>
            <a:r>
              <a:rPr b="1" dirty="0">
                <a:solidFill>
                  <a:srgbClr val="A0C554"/>
                </a:solidFill>
                <a:latin typeface="Courier New"/>
                <a:ea typeface="Courier New"/>
                <a:cs typeface="Courier New"/>
              </a:rPr>
              <a:t> = ( SELECT </a:t>
            </a:r>
            <a:r>
              <a:rPr b="1" dirty="0" err="1">
                <a:solidFill>
                  <a:srgbClr val="A0C554"/>
                </a:solidFill>
                <a:latin typeface="Courier New"/>
                <a:ea typeface="Courier New"/>
                <a:cs typeface="Courier New"/>
              </a:rPr>
              <a:t>GenreId</a:t>
            </a:r>
            <a:r>
              <a:rPr b="1" dirty="0">
                <a:solidFill>
                  <a:srgbClr val="A0C554"/>
                </a:solidFill>
                <a:latin typeface="Courier New"/>
                <a:ea typeface="Courier New"/>
                <a:cs typeface="Courier New"/>
              </a:rPr>
              <a:t> FROM genres WHERE Name = 'Pop');</a:t>
            </a:r>
          </a:p>
          <a:p>
            <a:pPr>
              <a:lnSpc>
                <a:spcPct val="110000"/>
              </a:lnSpc>
              <a:buNone/>
            </a:pPr>
            <a:endParaRPr sz="2400" dirty="0">
              <a:solidFill>
                <a:srgbClr val="FF0000"/>
              </a:solidFill>
            </a:endParaRPr>
          </a:p>
          <a:p>
            <a:pPr marL="0" indent="0">
              <a:lnSpc>
                <a:spcPct val="110000"/>
              </a:lnSpc>
              <a:buNone/>
            </a:pPr>
            <a:endParaRPr sz="2400" dirty="0">
              <a:solidFill>
                <a:srgbClr val="FF0000"/>
              </a:solidFill>
            </a:endParaRPr>
          </a:p>
          <a:p>
            <a:pPr marL="0" indent="0">
              <a:lnSpc>
                <a:spcPct val="110000"/>
              </a:lnSpc>
              <a:buNone/>
            </a:pPr>
            <a:endParaRPr sz="2400" dirty="0"/>
          </a:p>
          <a:p>
            <a:pPr>
              <a:lnSpc>
                <a:spcPct val="110000"/>
              </a:lnSpc>
              <a:buNone/>
            </a:pPr>
            <a:endParaRPr sz="2400" dirty="0"/>
          </a:p>
          <a:p>
            <a:endParaRPr sz="24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3CB734-43CC-E118-153A-A7B5C142D32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81D60167-4931-47E6-BA6A-407CBD079E47}" type="slidenum">
              <a:rPr/>
              <a:t>32</a:t>
            </a:fld>
            <a:endParaRPr/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E8799E5E-6E79-6B42-E682-3E1818558B3F}"/>
              </a:ext>
            </a:extLst>
          </p:cNvPr>
          <p:cNvSpPr>
            <a:spLocks noGrp="1"/>
          </p:cNvSpPr>
          <p:nvPr/>
        </p:nvSpPr>
        <p:spPr>
          <a:xfrm>
            <a:off x="990600" y="1600200"/>
            <a:ext cx="10515600" cy="4729163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>
              <a:lnSpc>
                <a:spcPct val="110000"/>
              </a:lnSpc>
              <a:buNone/>
            </a:pPr>
            <a:endParaRPr/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18241246-1403-4676-EA35-FEED51B6A0E5}"/>
              </a:ext>
            </a:extLst>
          </p:cNvPr>
          <p:cNvSpPr>
            <a:spLocks noGrp="1"/>
          </p:cNvSpPr>
          <p:nvPr/>
        </p:nvSpPr>
        <p:spPr>
          <a:xfrm>
            <a:off x="1028700" y="3594433"/>
            <a:ext cx="10134600" cy="3200400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0000"/>
              </a:lnSpc>
              <a:buNone/>
            </a:pPr>
            <a:endParaRPr sz="1800" b="1">
              <a:solidFill>
                <a:srgbClr val="A0C554"/>
              </a:solidFill>
              <a:latin typeface="Courier New"/>
              <a:ea typeface="Courier New"/>
              <a:cs typeface="Courier New"/>
            </a:endParaRPr>
          </a:p>
        </p:txBody>
      </p:sp>
      <p:pic>
        <p:nvPicPr>
          <p:cNvPr id="26" name="Picture 14"/>
          <p:cNvPicPr>
            <a:picLocks noChangeAspect="1"/>
          </p:cNvPicPr>
          <p:nvPr/>
        </p:nvPicPr>
        <p:blipFill>
          <a:blip r:embed="rId3"/>
          <a:srcRect t="13776"/>
          <a:stretch/>
        </p:blipFill>
        <p:spPr>
          <a:xfrm>
            <a:off x="5327237" y="1113278"/>
            <a:ext cx="6342202" cy="2499043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3FD61DC7-E17A-4DBC-8002-28C37915E73A}"/>
              </a:ext>
            </a:extLst>
          </p:cNvPr>
          <p:cNvSpPr>
            <a:spLocks noGrp="1"/>
          </p:cNvSpPr>
          <p:nvPr/>
        </p:nvSpPr>
        <p:spPr>
          <a:xfrm>
            <a:off x="5414556" y="972767"/>
            <a:ext cx="3428198" cy="914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7207051-E2C9-46FF-A26C-29A9D3F006D4}"/>
              </a:ext>
            </a:extLst>
          </p:cNvPr>
          <p:cNvSpPr>
            <a:spLocks noGrp="1"/>
          </p:cNvSpPr>
          <p:nvPr/>
        </p:nvSpPr>
        <p:spPr>
          <a:xfrm>
            <a:off x="8093588" y="1429967"/>
            <a:ext cx="749166" cy="914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D9E252C-BE1E-45D8-B91C-5D687D0A4A9D}"/>
              </a:ext>
            </a:extLst>
          </p:cNvPr>
          <p:cNvSpPr>
            <a:spLocks noGrp="1"/>
          </p:cNvSpPr>
          <p:nvPr/>
        </p:nvSpPr>
        <p:spPr>
          <a:xfrm>
            <a:off x="11514254" y="1322485"/>
            <a:ext cx="379708" cy="914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6471027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>
            <a:extLst>
              <a:ext uri="{FF2B5EF4-FFF2-40B4-BE49-F238E27FC236}">
                <a16:creationId xmlns:a16="http://schemas.microsoft.com/office/drawing/2014/main" id="{0582E72D-96EE-97F8-7EC3-BF041D220D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Q2: IN Operator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399ACD-84DA-4FA1-B311-8398EC3CF0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82148"/>
            <a:ext cx="4839269" cy="4894815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  <a:buNone/>
            </a:pPr>
            <a:r>
              <a:rPr sz="2400" b="1"/>
              <a:t>Tables</a:t>
            </a:r>
            <a:r>
              <a:rPr sz="2400"/>
              <a:t>: customers, invoices</a:t>
            </a:r>
          </a:p>
          <a:p>
            <a:pPr>
              <a:lnSpc>
                <a:spcPct val="110000"/>
              </a:lnSpc>
              <a:buNone/>
            </a:pPr>
            <a:r>
              <a:rPr sz="2400" b="1"/>
              <a:t>Task</a:t>
            </a:r>
            <a:r>
              <a:rPr sz="2400"/>
              <a:t>: Find customers who have never placed an order.</a:t>
            </a:r>
          </a:p>
          <a:p>
            <a:pPr>
              <a:lnSpc>
                <a:spcPct val="110000"/>
              </a:lnSpc>
              <a:buNone/>
            </a:pPr>
            <a:r>
              <a:rPr sz="2400">
                <a:solidFill>
                  <a:srgbClr val="FF0000"/>
                </a:solidFill>
              </a:rPr>
              <a:t>Try to solve it. (3 mins)</a:t>
            </a:r>
          </a:p>
          <a:p>
            <a:pPr marL="0" indent="0">
              <a:lnSpc>
                <a:spcPct val="110000"/>
              </a:lnSpc>
              <a:buNone/>
            </a:pPr>
            <a:endParaRPr sz="2400">
              <a:solidFill>
                <a:srgbClr val="FF0000"/>
              </a:solidFill>
            </a:endParaRPr>
          </a:p>
          <a:p>
            <a:pPr marL="0" indent="0">
              <a:lnSpc>
                <a:spcPct val="110000"/>
              </a:lnSpc>
              <a:buNone/>
            </a:pPr>
            <a:endParaRPr sz="2400"/>
          </a:p>
          <a:p>
            <a:pPr>
              <a:lnSpc>
                <a:spcPct val="110000"/>
              </a:lnSpc>
              <a:buNone/>
            </a:pPr>
            <a:endParaRPr sz="2400"/>
          </a:p>
          <a:p>
            <a:endParaRPr sz="240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D53477-812D-6305-507D-5A7620CEA77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81D60167-4931-47E6-BA6A-407CBD079E47}" type="slidenum">
              <a:rPr/>
              <a:t>33</a:t>
            </a:fld>
            <a:endParaRPr/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4475E593-99BD-6F63-0DA7-EF9EC8BA69B3}"/>
              </a:ext>
            </a:extLst>
          </p:cNvPr>
          <p:cNvSpPr>
            <a:spLocks noGrp="1"/>
          </p:cNvSpPr>
          <p:nvPr/>
        </p:nvSpPr>
        <p:spPr>
          <a:xfrm>
            <a:off x="990600" y="1600200"/>
            <a:ext cx="10515600" cy="4729163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>
              <a:lnSpc>
                <a:spcPct val="110000"/>
              </a:lnSpc>
              <a:buNone/>
            </a:pPr>
            <a:endParaRPr/>
          </a:p>
        </p:txBody>
      </p:sp>
      <p:pic>
        <p:nvPicPr>
          <p:cNvPr id="25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8453" y="2657563"/>
            <a:ext cx="5725295" cy="352139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5CC2E576-3514-4B61-890E-05A7FD9882C0}"/>
              </a:ext>
            </a:extLst>
          </p:cNvPr>
          <p:cNvSpPr>
            <a:spLocks noGrp="1"/>
          </p:cNvSpPr>
          <p:nvPr/>
        </p:nvSpPr>
        <p:spPr>
          <a:xfrm>
            <a:off x="5506274" y="5264553"/>
            <a:ext cx="782472" cy="914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78F5889-5C6B-4BE7-A98A-25BB324DAB76}"/>
              </a:ext>
            </a:extLst>
          </p:cNvPr>
          <p:cNvSpPr>
            <a:spLocks noGrp="1"/>
          </p:cNvSpPr>
          <p:nvPr/>
        </p:nvSpPr>
        <p:spPr>
          <a:xfrm>
            <a:off x="8606589" y="5959225"/>
            <a:ext cx="2894463" cy="39712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684175D-D609-4C15-8005-24DFDE8F58B5}"/>
              </a:ext>
            </a:extLst>
          </p:cNvPr>
          <p:cNvSpPr>
            <a:spLocks noGrp="1"/>
          </p:cNvSpPr>
          <p:nvPr/>
        </p:nvSpPr>
        <p:spPr>
          <a:xfrm>
            <a:off x="8372303" y="5340196"/>
            <a:ext cx="516340" cy="914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29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1022" y="3912963"/>
            <a:ext cx="3815390" cy="2277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668087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28D409EE-B32C-4BB0-A80C-2775E6A666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82148"/>
            <a:ext cx="10134600" cy="6169530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  <a:buNone/>
            </a:pPr>
            <a:r>
              <a:rPr sz="2400" b="1" dirty="0"/>
              <a:t>Tables</a:t>
            </a:r>
            <a:r>
              <a:rPr sz="2400" dirty="0"/>
              <a:t>: customers, invoices</a:t>
            </a:r>
          </a:p>
          <a:p>
            <a:pPr>
              <a:lnSpc>
                <a:spcPct val="110000"/>
              </a:lnSpc>
              <a:buNone/>
            </a:pPr>
            <a:r>
              <a:rPr sz="2400" b="1" dirty="0"/>
              <a:t>Task</a:t>
            </a:r>
            <a:r>
              <a:rPr sz="2400" dirty="0"/>
              <a:t>: Find customers who </a:t>
            </a:r>
            <a:br>
              <a:rPr sz="2400" dirty="0"/>
            </a:br>
            <a:r>
              <a:rPr sz="2400" dirty="0"/>
              <a:t>have </a:t>
            </a:r>
            <a:r>
              <a:rPr sz="2400" b="1" dirty="0"/>
              <a:t>never</a:t>
            </a:r>
            <a:r>
              <a:rPr sz="2400" dirty="0"/>
              <a:t> placed an order.</a:t>
            </a:r>
          </a:p>
          <a:p>
            <a:pPr>
              <a:lnSpc>
                <a:spcPct val="110000"/>
              </a:lnSpc>
              <a:buNone/>
            </a:pPr>
            <a:r>
              <a:rPr sz="2400" dirty="0">
                <a:solidFill>
                  <a:srgbClr val="FF0000"/>
                </a:solidFill>
              </a:rPr>
              <a:t>Try it on SQLite. (</a:t>
            </a:r>
            <a:r>
              <a:rPr lang="en-US" sz="2400" dirty="0">
                <a:solidFill>
                  <a:srgbClr val="FF0000"/>
                </a:solidFill>
              </a:rPr>
              <a:t>2</a:t>
            </a:r>
            <a:r>
              <a:rPr sz="2400" dirty="0">
                <a:solidFill>
                  <a:srgbClr val="FF0000"/>
                </a:solidFill>
              </a:rPr>
              <a:t> min)</a:t>
            </a:r>
          </a:p>
          <a:p>
            <a:pPr marL="457200" lvl="1" indent="0">
              <a:lnSpc>
                <a:spcPct val="110000"/>
              </a:lnSpc>
              <a:buNone/>
            </a:pPr>
            <a:r>
              <a:rPr b="1" dirty="0">
                <a:solidFill>
                  <a:srgbClr val="A0C554"/>
                </a:solidFill>
                <a:latin typeface="Courier New"/>
                <a:ea typeface="Courier New"/>
                <a:cs typeface="Courier New"/>
              </a:rPr>
              <a:t>SELECT </a:t>
            </a:r>
            <a:r>
              <a:rPr b="1" dirty="0" err="1">
                <a:solidFill>
                  <a:srgbClr val="A0C554"/>
                </a:solidFill>
                <a:latin typeface="Courier New"/>
                <a:ea typeface="Courier New"/>
                <a:cs typeface="Courier New"/>
              </a:rPr>
              <a:t>CustomerId</a:t>
            </a:r>
            <a:r>
              <a:rPr b="1" dirty="0">
                <a:solidFill>
                  <a:srgbClr val="A0C554"/>
                </a:solidFill>
                <a:latin typeface="Courier New"/>
                <a:ea typeface="Courier New"/>
                <a:cs typeface="Courier New"/>
              </a:rPr>
              <a:t>, </a:t>
            </a:r>
            <a:br>
              <a:rPr b="1" dirty="0">
                <a:solidFill>
                  <a:srgbClr val="A0C554"/>
                </a:solidFill>
                <a:latin typeface="Courier New"/>
                <a:ea typeface="Courier New"/>
                <a:cs typeface="Courier New"/>
              </a:rPr>
            </a:br>
            <a:r>
              <a:rPr b="1" dirty="0">
                <a:solidFill>
                  <a:srgbClr val="A0C554"/>
                </a:solidFill>
                <a:latin typeface="Courier New"/>
                <a:ea typeface="Courier New"/>
                <a:cs typeface="Courier New"/>
              </a:rPr>
              <a:t>FirstName, LastName</a:t>
            </a:r>
          </a:p>
          <a:p>
            <a:pPr marL="457200" lvl="1" indent="0">
              <a:lnSpc>
                <a:spcPct val="110000"/>
              </a:lnSpc>
              <a:buNone/>
            </a:pPr>
            <a:r>
              <a:rPr b="1" dirty="0">
                <a:solidFill>
                  <a:srgbClr val="A0C554"/>
                </a:solidFill>
                <a:latin typeface="Courier New"/>
                <a:ea typeface="Courier New"/>
                <a:cs typeface="Courier New"/>
              </a:rPr>
              <a:t>FROM customers</a:t>
            </a:r>
          </a:p>
          <a:p>
            <a:pPr marL="457200" lvl="1" indent="0">
              <a:lnSpc>
                <a:spcPct val="110000"/>
              </a:lnSpc>
              <a:buNone/>
            </a:pPr>
            <a:r>
              <a:rPr b="1" dirty="0">
                <a:solidFill>
                  <a:srgbClr val="A0C554"/>
                </a:solidFill>
                <a:latin typeface="Courier New"/>
                <a:ea typeface="Courier New"/>
                <a:cs typeface="Courier New"/>
              </a:rPr>
              <a:t>WHERE </a:t>
            </a:r>
            <a:r>
              <a:rPr b="1" dirty="0" err="1">
                <a:solidFill>
                  <a:srgbClr val="A0C554"/>
                </a:solidFill>
                <a:latin typeface="Courier New"/>
                <a:ea typeface="Courier New"/>
                <a:cs typeface="Courier New"/>
              </a:rPr>
              <a:t>CustomerId</a:t>
            </a:r>
            <a:r>
              <a:rPr b="1" dirty="0">
                <a:solidFill>
                  <a:srgbClr val="A0C554"/>
                </a:solidFill>
                <a:latin typeface="Courier New"/>
                <a:ea typeface="Courier New"/>
                <a:cs typeface="Courier New"/>
              </a:rPr>
              <a:t> NOT IN (</a:t>
            </a:r>
          </a:p>
          <a:p>
            <a:pPr marL="457200" lvl="1" indent="0">
              <a:lnSpc>
                <a:spcPct val="110000"/>
              </a:lnSpc>
              <a:buNone/>
            </a:pPr>
            <a:r>
              <a:rPr b="1" dirty="0">
                <a:solidFill>
                  <a:srgbClr val="A0C554"/>
                </a:solidFill>
                <a:latin typeface="Courier New"/>
                <a:ea typeface="Courier New"/>
                <a:cs typeface="Courier New"/>
              </a:rPr>
              <a:t>    SELECT DISTINCT </a:t>
            </a:r>
            <a:r>
              <a:rPr b="1" dirty="0" err="1">
                <a:solidFill>
                  <a:srgbClr val="A0C554"/>
                </a:solidFill>
                <a:latin typeface="Courier New"/>
                <a:ea typeface="Courier New"/>
                <a:cs typeface="Courier New"/>
              </a:rPr>
              <a:t>CustomerId</a:t>
            </a:r>
            <a:r>
              <a:rPr b="1" dirty="0">
                <a:solidFill>
                  <a:srgbClr val="A0C554"/>
                </a:solidFill>
                <a:latin typeface="Courier New"/>
                <a:ea typeface="Courier New"/>
                <a:cs typeface="Courier New"/>
              </a:rPr>
              <a:t> FROM invoices</a:t>
            </a:r>
          </a:p>
          <a:p>
            <a:pPr marL="457200" lvl="1" indent="0">
              <a:lnSpc>
                <a:spcPct val="110000"/>
              </a:lnSpc>
              <a:buNone/>
            </a:pPr>
            <a:r>
              <a:rPr b="1" dirty="0">
                <a:solidFill>
                  <a:srgbClr val="A0C554"/>
                </a:solidFill>
                <a:latin typeface="Courier New"/>
                <a:ea typeface="Courier New"/>
                <a:cs typeface="Courier New"/>
              </a:rPr>
              <a:t>);</a:t>
            </a:r>
          </a:p>
          <a:p>
            <a:pPr marL="0" indent="0">
              <a:lnSpc>
                <a:spcPct val="110000"/>
              </a:lnSpc>
              <a:buNone/>
            </a:pPr>
            <a:endParaRPr sz="2400" dirty="0">
              <a:solidFill>
                <a:srgbClr val="FF0000"/>
              </a:solidFill>
            </a:endParaRPr>
          </a:p>
          <a:p>
            <a:pPr marL="0" indent="0">
              <a:lnSpc>
                <a:spcPct val="110000"/>
              </a:lnSpc>
              <a:buNone/>
            </a:pPr>
            <a:endParaRPr sz="2400" dirty="0"/>
          </a:p>
          <a:p>
            <a:pPr>
              <a:lnSpc>
                <a:spcPct val="110000"/>
              </a:lnSpc>
              <a:buNone/>
            </a:pPr>
            <a:endParaRPr sz="2400" dirty="0"/>
          </a:p>
          <a:p>
            <a:endParaRPr sz="2400" dirty="0"/>
          </a:p>
        </p:txBody>
      </p:sp>
      <p:sp>
        <p:nvSpPr>
          <p:cNvPr id="18" name="Title 17">
            <a:extLst>
              <a:ext uri="{FF2B5EF4-FFF2-40B4-BE49-F238E27FC236}">
                <a16:creationId xmlns:a16="http://schemas.microsoft.com/office/drawing/2014/main" id="{F4240061-F670-40D7-509A-980525A22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/>
              <a:t>Demo2: </a:t>
            </a:r>
            <a:r>
              <a:t>IN Operator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5C1909-B932-9D83-BFBB-0947CD929A8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81D60167-4931-47E6-BA6A-407CBD079E47}" type="slidenum">
              <a:rPr/>
              <a:t>34</a:t>
            </a:fld>
            <a:endParaRPr/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2BFA1663-A56B-1995-796D-2182482BEE99}"/>
              </a:ext>
            </a:extLst>
          </p:cNvPr>
          <p:cNvSpPr>
            <a:spLocks noGrp="1"/>
          </p:cNvSpPr>
          <p:nvPr/>
        </p:nvSpPr>
        <p:spPr>
          <a:xfrm>
            <a:off x="990600" y="4038600"/>
            <a:ext cx="10134600" cy="2819400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0000"/>
              </a:lnSpc>
              <a:buNone/>
            </a:pPr>
            <a:endParaRPr sz="1800">
              <a:solidFill>
                <a:srgbClr val="A0C554"/>
              </a:solidFill>
            </a:endParaRPr>
          </a:p>
        </p:txBody>
      </p:sp>
      <p:pic>
        <p:nvPicPr>
          <p:cNvPr id="24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4042" y="513727"/>
            <a:ext cx="5725295" cy="352139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2788F917-D1BF-4326-96F7-AD30F605469E}"/>
              </a:ext>
            </a:extLst>
          </p:cNvPr>
          <p:cNvSpPr>
            <a:spLocks noGrp="1"/>
          </p:cNvSpPr>
          <p:nvPr/>
        </p:nvSpPr>
        <p:spPr>
          <a:xfrm>
            <a:off x="5531863" y="3120717"/>
            <a:ext cx="782472" cy="914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16CB4FF-B1F3-4736-8169-3BCFB8A53DD7}"/>
              </a:ext>
            </a:extLst>
          </p:cNvPr>
          <p:cNvSpPr>
            <a:spLocks noGrp="1"/>
          </p:cNvSpPr>
          <p:nvPr/>
        </p:nvSpPr>
        <p:spPr>
          <a:xfrm>
            <a:off x="8632178" y="3815389"/>
            <a:ext cx="2894463" cy="39712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6FFE0D7-1C85-462A-A0E6-E23DDC20A9FF}"/>
              </a:ext>
            </a:extLst>
          </p:cNvPr>
          <p:cNvSpPr>
            <a:spLocks noGrp="1"/>
          </p:cNvSpPr>
          <p:nvPr/>
        </p:nvSpPr>
        <p:spPr>
          <a:xfrm>
            <a:off x="8397892" y="3196360"/>
            <a:ext cx="516340" cy="914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5226347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>
            <a:extLst>
              <a:ext uri="{FF2B5EF4-FFF2-40B4-BE49-F238E27FC236}">
                <a16:creationId xmlns:a16="http://schemas.microsoft.com/office/drawing/2014/main" id="{5F66563F-9BA9-3170-17F1-782155CF7D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Q3: Correlated Subquery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452E24-B5AD-4AAF-B240-100223B877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82148"/>
            <a:ext cx="10363200" cy="4894815"/>
          </a:xfrm>
        </p:spPr>
        <p:txBody>
          <a:bodyPr>
            <a:noAutofit/>
          </a:bodyPr>
          <a:lstStyle/>
          <a:p>
            <a:pPr>
              <a:lnSpc>
                <a:spcPct val="110000"/>
              </a:lnSpc>
              <a:buNone/>
            </a:pPr>
            <a:r>
              <a:rPr sz="2400" b="1"/>
              <a:t>Tables</a:t>
            </a:r>
            <a:r>
              <a:rPr sz="2400"/>
              <a:t>: invoice_items</a:t>
            </a:r>
          </a:p>
          <a:p>
            <a:pPr>
              <a:lnSpc>
                <a:spcPct val="110000"/>
              </a:lnSpc>
              <a:buNone/>
            </a:pPr>
            <a:r>
              <a:rPr sz="2400" b="1"/>
              <a:t>Task</a:t>
            </a:r>
            <a:r>
              <a:rPr sz="2400"/>
              <a:t>: Find invoice items where </a:t>
            </a:r>
            <a:br>
              <a:rPr sz="2400"/>
            </a:br>
            <a:r>
              <a:rPr sz="2400" b="1"/>
              <a:t>unit price </a:t>
            </a:r>
            <a:r>
              <a:rPr sz="2400"/>
              <a:t>is </a:t>
            </a:r>
            <a:r>
              <a:rPr sz="2400" b="1"/>
              <a:t>higher</a:t>
            </a:r>
            <a:r>
              <a:rPr sz="2400"/>
              <a:t> than </a:t>
            </a:r>
            <a:r>
              <a:rPr sz="2400" b="1"/>
              <a:t>average unit price</a:t>
            </a:r>
            <a:r>
              <a:rPr sz="2400"/>
              <a:t> of invoice.</a:t>
            </a:r>
          </a:p>
          <a:p>
            <a:pPr>
              <a:lnSpc>
                <a:spcPct val="110000"/>
              </a:lnSpc>
              <a:buNone/>
            </a:pPr>
            <a:r>
              <a:rPr sz="2400">
                <a:solidFill>
                  <a:srgbClr val="FF0000"/>
                </a:solidFill>
              </a:rPr>
              <a:t>Try to solve it. (3 mins)</a:t>
            </a:r>
          </a:p>
          <a:p>
            <a:pPr marL="0" indent="0">
              <a:lnSpc>
                <a:spcPct val="110000"/>
              </a:lnSpc>
              <a:buNone/>
            </a:pPr>
            <a:endParaRPr sz="2400" b="1">
              <a:solidFill>
                <a:srgbClr val="FF0000"/>
              </a:solidFill>
            </a:endParaRPr>
          </a:p>
          <a:p>
            <a:pPr marL="0" indent="0">
              <a:lnSpc>
                <a:spcPct val="110000"/>
              </a:lnSpc>
              <a:buNone/>
            </a:pPr>
            <a:endParaRPr sz="2400"/>
          </a:p>
          <a:p>
            <a:pPr>
              <a:lnSpc>
                <a:spcPct val="110000"/>
              </a:lnSpc>
              <a:buNone/>
            </a:pPr>
            <a:endParaRPr sz="2400"/>
          </a:p>
          <a:p>
            <a:endParaRPr sz="240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5DF726-6128-DC78-DE92-B9D58878762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81D60167-4931-47E6-BA6A-407CBD079E47}" type="slidenum">
              <a:rPr/>
              <a:t>35</a:t>
            </a:fld>
            <a:endParaRPr/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5CD426D4-4E9F-991C-455B-13C02EB34E39}"/>
              </a:ext>
            </a:extLst>
          </p:cNvPr>
          <p:cNvSpPr>
            <a:spLocks noGrp="1"/>
          </p:cNvSpPr>
          <p:nvPr/>
        </p:nvSpPr>
        <p:spPr>
          <a:xfrm>
            <a:off x="990600" y="1600200"/>
            <a:ext cx="10515600" cy="4729163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>
              <a:lnSpc>
                <a:spcPct val="110000"/>
              </a:lnSpc>
              <a:buNone/>
            </a:pPr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2370BB2-394E-4222-97C6-E6AD317D548A}"/>
              </a:ext>
            </a:extLst>
          </p:cNvPr>
          <p:cNvSpPr>
            <a:spLocks noGrp="1"/>
          </p:cNvSpPr>
          <p:nvPr/>
        </p:nvSpPr>
        <p:spPr>
          <a:xfrm>
            <a:off x="5381768" y="90239"/>
            <a:ext cx="6810232" cy="4106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lnSpc>
                <a:spcPct val="110000"/>
              </a:lnSpc>
              <a:buNone/>
            </a:pPr>
            <a:r>
              <a:rPr sz="2000">
                <a:solidFill>
                  <a:srgbClr val="FF0000"/>
                </a:solidFill>
                <a:latin typeface="Comic Sans MS"/>
                <a:ea typeface="Comic Sans MS"/>
                <a:cs typeface="Comic Sans MS"/>
              </a:rPr>
              <a:t>Tip: One invoice may include multiple invoice items.</a:t>
            </a:r>
          </a:p>
        </p:txBody>
      </p:sp>
      <p:pic>
        <p:nvPicPr>
          <p:cNvPr id="26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9178" y="1417886"/>
            <a:ext cx="2817021" cy="384845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06B1D0BE-8174-40FD-B9E2-78D770ED2037}"/>
              </a:ext>
            </a:extLst>
          </p:cNvPr>
          <p:cNvSpPr>
            <a:spLocks noGrp="1"/>
          </p:cNvSpPr>
          <p:nvPr/>
        </p:nvSpPr>
        <p:spPr>
          <a:xfrm>
            <a:off x="8447964" y="4098250"/>
            <a:ext cx="610738" cy="144297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EE75688-F4BF-4B89-900C-04D6B7CE0D18}"/>
              </a:ext>
            </a:extLst>
          </p:cNvPr>
          <p:cNvSpPr>
            <a:spLocks noGrp="1"/>
          </p:cNvSpPr>
          <p:nvPr/>
        </p:nvSpPr>
        <p:spPr>
          <a:xfrm>
            <a:off x="11299208" y="1325314"/>
            <a:ext cx="610738" cy="144297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29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28827" y="3912963"/>
            <a:ext cx="3815390" cy="2277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501807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>
            <a:extLst>
              <a:ext uri="{FF2B5EF4-FFF2-40B4-BE49-F238E27FC236}">
                <a16:creationId xmlns:a16="http://schemas.microsoft.com/office/drawing/2014/main" id="{5F66563F-9BA9-3170-17F1-782155CF7D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/>
              <a:t>Demo</a:t>
            </a:r>
            <a:r>
              <a:t>3: Correlated Subquery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452E24-B5AD-4AAF-B240-100223B877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82148"/>
            <a:ext cx="10363200" cy="5439327"/>
          </a:xfrm>
        </p:spPr>
        <p:txBody>
          <a:bodyPr>
            <a:noAutofit/>
          </a:bodyPr>
          <a:lstStyle/>
          <a:p>
            <a:pPr>
              <a:lnSpc>
                <a:spcPct val="110000"/>
              </a:lnSpc>
              <a:buNone/>
            </a:pPr>
            <a:r>
              <a:rPr sz="2400" b="1" dirty="0"/>
              <a:t>Tables</a:t>
            </a:r>
            <a:r>
              <a:rPr sz="2400" dirty="0"/>
              <a:t>: </a:t>
            </a:r>
            <a:r>
              <a:rPr sz="2400" dirty="0" err="1"/>
              <a:t>invoice_items</a:t>
            </a:r>
            <a:endParaRPr sz="2400" dirty="0"/>
          </a:p>
          <a:p>
            <a:pPr>
              <a:lnSpc>
                <a:spcPct val="110000"/>
              </a:lnSpc>
              <a:buNone/>
            </a:pPr>
            <a:r>
              <a:rPr sz="2400" b="1" dirty="0"/>
              <a:t>Task</a:t>
            </a:r>
            <a:r>
              <a:rPr sz="2400" dirty="0"/>
              <a:t>: Find invoice items where </a:t>
            </a:r>
            <a:br>
              <a:rPr sz="2400" dirty="0"/>
            </a:br>
            <a:r>
              <a:rPr sz="2400" b="1" dirty="0"/>
              <a:t>unit price </a:t>
            </a:r>
            <a:r>
              <a:rPr sz="2400" dirty="0"/>
              <a:t>is </a:t>
            </a:r>
            <a:r>
              <a:rPr sz="2400" b="1" dirty="0"/>
              <a:t>higher</a:t>
            </a:r>
            <a:r>
              <a:rPr sz="2400" dirty="0"/>
              <a:t> than </a:t>
            </a:r>
            <a:r>
              <a:rPr sz="2400" b="1" dirty="0"/>
              <a:t>average unit price</a:t>
            </a:r>
            <a:r>
              <a:rPr sz="2400" dirty="0"/>
              <a:t> of invoice.</a:t>
            </a:r>
          </a:p>
          <a:p>
            <a:pPr>
              <a:lnSpc>
                <a:spcPct val="110000"/>
              </a:lnSpc>
              <a:buNone/>
            </a:pPr>
            <a:r>
              <a:rPr sz="2400" dirty="0">
                <a:solidFill>
                  <a:srgbClr val="FF0000"/>
                </a:solidFill>
              </a:rPr>
              <a:t>Try it on SQLite. (</a:t>
            </a:r>
            <a:r>
              <a:rPr lang="en-US" sz="2400" dirty="0">
                <a:solidFill>
                  <a:srgbClr val="FF0000"/>
                </a:solidFill>
              </a:rPr>
              <a:t>2</a:t>
            </a:r>
            <a:r>
              <a:rPr sz="2400" dirty="0">
                <a:solidFill>
                  <a:srgbClr val="FF0000"/>
                </a:solidFill>
              </a:rPr>
              <a:t> min)</a:t>
            </a:r>
          </a:p>
          <a:p>
            <a:pPr marL="457200" lvl="1" indent="0">
              <a:lnSpc>
                <a:spcPct val="110000"/>
              </a:lnSpc>
              <a:buNone/>
            </a:pPr>
            <a:r>
              <a:rPr b="1" dirty="0">
                <a:solidFill>
                  <a:srgbClr val="A0C554"/>
                </a:solidFill>
                <a:latin typeface="Courier New"/>
                <a:ea typeface="Courier New"/>
                <a:cs typeface="Courier New"/>
              </a:rPr>
              <a:t>SELECT </a:t>
            </a:r>
            <a:r>
              <a:rPr b="1" dirty="0" err="1">
                <a:solidFill>
                  <a:srgbClr val="A0C554"/>
                </a:solidFill>
                <a:latin typeface="Courier New"/>
                <a:ea typeface="Courier New"/>
                <a:cs typeface="Courier New"/>
              </a:rPr>
              <a:t>ii.InvoiceLineId</a:t>
            </a:r>
            <a:r>
              <a:rPr b="1" dirty="0">
                <a:solidFill>
                  <a:srgbClr val="A0C554"/>
                </a:solidFill>
                <a:latin typeface="Courier New"/>
                <a:ea typeface="Courier New"/>
                <a:cs typeface="Courier New"/>
              </a:rPr>
              <a:t>, </a:t>
            </a:r>
            <a:r>
              <a:rPr b="1" dirty="0" err="1">
                <a:solidFill>
                  <a:srgbClr val="A0C554"/>
                </a:solidFill>
                <a:latin typeface="Courier New"/>
                <a:ea typeface="Courier New"/>
                <a:cs typeface="Courier New"/>
              </a:rPr>
              <a:t>ii.TrackId</a:t>
            </a:r>
            <a:r>
              <a:rPr b="1" dirty="0">
                <a:solidFill>
                  <a:srgbClr val="A0C554"/>
                </a:solidFill>
                <a:latin typeface="Courier New"/>
                <a:ea typeface="Courier New"/>
                <a:cs typeface="Courier New"/>
              </a:rPr>
              <a:t>, </a:t>
            </a:r>
          </a:p>
          <a:p>
            <a:pPr marL="457200" lvl="1" indent="0">
              <a:lnSpc>
                <a:spcPct val="110000"/>
              </a:lnSpc>
              <a:buNone/>
            </a:pPr>
            <a:r>
              <a:rPr b="1" dirty="0" err="1">
                <a:solidFill>
                  <a:srgbClr val="A0C554"/>
                </a:solidFill>
                <a:latin typeface="Courier New"/>
                <a:ea typeface="Courier New"/>
                <a:cs typeface="Courier New"/>
              </a:rPr>
              <a:t>ii.UnitPrice</a:t>
            </a:r>
            <a:endParaRPr b="1" dirty="0">
              <a:solidFill>
                <a:srgbClr val="A0C554"/>
              </a:solidFill>
              <a:latin typeface="Courier New"/>
              <a:ea typeface="Courier New"/>
              <a:cs typeface="Courier New"/>
            </a:endParaRPr>
          </a:p>
          <a:p>
            <a:pPr marL="457200" lvl="1" indent="0">
              <a:lnSpc>
                <a:spcPct val="110000"/>
              </a:lnSpc>
              <a:buNone/>
            </a:pPr>
            <a:r>
              <a:rPr b="1" dirty="0">
                <a:solidFill>
                  <a:srgbClr val="A0C554"/>
                </a:solidFill>
                <a:latin typeface="Courier New"/>
                <a:ea typeface="Courier New"/>
                <a:cs typeface="Courier New"/>
              </a:rPr>
              <a:t>FROM </a:t>
            </a:r>
            <a:r>
              <a:rPr b="1" dirty="0" err="1">
                <a:solidFill>
                  <a:srgbClr val="A0C554"/>
                </a:solidFill>
                <a:latin typeface="Courier New"/>
                <a:ea typeface="Courier New"/>
                <a:cs typeface="Courier New"/>
              </a:rPr>
              <a:t>invoice_items</a:t>
            </a:r>
            <a:r>
              <a:rPr b="1" dirty="0">
                <a:solidFill>
                  <a:srgbClr val="A0C554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b="1" dirty="0">
                <a:solidFill>
                  <a:srgbClr val="FF0000"/>
                </a:solidFill>
                <a:latin typeface="Courier New"/>
                <a:ea typeface="Courier New"/>
                <a:cs typeface="Courier New"/>
              </a:rPr>
              <a:t>ii</a:t>
            </a:r>
          </a:p>
          <a:p>
            <a:pPr marL="457200" lvl="1" indent="0">
              <a:lnSpc>
                <a:spcPct val="110000"/>
              </a:lnSpc>
              <a:buNone/>
            </a:pPr>
            <a:r>
              <a:rPr b="1" dirty="0">
                <a:solidFill>
                  <a:srgbClr val="A0C554"/>
                </a:solidFill>
                <a:latin typeface="Courier New"/>
                <a:ea typeface="Courier New"/>
                <a:cs typeface="Courier New"/>
              </a:rPr>
              <a:t>WHERE </a:t>
            </a:r>
            <a:r>
              <a:rPr b="1" dirty="0" err="1">
                <a:solidFill>
                  <a:srgbClr val="FF0000"/>
                </a:solidFill>
                <a:latin typeface="Courier New"/>
                <a:ea typeface="Courier New"/>
                <a:cs typeface="Courier New"/>
              </a:rPr>
              <a:t>ii</a:t>
            </a:r>
            <a:r>
              <a:rPr b="1" dirty="0" err="1">
                <a:solidFill>
                  <a:srgbClr val="A0C554"/>
                </a:solidFill>
                <a:latin typeface="Courier New"/>
                <a:ea typeface="Courier New"/>
                <a:cs typeface="Courier New"/>
              </a:rPr>
              <a:t>.UnitPrice</a:t>
            </a:r>
            <a:r>
              <a:rPr b="1" dirty="0">
                <a:solidFill>
                  <a:srgbClr val="A0C554"/>
                </a:solidFill>
                <a:latin typeface="Courier New"/>
                <a:ea typeface="Courier New"/>
                <a:cs typeface="Courier New"/>
              </a:rPr>
              <a:t> &gt; (</a:t>
            </a:r>
          </a:p>
          <a:p>
            <a:pPr marL="457200" lvl="1" indent="0">
              <a:lnSpc>
                <a:spcPct val="110000"/>
              </a:lnSpc>
              <a:buNone/>
            </a:pPr>
            <a:r>
              <a:rPr b="1" dirty="0">
                <a:solidFill>
                  <a:srgbClr val="A0C554"/>
                </a:solidFill>
                <a:latin typeface="Courier New"/>
                <a:ea typeface="Courier New"/>
                <a:cs typeface="Courier New"/>
              </a:rPr>
              <a:t>    </a:t>
            </a:r>
            <a:r>
              <a:rPr b="1" dirty="0">
                <a:solidFill>
                  <a:schemeClr val="accent1">
                    <a:lumMod val="75000"/>
                  </a:schemeClr>
                </a:solidFill>
                <a:latin typeface="Courier New"/>
                <a:ea typeface="Courier New"/>
                <a:cs typeface="Courier New"/>
              </a:rPr>
              <a:t>SELECT AVG(</a:t>
            </a:r>
            <a:r>
              <a:rPr b="1" dirty="0" err="1">
                <a:solidFill>
                  <a:schemeClr val="accent1">
                    <a:lumMod val="75000"/>
                  </a:schemeClr>
                </a:solidFill>
                <a:latin typeface="Courier New"/>
                <a:ea typeface="Courier New"/>
                <a:cs typeface="Courier New"/>
              </a:rPr>
              <a:t>UnitPrice</a:t>
            </a:r>
            <a:r>
              <a:rPr b="1" dirty="0">
                <a:solidFill>
                  <a:schemeClr val="accent1">
                    <a:lumMod val="75000"/>
                  </a:schemeClr>
                </a:solidFill>
                <a:latin typeface="Courier New"/>
                <a:ea typeface="Courier New"/>
                <a:cs typeface="Courier New"/>
              </a:rPr>
              <a:t>)</a:t>
            </a:r>
          </a:p>
          <a:p>
            <a:pPr marL="457200" lvl="1" indent="0">
              <a:lnSpc>
                <a:spcPct val="110000"/>
              </a:lnSpc>
              <a:buNone/>
            </a:pPr>
            <a:r>
              <a:rPr b="1" dirty="0">
                <a:solidFill>
                  <a:schemeClr val="accent1">
                    <a:lumMod val="75000"/>
                  </a:schemeClr>
                </a:solidFill>
                <a:latin typeface="Courier New"/>
                <a:ea typeface="Courier New"/>
                <a:cs typeface="Courier New"/>
              </a:rPr>
              <a:t>    FROM </a:t>
            </a:r>
            <a:r>
              <a:rPr b="1" dirty="0" err="1">
                <a:solidFill>
                  <a:schemeClr val="accent1">
                    <a:lumMod val="75000"/>
                  </a:schemeClr>
                </a:solidFill>
                <a:latin typeface="Courier New"/>
                <a:ea typeface="Courier New"/>
                <a:cs typeface="Courier New"/>
              </a:rPr>
              <a:t>invoice_items</a:t>
            </a:r>
            <a:endParaRPr b="1" dirty="0">
              <a:solidFill>
                <a:schemeClr val="accent1">
                  <a:lumMod val="75000"/>
                </a:schemeClr>
              </a:solidFill>
              <a:latin typeface="Courier New"/>
              <a:ea typeface="Courier New"/>
              <a:cs typeface="Courier New"/>
            </a:endParaRPr>
          </a:p>
          <a:p>
            <a:pPr marL="457200" lvl="1" indent="0">
              <a:lnSpc>
                <a:spcPct val="110000"/>
              </a:lnSpc>
              <a:buNone/>
            </a:pPr>
            <a:r>
              <a:rPr b="1" dirty="0">
                <a:solidFill>
                  <a:schemeClr val="accent1">
                    <a:lumMod val="75000"/>
                  </a:schemeClr>
                </a:solidFill>
                <a:latin typeface="Courier New"/>
                <a:ea typeface="Courier New"/>
                <a:cs typeface="Courier New"/>
              </a:rPr>
              <a:t>    WHERE </a:t>
            </a:r>
            <a:r>
              <a:rPr b="1" dirty="0" err="1">
                <a:solidFill>
                  <a:schemeClr val="accent1">
                    <a:lumMod val="75000"/>
                  </a:schemeClr>
                </a:solidFill>
                <a:latin typeface="Courier New"/>
                <a:ea typeface="Courier New"/>
                <a:cs typeface="Courier New"/>
              </a:rPr>
              <a:t>InvoiceId</a:t>
            </a:r>
            <a:r>
              <a:rPr b="1" dirty="0">
                <a:solidFill>
                  <a:schemeClr val="accent1">
                    <a:lumMod val="75000"/>
                  </a:schemeClr>
                </a:solidFill>
                <a:latin typeface="Courier New"/>
                <a:ea typeface="Courier New"/>
                <a:cs typeface="Courier New"/>
              </a:rPr>
              <a:t> =</a:t>
            </a:r>
            <a:r>
              <a:rPr b="1" dirty="0">
                <a:solidFill>
                  <a:srgbClr val="A0C554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b="1" dirty="0" err="1">
                <a:solidFill>
                  <a:srgbClr val="FF0000"/>
                </a:solidFill>
                <a:latin typeface="Courier New"/>
                <a:ea typeface="Courier New"/>
                <a:cs typeface="Courier New"/>
              </a:rPr>
              <a:t>ii</a:t>
            </a:r>
            <a:r>
              <a:rPr b="1" dirty="0" err="1">
                <a:solidFill>
                  <a:schemeClr val="accent1">
                    <a:lumMod val="75000"/>
                  </a:schemeClr>
                </a:solidFill>
                <a:latin typeface="Courier New"/>
                <a:ea typeface="Courier New"/>
                <a:cs typeface="Courier New"/>
              </a:rPr>
              <a:t>.InvoiceId</a:t>
            </a:r>
            <a:r>
              <a:rPr b="1" dirty="0">
                <a:solidFill>
                  <a:srgbClr val="A0C554"/>
                </a:solidFill>
                <a:latin typeface="Courier New"/>
                <a:ea typeface="Courier New"/>
                <a:cs typeface="Courier New"/>
              </a:rPr>
              <a:t>);</a:t>
            </a:r>
          </a:p>
          <a:p>
            <a:pPr marL="0" indent="0">
              <a:lnSpc>
                <a:spcPct val="110000"/>
              </a:lnSpc>
              <a:buNone/>
            </a:pPr>
            <a:endParaRPr sz="2400" b="1" dirty="0">
              <a:solidFill>
                <a:srgbClr val="FF0000"/>
              </a:solidFill>
            </a:endParaRPr>
          </a:p>
          <a:p>
            <a:pPr marL="0" indent="0">
              <a:lnSpc>
                <a:spcPct val="110000"/>
              </a:lnSpc>
              <a:buNone/>
            </a:pPr>
            <a:endParaRPr sz="2400" dirty="0"/>
          </a:p>
          <a:p>
            <a:pPr>
              <a:lnSpc>
                <a:spcPct val="110000"/>
              </a:lnSpc>
              <a:buNone/>
            </a:pPr>
            <a:endParaRPr sz="2400" dirty="0"/>
          </a:p>
          <a:p>
            <a:endParaRPr sz="24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5DF726-6128-DC78-DE92-B9D58878762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81D60167-4931-47E6-BA6A-407CBD079E47}" type="slidenum">
              <a:rPr/>
              <a:t>36</a:t>
            </a:fld>
            <a:endParaRPr/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5CD426D4-4E9F-991C-455B-13C02EB34E39}"/>
              </a:ext>
            </a:extLst>
          </p:cNvPr>
          <p:cNvSpPr>
            <a:spLocks noGrp="1"/>
          </p:cNvSpPr>
          <p:nvPr/>
        </p:nvSpPr>
        <p:spPr>
          <a:xfrm>
            <a:off x="990600" y="1600200"/>
            <a:ext cx="10515600" cy="4729163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>
              <a:lnSpc>
                <a:spcPct val="110000"/>
              </a:lnSpc>
              <a:buNone/>
            </a:pPr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2370BB2-394E-4222-97C6-E6AD317D548A}"/>
              </a:ext>
            </a:extLst>
          </p:cNvPr>
          <p:cNvSpPr>
            <a:spLocks noGrp="1"/>
          </p:cNvSpPr>
          <p:nvPr/>
        </p:nvSpPr>
        <p:spPr>
          <a:xfrm>
            <a:off x="5381768" y="90239"/>
            <a:ext cx="6810232" cy="4106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lnSpc>
                <a:spcPct val="110000"/>
              </a:lnSpc>
              <a:buNone/>
            </a:pPr>
            <a:r>
              <a:rPr sz="2000">
                <a:solidFill>
                  <a:srgbClr val="FF0000"/>
                </a:solidFill>
                <a:latin typeface="Comic Sans MS"/>
                <a:ea typeface="Comic Sans MS"/>
                <a:cs typeface="Comic Sans MS"/>
              </a:rPr>
              <a:t>Tip: One invoice may include multiple invoice items.</a:t>
            </a:r>
          </a:p>
        </p:txBody>
      </p:sp>
      <p:pic>
        <p:nvPicPr>
          <p:cNvPr id="25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9178" y="1417886"/>
            <a:ext cx="2817021" cy="384845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06B1D0BE-8174-40FD-B9E2-78D770ED2037}"/>
              </a:ext>
            </a:extLst>
          </p:cNvPr>
          <p:cNvSpPr>
            <a:spLocks noGrp="1"/>
          </p:cNvSpPr>
          <p:nvPr/>
        </p:nvSpPr>
        <p:spPr>
          <a:xfrm>
            <a:off x="8447964" y="4098250"/>
            <a:ext cx="610738" cy="144297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EE75688-F4BF-4B89-900C-04D6B7CE0D18}"/>
              </a:ext>
            </a:extLst>
          </p:cNvPr>
          <p:cNvSpPr>
            <a:spLocks noGrp="1"/>
          </p:cNvSpPr>
          <p:nvPr/>
        </p:nvSpPr>
        <p:spPr>
          <a:xfrm>
            <a:off x="11299208" y="1325314"/>
            <a:ext cx="610738" cy="144297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6558413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>
            <a:extLst>
              <a:ext uri="{FF2B5EF4-FFF2-40B4-BE49-F238E27FC236}">
                <a16:creationId xmlns:a16="http://schemas.microsoft.com/office/drawing/2014/main" id="{FB108E63-5A6C-F1A2-EE6F-4BDF394CC1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Q4: EXISTS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370E56-8D31-4564-A45D-FB3D58047C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82148"/>
            <a:ext cx="10515600" cy="5937518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  <a:buNone/>
            </a:pPr>
            <a:r>
              <a:rPr sz="2400" b="1"/>
              <a:t>Tables</a:t>
            </a:r>
            <a:r>
              <a:rPr sz="2400"/>
              <a:t>: employees, customers</a:t>
            </a:r>
          </a:p>
          <a:p>
            <a:pPr>
              <a:lnSpc>
                <a:spcPct val="110000"/>
              </a:lnSpc>
              <a:buNone/>
            </a:pPr>
            <a:r>
              <a:rPr sz="2400" b="1"/>
              <a:t>Task</a:t>
            </a:r>
            <a:r>
              <a:rPr sz="2400"/>
              <a:t>: Find employees who have</a:t>
            </a:r>
            <a:br>
              <a:rPr sz="2400"/>
            </a:br>
            <a:r>
              <a:rPr sz="2400"/>
              <a:t>at least one customer in </a:t>
            </a:r>
            <a:r>
              <a:rPr sz="2400" b="1"/>
              <a:t>same country </a:t>
            </a:r>
            <a:r>
              <a:rPr sz="2400"/>
              <a:t>as employee</a:t>
            </a:r>
          </a:p>
          <a:p>
            <a:pPr>
              <a:lnSpc>
                <a:spcPct val="110000"/>
              </a:lnSpc>
              <a:buNone/>
            </a:pPr>
            <a:r>
              <a:rPr sz="2400">
                <a:solidFill>
                  <a:srgbClr val="FF0000"/>
                </a:solidFill>
              </a:rPr>
              <a:t>Try to solve it. (4 mins)</a:t>
            </a:r>
          </a:p>
          <a:p>
            <a:pPr marL="457200" lvl="1" indent="0">
              <a:lnSpc>
                <a:spcPct val="110000"/>
              </a:lnSpc>
              <a:buNone/>
            </a:pPr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B8B7F0-9E4D-8A75-BE7B-479CA7A9CDA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81D60167-4931-47E6-BA6A-407CBD079E47}" type="slidenum">
              <a:rPr/>
              <a:t>37</a:t>
            </a:fld>
            <a:endParaRPr/>
          </a:p>
        </p:txBody>
      </p:sp>
      <p:pic>
        <p:nvPicPr>
          <p:cNvPr id="2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0696" y="606210"/>
            <a:ext cx="3375546" cy="575014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B6BE1293-F9DB-4C71-AF2A-E9165D4869A0}"/>
              </a:ext>
            </a:extLst>
          </p:cNvPr>
          <p:cNvSpPr>
            <a:spLocks noGrp="1"/>
          </p:cNvSpPr>
          <p:nvPr/>
        </p:nvSpPr>
        <p:spPr>
          <a:xfrm>
            <a:off x="7943567" y="327154"/>
            <a:ext cx="610738" cy="144297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26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73689" y="3985988"/>
            <a:ext cx="3815390" cy="2277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861083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>
            <a:extLst>
              <a:ext uri="{FF2B5EF4-FFF2-40B4-BE49-F238E27FC236}">
                <a16:creationId xmlns:a16="http://schemas.microsoft.com/office/drawing/2014/main" id="{FB108E63-5A6C-F1A2-EE6F-4BDF394CC1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/>
              <a:t>Demo</a:t>
            </a:r>
            <a:r>
              <a:t>4: EXISTS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370E56-8D31-4564-A45D-FB3D58047C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82148"/>
            <a:ext cx="10515600" cy="5937518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  <a:buNone/>
            </a:pPr>
            <a:r>
              <a:rPr sz="2400" b="1" dirty="0"/>
              <a:t>Tables</a:t>
            </a:r>
            <a:r>
              <a:rPr sz="2400" dirty="0"/>
              <a:t>: employees, customers</a:t>
            </a:r>
          </a:p>
          <a:p>
            <a:pPr>
              <a:lnSpc>
                <a:spcPct val="110000"/>
              </a:lnSpc>
              <a:buNone/>
            </a:pPr>
            <a:r>
              <a:rPr sz="2400" b="1" dirty="0"/>
              <a:t>Task</a:t>
            </a:r>
            <a:r>
              <a:rPr sz="2400" dirty="0"/>
              <a:t>: Find employees who have</a:t>
            </a:r>
            <a:br>
              <a:rPr sz="2400" dirty="0"/>
            </a:br>
            <a:r>
              <a:rPr sz="2400" dirty="0"/>
              <a:t>at least one customer in </a:t>
            </a:r>
            <a:r>
              <a:rPr sz="2400" b="1" dirty="0"/>
              <a:t>same country </a:t>
            </a:r>
            <a:r>
              <a:rPr sz="2400" dirty="0"/>
              <a:t>as employee</a:t>
            </a:r>
          </a:p>
          <a:p>
            <a:pPr>
              <a:lnSpc>
                <a:spcPct val="110000"/>
              </a:lnSpc>
              <a:buNone/>
            </a:pPr>
            <a:r>
              <a:rPr sz="2400" dirty="0">
                <a:solidFill>
                  <a:srgbClr val="FF0000"/>
                </a:solidFill>
              </a:rPr>
              <a:t>Try it on SQLite. (</a:t>
            </a:r>
            <a:r>
              <a:rPr lang="en-US" altLang="zh-CN" sz="2400" dirty="0">
                <a:solidFill>
                  <a:srgbClr val="FF0000"/>
                </a:solidFill>
              </a:rPr>
              <a:t>2</a:t>
            </a:r>
            <a:r>
              <a:rPr sz="2400" dirty="0">
                <a:solidFill>
                  <a:srgbClr val="FF0000"/>
                </a:solidFill>
              </a:rPr>
              <a:t> min)</a:t>
            </a:r>
          </a:p>
          <a:p>
            <a:pPr marL="457200" lvl="1" indent="0">
              <a:lnSpc>
                <a:spcPct val="110000"/>
              </a:lnSpc>
              <a:buNone/>
            </a:pPr>
            <a:r>
              <a:rPr b="1" dirty="0">
                <a:solidFill>
                  <a:srgbClr val="A0C554"/>
                </a:solidFill>
                <a:latin typeface="Courier New"/>
                <a:ea typeface="Courier New"/>
                <a:cs typeface="Courier New"/>
              </a:rPr>
              <a:t>SELECT </a:t>
            </a:r>
            <a:r>
              <a:rPr b="1" dirty="0" err="1">
                <a:solidFill>
                  <a:srgbClr val="A0C554"/>
                </a:solidFill>
                <a:latin typeface="Courier New"/>
                <a:ea typeface="Courier New"/>
                <a:cs typeface="Courier New"/>
              </a:rPr>
              <a:t>EmployeeId</a:t>
            </a:r>
            <a:r>
              <a:rPr b="1" dirty="0">
                <a:solidFill>
                  <a:srgbClr val="A0C554"/>
                </a:solidFill>
                <a:latin typeface="Courier New"/>
                <a:ea typeface="Courier New"/>
                <a:cs typeface="Courier New"/>
              </a:rPr>
              <a:t>, FirstName,</a:t>
            </a:r>
            <a:br>
              <a:rPr b="1" dirty="0">
                <a:solidFill>
                  <a:srgbClr val="A0C554"/>
                </a:solidFill>
                <a:latin typeface="Courier New"/>
                <a:ea typeface="Courier New"/>
                <a:cs typeface="Courier New"/>
              </a:rPr>
            </a:br>
            <a:r>
              <a:rPr b="1" dirty="0">
                <a:solidFill>
                  <a:srgbClr val="A0C554"/>
                </a:solidFill>
                <a:latin typeface="Courier New"/>
                <a:ea typeface="Courier New"/>
                <a:cs typeface="Courier New"/>
              </a:rPr>
              <a:t>LastName</a:t>
            </a:r>
          </a:p>
          <a:p>
            <a:pPr marL="457200" lvl="1" indent="0">
              <a:lnSpc>
                <a:spcPct val="110000"/>
              </a:lnSpc>
              <a:buNone/>
            </a:pPr>
            <a:r>
              <a:rPr b="1" dirty="0">
                <a:solidFill>
                  <a:srgbClr val="A0C554"/>
                </a:solidFill>
                <a:latin typeface="Courier New"/>
                <a:ea typeface="Courier New"/>
                <a:cs typeface="Courier New"/>
              </a:rPr>
              <a:t>FROM employees </a:t>
            </a:r>
            <a:r>
              <a:rPr b="1" dirty="0">
                <a:solidFill>
                  <a:srgbClr val="FF0000"/>
                </a:solidFill>
                <a:latin typeface="Courier New"/>
                <a:ea typeface="Courier New"/>
                <a:cs typeface="Courier New"/>
              </a:rPr>
              <a:t>e</a:t>
            </a:r>
          </a:p>
          <a:p>
            <a:pPr marL="457200" lvl="1" indent="0">
              <a:lnSpc>
                <a:spcPct val="110000"/>
              </a:lnSpc>
              <a:buNone/>
            </a:pPr>
            <a:r>
              <a:rPr b="1" dirty="0">
                <a:solidFill>
                  <a:srgbClr val="A0C554"/>
                </a:solidFill>
                <a:latin typeface="Courier New"/>
                <a:ea typeface="Courier New"/>
                <a:cs typeface="Courier New"/>
              </a:rPr>
              <a:t>WHERE EXISTS (</a:t>
            </a:r>
          </a:p>
          <a:p>
            <a:pPr marL="457200" lvl="1" indent="0">
              <a:lnSpc>
                <a:spcPct val="110000"/>
              </a:lnSpc>
              <a:buNone/>
            </a:pPr>
            <a:r>
              <a:rPr b="1" dirty="0">
                <a:solidFill>
                  <a:schemeClr val="accent1">
                    <a:lumMod val="75000"/>
                  </a:schemeClr>
                </a:solidFill>
                <a:latin typeface="Courier New"/>
                <a:ea typeface="Courier New"/>
                <a:cs typeface="Courier New"/>
              </a:rPr>
              <a:t>    SELECT 1</a:t>
            </a:r>
          </a:p>
          <a:p>
            <a:pPr marL="457200" lvl="1" indent="0">
              <a:lnSpc>
                <a:spcPct val="110000"/>
              </a:lnSpc>
              <a:buNone/>
            </a:pPr>
            <a:r>
              <a:rPr b="1" dirty="0">
                <a:solidFill>
                  <a:schemeClr val="accent1">
                    <a:lumMod val="75000"/>
                  </a:schemeClr>
                </a:solidFill>
                <a:latin typeface="Courier New"/>
                <a:ea typeface="Courier New"/>
                <a:cs typeface="Courier New"/>
              </a:rPr>
              <a:t>    FROM customers c</a:t>
            </a:r>
          </a:p>
          <a:p>
            <a:pPr marL="457200" lvl="1" indent="0">
              <a:lnSpc>
                <a:spcPct val="110000"/>
              </a:lnSpc>
              <a:buNone/>
            </a:pPr>
            <a:r>
              <a:rPr b="1" dirty="0">
                <a:solidFill>
                  <a:schemeClr val="accent1">
                    <a:lumMod val="75000"/>
                  </a:schemeClr>
                </a:solidFill>
                <a:latin typeface="Courier New"/>
                <a:ea typeface="Courier New"/>
                <a:cs typeface="Courier New"/>
              </a:rPr>
              <a:t>    WHERE </a:t>
            </a:r>
            <a:r>
              <a:rPr b="1" dirty="0" err="1">
                <a:solidFill>
                  <a:schemeClr val="accent1">
                    <a:lumMod val="75000"/>
                  </a:schemeClr>
                </a:solidFill>
                <a:latin typeface="Courier New"/>
                <a:ea typeface="Courier New"/>
                <a:cs typeface="Courier New"/>
              </a:rPr>
              <a:t>c.Country</a:t>
            </a:r>
            <a:r>
              <a:rPr b="1" dirty="0">
                <a:solidFill>
                  <a:schemeClr val="accent1">
                    <a:lumMod val="75000"/>
                  </a:schemeClr>
                </a:solidFill>
                <a:latin typeface="Courier New"/>
                <a:ea typeface="Courier New"/>
                <a:cs typeface="Courier New"/>
              </a:rPr>
              <a:t> = </a:t>
            </a:r>
            <a:r>
              <a:rPr b="1" dirty="0" err="1">
                <a:solidFill>
                  <a:srgbClr val="FF0000"/>
                </a:solidFill>
                <a:latin typeface="Courier New"/>
                <a:ea typeface="Courier New"/>
                <a:cs typeface="Courier New"/>
              </a:rPr>
              <a:t>e</a:t>
            </a:r>
            <a:r>
              <a:rPr b="1" dirty="0" err="1">
                <a:solidFill>
                  <a:schemeClr val="accent1">
                    <a:lumMod val="75000"/>
                  </a:schemeClr>
                </a:solidFill>
                <a:latin typeface="Courier New"/>
                <a:ea typeface="Courier New"/>
                <a:cs typeface="Courier New"/>
              </a:rPr>
              <a:t>.Country</a:t>
            </a:r>
            <a:r>
              <a:rPr b="1" dirty="0">
                <a:solidFill>
                  <a:srgbClr val="A0C554"/>
                </a:solidFill>
                <a:latin typeface="Courier New"/>
                <a:ea typeface="Courier New"/>
                <a:cs typeface="Courier New"/>
              </a:rPr>
              <a:t>);</a:t>
            </a:r>
          </a:p>
          <a:p>
            <a:pPr marL="0" indent="0">
              <a:lnSpc>
                <a:spcPct val="110000"/>
              </a:lnSpc>
              <a:buNone/>
            </a:pPr>
            <a:endParaRPr dirty="0">
              <a:solidFill>
                <a:srgbClr val="FF0000"/>
              </a:solidFill>
            </a:endParaRPr>
          </a:p>
          <a:p>
            <a:pPr marL="0" indent="0">
              <a:lnSpc>
                <a:spcPct val="110000"/>
              </a:lnSpc>
              <a:buNone/>
            </a:pPr>
            <a:endParaRPr dirty="0"/>
          </a:p>
          <a:p>
            <a:pPr>
              <a:lnSpc>
                <a:spcPct val="110000"/>
              </a:lnSpc>
              <a:buNone/>
            </a:pPr>
            <a:endParaRPr dirty="0"/>
          </a:p>
          <a:p>
            <a:endParaRPr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B8B7F0-9E4D-8A75-BE7B-479CA7A9CDA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81D60167-4931-47E6-BA6A-407CBD079E47}" type="slidenum">
              <a:rPr/>
              <a:t>38</a:t>
            </a:fld>
            <a:endParaRPr/>
          </a:p>
        </p:txBody>
      </p:sp>
      <p:pic>
        <p:nvPicPr>
          <p:cNvPr id="23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0696" y="606210"/>
            <a:ext cx="3375546" cy="575014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B6BE1293-F9DB-4C71-AF2A-E9165D4869A0}"/>
              </a:ext>
            </a:extLst>
          </p:cNvPr>
          <p:cNvSpPr>
            <a:spLocks noGrp="1"/>
          </p:cNvSpPr>
          <p:nvPr/>
        </p:nvSpPr>
        <p:spPr>
          <a:xfrm>
            <a:off x="7943567" y="327154"/>
            <a:ext cx="610738" cy="144297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211490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>
            <a:extLst>
              <a:ext uri="{FF2B5EF4-FFF2-40B4-BE49-F238E27FC236}">
                <a16:creationId xmlns:a16="http://schemas.microsoft.com/office/drawing/2014/main" id="{D0FF9978-5EF5-7517-743C-D8CC25F3C1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Q5: NOT EXISTS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C7C3DD-A0CF-4909-ACA2-4D7CE15305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82148"/>
            <a:ext cx="5999328" cy="4894815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  <a:buNone/>
            </a:pPr>
            <a:r>
              <a:rPr sz="2400"/>
              <a:t>Tables: artists, albums, tracks, invoice_items</a:t>
            </a:r>
          </a:p>
          <a:p>
            <a:pPr>
              <a:lnSpc>
                <a:spcPct val="110000"/>
              </a:lnSpc>
              <a:buNone/>
            </a:pPr>
            <a:r>
              <a:rPr sz="2400"/>
              <a:t>Task: Find artists whose tracks have never been purchased by any customer.</a:t>
            </a:r>
            <a:br>
              <a:rPr sz="2400"/>
            </a:br>
            <a:r>
              <a:rPr sz="2400">
                <a:highlight>
                  <a:srgbClr val="FFFF00"/>
                </a:highlight>
              </a:rPr>
              <a:t>Even if artist has albums and tracks, none of their tracks may appear in any invoice</a:t>
            </a:r>
          </a:p>
          <a:p>
            <a:pPr>
              <a:lnSpc>
                <a:spcPct val="110000"/>
              </a:lnSpc>
              <a:buNone/>
            </a:pPr>
            <a:r>
              <a:rPr sz="2400">
                <a:solidFill>
                  <a:srgbClr val="FF0000"/>
                </a:solidFill>
              </a:rPr>
              <a:t>Try to solve it. (5 mins)</a:t>
            </a:r>
          </a:p>
          <a:p>
            <a:pPr marL="0" indent="0">
              <a:lnSpc>
                <a:spcPct val="110000"/>
              </a:lnSpc>
              <a:buNone/>
            </a:pPr>
            <a:endParaRPr sz="2400">
              <a:solidFill>
                <a:srgbClr val="FF0000"/>
              </a:solidFill>
            </a:endParaRPr>
          </a:p>
          <a:p>
            <a:pPr marL="0" indent="0">
              <a:lnSpc>
                <a:spcPct val="110000"/>
              </a:lnSpc>
              <a:buNone/>
            </a:pPr>
            <a:endParaRPr sz="2400"/>
          </a:p>
          <a:p>
            <a:pPr>
              <a:lnSpc>
                <a:spcPct val="110000"/>
              </a:lnSpc>
              <a:buNone/>
            </a:pPr>
            <a:endParaRPr sz="2400"/>
          </a:p>
          <a:p>
            <a:endParaRPr sz="240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C077D8-FCAA-30A2-2A3D-FD0C821F0D7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81D60167-4931-47E6-BA6A-407CBD079E47}" type="slidenum">
              <a:rPr/>
              <a:t>39</a:t>
            </a:fld>
            <a:endParaRPr/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B25858AD-3701-7575-0DCA-D437BE826FD8}"/>
              </a:ext>
            </a:extLst>
          </p:cNvPr>
          <p:cNvSpPr>
            <a:spLocks noGrp="1"/>
          </p:cNvSpPr>
          <p:nvPr/>
        </p:nvSpPr>
        <p:spPr>
          <a:xfrm>
            <a:off x="990600" y="1600200"/>
            <a:ext cx="6775361" cy="4729163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>
              <a:lnSpc>
                <a:spcPct val="110000"/>
              </a:lnSpc>
              <a:buNone/>
            </a:pPr>
            <a:endParaRPr/>
          </a:p>
        </p:txBody>
      </p:sp>
      <p:pic>
        <p:nvPicPr>
          <p:cNvPr id="25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0797" y="4590303"/>
            <a:ext cx="2923107" cy="174487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25ADF7A6-D4BC-4579-A63C-B3B6796A3391}"/>
              </a:ext>
            </a:extLst>
          </p:cNvPr>
          <p:cNvSpPr>
            <a:spLocks noGrp="1"/>
          </p:cNvSpPr>
          <p:nvPr/>
        </p:nvSpPr>
        <p:spPr>
          <a:xfrm>
            <a:off x="6837528" y="3346213"/>
            <a:ext cx="360468" cy="144297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6E54D09-541E-472C-9273-7EB4596C85A0}"/>
              </a:ext>
            </a:extLst>
          </p:cNvPr>
          <p:cNvSpPr>
            <a:spLocks noGrp="1"/>
          </p:cNvSpPr>
          <p:nvPr/>
        </p:nvSpPr>
        <p:spPr>
          <a:xfrm>
            <a:off x="11765567" y="973315"/>
            <a:ext cx="360468" cy="144297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28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7725" y="759974"/>
            <a:ext cx="4870292" cy="5124711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E5AACB36-92E0-41D7-9140-C16F2926D77B}"/>
              </a:ext>
            </a:extLst>
          </p:cNvPr>
          <p:cNvSpPr>
            <a:spLocks noGrp="1"/>
          </p:cNvSpPr>
          <p:nvPr/>
        </p:nvSpPr>
        <p:spPr>
          <a:xfrm>
            <a:off x="6885524" y="3485361"/>
            <a:ext cx="339767" cy="144297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819D88A-2D40-44F6-9547-541B1A332C4D}"/>
              </a:ext>
            </a:extLst>
          </p:cNvPr>
          <p:cNvSpPr>
            <a:spLocks noGrp="1"/>
          </p:cNvSpPr>
          <p:nvPr/>
        </p:nvSpPr>
        <p:spPr>
          <a:xfrm>
            <a:off x="11749777" y="754062"/>
            <a:ext cx="339767" cy="144297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3534570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>
            <a:extLst>
              <a:ext uri="{FF2B5EF4-FFF2-40B4-BE49-F238E27FC236}">
                <a16:creationId xmlns:a16="http://schemas.microsoft.com/office/drawing/2014/main" id="{B2FC9F91-ECCE-CB12-3613-650D83C8CA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/>
              <a:t>Demo</a:t>
            </a:r>
            <a:r>
              <a:t>5: NOT EXISTS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B35B36-8F58-4B75-B5DA-F08628CEFA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82148"/>
            <a:ext cx="10668000" cy="5439327"/>
          </a:xfrm>
        </p:spPr>
        <p:txBody>
          <a:bodyPr>
            <a:noAutofit/>
          </a:bodyPr>
          <a:lstStyle/>
          <a:p>
            <a:pPr>
              <a:lnSpc>
                <a:spcPct val="110000"/>
              </a:lnSpc>
              <a:buNone/>
            </a:pPr>
            <a:r>
              <a:rPr sz="2400"/>
              <a:t>Tables: artists, albums, tracks, invoice_items</a:t>
            </a:r>
          </a:p>
          <a:p>
            <a:pPr>
              <a:lnSpc>
                <a:spcPct val="110000"/>
              </a:lnSpc>
              <a:buNone/>
            </a:pPr>
            <a:r>
              <a:rPr sz="2400"/>
              <a:t>Task: Find artists whose tracks have never </a:t>
            </a:r>
            <a:br>
              <a:rPr sz="2400"/>
            </a:br>
            <a:r>
              <a:rPr sz="2400"/>
              <a:t>been purchased by any customer.</a:t>
            </a:r>
          </a:p>
          <a:p>
            <a:pPr marL="457200" lvl="1" indent="0">
              <a:lnSpc>
                <a:spcPct val="110000"/>
              </a:lnSpc>
              <a:buNone/>
            </a:pPr>
            <a:r>
              <a:rPr b="1">
                <a:solidFill>
                  <a:srgbClr val="A0C554"/>
                </a:solidFill>
                <a:latin typeface="Courier New"/>
                <a:ea typeface="Courier New"/>
                <a:cs typeface="Courier New"/>
              </a:rPr>
              <a:t>SELECT ArtistId, Name </a:t>
            </a:r>
          </a:p>
          <a:p>
            <a:pPr marL="457200" lvl="1" indent="0">
              <a:lnSpc>
                <a:spcPct val="110000"/>
              </a:lnSpc>
              <a:buNone/>
            </a:pPr>
            <a:r>
              <a:rPr b="1">
                <a:solidFill>
                  <a:srgbClr val="A0C554"/>
                </a:solidFill>
                <a:latin typeface="Courier New"/>
                <a:ea typeface="Courier New"/>
                <a:cs typeface="Courier New"/>
              </a:rPr>
              <a:t>FROM artists </a:t>
            </a:r>
            <a:r>
              <a:rPr b="1">
                <a:solidFill>
                  <a:srgbClr val="FF0000"/>
                </a:solidFill>
                <a:latin typeface="Courier New"/>
                <a:ea typeface="Courier New"/>
                <a:cs typeface="Courier New"/>
              </a:rPr>
              <a:t>a</a:t>
            </a:r>
          </a:p>
          <a:p>
            <a:pPr marL="457200" lvl="1" indent="0">
              <a:lnSpc>
                <a:spcPct val="110000"/>
              </a:lnSpc>
              <a:buNone/>
            </a:pPr>
            <a:r>
              <a:rPr b="1">
                <a:solidFill>
                  <a:srgbClr val="A0C554"/>
                </a:solidFill>
                <a:latin typeface="Courier New"/>
                <a:ea typeface="Courier New"/>
                <a:cs typeface="Courier New"/>
              </a:rPr>
              <a:t>WHERE NOT EXISTS (</a:t>
            </a:r>
          </a:p>
          <a:p>
            <a:pPr marL="457200" lvl="1" indent="0">
              <a:lnSpc>
                <a:spcPct val="110000"/>
              </a:lnSpc>
              <a:buNone/>
            </a:pPr>
            <a:r>
              <a:rPr b="1">
                <a:solidFill>
                  <a:schemeClr val="accent1"/>
                </a:solidFill>
                <a:latin typeface="Courier New"/>
                <a:ea typeface="Courier New"/>
                <a:cs typeface="Courier New"/>
              </a:rPr>
              <a:t>    SELECT 1</a:t>
            </a:r>
          </a:p>
          <a:p>
            <a:pPr marL="457200" lvl="1" indent="0">
              <a:lnSpc>
                <a:spcPct val="110000"/>
              </a:lnSpc>
              <a:buNone/>
            </a:pPr>
            <a:r>
              <a:rPr b="1">
                <a:solidFill>
                  <a:schemeClr val="accent1"/>
                </a:solidFill>
                <a:latin typeface="Courier New"/>
                <a:ea typeface="Courier New"/>
                <a:cs typeface="Courier New"/>
              </a:rPr>
              <a:t>    FROM albums al </a:t>
            </a:r>
          </a:p>
          <a:p>
            <a:pPr marL="457200" lvl="1" indent="0">
              <a:lnSpc>
                <a:spcPct val="110000"/>
              </a:lnSpc>
              <a:buNone/>
            </a:pPr>
            <a:r>
              <a:rPr b="1">
                <a:solidFill>
                  <a:schemeClr val="accent1"/>
                </a:solidFill>
                <a:latin typeface="Courier New"/>
                <a:ea typeface="Courier New"/>
                <a:cs typeface="Courier New"/>
              </a:rPr>
              <a:t>    JOIN tracks t ON al.AlbumId = t.AlbumId</a:t>
            </a:r>
          </a:p>
          <a:p>
            <a:pPr marL="457200" lvl="1" indent="0">
              <a:lnSpc>
                <a:spcPct val="110000"/>
              </a:lnSpc>
              <a:buNone/>
            </a:pPr>
            <a:r>
              <a:rPr b="1">
                <a:solidFill>
                  <a:schemeClr val="accent1"/>
                </a:solidFill>
                <a:latin typeface="Courier New"/>
                <a:ea typeface="Courier New"/>
                <a:cs typeface="Courier New"/>
              </a:rPr>
              <a:t>    JOIN invoice_items ii ON t.TrackId = ii.TrackId</a:t>
            </a:r>
          </a:p>
          <a:p>
            <a:pPr marL="457200" lvl="1" indent="0">
              <a:lnSpc>
                <a:spcPct val="110000"/>
              </a:lnSpc>
              <a:buNone/>
            </a:pPr>
            <a:r>
              <a:rPr b="1">
                <a:solidFill>
                  <a:schemeClr val="accent1"/>
                </a:solidFill>
                <a:latin typeface="Courier New"/>
                <a:ea typeface="Courier New"/>
                <a:cs typeface="Courier New"/>
              </a:rPr>
              <a:t>    WHERE al.ArtistId = </a:t>
            </a:r>
            <a:r>
              <a:rPr b="1">
                <a:solidFill>
                  <a:srgbClr val="FF0000"/>
                </a:solidFill>
                <a:latin typeface="Courier New"/>
                <a:ea typeface="Courier New"/>
                <a:cs typeface="Courier New"/>
              </a:rPr>
              <a:t>a</a:t>
            </a:r>
            <a:r>
              <a:rPr b="1">
                <a:solidFill>
                  <a:schemeClr val="accent1"/>
                </a:solidFill>
                <a:latin typeface="Courier New"/>
                <a:ea typeface="Courier New"/>
                <a:cs typeface="Courier New"/>
              </a:rPr>
              <a:t>.ArtistId </a:t>
            </a:r>
            <a:r>
              <a:rPr b="1">
                <a:solidFill>
                  <a:srgbClr val="A0C554"/>
                </a:solidFill>
                <a:latin typeface="Courier New"/>
                <a:ea typeface="Courier New"/>
                <a:cs typeface="Courier New"/>
              </a:rPr>
              <a:t>);</a:t>
            </a:r>
          </a:p>
          <a:p>
            <a:endParaRPr sz="240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F232AF-1350-4D05-B160-9CED06B7EB1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81D60167-4931-47E6-BA6A-407CBD079E47}" type="slidenum">
              <a:rPr/>
              <a:t>40</a:t>
            </a:fld>
            <a:endParaRPr/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787DFAF0-A146-AB13-45E3-78ECBE664278}"/>
              </a:ext>
            </a:extLst>
          </p:cNvPr>
          <p:cNvSpPr>
            <a:spLocks noGrp="1"/>
          </p:cNvSpPr>
          <p:nvPr/>
        </p:nvSpPr>
        <p:spPr>
          <a:xfrm>
            <a:off x="990600" y="1600200"/>
            <a:ext cx="7258040" cy="4729163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0000"/>
              </a:lnSpc>
              <a:buNone/>
            </a:pPr>
            <a:endParaRPr/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1E4B2528-77B7-15AD-1925-A4934517A0E5}"/>
              </a:ext>
            </a:extLst>
          </p:cNvPr>
          <p:cNvSpPr>
            <a:spLocks noGrp="1"/>
          </p:cNvSpPr>
          <p:nvPr/>
        </p:nvSpPr>
        <p:spPr>
          <a:xfrm>
            <a:off x="685800" y="3110184"/>
            <a:ext cx="10820400" cy="3747815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0000"/>
              </a:lnSpc>
              <a:buNone/>
            </a:pPr>
            <a:endParaRPr sz="1800">
              <a:solidFill>
                <a:srgbClr val="A0C554"/>
              </a:solidFill>
            </a:endParaRPr>
          </a:p>
        </p:txBody>
      </p:sp>
      <p:pic>
        <p:nvPicPr>
          <p:cNvPr id="25" name="Picture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8727" y="458224"/>
            <a:ext cx="4037473" cy="3907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39652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>
            <a:extLst>
              <a:ext uri="{FF2B5EF4-FFF2-40B4-BE49-F238E27FC236}">
                <a16:creationId xmlns:a16="http://schemas.microsoft.com/office/drawing/2014/main" id="{FDB893DC-ECE2-C944-71D5-9DBBB4446B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/>
              <a:t>Demo5</a:t>
            </a:r>
            <a:r>
              <a:t>: Same Expression? Yes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91873BD-94D1-4A83-9201-06590F8357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82148"/>
            <a:ext cx="10515600" cy="5575852"/>
          </a:xfrm>
        </p:spPr>
        <p:txBody>
          <a:bodyPr vert="horz" lIns="91440" tIns="45720" rIns="91440" bIns="45720" anchor="t">
            <a:normAutofit/>
          </a:bodyPr>
          <a:lstStyle/>
          <a:p>
            <a:pPr>
              <a:lnSpc>
                <a:spcPct val="110000"/>
              </a:lnSpc>
              <a:buNone/>
            </a:pPr>
            <a:r>
              <a:rPr sz="2400"/>
              <a:t>Tables: artists, albums, tracks, invoice_items</a:t>
            </a:r>
          </a:p>
          <a:p>
            <a:pPr>
              <a:lnSpc>
                <a:spcPct val="110000"/>
              </a:lnSpc>
              <a:buNone/>
            </a:pPr>
            <a:r>
              <a:rPr sz="2400"/>
              <a:t>Task: Find artists whose tracks have never been purchased by any customer.</a:t>
            </a:r>
          </a:p>
          <a:p>
            <a:pPr marL="457200" lvl="1" indent="0">
              <a:lnSpc>
                <a:spcPct val="110000"/>
              </a:lnSpc>
              <a:buNone/>
            </a:pPr>
            <a:r>
              <a:rPr b="1">
                <a:solidFill>
                  <a:srgbClr val="A0C554"/>
                </a:solidFill>
                <a:latin typeface="Courier New"/>
                <a:ea typeface="Courier New"/>
                <a:cs typeface="Courier New"/>
              </a:rPr>
              <a:t>SELECT a.ArtistId, a.Name</a:t>
            </a:r>
          </a:p>
          <a:p>
            <a:pPr marL="457200" lvl="1" indent="0">
              <a:lnSpc>
                <a:spcPct val="110000"/>
              </a:lnSpc>
              <a:buNone/>
            </a:pPr>
            <a:r>
              <a:rPr b="1">
                <a:solidFill>
                  <a:srgbClr val="A0C554"/>
                </a:solidFill>
                <a:latin typeface="Courier New"/>
                <a:ea typeface="Courier New"/>
                <a:cs typeface="Courier New"/>
              </a:rPr>
              <a:t>FROM artists a</a:t>
            </a:r>
          </a:p>
          <a:p>
            <a:pPr marL="457200" lvl="1" indent="0">
              <a:lnSpc>
                <a:spcPct val="110000"/>
              </a:lnSpc>
              <a:buNone/>
            </a:pPr>
            <a:r>
              <a:rPr b="1">
                <a:solidFill>
                  <a:srgbClr val="A0C554"/>
                </a:solidFill>
                <a:latin typeface="Courier New"/>
                <a:ea typeface="Courier New"/>
                <a:cs typeface="Courier New"/>
              </a:rPr>
              <a:t>WHERE a.ArtistId </a:t>
            </a:r>
            <a:r>
              <a:rPr b="1">
                <a:solidFill>
                  <a:srgbClr val="A0C554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</a:rPr>
              <a:t>NOT IN </a:t>
            </a:r>
            <a:r>
              <a:rPr b="1">
                <a:solidFill>
                  <a:srgbClr val="A0C554"/>
                </a:solidFill>
                <a:latin typeface="Courier New"/>
                <a:ea typeface="Courier New"/>
                <a:cs typeface="Courier New"/>
              </a:rPr>
              <a:t>(</a:t>
            </a:r>
          </a:p>
          <a:p>
            <a:pPr marL="457200" lvl="1" indent="0">
              <a:lnSpc>
                <a:spcPct val="110000"/>
              </a:lnSpc>
              <a:buNone/>
            </a:pPr>
            <a:r>
              <a:rPr b="1">
                <a:solidFill>
                  <a:srgbClr val="A0C554"/>
                </a:solidFill>
                <a:latin typeface="Courier New"/>
                <a:ea typeface="Courier New"/>
                <a:cs typeface="Courier New"/>
              </a:rPr>
              <a:t>  </a:t>
            </a:r>
            <a:r>
              <a:rPr b="1">
                <a:solidFill>
                  <a:schemeClr val="accent1"/>
                </a:solidFill>
                <a:latin typeface="Courier New"/>
                <a:ea typeface="Courier New"/>
                <a:cs typeface="Courier New"/>
              </a:rPr>
              <a:t>SELECT DISTINCT al.ArtistId</a:t>
            </a:r>
          </a:p>
          <a:p>
            <a:pPr marL="457200" lvl="1" indent="0">
              <a:lnSpc>
                <a:spcPct val="110000"/>
              </a:lnSpc>
              <a:buNone/>
            </a:pPr>
            <a:r>
              <a:rPr b="1">
                <a:solidFill>
                  <a:schemeClr val="accent1"/>
                </a:solidFill>
                <a:latin typeface="Courier New"/>
                <a:ea typeface="Courier New"/>
                <a:cs typeface="Courier New"/>
              </a:rPr>
              <a:t>  FROM albums al</a:t>
            </a:r>
          </a:p>
          <a:p>
            <a:pPr marL="457200" lvl="1" indent="0">
              <a:lnSpc>
                <a:spcPct val="110000"/>
              </a:lnSpc>
              <a:buNone/>
            </a:pPr>
            <a:r>
              <a:rPr b="1">
                <a:solidFill>
                  <a:schemeClr val="accent1"/>
                </a:solidFill>
                <a:latin typeface="Courier New"/>
                <a:ea typeface="Courier New"/>
                <a:cs typeface="Courier New"/>
              </a:rPr>
              <a:t>  JOIN tracks t ON t.AlbumId  = al.AlbumId</a:t>
            </a:r>
          </a:p>
          <a:p>
            <a:pPr marL="457200" lvl="1" indent="0">
              <a:lnSpc>
                <a:spcPct val="110000"/>
              </a:lnSpc>
              <a:buNone/>
            </a:pPr>
            <a:r>
              <a:rPr b="1">
                <a:solidFill>
                  <a:schemeClr val="accent1"/>
                </a:solidFill>
                <a:latin typeface="Courier New"/>
                <a:ea typeface="Courier New"/>
                <a:cs typeface="Courier New"/>
              </a:rPr>
              <a:t>  JOIN invoice_items ii ON ii.TrackId = t.TrackId</a:t>
            </a:r>
          </a:p>
          <a:p>
            <a:pPr marL="457200" lvl="1" indent="0">
              <a:lnSpc>
                <a:spcPct val="110000"/>
              </a:lnSpc>
              <a:buNone/>
            </a:pPr>
            <a:r>
              <a:rPr b="1">
                <a:solidFill>
                  <a:srgbClr val="A0C554"/>
                </a:solidFill>
                <a:latin typeface="Courier New"/>
                <a:ea typeface="Courier New"/>
                <a:cs typeface="Courier New"/>
              </a:rPr>
              <a:t>);</a:t>
            </a:r>
          </a:p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598F70-43D9-400D-E81C-9AB331145DC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81D60167-4931-47E6-BA6A-407CBD079E47}" type="slidenum">
              <a:rPr/>
              <a:t>41</a:t>
            </a:fld>
            <a:endParaRPr/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4BA1F31E-CAB1-7F30-8E73-F1D861C1884B}"/>
              </a:ext>
            </a:extLst>
          </p:cNvPr>
          <p:cNvSpPr>
            <a:spLocks noGrp="1"/>
          </p:cNvSpPr>
          <p:nvPr/>
        </p:nvSpPr>
        <p:spPr>
          <a:xfrm>
            <a:off x="990600" y="1600200"/>
            <a:ext cx="7258040" cy="4729163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0000"/>
              </a:lnSpc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9550535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>
            <a:extLst>
              <a:ext uri="{FF2B5EF4-FFF2-40B4-BE49-F238E27FC236}">
                <a16:creationId xmlns:a16="http://schemas.microsoft.com/office/drawing/2014/main" id="{D635E047-D2D3-2F70-F04A-270D41A1B7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/>
              <a:t>Demo5</a:t>
            </a:r>
            <a:r>
              <a:t>: Same Expression? Yes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4A7D29-5498-4B3D-B727-1CC2C36F19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82148"/>
            <a:ext cx="10515600" cy="5828336"/>
          </a:xfrm>
        </p:spPr>
        <p:txBody>
          <a:bodyPr vert="horz" lIns="91440" tIns="45720" rIns="91440" bIns="45720" anchor="t">
            <a:normAutofit/>
          </a:bodyPr>
          <a:lstStyle/>
          <a:p>
            <a:pPr>
              <a:lnSpc>
                <a:spcPct val="110000"/>
              </a:lnSpc>
              <a:buNone/>
            </a:pPr>
            <a:r>
              <a:rPr sz="2400"/>
              <a:t>Tables: artists, albums, tracks, invoice_items</a:t>
            </a:r>
          </a:p>
          <a:p>
            <a:pPr>
              <a:lnSpc>
                <a:spcPct val="110000"/>
              </a:lnSpc>
              <a:buNone/>
            </a:pPr>
            <a:r>
              <a:rPr sz="2400"/>
              <a:t>Task: Find artists whose tracks have never been purchased by any customer.</a:t>
            </a:r>
          </a:p>
          <a:p>
            <a:pPr marL="457200" lvl="1" indent="0">
              <a:lnSpc>
                <a:spcPct val="110000"/>
              </a:lnSpc>
              <a:buNone/>
            </a:pPr>
            <a:r>
              <a:rPr b="1">
                <a:solidFill>
                  <a:srgbClr val="A0C554"/>
                </a:solidFill>
                <a:latin typeface="Courier New"/>
                <a:ea typeface="Courier New"/>
                <a:cs typeface="Courier New"/>
              </a:rPr>
              <a:t>SELECT DISTINCT a.ArtistId, </a:t>
            </a:r>
            <a:br>
              <a:rPr b="1">
                <a:solidFill>
                  <a:srgbClr val="A0C554"/>
                </a:solidFill>
                <a:latin typeface="Courier New"/>
                <a:ea typeface="Courier New"/>
                <a:cs typeface="Courier New"/>
              </a:rPr>
            </a:br>
            <a:r>
              <a:rPr b="1">
                <a:solidFill>
                  <a:srgbClr val="A0C554"/>
                </a:solidFill>
                <a:latin typeface="Courier New"/>
                <a:ea typeface="Courier New"/>
                <a:cs typeface="Courier New"/>
              </a:rPr>
              <a:t>a.Name</a:t>
            </a:r>
          </a:p>
          <a:p>
            <a:pPr marL="457200" lvl="1" indent="0">
              <a:lnSpc>
                <a:spcPct val="110000"/>
              </a:lnSpc>
              <a:buNone/>
            </a:pPr>
            <a:r>
              <a:rPr b="1">
                <a:solidFill>
                  <a:srgbClr val="A0C554"/>
                </a:solidFill>
                <a:latin typeface="Courier New"/>
                <a:ea typeface="Courier New"/>
                <a:cs typeface="Courier New"/>
              </a:rPr>
              <a:t>FROM artists a</a:t>
            </a:r>
          </a:p>
          <a:p>
            <a:pPr marL="457200" lvl="1" indent="0">
              <a:lnSpc>
                <a:spcPct val="110000"/>
              </a:lnSpc>
              <a:buNone/>
            </a:pPr>
            <a:r>
              <a:rPr b="1">
                <a:solidFill>
                  <a:srgbClr val="A0C554"/>
                </a:solidFill>
                <a:latin typeface="Courier New"/>
                <a:ea typeface="Courier New"/>
                <a:cs typeface="Courier New"/>
              </a:rPr>
              <a:t>LEFT JOIN albums al ON al.ArtistId = a.ArtistId</a:t>
            </a:r>
          </a:p>
          <a:p>
            <a:pPr marL="457200" lvl="1" indent="0">
              <a:lnSpc>
                <a:spcPct val="110000"/>
              </a:lnSpc>
              <a:buNone/>
            </a:pPr>
            <a:r>
              <a:rPr b="1">
                <a:solidFill>
                  <a:srgbClr val="A0C554"/>
                </a:solidFill>
                <a:latin typeface="Courier New"/>
                <a:ea typeface="Courier New"/>
                <a:cs typeface="Courier New"/>
              </a:rPr>
              <a:t>LEFT JOIN tracks t ON t.AlbumId   = al.AlbumId</a:t>
            </a:r>
          </a:p>
          <a:p>
            <a:pPr marL="457200" lvl="1" indent="0">
              <a:lnSpc>
                <a:spcPct val="110000"/>
              </a:lnSpc>
              <a:buNone/>
            </a:pPr>
            <a:r>
              <a:rPr b="1">
                <a:solidFill>
                  <a:srgbClr val="A0C554"/>
                </a:solidFill>
                <a:latin typeface="Courier New"/>
                <a:ea typeface="Courier New"/>
                <a:cs typeface="Courier New"/>
              </a:rPr>
              <a:t>LEFT JOIN invoice_items ii ON ii.TrackId  = t.TrackId</a:t>
            </a:r>
          </a:p>
          <a:p>
            <a:pPr marL="457200" lvl="1" indent="0">
              <a:lnSpc>
                <a:spcPct val="110000"/>
              </a:lnSpc>
              <a:buNone/>
            </a:pPr>
            <a:r>
              <a:rPr b="1">
                <a:solidFill>
                  <a:srgbClr val="A0C554"/>
                </a:solidFill>
                <a:latin typeface="Courier New"/>
                <a:ea typeface="Courier New"/>
                <a:cs typeface="Courier New"/>
              </a:rPr>
              <a:t>WHERE ii.TrackId IS NULL;</a:t>
            </a:r>
          </a:p>
          <a:p>
            <a:pPr>
              <a:lnSpc>
                <a:spcPct val="110000"/>
              </a:lnSpc>
              <a:buNone/>
            </a:pPr>
            <a:endParaRPr sz="2400"/>
          </a:p>
          <a:p>
            <a:pPr marL="0" indent="0">
              <a:lnSpc>
                <a:spcPct val="110000"/>
              </a:lnSpc>
              <a:buNone/>
            </a:pPr>
            <a:endParaRPr sz="2400"/>
          </a:p>
          <a:p>
            <a:endParaRPr sz="240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4A1F09-C36E-803D-9B9F-3B0BFCC09D2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81D60167-4931-47E6-BA6A-407CBD079E47}" type="slidenum">
              <a:rPr/>
              <a:t>42</a:t>
            </a:fld>
            <a:endParaRPr/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D4665285-58A1-5DFD-61CD-52E4665411A9}"/>
              </a:ext>
            </a:extLst>
          </p:cNvPr>
          <p:cNvSpPr>
            <a:spLocks noGrp="1"/>
          </p:cNvSpPr>
          <p:nvPr/>
        </p:nvSpPr>
        <p:spPr>
          <a:xfrm>
            <a:off x="990600" y="1600200"/>
            <a:ext cx="7258040" cy="4729163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0000"/>
              </a:lnSpc>
              <a:buNone/>
            </a:pPr>
            <a:endParaRPr/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A469344B-C379-4DEA-104C-5D882C4310A4}"/>
              </a:ext>
            </a:extLst>
          </p:cNvPr>
          <p:cNvSpPr>
            <a:spLocks noGrp="1"/>
          </p:cNvSpPr>
          <p:nvPr/>
        </p:nvSpPr>
        <p:spPr>
          <a:xfrm>
            <a:off x="685800" y="3110184"/>
            <a:ext cx="10820400" cy="3747815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0000"/>
              </a:lnSpc>
              <a:buNone/>
            </a:pPr>
            <a:endParaRPr sz="1800">
              <a:solidFill>
                <a:srgbClr val="A0C55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761778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>
            <a:extLst>
              <a:ext uri="{FF2B5EF4-FFF2-40B4-BE49-F238E27FC236}">
                <a16:creationId xmlns:a16="http://schemas.microsoft.com/office/drawing/2014/main" id="{2AC1D0C9-0C8E-7C43-E960-83CBFEEAB1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1B4004-9F93-4FBF-B6B1-409BDE1C76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10000"/>
              </a:lnSpc>
              <a:buNone/>
            </a:pPr>
            <a:r>
              <a:rPr b="1" dirty="0">
                <a:solidFill>
                  <a:srgbClr val="FF0000"/>
                </a:solidFill>
              </a:rPr>
              <a:t>Subqueries</a:t>
            </a:r>
            <a:r>
              <a:rPr dirty="0"/>
              <a:t> nest queries to filter or manipulate data dynamically, using operators like </a:t>
            </a:r>
            <a:r>
              <a:rPr b="1" i="1" dirty="0">
                <a:solidFill>
                  <a:schemeClr val="accent1"/>
                </a:solidFill>
              </a:rPr>
              <a:t>IN</a:t>
            </a:r>
            <a:r>
              <a:rPr dirty="0"/>
              <a:t> to check list membership, </a:t>
            </a:r>
            <a:r>
              <a:rPr b="1" i="1" dirty="0">
                <a:solidFill>
                  <a:schemeClr val="accent1"/>
                </a:solidFill>
              </a:rPr>
              <a:t>ANY</a:t>
            </a:r>
            <a:r>
              <a:rPr dirty="0"/>
              <a:t> and </a:t>
            </a:r>
            <a:r>
              <a:rPr b="1" i="1" dirty="0">
                <a:solidFill>
                  <a:schemeClr val="accent1"/>
                </a:solidFill>
              </a:rPr>
              <a:t>ALL</a:t>
            </a:r>
            <a:r>
              <a:rPr dirty="0"/>
              <a:t> for set comparisons, and </a:t>
            </a:r>
            <a:r>
              <a:rPr b="1" i="1" dirty="0">
                <a:solidFill>
                  <a:schemeClr val="accent1"/>
                </a:solidFill>
              </a:rPr>
              <a:t>EXISTS/NOT EXISTS </a:t>
            </a:r>
            <a:r>
              <a:rPr dirty="0"/>
              <a:t>for presence checks. </a:t>
            </a:r>
          </a:p>
          <a:p>
            <a:pPr lvl="1">
              <a:lnSpc>
                <a:spcPct val="110000"/>
              </a:lnSpc>
              <a:buNone/>
            </a:pPr>
            <a:r>
              <a:rPr sz="2400" b="1" i="1" dirty="0">
                <a:solidFill>
                  <a:schemeClr val="accent1"/>
                </a:solidFill>
              </a:rPr>
              <a:t>IN</a:t>
            </a:r>
            <a:r>
              <a:rPr dirty="0"/>
              <a:t>: Checks if a value is in a subquery result set.</a:t>
            </a:r>
          </a:p>
          <a:p>
            <a:pPr lvl="1">
              <a:lnSpc>
                <a:spcPct val="110000"/>
              </a:lnSpc>
              <a:buNone/>
            </a:pPr>
            <a:r>
              <a:rPr sz="2400" b="1" i="1" dirty="0">
                <a:solidFill>
                  <a:schemeClr val="accent1"/>
                </a:solidFill>
              </a:rPr>
              <a:t>EXISTS</a:t>
            </a:r>
            <a:r>
              <a:rPr dirty="0"/>
              <a:t>: Verifies if a subquery returns any rows.</a:t>
            </a:r>
          </a:p>
          <a:p>
            <a:pPr lvl="1">
              <a:lnSpc>
                <a:spcPct val="110000"/>
              </a:lnSpc>
              <a:buNone/>
            </a:pPr>
            <a:r>
              <a:rPr sz="2400" b="1" i="1" dirty="0">
                <a:solidFill>
                  <a:schemeClr val="accent1"/>
                </a:solidFill>
              </a:rPr>
              <a:t>NOT EXISTS</a:t>
            </a:r>
            <a:r>
              <a:rPr dirty="0"/>
              <a:t>: Ensures no rows are returned by a subquery.</a:t>
            </a:r>
          </a:p>
          <a:p>
            <a:pPr lvl="1">
              <a:lnSpc>
                <a:spcPct val="110000"/>
              </a:lnSpc>
              <a:buNone/>
            </a:pPr>
            <a:r>
              <a:rPr sz="2400" b="1" i="1" dirty="0">
                <a:solidFill>
                  <a:schemeClr val="accent1"/>
                </a:solidFill>
              </a:rPr>
              <a:t>ANY</a:t>
            </a:r>
            <a:r>
              <a:rPr dirty="0"/>
              <a:t>: Compares a value against any in a subquery set.</a:t>
            </a:r>
          </a:p>
          <a:p>
            <a:pPr lvl="1">
              <a:lnSpc>
                <a:spcPct val="110000"/>
              </a:lnSpc>
              <a:buNone/>
            </a:pPr>
            <a:r>
              <a:rPr sz="2400" b="1" i="1" dirty="0">
                <a:solidFill>
                  <a:schemeClr val="accent1"/>
                </a:solidFill>
              </a:rPr>
              <a:t>ALL</a:t>
            </a:r>
            <a:r>
              <a:rPr dirty="0"/>
              <a:t>: Compares a value against all in a subquery set.</a:t>
            </a:r>
          </a:p>
          <a:p>
            <a:pPr>
              <a:lnSpc>
                <a:spcPct val="110000"/>
              </a:lnSpc>
              <a:buNone/>
            </a:pPr>
            <a:r>
              <a:rPr b="1" dirty="0">
                <a:solidFill>
                  <a:srgbClr val="FF0000"/>
                </a:solidFill>
              </a:rPr>
              <a:t>Correlated queries</a:t>
            </a:r>
            <a:r>
              <a:rPr dirty="0"/>
              <a:t>, where the inner query depends on the outer, are ideal for row-by-row comparisons.</a:t>
            </a:r>
          </a:p>
          <a:p>
            <a:endParaRPr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BC7A5B-7C73-8B63-5F69-97666B37B6F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81D60167-4931-47E6-BA6A-407CBD079E47}" type="slidenum">
              <a:rPr/>
              <a:t>43</a:t>
            </a:fld>
            <a:endParaRPr/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27C3E861-4CA7-2327-45FE-5A1D64840447}"/>
              </a:ext>
            </a:extLst>
          </p:cNvPr>
          <p:cNvSpPr>
            <a:spLocks noGrp="1"/>
          </p:cNvSpPr>
          <p:nvPr/>
        </p:nvSpPr>
        <p:spPr>
          <a:xfrm>
            <a:off x="990600" y="1600200"/>
            <a:ext cx="10515600" cy="4729163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>
              <a:lnSpc>
                <a:spcPct val="110000"/>
              </a:lnSpc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6691494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8B6E58-BCC3-4843-91B5-C7451055C8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29000"/>
            <a:ext cx="10515600" cy="904875"/>
          </a:xfrm>
        </p:spPr>
        <p:txBody>
          <a:bodyPr/>
          <a:lstStyle/>
          <a:p>
            <a:r>
              <a:rPr sz="4400" b="0"/>
              <a:t>12 - Integrated Chinook Practice</a:t>
            </a:r>
          </a:p>
        </p:txBody>
      </p:sp>
      <p:sp>
        <p:nvSpPr>
          <p:cNvPr id="3" name="Slide Number Placeholder 1">
            <a:extLst>
              <a:ext uri="{FF2B5EF4-FFF2-40B4-BE49-F238E27FC236}">
                <a16:creationId xmlns:a16="http://schemas.microsoft.com/office/drawing/2014/main" id="{AEB9CEEC-98CC-D122-08AA-D490EC56DB7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4845E83-0E96-4FC2-A2F8-C06E687B247B}" type="slidenum">
              <a:rPr/>
              <a:t>44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668034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37F919-D1FC-71E3-2AE1-B4D7D11A7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2"/>
            <a:ext cx="10515600" cy="904875"/>
          </a:xfrm>
        </p:spPr>
        <p:txBody>
          <a:bodyPr/>
          <a:lstStyle/>
          <a:p>
            <a:r>
              <a:rPr sz="4400" b="0"/>
              <a:t>Practice 18: Album and Track Counts</a:t>
            </a:r>
          </a:p>
        </p:txBody>
      </p:sp>
      <p:sp>
        <p:nvSpPr>
          <p:cNvPr id="3" name="body-0">
            <a:extLst>
              <a:ext uri="{FF2B5EF4-FFF2-40B4-BE49-F238E27FC236}">
                <a16:creationId xmlns:a16="http://schemas.microsoft.com/office/drawing/2014/main" id="{911093D2-7C2F-481C-8D3C-2611C11FD0AB}"/>
              </a:ext>
            </a:extLst>
          </p:cNvPr>
          <p:cNvSpPr>
            <a:spLocks noGrp="1"/>
          </p:cNvSpPr>
          <p:nvPr/>
        </p:nvSpPr>
        <p:spPr>
          <a:xfrm>
            <a:off x="933450" y="1457325"/>
            <a:ext cx="10287000" cy="35433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1950">
                <a:solidFill>
                  <a:srgbClr val="525308"/>
                </a:solidFill>
                <a:latin typeface="Calibri"/>
                <a:ea typeface="Calibri"/>
                <a:cs typeface="Calibri"/>
              </a:defRPr>
            </a:pPr>
            <a:r>
              <a:rPr sz="1950">
                <a:solidFill>
                  <a:srgbClr val="525308"/>
                </a:solidFill>
                <a:latin typeface="Calibri"/>
                <a:ea typeface="Calibri"/>
                <a:cs typeface="Calibri"/>
              </a:rPr>
              <a:t>Database: chinook.db</a:t>
            </a:r>
          </a:p>
        </p:txBody>
      </p:sp>
      <p:sp>
        <p:nvSpPr>
          <p:cNvPr id="4" name="body-1">
            <a:extLst>
              <a:ext uri="{FF2B5EF4-FFF2-40B4-BE49-F238E27FC236}">
                <a16:creationId xmlns:a16="http://schemas.microsoft.com/office/drawing/2014/main" id="{1C7E6D9D-8EEA-4749-9A19-86D588019D06}"/>
              </a:ext>
            </a:extLst>
          </p:cNvPr>
          <p:cNvSpPr>
            <a:spLocks noGrp="1"/>
          </p:cNvSpPr>
          <p:nvPr/>
        </p:nvSpPr>
        <p:spPr>
          <a:xfrm>
            <a:off x="933450" y="2059305"/>
            <a:ext cx="10287000" cy="4229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4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1. For every artist, return </a:t>
            </a:r>
            <a:r>
              <a:rPr sz="2400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ArtistId</a:t>
            </a:r>
            <a:r>
              <a:rPr sz="24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, Name, </a:t>
            </a:r>
            <a:r>
              <a:rPr sz="2400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album_cnt</a:t>
            </a:r>
            <a:r>
              <a:rPr lang="en-US" sz="24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(count)</a:t>
            </a:r>
            <a:r>
              <a:rPr sz="24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and </a:t>
            </a:r>
            <a:r>
              <a:rPr sz="2400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track_cnt</a:t>
            </a:r>
            <a:r>
              <a:rPr lang="en-US" sz="24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(count)</a:t>
            </a:r>
            <a:r>
              <a:rPr sz="24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5" name="body-2">
            <a:extLst>
              <a:ext uri="{FF2B5EF4-FFF2-40B4-BE49-F238E27FC236}">
                <a16:creationId xmlns:a16="http://schemas.microsoft.com/office/drawing/2014/main" id="{72279F7E-D55D-4F73-928B-0F3CECBC2D7C}"/>
              </a:ext>
            </a:extLst>
          </p:cNvPr>
          <p:cNvSpPr>
            <a:spLocks noGrp="1"/>
          </p:cNvSpPr>
          <p:nvPr/>
        </p:nvSpPr>
        <p:spPr>
          <a:xfrm>
            <a:off x="933450" y="2710815"/>
            <a:ext cx="10287000" cy="4229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4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2. Keep artists with zero albums/tracks.</a:t>
            </a:r>
          </a:p>
        </p:txBody>
      </p:sp>
      <p:sp>
        <p:nvSpPr>
          <p:cNvPr id="6" name="body-3">
            <a:extLst>
              <a:ext uri="{FF2B5EF4-FFF2-40B4-BE49-F238E27FC236}">
                <a16:creationId xmlns:a16="http://schemas.microsoft.com/office/drawing/2014/main" id="{9A68C61C-696A-4DA4-B3A8-9B43E56BE0A4}"/>
              </a:ext>
            </a:extLst>
          </p:cNvPr>
          <p:cNvSpPr>
            <a:spLocks noGrp="1"/>
          </p:cNvSpPr>
          <p:nvPr/>
        </p:nvSpPr>
        <p:spPr>
          <a:xfrm>
            <a:off x="933450" y="3362325"/>
            <a:ext cx="10287000" cy="4229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4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3. Order by </a:t>
            </a:r>
            <a:r>
              <a:rPr sz="2400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track_cnt</a:t>
            </a:r>
            <a:r>
              <a:rPr sz="24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descending, then </a:t>
            </a:r>
            <a:r>
              <a:rPr sz="2400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ArtistId</a:t>
            </a:r>
            <a:r>
              <a:rPr sz="24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7" name="practice-time">
            <a:extLst>
              <a:ext uri="{FF2B5EF4-FFF2-40B4-BE49-F238E27FC236}">
                <a16:creationId xmlns:a16="http://schemas.microsoft.com/office/drawing/2014/main" id="{F547E2C5-5C9F-49F1-AB1B-EC40A54805EF}"/>
              </a:ext>
            </a:extLst>
          </p:cNvPr>
          <p:cNvSpPr>
            <a:spLocks noGrp="1"/>
          </p:cNvSpPr>
          <p:nvPr/>
        </p:nvSpPr>
        <p:spPr>
          <a:xfrm>
            <a:off x="933450" y="6134100"/>
            <a:ext cx="10096500" cy="3143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1725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pPr>
            <a:r>
              <a:rPr sz="1725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Write, run and check: about 5 minutes.</a:t>
            </a:r>
          </a:p>
        </p:txBody>
      </p:sp>
      <p:sp>
        <p:nvSpPr>
          <p:cNvPr id="8" name="灯片编号占位符 3">
            <a:extLst>
              <a:ext uri="{FF2B5EF4-FFF2-40B4-BE49-F238E27FC236}">
                <a16:creationId xmlns:a16="http://schemas.microsoft.com/office/drawing/2014/main" id="{0404DEAB-D70C-B14C-5DEF-01CD0888C12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7AED2C7D-F957-4DD0-9E0D-C651C0C06F55}" type="slidenum">
              <a:rPr/>
              <a:t>45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9883852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2EF3F9A-220A-8D88-0D15-ED7B7ECFD8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2"/>
            <a:ext cx="10515600" cy="904875"/>
          </a:xfrm>
        </p:spPr>
        <p:txBody>
          <a:bodyPr/>
          <a:lstStyle/>
          <a:p>
            <a:r>
              <a:rPr sz="4175" b="0"/>
              <a:t>Solution 18: Count Each Relationship Separately</a:t>
            </a:r>
          </a:p>
        </p:txBody>
      </p:sp>
      <p:sp>
        <p:nvSpPr>
          <p:cNvPr id="3" name="body-0">
            <a:extLst>
              <a:ext uri="{FF2B5EF4-FFF2-40B4-BE49-F238E27FC236}">
                <a16:creationId xmlns:a16="http://schemas.microsoft.com/office/drawing/2014/main" id="{EC8B53D5-D279-46BE-86E6-B180D6A659CE}"/>
              </a:ext>
            </a:extLst>
          </p:cNvPr>
          <p:cNvSpPr>
            <a:spLocks noGrp="1"/>
          </p:cNvSpPr>
          <p:nvPr/>
        </p:nvSpPr>
        <p:spPr>
          <a:xfrm>
            <a:off x="933450" y="1457325"/>
            <a:ext cx="10287000" cy="2665476"/>
          </a:xfrm>
          <a:prstGeom prst="rect">
            <a:avLst/>
          </a:prstGeom>
          <a:solidFill>
            <a:srgbClr val="EBF0DE"/>
          </a:solidFill>
          <a:ln w="25718">
            <a:solidFill>
              <a:srgbClr val="525308"/>
            </a:solidFill>
          </a:ln>
        </p:spPr>
        <p:txBody>
          <a:bodyPr wrap="none" lIns="95250" tIns="66675" rIns="95250" bIns="0" anchor="t">
            <a:noAutofit/>
          </a:bodyPr>
          <a:lstStyle/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SELECT </a:t>
            </a:r>
            <a:r>
              <a:rPr sz="2100" dirty="0" err="1">
                <a:solidFill>
                  <a:srgbClr val="525308"/>
                </a:solidFill>
                <a:latin typeface="Arial"/>
                <a:ea typeface="Arial"/>
                <a:cs typeface="Arial"/>
              </a:rPr>
              <a:t>a.ArtistId</a:t>
            </a: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, </a:t>
            </a:r>
            <a:r>
              <a:rPr sz="2100" dirty="0" err="1">
                <a:solidFill>
                  <a:srgbClr val="525308"/>
                </a:solidFill>
                <a:latin typeface="Arial"/>
                <a:ea typeface="Arial"/>
                <a:cs typeface="Arial"/>
              </a:rPr>
              <a:t>a.Name</a:t>
            </a: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,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 (SELECT COUNT(*) FROM albums al</a:t>
            </a:r>
            <a:r>
              <a:rPr lang="en-US" altLang="en-US"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 </a:t>
            </a:r>
            <a:endParaRPr lang="en-US" sz="2100" dirty="0">
              <a:solidFill>
                <a:srgbClr val="525308"/>
              </a:solidFill>
              <a:latin typeface="Arial"/>
              <a:ea typeface="Arial"/>
              <a:cs typeface="Arial"/>
            </a:endParaRP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lang="en-US"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  WHERE </a:t>
            </a:r>
            <a:r>
              <a:rPr lang="en-US" sz="2100" dirty="0" err="1">
                <a:solidFill>
                  <a:srgbClr val="525308"/>
                </a:solidFill>
                <a:latin typeface="Arial"/>
                <a:ea typeface="Arial"/>
                <a:cs typeface="Arial"/>
              </a:rPr>
              <a:t>al.ArtistId</a:t>
            </a:r>
            <a:r>
              <a:rPr lang="en-US"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 = </a:t>
            </a:r>
            <a:r>
              <a:rPr lang="en-US" sz="2100" dirty="0" err="1">
                <a:solidFill>
                  <a:srgbClr val="525308"/>
                </a:solidFill>
                <a:latin typeface="Arial"/>
                <a:ea typeface="Arial"/>
                <a:cs typeface="Arial"/>
              </a:rPr>
              <a:t>a.ArtistId</a:t>
            </a:r>
            <a:r>
              <a:rPr lang="en-US"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) AS </a:t>
            </a:r>
            <a:r>
              <a:rPr lang="en-US" sz="2100" dirty="0" err="1">
                <a:solidFill>
                  <a:srgbClr val="525308"/>
                </a:solidFill>
                <a:latin typeface="Arial"/>
                <a:ea typeface="Arial"/>
                <a:cs typeface="Arial"/>
              </a:rPr>
              <a:t>album_cnt</a:t>
            </a:r>
            <a:r>
              <a:rPr lang="en-US"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,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 (SELECT COUNT(*) FROM tracks t</a:t>
            </a:r>
            <a:endParaRPr lang="en-US" sz="2100" dirty="0">
              <a:solidFill>
                <a:srgbClr val="525308"/>
              </a:solidFill>
              <a:latin typeface="Arial"/>
              <a:ea typeface="Arial"/>
              <a:cs typeface="Arial"/>
            </a:endParaRP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lang="en-US"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  JOIN albums al ON </a:t>
            </a:r>
            <a:r>
              <a:rPr lang="en-US" sz="2100" dirty="0" err="1">
                <a:solidFill>
                  <a:srgbClr val="525308"/>
                </a:solidFill>
                <a:latin typeface="Arial"/>
                <a:ea typeface="Arial"/>
                <a:cs typeface="Arial"/>
              </a:rPr>
              <a:t>al.AlbumId</a:t>
            </a:r>
            <a:r>
              <a:rPr lang="en-US"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 = </a:t>
            </a:r>
            <a:r>
              <a:rPr lang="en-US" sz="2100" dirty="0" err="1">
                <a:solidFill>
                  <a:srgbClr val="525308"/>
                </a:solidFill>
                <a:latin typeface="Arial"/>
                <a:ea typeface="Arial"/>
                <a:cs typeface="Arial"/>
              </a:rPr>
              <a:t>t.AlbumId</a:t>
            </a:r>
            <a:endParaRPr lang="en-US" sz="2100" dirty="0">
              <a:solidFill>
                <a:srgbClr val="525308"/>
              </a:solidFill>
              <a:latin typeface="Arial"/>
              <a:ea typeface="Arial"/>
              <a:cs typeface="Arial"/>
            </a:endParaRP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  WHERE </a:t>
            </a:r>
            <a:r>
              <a:rPr sz="2100" dirty="0" err="1">
                <a:solidFill>
                  <a:srgbClr val="525308"/>
                </a:solidFill>
                <a:latin typeface="Arial"/>
                <a:ea typeface="Arial"/>
                <a:cs typeface="Arial"/>
              </a:rPr>
              <a:t>al.ArtistId</a:t>
            </a: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 = </a:t>
            </a:r>
            <a:r>
              <a:rPr sz="2100" dirty="0" err="1">
                <a:solidFill>
                  <a:srgbClr val="525308"/>
                </a:solidFill>
                <a:latin typeface="Arial"/>
                <a:ea typeface="Arial"/>
                <a:cs typeface="Arial"/>
              </a:rPr>
              <a:t>a.ArtistId</a:t>
            </a: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) AS </a:t>
            </a:r>
            <a:r>
              <a:rPr sz="2100" dirty="0" err="1">
                <a:solidFill>
                  <a:srgbClr val="525308"/>
                </a:solidFill>
                <a:latin typeface="Arial"/>
                <a:ea typeface="Arial"/>
                <a:cs typeface="Arial"/>
              </a:rPr>
              <a:t>track_cnt</a:t>
            </a:r>
            <a:endParaRPr sz="2100" dirty="0">
              <a:solidFill>
                <a:srgbClr val="525308"/>
              </a:solidFill>
              <a:latin typeface="Arial"/>
              <a:ea typeface="Arial"/>
              <a:cs typeface="Arial"/>
            </a:endParaRP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FROM artists a</a:t>
            </a:r>
            <a:endParaRPr lang="en-US" sz="2100" dirty="0">
              <a:solidFill>
                <a:srgbClr val="525308"/>
              </a:solidFill>
              <a:latin typeface="Arial"/>
              <a:ea typeface="Arial"/>
              <a:cs typeface="Arial"/>
            </a:endParaRP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lang="en-US"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ORDER BY </a:t>
            </a:r>
            <a:r>
              <a:rPr lang="en-US" sz="2100" dirty="0" err="1">
                <a:solidFill>
                  <a:srgbClr val="525308"/>
                </a:solidFill>
                <a:latin typeface="Arial"/>
                <a:ea typeface="Arial"/>
                <a:cs typeface="Arial"/>
              </a:rPr>
              <a:t>track_cnt</a:t>
            </a:r>
            <a:r>
              <a:rPr lang="en-US"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 DESC, </a:t>
            </a:r>
            <a:r>
              <a:rPr lang="en-US" sz="2100" dirty="0" err="1">
                <a:solidFill>
                  <a:srgbClr val="525308"/>
                </a:solidFill>
                <a:latin typeface="Arial"/>
                <a:ea typeface="Arial"/>
                <a:cs typeface="Arial"/>
              </a:rPr>
              <a:t>a.ArtistId</a:t>
            </a:r>
            <a:r>
              <a:rPr lang="en-US"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;</a:t>
            </a:r>
          </a:p>
        </p:txBody>
      </p:sp>
      <p:sp>
        <p:nvSpPr>
          <p:cNvPr id="4" name="body-1">
            <a:extLst>
              <a:ext uri="{FF2B5EF4-FFF2-40B4-BE49-F238E27FC236}">
                <a16:creationId xmlns:a16="http://schemas.microsoft.com/office/drawing/2014/main" id="{2DEE2A4F-F81F-4AED-A0D3-09F9F292FEDC}"/>
              </a:ext>
            </a:extLst>
          </p:cNvPr>
          <p:cNvSpPr>
            <a:spLocks noGrp="1"/>
          </p:cNvSpPr>
          <p:nvPr/>
        </p:nvSpPr>
        <p:spPr>
          <a:xfrm>
            <a:off x="933450" y="4341876"/>
            <a:ext cx="10287000" cy="365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2025">
                <a:solidFill>
                  <a:srgbClr val="525308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525308"/>
                </a:solidFill>
                <a:latin typeface="Calibri"/>
                <a:ea typeface="Calibri"/>
                <a:cs typeface="Calibri"/>
              </a:rPr>
              <a:t>Each scalar aggregate returns 0 when no matching row exists.</a:t>
            </a:r>
          </a:p>
        </p:txBody>
      </p:sp>
      <p:sp>
        <p:nvSpPr>
          <p:cNvPr id="5" name="灯片编号占位符 3">
            <a:extLst>
              <a:ext uri="{FF2B5EF4-FFF2-40B4-BE49-F238E27FC236}">
                <a16:creationId xmlns:a16="http://schemas.microsoft.com/office/drawing/2014/main" id="{604707A8-6A7B-0AD7-48E4-AC3B097D584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7AED2C7D-F957-4DD0-9E0D-C651C0C06F55}" type="slidenum">
              <a:rPr/>
              <a:t>46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5031301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8210BB0-9CC0-0DBA-2750-7D41DBBB0F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2"/>
            <a:ext cx="10515600" cy="904875"/>
          </a:xfrm>
        </p:spPr>
        <p:txBody>
          <a:bodyPr/>
          <a:lstStyle/>
          <a:p>
            <a:r>
              <a:rPr sz="4400" b="0"/>
              <a:t>Solution 18: JOIN Alternative</a:t>
            </a:r>
          </a:p>
        </p:txBody>
      </p:sp>
      <p:sp>
        <p:nvSpPr>
          <p:cNvPr id="3" name="body-0">
            <a:extLst>
              <a:ext uri="{FF2B5EF4-FFF2-40B4-BE49-F238E27FC236}">
                <a16:creationId xmlns:a16="http://schemas.microsoft.com/office/drawing/2014/main" id="{3F6A23A8-78B7-427E-B7DA-732832D9C156}"/>
              </a:ext>
            </a:extLst>
          </p:cNvPr>
          <p:cNvSpPr>
            <a:spLocks noGrp="1"/>
          </p:cNvSpPr>
          <p:nvPr/>
        </p:nvSpPr>
        <p:spPr>
          <a:xfrm>
            <a:off x="933450" y="1457325"/>
            <a:ext cx="10287000" cy="2665476"/>
          </a:xfrm>
          <a:prstGeom prst="rect">
            <a:avLst/>
          </a:prstGeom>
          <a:solidFill>
            <a:srgbClr val="EBF0DE"/>
          </a:solidFill>
          <a:ln w="25718">
            <a:solidFill>
              <a:srgbClr val="525308"/>
            </a:solidFill>
          </a:ln>
        </p:spPr>
        <p:txBody>
          <a:bodyPr wrap="none" lIns="95250" tIns="66675" rIns="95250" bIns="0" anchor="t">
            <a:noAutofit/>
          </a:bodyPr>
          <a:lstStyle/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25308"/>
                </a:solidFill>
                <a:latin typeface="Arial"/>
                <a:ea typeface="Arial"/>
                <a:cs typeface="Arial"/>
              </a:rPr>
              <a:t>SELECT a.ArtistId, a.Name,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25308"/>
                </a:solidFill>
                <a:latin typeface="Arial"/>
                <a:ea typeface="Arial"/>
                <a:cs typeface="Arial"/>
              </a:rPr>
              <a:t>       COUNT(DISTINCT al.AlbumId) AS album_cnt,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25308"/>
                </a:solidFill>
                <a:latin typeface="Arial"/>
                <a:ea typeface="Arial"/>
                <a:cs typeface="Arial"/>
              </a:rPr>
              <a:t>       COUNT(t.TrackId) AS track_cnt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25308"/>
                </a:solidFill>
                <a:latin typeface="Arial"/>
                <a:ea typeface="Arial"/>
                <a:cs typeface="Arial"/>
              </a:rPr>
              <a:t>FROM artists a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25308"/>
                </a:solidFill>
                <a:latin typeface="Arial"/>
                <a:ea typeface="Arial"/>
                <a:cs typeface="Arial"/>
              </a:rPr>
              <a:t>LEFT JOIN albums al ON al.ArtistId = a.ArtistId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25308"/>
                </a:solidFill>
                <a:latin typeface="Arial"/>
                <a:ea typeface="Arial"/>
                <a:cs typeface="Arial"/>
              </a:rPr>
              <a:t>LEFT JOIN tracks t ON t.AlbumId = al.AlbumId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25308"/>
                </a:solidFill>
                <a:latin typeface="Arial"/>
                <a:ea typeface="Arial"/>
                <a:cs typeface="Arial"/>
              </a:rPr>
              <a:t>GROUP BY a.ArtistId, a.Name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25308"/>
                </a:solidFill>
                <a:latin typeface="Arial"/>
                <a:ea typeface="Arial"/>
                <a:cs typeface="Arial"/>
              </a:rPr>
              <a:t>ORDER BY track_cnt DESC, a.ArtistId;</a:t>
            </a:r>
          </a:p>
        </p:txBody>
      </p:sp>
      <p:sp>
        <p:nvSpPr>
          <p:cNvPr id="4" name="body-1">
            <a:extLst>
              <a:ext uri="{FF2B5EF4-FFF2-40B4-BE49-F238E27FC236}">
                <a16:creationId xmlns:a16="http://schemas.microsoft.com/office/drawing/2014/main" id="{9DD5EEC6-D0EF-41BA-A3D5-582EE1F0C1EA}"/>
              </a:ext>
            </a:extLst>
          </p:cNvPr>
          <p:cNvSpPr>
            <a:spLocks noGrp="1"/>
          </p:cNvSpPr>
          <p:nvPr/>
        </p:nvSpPr>
        <p:spPr>
          <a:xfrm>
            <a:off x="933450" y="4341876"/>
            <a:ext cx="10287000" cy="365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2025">
                <a:solidFill>
                  <a:srgbClr val="525308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525308"/>
                </a:solidFill>
                <a:latin typeface="Calibri"/>
                <a:ea typeface="Calibri"/>
                <a:cs typeface="Calibri"/>
              </a:rPr>
              <a:t>A two-track album occupies two joined rows. DISTINCT prevents counting that album twice.</a:t>
            </a:r>
          </a:p>
        </p:txBody>
      </p:sp>
      <p:sp>
        <p:nvSpPr>
          <p:cNvPr id="5" name="灯片编号占位符 3">
            <a:extLst>
              <a:ext uri="{FF2B5EF4-FFF2-40B4-BE49-F238E27FC236}">
                <a16:creationId xmlns:a16="http://schemas.microsoft.com/office/drawing/2014/main" id="{C044635A-D024-5383-306C-1E8BFBB9109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7AED2C7D-F957-4DD0-9E0D-C651C0C06F55}" type="slidenum">
              <a:rPr/>
              <a:t>47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9524524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3D86E3-4291-F4AC-11FF-7C0EBC7A03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2"/>
            <a:ext cx="10515600" cy="904875"/>
          </a:xfrm>
        </p:spPr>
        <p:txBody>
          <a:bodyPr/>
          <a:lstStyle/>
          <a:p>
            <a:r>
              <a:rPr sz="4400" b="0"/>
              <a:t>Practice 19: Highest Price in Each Genre</a:t>
            </a:r>
          </a:p>
        </p:txBody>
      </p:sp>
      <p:sp>
        <p:nvSpPr>
          <p:cNvPr id="3" name="body-0">
            <a:extLst>
              <a:ext uri="{FF2B5EF4-FFF2-40B4-BE49-F238E27FC236}">
                <a16:creationId xmlns:a16="http://schemas.microsoft.com/office/drawing/2014/main" id="{D0A7F6E8-628A-4FC1-A38B-23071E47F50A}"/>
              </a:ext>
            </a:extLst>
          </p:cNvPr>
          <p:cNvSpPr>
            <a:spLocks noGrp="1"/>
          </p:cNvSpPr>
          <p:nvPr/>
        </p:nvSpPr>
        <p:spPr>
          <a:xfrm>
            <a:off x="933450" y="1457325"/>
            <a:ext cx="10287000" cy="35433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1950">
                <a:solidFill>
                  <a:srgbClr val="525308"/>
                </a:solidFill>
                <a:latin typeface="Calibri"/>
                <a:ea typeface="Calibri"/>
                <a:cs typeface="Calibri"/>
              </a:defRPr>
            </a:pPr>
            <a:r>
              <a:rPr sz="1950">
                <a:solidFill>
                  <a:srgbClr val="525308"/>
                </a:solidFill>
                <a:latin typeface="Calibri"/>
                <a:ea typeface="Calibri"/>
                <a:cs typeface="Calibri"/>
              </a:rPr>
              <a:t>Database: chinook.db</a:t>
            </a:r>
          </a:p>
        </p:txBody>
      </p:sp>
      <p:sp>
        <p:nvSpPr>
          <p:cNvPr id="4" name="body-1">
            <a:extLst>
              <a:ext uri="{FF2B5EF4-FFF2-40B4-BE49-F238E27FC236}">
                <a16:creationId xmlns:a16="http://schemas.microsoft.com/office/drawing/2014/main" id="{C8D8DBF2-4461-42FE-89A5-FA0026410432}"/>
              </a:ext>
            </a:extLst>
          </p:cNvPr>
          <p:cNvSpPr>
            <a:spLocks noGrp="1"/>
          </p:cNvSpPr>
          <p:nvPr/>
        </p:nvSpPr>
        <p:spPr>
          <a:xfrm>
            <a:off x="933450" y="2059305"/>
            <a:ext cx="10287000" cy="4229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1. Find all tracks at the maximum UnitPrice within their genre.</a:t>
            </a:r>
          </a:p>
        </p:txBody>
      </p:sp>
      <p:sp>
        <p:nvSpPr>
          <p:cNvPr id="5" name="body-2">
            <a:extLst>
              <a:ext uri="{FF2B5EF4-FFF2-40B4-BE49-F238E27FC236}">
                <a16:creationId xmlns:a16="http://schemas.microsoft.com/office/drawing/2014/main" id="{C0DB09AD-5C4C-4D71-A0C5-D633FF55DDB9}"/>
              </a:ext>
            </a:extLst>
          </p:cNvPr>
          <p:cNvSpPr>
            <a:spLocks noGrp="1"/>
          </p:cNvSpPr>
          <p:nvPr/>
        </p:nvSpPr>
        <p:spPr>
          <a:xfrm>
            <a:off x="933450" y="2710815"/>
            <a:ext cx="10287000" cy="4229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2. Keep every tie. Return GenreName, TrackId, Name and UnitPrice.</a:t>
            </a:r>
          </a:p>
        </p:txBody>
      </p:sp>
      <p:sp>
        <p:nvSpPr>
          <p:cNvPr id="6" name="practice-time">
            <a:extLst>
              <a:ext uri="{FF2B5EF4-FFF2-40B4-BE49-F238E27FC236}">
                <a16:creationId xmlns:a16="http://schemas.microsoft.com/office/drawing/2014/main" id="{49C19FD4-0E60-4D2D-97F3-253BA8BE2ADA}"/>
              </a:ext>
            </a:extLst>
          </p:cNvPr>
          <p:cNvSpPr>
            <a:spLocks noGrp="1"/>
          </p:cNvSpPr>
          <p:nvPr/>
        </p:nvSpPr>
        <p:spPr>
          <a:xfrm>
            <a:off x="933450" y="6134100"/>
            <a:ext cx="10096500" cy="3143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1725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pPr>
            <a:r>
              <a:rPr sz="1725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Write, run and check: about 5 minutes.</a:t>
            </a:r>
          </a:p>
        </p:txBody>
      </p:sp>
      <p:sp>
        <p:nvSpPr>
          <p:cNvPr id="7" name="灯片编号占位符 3">
            <a:extLst>
              <a:ext uri="{FF2B5EF4-FFF2-40B4-BE49-F238E27FC236}">
                <a16:creationId xmlns:a16="http://schemas.microsoft.com/office/drawing/2014/main" id="{D6B333C1-10F7-86F4-E2B3-E812E0CDEFB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7AED2C7D-F957-4DD0-9E0D-C651C0C06F55}" type="slidenum">
              <a:rPr/>
              <a:t>48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2187921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EBB3A4-6D3B-67C0-8D1F-1696978B44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2"/>
            <a:ext cx="10515600" cy="904875"/>
          </a:xfrm>
        </p:spPr>
        <p:txBody>
          <a:bodyPr/>
          <a:lstStyle/>
          <a:p>
            <a:r>
              <a:rPr sz="4400" b="0"/>
              <a:t>Solution 19: Keep Every Maximum</a:t>
            </a:r>
          </a:p>
        </p:txBody>
      </p:sp>
      <p:sp>
        <p:nvSpPr>
          <p:cNvPr id="3" name="body-0">
            <a:extLst>
              <a:ext uri="{FF2B5EF4-FFF2-40B4-BE49-F238E27FC236}">
                <a16:creationId xmlns:a16="http://schemas.microsoft.com/office/drawing/2014/main" id="{AA717ACF-090B-4FBE-A459-F8F6606D8839}"/>
              </a:ext>
            </a:extLst>
          </p:cNvPr>
          <p:cNvSpPr>
            <a:spLocks noGrp="1"/>
          </p:cNvSpPr>
          <p:nvPr/>
        </p:nvSpPr>
        <p:spPr>
          <a:xfrm>
            <a:off x="933450" y="1457325"/>
            <a:ext cx="10287000" cy="2665476"/>
          </a:xfrm>
          <a:prstGeom prst="rect">
            <a:avLst/>
          </a:prstGeom>
          <a:solidFill>
            <a:srgbClr val="EBF0DE"/>
          </a:solidFill>
          <a:ln w="25718">
            <a:solidFill>
              <a:srgbClr val="525308"/>
            </a:solidFill>
          </a:ln>
        </p:spPr>
        <p:txBody>
          <a:bodyPr wrap="none" lIns="95250" tIns="66675" rIns="95250" bIns="0" anchor="t">
            <a:noAutofit/>
          </a:bodyPr>
          <a:lstStyle/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25308"/>
                </a:solidFill>
                <a:latin typeface="Arial"/>
                <a:ea typeface="Arial"/>
                <a:cs typeface="Arial"/>
              </a:rPr>
              <a:t>SELECT g.Name AS GenreName,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25308"/>
                </a:solidFill>
                <a:latin typeface="Arial"/>
                <a:ea typeface="Arial"/>
                <a:cs typeface="Arial"/>
              </a:rPr>
              <a:t>       t.TrackId, t.Name, t.UnitPrice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25308"/>
                </a:solidFill>
                <a:latin typeface="Arial"/>
                <a:ea typeface="Arial"/>
                <a:cs typeface="Arial"/>
              </a:rPr>
              <a:t>FROM tracks t JOIN genres g ON g.GenreId = t.GenreId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25308"/>
                </a:solidFill>
                <a:latin typeface="Arial"/>
                <a:ea typeface="Arial"/>
                <a:cs typeface="Arial"/>
              </a:rPr>
              <a:t>WHERE t.UnitPrice = (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25308"/>
                </a:solidFill>
                <a:latin typeface="Arial"/>
                <a:ea typeface="Arial"/>
                <a:cs typeface="Arial"/>
              </a:rPr>
              <a:t>    SELECT MAX(t2.UnitPrice) FROM tracks t2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25308"/>
                </a:solidFill>
                <a:latin typeface="Arial"/>
                <a:ea typeface="Arial"/>
                <a:cs typeface="Arial"/>
              </a:rPr>
              <a:t>    WHERE t2.GenreId = t.GenreId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25308"/>
                </a:solidFill>
                <a:latin typeface="Arial"/>
                <a:ea typeface="Arial"/>
                <a:cs typeface="Arial"/>
              </a:rPr>
              <a:t>)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25308"/>
                </a:solidFill>
                <a:latin typeface="Arial"/>
                <a:ea typeface="Arial"/>
                <a:cs typeface="Arial"/>
              </a:rPr>
              <a:t>ORDER BY g.GenreId, t.TrackId;</a:t>
            </a:r>
          </a:p>
        </p:txBody>
      </p:sp>
      <p:sp>
        <p:nvSpPr>
          <p:cNvPr id="4" name="body-1">
            <a:extLst>
              <a:ext uri="{FF2B5EF4-FFF2-40B4-BE49-F238E27FC236}">
                <a16:creationId xmlns:a16="http://schemas.microsoft.com/office/drawing/2014/main" id="{C13BF08F-198D-4A68-947C-4091F0C9D04F}"/>
              </a:ext>
            </a:extLst>
          </p:cNvPr>
          <p:cNvSpPr>
            <a:spLocks noGrp="1"/>
          </p:cNvSpPr>
          <p:nvPr/>
        </p:nvSpPr>
        <p:spPr>
          <a:xfrm>
            <a:off x="933450" y="4341876"/>
            <a:ext cx="10287000" cy="365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2025">
                <a:solidFill>
                  <a:srgbClr val="525308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525308"/>
                </a:solidFill>
                <a:latin typeface="Calibri"/>
                <a:ea typeface="Calibri"/>
                <a:cs typeface="Calibri"/>
              </a:rPr>
              <a:t>A bare Name / TrackId beside MAX does not return all tied tracks.</a:t>
            </a:r>
          </a:p>
        </p:txBody>
      </p:sp>
      <p:sp>
        <p:nvSpPr>
          <p:cNvPr id="5" name="灯片编号占位符 3">
            <a:extLst>
              <a:ext uri="{FF2B5EF4-FFF2-40B4-BE49-F238E27FC236}">
                <a16:creationId xmlns:a16="http://schemas.microsoft.com/office/drawing/2014/main" id="{7BAAD65B-D316-2CEE-970A-0D8206A8099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7AED2C7D-F957-4DD0-9E0D-C651C0C06F55}" type="slidenum">
              <a:rPr/>
              <a:t>49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4796030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2EAF532-E6FA-9B7B-62A2-3B91B6A7C6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2"/>
            <a:ext cx="10515600" cy="904875"/>
          </a:xfrm>
        </p:spPr>
        <p:txBody>
          <a:bodyPr/>
          <a:lstStyle/>
          <a:p>
            <a:r>
              <a:rPr sz="4175" b="0"/>
              <a:t>Practice 20: Purchased by a Canadian Customer</a:t>
            </a:r>
          </a:p>
        </p:txBody>
      </p:sp>
      <p:sp>
        <p:nvSpPr>
          <p:cNvPr id="3" name="body-0">
            <a:extLst>
              <a:ext uri="{FF2B5EF4-FFF2-40B4-BE49-F238E27FC236}">
                <a16:creationId xmlns:a16="http://schemas.microsoft.com/office/drawing/2014/main" id="{4FFD0C5B-1264-45B1-A0E6-A868CB24DED1}"/>
              </a:ext>
            </a:extLst>
          </p:cNvPr>
          <p:cNvSpPr>
            <a:spLocks noGrp="1"/>
          </p:cNvSpPr>
          <p:nvPr/>
        </p:nvSpPr>
        <p:spPr>
          <a:xfrm>
            <a:off x="933450" y="1457325"/>
            <a:ext cx="10287000" cy="35433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1950">
                <a:solidFill>
                  <a:srgbClr val="525308"/>
                </a:solidFill>
                <a:latin typeface="Calibri"/>
                <a:ea typeface="Calibri"/>
                <a:cs typeface="Calibri"/>
              </a:defRPr>
            </a:pPr>
            <a:r>
              <a:rPr sz="1950">
                <a:solidFill>
                  <a:srgbClr val="525308"/>
                </a:solidFill>
                <a:latin typeface="Calibri"/>
                <a:ea typeface="Calibri"/>
                <a:cs typeface="Calibri"/>
              </a:rPr>
              <a:t>Database: chinook.db</a:t>
            </a:r>
          </a:p>
        </p:txBody>
      </p:sp>
      <p:sp>
        <p:nvSpPr>
          <p:cNvPr id="4" name="body-1">
            <a:extLst>
              <a:ext uri="{FF2B5EF4-FFF2-40B4-BE49-F238E27FC236}">
                <a16:creationId xmlns:a16="http://schemas.microsoft.com/office/drawing/2014/main" id="{E1D7EA6C-B869-41B6-87F1-96C6A80FF455}"/>
              </a:ext>
            </a:extLst>
          </p:cNvPr>
          <p:cNvSpPr>
            <a:spLocks noGrp="1"/>
          </p:cNvSpPr>
          <p:nvPr/>
        </p:nvSpPr>
        <p:spPr>
          <a:xfrm>
            <a:off x="933450" y="2059305"/>
            <a:ext cx="10287000" cy="4229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1. Return tracks purchased by at least one customer from Canada.</a:t>
            </a:r>
          </a:p>
        </p:txBody>
      </p:sp>
      <p:sp>
        <p:nvSpPr>
          <p:cNvPr id="5" name="body-2">
            <a:extLst>
              <a:ext uri="{FF2B5EF4-FFF2-40B4-BE49-F238E27FC236}">
                <a16:creationId xmlns:a16="http://schemas.microsoft.com/office/drawing/2014/main" id="{3BB38F10-5CAA-4F19-A0DD-90C964AB7D37}"/>
              </a:ext>
            </a:extLst>
          </p:cNvPr>
          <p:cNvSpPr>
            <a:spLocks noGrp="1"/>
          </p:cNvSpPr>
          <p:nvPr/>
        </p:nvSpPr>
        <p:spPr>
          <a:xfrm>
            <a:off x="933450" y="2710815"/>
            <a:ext cx="10287000" cy="4229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4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2. Return </a:t>
            </a:r>
            <a:r>
              <a:rPr sz="2400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TrackId</a:t>
            </a:r>
            <a:r>
              <a:rPr sz="24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and Name once, regardless of the number of purchases.</a:t>
            </a:r>
          </a:p>
        </p:txBody>
      </p:sp>
      <p:sp>
        <p:nvSpPr>
          <p:cNvPr id="6" name="practice-time">
            <a:extLst>
              <a:ext uri="{FF2B5EF4-FFF2-40B4-BE49-F238E27FC236}">
                <a16:creationId xmlns:a16="http://schemas.microsoft.com/office/drawing/2014/main" id="{4D1BB1E0-4E47-4461-B029-452F91652399}"/>
              </a:ext>
            </a:extLst>
          </p:cNvPr>
          <p:cNvSpPr>
            <a:spLocks noGrp="1"/>
          </p:cNvSpPr>
          <p:nvPr/>
        </p:nvSpPr>
        <p:spPr>
          <a:xfrm>
            <a:off x="933450" y="6134100"/>
            <a:ext cx="10096500" cy="3143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1725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pPr>
            <a:r>
              <a:rPr sz="1725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Write, run and check: about 4 minutes.</a:t>
            </a:r>
          </a:p>
        </p:txBody>
      </p:sp>
      <p:sp>
        <p:nvSpPr>
          <p:cNvPr id="7" name="灯片编号占位符 3">
            <a:extLst>
              <a:ext uri="{FF2B5EF4-FFF2-40B4-BE49-F238E27FC236}">
                <a16:creationId xmlns:a16="http://schemas.microsoft.com/office/drawing/2014/main" id="{43C51869-AA23-FA98-2214-7905990B5AC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7AED2C7D-F957-4DD0-9E0D-C651C0C06F55}" type="slidenum">
              <a:rPr/>
              <a:t>50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4253174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2EAF532-E6FA-9B7B-62A2-3B91B6A7C6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2"/>
            <a:ext cx="10515600" cy="904875"/>
          </a:xfrm>
        </p:spPr>
        <p:txBody>
          <a:bodyPr/>
          <a:lstStyle/>
          <a:p>
            <a:r>
              <a:rPr sz="4400" b="0"/>
              <a:t>Solution 20: At Least One Purchase</a:t>
            </a:r>
          </a:p>
        </p:txBody>
      </p:sp>
      <p:sp>
        <p:nvSpPr>
          <p:cNvPr id="3" name="body-0">
            <a:extLst>
              <a:ext uri="{FF2B5EF4-FFF2-40B4-BE49-F238E27FC236}">
                <a16:creationId xmlns:a16="http://schemas.microsoft.com/office/drawing/2014/main" id="{91D067A1-0383-4D00-9A76-ACCC768566CB}"/>
              </a:ext>
            </a:extLst>
          </p:cNvPr>
          <p:cNvSpPr>
            <a:spLocks noGrp="1"/>
          </p:cNvSpPr>
          <p:nvPr/>
        </p:nvSpPr>
        <p:spPr>
          <a:xfrm>
            <a:off x="933450" y="1457325"/>
            <a:ext cx="10287000" cy="2974848"/>
          </a:xfrm>
          <a:prstGeom prst="rect">
            <a:avLst/>
          </a:prstGeom>
          <a:solidFill>
            <a:srgbClr val="EBF0DE"/>
          </a:solidFill>
          <a:ln w="25718">
            <a:solidFill>
              <a:srgbClr val="525308"/>
            </a:solidFill>
          </a:ln>
        </p:spPr>
        <p:txBody>
          <a:bodyPr wrap="none" lIns="95250" tIns="66675" rIns="95250" bIns="0" anchor="t">
            <a:noAutofit/>
          </a:bodyPr>
          <a:lstStyle/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25308"/>
                </a:solidFill>
                <a:latin typeface="Arial"/>
                <a:ea typeface="Arial"/>
                <a:cs typeface="Arial"/>
              </a:rPr>
              <a:t>SELECT t.TrackId, t.Name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25308"/>
                </a:solidFill>
                <a:latin typeface="Arial"/>
                <a:ea typeface="Arial"/>
                <a:cs typeface="Arial"/>
              </a:rPr>
              <a:t>FROM tracks t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25308"/>
                </a:solidFill>
                <a:latin typeface="Arial"/>
                <a:ea typeface="Arial"/>
                <a:cs typeface="Arial"/>
              </a:rPr>
              <a:t>WHERE EXISTS (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25308"/>
                </a:solidFill>
                <a:latin typeface="Arial"/>
                <a:ea typeface="Arial"/>
                <a:cs typeface="Arial"/>
              </a:rPr>
              <a:t>    SELECT 1 FROM invoice_items ii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25308"/>
                </a:solidFill>
                <a:latin typeface="Arial"/>
                <a:ea typeface="Arial"/>
                <a:cs typeface="Arial"/>
              </a:rPr>
              <a:t>    JOIN invoices i ON i.InvoiceId = ii.InvoiceId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25308"/>
                </a:solidFill>
                <a:latin typeface="Arial"/>
                <a:ea typeface="Arial"/>
                <a:cs typeface="Arial"/>
              </a:rPr>
              <a:t>    JOIN customers c ON c.CustomerId = i.CustomerId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25308"/>
                </a:solidFill>
                <a:latin typeface="Arial"/>
                <a:ea typeface="Arial"/>
                <a:cs typeface="Arial"/>
              </a:rPr>
              <a:t>    WHERE ii.TrackId = t.TrackId AND c.Country = 'Canada'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25308"/>
                </a:solidFill>
                <a:latin typeface="Arial"/>
                <a:ea typeface="Arial"/>
                <a:cs typeface="Arial"/>
              </a:rPr>
              <a:t>)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25308"/>
                </a:solidFill>
                <a:latin typeface="Arial"/>
                <a:ea typeface="Arial"/>
                <a:cs typeface="Arial"/>
              </a:rPr>
              <a:t>ORDER BY t.TrackId;</a:t>
            </a:r>
          </a:p>
        </p:txBody>
      </p:sp>
      <p:sp>
        <p:nvSpPr>
          <p:cNvPr id="4" name="body-1">
            <a:extLst>
              <a:ext uri="{FF2B5EF4-FFF2-40B4-BE49-F238E27FC236}">
                <a16:creationId xmlns:a16="http://schemas.microsoft.com/office/drawing/2014/main" id="{247BF48A-5157-44F0-A78A-4F44D6DF9D4D}"/>
              </a:ext>
            </a:extLst>
          </p:cNvPr>
          <p:cNvSpPr>
            <a:spLocks noGrp="1"/>
          </p:cNvSpPr>
          <p:nvPr/>
        </p:nvSpPr>
        <p:spPr>
          <a:xfrm>
            <a:off x="933450" y="4651248"/>
            <a:ext cx="10287000" cy="365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2025">
                <a:solidFill>
                  <a:srgbClr val="525308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525308"/>
                </a:solidFill>
                <a:latin typeface="Calibri"/>
                <a:ea typeface="Calibri"/>
                <a:cs typeface="Calibri"/>
              </a:rPr>
              <a:t>EXISTS filters each outer track once, so no DISTINCT is required.</a:t>
            </a:r>
          </a:p>
        </p:txBody>
      </p:sp>
      <p:sp>
        <p:nvSpPr>
          <p:cNvPr id="5" name="灯片编号占位符 3">
            <a:extLst>
              <a:ext uri="{FF2B5EF4-FFF2-40B4-BE49-F238E27FC236}">
                <a16:creationId xmlns:a16="http://schemas.microsoft.com/office/drawing/2014/main" id="{43C51869-AA23-FA98-2214-7905990B5AC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7AED2C7D-F957-4DD0-9E0D-C651C0C06F55}" type="slidenum">
              <a:rPr/>
              <a:t>51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4253174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2058BD9-2A77-2865-94CC-B63AFEBE5B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2"/>
            <a:ext cx="10515600" cy="904875"/>
          </a:xfrm>
        </p:spPr>
        <p:txBody>
          <a:bodyPr/>
          <a:lstStyle/>
          <a:p>
            <a:r>
              <a:rPr sz="4400" b="0"/>
              <a:t>Practice 21: Tracks and Sales per Artist</a:t>
            </a:r>
          </a:p>
        </p:txBody>
      </p:sp>
      <p:sp>
        <p:nvSpPr>
          <p:cNvPr id="3" name="body-0">
            <a:extLst>
              <a:ext uri="{FF2B5EF4-FFF2-40B4-BE49-F238E27FC236}">
                <a16:creationId xmlns:a16="http://schemas.microsoft.com/office/drawing/2014/main" id="{7E5419AC-14DF-40FB-B85D-DDF441DA044E}"/>
              </a:ext>
            </a:extLst>
          </p:cNvPr>
          <p:cNvSpPr>
            <a:spLocks noGrp="1"/>
          </p:cNvSpPr>
          <p:nvPr/>
        </p:nvSpPr>
        <p:spPr>
          <a:xfrm>
            <a:off x="933450" y="1457325"/>
            <a:ext cx="10287000" cy="35433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1950">
                <a:solidFill>
                  <a:srgbClr val="525308"/>
                </a:solidFill>
                <a:latin typeface="Calibri"/>
                <a:ea typeface="Calibri"/>
                <a:cs typeface="Calibri"/>
              </a:defRPr>
            </a:pPr>
            <a:r>
              <a:rPr sz="1950">
                <a:solidFill>
                  <a:srgbClr val="525308"/>
                </a:solidFill>
                <a:latin typeface="Calibri"/>
                <a:ea typeface="Calibri"/>
                <a:cs typeface="Calibri"/>
              </a:rPr>
              <a:t>Database: chinook.db</a:t>
            </a:r>
          </a:p>
        </p:txBody>
      </p:sp>
      <p:sp>
        <p:nvSpPr>
          <p:cNvPr id="4" name="body-1">
            <a:extLst>
              <a:ext uri="{FF2B5EF4-FFF2-40B4-BE49-F238E27FC236}">
                <a16:creationId xmlns:a16="http://schemas.microsoft.com/office/drawing/2014/main" id="{B4792CEB-A1C4-48FB-836D-59A3C2541A22}"/>
              </a:ext>
            </a:extLst>
          </p:cNvPr>
          <p:cNvSpPr>
            <a:spLocks noGrp="1"/>
          </p:cNvSpPr>
          <p:nvPr/>
        </p:nvSpPr>
        <p:spPr>
          <a:xfrm>
            <a:off x="933450" y="2059305"/>
            <a:ext cx="10287000" cy="4229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1. For each artist, report total distinct tracks and sold_records.</a:t>
            </a:r>
          </a:p>
        </p:txBody>
      </p:sp>
      <p:sp>
        <p:nvSpPr>
          <p:cNvPr id="5" name="body-2">
            <a:extLst>
              <a:ext uri="{FF2B5EF4-FFF2-40B4-BE49-F238E27FC236}">
                <a16:creationId xmlns:a16="http://schemas.microsoft.com/office/drawing/2014/main" id="{7A5CE4EC-8FF0-4556-A749-C25DC3B3E78A}"/>
              </a:ext>
            </a:extLst>
          </p:cNvPr>
          <p:cNvSpPr>
            <a:spLocks noGrp="1"/>
          </p:cNvSpPr>
          <p:nvPr/>
        </p:nvSpPr>
        <p:spPr>
          <a:xfrm>
            <a:off x="933450" y="2710815"/>
            <a:ext cx="10287000" cy="78867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2. sold_records means invoice_items rows, NOT distinct sold tracks or</a:t>
            </a:r>
          </a:p>
          <a:p>
            <a:pPr>
              <a:buNone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SUM(Quantity).</a:t>
            </a:r>
          </a:p>
        </p:txBody>
      </p:sp>
      <p:sp>
        <p:nvSpPr>
          <p:cNvPr id="6" name="body-3">
            <a:extLst>
              <a:ext uri="{FF2B5EF4-FFF2-40B4-BE49-F238E27FC236}">
                <a16:creationId xmlns:a16="http://schemas.microsoft.com/office/drawing/2014/main" id="{F1D3C071-3C30-4CE9-89BB-8B857F66698B}"/>
              </a:ext>
            </a:extLst>
          </p:cNvPr>
          <p:cNvSpPr>
            <a:spLocks noGrp="1"/>
          </p:cNvSpPr>
          <p:nvPr/>
        </p:nvSpPr>
        <p:spPr>
          <a:xfrm>
            <a:off x="933450" y="3728085"/>
            <a:ext cx="10287000" cy="4229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3. Keep artists with zero tracks or zero sales.</a:t>
            </a:r>
          </a:p>
        </p:txBody>
      </p:sp>
      <p:sp>
        <p:nvSpPr>
          <p:cNvPr id="7" name="practice-time">
            <a:extLst>
              <a:ext uri="{FF2B5EF4-FFF2-40B4-BE49-F238E27FC236}">
                <a16:creationId xmlns:a16="http://schemas.microsoft.com/office/drawing/2014/main" id="{CCEA8946-D4E3-4E9F-BD08-02299A6976B6}"/>
              </a:ext>
            </a:extLst>
          </p:cNvPr>
          <p:cNvSpPr>
            <a:spLocks noGrp="1"/>
          </p:cNvSpPr>
          <p:nvPr/>
        </p:nvSpPr>
        <p:spPr>
          <a:xfrm>
            <a:off x="933450" y="6134100"/>
            <a:ext cx="10096500" cy="3143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1725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pPr>
            <a:r>
              <a:rPr sz="1725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Write, run and check: about 6 minutes.</a:t>
            </a:r>
          </a:p>
        </p:txBody>
      </p:sp>
      <p:sp>
        <p:nvSpPr>
          <p:cNvPr id="8" name="灯片编号占位符 3">
            <a:extLst>
              <a:ext uri="{FF2B5EF4-FFF2-40B4-BE49-F238E27FC236}">
                <a16:creationId xmlns:a16="http://schemas.microsoft.com/office/drawing/2014/main" id="{7DCAA5D1-57B2-15BD-B0B9-10369B7049C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7AED2C7D-F957-4DD0-9E0D-C651C0C06F55}" type="slidenum">
              <a:rPr/>
              <a:t>52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8390105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D54012C-9C1E-6494-4DAC-CA1B332A64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2"/>
            <a:ext cx="10515600" cy="904875"/>
          </a:xfrm>
        </p:spPr>
        <p:txBody>
          <a:bodyPr/>
          <a:lstStyle/>
          <a:p>
            <a:r>
              <a:rPr sz="4400" b="0"/>
              <a:t>Solution 21: First Count the Tracks</a:t>
            </a:r>
          </a:p>
        </p:txBody>
      </p:sp>
      <p:sp>
        <p:nvSpPr>
          <p:cNvPr id="3" name="body-0">
            <a:extLst>
              <a:ext uri="{FF2B5EF4-FFF2-40B4-BE49-F238E27FC236}">
                <a16:creationId xmlns:a16="http://schemas.microsoft.com/office/drawing/2014/main" id="{6A4FFDDD-51B8-4E9B-8283-52A8767B4431}"/>
              </a:ext>
            </a:extLst>
          </p:cNvPr>
          <p:cNvSpPr>
            <a:spLocks noGrp="1"/>
          </p:cNvSpPr>
          <p:nvPr/>
        </p:nvSpPr>
        <p:spPr>
          <a:xfrm>
            <a:off x="933450" y="1457325"/>
            <a:ext cx="10287000" cy="2356104"/>
          </a:xfrm>
          <a:prstGeom prst="rect">
            <a:avLst/>
          </a:prstGeom>
          <a:solidFill>
            <a:srgbClr val="EBF0DE"/>
          </a:solidFill>
          <a:ln w="25718">
            <a:solidFill>
              <a:srgbClr val="525308"/>
            </a:solidFill>
          </a:ln>
        </p:spPr>
        <p:txBody>
          <a:bodyPr wrap="none" lIns="95250" tIns="66675" rIns="95250" bIns="0" anchor="t">
            <a:noAutofit/>
          </a:bodyPr>
          <a:lstStyle/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25308"/>
                </a:solidFill>
                <a:latin typeface="Arial"/>
                <a:ea typeface="Arial"/>
                <a:cs typeface="Arial"/>
              </a:rPr>
              <a:t>SELECT a.ArtistId, a.Name,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25308"/>
                </a:solidFill>
                <a:latin typeface="Arial"/>
                <a:ea typeface="Arial"/>
                <a:cs typeface="Arial"/>
              </a:rPr>
              <a:t>       COUNT(t.TrackId) AS total_tracks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25308"/>
                </a:solidFill>
                <a:latin typeface="Arial"/>
                <a:ea typeface="Arial"/>
                <a:cs typeface="Arial"/>
              </a:rPr>
              <a:t>FROM artists a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25308"/>
                </a:solidFill>
                <a:latin typeface="Arial"/>
                <a:ea typeface="Arial"/>
                <a:cs typeface="Arial"/>
              </a:rPr>
              <a:t>LEFT JOIN albums al ON al.ArtistId = a.ArtistId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25308"/>
                </a:solidFill>
                <a:latin typeface="Arial"/>
                <a:ea typeface="Arial"/>
                <a:cs typeface="Arial"/>
              </a:rPr>
              <a:t>LEFT JOIN tracks t ON t.AlbumId = al.AlbumId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25308"/>
                </a:solidFill>
                <a:latin typeface="Arial"/>
                <a:ea typeface="Arial"/>
                <a:cs typeface="Arial"/>
              </a:rPr>
              <a:t>GROUP BY a.ArtistId, a.Name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25308"/>
                </a:solidFill>
                <a:latin typeface="Arial"/>
                <a:ea typeface="Arial"/>
                <a:cs typeface="Arial"/>
              </a:rPr>
              <a:t>ORDER BY a.ArtistId;</a:t>
            </a:r>
          </a:p>
        </p:txBody>
      </p:sp>
      <p:sp>
        <p:nvSpPr>
          <p:cNvPr id="4" name="body-1">
            <a:extLst>
              <a:ext uri="{FF2B5EF4-FFF2-40B4-BE49-F238E27FC236}">
                <a16:creationId xmlns:a16="http://schemas.microsoft.com/office/drawing/2014/main" id="{DC3AD403-5AB4-49B9-A2D2-18EA96FE7852}"/>
              </a:ext>
            </a:extLst>
          </p:cNvPr>
          <p:cNvSpPr>
            <a:spLocks noGrp="1"/>
          </p:cNvSpPr>
          <p:nvPr/>
        </p:nvSpPr>
        <p:spPr>
          <a:xfrm>
            <a:off x="933450" y="4032504"/>
            <a:ext cx="10287000" cy="365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2025">
                <a:solidFill>
                  <a:srgbClr val="525308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525308"/>
                </a:solidFill>
                <a:latin typeface="Calibri"/>
                <a:ea typeface="Calibri"/>
                <a:cs typeface="Calibri"/>
              </a:rPr>
              <a:t>Before adding invoice_items, there is at most one joined row per track.</a:t>
            </a:r>
          </a:p>
        </p:txBody>
      </p:sp>
      <p:sp>
        <p:nvSpPr>
          <p:cNvPr id="5" name="灯片编号占位符 3">
            <a:extLst>
              <a:ext uri="{FF2B5EF4-FFF2-40B4-BE49-F238E27FC236}">
                <a16:creationId xmlns:a16="http://schemas.microsoft.com/office/drawing/2014/main" id="{D2486887-8B8E-0AC9-95AB-250EA84FDFC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7AED2C7D-F957-4DD0-9E0D-C651C0C06F55}" type="slidenum">
              <a:rPr/>
              <a:t>53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7004134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A08403-76D9-159E-7BB0-C2AA1F2DB9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2"/>
            <a:ext cx="10515600" cy="904875"/>
          </a:xfrm>
        </p:spPr>
        <p:txBody>
          <a:bodyPr/>
          <a:lstStyle/>
          <a:p>
            <a:r>
              <a:rPr sz="4400" b="0"/>
              <a:t>Solution 21: Then Count the Sales</a:t>
            </a:r>
          </a:p>
        </p:txBody>
      </p:sp>
      <p:sp>
        <p:nvSpPr>
          <p:cNvPr id="3" name="body-0">
            <a:extLst>
              <a:ext uri="{FF2B5EF4-FFF2-40B4-BE49-F238E27FC236}">
                <a16:creationId xmlns:a16="http://schemas.microsoft.com/office/drawing/2014/main" id="{246E4E8B-0A53-4156-A573-80CF33A31F7E}"/>
              </a:ext>
            </a:extLst>
          </p:cNvPr>
          <p:cNvSpPr>
            <a:spLocks noGrp="1"/>
          </p:cNvSpPr>
          <p:nvPr/>
        </p:nvSpPr>
        <p:spPr>
          <a:xfrm>
            <a:off x="933450" y="1457325"/>
            <a:ext cx="10287000" cy="2974848"/>
          </a:xfrm>
          <a:prstGeom prst="rect">
            <a:avLst/>
          </a:prstGeom>
          <a:solidFill>
            <a:srgbClr val="EBF0DE"/>
          </a:solidFill>
          <a:ln w="25718">
            <a:solidFill>
              <a:srgbClr val="525308"/>
            </a:solidFill>
          </a:ln>
        </p:spPr>
        <p:txBody>
          <a:bodyPr wrap="none" lIns="95250" tIns="66675" rIns="95250" bIns="0" anchor="t">
            <a:noAutofit/>
          </a:bodyPr>
          <a:lstStyle/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SELECT </a:t>
            </a:r>
            <a:r>
              <a:rPr sz="2100" dirty="0" err="1">
                <a:solidFill>
                  <a:srgbClr val="525308"/>
                </a:solidFill>
                <a:latin typeface="Arial"/>
                <a:ea typeface="Arial"/>
                <a:cs typeface="Arial"/>
              </a:rPr>
              <a:t>a.ArtistId</a:t>
            </a: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, </a:t>
            </a:r>
            <a:r>
              <a:rPr sz="2100" dirty="0" err="1">
                <a:solidFill>
                  <a:srgbClr val="525308"/>
                </a:solidFill>
                <a:latin typeface="Arial"/>
                <a:ea typeface="Arial"/>
                <a:cs typeface="Arial"/>
              </a:rPr>
              <a:t>a.Name</a:t>
            </a: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,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       COUNT(DISTINCT </a:t>
            </a:r>
            <a:r>
              <a:rPr sz="2100" dirty="0" err="1">
                <a:solidFill>
                  <a:srgbClr val="525308"/>
                </a:solidFill>
                <a:latin typeface="Arial"/>
                <a:ea typeface="Arial"/>
                <a:cs typeface="Arial"/>
              </a:rPr>
              <a:t>t.TrackId</a:t>
            </a: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) AS </a:t>
            </a:r>
            <a:r>
              <a:rPr sz="2100" dirty="0" err="1">
                <a:solidFill>
                  <a:srgbClr val="525308"/>
                </a:solidFill>
                <a:latin typeface="Arial"/>
                <a:ea typeface="Arial"/>
                <a:cs typeface="Arial"/>
              </a:rPr>
              <a:t>total_tracks</a:t>
            </a: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,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       COUNT(</a:t>
            </a:r>
            <a:r>
              <a:rPr sz="2100" dirty="0" err="1">
                <a:solidFill>
                  <a:srgbClr val="525308"/>
                </a:solidFill>
                <a:latin typeface="Arial"/>
                <a:ea typeface="Arial"/>
                <a:cs typeface="Arial"/>
              </a:rPr>
              <a:t>ii.InvoiceLineId</a:t>
            </a: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) AS </a:t>
            </a:r>
            <a:r>
              <a:rPr sz="2100" dirty="0" err="1">
                <a:solidFill>
                  <a:srgbClr val="525308"/>
                </a:solidFill>
                <a:latin typeface="Arial"/>
                <a:ea typeface="Arial"/>
                <a:cs typeface="Arial"/>
              </a:rPr>
              <a:t>sold_records</a:t>
            </a:r>
            <a:endParaRPr sz="2100" dirty="0">
              <a:solidFill>
                <a:srgbClr val="525308"/>
              </a:solidFill>
              <a:latin typeface="Arial"/>
              <a:ea typeface="Arial"/>
              <a:cs typeface="Arial"/>
            </a:endParaRP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FROM artists a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LEFT JOIN albums al ON </a:t>
            </a:r>
            <a:r>
              <a:rPr sz="2100" dirty="0" err="1">
                <a:solidFill>
                  <a:srgbClr val="525308"/>
                </a:solidFill>
                <a:latin typeface="Arial"/>
                <a:ea typeface="Arial"/>
                <a:cs typeface="Arial"/>
              </a:rPr>
              <a:t>al.ArtistId</a:t>
            </a: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 = </a:t>
            </a:r>
            <a:r>
              <a:rPr sz="2100" dirty="0" err="1">
                <a:solidFill>
                  <a:srgbClr val="525308"/>
                </a:solidFill>
                <a:latin typeface="Arial"/>
                <a:ea typeface="Arial"/>
                <a:cs typeface="Arial"/>
              </a:rPr>
              <a:t>a.ArtistId</a:t>
            </a:r>
            <a:endParaRPr sz="2100" dirty="0">
              <a:solidFill>
                <a:srgbClr val="525308"/>
              </a:solidFill>
              <a:latin typeface="Arial"/>
              <a:ea typeface="Arial"/>
              <a:cs typeface="Arial"/>
            </a:endParaRP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LEFT JOIN tracks t ON </a:t>
            </a:r>
            <a:r>
              <a:rPr sz="2100" dirty="0" err="1">
                <a:solidFill>
                  <a:srgbClr val="525308"/>
                </a:solidFill>
                <a:latin typeface="Arial"/>
                <a:ea typeface="Arial"/>
                <a:cs typeface="Arial"/>
              </a:rPr>
              <a:t>t.AlbumId</a:t>
            </a: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 = </a:t>
            </a:r>
            <a:r>
              <a:rPr sz="2100" dirty="0" err="1">
                <a:solidFill>
                  <a:srgbClr val="525308"/>
                </a:solidFill>
                <a:latin typeface="Arial"/>
                <a:ea typeface="Arial"/>
                <a:cs typeface="Arial"/>
              </a:rPr>
              <a:t>al.AlbumId</a:t>
            </a:r>
            <a:endParaRPr sz="2100" dirty="0">
              <a:solidFill>
                <a:srgbClr val="525308"/>
              </a:solidFill>
              <a:latin typeface="Arial"/>
              <a:ea typeface="Arial"/>
              <a:cs typeface="Arial"/>
            </a:endParaRP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LEFT JOIN </a:t>
            </a:r>
            <a:r>
              <a:rPr sz="2100" dirty="0" err="1">
                <a:solidFill>
                  <a:srgbClr val="525308"/>
                </a:solidFill>
                <a:latin typeface="Arial"/>
                <a:ea typeface="Arial"/>
                <a:cs typeface="Arial"/>
              </a:rPr>
              <a:t>invoice_items</a:t>
            </a: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 ii ON </a:t>
            </a:r>
            <a:r>
              <a:rPr sz="2100" dirty="0" err="1">
                <a:solidFill>
                  <a:srgbClr val="525308"/>
                </a:solidFill>
                <a:latin typeface="Arial"/>
                <a:ea typeface="Arial"/>
                <a:cs typeface="Arial"/>
              </a:rPr>
              <a:t>ii.TrackId</a:t>
            </a: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 = </a:t>
            </a:r>
            <a:r>
              <a:rPr sz="2100" dirty="0" err="1">
                <a:solidFill>
                  <a:srgbClr val="525308"/>
                </a:solidFill>
                <a:latin typeface="Arial"/>
                <a:ea typeface="Arial"/>
                <a:cs typeface="Arial"/>
              </a:rPr>
              <a:t>t.TrackId</a:t>
            </a:r>
            <a:endParaRPr sz="2100" dirty="0">
              <a:solidFill>
                <a:srgbClr val="525308"/>
              </a:solidFill>
              <a:latin typeface="Arial"/>
              <a:ea typeface="Arial"/>
              <a:cs typeface="Arial"/>
            </a:endParaRP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GROUP BY </a:t>
            </a:r>
            <a:r>
              <a:rPr sz="2100" dirty="0" err="1">
                <a:solidFill>
                  <a:srgbClr val="525308"/>
                </a:solidFill>
                <a:latin typeface="Arial"/>
                <a:ea typeface="Arial"/>
                <a:cs typeface="Arial"/>
              </a:rPr>
              <a:t>a.ArtistId</a:t>
            </a: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, </a:t>
            </a:r>
            <a:r>
              <a:rPr sz="2100" dirty="0" err="1">
                <a:solidFill>
                  <a:srgbClr val="525308"/>
                </a:solidFill>
                <a:latin typeface="Arial"/>
                <a:ea typeface="Arial"/>
                <a:cs typeface="Arial"/>
              </a:rPr>
              <a:t>a.Name</a:t>
            </a:r>
            <a:endParaRPr sz="2100" dirty="0">
              <a:solidFill>
                <a:srgbClr val="525308"/>
              </a:solidFill>
              <a:latin typeface="Arial"/>
              <a:ea typeface="Arial"/>
              <a:cs typeface="Arial"/>
            </a:endParaRP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ORDER BY </a:t>
            </a:r>
            <a:r>
              <a:rPr sz="2100" dirty="0" err="1">
                <a:solidFill>
                  <a:srgbClr val="525308"/>
                </a:solidFill>
                <a:latin typeface="Arial"/>
                <a:ea typeface="Arial"/>
                <a:cs typeface="Arial"/>
              </a:rPr>
              <a:t>a.ArtistId</a:t>
            </a: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;</a:t>
            </a:r>
          </a:p>
        </p:txBody>
      </p:sp>
      <p:sp>
        <p:nvSpPr>
          <p:cNvPr id="4" name="body-1">
            <a:extLst>
              <a:ext uri="{FF2B5EF4-FFF2-40B4-BE49-F238E27FC236}">
                <a16:creationId xmlns:a16="http://schemas.microsoft.com/office/drawing/2014/main" id="{4E00ED13-8EE3-4B4F-9D5C-98BE5A6D0D4A}"/>
              </a:ext>
            </a:extLst>
          </p:cNvPr>
          <p:cNvSpPr>
            <a:spLocks noGrp="1"/>
          </p:cNvSpPr>
          <p:nvPr/>
        </p:nvSpPr>
        <p:spPr>
          <a:xfrm>
            <a:off x="933450" y="4651248"/>
            <a:ext cx="10287000" cy="67437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2025">
                <a:solidFill>
                  <a:srgbClr val="525308"/>
                </a:solidFill>
                <a:latin typeface="Calibri"/>
                <a:ea typeface="Calibri"/>
                <a:cs typeface="Calibri"/>
              </a:defRPr>
            </a:pPr>
            <a:r>
              <a:rPr sz="2025" dirty="0">
                <a:solidFill>
                  <a:srgbClr val="525308"/>
                </a:solidFill>
                <a:latin typeface="Calibri"/>
                <a:ea typeface="Calibri"/>
                <a:cs typeface="Calibri"/>
              </a:rPr>
              <a:t>Repeated purchases multiply track rows. DISTINCT fixes track count; the sale-row key is</a:t>
            </a:r>
          </a:p>
          <a:p>
            <a:pPr>
              <a:buNone/>
              <a:defRPr sz="2025">
                <a:solidFill>
                  <a:srgbClr val="525308"/>
                </a:solidFill>
                <a:latin typeface="Calibri"/>
                <a:ea typeface="Calibri"/>
                <a:cs typeface="Calibri"/>
              </a:defRPr>
            </a:pPr>
            <a:r>
              <a:rPr sz="2025" dirty="0" err="1">
                <a:solidFill>
                  <a:srgbClr val="525308"/>
                </a:solidFill>
                <a:latin typeface="Calibri"/>
                <a:ea typeface="Calibri"/>
                <a:cs typeface="Calibri"/>
              </a:rPr>
              <a:t>InvoiceLineId</a:t>
            </a:r>
            <a:r>
              <a:rPr sz="2025" dirty="0">
                <a:solidFill>
                  <a:srgbClr val="525308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5" name="灯片编号占位符 3">
            <a:extLst>
              <a:ext uri="{FF2B5EF4-FFF2-40B4-BE49-F238E27FC236}">
                <a16:creationId xmlns:a16="http://schemas.microsoft.com/office/drawing/2014/main" id="{50BA825E-E127-9A77-DFEF-E0CA3A1100B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7AED2C7D-F957-4DD0-9E0D-C651C0C06F55}" type="slidenum">
              <a:rPr/>
              <a:t>54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2074494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6B907D-C88A-5BAE-98C6-A00B3C4267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2"/>
            <a:ext cx="10515600" cy="904875"/>
          </a:xfrm>
        </p:spPr>
        <p:txBody>
          <a:bodyPr/>
          <a:lstStyle/>
          <a:p>
            <a:r>
              <a:rPr sz="4400" b="0"/>
              <a:t>Session 2 Checkpoint</a:t>
            </a:r>
          </a:p>
        </p:txBody>
      </p:sp>
      <p:sp>
        <p:nvSpPr>
          <p:cNvPr id="3" name="body-0">
            <a:extLst>
              <a:ext uri="{FF2B5EF4-FFF2-40B4-BE49-F238E27FC236}">
                <a16:creationId xmlns:a16="http://schemas.microsoft.com/office/drawing/2014/main" id="{37CA9272-5670-473F-B701-8C3A6369B04D}"/>
              </a:ext>
            </a:extLst>
          </p:cNvPr>
          <p:cNvSpPr>
            <a:spLocks noGrp="1"/>
          </p:cNvSpPr>
          <p:nvPr/>
        </p:nvSpPr>
        <p:spPr>
          <a:xfrm>
            <a:off x="933450" y="1457325"/>
            <a:ext cx="10287000" cy="4229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marL="228600" indent="-228600">
              <a:buNone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Use GROUP BY to define one result row per group.</a:t>
            </a:r>
          </a:p>
        </p:txBody>
      </p:sp>
      <p:sp>
        <p:nvSpPr>
          <p:cNvPr id="4" name="body-1">
            <a:extLst>
              <a:ext uri="{FF2B5EF4-FFF2-40B4-BE49-F238E27FC236}">
                <a16:creationId xmlns:a16="http://schemas.microsoft.com/office/drawing/2014/main" id="{1FF16B04-08E6-45D2-BBB5-F0179911B5DD}"/>
              </a:ext>
            </a:extLst>
          </p:cNvPr>
          <p:cNvSpPr>
            <a:spLocks noGrp="1"/>
          </p:cNvSpPr>
          <p:nvPr/>
        </p:nvSpPr>
        <p:spPr>
          <a:xfrm>
            <a:off x="933450" y="2070735"/>
            <a:ext cx="10287000" cy="4229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marL="228600" indent="-228600">
              <a:buNone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Decide which side of a join must retain unmatched rows.</a:t>
            </a:r>
          </a:p>
        </p:txBody>
      </p:sp>
      <p:sp>
        <p:nvSpPr>
          <p:cNvPr id="5" name="body-2">
            <a:extLst>
              <a:ext uri="{FF2B5EF4-FFF2-40B4-BE49-F238E27FC236}">
                <a16:creationId xmlns:a16="http://schemas.microsoft.com/office/drawing/2014/main" id="{151E8A09-5651-41CD-8C22-7396533EA139}"/>
              </a:ext>
            </a:extLst>
          </p:cNvPr>
          <p:cNvSpPr>
            <a:spLocks noGrp="1"/>
          </p:cNvSpPr>
          <p:nvPr/>
        </p:nvSpPr>
        <p:spPr>
          <a:xfrm>
            <a:off x="933450" y="2684145"/>
            <a:ext cx="10287000" cy="4229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marL="228600" indent="-228600">
              <a:buNone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Distinguish no matches from a query error.</a:t>
            </a:r>
          </a:p>
        </p:txBody>
      </p:sp>
      <p:sp>
        <p:nvSpPr>
          <p:cNvPr id="6" name="body-3">
            <a:extLst>
              <a:ext uri="{FF2B5EF4-FFF2-40B4-BE49-F238E27FC236}">
                <a16:creationId xmlns:a16="http://schemas.microsoft.com/office/drawing/2014/main" id="{DB1CD483-D1ED-4395-8D58-01069802552C}"/>
              </a:ext>
            </a:extLst>
          </p:cNvPr>
          <p:cNvSpPr>
            <a:spLocks noGrp="1"/>
          </p:cNvSpPr>
          <p:nvPr/>
        </p:nvSpPr>
        <p:spPr>
          <a:xfrm>
            <a:off x="933450" y="3297555"/>
            <a:ext cx="10287000" cy="4229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marL="228600" indent="-228600">
              <a:buNone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Translate any / none / every precisely.</a:t>
            </a:r>
          </a:p>
        </p:txBody>
      </p:sp>
      <p:sp>
        <p:nvSpPr>
          <p:cNvPr id="7" name="body-4">
            <a:extLst>
              <a:ext uri="{FF2B5EF4-FFF2-40B4-BE49-F238E27FC236}">
                <a16:creationId xmlns:a16="http://schemas.microsoft.com/office/drawing/2014/main" id="{D7A0EC48-2EEB-4EBD-B8B4-45CB0B330454}"/>
              </a:ext>
            </a:extLst>
          </p:cNvPr>
          <p:cNvSpPr>
            <a:spLocks noGrp="1"/>
          </p:cNvSpPr>
          <p:nvPr/>
        </p:nvSpPr>
        <p:spPr>
          <a:xfrm>
            <a:off x="933450" y="3910965"/>
            <a:ext cx="10287000" cy="4229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marL="228600" indent="-228600">
              <a:buNone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When combining one-to-many relationships, check which counts need DISTINCT.</a:t>
            </a:r>
          </a:p>
        </p:txBody>
      </p:sp>
      <p:sp>
        <p:nvSpPr>
          <p:cNvPr id="8" name="灯片编号占位符 3">
            <a:extLst>
              <a:ext uri="{FF2B5EF4-FFF2-40B4-BE49-F238E27FC236}">
                <a16:creationId xmlns:a16="http://schemas.microsoft.com/office/drawing/2014/main" id="{ADA611BA-4FAE-12CE-0499-2FE155EF37F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7AED2C7D-F957-4DD0-9E0D-C651C0C06F55}" type="slidenum">
              <a:rPr/>
              <a:t>55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3817308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202AA3-B831-4677-AED9-F419F7808F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29000"/>
            <a:ext cx="10515600" cy="904875"/>
          </a:xfrm>
        </p:spPr>
        <p:txBody>
          <a:bodyPr/>
          <a:lstStyle/>
          <a:p>
            <a:r>
              <a:rPr sz="4400" b="0"/>
              <a:t>Optional Practice from the Original Deck</a:t>
            </a:r>
          </a:p>
        </p:txBody>
      </p:sp>
      <p:sp>
        <p:nvSpPr>
          <p:cNvPr id="3" name="body-0">
            <a:extLst>
              <a:ext uri="{FF2B5EF4-FFF2-40B4-BE49-F238E27FC236}">
                <a16:creationId xmlns:a16="http://schemas.microsoft.com/office/drawing/2014/main" id="{FA9CF91C-BA06-49C9-A52F-E25875EEE2FC}"/>
              </a:ext>
            </a:extLst>
          </p:cNvPr>
          <p:cNvSpPr>
            <a:spLocks noGrp="1"/>
          </p:cNvSpPr>
          <p:nvPr/>
        </p:nvSpPr>
        <p:spPr>
          <a:xfrm>
            <a:off x="933450" y="4495800"/>
            <a:ext cx="10287000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225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25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Use as extension work or replace selected core tasks; not required within 270 minutes</a:t>
            </a:r>
          </a:p>
        </p:txBody>
      </p:sp>
      <p:sp>
        <p:nvSpPr>
          <p:cNvPr id="4" name="Slide Number Placeholder 1">
            <a:extLst>
              <a:ext uri="{FF2B5EF4-FFF2-40B4-BE49-F238E27FC236}">
                <a16:creationId xmlns:a16="http://schemas.microsoft.com/office/drawing/2014/main" id="{14CDEC28-8AEB-201C-60EF-8B1F912DA9D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4845E83-0E96-4FC2-A2F8-C06E687B247B}" type="slidenum">
              <a:rPr/>
              <a:t>56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4442175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7AA8A-2020-7E89-E47F-7A80B3126C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2"/>
            <a:ext cx="10515600" cy="904875"/>
          </a:xfrm>
        </p:spPr>
        <p:txBody>
          <a:bodyPr/>
          <a:lstStyle/>
          <a:p>
            <a:r>
              <a:rPr sz="4400" b="0"/>
              <a:t>Practice 22: Choose Exactly One Maximum</a:t>
            </a:r>
          </a:p>
        </p:txBody>
      </p:sp>
      <p:sp>
        <p:nvSpPr>
          <p:cNvPr id="3" name="body-0">
            <a:extLst>
              <a:ext uri="{FF2B5EF4-FFF2-40B4-BE49-F238E27FC236}">
                <a16:creationId xmlns:a16="http://schemas.microsoft.com/office/drawing/2014/main" id="{3547146C-7EB4-4090-84C1-CB5653E92A7A}"/>
              </a:ext>
            </a:extLst>
          </p:cNvPr>
          <p:cNvSpPr>
            <a:spLocks noGrp="1"/>
          </p:cNvSpPr>
          <p:nvPr/>
        </p:nvSpPr>
        <p:spPr>
          <a:xfrm>
            <a:off x="933450" y="1457325"/>
            <a:ext cx="10287000" cy="35433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1950">
                <a:solidFill>
                  <a:srgbClr val="525308"/>
                </a:solidFill>
                <a:latin typeface="Calibri"/>
                <a:ea typeface="Calibri"/>
                <a:cs typeface="Calibri"/>
              </a:defRPr>
            </a:pPr>
            <a:r>
              <a:rPr sz="1950">
                <a:solidFill>
                  <a:srgbClr val="525308"/>
                </a:solidFill>
                <a:latin typeface="Calibri"/>
                <a:ea typeface="Calibri"/>
                <a:cs typeface="Calibri"/>
              </a:rPr>
              <a:t>Database: chinook.db</a:t>
            </a:r>
          </a:p>
        </p:txBody>
      </p:sp>
      <p:sp>
        <p:nvSpPr>
          <p:cNvPr id="4" name="body-1">
            <a:extLst>
              <a:ext uri="{FF2B5EF4-FFF2-40B4-BE49-F238E27FC236}">
                <a16:creationId xmlns:a16="http://schemas.microsoft.com/office/drawing/2014/main" id="{D1C34787-8E77-4802-B6A6-A5FD71BF4861}"/>
              </a:ext>
            </a:extLst>
          </p:cNvPr>
          <p:cNvSpPr>
            <a:spLocks noGrp="1"/>
          </p:cNvSpPr>
          <p:nvPr/>
        </p:nvSpPr>
        <p:spPr>
          <a:xfrm>
            <a:off x="933450" y="2059305"/>
            <a:ext cx="10287000" cy="4229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1. Return exactly one highest-priced track per genre.</a:t>
            </a:r>
          </a:p>
        </p:txBody>
      </p:sp>
      <p:sp>
        <p:nvSpPr>
          <p:cNvPr id="5" name="body-2">
            <a:extLst>
              <a:ext uri="{FF2B5EF4-FFF2-40B4-BE49-F238E27FC236}">
                <a16:creationId xmlns:a16="http://schemas.microsoft.com/office/drawing/2014/main" id="{A554E0E9-7F33-4DBE-9171-9C84AD6A8589}"/>
              </a:ext>
            </a:extLst>
          </p:cNvPr>
          <p:cNvSpPr>
            <a:spLocks noGrp="1"/>
          </p:cNvSpPr>
          <p:nvPr/>
        </p:nvSpPr>
        <p:spPr>
          <a:xfrm>
            <a:off x="933450" y="2710815"/>
            <a:ext cx="10287000" cy="4229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2. Break price ties by choosing the smallest TrackId.</a:t>
            </a:r>
          </a:p>
        </p:txBody>
      </p:sp>
      <p:sp>
        <p:nvSpPr>
          <p:cNvPr id="6" name="body-3">
            <a:extLst>
              <a:ext uri="{FF2B5EF4-FFF2-40B4-BE49-F238E27FC236}">
                <a16:creationId xmlns:a16="http://schemas.microsoft.com/office/drawing/2014/main" id="{972BEE39-CECF-44D0-A02D-FFA5D5617729}"/>
              </a:ext>
            </a:extLst>
          </p:cNvPr>
          <p:cNvSpPr>
            <a:spLocks noGrp="1"/>
          </p:cNvSpPr>
          <p:nvPr/>
        </p:nvSpPr>
        <p:spPr>
          <a:xfrm>
            <a:off x="933450" y="3362325"/>
            <a:ext cx="10287000" cy="4229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3. Explain why a bare column beside MAX does not guarantee this tie-break.</a:t>
            </a:r>
          </a:p>
        </p:txBody>
      </p:sp>
      <p:sp>
        <p:nvSpPr>
          <p:cNvPr id="7" name="practice-time">
            <a:extLst>
              <a:ext uri="{FF2B5EF4-FFF2-40B4-BE49-F238E27FC236}">
                <a16:creationId xmlns:a16="http://schemas.microsoft.com/office/drawing/2014/main" id="{F5237436-3C74-47FB-90A3-7A5F25454031}"/>
              </a:ext>
            </a:extLst>
          </p:cNvPr>
          <p:cNvSpPr>
            <a:spLocks noGrp="1"/>
          </p:cNvSpPr>
          <p:nvPr/>
        </p:nvSpPr>
        <p:spPr>
          <a:xfrm>
            <a:off x="933450" y="6134100"/>
            <a:ext cx="10096500" cy="3143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1725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pPr>
            <a:r>
              <a:rPr sz="1725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Write, run and check: about 5 minutes.</a:t>
            </a:r>
          </a:p>
        </p:txBody>
      </p:sp>
      <p:sp>
        <p:nvSpPr>
          <p:cNvPr id="8" name="灯片编号占位符 3">
            <a:extLst>
              <a:ext uri="{FF2B5EF4-FFF2-40B4-BE49-F238E27FC236}">
                <a16:creationId xmlns:a16="http://schemas.microsoft.com/office/drawing/2014/main" id="{DBF37883-709C-782D-7BFC-29260236949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7AED2C7D-F957-4DD0-9E0D-C651C0C06F55}" type="slidenum">
              <a:rPr/>
              <a:t>57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0156345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7AA8A-2020-7E89-E47F-7A80B3126C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2"/>
            <a:ext cx="10515600" cy="904875"/>
          </a:xfrm>
        </p:spPr>
        <p:txBody>
          <a:bodyPr/>
          <a:lstStyle/>
          <a:p>
            <a:r>
              <a:rPr sz="4400" b="0"/>
              <a:t>Solution 22: A Deterministic Tie-Break</a:t>
            </a:r>
          </a:p>
        </p:txBody>
      </p:sp>
      <p:sp>
        <p:nvSpPr>
          <p:cNvPr id="3" name="body-0">
            <a:extLst>
              <a:ext uri="{FF2B5EF4-FFF2-40B4-BE49-F238E27FC236}">
                <a16:creationId xmlns:a16="http://schemas.microsoft.com/office/drawing/2014/main" id="{8E1E35EF-2EFE-40BB-A87C-1E6623C45EED}"/>
              </a:ext>
            </a:extLst>
          </p:cNvPr>
          <p:cNvSpPr>
            <a:spLocks noGrp="1"/>
          </p:cNvSpPr>
          <p:nvPr/>
        </p:nvSpPr>
        <p:spPr>
          <a:xfrm>
            <a:off x="933450" y="1457325"/>
            <a:ext cx="10287000" cy="2974848"/>
          </a:xfrm>
          <a:prstGeom prst="rect">
            <a:avLst/>
          </a:prstGeom>
          <a:solidFill>
            <a:srgbClr val="EBF0DE"/>
          </a:solidFill>
          <a:ln w="25718">
            <a:solidFill>
              <a:srgbClr val="525308"/>
            </a:solidFill>
          </a:ln>
        </p:spPr>
        <p:txBody>
          <a:bodyPr wrap="none" lIns="95250" tIns="66675" rIns="95250" bIns="0" anchor="t">
            <a:noAutofit/>
          </a:bodyPr>
          <a:lstStyle/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SELECT </a:t>
            </a:r>
            <a:r>
              <a:rPr sz="2100" dirty="0" err="1">
                <a:solidFill>
                  <a:srgbClr val="525308"/>
                </a:solidFill>
                <a:latin typeface="Arial"/>
                <a:ea typeface="Arial"/>
                <a:cs typeface="Arial"/>
              </a:rPr>
              <a:t>g.Name</a:t>
            </a: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 AS </a:t>
            </a:r>
            <a:r>
              <a:rPr sz="2100" dirty="0" err="1">
                <a:solidFill>
                  <a:srgbClr val="525308"/>
                </a:solidFill>
                <a:latin typeface="Arial"/>
                <a:ea typeface="Arial"/>
                <a:cs typeface="Arial"/>
              </a:rPr>
              <a:t>GenreName</a:t>
            </a: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, </a:t>
            </a:r>
            <a:r>
              <a:rPr sz="2100" dirty="0" err="1">
                <a:solidFill>
                  <a:srgbClr val="525308"/>
                </a:solidFill>
                <a:latin typeface="Arial"/>
                <a:ea typeface="Arial"/>
                <a:cs typeface="Arial"/>
              </a:rPr>
              <a:t>t.TrackId</a:t>
            </a: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, </a:t>
            </a:r>
            <a:r>
              <a:rPr sz="2100" dirty="0" err="1">
                <a:solidFill>
                  <a:srgbClr val="525308"/>
                </a:solidFill>
                <a:latin typeface="Arial"/>
                <a:ea typeface="Arial"/>
                <a:cs typeface="Arial"/>
              </a:rPr>
              <a:t>t.Name</a:t>
            </a: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, </a:t>
            </a:r>
            <a:r>
              <a:rPr sz="2100" dirty="0" err="1">
                <a:solidFill>
                  <a:srgbClr val="525308"/>
                </a:solidFill>
                <a:latin typeface="Arial"/>
                <a:ea typeface="Arial"/>
                <a:cs typeface="Arial"/>
              </a:rPr>
              <a:t>t.UnitPrice</a:t>
            </a:r>
            <a:endParaRPr sz="2100" dirty="0">
              <a:solidFill>
                <a:srgbClr val="525308"/>
              </a:solidFill>
              <a:latin typeface="Arial"/>
              <a:ea typeface="Arial"/>
              <a:cs typeface="Arial"/>
            </a:endParaRP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FROM tracks t JOIN genres g ON </a:t>
            </a:r>
            <a:r>
              <a:rPr sz="2100" dirty="0" err="1">
                <a:solidFill>
                  <a:srgbClr val="525308"/>
                </a:solidFill>
                <a:latin typeface="Arial"/>
                <a:ea typeface="Arial"/>
                <a:cs typeface="Arial"/>
              </a:rPr>
              <a:t>g.GenreId</a:t>
            </a: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 = </a:t>
            </a:r>
            <a:r>
              <a:rPr sz="2100" dirty="0" err="1">
                <a:solidFill>
                  <a:srgbClr val="525308"/>
                </a:solidFill>
                <a:latin typeface="Arial"/>
                <a:ea typeface="Arial"/>
                <a:cs typeface="Arial"/>
              </a:rPr>
              <a:t>t.GenreId</a:t>
            </a:r>
            <a:endParaRPr sz="2100" dirty="0">
              <a:solidFill>
                <a:srgbClr val="525308"/>
              </a:solidFill>
              <a:latin typeface="Arial"/>
              <a:ea typeface="Arial"/>
              <a:cs typeface="Arial"/>
            </a:endParaRP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WHERE </a:t>
            </a:r>
            <a:r>
              <a:rPr sz="2100" dirty="0" err="1">
                <a:solidFill>
                  <a:srgbClr val="525308"/>
                </a:solidFill>
                <a:latin typeface="Arial"/>
                <a:ea typeface="Arial"/>
                <a:cs typeface="Arial"/>
              </a:rPr>
              <a:t>t.TrackId</a:t>
            </a: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 = (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    SELECT t2.TrackId FROM tracks t2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    WHERE t2.GenreId = </a:t>
            </a:r>
            <a:r>
              <a:rPr sz="2100" dirty="0" err="1">
                <a:solidFill>
                  <a:srgbClr val="525308"/>
                </a:solidFill>
                <a:latin typeface="Arial"/>
                <a:ea typeface="Arial"/>
                <a:cs typeface="Arial"/>
              </a:rPr>
              <a:t>t.GenreId</a:t>
            </a:r>
            <a:endParaRPr sz="2100" dirty="0">
              <a:solidFill>
                <a:srgbClr val="525308"/>
              </a:solidFill>
              <a:latin typeface="Arial"/>
              <a:ea typeface="Arial"/>
              <a:cs typeface="Arial"/>
            </a:endParaRP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    ORDER BY t2.UnitPrice DESC, t2.TrackId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    LIMIT 1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)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ORDER BY </a:t>
            </a:r>
            <a:r>
              <a:rPr sz="2100" dirty="0" err="1">
                <a:solidFill>
                  <a:srgbClr val="525308"/>
                </a:solidFill>
                <a:latin typeface="Arial"/>
                <a:ea typeface="Arial"/>
                <a:cs typeface="Arial"/>
              </a:rPr>
              <a:t>g.GenreId</a:t>
            </a: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;</a:t>
            </a:r>
          </a:p>
        </p:txBody>
      </p:sp>
      <p:sp>
        <p:nvSpPr>
          <p:cNvPr id="4" name="body-1">
            <a:extLst>
              <a:ext uri="{FF2B5EF4-FFF2-40B4-BE49-F238E27FC236}">
                <a16:creationId xmlns:a16="http://schemas.microsoft.com/office/drawing/2014/main" id="{21A735F6-8D76-4D8C-864A-7FD26F20CCD0}"/>
              </a:ext>
            </a:extLst>
          </p:cNvPr>
          <p:cNvSpPr>
            <a:spLocks noGrp="1"/>
          </p:cNvSpPr>
          <p:nvPr/>
        </p:nvSpPr>
        <p:spPr>
          <a:xfrm>
            <a:off x="933450" y="4651248"/>
            <a:ext cx="10287000" cy="365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2025">
                <a:solidFill>
                  <a:srgbClr val="525308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525308"/>
                </a:solidFill>
                <a:latin typeface="Calibri"/>
                <a:ea typeface="Calibri"/>
                <a:cs typeface="Calibri"/>
              </a:rPr>
              <a:t>SQLite permits bare columns with MAX, but tied maximum rows can be chosen arbitrarily.</a:t>
            </a:r>
          </a:p>
        </p:txBody>
      </p:sp>
      <p:sp>
        <p:nvSpPr>
          <p:cNvPr id="5" name="灯片编号占位符 3">
            <a:extLst>
              <a:ext uri="{FF2B5EF4-FFF2-40B4-BE49-F238E27FC236}">
                <a16:creationId xmlns:a16="http://schemas.microsoft.com/office/drawing/2014/main" id="{DBF37883-709C-782D-7BFC-29260236949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7AED2C7D-F957-4DD0-9E0D-C651C0C06F55}" type="slidenum">
              <a:rPr/>
              <a:t>58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0156345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00B77FB-1A5F-A67E-D706-BCC8791F8E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2"/>
            <a:ext cx="10515600" cy="904875"/>
          </a:xfrm>
        </p:spPr>
        <p:txBody>
          <a:bodyPr/>
          <a:lstStyle/>
          <a:p>
            <a:r>
              <a:rPr sz="3800" b="0"/>
              <a:t>Practice 23: Purchased by Every Canadian Customer</a:t>
            </a:r>
          </a:p>
        </p:txBody>
      </p:sp>
      <p:sp>
        <p:nvSpPr>
          <p:cNvPr id="3" name="body-0">
            <a:extLst>
              <a:ext uri="{FF2B5EF4-FFF2-40B4-BE49-F238E27FC236}">
                <a16:creationId xmlns:a16="http://schemas.microsoft.com/office/drawing/2014/main" id="{DEE541FA-D36C-4D83-AE07-542482B2EFD4}"/>
              </a:ext>
            </a:extLst>
          </p:cNvPr>
          <p:cNvSpPr>
            <a:spLocks noGrp="1"/>
          </p:cNvSpPr>
          <p:nvPr/>
        </p:nvSpPr>
        <p:spPr>
          <a:xfrm>
            <a:off x="933450" y="1457325"/>
            <a:ext cx="10287000" cy="35433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1950">
                <a:solidFill>
                  <a:srgbClr val="525308"/>
                </a:solidFill>
                <a:latin typeface="Calibri"/>
                <a:ea typeface="Calibri"/>
                <a:cs typeface="Calibri"/>
              </a:defRPr>
            </a:pPr>
            <a:r>
              <a:rPr sz="1950">
                <a:solidFill>
                  <a:srgbClr val="525308"/>
                </a:solidFill>
                <a:latin typeface="Calibri"/>
                <a:ea typeface="Calibri"/>
                <a:cs typeface="Calibri"/>
              </a:rPr>
              <a:t>Database: chinook.db</a:t>
            </a:r>
          </a:p>
        </p:txBody>
      </p:sp>
      <p:sp>
        <p:nvSpPr>
          <p:cNvPr id="4" name="body-1">
            <a:extLst>
              <a:ext uri="{FF2B5EF4-FFF2-40B4-BE49-F238E27FC236}">
                <a16:creationId xmlns:a16="http://schemas.microsoft.com/office/drawing/2014/main" id="{852C911F-9217-49E5-8761-5F0DB1A53D6D}"/>
              </a:ext>
            </a:extLst>
          </p:cNvPr>
          <p:cNvSpPr>
            <a:spLocks noGrp="1"/>
          </p:cNvSpPr>
          <p:nvPr/>
        </p:nvSpPr>
        <p:spPr>
          <a:xfrm>
            <a:off x="933450" y="2059305"/>
            <a:ext cx="10287000" cy="4229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1. Find tracks purchased at least once by EVERY customer from Canada.</a:t>
            </a:r>
          </a:p>
        </p:txBody>
      </p:sp>
      <p:sp>
        <p:nvSpPr>
          <p:cNvPr id="5" name="body-2">
            <a:extLst>
              <a:ext uri="{FF2B5EF4-FFF2-40B4-BE49-F238E27FC236}">
                <a16:creationId xmlns:a16="http://schemas.microsoft.com/office/drawing/2014/main" id="{71C8C51B-F432-4CF9-B3F9-F549CE24B820}"/>
              </a:ext>
            </a:extLst>
          </p:cNvPr>
          <p:cNvSpPr>
            <a:spLocks noGrp="1"/>
          </p:cNvSpPr>
          <p:nvPr/>
        </p:nvSpPr>
        <p:spPr>
          <a:xfrm>
            <a:off x="933450" y="2710815"/>
            <a:ext cx="10287000" cy="78867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2. Repeated purchases by one customer do not compensate for another missing</a:t>
            </a:r>
          </a:p>
          <a:p>
            <a:pPr>
              <a:buNone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customer.</a:t>
            </a:r>
          </a:p>
        </p:txBody>
      </p:sp>
      <p:sp>
        <p:nvSpPr>
          <p:cNvPr id="6" name="body-3">
            <a:extLst>
              <a:ext uri="{FF2B5EF4-FFF2-40B4-BE49-F238E27FC236}">
                <a16:creationId xmlns:a16="http://schemas.microsoft.com/office/drawing/2014/main" id="{4843ECFB-8FEA-43AA-9983-E16C0783B14C}"/>
              </a:ext>
            </a:extLst>
          </p:cNvPr>
          <p:cNvSpPr>
            <a:spLocks noGrp="1"/>
          </p:cNvSpPr>
          <p:nvPr/>
        </p:nvSpPr>
        <p:spPr>
          <a:xfrm>
            <a:off x="933450" y="3728085"/>
            <a:ext cx="10287000" cy="4229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3. Also explain the result if there are no Canadian customers.</a:t>
            </a:r>
          </a:p>
        </p:txBody>
      </p:sp>
      <p:sp>
        <p:nvSpPr>
          <p:cNvPr id="7" name="practice-time">
            <a:extLst>
              <a:ext uri="{FF2B5EF4-FFF2-40B4-BE49-F238E27FC236}">
                <a16:creationId xmlns:a16="http://schemas.microsoft.com/office/drawing/2014/main" id="{E3C32FB7-7712-4A85-A95B-4E05C0D9F0E4}"/>
              </a:ext>
            </a:extLst>
          </p:cNvPr>
          <p:cNvSpPr>
            <a:spLocks noGrp="1"/>
          </p:cNvSpPr>
          <p:nvPr/>
        </p:nvSpPr>
        <p:spPr>
          <a:xfrm>
            <a:off x="933450" y="6134100"/>
            <a:ext cx="10096500" cy="3143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1725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pPr>
            <a:r>
              <a:rPr sz="1725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Write, run and check: about 7 minutes.</a:t>
            </a:r>
          </a:p>
        </p:txBody>
      </p:sp>
      <p:sp>
        <p:nvSpPr>
          <p:cNvPr id="8" name="灯片编号占位符 3">
            <a:extLst>
              <a:ext uri="{FF2B5EF4-FFF2-40B4-BE49-F238E27FC236}">
                <a16:creationId xmlns:a16="http://schemas.microsoft.com/office/drawing/2014/main" id="{52D66D38-F258-9FF9-95BD-50CC979E7DE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7AED2C7D-F957-4DD0-9E0D-C651C0C06F55}" type="slidenum">
              <a:rPr/>
              <a:t>59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4434822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4FADB4-AA12-A1F0-B7AC-F31F6CB53B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2"/>
            <a:ext cx="10515600" cy="904875"/>
          </a:xfrm>
        </p:spPr>
        <p:txBody>
          <a:bodyPr/>
          <a:lstStyle/>
          <a:p>
            <a:r>
              <a:rPr sz="4400" b="0"/>
              <a:t>Solution 23: No Missing Customer</a:t>
            </a:r>
          </a:p>
        </p:txBody>
      </p:sp>
      <p:sp>
        <p:nvSpPr>
          <p:cNvPr id="3" name="body-0">
            <a:extLst>
              <a:ext uri="{FF2B5EF4-FFF2-40B4-BE49-F238E27FC236}">
                <a16:creationId xmlns:a16="http://schemas.microsoft.com/office/drawing/2014/main" id="{4417CD8A-AC07-4A70-8C4E-796CF0FB3F99}"/>
              </a:ext>
            </a:extLst>
          </p:cNvPr>
          <p:cNvSpPr>
            <a:spLocks noGrp="1"/>
          </p:cNvSpPr>
          <p:nvPr/>
        </p:nvSpPr>
        <p:spPr>
          <a:xfrm>
            <a:off x="933450" y="1457325"/>
            <a:ext cx="10287000" cy="3593592"/>
          </a:xfrm>
          <a:prstGeom prst="rect">
            <a:avLst/>
          </a:prstGeom>
          <a:solidFill>
            <a:srgbClr val="EBF0DE"/>
          </a:solidFill>
          <a:ln w="25718">
            <a:solidFill>
              <a:srgbClr val="525308"/>
            </a:solidFill>
          </a:ln>
        </p:spPr>
        <p:txBody>
          <a:bodyPr wrap="none" lIns="95250" tIns="66675" rIns="95250" bIns="0" anchor="t">
            <a:noAutofit/>
          </a:bodyPr>
          <a:lstStyle/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25308"/>
                </a:solidFill>
                <a:latin typeface="Arial"/>
                <a:ea typeface="Arial"/>
                <a:cs typeface="Arial"/>
              </a:rPr>
              <a:t>SELECT t.TrackId, t.Name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25308"/>
                </a:solidFill>
                <a:latin typeface="Arial"/>
                <a:ea typeface="Arial"/>
                <a:cs typeface="Arial"/>
              </a:rPr>
              <a:t>FROM tracks t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25308"/>
                </a:solidFill>
                <a:latin typeface="Arial"/>
                <a:ea typeface="Arial"/>
                <a:cs typeface="Arial"/>
              </a:rPr>
              <a:t>WHERE NOT EXISTS (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25308"/>
                </a:solidFill>
                <a:latin typeface="Arial"/>
                <a:ea typeface="Arial"/>
                <a:cs typeface="Arial"/>
              </a:rPr>
              <a:t> SELECT 1 FROM customers c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25308"/>
                </a:solidFill>
                <a:latin typeface="Arial"/>
                <a:ea typeface="Arial"/>
                <a:cs typeface="Arial"/>
              </a:rPr>
              <a:t> WHERE c.Country = 'Canada' AND NOT EXISTS (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25308"/>
                </a:solidFill>
                <a:latin typeface="Arial"/>
                <a:ea typeface="Arial"/>
                <a:cs typeface="Arial"/>
              </a:rPr>
              <a:t>  SELECT 1 FROM invoices i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25308"/>
                </a:solidFill>
                <a:latin typeface="Arial"/>
                <a:ea typeface="Arial"/>
                <a:cs typeface="Arial"/>
              </a:rPr>
              <a:t>  JOIN invoice_items ii ON ii.InvoiceId = i.InvoiceId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25308"/>
                </a:solidFill>
                <a:latin typeface="Arial"/>
                <a:ea typeface="Arial"/>
                <a:cs typeface="Arial"/>
              </a:rPr>
              <a:t>  WHERE i.CustomerId = c.CustomerId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25308"/>
                </a:solidFill>
                <a:latin typeface="Arial"/>
                <a:ea typeface="Arial"/>
                <a:cs typeface="Arial"/>
              </a:rPr>
              <a:t>    AND ii.TrackId = t.TrackId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25308"/>
                </a:solidFill>
                <a:latin typeface="Arial"/>
                <a:ea typeface="Arial"/>
                <a:cs typeface="Arial"/>
              </a:rPr>
              <a:t> ))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25308"/>
                </a:solidFill>
                <a:latin typeface="Arial"/>
                <a:ea typeface="Arial"/>
                <a:cs typeface="Arial"/>
              </a:rPr>
              <a:t>ORDER BY t.TrackId;</a:t>
            </a:r>
          </a:p>
        </p:txBody>
      </p:sp>
      <p:sp>
        <p:nvSpPr>
          <p:cNvPr id="4" name="body-1">
            <a:extLst>
              <a:ext uri="{FF2B5EF4-FFF2-40B4-BE49-F238E27FC236}">
                <a16:creationId xmlns:a16="http://schemas.microsoft.com/office/drawing/2014/main" id="{E393E606-8307-4741-8D4E-A954A23B5F8A}"/>
              </a:ext>
            </a:extLst>
          </p:cNvPr>
          <p:cNvSpPr>
            <a:spLocks noGrp="1"/>
          </p:cNvSpPr>
          <p:nvPr/>
        </p:nvSpPr>
        <p:spPr>
          <a:xfrm>
            <a:off x="933450" y="5269992"/>
            <a:ext cx="10287000" cy="365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2025">
                <a:solidFill>
                  <a:srgbClr val="525308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525308"/>
                </a:solidFill>
                <a:latin typeface="Calibri"/>
                <a:ea typeface="Calibri"/>
                <a:cs typeface="Calibri"/>
              </a:rPr>
              <a:t>No Canadian customers means no counterexample, so all tracks qualify.</a:t>
            </a:r>
          </a:p>
        </p:txBody>
      </p:sp>
      <p:sp>
        <p:nvSpPr>
          <p:cNvPr id="5" name="灯片编号占位符 3">
            <a:extLst>
              <a:ext uri="{FF2B5EF4-FFF2-40B4-BE49-F238E27FC236}">
                <a16:creationId xmlns:a16="http://schemas.microsoft.com/office/drawing/2014/main" id="{9152D643-BAAC-9693-D113-6482F3A9CBA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7AED2C7D-F957-4DD0-9E0D-C651C0C06F55}" type="slidenum">
              <a:rPr/>
              <a:t>60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9836384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4FADB4-AA12-A1F0-B7AC-F31F6CB53B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2"/>
            <a:ext cx="10515600" cy="904875"/>
          </a:xfrm>
        </p:spPr>
        <p:txBody>
          <a:bodyPr/>
          <a:lstStyle/>
          <a:p>
            <a:r>
              <a:rPr sz="4400" b="0"/>
              <a:t>Solution 23: Read the Two NOT EXISTS</a:t>
            </a:r>
          </a:p>
        </p:txBody>
      </p:sp>
      <p:sp>
        <p:nvSpPr>
          <p:cNvPr id="3" name="body-0">
            <a:extLst>
              <a:ext uri="{FF2B5EF4-FFF2-40B4-BE49-F238E27FC236}">
                <a16:creationId xmlns:a16="http://schemas.microsoft.com/office/drawing/2014/main" id="{810FA858-7062-4C26-B94F-CE0501645A36}"/>
              </a:ext>
            </a:extLst>
          </p:cNvPr>
          <p:cNvSpPr>
            <a:spLocks noGrp="1"/>
          </p:cNvSpPr>
          <p:nvPr/>
        </p:nvSpPr>
        <p:spPr>
          <a:xfrm>
            <a:off x="933450" y="1457325"/>
            <a:ext cx="10287000" cy="4229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marL="228600" indent="-228600">
              <a:buNone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For one track, choose one Canadian customer.</a:t>
            </a:r>
          </a:p>
        </p:txBody>
      </p:sp>
      <p:sp>
        <p:nvSpPr>
          <p:cNvPr id="4" name="body-1">
            <a:extLst>
              <a:ext uri="{FF2B5EF4-FFF2-40B4-BE49-F238E27FC236}">
                <a16:creationId xmlns:a16="http://schemas.microsoft.com/office/drawing/2014/main" id="{09CC59B7-B778-4C4B-9653-C48EC9B43771}"/>
              </a:ext>
            </a:extLst>
          </p:cNvPr>
          <p:cNvSpPr>
            <a:spLocks noGrp="1"/>
          </p:cNvSpPr>
          <p:nvPr/>
        </p:nvSpPr>
        <p:spPr>
          <a:xfrm>
            <a:off x="933450" y="2070735"/>
            <a:ext cx="10287000" cy="4229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marL="228600" indent="-228600">
              <a:buNone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The inner query searches for a purchase of that track by that customer.</a:t>
            </a:r>
          </a:p>
        </p:txBody>
      </p:sp>
      <p:sp>
        <p:nvSpPr>
          <p:cNvPr id="5" name="body-2">
            <a:extLst>
              <a:ext uri="{FF2B5EF4-FFF2-40B4-BE49-F238E27FC236}">
                <a16:creationId xmlns:a16="http://schemas.microsoft.com/office/drawing/2014/main" id="{8B74AFC0-4965-4C32-BE7C-E76BCE30B2C2}"/>
              </a:ext>
            </a:extLst>
          </p:cNvPr>
          <p:cNvSpPr>
            <a:spLocks noGrp="1"/>
          </p:cNvSpPr>
          <p:nvPr/>
        </p:nvSpPr>
        <p:spPr>
          <a:xfrm>
            <a:off x="933450" y="2684145"/>
            <a:ext cx="10287000" cy="4229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marL="228600" indent="-228600">
              <a:buNone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The inner NOT EXISTS identifies a missing purchase.</a:t>
            </a:r>
          </a:p>
        </p:txBody>
      </p:sp>
      <p:sp>
        <p:nvSpPr>
          <p:cNvPr id="6" name="body-3">
            <a:extLst>
              <a:ext uri="{FF2B5EF4-FFF2-40B4-BE49-F238E27FC236}">
                <a16:creationId xmlns:a16="http://schemas.microsoft.com/office/drawing/2014/main" id="{ADBCB2F1-9CF4-4A30-B2E1-19BEA6EBBF7C}"/>
              </a:ext>
            </a:extLst>
          </p:cNvPr>
          <p:cNvSpPr>
            <a:spLocks noGrp="1"/>
          </p:cNvSpPr>
          <p:nvPr/>
        </p:nvSpPr>
        <p:spPr>
          <a:xfrm>
            <a:off x="933450" y="3297555"/>
            <a:ext cx="10287000" cy="4229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marL="228600" indent="-228600">
              <a:buNone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The outer NOT EXISTS requires that no Canadian customer is missing it.</a:t>
            </a:r>
          </a:p>
        </p:txBody>
      </p:sp>
      <p:sp>
        <p:nvSpPr>
          <p:cNvPr id="7" name="body-4">
            <a:extLst>
              <a:ext uri="{FF2B5EF4-FFF2-40B4-BE49-F238E27FC236}">
                <a16:creationId xmlns:a16="http://schemas.microsoft.com/office/drawing/2014/main" id="{0C27E4A6-192D-433F-80D2-235678B322FF}"/>
              </a:ext>
            </a:extLst>
          </p:cNvPr>
          <p:cNvSpPr>
            <a:spLocks noGrp="1"/>
          </p:cNvSpPr>
          <p:nvPr/>
        </p:nvSpPr>
        <p:spPr>
          <a:xfrm>
            <a:off x="933450" y="3910965"/>
            <a:ext cx="10287000" cy="4229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marL="228600" indent="-228600">
              <a:buNone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The supplied Chinook data returns no tracks; this is a valid empty result.</a:t>
            </a:r>
          </a:p>
        </p:txBody>
      </p:sp>
      <p:sp>
        <p:nvSpPr>
          <p:cNvPr id="8" name="灯片编号占位符 3">
            <a:extLst>
              <a:ext uri="{FF2B5EF4-FFF2-40B4-BE49-F238E27FC236}">
                <a16:creationId xmlns:a16="http://schemas.microsoft.com/office/drawing/2014/main" id="{9152D643-BAAC-9693-D113-6482F3A9CBA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7AED2C7D-F957-4DD0-9E0D-C651C0C06F55}" type="slidenum">
              <a:rPr/>
              <a:t>61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9836384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6EAE083-0C15-8DB4-4680-9479785582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2"/>
            <a:ext cx="10515600" cy="904875"/>
          </a:xfrm>
        </p:spPr>
        <p:txBody>
          <a:bodyPr/>
          <a:lstStyle/>
          <a:p>
            <a:r>
              <a:rPr sz="4400" b="0"/>
              <a:t>Practice 24: Sold-Track Ratio</a:t>
            </a:r>
          </a:p>
        </p:txBody>
      </p:sp>
      <p:sp>
        <p:nvSpPr>
          <p:cNvPr id="3" name="body-0">
            <a:extLst>
              <a:ext uri="{FF2B5EF4-FFF2-40B4-BE49-F238E27FC236}">
                <a16:creationId xmlns:a16="http://schemas.microsoft.com/office/drawing/2014/main" id="{7A5341B2-7C2D-4F87-8971-0AFCA971DE64}"/>
              </a:ext>
            </a:extLst>
          </p:cNvPr>
          <p:cNvSpPr>
            <a:spLocks noGrp="1"/>
          </p:cNvSpPr>
          <p:nvPr/>
        </p:nvSpPr>
        <p:spPr>
          <a:xfrm>
            <a:off x="933450" y="1457325"/>
            <a:ext cx="10287000" cy="35433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1950">
                <a:solidFill>
                  <a:srgbClr val="525308"/>
                </a:solidFill>
                <a:latin typeface="Calibri"/>
                <a:ea typeface="Calibri"/>
                <a:cs typeface="Calibri"/>
              </a:defRPr>
            </a:pPr>
            <a:r>
              <a:rPr sz="1950">
                <a:solidFill>
                  <a:srgbClr val="525308"/>
                </a:solidFill>
                <a:latin typeface="Calibri"/>
                <a:ea typeface="Calibri"/>
                <a:cs typeface="Calibri"/>
              </a:rPr>
              <a:t>Database: chinook.db</a:t>
            </a:r>
          </a:p>
        </p:txBody>
      </p:sp>
      <p:sp>
        <p:nvSpPr>
          <p:cNvPr id="4" name="body-1">
            <a:extLst>
              <a:ext uri="{FF2B5EF4-FFF2-40B4-BE49-F238E27FC236}">
                <a16:creationId xmlns:a16="http://schemas.microsoft.com/office/drawing/2014/main" id="{A48AD9DD-88AA-4834-97E8-CCEB50EC58FF}"/>
              </a:ext>
            </a:extLst>
          </p:cNvPr>
          <p:cNvSpPr>
            <a:spLocks noGrp="1"/>
          </p:cNvSpPr>
          <p:nvPr/>
        </p:nvSpPr>
        <p:spPr>
          <a:xfrm>
            <a:off x="933450" y="2059305"/>
            <a:ext cx="10287000" cy="78867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1. For each artist, calculate the percentage of distinct tracks purchased at least</a:t>
            </a:r>
          </a:p>
          <a:p>
            <a:pPr>
              <a:buNone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once.</a:t>
            </a:r>
          </a:p>
        </p:txBody>
      </p:sp>
      <p:sp>
        <p:nvSpPr>
          <p:cNvPr id="5" name="body-2">
            <a:extLst>
              <a:ext uri="{FF2B5EF4-FFF2-40B4-BE49-F238E27FC236}">
                <a16:creationId xmlns:a16="http://schemas.microsoft.com/office/drawing/2014/main" id="{2D3A8266-A578-4DA1-81AE-961154A7A9E4}"/>
              </a:ext>
            </a:extLst>
          </p:cNvPr>
          <p:cNvSpPr>
            <a:spLocks noGrp="1"/>
          </p:cNvSpPr>
          <p:nvPr/>
        </p:nvSpPr>
        <p:spPr>
          <a:xfrm>
            <a:off x="933450" y="3076575"/>
            <a:ext cx="10287000" cy="4229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2. Round to 1 decimal place. For an artist with no tracks, return NULL.</a:t>
            </a:r>
          </a:p>
        </p:txBody>
      </p:sp>
      <p:sp>
        <p:nvSpPr>
          <p:cNvPr id="6" name="body-3">
            <a:extLst>
              <a:ext uri="{FF2B5EF4-FFF2-40B4-BE49-F238E27FC236}">
                <a16:creationId xmlns:a16="http://schemas.microsoft.com/office/drawing/2014/main" id="{035DD7FD-B793-4A4E-AC20-F612E405AF93}"/>
              </a:ext>
            </a:extLst>
          </p:cNvPr>
          <p:cNvSpPr>
            <a:spLocks noGrp="1"/>
          </p:cNvSpPr>
          <p:nvPr/>
        </p:nvSpPr>
        <p:spPr>
          <a:xfrm>
            <a:off x="933450" y="3728085"/>
            <a:ext cx="10287000" cy="4229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3. Distinguish this percentage from the number of invoice rows.</a:t>
            </a:r>
          </a:p>
        </p:txBody>
      </p:sp>
      <p:sp>
        <p:nvSpPr>
          <p:cNvPr id="7" name="practice-time">
            <a:extLst>
              <a:ext uri="{FF2B5EF4-FFF2-40B4-BE49-F238E27FC236}">
                <a16:creationId xmlns:a16="http://schemas.microsoft.com/office/drawing/2014/main" id="{EBDC31C1-B626-4BFC-9049-3B2181AE169A}"/>
              </a:ext>
            </a:extLst>
          </p:cNvPr>
          <p:cNvSpPr>
            <a:spLocks noGrp="1"/>
          </p:cNvSpPr>
          <p:nvPr/>
        </p:nvSpPr>
        <p:spPr>
          <a:xfrm>
            <a:off x="933450" y="6134100"/>
            <a:ext cx="10096500" cy="3143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1725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pPr>
            <a:r>
              <a:rPr sz="1725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Write, run and check: about 6 minutes.</a:t>
            </a:r>
          </a:p>
        </p:txBody>
      </p:sp>
      <p:sp>
        <p:nvSpPr>
          <p:cNvPr id="8" name="灯片编号占位符 3">
            <a:extLst>
              <a:ext uri="{FF2B5EF4-FFF2-40B4-BE49-F238E27FC236}">
                <a16:creationId xmlns:a16="http://schemas.microsoft.com/office/drawing/2014/main" id="{57F26127-A8C5-7A6D-C9EC-E3A4514C133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7AED2C7D-F957-4DD0-9E0D-C651C0C06F55}" type="slidenum">
              <a:rPr/>
              <a:t>62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8932319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6EAE083-0C15-8DB4-4680-9479785582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2"/>
            <a:ext cx="10515600" cy="904875"/>
          </a:xfrm>
        </p:spPr>
        <p:txBody>
          <a:bodyPr/>
          <a:lstStyle/>
          <a:p>
            <a:r>
              <a:rPr sz="4400" b="0"/>
              <a:t>Solution 24: Ratio with a Zero Denominator</a:t>
            </a:r>
          </a:p>
        </p:txBody>
      </p:sp>
      <p:sp>
        <p:nvSpPr>
          <p:cNvPr id="3" name="body-0">
            <a:extLst>
              <a:ext uri="{FF2B5EF4-FFF2-40B4-BE49-F238E27FC236}">
                <a16:creationId xmlns:a16="http://schemas.microsoft.com/office/drawing/2014/main" id="{DD9EDD1F-6DDA-4D79-8EBE-71C530FEDF89}"/>
              </a:ext>
            </a:extLst>
          </p:cNvPr>
          <p:cNvSpPr>
            <a:spLocks noGrp="1"/>
          </p:cNvSpPr>
          <p:nvPr/>
        </p:nvSpPr>
        <p:spPr>
          <a:xfrm>
            <a:off x="933450" y="1457325"/>
            <a:ext cx="10287000" cy="2974848"/>
          </a:xfrm>
          <a:prstGeom prst="rect">
            <a:avLst/>
          </a:prstGeom>
          <a:solidFill>
            <a:srgbClr val="EBF0DE"/>
          </a:solidFill>
          <a:ln w="25718">
            <a:solidFill>
              <a:srgbClr val="525308"/>
            </a:solidFill>
          </a:ln>
        </p:spPr>
        <p:txBody>
          <a:bodyPr wrap="none" lIns="95250" tIns="66675" rIns="95250" bIns="0" anchor="t">
            <a:noAutofit/>
          </a:bodyPr>
          <a:lstStyle/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25308"/>
                </a:solidFill>
                <a:latin typeface="Arial"/>
                <a:ea typeface="Arial"/>
                <a:cs typeface="Arial"/>
              </a:rPr>
              <a:t>SELECT a.ArtistId, a.Name,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25308"/>
                </a:solidFill>
                <a:latin typeface="Arial"/>
                <a:ea typeface="Arial"/>
                <a:cs typeface="Arial"/>
              </a:rPr>
              <a:t> ROUND(100.0 * COUNT(DISTINCT ii.TrackId)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25308"/>
                </a:solidFill>
                <a:latin typeface="Arial"/>
                <a:ea typeface="Arial"/>
                <a:cs typeface="Arial"/>
              </a:rPr>
              <a:t>       / NULLIF(COUNT(DISTINCT t.TrackId),0),1)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25308"/>
                </a:solidFill>
                <a:latin typeface="Arial"/>
                <a:ea typeface="Arial"/>
                <a:cs typeface="Arial"/>
              </a:rPr>
              <a:t>       AS sold_ratio_pct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25308"/>
                </a:solidFill>
                <a:latin typeface="Arial"/>
                <a:ea typeface="Arial"/>
                <a:cs typeface="Arial"/>
              </a:rPr>
              <a:t>FROM artists a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25308"/>
                </a:solidFill>
                <a:latin typeface="Arial"/>
                <a:ea typeface="Arial"/>
                <a:cs typeface="Arial"/>
              </a:rPr>
              <a:t>LEFT JOIN albums al ON al.ArtistId = a.ArtistId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25308"/>
                </a:solidFill>
                <a:latin typeface="Arial"/>
                <a:ea typeface="Arial"/>
                <a:cs typeface="Arial"/>
              </a:rPr>
              <a:t>LEFT JOIN tracks t ON t.AlbumId = al.AlbumId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25308"/>
                </a:solidFill>
                <a:latin typeface="Arial"/>
                <a:ea typeface="Arial"/>
                <a:cs typeface="Arial"/>
              </a:rPr>
              <a:t>LEFT JOIN invoice_items ii ON ii.TrackId = t.TrackId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25308"/>
                </a:solidFill>
                <a:latin typeface="Arial"/>
                <a:ea typeface="Arial"/>
                <a:cs typeface="Arial"/>
              </a:rPr>
              <a:t>GROUP BY a.ArtistId, a.Name ORDER BY a.ArtistId;</a:t>
            </a:r>
          </a:p>
        </p:txBody>
      </p:sp>
      <p:sp>
        <p:nvSpPr>
          <p:cNvPr id="4" name="body-1">
            <a:extLst>
              <a:ext uri="{FF2B5EF4-FFF2-40B4-BE49-F238E27FC236}">
                <a16:creationId xmlns:a16="http://schemas.microsoft.com/office/drawing/2014/main" id="{C092E0EC-0C64-489F-9072-C0838E142F4A}"/>
              </a:ext>
            </a:extLst>
          </p:cNvPr>
          <p:cNvSpPr>
            <a:spLocks noGrp="1"/>
          </p:cNvSpPr>
          <p:nvPr/>
        </p:nvSpPr>
        <p:spPr>
          <a:xfrm>
            <a:off x="933450" y="4651248"/>
            <a:ext cx="10287000" cy="365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2025">
                <a:solidFill>
                  <a:srgbClr val="525308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525308"/>
                </a:solidFill>
                <a:latin typeface="Calibri"/>
                <a:ea typeface="Calibri"/>
                <a:cs typeface="Calibri"/>
              </a:rPr>
              <a:t>100.0 ensures real division. NULLIF maps a zero denominator to NULL.</a:t>
            </a:r>
          </a:p>
        </p:txBody>
      </p:sp>
      <p:sp>
        <p:nvSpPr>
          <p:cNvPr id="5" name="灯片编号占位符 3">
            <a:extLst>
              <a:ext uri="{FF2B5EF4-FFF2-40B4-BE49-F238E27FC236}">
                <a16:creationId xmlns:a16="http://schemas.microsoft.com/office/drawing/2014/main" id="{57F26127-A8C5-7A6D-C9EC-E3A4514C133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7AED2C7D-F957-4DD0-9E0D-C651C0C06F55}" type="slidenum">
              <a:rPr/>
              <a:t>63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8932319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197A46-2634-054B-C18B-AB25B709A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2"/>
            <a:ext cx="10515600" cy="904875"/>
          </a:xfrm>
        </p:spPr>
        <p:txBody>
          <a:bodyPr/>
          <a:lstStyle/>
          <a:p>
            <a:r>
              <a:rPr sz="4400" b="0"/>
              <a:t>Practice 25: A Sold Flag for Every Track</a:t>
            </a:r>
          </a:p>
        </p:txBody>
      </p:sp>
      <p:sp>
        <p:nvSpPr>
          <p:cNvPr id="3" name="body-0">
            <a:extLst>
              <a:ext uri="{FF2B5EF4-FFF2-40B4-BE49-F238E27FC236}">
                <a16:creationId xmlns:a16="http://schemas.microsoft.com/office/drawing/2014/main" id="{75ED5B42-033A-44B2-9473-6A440E7DDAA3}"/>
              </a:ext>
            </a:extLst>
          </p:cNvPr>
          <p:cNvSpPr>
            <a:spLocks noGrp="1"/>
          </p:cNvSpPr>
          <p:nvPr/>
        </p:nvSpPr>
        <p:spPr>
          <a:xfrm>
            <a:off x="933450" y="1457325"/>
            <a:ext cx="10287000" cy="35433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1950">
                <a:solidFill>
                  <a:srgbClr val="525308"/>
                </a:solidFill>
                <a:latin typeface="Calibri"/>
                <a:ea typeface="Calibri"/>
                <a:cs typeface="Calibri"/>
              </a:defRPr>
            </a:pPr>
            <a:r>
              <a:rPr sz="1950">
                <a:solidFill>
                  <a:srgbClr val="525308"/>
                </a:solidFill>
                <a:latin typeface="Calibri"/>
                <a:ea typeface="Calibri"/>
                <a:cs typeface="Calibri"/>
              </a:rPr>
              <a:t>Database: chinook.db</a:t>
            </a:r>
          </a:p>
        </p:txBody>
      </p:sp>
      <p:sp>
        <p:nvSpPr>
          <p:cNvPr id="4" name="body-1">
            <a:extLst>
              <a:ext uri="{FF2B5EF4-FFF2-40B4-BE49-F238E27FC236}">
                <a16:creationId xmlns:a16="http://schemas.microsoft.com/office/drawing/2014/main" id="{85273106-02A9-4409-842E-732AB5D83304}"/>
              </a:ext>
            </a:extLst>
          </p:cNvPr>
          <p:cNvSpPr>
            <a:spLocks noGrp="1"/>
          </p:cNvSpPr>
          <p:nvPr/>
        </p:nvSpPr>
        <p:spPr>
          <a:xfrm>
            <a:off x="933450" y="2059305"/>
            <a:ext cx="10287000" cy="4229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1. Return TrackId, Name, AlbumId and is_sold for every track.</a:t>
            </a:r>
          </a:p>
        </p:txBody>
      </p:sp>
      <p:sp>
        <p:nvSpPr>
          <p:cNvPr id="5" name="body-2">
            <a:extLst>
              <a:ext uri="{FF2B5EF4-FFF2-40B4-BE49-F238E27FC236}">
                <a16:creationId xmlns:a16="http://schemas.microsoft.com/office/drawing/2014/main" id="{27AA1C37-F328-40EC-BDB0-5C9ED88171EF}"/>
              </a:ext>
            </a:extLst>
          </p:cNvPr>
          <p:cNvSpPr>
            <a:spLocks noGrp="1"/>
          </p:cNvSpPr>
          <p:nvPr/>
        </p:nvSpPr>
        <p:spPr>
          <a:xfrm>
            <a:off x="933450" y="2710815"/>
            <a:ext cx="10287000" cy="4229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2. is_sold is 1 if any invoice item refers to the track; otherwise it is 0.</a:t>
            </a:r>
          </a:p>
        </p:txBody>
      </p:sp>
      <p:sp>
        <p:nvSpPr>
          <p:cNvPr id="6" name="body-3">
            <a:extLst>
              <a:ext uri="{FF2B5EF4-FFF2-40B4-BE49-F238E27FC236}">
                <a16:creationId xmlns:a16="http://schemas.microsoft.com/office/drawing/2014/main" id="{48A6CE89-A36F-42C8-BC85-6BF36FD2763B}"/>
              </a:ext>
            </a:extLst>
          </p:cNvPr>
          <p:cNvSpPr>
            <a:spLocks noGrp="1"/>
          </p:cNvSpPr>
          <p:nvPr/>
        </p:nvSpPr>
        <p:spPr>
          <a:xfrm>
            <a:off x="933450" y="3362325"/>
            <a:ext cx="10287000" cy="4229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3. Return one output row per track.</a:t>
            </a:r>
          </a:p>
        </p:txBody>
      </p:sp>
      <p:sp>
        <p:nvSpPr>
          <p:cNvPr id="7" name="practice-time">
            <a:extLst>
              <a:ext uri="{FF2B5EF4-FFF2-40B4-BE49-F238E27FC236}">
                <a16:creationId xmlns:a16="http://schemas.microsoft.com/office/drawing/2014/main" id="{5C5C35B4-9875-4477-BC0C-66BE37581AC9}"/>
              </a:ext>
            </a:extLst>
          </p:cNvPr>
          <p:cNvSpPr>
            <a:spLocks noGrp="1"/>
          </p:cNvSpPr>
          <p:nvPr/>
        </p:nvSpPr>
        <p:spPr>
          <a:xfrm>
            <a:off x="933450" y="6134100"/>
            <a:ext cx="10096500" cy="3143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1725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pPr>
            <a:r>
              <a:rPr sz="1725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Write, run and check: about 4 minutes.</a:t>
            </a:r>
          </a:p>
        </p:txBody>
      </p:sp>
      <p:sp>
        <p:nvSpPr>
          <p:cNvPr id="8" name="灯片编号占位符 3">
            <a:extLst>
              <a:ext uri="{FF2B5EF4-FFF2-40B4-BE49-F238E27FC236}">
                <a16:creationId xmlns:a16="http://schemas.microsoft.com/office/drawing/2014/main" id="{53DC158C-D07E-3517-35C1-0E447D4DE82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7AED2C7D-F957-4DD0-9E0D-C651C0C06F55}" type="slidenum">
              <a:rPr/>
              <a:t>64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0848129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197A46-2634-054B-C18B-AB25B709A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2"/>
            <a:ext cx="10515600" cy="904875"/>
          </a:xfrm>
        </p:spPr>
        <p:txBody>
          <a:bodyPr/>
          <a:lstStyle/>
          <a:p>
            <a:r>
              <a:rPr sz="4400" b="0"/>
              <a:t>Solution 25: CASE with EXISTS</a:t>
            </a:r>
          </a:p>
        </p:txBody>
      </p:sp>
      <p:sp>
        <p:nvSpPr>
          <p:cNvPr id="3" name="body-0">
            <a:extLst>
              <a:ext uri="{FF2B5EF4-FFF2-40B4-BE49-F238E27FC236}">
                <a16:creationId xmlns:a16="http://schemas.microsoft.com/office/drawing/2014/main" id="{10B908E7-7AFD-48CF-AB25-CA85B6765592}"/>
              </a:ext>
            </a:extLst>
          </p:cNvPr>
          <p:cNvSpPr>
            <a:spLocks noGrp="1"/>
          </p:cNvSpPr>
          <p:nvPr/>
        </p:nvSpPr>
        <p:spPr>
          <a:xfrm>
            <a:off x="933450" y="1457325"/>
            <a:ext cx="10287000" cy="2356104"/>
          </a:xfrm>
          <a:prstGeom prst="rect">
            <a:avLst/>
          </a:prstGeom>
          <a:solidFill>
            <a:srgbClr val="EBF0DE"/>
          </a:solidFill>
          <a:ln w="25718">
            <a:solidFill>
              <a:srgbClr val="525308"/>
            </a:solidFill>
          </a:ln>
        </p:spPr>
        <p:txBody>
          <a:bodyPr wrap="none" lIns="95250" tIns="66675" rIns="95250" bIns="0" anchor="t">
            <a:noAutofit/>
          </a:bodyPr>
          <a:lstStyle/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25308"/>
                </a:solidFill>
                <a:latin typeface="Arial"/>
                <a:ea typeface="Arial"/>
                <a:cs typeface="Arial"/>
              </a:rPr>
              <a:t>SELECT t.TrackId, t.Name, t.AlbumId,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25308"/>
                </a:solidFill>
                <a:latin typeface="Arial"/>
                <a:ea typeface="Arial"/>
                <a:cs typeface="Arial"/>
              </a:rPr>
              <a:t> CASE WHEN EXISTS (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25308"/>
                </a:solidFill>
                <a:latin typeface="Arial"/>
                <a:ea typeface="Arial"/>
                <a:cs typeface="Arial"/>
              </a:rPr>
              <a:t>    SELECT 1 FROM invoice_items ii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25308"/>
                </a:solidFill>
                <a:latin typeface="Arial"/>
                <a:ea typeface="Arial"/>
                <a:cs typeface="Arial"/>
              </a:rPr>
              <a:t>    WHERE ii.TrackId = t.TrackId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25308"/>
                </a:solidFill>
                <a:latin typeface="Arial"/>
                <a:ea typeface="Arial"/>
                <a:cs typeface="Arial"/>
              </a:rPr>
              <a:t> ) THEN 1 ELSE 0 END AS is_sold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25308"/>
                </a:solidFill>
                <a:latin typeface="Arial"/>
                <a:ea typeface="Arial"/>
                <a:cs typeface="Arial"/>
              </a:rPr>
              <a:t>FROM tracks t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25308"/>
                </a:solidFill>
                <a:latin typeface="Arial"/>
                <a:ea typeface="Arial"/>
                <a:cs typeface="Arial"/>
              </a:rPr>
              <a:t>ORDER BY t.TrackId;</a:t>
            </a:r>
          </a:p>
        </p:txBody>
      </p:sp>
      <p:sp>
        <p:nvSpPr>
          <p:cNvPr id="4" name="body-1">
            <a:extLst>
              <a:ext uri="{FF2B5EF4-FFF2-40B4-BE49-F238E27FC236}">
                <a16:creationId xmlns:a16="http://schemas.microsoft.com/office/drawing/2014/main" id="{B29EB927-057A-4EC2-98A7-F49095F71035}"/>
              </a:ext>
            </a:extLst>
          </p:cNvPr>
          <p:cNvSpPr>
            <a:spLocks noGrp="1"/>
          </p:cNvSpPr>
          <p:nvPr/>
        </p:nvSpPr>
        <p:spPr>
          <a:xfrm>
            <a:off x="933450" y="4032504"/>
            <a:ext cx="10287000" cy="365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2025">
                <a:solidFill>
                  <a:srgbClr val="525308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525308"/>
                </a:solidFill>
                <a:latin typeface="Calibri"/>
                <a:ea typeface="Calibri"/>
                <a:cs typeface="Calibri"/>
              </a:rPr>
              <a:t>This complete query avoids duplicating a track that has several sales.</a:t>
            </a:r>
          </a:p>
        </p:txBody>
      </p:sp>
      <p:sp>
        <p:nvSpPr>
          <p:cNvPr id="5" name="灯片编号占位符 3">
            <a:extLst>
              <a:ext uri="{FF2B5EF4-FFF2-40B4-BE49-F238E27FC236}">
                <a16:creationId xmlns:a16="http://schemas.microsoft.com/office/drawing/2014/main" id="{53DC158C-D07E-3517-35C1-0E447D4DE82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7AED2C7D-F957-4DD0-9E0D-C651C0C06F55}" type="slidenum">
              <a:rPr/>
              <a:t>65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08481291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DA1597-2AA6-8C39-7969-B43053D5E7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2"/>
            <a:ext cx="10515600" cy="904875"/>
          </a:xfrm>
        </p:spPr>
        <p:txBody>
          <a:bodyPr/>
          <a:lstStyle/>
          <a:p>
            <a:r>
              <a:rPr sz="4400" b="0"/>
              <a:t>Practice 26: Last Person on the Bus</a:t>
            </a:r>
          </a:p>
        </p:txBody>
      </p:sp>
      <p:sp>
        <p:nvSpPr>
          <p:cNvPr id="3" name="body-0">
            <a:extLst>
              <a:ext uri="{FF2B5EF4-FFF2-40B4-BE49-F238E27FC236}">
                <a16:creationId xmlns:a16="http://schemas.microsoft.com/office/drawing/2014/main" id="{B67050DE-A27B-4054-8456-555A447C064B}"/>
              </a:ext>
            </a:extLst>
          </p:cNvPr>
          <p:cNvSpPr>
            <a:spLocks noGrp="1"/>
          </p:cNvSpPr>
          <p:nvPr/>
        </p:nvSpPr>
        <p:spPr>
          <a:xfrm>
            <a:off x="933450" y="1457325"/>
            <a:ext cx="10287000" cy="35433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1950">
                <a:solidFill>
                  <a:srgbClr val="525308"/>
                </a:solidFill>
                <a:latin typeface="Calibri"/>
                <a:ea typeface="Calibri"/>
                <a:cs typeface="Calibri"/>
              </a:defRPr>
            </a:pPr>
            <a:r>
              <a:rPr sz="1950">
                <a:solidFill>
                  <a:srgbClr val="525308"/>
                </a:solidFill>
                <a:latin typeface="Calibri"/>
                <a:ea typeface="Calibri"/>
                <a:cs typeface="Calibri"/>
              </a:rPr>
              <a:t>Database: lab_work.db</a:t>
            </a:r>
          </a:p>
        </p:txBody>
      </p:sp>
      <p:sp>
        <p:nvSpPr>
          <p:cNvPr id="4" name="body-1">
            <a:extLst>
              <a:ext uri="{FF2B5EF4-FFF2-40B4-BE49-F238E27FC236}">
                <a16:creationId xmlns:a16="http://schemas.microsoft.com/office/drawing/2014/main" id="{AF691661-6BDF-4FB5-9529-973CDFEFF1E1}"/>
              </a:ext>
            </a:extLst>
          </p:cNvPr>
          <p:cNvSpPr>
            <a:spLocks noGrp="1"/>
          </p:cNvSpPr>
          <p:nvPr/>
        </p:nvSpPr>
        <p:spPr>
          <a:xfrm>
            <a:off x="933450" y="2059305"/>
            <a:ext cx="10287000" cy="4229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1. Queue contains Alice 250 kg (turn 1), Bob 175 (2), Cara 400 (3), Dan 200 (4).</a:t>
            </a:r>
          </a:p>
        </p:txBody>
      </p:sp>
      <p:sp>
        <p:nvSpPr>
          <p:cNvPr id="5" name="body-2">
            <a:extLst>
              <a:ext uri="{FF2B5EF4-FFF2-40B4-BE49-F238E27FC236}">
                <a16:creationId xmlns:a16="http://schemas.microsoft.com/office/drawing/2014/main" id="{254CBFDB-DE93-480D-8C80-1D4ECCA24E55}"/>
              </a:ext>
            </a:extLst>
          </p:cNvPr>
          <p:cNvSpPr>
            <a:spLocks noGrp="1"/>
          </p:cNvSpPr>
          <p:nvPr/>
        </p:nvSpPr>
        <p:spPr>
          <a:xfrm>
            <a:off x="933450" y="2710815"/>
            <a:ext cx="10287000" cy="78867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2. The limit is 1000 kg. Boarding follows increasing turn and stops when the next</a:t>
            </a:r>
          </a:p>
          <a:p>
            <a:pPr>
              <a:buNone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person would exceed the limit.</a:t>
            </a:r>
          </a:p>
        </p:txBody>
      </p:sp>
      <p:sp>
        <p:nvSpPr>
          <p:cNvPr id="6" name="body-3">
            <a:extLst>
              <a:ext uri="{FF2B5EF4-FFF2-40B4-BE49-F238E27FC236}">
                <a16:creationId xmlns:a16="http://schemas.microsoft.com/office/drawing/2014/main" id="{9055E12F-7DEE-4564-A325-0210E673BA77}"/>
              </a:ext>
            </a:extLst>
          </p:cNvPr>
          <p:cNvSpPr>
            <a:spLocks noGrp="1"/>
          </p:cNvSpPr>
          <p:nvPr/>
        </p:nvSpPr>
        <p:spPr>
          <a:xfrm>
            <a:off x="933450" y="3728085"/>
            <a:ext cx="10287000" cy="78867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3. Return the last person who can board. Weights are positive and turns are</a:t>
            </a:r>
          </a:p>
          <a:p>
            <a:pPr>
              <a:buNone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unique.</a:t>
            </a:r>
          </a:p>
        </p:txBody>
      </p:sp>
      <p:sp>
        <p:nvSpPr>
          <p:cNvPr id="7" name="practice-time">
            <a:extLst>
              <a:ext uri="{FF2B5EF4-FFF2-40B4-BE49-F238E27FC236}">
                <a16:creationId xmlns:a16="http://schemas.microsoft.com/office/drawing/2014/main" id="{920257AD-7A2B-449D-BFF6-17579F62773D}"/>
              </a:ext>
            </a:extLst>
          </p:cNvPr>
          <p:cNvSpPr>
            <a:spLocks noGrp="1"/>
          </p:cNvSpPr>
          <p:nvPr/>
        </p:nvSpPr>
        <p:spPr>
          <a:xfrm>
            <a:off x="933450" y="6134100"/>
            <a:ext cx="10096500" cy="3143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1725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pPr>
            <a:r>
              <a:rPr sz="1725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Write, run and check: about 6 minutes.</a:t>
            </a:r>
          </a:p>
        </p:txBody>
      </p:sp>
      <p:sp>
        <p:nvSpPr>
          <p:cNvPr id="8" name="灯片编号占位符 3">
            <a:extLst>
              <a:ext uri="{FF2B5EF4-FFF2-40B4-BE49-F238E27FC236}">
                <a16:creationId xmlns:a16="http://schemas.microsoft.com/office/drawing/2014/main" id="{769E985B-190A-E043-6F6E-D765ACA9E13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7AED2C7D-F957-4DD0-9E0D-C651C0C06F55}" type="slidenum">
              <a:rPr/>
              <a:t>66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55502340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DA1597-2AA6-8C39-7969-B43053D5E7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2"/>
            <a:ext cx="10515600" cy="904875"/>
          </a:xfrm>
        </p:spPr>
        <p:txBody>
          <a:bodyPr/>
          <a:lstStyle/>
          <a:p>
            <a:r>
              <a:rPr sz="4400" b="0"/>
              <a:t>Solution 26: Running Total with a Self-Join</a:t>
            </a:r>
          </a:p>
        </p:txBody>
      </p:sp>
      <p:sp>
        <p:nvSpPr>
          <p:cNvPr id="3" name="body-0">
            <a:extLst>
              <a:ext uri="{FF2B5EF4-FFF2-40B4-BE49-F238E27FC236}">
                <a16:creationId xmlns:a16="http://schemas.microsoft.com/office/drawing/2014/main" id="{C51D2404-50A6-4B4E-B202-2B33943B47B9}"/>
              </a:ext>
            </a:extLst>
          </p:cNvPr>
          <p:cNvSpPr>
            <a:spLocks noGrp="1"/>
          </p:cNvSpPr>
          <p:nvPr/>
        </p:nvSpPr>
        <p:spPr>
          <a:xfrm>
            <a:off x="933450" y="1457325"/>
            <a:ext cx="10287000" cy="2356104"/>
          </a:xfrm>
          <a:prstGeom prst="rect">
            <a:avLst/>
          </a:prstGeom>
          <a:solidFill>
            <a:srgbClr val="EBF0DE"/>
          </a:solidFill>
          <a:ln w="25718">
            <a:solidFill>
              <a:srgbClr val="525308"/>
            </a:solidFill>
          </a:ln>
        </p:spPr>
        <p:txBody>
          <a:bodyPr wrap="none" lIns="95250" tIns="66675" rIns="95250" bIns="0" anchor="t">
            <a:noAutofit/>
          </a:bodyPr>
          <a:lstStyle/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25308"/>
                </a:solidFill>
                <a:latin typeface="Arial"/>
                <a:ea typeface="Arial"/>
                <a:cs typeface="Arial"/>
              </a:rPr>
              <a:t>SELECT q1.person_name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25308"/>
                </a:solidFill>
                <a:latin typeface="Arial"/>
                <a:ea typeface="Arial"/>
                <a:cs typeface="Arial"/>
              </a:rPr>
              <a:t>FROM Queue q1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25308"/>
                </a:solidFill>
                <a:latin typeface="Arial"/>
                <a:ea typeface="Arial"/>
                <a:cs typeface="Arial"/>
              </a:rPr>
              <a:t>JOIN Queue q2 ON q2.turn &lt;= q1.turn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25308"/>
                </a:solidFill>
                <a:latin typeface="Arial"/>
                <a:ea typeface="Arial"/>
                <a:cs typeface="Arial"/>
              </a:rPr>
              <a:t>GROUP BY q1.person_id, q1.person_name, q1.turn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25308"/>
                </a:solidFill>
                <a:latin typeface="Arial"/>
                <a:ea typeface="Arial"/>
                <a:cs typeface="Arial"/>
              </a:rPr>
              <a:t>HAVING SUM(q2.weight) &lt;= 1000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25308"/>
                </a:solidFill>
                <a:latin typeface="Arial"/>
                <a:ea typeface="Arial"/>
                <a:cs typeface="Arial"/>
              </a:rPr>
              <a:t>ORDER BY q1.turn DESC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25308"/>
                </a:solidFill>
                <a:latin typeface="Arial"/>
                <a:ea typeface="Arial"/>
                <a:cs typeface="Arial"/>
              </a:rPr>
              <a:t>LIMIT 1;</a:t>
            </a:r>
          </a:p>
        </p:txBody>
      </p:sp>
      <p:sp>
        <p:nvSpPr>
          <p:cNvPr id="4" name="body-1">
            <a:extLst>
              <a:ext uri="{FF2B5EF4-FFF2-40B4-BE49-F238E27FC236}">
                <a16:creationId xmlns:a16="http://schemas.microsoft.com/office/drawing/2014/main" id="{A21E9F15-8663-46ED-BBB3-CA5EB34412ED}"/>
              </a:ext>
            </a:extLst>
          </p:cNvPr>
          <p:cNvSpPr>
            <a:spLocks noGrp="1"/>
          </p:cNvSpPr>
          <p:nvPr/>
        </p:nvSpPr>
        <p:spPr>
          <a:xfrm>
            <a:off x="933450" y="4032504"/>
            <a:ext cx="10287000" cy="365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2025">
                <a:solidFill>
                  <a:srgbClr val="525308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525308"/>
                </a:solidFill>
                <a:latin typeface="Calibri"/>
                <a:ea typeface="Calibri"/>
                <a:cs typeface="Calibri"/>
              </a:rPr>
              <a:t>Running totals: 250, 425, 825, 1025. Answer: Cara.</a:t>
            </a:r>
          </a:p>
        </p:txBody>
      </p:sp>
      <p:sp>
        <p:nvSpPr>
          <p:cNvPr id="5" name="灯片编号占位符 3">
            <a:extLst>
              <a:ext uri="{FF2B5EF4-FFF2-40B4-BE49-F238E27FC236}">
                <a16:creationId xmlns:a16="http://schemas.microsoft.com/office/drawing/2014/main" id="{769E985B-190A-E043-6F6E-D765ACA9E13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7AED2C7D-F957-4DD0-9E0D-C651C0C06F55}" type="slidenum">
              <a:rPr/>
              <a:t>67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55502340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4C0697A-70EC-C36C-3DDC-28DD40080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2"/>
            <a:ext cx="10515600" cy="904875"/>
          </a:xfrm>
        </p:spPr>
        <p:txBody>
          <a:bodyPr/>
          <a:lstStyle/>
          <a:p>
            <a:r>
              <a:rPr sz="4400" b="0"/>
              <a:t>Practice 27: Top Three Distinct Salaries</a:t>
            </a:r>
          </a:p>
        </p:txBody>
      </p:sp>
      <p:sp>
        <p:nvSpPr>
          <p:cNvPr id="3" name="body-0">
            <a:extLst>
              <a:ext uri="{FF2B5EF4-FFF2-40B4-BE49-F238E27FC236}">
                <a16:creationId xmlns:a16="http://schemas.microsoft.com/office/drawing/2014/main" id="{49F4E1C3-DD3B-4459-9A3C-8A4EBAD4FCA0}"/>
              </a:ext>
            </a:extLst>
          </p:cNvPr>
          <p:cNvSpPr>
            <a:spLocks noGrp="1"/>
          </p:cNvSpPr>
          <p:nvPr/>
        </p:nvSpPr>
        <p:spPr>
          <a:xfrm>
            <a:off x="933450" y="1457325"/>
            <a:ext cx="10287000" cy="35433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1950">
                <a:solidFill>
                  <a:srgbClr val="525308"/>
                </a:solidFill>
                <a:latin typeface="Calibri"/>
                <a:ea typeface="Calibri"/>
                <a:cs typeface="Calibri"/>
              </a:defRPr>
            </a:pPr>
            <a:r>
              <a:rPr sz="1950">
                <a:solidFill>
                  <a:srgbClr val="525308"/>
                </a:solidFill>
                <a:latin typeface="Calibri"/>
                <a:ea typeface="Calibri"/>
                <a:cs typeface="Calibri"/>
              </a:rPr>
              <a:t>Database: lab_work.db</a:t>
            </a:r>
          </a:p>
        </p:txBody>
      </p:sp>
      <p:sp>
        <p:nvSpPr>
          <p:cNvPr id="4" name="body-1">
            <a:extLst>
              <a:ext uri="{FF2B5EF4-FFF2-40B4-BE49-F238E27FC236}">
                <a16:creationId xmlns:a16="http://schemas.microsoft.com/office/drawing/2014/main" id="{F2C8421E-1228-47DC-8461-D886833B5B35}"/>
              </a:ext>
            </a:extLst>
          </p:cNvPr>
          <p:cNvSpPr>
            <a:spLocks noGrp="1"/>
          </p:cNvSpPr>
          <p:nvPr/>
        </p:nvSpPr>
        <p:spPr>
          <a:xfrm>
            <a:off x="933450" y="2059305"/>
            <a:ext cx="10287000" cy="4229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1. Use Department and Employee from the setup.</a:t>
            </a:r>
          </a:p>
        </p:txBody>
      </p:sp>
      <p:sp>
        <p:nvSpPr>
          <p:cNvPr id="5" name="body-2">
            <a:extLst>
              <a:ext uri="{FF2B5EF4-FFF2-40B4-BE49-F238E27FC236}">
                <a16:creationId xmlns:a16="http://schemas.microsoft.com/office/drawing/2014/main" id="{30651B98-1B0C-47B2-84EA-8770FE8C8251}"/>
              </a:ext>
            </a:extLst>
          </p:cNvPr>
          <p:cNvSpPr>
            <a:spLocks noGrp="1"/>
          </p:cNvSpPr>
          <p:nvPr/>
        </p:nvSpPr>
        <p:spPr>
          <a:xfrm>
            <a:off x="933450" y="2710815"/>
            <a:ext cx="10287000" cy="4229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2. Return employees in the top 3 DISTINCT salary levels within their department.</a:t>
            </a:r>
          </a:p>
        </p:txBody>
      </p:sp>
      <p:sp>
        <p:nvSpPr>
          <p:cNvPr id="6" name="body-3">
            <a:extLst>
              <a:ext uri="{FF2B5EF4-FFF2-40B4-BE49-F238E27FC236}">
                <a16:creationId xmlns:a16="http://schemas.microsoft.com/office/drawing/2014/main" id="{72881E8B-5AC0-40CB-B054-F171E8755449}"/>
              </a:ext>
            </a:extLst>
          </p:cNvPr>
          <p:cNvSpPr>
            <a:spLocks noGrp="1"/>
          </p:cNvSpPr>
          <p:nvPr/>
        </p:nvSpPr>
        <p:spPr>
          <a:xfrm>
            <a:off x="933450" y="3362325"/>
            <a:ext cx="10287000" cy="4229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3. Include every employee tied at one of those levels.</a:t>
            </a:r>
          </a:p>
        </p:txBody>
      </p:sp>
      <p:sp>
        <p:nvSpPr>
          <p:cNvPr id="7" name="practice-time">
            <a:extLst>
              <a:ext uri="{FF2B5EF4-FFF2-40B4-BE49-F238E27FC236}">
                <a16:creationId xmlns:a16="http://schemas.microsoft.com/office/drawing/2014/main" id="{1530D821-0A07-43D2-9793-61697C1CB54A}"/>
              </a:ext>
            </a:extLst>
          </p:cNvPr>
          <p:cNvSpPr>
            <a:spLocks noGrp="1"/>
          </p:cNvSpPr>
          <p:nvPr/>
        </p:nvSpPr>
        <p:spPr>
          <a:xfrm>
            <a:off x="933450" y="6134100"/>
            <a:ext cx="10096500" cy="3143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1725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pPr>
            <a:r>
              <a:rPr sz="1725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Write, run and check: about 6 minutes.</a:t>
            </a:r>
          </a:p>
        </p:txBody>
      </p:sp>
      <p:sp>
        <p:nvSpPr>
          <p:cNvPr id="8" name="灯片编号占位符 3">
            <a:extLst>
              <a:ext uri="{FF2B5EF4-FFF2-40B4-BE49-F238E27FC236}">
                <a16:creationId xmlns:a16="http://schemas.microsoft.com/office/drawing/2014/main" id="{2D0AB943-EE6F-F612-2AD0-8AA5B9314A1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7AED2C7D-F957-4DD0-9E0D-C651C0C06F55}" type="slidenum">
              <a:rPr/>
              <a:t>68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22642319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4C0697A-70EC-C36C-3DDC-28DD40080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2"/>
            <a:ext cx="10515600" cy="904875"/>
          </a:xfrm>
        </p:spPr>
        <p:txBody>
          <a:bodyPr/>
          <a:lstStyle/>
          <a:p>
            <a:r>
              <a:rPr sz="4400" b="0"/>
              <a:t>Solution 27: Count the Higher Salary Levels</a:t>
            </a:r>
          </a:p>
        </p:txBody>
      </p:sp>
      <p:sp>
        <p:nvSpPr>
          <p:cNvPr id="3" name="body-0">
            <a:extLst>
              <a:ext uri="{FF2B5EF4-FFF2-40B4-BE49-F238E27FC236}">
                <a16:creationId xmlns:a16="http://schemas.microsoft.com/office/drawing/2014/main" id="{506D38CE-5CCA-4737-AAB6-0CE7D90A0BD9}"/>
              </a:ext>
            </a:extLst>
          </p:cNvPr>
          <p:cNvSpPr>
            <a:spLocks noGrp="1"/>
          </p:cNvSpPr>
          <p:nvPr/>
        </p:nvSpPr>
        <p:spPr>
          <a:xfrm>
            <a:off x="933450" y="1457325"/>
            <a:ext cx="10287000" cy="2974848"/>
          </a:xfrm>
          <a:prstGeom prst="rect">
            <a:avLst/>
          </a:prstGeom>
          <a:solidFill>
            <a:srgbClr val="EBF0DE"/>
          </a:solidFill>
          <a:ln w="25718">
            <a:solidFill>
              <a:srgbClr val="525308"/>
            </a:solidFill>
          </a:ln>
        </p:spPr>
        <p:txBody>
          <a:bodyPr wrap="none" lIns="95250" tIns="66675" rIns="95250" bIns="0" anchor="t">
            <a:noAutofit/>
          </a:bodyPr>
          <a:lstStyle/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25308"/>
                </a:solidFill>
                <a:latin typeface="Arial"/>
                <a:ea typeface="Arial"/>
                <a:cs typeface="Arial"/>
              </a:rPr>
              <a:t>SELECT d.name AS Department, e1.name AS Employee,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25308"/>
                </a:solidFill>
                <a:latin typeface="Arial"/>
                <a:ea typeface="Arial"/>
                <a:cs typeface="Arial"/>
              </a:rPr>
              <a:t>       e1.salary AS Salary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25308"/>
                </a:solidFill>
                <a:latin typeface="Arial"/>
                <a:ea typeface="Arial"/>
                <a:cs typeface="Arial"/>
              </a:rPr>
              <a:t>FROM Employee e1 JOIN Department d ON d.id = e1.departmentId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25308"/>
                </a:solidFill>
                <a:latin typeface="Arial"/>
                <a:ea typeface="Arial"/>
                <a:cs typeface="Arial"/>
              </a:rPr>
              <a:t>WHERE 3 &gt; (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25308"/>
                </a:solidFill>
                <a:latin typeface="Arial"/>
                <a:ea typeface="Arial"/>
                <a:cs typeface="Arial"/>
              </a:rPr>
              <a:t> SELECT COUNT(DISTINCT e2.salary) FROM Employee e2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25308"/>
                </a:solidFill>
                <a:latin typeface="Arial"/>
                <a:ea typeface="Arial"/>
                <a:cs typeface="Arial"/>
              </a:rPr>
              <a:t> WHERE e2.departmentId = e1.departmentId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25308"/>
                </a:solidFill>
                <a:latin typeface="Arial"/>
                <a:ea typeface="Arial"/>
                <a:cs typeface="Arial"/>
              </a:rPr>
              <a:t>   AND e2.salary &gt; e1.salary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25308"/>
                </a:solidFill>
                <a:latin typeface="Arial"/>
                <a:ea typeface="Arial"/>
                <a:cs typeface="Arial"/>
              </a:rPr>
              <a:t>)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25308"/>
                </a:solidFill>
                <a:latin typeface="Arial"/>
                <a:ea typeface="Arial"/>
                <a:cs typeface="Arial"/>
              </a:rPr>
              <a:t>ORDER BY d.id, e1.salary DESC, e1.id;</a:t>
            </a:r>
          </a:p>
        </p:txBody>
      </p:sp>
      <p:sp>
        <p:nvSpPr>
          <p:cNvPr id="4" name="body-1">
            <a:extLst>
              <a:ext uri="{FF2B5EF4-FFF2-40B4-BE49-F238E27FC236}">
                <a16:creationId xmlns:a16="http://schemas.microsoft.com/office/drawing/2014/main" id="{394B18D1-1530-472D-AADC-A1ADF74C39AF}"/>
              </a:ext>
            </a:extLst>
          </p:cNvPr>
          <p:cNvSpPr>
            <a:spLocks noGrp="1"/>
          </p:cNvSpPr>
          <p:nvPr/>
        </p:nvSpPr>
        <p:spPr>
          <a:xfrm>
            <a:off x="933450" y="4651248"/>
            <a:ext cx="10287000" cy="365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2025">
                <a:solidFill>
                  <a:srgbClr val="525308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525308"/>
                </a:solidFill>
                <a:latin typeface="Calibri"/>
                <a:ea typeface="Calibri"/>
                <a:cs typeface="Calibri"/>
              </a:rPr>
              <a:t>IT: Ada, Ben, Cara, Dev. Sales: Fay, Gus. Ties may produce more than three employees.</a:t>
            </a:r>
          </a:p>
        </p:txBody>
      </p:sp>
      <p:sp>
        <p:nvSpPr>
          <p:cNvPr id="5" name="灯片编号占位符 3">
            <a:extLst>
              <a:ext uri="{FF2B5EF4-FFF2-40B4-BE49-F238E27FC236}">
                <a16:creationId xmlns:a16="http://schemas.microsoft.com/office/drawing/2014/main" id="{2D0AB943-EE6F-F612-2AD0-8AA5B9314A1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7AED2C7D-F957-4DD0-9E0D-C651C0C06F55}" type="slidenum">
              <a:rPr/>
              <a:t>69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22642319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15C33D-AF9C-8C1E-BCF8-D7A66BAA20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2"/>
            <a:ext cx="10515600" cy="904875"/>
          </a:xfrm>
        </p:spPr>
        <p:txBody>
          <a:bodyPr/>
          <a:lstStyle/>
          <a:p>
            <a:r>
              <a:rPr sz="4400" b="0"/>
              <a:t>Practice 28: Total Salary by Department</a:t>
            </a:r>
          </a:p>
        </p:txBody>
      </p:sp>
      <p:sp>
        <p:nvSpPr>
          <p:cNvPr id="3" name="body-0">
            <a:extLst>
              <a:ext uri="{FF2B5EF4-FFF2-40B4-BE49-F238E27FC236}">
                <a16:creationId xmlns:a16="http://schemas.microsoft.com/office/drawing/2014/main" id="{FF2E0DE8-8011-4693-A38B-AAFB6E679FC1}"/>
              </a:ext>
            </a:extLst>
          </p:cNvPr>
          <p:cNvSpPr>
            <a:spLocks noGrp="1"/>
          </p:cNvSpPr>
          <p:nvPr/>
        </p:nvSpPr>
        <p:spPr>
          <a:xfrm>
            <a:off x="933450" y="1457325"/>
            <a:ext cx="10287000" cy="35433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1950">
                <a:solidFill>
                  <a:srgbClr val="525308"/>
                </a:solidFill>
                <a:latin typeface="Calibri"/>
                <a:ea typeface="Calibri"/>
                <a:cs typeface="Calibri"/>
              </a:defRPr>
            </a:pPr>
            <a:r>
              <a:rPr sz="1950">
                <a:solidFill>
                  <a:srgbClr val="525308"/>
                </a:solidFill>
                <a:latin typeface="Calibri"/>
                <a:ea typeface="Calibri"/>
                <a:cs typeface="Calibri"/>
              </a:rPr>
              <a:t>Database: lab_work.db</a:t>
            </a:r>
          </a:p>
        </p:txBody>
      </p:sp>
      <p:sp>
        <p:nvSpPr>
          <p:cNvPr id="4" name="body-1">
            <a:extLst>
              <a:ext uri="{FF2B5EF4-FFF2-40B4-BE49-F238E27FC236}">
                <a16:creationId xmlns:a16="http://schemas.microsoft.com/office/drawing/2014/main" id="{380B2D07-D1A8-4C14-818A-DEB07FA7D50B}"/>
              </a:ext>
            </a:extLst>
          </p:cNvPr>
          <p:cNvSpPr>
            <a:spLocks noGrp="1"/>
          </p:cNvSpPr>
          <p:nvPr/>
        </p:nvSpPr>
        <p:spPr>
          <a:xfrm>
            <a:off x="933450" y="2059305"/>
            <a:ext cx="10287000" cy="4229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1. Calculate the TOTAL salary for every department, including empty Research.</a:t>
            </a:r>
          </a:p>
        </p:txBody>
      </p:sp>
      <p:sp>
        <p:nvSpPr>
          <p:cNvPr id="5" name="body-2">
            <a:extLst>
              <a:ext uri="{FF2B5EF4-FFF2-40B4-BE49-F238E27FC236}">
                <a16:creationId xmlns:a16="http://schemas.microsoft.com/office/drawing/2014/main" id="{5C91CAF6-754B-45A3-8244-DD03E8340AD8}"/>
              </a:ext>
            </a:extLst>
          </p:cNvPr>
          <p:cNvSpPr>
            <a:spLocks noGrp="1"/>
          </p:cNvSpPr>
          <p:nvPr/>
        </p:nvSpPr>
        <p:spPr>
          <a:xfrm>
            <a:off x="933450" y="2710815"/>
            <a:ext cx="10287000" cy="4229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2. Return zero for a department with no employees.</a:t>
            </a:r>
          </a:p>
        </p:txBody>
      </p:sp>
      <p:sp>
        <p:nvSpPr>
          <p:cNvPr id="6" name="body-3">
            <a:extLst>
              <a:ext uri="{FF2B5EF4-FFF2-40B4-BE49-F238E27FC236}">
                <a16:creationId xmlns:a16="http://schemas.microsoft.com/office/drawing/2014/main" id="{61A91B1E-D3CC-43DE-9FFB-A772AF29322A}"/>
              </a:ext>
            </a:extLst>
          </p:cNvPr>
          <p:cNvSpPr>
            <a:spLocks noGrp="1"/>
          </p:cNvSpPr>
          <p:nvPr/>
        </p:nvSpPr>
        <p:spPr>
          <a:xfrm>
            <a:off x="933450" y="3362325"/>
            <a:ext cx="10287000" cy="4229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3. Write one GROUP BY solution and one correlated-subquery solution.</a:t>
            </a:r>
          </a:p>
        </p:txBody>
      </p:sp>
      <p:sp>
        <p:nvSpPr>
          <p:cNvPr id="7" name="practice-time">
            <a:extLst>
              <a:ext uri="{FF2B5EF4-FFF2-40B4-BE49-F238E27FC236}">
                <a16:creationId xmlns:a16="http://schemas.microsoft.com/office/drawing/2014/main" id="{D6D1589E-16F4-4866-B3B8-FB9226B87F3F}"/>
              </a:ext>
            </a:extLst>
          </p:cNvPr>
          <p:cNvSpPr>
            <a:spLocks noGrp="1"/>
          </p:cNvSpPr>
          <p:nvPr/>
        </p:nvSpPr>
        <p:spPr>
          <a:xfrm>
            <a:off x="933450" y="6134100"/>
            <a:ext cx="10096500" cy="3143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1725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pPr>
            <a:r>
              <a:rPr sz="1725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Write, run and check: about 5 minutes.</a:t>
            </a:r>
          </a:p>
        </p:txBody>
      </p:sp>
      <p:sp>
        <p:nvSpPr>
          <p:cNvPr id="8" name="灯片编号占位符 3">
            <a:extLst>
              <a:ext uri="{FF2B5EF4-FFF2-40B4-BE49-F238E27FC236}">
                <a16:creationId xmlns:a16="http://schemas.microsoft.com/office/drawing/2014/main" id="{4097F950-BB33-22DE-21CD-AB92A9FEFBF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7AED2C7D-F957-4DD0-9E0D-C651C0C06F55}" type="slidenum">
              <a:rPr/>
              <a:t>70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99181052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15C33D-AF9C-8C1E-BCF8-D7A66BAA20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2"/>
            <a:ext cx="10515600" cy="904875"/>
          </a:xfrm>
        </p:spPr>
        <p:txBody>
          <a:bodyPr/>
          <a:lstStyle/>
          <a:p>
            <a:r>
              <a:rPr sz="4400" b="0"/>
              <a:t>Solution 28: SUM with GROUP BY</a:t>
            </a:r>
          </a:p>
        </p:txBody>
      </p:sp>
      <p:sp>
        <p:nvSpPr>
          <p:cNvPr id="3" name="body-0">
            <a:extLst>
              <a:ext uri="{FF2B5EF4-FFF2-40B4-BE49-F238E27FC236}">
                <a16:creationId xmlns:a16="http://schemas.microsoft.com/office/drawing/2014/main" id="{727033CC-77C3-4AC2-A76E-22578E277329}"/>
              </a:ext>
            </a:extLst>
          </p:cNvPr>
          <p:cNvSpPr>
            <a:spLocks noGrp="1"/>
          </p:cNvSpPr>
          <p:nvPr/>
        </p:nvSpPr>
        <p:spPr>
          <a:xfrm>
            <a:off x="933450" y="1457325"/>
            <a:ext cx="10287000" cy="1737360"/>
          </a:xfrm>
          <a:prstGeom prst="rect">
            <a:avLst/>
          </a:prstGeom>
          <a:solidFill>
            <a:srgbClr val="EBF0DE"/>
          </a:solidFill>
          <a:ln w="25718">
            <a:solidFill>
              <a:srgbClr val="525308"/>
            </a:solidFill>
          </a:ln>
        </p:spPr>
        <p:txBody>
          <a:bodyPr wrap="none" lIns="95250" tIns="66675" rIns="95250" bIns="0" anchor="t">
            <a:noAutofit/>
          </a:bodyPr>
          <a:lstStyle/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25308"/>
                </a:solidFill>
                <a:latin typeface="Arial"/>
                <a:ea typeface="Arial"/>
                <a:cs typeface="Arial"/>
              </a:rPr>
              <a:t>SELECT d.id, d.name,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25308"/>
                </a:solidFill>
                <a:latin typeface="Arial"/>
                <a:ea typeface="Arial"/>
                <a:cs typeface="Arial"/>
              </a:rPr>
              <a:t>       COALESCE(SUM(e.salary),0) AS total_salary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25308"/>
                </a:solidFill>
                <a:latin typeface="Arial"/>
                <a:ea typeface="Arial"/>
                <a:cs typeface="Arial"/>
              </a:rPr>
              <a:t>FROM Department d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25308"/>
                </a:solidFill>
                <a:latin typeface="Arial"/>
                <a:ea typeface="Arial"/>
                <a:cs typeface="Arial"/>
              </a:rPr>
              <a:t>LEFT JOIN Employee e ON e.departmentId = d.id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25308"/>
                </a:solidFill>
                <a:latin typeface="Arial"/>
                <a:ea typeface="Arial"/>
                <a:cs typeface="Arial"/>
              </a:rPr>
              <a:t>GROUP BY d.id, d.name ORDER BY d.id;</a:t>
            </a:r>
          </a:p>
        </p:txBody>
      </p:sp>
      <p:sp>
        <p:nvSpPr>
          <p:cNvPr id="4" name="body-1">
            <a:extLst>
              <a:ext uri="{FF2B5EF4-FFF2-40B4-BE49-F238E27FC236}">
                <a16:creationId xmlns:a16="http://schemas.microsoft.com/office/drawing/2014/main" id="{3954CFD6-41CF-497F-9270-FBDDA2326F17}"/>
              </a:ext>
            </a:extLst>
          </p:cNvPr>
          <p:cNvSpPr>
            <a:spLocks noGrp="1"/>
          </p:cNvSpPr>
          <p:nvPr/>
        </p:nvSpPr>
        <p:spPr>
          <a:xfrm>
            <a:off x="933450" y="3413760"/>
            <a:ext cx="10287000" cy="365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2025">
                <a:solidFill>
                  <a:srgbClr val="525308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525308"/>
                </a:solidFill>
                <a:latin typeface="Calibri"/>
                <a:ea typeface="Calibri"/>
                <a:cs typeface="Calibri"/>
              </a:rPr>
              <a:t>IT = 410000; Sales = 135000; Research = 0. MAX would answer a different question.</a:t>
            </a:r>
          </a:p>
        </p:txBody>
      </p:sp>
      <p:sp>
        <p:nvSpPr>
          <p:cNvPr id="5" name="灯片编号占位符 3">
            <a:extLst>
              <a:ext uri="{FF2B5EF4-FFF2-40B4-BE49-F238E27FC236}">
                <a16:creationId xmlns:a16="http://schemas.microsoft.com/office/drawing/2014/main" id="{4097F950-BB33-22DE-21CD-AB92A9FEFBF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7AED2C7D-F957-4DD0-9E0D-C651C0C06F55}" type="slidenum">
              <a:rPr/>
              <a:t>71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99181052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15C33D-AF9C-8C1E-BCF8-D7A66BAA20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2"/>
            <a:ext cx="10515600" cy="904875"/>
          </a:xfrm>
        </p:spPr>
        <p:txBody>
          <a:bodyPr/>
          <a:lstStyle/>
          <a:p>
            <a:r>
              <a:rPr sz="4400" b="0"/>
              <a:t>Solution 28: A Correlated SUM</a:t>
            </a:r>
          </a:p>
        </p:txBody>
      </p:sp>
      <p:sp>
        <p:nvSpPr>
          <p:cNvPr id="3" name="body-0">
            <a:extLst>
              <a:ext uri="{FF2B5EF4-FFF2-40B4-BE49-F238E27FC236}">
                <a16:creationId xmlns:a16="http://schemas.microsoft.com/office/drawing/2014/main" id="{175B7E90-48AA-4775-8391-38DC3866F80E}"/>
              </a:ext>
            </a:extLst>
          </p:cNvPr>
          <p:cNvSpPr>
            <a:spLocks noGrp="1"/>
          </p:cNvSpPr>
          <p:nvPr/>
        </p:nvSpPr>
        <p:spPr>
          <a:xfrm>
            <a:off x="933450" y="1457325"/>
            <a:ext cx="10287000" cy="1737360"/>
          </a:xfrm>
          <a:prstGeom prst="rect">
            <a:avLst/>
          </a:prstGeom>
          <a:solidFill>
            <a:srgbClr val="EBF0DE"/>
          </a:solidFill>
          <a:ln w="25718">
            <a:solidFill>
              <a:srgbClr val="525308"/>
            </a:solidFill>
          </a:ln>
        </p:spPr>
        <p:txBody>
          <a:bodyPr wrap="none" lIns="95250" tIns="66675" rIns="95250" bIns="0" anchor="t">
            <a:noAutofit/>
          </a:bodyPr>
          <a:lstStyle/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25308"/>
                </a:solidFill>
                <a:latin typeface="Arial"/>
                <a:ea typeface="Arial"/>
                <a:cs typeface="Arial"/>
              </a:rPr>
              <a:t>SELECT d.id, d.name,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25308"/>
                </a:solidFill>
                <a:latin typeface="Arial"/>
                <a:ea typeface="Arial"/>
                <a:cs typeface="Arial"/>
              </a:rPr>
              <a:t> COALESCE((SELECT SUM(e.salary) FROM Employee e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25308"/>
                </a:solidFill>
                <a:latin typeface="Arial"/>
                <a:ea typeface="Arial"/>
                <a:cs typeface="Arial"/>
              </a:rPr>
              <a:t>           WHERE e.departmentId = d.id),0) AS total_salary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25308"/>
                </a:solidFill>
                <a:latin typeface="Arial"/>
                <a:ea typeface="Arial"/>
                <a:cs typeface="Arial"/>
              </a:rPr>
              <a:t>FROM Department d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25308"/>
                </a:solidFill>
                <a:latin typeface="Arial"/>
                <a:ea typeface="Arial"/>
                <a:cs typeface="Arial"/>
              </a:rPr>
              <a:t>ORDER BY d.id;</a:t>
            </a:r>
          </a:p>
        </p:txBody>
      </p:sp>
      <p:sp>
        <p:nvSpPr>
          <p:cNvPr id="4" name="body-1">
            <a:extLst>
              <a:ext uri="{FF2B5EF4-FFF2-40B4-BE49-F238E27FC236}">
                <a16:creationId xmlns:a16="http://schemas.microsoft.com/office/drawing/2014/main" id="{37E1C829-BC20-45FE-8A64-87BF23AA8608}"/>
              </a:ext>
            </a:extLst>
          </p:cNvPr>
          <p:cNvSpPr>
            <a:spLocks noGrp="1"/>
          </p:cNvSpPr>
          <p:nvPr/>
        </p:nvSpPr>
        <p:spPr>
          <a:xfrm>
            <a:off x="933450" y="3413760"/>
            <a:ext cx="10287000" cy="365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2025">
                <a:solidFill>
                  <a:srgbClr val="525308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525308"/>
                </a:solidFill>
                <a:latin typeface="Calibri"/>
                <a:ea typeface="Calibri"/>
                <a:cs typeface="Calibri"/>
              </a:rPr>
              <a:t>SUM produces NULL for an empty group, so COALESCE supplies the requested zero.</a:t>
            </a:r>
          </a:p>
        </p:txBody>
      </p:sp>
      <p:sp>
        <p:nvSpPr>
          <p:cNvPr id="5" name="灯片编号占位符 3">
            <a:extLst>
              <a:ext uri="{FF2B5EF4-FFF2-40B4-BE49-F238E27FC236}">
                <a16:creationId xmlns:a16="http://schemas.microsoft.com/office/drawing/2014/main" id="{4097F950-BB33-22DE-21CD-AB92A9FEFBF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7AED2C7D-F957-4DD0-9E0D-C651C0C06F55}" type="slidenum">
              <a:rPr/>
              <a:t>72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99181052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4951F45-DD5E-77FB-1610-1D3E0B2D9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2"/>
            <a:ext cx="10515600" cy="904875"/>
          </a:xfrm>
        </p:spPr>
        <p:txBody>
          <a:bodyPr/>
          <a:lstStyle/>
          <a:p>
            <a:r>
              <a:rPr sz="4400" b="0"/>
              <a:t>Practice 29: Artists with At Least One Album</a:t>
            </a:r>
          </a:p>
        </p:txBody>
      </p:sp>
      <p:sp>
        <p:nvSpPr>
          <p:cNvPr id="3" name="body-0">
            <a:extLst>
              <a:ext uri="{FF2B5EF4-FFF2-40B4-BE49-F238E27FC236}">
                <a16:creationId xmlns:a16="http://schemas.microsoft.com/office/drawing/2014/main" id="{545EDF88-45F1-4B67-9291-CDC5E1984AD4}"/>
              </a:ext>
            </a:extLst>
          </p:cNvPr>
          <p:cNvSpPr>
            <a:spLocks noGrp="1"/>
          </p:cNvSpPr>
          <p:nvPr/>
        </p:nvSpPr>
        <p:spPr>
          <a:xfrm>
            <a:off x="933450" y="1457325"/>
            <a:ext cx="10287000" cy="35433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1950">
                <a:solidFill>
                  <a:srgbClr val="525308"/>
                </a:solidFill>
                <a:latin typeface="Calibri"/>
                <a:ea typeface="Calibri"/>
                <a:cs typeface="Calibri"/>
              </a:defRPr>
            </a:pPr>
            <a:r>
              <a:rPr sz="1950">
                <a:solidFill>
                  <a:srgbClr val="525308"/>
                </a:solidFill>
                <a:latin typeface="Calibri"/>
                <a:ea typeface="Calibri"/>
                <a:cs typeface="Calibri"/>
              </a:rPr>
              <a:t>Database: chinook.db</a:t>
            </a:r>
          </a:p>
        </p:txBody>
      </p:sp>
      <p:sp>
        <p:nvSpPr>
          <p:cNvPr id="4" name="body-1">
            <a:extLst>
              <a:ext uri="{FF2B5EF4-FFF2-40B4-BE49-F238E27FC236}">
                <a16:creationId xmlns:a16="http://schemas.microsoft.com/office/drawing/2014/main" id="{C866EFD2-3370-4CDA-884E-1CA0CC8C6331}"/>
              </a:ext>
            </a:extLst>
          </p:cNvPr>
          <p:cNvSpPr>
            <a:spLocks noGrp="1"/>
          </p:cNvSpPr>
          <p:nvPr/>
        </p:nvSpPr>
        <p:spPr>
          <a:xfrm>
            <a:off x="933450" y="2059305"/>
            <a:ext cx="10287000" cy="4229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1. Return ArtistId and Name for artists with one or more albums.</a:t>
            </a:r>
          </a:p>
        </p:txBody>
      </p:sp>
      <p:sp>
        <p:nvSpPr>
          <p:cNvPr id="5" name="body-2">
            <a:extLst>
              <a:ext uri="{FF2B5EF4-FFF2-40B4-BE49-F238E27FC236}">
                <a16:creationId xmlns:a16="http://schemas.microsoft.com/office/drawing/2014/main" id="{AD215FC0-39E7-4E76-9B6F-09975418A157}"/>
              </a:ext>
            </a:extLst>
          </p:cNvPr>
          <p:cNvSpPr>
            <a:spLocks noGrp="1"/>
          </p:cNvSpPr>
          <p:nvPr/>
        </p:nvSpPr>
        <p:spPr>
          <a:xfrm>
            <a:off x="933450" y="2710815"/>
            <a:ext cx="10287000" cy="4229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2. Express the query using EXISTS, IN and JOIN.</a:t>
            </a:r>
          </a:p>
        </p:txBody>
      </p:sp>
      <p:sp>
        <p:nvSpPr>
          <p:cNvPr id="6" name="body-3">
            <a:extLst>
              <a:ext uri="{FF2B5EF4-FFF2-40B4-BE49-F238E27FC236}">
                <a16:creationId xmlns:a16="http://schemas.microsoft.com/office/drawing/2014/main" id="{5801DE96-1609-400F-A257-17E4B3451B36}"/>
              </a:ext>
            </a:extLst>
          </p:cNvPr>
          <p:cNvSpPr>
            <a:spLocks noGrp="1"/>
          </p:cNvSpPr>
          <p:nvPr/>
        </p:nvSpPr>
        <p:spPr>
          <a:xfrm>
            <a:off x="933450" y="3362325"/>
            <a:ext cx="10287000" cy="4229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3. Explain why only the JOIN form needs DISTINCT here.</a:t>
            </a:r>
          </a:p>
        </p:txBody>
      </p:sp>
      <p:sp>
        <p:nvSpPr>
          <p:cNvPr id="7" name="practice-time">
            <a:extLst>
              <a:ext uri="{FF2B5EF4-FFF2-40B4-BE49-F238E27FC236}">
                <a16:creationId xmlns:a16="http://schemas.microsoft.com/office/drawing/2014/main" id="{1031ACA7-0D09-4026-AA68-188909DBCC2D}"/>
              </a:ext>
            </a:extLst>
          </p:cNvPr>
          <p:cNvSpPr>
            <a:spLocks noGrp="1"/>
          </p:cNvSpPr>
          <p:nvPr/>
        </p:nvSpPr>
        <p:spPr>
          <a:xfrm>
            <a:off x="933450" y="6134100"/>
            <a:ext cx="10096500" cy="3143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1725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pPr>
            <a:r>
              <a:rPr sz="1725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Write, run and check: about 5 minutes.</a:t>
            </a:r>
          </a:p>
        </p:txBody>
      </p:sp>
      <p:sp>
        <p:nvSpPr>
          <p:cNvPr id="8" name="灯片编号占位符 3">
            <a:extLst>
              <a:ext uri="{FF2B5EF4-FFF2-40B4-BE49-F238E27FC236}">
                <a16:creationId xmlns:a16="http://schemas.microsoft.com/office/drawing/2014/main" id="{30C445AF-D431-BA77-C340-348B35C609A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7AED2C7D-F957-4DD0-9E0D-C651C0C06F55}" type="slidenum">
              <a:rPr/>
              <a:t>73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60699592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4951F45-DD5E-77FB-1610-1D3E0B2D9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2"/>
            <a:ext cx="10515600" cy="904875"/>
          </a:xfrm>
        </p:spPr>
        <p:txBody>
          <a:bodyPr/>
          <a:lstStyle/>
          <a:p>
            <a:r>
              <a:rPr sz="4400" b="0"/>
              <a:t>Solution 29: EXISTS and IN</a:t>
            </a:r>
          </a:p>
        </p:txBody>
      </p:sp>
      <p:sp>
        <p:nvSpPr>
          <p:cNvPr id="3" name="body-0">
            <a:extLst>
              <a:ext uri="{FF2B5EF4-FFF2-40B4-BE49-F238E27FC236}">
                <a16:creationId xmlns:a16="http://schemas.microsoft.com/office/drawing/2014/main" id="{EB653602-20F1-426A-9B13-7CECF3B55FDA}"/>
              </a:ext>
            </a:extLst>
          </p:cNvPr>
          <p:cNvSpPr>
            <a:spLocks noGrp="1"/>
          </p:cNvSpPr>
          <p:nvPr/>
        </p:nvSpPr>
        <p:spPr>
          <a:xfrm>
            <a:off x="933450" y="1457325"/>
            <a:ext cx="10287000" cy="2665476"/>
          </a:xfrm>
          <a:prstGeom prst="rect">
            <a:avLst/>
          </a:prstGeom>
          <a:solidFill>
            <a:srgbClr val="EBF0DE"/>
          </a:solidFill>
          <a:ln w="25718">
            <a:solidFill>
              <a:srgbClr val="525308"/>
            </a:solidFill>
          </a:ln>
        </p:spPr>
        <p:txBody>
          <a:bodyPr wrap="none" lIns="95250" tIns="66675" rIns="95250" bIns="0" anchor="t">
            <a:noAutofit/>
          </a:bodyPr>
          <a:lstStyle/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25308"/>
                </a:solidFill>
                <a:latin typeface="Arial"/>
                <a:ea typeface="Arial"/>
                <a:cs typeface="Arial"/>
              </a:rPr>
              <a:t>SELECT a.ArtistId, a.Name FROM artists a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25308"/>
                </a:solidFill>
                <a:latin typeface="Arial"/>
                <a:ea typeface="Arial"/>
                <a:cs typeface="Arial"/>
              </a:rPr>
              <a:t>WHERE EXISTS (SELECT 1 FROM albums al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25308"/>
                </a:solidFill>
                <a:latin typeface="Arial"/>
                <a:ea typeface="Arial"/>
                <a:cs typeface="Arial"/>
              </a:rPr>
              <a:t>              WHERE al.ArtistId = a.ArtistId)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25308"/>
                </a:solidFill>
                <a:latin typeface="Arial"/>
                <a:ea typeface="Arial"/>
                <a:cs typeface="Arial"/>
              </a:rPr>
              <a:t>ORDER BY a.ArtistId;</a:t>
            </a:r>
          </a:p>
          <a:p>
            <a:endParaRPr sz="2100">
              <a:solidFill>
                <a:srgbClr val="525308"/>
              </a:solidFill>
              <a:latin typeface="Arial"/>
              <a:ea typeface="Arial"/>
              <a:cs typeface="Arial"/>
            </a:endParaRP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25308"/>
                </a:solidFill>
                <a:latin typeface="Arial"/>
                <a:ea typeface="Arial"/>
                <a:cs typeface="Arial"/>
              </a:rPr>
              <a:t>SELECT a.ArtistId, a.Name FROM artists a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25308"/>
                </a:solidFill>
                <a:latin typeface="Arial"/>
                <a:ea typeface="Arial"/>
                <a:cs typeface="Arial"/>
              </a:rPr>
              <a:t>WHERE a.ArtistId IN (SELECT ArtistId FROM albums)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25308"/>
                </a:solidFill>
                <a:latin typeface="Arial"/>
                <a:ea typeface="Arial"/>
                <a:cs typeface="Arial"/>
              </a:rPr>
              <a:t>ORDER BY a.ArtistId;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0C445AF-D431-BA77-C340-348B35C609A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7AED2C7D-F957-4DD0-9E0D-C651C0C06F55}" type="slidenum">
              <a:rPr/>
              <a:t>74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60699592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4951F45-DD5E-77FB-1610-1D3E0B2D9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2"/>
            <a:ext cx="10515600" cy="904875"/>
          </a:xfrm>
        </p:spPr>
        <p:txBody>
          <a:bodyPr/>
          <a:lstStyle/>
          <a:p>
            <a:r>
              <a:rPr sz="4400" b="0"/>
              <a:t>Solution 29: JOIN and Duplicate Rows</a:t>
            </a:r>
          </a:p>
        </p:txBody>
      </p:sp>
      <p:sp>
        <p:nvSpPr>
          <p:cNvPr id="3" name="body-0">
            <a:extLst>
              <a:ext uri="{FF2B5EF4-FFF2-40B4-BE49-F238E27FC236}">
                <a16:creationId xmlns:a16="http://schemas.microsoft.com/office/drawing/2014/main" id="{5E9FB23F-AC32-46F6-8556-3972F98C2567}"/>
              </a:ext>
            </a:extLst>
          </p:cNvPr>
          <p:cNvSpPr>
            <a:spLocks noGrp="1"/>
          </p:cNvSpPr>
          <p:nvPr/>
        </p:nvSpPr>
        <p:spPr>
          <a:xfrm>
            <a:off x="933450" y="1457325"/>
            <a:ext cx="10287000" cy="1427988"/>
          </a:xfrm>
          <a:prstGeom prst="rect">
            <a:avLst/>
          </a:prstGeom>
          <a:solidFill>
            <a:srgbClr val="EBF0DE"/>
          </a:solidFill>
          <a:ln w="25718">
            <a:solidFill>
              <a:srgbClr val="525308"/>
            </a:solidFill>
          </a:ln>
        </p:spPr>
        <p:txBody>
          <a:bodyPr wrap="none" lIns="95250" tIns="66675" rIns="95250" bIns="0" anchor="t">
            <a:noAutofit/>
          </a:bodyPr>
          <a:lstStyle/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25308"/>
                </a:solidFill>
                <a:latin typeface="Arial"/>
                <a:ea typeface="Arial"/>
                <a:cs typeface="Arial"/>
              </a:rPr>
              <a:t>SELECT DISTINCT a.ArtistId, a.Name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25308"/>
                </a:solidFill>
                <a:latin typeface="Arial"/>
                <a:ea typeface="Arial"/>
                <a:cs typeface="Arial"/>
              </a:rPr>
              <a:t>FROM artists a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25308"/>
                </a:solidFill>
                <a:latin typeface="Arial"/>
                <a:ea typeface="Arial"/>
                <a:cs typeface="Arial"/>
              </a:rPr>
              <a:t>JOIN albums al ON al.ArtistId = a.ArtistId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25308"/>
                </a:solidFill>
                <a:latin typeface="Arial"/>
                <a:ea typeface="Arial"/>
                <a:cs typeface="Arial"/>
              </a:rPr>
              <a:t>ORDER BY a.ArtistId;</a:t>
            </a:r>
          </a:p>
        </p:txBody>
      </p:sp>
      <p:sp>
        <p:nvSpPr>
          <p:cNvPr id="4" name="body-1">
            <a:extLst>
              <a:ext uri="{FF2B5EF4-FFF2-40B4-BE49-F238E27FC236}">
                <a16:creationId xmlns:a16="http://schemas.microsoft.com/office/drawing/2014/main" id="{9BEE8941-5BEA-4FE3-8823-07BF32ECE494}"/>
              </a:ext>
            </a:extLst>
          </p:cNvPr>
          <p:cNvSpPr>
            <a:spLocks noGrp="1"/>
          </p:cNvSpPr>
          <p:nvPr/>
        </p:nvSpPr>
        <p:spPr>
          <a:xfrm>
            <a:off x="933450" y="3104388"/>
            <a:ext cx="10287000" cy="365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2025">
                <a:solidFill>
                  <a:srgbClr val="525308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525308"/>
                </a:solidFill>
                <a:latin typeface="Calibri"/>
                <a:ea typeface="Calibri"/>
                <a:cs typeface="Calibri"/>
              </a:rPr>
              <a:t>One artist can match several albums. DISTINCT restores one row per artist.</a:t>
            </a:r>
          </a:p>
        </p:txBody>
      </p:sp>
      <p:sp>
        <p:nvSpPr>
          <p:cNvPr id="5" name="灯片编号占位符 3">
            <a:extLst>
              <a:ext uri="{FF2B5EF4-FFF2-40B4-BE49-F238E27FC236}">
                <a16:creationId xmlns:a16="http://schemas.microsoft.com/office/drawing/2014/main" id="{30C445AF-D431-BA77-C340-348B35C609A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7AED2C7D-F957-4DD0-9E0D-C651C0C06F55}" type="slidenum">
              <a:rPr/>
              <a:t>75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60699592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7">
            <a:extLst>
              <a:ext uri="{FF2B5EF4-FFF2-40B4-BE49-F238E27FC236}">
                <a16:creationId xmlns:a16="http://schemas.microsoft.com/office/drawing/2014/main" id="{2AC1D0C9-0C8E-7C43-E960-83CBFEEAB1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2"/>
            <a:ext cx="10515600" cy="904875"/>
          </a:xfrm>
        </p:spPr>
        <p:txBody>
          <a:bodyPr/>
          <a:lstStyle/>
          <a:p>
            <a:r>
              <a:rPr sz="4400" b="0"/>
              <a:t>SQLite Reference Links</a:t>
            </a:r>
          </a:p>
        </p:txBody>
      </p:sp>
      <p:sp>
        <p:nvSpPr>
          <p:cNvPr id="3" name="body-0">
            <a:extLst>
              <a:ext uri="{FF2B5EF4-FFF2-40B4-BE49-F238E27FC236}">
                <a16:creationId xmlns:a16="http://schemas.microsoft.com/office/drawing/2014/main" id="{50EC94AA-DAEA-417B-84CD-F2B365EAA077}"/>
              </a:ext>
            </a:extLst>
          </p:cNvPr>
          <p:cNvSpPr>
            <a:spLocks noGrp="1"/>
          </p:cNvSpPr>
          <p:nvPr/>
        </p:nvSpPr>
        <p:spPr>
          <a:xfrm>
            <a:off x="933450" y="1457325"/>
            <a:ext cx="10287000" cy="4229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marL="228600" indent="-228600">
              <a:buNone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SQL language and data types: sqlite.org/lang.html and sqlite.org/datatype3.html</a:t>
            </a:r>
          </a:p>
        </p:txBody>
      </p:sp>
      <p:sp>
        <p:nvSpPr>
          <p:cNvPr id="4" name="body-1">
            <a:extLst>
              <a:ext uri="{FF2B5EF4-FFF2-40B4-BE49-F238E27FC236}">
                <a16:creationId xmlns:a16="http://schemas.microsoft.com/office/drawing/2014/main" id="{C8E60964-A949-43C3-9F1F-6A4F1C0B4B19}"/>
              </a:ext>
            </a:extLst>
          </p:cNvPr>
          <p:cNvSpPr>
            <a:spLocks noGrp="1"/>
          </p:cNvSpPr>
          <p:nvPr/>
        </p:nvSpPr>
        <p:spPr>
          <a:xfrm>
            <a:off x="933450" y="2070735"/>
            <a:ext cx="10287000" cy="4229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marL="228600" indent="-228600">
              <a:buNone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CLI dot-commands: sqlite.org/cli.html</a:t>
            </a:r>
          </a:p>
        </p:txBody>
      </p:sp>
      <p:sp>
        <p:nvSpPr>
          <p:cNvPr id="5" name="body-2">
            <a:extLst>
              <a:ext uri="{FF2B5EF4-FFF2-40B4-BE49-F238E27FC236}">
                <a16:creationId xmlns:a16="http://schemas.microsoft.com/office/drawing/2014/main" id="{3E396C1E-B931-425F-A161-6408774255EF}"/>
              </a:ext>
            </a:extLst>
          </p:cNvPr>
          <p:cNvSpPr>
            <a:spLocks noGrp="1"/>
          </p:cNvSpPr>
          <p:nvPr/>
        </p:nvSpPr>
        <p:spPr>
          <a:xfrm>
            <a:off x="933450" y="2684145"/>
            <a:ext cx="10287000" cy="4229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marL="228600" indent="-228600">
              <a:buNone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Schema changes: sqlite.org/lang_altertable.html</a:t>
            </a:r>
          </a:p>
        </p:txBody>
      </p:sp>
      <p:sp>
        <p:nvSpPr>
          <p:cNvPr id="6" name="body-3">
            <a:extLst>
              <a:ext uri="{FF2B5EF4-FFF2-40B4-BE49-F238E27FC236}">
                <a16:creationId xmlns:a16="http://schemas.microsoft.com/office/drawing/2014/main" id="{DD282C68-7960-44B3-BF5C-A33C80CFA6D1}"/>
              </a:ext>
            </a:extLst>
          </p:cNvPr>
          <p:cNvSpPr>
            <a:spLocks noGrp="1"/>
          </p:cNvSpPr>
          <p:nvPr/>
        </p:nvSpPr>
        <p:spPr>
          <a:xfrm>
            <a:off x="933450" y="3297555"/>
            <a:ext cx="10287000" cy="4229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marL="228600" indent="-228600">
              <a:buNone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Version changes: sqlite.org/releaselog/3_53_0.html</a:t>
            </a:r>
          </a:p>
        </p:txBody>
      </p:sp>
      <p:sp>
        <p:nvSpPr>
          <p:cNvPr id="7" name="body-4">
            <a:extLst>
              <a:ext uri="{FF2B5EF4-FFF2-40B4-BE49-F238E27FC236}">
                <a16:creationId xmlns:a16="http://schemas.microsoft.com/office/drawing/2014/main" id="{7B33FE23-6507-45BF-BCE1-219F18D9378A}"/>
              </a:ext>
            </a:extLst>
          </p:cNvPr>
          <p:cNvSpPr>
            <a:spLocks noGrp="1"/>
          </p:cNvSpPr>
          <p:nvPr/>
        </p:nvSpPr>
        <p:spPr>
          <a:xfrm>
            <a:off x="933450" y="3910965"/>
            <a:ext cx="10287000" cy="4229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marL="228600" indent="-228600">
              <a:buNone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Sample database: sqlitetutorial.net/sqlite-sample-database/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33BC7A5B-7C73-8B63-5F69-97666B37B6F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81D60167-4931-47E6-BA6A-407CBD079E47}" type="slidenum">
              <a:rPr/>
              <a:t>76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236885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3965</TotalTime>
  <Words>19343</Words>
  <Application>Microsoft Office PowerPoint</Application>
  <DocSecurity>0</DocSecurity>
  <PresentationFormat>宽屏</PresentationFormat>
  <Paragraphs>1550</Paragraphs>
  <Slides>76</Slides>
  <Notes>76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76</vt:i4>
      </vt:variant>
    </vt:vector>
  </HeadingPairs>
  <TitlesOfParts>
    <vt:vector size="85" baseType="lpstr">
      <vt:lpstr>Play</vt:lpstr>
      <vt:lpstr>Aptos</vt:lpstr>
      <vt:lpstr>Aptos Display</vt:lpstr>
      <vt:lpstr>Arial</vt:lpstr>
      <vt:lpstr>Calibri</vt:lpstr>
      <vt:lpstr>Comic Sans MS</vt:lpstr>
      <vt:lpstr>Courier New</vt:lpstr>
      <vt:lpstr>Ubuntu</vt:lpstr>
      <vt:lpstr>Office Theme</vt:lpstr>
      <vt:lpstr>Session 2 - Queries Across Rows and Tables</vt:lpstr>
      <vt:lpstr>Session 2 Route</vt:lpstr>
      <vt:lpstr>9 - Basic SQL Statement Cont. </vt:lpstr>
      <vt:lpstr>SELECT - Aggregate Functions</vt:lpstr>
      <vt:lpstr>Student Data for the Next Examples</vt:lpstr>
      <vt:lpstr>SELECT - Aggregate Functions</vt:lpstr>
      <vt:lpstr>SELECT - GROUP BY</vt:lpstr>
      <vt:lpstr>SELECT - GROUP BY</vt:lpstr>
      <vt:lpstr>GROUP BY operational semantics!</vt:lpstr>
      <vt:lpstr>10 - Joining Tables</vt:lpstr>
      <vt:lpstr>Join</vt:lpstr>
      <vt:lpstr>Join</vt:lpstr>
      <vt:lpstr>Different Types of SQL JOINs</vt:lpstr>
      <vt:lpstr>LEFT JOIN</vt:lpstr>
      <vt:lpstr>RIGHT JOIN</vt:lpstr>
      <vt:lpstr>FULL OUTER JOIN</vt:lpstr>
      <vt:lpstr>DEMO: Different Types of SQL JOINs</vt:lpstr>
      <vt:lpstr>DEMO: Different Types of SQL JOINs</vt:lpstr>
      <vt:lpstr>DEMO: Different Types of SQL JOINs</vt:lpstr>
      <vt:lpstr>DEMO: Different Types of SQL JOINs</vt:lpstr>
      <vt:lpstr>11 - Subquery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SQLite Example database</vt:lpstr>
      <vt:lpstr>Q1: Basics</vt:lpstr>
      <vt:lpstr>Demo1: Basics</vt:lpstr>
      <vt:lpstr>Q2: IN Operator</vt:lpstr>
      <vt:lpstr>Demo2: IN Operator</vt:lpstr>
      <vt:lpstr>Q3: Correlated Subquery</vt:lpstr>
      <vt:lpstr>Demo3: Correlated Subquery</vt:lpstr>
      <vt:lpstr>Q4: EXISTS</vt:lpstr>
      <vt:lpstr>Demo4: EXISTS</vt:lpstr>
      <vt:lpstr>Q5: NOT EXISTS</vt:lpstr>
      <vt:lpstr>Demo5: NOT EXISTS</vt:lpstr>
      <vt:lpstr>Demo5: Same Expression? Yes</vt:lpstr>
      <vt:lpstr>Demo5: Same Expression? Yes</vt:lpstr>
      <vt:lpstr>Conclusion</vt:lpstr>
      <vt:lpstr>12 - Integrated Chinook Practice</vt:lpstr>
      <vt:lpstr>Practice 18: Album and Track Counts</vt:lpstr>
      <vt:lpstr>Solution 18: Count Each Relationship Separately</vt:lpstr>
      <vt:lpstr>Solution 18: JOIN Alternative</vt:lpstr>
      <vt:lpstr>Practice 19: Highest Price in Each Genre</vt:lpstr>
      <vt:lpstr>Solution 19: Keep Every Maximum</vt:lpstr>
      <vt:lpstr>Practice 20: Purchased by a Canadian Customer</vt:lpstr>
      <vt:lpstr>Solution 20: At Least One Purchase</vt:lpstr>
      <vt:lpstr>Practice 21: Tracks and Sales per Artist</vt:lpstr>
      <vt:lpstr>Solution 21: First Count the Tracks</vt:lpstr>
      <vt:lpstr>Solution 21: Then Count the Sales</vt:lpstr>
      <vt:lpstr>Session 2 Checkpoint</vt:lpstr>
      <vt:lpstr>Optional Practice from the Original Deck</vt:lpstr>
      <vt:lpstr>Practice 22: Choose Exactly One Maximum</vt:lpstr>
      <vt:lpstr>Solution 22: A Deterministic Tie-Break</vt:lpstr>
      <vt:lpstr>Practice 23: Purchased by Every Canadian Customer</vt:lpstr>
      <vt:lpstr>Solution 23: No Missing Customer</vt:lpstr>
      <vt:lpstr>Solution 23: Read the Two NOT EXISTS</vt:lpstr>
      <vt:lpstr>Practice 24: Sold-Track Ratio</vt:lpstr>
      <vt:lpstr>Solution 24: Ratio with a Zero Denominator</vt:lpstr>
      <vt:lpstr>Practice 25: A Sold Flag for Every Track</vt:lpstr>
      <vt:lpstr>Solution 25: CASE with EXISTS</vt:lpstr>
      <vt:lpstr>Practice 26: Last Person on the Bus</vt:lpstr>
      <vt:lpstr>Solution 26: Running Total with a Self-Join</vt:lpstr>
      <vt:lpstr>Practice 27: Top Three Distinct Salaries</vt:lpstr>
      <vt:lpstr>Solution 27: Count the Higher Salary Levels</vt:lpstr>
      <vt:lpstr>Practice 28: Total Salary by Department</vt:lpstr>
      <vt:lpstr>Solution 28: SUM with GROUP BY</vt:lpstr>
      <vt:lpstr>Solution 28: A Correlated SUM</vt:lpstr>
      <vt:lpstr>Practice 29: Artists with At Least One Album</vt:lpstr>
      <vt:lpstr>Solution 29: EXISTS and IN</vt:lpstr>
      <vt:lpstr>Solution 29: JOIN and Duplicate Rows</vt:lpstr>
      <vt:lpstr>SQLite Reference Links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Guoxiong He</cp:lastModifiedBy>
  <cp:revision>15</cp:revision>
  <dcterms:created xsi:type="dcterms:W3CDTF">2026-10-23T11:15:04Z</dcterms:created>
  <dcterms:modified xsi:type="dcterms:W3CDTF">2026-10-26T12:20:29Z</dcterms:modified>
</cp:coreProperties>
</file>