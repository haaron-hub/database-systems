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61" r:id="rId4"/>
    <p:sldId id="260" r:id="rId5"/>
    <p:sldId id="263" r:id="rId6"/>
    <p:sldId id="264" r:id="rId7"/>
    <p:sldId id="269" r:id="rId8"/>
    <p:sldId id="277" r:id="rId9"/>
    <p:sldId id="275" r:id="rId10"/>
    <p:sldId id="278" r:id="rId11"/>
    <p:sldId id="291" r:id="rId12"/>
    <p:sldId id="307" r:id="rId13"/>
    <p:sldId id="301" r:id="rId14"/>
    <p:sldId id="276" r:id="rId15"/>
    <p:sldId id="270" r:id="rId16"/>
    <p:sldId id="271" r:id="rId17"/>
    <p:sldId id="324" r:id="rId18"/>
    <p:sldId id="272" r:id="rId19"/>
    <p:sldId id="290" r:id="rId20"/>
    <p:sldId id="292" r:id="rId21"/>
    <p:sldId id="293" r:id="rId22"/>
    <p:sldId id="294" r:id="rId23"/>
    <p:sldId id="295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9A2A27-A373-4875-9832-8DA700DC57B0}">
          <p14:sldIdLst>
            <p14:sldId id="256"/>
            <p14:sldId id="262"/>
            <p14:sldId id="261"/>
            <p14:sldId id="260"/>
            <p14:sldId id="263"/>
            <p14:sldId id="264"/>
          </p14:sldIdLst>
        </p14:section>
        <p14:section name="Untitled Section" id="{3DBDC2F1-A556-4D0C-A1E6-CC2417BE5265}">
          <p14:sldIdLst>
            <p14:sldId id="269"/>
            <p14:sldId id="277"/>
            <p14:sldId id="275"/>
            <p14:sldId id="278"/>
            <p14:sldId id="291"/>
            <p14:sldId id="307"/>
            <p14:sldId id="301"/>
          </p14:sldIdLst>
        </p14:section>
        <p14:section name="Untitled Section" id="{D7AE54A2-2646-453D-A263-921672F29E30}">
          <p14:sldIdLst>
            <p14:sldId id="276"/>
            <p14:sldId id="270"/>
            <p14:sldId id="271"/>
            <p14:sldId id="324"/>
            <p14:sldId id="272"/>
            <p14:sldId id="290"/>
            <p14:sldId id="292"/>
            <p14:sldId id="293"/>
            <p14:sldId id="294"/>
            <p14:sldId id="29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FEB"/>
    <a:srgbClr val="4A5B25"/>
    <a:srgbClr val="FEFEFE"/>
    <a:srgbClr val="EBF0DC"/>
    <a:srgbClr val="68403E"/>
    <a:srgbClr val="C09D9C"/>
    <a:srgbClr val="F4D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45"/>
    <p:restoredTop sz="75225" autoAdjust="0"/>
  </p:normalViewPr>
  <p:slideViewPr>
    <p:cSldViewPr snapToGrid="0">
      <p:cViewPr varScale="1">
        <p:scale>
          <a:sx n="68" d="100"/>
          <a:sy n="68" d="100"/>
        </p:scale>
        <p:origin x="19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C5329-8199-4A53-B3C4-AA33CAC06F4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C9577-BFAF-4D95-A83C-B1D16CEEBDC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Note: Attribute not exclusive to relationships, can be on entity also</a:t>
            </a:r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C9577-BFAF-4D95-A83C-B1D16CEEBD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7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For TA: same setting, guide concept different meaning of the relationship</a:t>
            </a:r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C9577-BFAF-4D95-A83C-B1D16CEEBD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44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For TA: student will be confused about, best give counter example to say this is not okay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endParaRPr lang="en-US" dirty="0">
              <a:solidFill>
                <a:srgbClr val="FF0000"/>
              </a:solidFill>
            </a:endParaRPr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C9577-BFAF-4D95-A83C-B1D16CEEBD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44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C9577-BFAF-4D95-A83C-B1D16CEEBDC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D9F5-5BD9-477B-A6EA-39E8DEA706E4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E1282-1713-4503-8FAC-3492F84CBD77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A289E-62A9-436B-9A9F-282065A7F155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2387"/>
            <a:ext cx="5181600" cy="485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2387"/>
            <a:ext cx="5181600" cy="485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C648-B6C6-4A52-B90F-61606739B62B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79AF-0A40-4808-A50D-D10632ACFF90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6B249-A3F2-4ECD-9740-1F7A09DF8B30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63C0-9B0B-489F-A195-B4246373F749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EF01-F33E-4BB3-AF65-A3CC8283B837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084E-7A48-4757-8657-FAC426E6DE74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65D9-5686-4925-8261-ACE60EDE1277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10B8-6EF8-4287-855B-349FAEE500B3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5698-BF43-4E12-B42C-287A58E2B7B4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2C7D-F957-4DD0-9E0D-C651C0C06F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210719"/>
            <a:ext cx="9144000" cy="43656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200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Course Training 1: ER model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254F077-5995-3932-6796-4948E9EE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新細明體"/>
                <a:cs typeface="+mj-cs"/>
              </a:rPr>
              <a:t>Design, Implementation and Management of Database Systems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2156725-164A-06C1-B537-8B4F62733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148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06134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Part One: Review </a:t>
            </a:r>
            <a:b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</a:b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Basic ER-model Notations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ER-model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088" y="1497704"/>
            <a:ext cx="7925824" cy="461778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ER-diagram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5841" y="1591868"/>
            <a:ext cx="7446548" cy="435133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23" y="485146"/>
            <a:ext cx="5544267" cy="30576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Relations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12" y="2091846"/>
            <a:ext cx="5360567" cy="290193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380" y="3727651"/>
            <a:ext cx="5273147" cy="29019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Total-Participation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 descr="图示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170" y="1569464"/>
            <a:ext cx="8167030" cy="4363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06133"/>
            <a:ext cx="9144000" cy="2356483"/>
          </a:xfrm>
        </p:spPr>
        <p:txBody>
          <a:bodyPr>
            <a:normAutofit fontScale="90000"/>
          </a:bodyPr>
          <a:lstStyle/>
          <a:p>
            <a:br>
              <a:rPr lang="en-US" altLang="zh-CN" dirty="0">
                <a:latin typeface="Calibri" panose="020F0502020204030204"/>
                <a:ea typeface="黑体" panose="02010609060101010101" pitchFamily="49" charset="-122"/>
              </a:rPr>
            </a:b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Practice by Example</a:t>
            </a:r>
            <a:br>
              <a:rPr lang="en-US" altLang="zh-CN" dirty="0">
                <a:latin typeface="Calibri" panose="020F0502020204030204"/>
                <a:ea typeface="黑体" panose="02010609060101010101" pitchFamily="49" charset="-122"/>
              </a:rPr>
            </a:b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Library Database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Library Database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book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is uniquely identified by its book-id. For each book, we also record its title, price, and availability. 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reader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is uniquely identified by his/her reader-id and we also record his/her name, phone number and address. The address is composed of street and suburb.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publisher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is uniquely identified by its publisher-id. For each publisher, the name is also recorded. 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An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author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is uniquely identified by his/her author-id. For each author, the name, phone number and birth date are also recorded.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reader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can borrow zero or more books and a book can be borrowed by zero or more readers. Thus, we need to record the starting date and ending date for the borrowing relationship.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publisher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can publish zero or more books and a book is published by exactly one publisher. We also need to record the date of publication.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An </a:t>
            </a:r>
            <a:r>
              <a:rPr lang="en-US" altLang="zh-CN" b="1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author</a:t>
            </a: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Arial" panose="020B0704020202020204"/>
              </a:rPr>
              <a:t> can write zero or more books and a book is written by one or more authors.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Think and discussion (6 Min)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Think by yourself.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Quietly discuss with nearby students.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Cheat sheet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     Line: any number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     Arrow: at most one 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     Double line: at least one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     Double line with arrow: exactly one  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9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4906D6E-967C-2126-827F-4A1773138262}"/>
              </a:ext>
            </a:extLst>
          </p:cNvPr>
          <p:cNvCxnSpPr>
            <a:cxnSpLocks/>
          </p:cNvCxnSpPr>
          <p:nvPr/>
        </p:nvCxnSpPr>
        <p:spPr>
          <a:xfrm>
            <a:off x="4440025" y="3021698"/>
            <a:ext cx="17681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A54F19B-C9F2-A0E0-1845-4527D691D721}"/>
              </a:ext>
            </a:extLst>
          </p:cNvPr>
          <p:cNvCxnSpPr>
            <a:cxnSpLocks/>
          </p:cNvCxnSpPr>
          <p:nvPr/>
        </p:nvCxnSpPr>
        <p:spPr>
          <a:xfrm flipH="1">
            <a:off x="4554256" y="3648886"/>
            <a:ext cx="165396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21CE2D3-0CCB-B5A7-91ED-8BC9A601ACE7}"/>
              </a:ext>
            </a:extLst>
          </p:cNvPr>
          <p:cNvCxnSpPr>
            <a:cxnSpLocks/>
          </p:cNvCxnSpPr>
          <p:nvPr/>
        </p:nvCxnSpPr>
        <p:spPr>
          <a:xfrm>
            <a:off x="4997315" y="4036701"/>
            <a:ext cx="12807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31D744B-46E7-3F6A-0DC1-140E50F20C3F}"/>
              </a:ext>
            </a:extLst>
          </p:cNvPr>
          <p:cNvCxnSpPr>
            <a:cxnSpLocks/>
          </p:cNvCxnSpPr>
          <p:nvPr/>
        </p:nvCxnSpPr>
        <p:spPr>
          <a:xfrm>
            <a:off x="4997315" y="4132541"/>
            <a:ext cx="12807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70FDC7-1A59-3B43-5294-D5816539A01D}"/>
              </a:ext>
            </a:extLst>
          </p:cNvPr>
          <p:cNvGrpSpPr/>
          <p:nvPr/>
        </p:nvGrpSpPr>
        <p:grpSpPr>
          <a:xfrm rot="16200000">
            <a:off x="6823903" y="4238728"/>
            <a:ext cx="169704" cy="701123"/>
            <a:chOff x="1978525" y="2918976"/>
            <a:chExt cx="169704" cy="701123"/>
          </a:xfrm>
        </p:grpSpPr>
        <p:sp>
          <p:nvSpPr>
            <p:cNvPr id="13" name="等腰三角形 29">
              <a:extLst>
                <a:ext uri="{FF2B5EF4-FFF2-40B4-BE49-F238E27FC236}">
                  <a16:creationId xmlns:a16="http://schemas.microsoft.com/office/drawing/2014/main" id="{DAC960B5-FF23-9E4A-F725-89D137A27CF2}"/>
                </a:ext>
              </a:extLst>
            </p:cNvPr>
            <p:cNvSpPr/>
            <p:nvPr/>
          </p:nvSpPr>
          <p:spPr>
            <a:xfrm rot="10800000">
              <a:off x="1978525" y="3474626"/>
              <a:ext cx="169704" cy="145473"/>
            </a:xfrm>
            <a:prstGeom prst="triangle">
              <a:avLst/>
            </a:prstGeom>
            <a:solidFill>
              <a:schemeClr val="tx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" name="直接连接符 31">
              <a:extLst>
                <a:ext uri="{FF2B5EF4-FFF2-40B4-BE49-F238E27FC236}">
                  <a16:creationId xmlns:a16="http://schemas.microsoft.com/office/drawing/2014/main" id="{8BF81626-9F4E-E809-FC3C-97166E3355D2}"/>
                </a:ext>
              </a:extLst>
            </p:cNvPr>
            <p:cNvCxnSpPr>
              <a:cxnSpLocks/>
            </p:cNvCxnSpPr>
            <p:nvPr/>
          </p:nvCxnSpPr>
          <p:spPr>
            <a:xfrm>
              <a:off x="2036491" y="2918976"/>
              <a:ext cx="0" cy="5460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33">
              <a:extLst>
                <a:ext uri="{FF2B5EF4-FFF2-40B4-BE49-F238E27FC236}">
                  <a16:creationId xmlns:a16="http://schemas.microsoft.com/office/drawing/2014/main" id="{D3615CA1-3214-FC17-334A-C56D25814FFA}"/>
                </a:ext>
              </a:extLst>
            </p:cNvPr>
            <p:cNvCxnSpPr>
              <a:cxnSpLocks/>
            </p:cNvCxnSpPr>
            <p:nvPr/>
          </p:nvCxnSpPr>
          <p:spPr>
            <a:xfrm>
              <a:off x="2084617" y="2928594"/>
              <a:ext cx="0" cy="5460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1: identify entity sets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64848" y="229944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Calibri" panose="020F0502020204030204"/>
                <a:ea typeface="Calibri" panose="020F0502020204030204"/>
                <a:cs typeface="Calibri" panose="020F0502020204030204"/>
              </a:rPr>
              <a:t>Boo</a:t>
            </a:r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93954" y="2474763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Reader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41095" y="4661379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10213" y="4585445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Author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11</a:t>
            </a:fld>
            <a:endParaRPr lang="zh-CN" altLang="en-US"/>
          </a:p>
        </p:txBody>
      </p:sp>
      <p:cxnSp>
        <p:nvCxnSpPr>
          <p:cNvPr id="49" name="直接连接符 12"/>
          <p:cNvCxnSpPr/>
          <p:nvPr/>
        </p:nvCxnSpPr>
        <p:spPr>
          <a:xfrm>
            <a:off x="1978525" y="2843282"/>
            <a:ext cx="3237184" cy="18321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"/>
          <p:cNvSpPr/>
          <p:nvPr/>
        </p:nvSpPr>
        <p:spPr>
          <a:xfrm>
            <a:off x="1367649" y="226489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Book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矩形 6"/>
          <p:cNvSpPr/>
          <p:nvPr/>
        </p:nvSpPr>
        <p:spPr>
          <a:xfrm>
            <a:off x="8099523" y="2599211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Reader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矩形 7"/>
          <p:cNvSpPr/>
          <p:nvPr/>
        </p:nvSpPr>
        <p:spPr>
          <a:xfrm>
            <a:off x="1272461" y="462769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矩形 8"/>
          <p:cNvSpPr/>
          <p:nvPr/>
        </p:nvSpPr>
        <p:spPr>
          <a:xfrm>
            <a:off x="8415782" y="4709893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Author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菱形 2"/>
          <p:cNvSpPr/>
          <p:nvPr/>
        </p:nvSpPr>
        <p:spPr>
          <a:xfrm>
            <a:off x="4641303" y="2114513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Borrow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菱形 3"/>
          <p:cNvSpPr/>
          <p:nvPr/>
        </p:nvSpPr>
        <p:spPr>
          <a:xfrm>
            <a:off x="5213090" y="4314570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Write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菱形 4"/>
          <p:cNvSpPr/>
          <p:nvPr/>
        </p:nvSpPr>
        <p:spPr>
          <a:xfrm>
            <a:off x="1154519" y="3644156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58" name="直接连接符 13"/>
          <p:cNvCxnSpPr>
            <a:stCxn id="51" idx="3"/>
            <a:endCxn id="55" idx="1"/>
          </p:cNvCxnSpPr>
          <p:nvPr/>
        </p:nvCxnSpPr>
        <p:spPr>
          <a:xfrm flipV="1">
            <a:off x="2962693" y="2478898"/>
            <a:ext cx="1678610" cy="119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14"/>
          <p:cNvCxnSpPr>
            <a:stCxn id="55" idx="3"/>
            <a:endCxn id="52" idx="1"/>
          </p:cNvCxnSpPr>
          <p:nvPr/>
        </p:nvCxnSpPr>
        <p:spPr>
          <a:xfrm>
            <a:off x="6449477" y="2478898"/>
            <a:ext cx="1650046" cy="4537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20"/>
          <p:cNvCxnSpPr>
            <a:stCxn id="57" idx="2"/>
            <a:endCxn id="53" idx="0"/>
          </p:cNvCxnSpPr>
          <p:nvPr/>
        </p:nvCxnSpPr>
        <p:spPr>
          <a:xfrm>
            <a:off x="2058606" y="4372925"/>
            <a:ext cx="11377" cy="2547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26"/>
          <p:cNvCxnSpPr>
            <a:stCxn id="56" idx="3"/>
            <a:endCxn id="54" idx="1"/>
          </p:cNvCxnSpPr>
          <p:nvPr/>
        </p:nvCxnSpPr>
        <p:spPr>
          <a:xfrm>
            <a:off x="7021264" y="4678955"/>
            <a:ext cx="1394518" cy="364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31"/>
          <p:cNvCxnSpPr>
            <a:endCxn id="57" idx="0"/>
          </p:cNvCxnSpPr>
          <p:nvPr/>
        </p:nvCxnSpPr>
        <p:spPr>
          <a:xfrm>
            <a:off x="2043366" y="2918976"/>
            <a:ext cx="15240" cy="7251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2.5: add constraints to relationships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12</a:t>
            </a:fld>
            <a:endParaRPr lang="zh-CN" altLang="en-US"/>
          </a:p>
        </p:txBody>
      </p:sp>
      <p:cxnSp>
        <p:nvCxnSpPr>
          <p:cNvPr id="49" name="直接连接符 12"/>
          <p:cNvCxnSpPr/>
          <p:nvPr/>
        </p:nvCxnSpPr>
        <p:spPr>
          <a:xfrm>
            <a:off x="1978525" y="2843282"/>
            <a:ext cx="3237184" cy="18321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15"/>
          <p:cNvCxnSpPr/>
          <p:nvPr/>
        </p:nvCxnSpPr>
        <p:spPr>
          <a:xfrm>
            <a:off x="2203229" y="2928594"/>
            <a:ext cx="3067480" cy="17308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"/>
          <p:cNvSpPr/>
          <p:nvPr/>
        </p:nvSpPr>
        <p:spPr>
          <a:xfrm>
            <a:off x="1367649" y="226489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Book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矩形 6"/>
          <p:cNvSpPr/>
          <p:nvPr/>
        </p:nvSpPr>
        <p:spPr>
          <a:xfrm>
            <a:off x="8099523" y="2599211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Reader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矩形 7"/>
          <p:cNvSpPr/>
          <p:nvPr/>
        </p:nvSpPr>
        <p:spPr>
          <a:xfrm>
            <a:off x="1272461" y="462769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矩形 8"/>
          <p:cNvSpPr/>
          <p:nvPr/>
        </p:nvSpPr>
        <p:spPr>
          <a:xfrm>
            <a:off x="8415782" y="4709893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Author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菱形 2"/>
          <p:cNvSpPr/>
          <p:nvPr/>
        </p:nvSpPr>
        <p:spPr>
          <a:xfrm>
            <a:off x="4641303" y="2114513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Borrow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菱形 3"/>
          <p:cNvSpPr/>
          <p:nvPr/>
        </p:nvSpPr>
        <p:spPr>
          <a:xfrm>
            <a:off x="5213090" y="4314570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Write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菱形 4"/>
          <p:cNvSpPr/>
          <p:nvPr/>
        </p:nvSpPr>
        <p:spPr>
          <a:xfrm>
            <a:off x="1154519" y="3644156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58" name="直接连接符 13"/>
          <p:cNvCxnSpPr>
            <a:stCxn id="51" idx="3"/>
            <a:endCxn id="55" idx="1"/>
          </p:cNvCxnSpPr>
          <p:nvPr/>
        </p:nvCxnSpPr>
        <p:spPr>
          <a:xfrm flipV="1">
            <a:off x="2962693" y="2478898"/>
            <a:ext cx="1678610" cy="119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14"/>
          <p:cNvCxnSpPr>
            <a:stCxn id="55" idx="3"/>
            <a:endCxn id="52" idx="1"/>
          </p:cNvCxnSpPr>
          <p:nvPr/>
        </p:nvCxnSpPr>
        <p:spPr>
          <a:xfrm>
            <a:off x="6449477" y="2478898"/>
            <a:ext cx="1650046" cy="4537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20"/>
          <p:cNvCxnSpPr>
            <a:stCxn id="57" idx="2"/>
            <a:endCxn id="53" idx="0"/>
          </p:cNvCxnSpPr>
          <p:nvPr/>
        </p:nvCxnSpPr>
        <p:spPr>
          <a:xfrm>
            <a:off x="2058606" y="4372925"/>
            <a:ext cx="11377" cy="2547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26"/>
          <p:cNvCxnSpPr>
            <a:stCxn id="56" idx="3"/>
            <a:endCxn id="54" idx="1"/>
          </p:cNvCxnSpPr>
          <p:nvPr/>
        </p:nvCxnSpPr>
        <p:spPr>
          <a:xfrm>
            <a:off x="7021264" y="4678955"/>
            <a:ext cx="1394518" cy="364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等腰三角形 29"/>
          <p:cNvSpPr/>
          <p:nvPr/>
        </p:nvSpPr>
        <p:spPr>
          <a:xfrm rot="10800000">
            <a:off x="1978525" y="3474626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3" name="直接连接符 31"/>
          <p:cNvCxnSpPr/>
          <p:nvPr/>
        </p:nvCxnSpPr>
        <p:spPr>
          <a:xfrm>
            <a:off x="2036491" y="2918976"/>
            <a:ext cx="0" cy="546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33"/>
          <p:cNvCxnSpPr/>
          <p:nvPr/>
        </p:nvCxnSpPr>
        <p:spPr>
          <a:xfrm>
            <a:off x="2084617" y="2928594"/>
            <a:ext cx="0" cy="546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66"/>
          <p:cNvCxnSpPr/>
          <p:nvPr/>
        </p:nvCxnSpPr>
        <p:spPr>
          <a:xfrm>
            <a:off x="2464755" y="3099404"/>
            <a:ext cx="3257120" cy="1939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2591982" y="3128756"/>
            <a:ext cx="3129893" cy="18626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667233" y="2466886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Book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739216" y="2951241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Reader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95044" y="4991387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38365" y="5073583"/>
            <a:ext cx="1595044" cy="666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Author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4963886" y="2478203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Borrow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5535673" y="4678260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Write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菱形 4"/>
          <p:cNvSpPr/>
          <p:nvPr/>
        </p:nvSpPr>
        <p:spPr>
          <a:xfrm>
            <a:off x="1505667" y="3846365"/>
            <a:ext cx="1808174" cy="728769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4" name="直接连接符 13"/>
          <p:cNvCxnSpPr>
            <a:stCxn id="6" idx="3"/>
            <a:endCxn id="3" idx="1"/>
          </p:cNvCxnSpPr>
          <p:nvPr/>
        </p:nvCxnSpPr>
        <p:spPr>
          <a:xfrm>
            <a:off x="3262277" y="2800333"/>
            <a:ext cx="1701609" cy="42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3" idx="3"/>
            <a:endCxn id="7" idx="1"/>
          </p:cNvCxnSpPr>
          <p:nvPr/>
        </p:nvCxnSpPr>
        <p:spPr>
          <a:xfrm>
            <a:off x="6772060" y="2842588"/>
            <a:ext cx="967156" cy="4421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5" idx="2"/>
            <a:endCxn id="8" idx="0"/>
          </p:cNvCxnSpPr>
          <p:nvPr/>
        </p:nvCxnSpPr>
        <p:spPr>
          <a:xfrm flipH="1">
            <a:off x="2392566" y="4575134"/>
            <a:ext cx="17188" cy="416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" idx="3"/>
            <a:endCxn id="9" idx="1"/>
          </p:cNvCxnSpPr>
          <p:nvPr/>
        </p:nvCxnSpPr>
        <p:spPr>
          <a:xfrm>
            <a:off x="7343847" y="5042645"/>
            <a:ext cx="1394518" cy="364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838200" y="1602876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Title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062592" y="1576791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Price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38859" y="1761465"/>
            <a:ext cx="1870051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Availability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0972" y="2334889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u="sng" dirty="0">
                <a:latin typeface="Calibri" panose="020F0502020204030204"/>
                <a:ea typeface="Calibri" panose="020F0502020204030204"/>
                <a:cs typeface="Calibri" panose="020F0502020204030204"/>
              </a:rPr>
              <a:t>Id</a:t>
            </a:r>
            <a:endParaRPr lang="zh-CN" altLang="en-US" u="sng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7363326" y="1991630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u="sng" dirty="0">
                <a:latin typeface="Calibri" panose="020F0502020204030204"/>
                <a:ea typeface="Calibri" panose="020F0502020204030204"/>
                <a:cs typeface="Calibri" panose="020F0502020204030204"/>
              </a:rPr>
              <a:t>Id</a:t>
            </a:r>
            <a:endParaRPr lang="zh-CN" altLang="en-US" u="sng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414998" y="1520818"/>
            <a:ext cx="1428820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Number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081761" y="1549899"/>
            <a:ext cx="1177518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Name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040427" y="3409943"/>
            <a:ext cx="1236387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Ending Date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288399" y="3392600"/>
            <a:ext cx="1433476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Starting Date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64122" y="4258874"/>
            <a:ext cx="1330922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Publish Date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105043" y="5956608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u="sng" dirty="0">
                <a:latin typeface="Calibri" panose="020F0502020204030204"/>
                <a:ea typeface="Calibri" panose="020F0502020204030204"/>
                <a:cs typeface="Calibri" panose="020F0502020204030204"/>
              </a:rPr>
              <a:t>Id</a:t>
            </a:r>
            <a:endParaRPr lang="zh-CN" altLang="en-US" u="sng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516319" y="5967380"/>
            <a:ext cx="1177518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Name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778936" y="5740476"/>
            <a:ext cx="1058779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u="sng" dirty="0">
                <a:latin typeface="Calibri" panose="020F0502020204030204"/>
                <a:ea typeface="Calibri" panose="020F0502020204030204"/>
                <a:cs typeface="Calibri" panose="020F0502020204030204"/>
              </a:rPr>
              <a:t>Id</a:t>
            </a:r>
            <a:endParaRPr lang="zh-CN" altLang="en-US" u="sng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9061604" y="6288824"/>
            <a:ext cx="1428820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Number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7597085" y="6212909"/>
            <a:ext cx="1177518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Name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574182" y="5961826"/>
            <a:ext cx="1428820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Birthday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39" name="直接连接符 38"/>
          <p:cNvCxnSpPr>
            <a:stCxn id="13" idx="7"/>
            <a:endCxn id="6" idx="0"/>
          </p:cNvCxnSpPr>
          <p:nvPr/>
        </p:nvCxnSpPr>
        <p:spPr>
          <a:xfrm>
            <a:off x="1014696" y="2415437"/>
            <a:ext cx="1450059" cy="514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6" idx="0"/>
            <a:endCxn id="10" idx="5"/>
          </p:cNvCxnSpPr>
          <p:nvPr/>
        </p:nvCxnSpPr>
        <p:spPr>
          <a:xfrm flipH="1" flipV="1">
            <a:off x="1741924" y="2072343"/>
            <a:ext cx="722831" cy="3945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6" idx="0"/>
            <a:endCxn id="11" idx="4"/>
          </p:cNvCxnSpPr>
          <p:nvPr/>
        </p:nvCxnSpPr>
        <p:spPr>
          <a:xfrm flipV="1">
            <a:off x="2464755" y="2126806"/>
            <a:ext cx="127227" cy="34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6" idx="0"/>
            <a:endCxn id="12" idx="4"/>
          </p:cNvCxnSpPr>
          <p:nvPr/>
        </p:nvCxnSpPr>
        <p:spPr>
          <a:xfrm flipV="1">
            <a:off x="2464755" y="2311480"/>
            <a:ext cx="1709130" cy="1554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31" idx="0"/>
            <a:endCxn id="5" idx="1"/>
          </p:cNvCxnSpPr>
          <p:nvPr/>
        </p:nvCxnSpPr>
        <p:spPr>
          <a:xfrm flipV="1">
            <a:off x="929583" y="4210750"/>
            <a:ext cx="576084" cy="48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28" idx="0"/>
            <a:endCxn id="3" idx="2"/>
          </p:cNvCxnSpPr>
          <p:nvPr/>
        </p:nvCxnSpPr>
        <p:spPr>
          <a:xfrm flipV="1">
            <a:off x="5005137" y="3206972"/>
            <a:ext cx="862836" cy="185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2" idx="0"/>
            <a:endCxn id="8" idx="2"/>
          </p:cNvCxnSpPr>
          <p:nvPr/>
        </p:nvCxnSpPr>
        <p:spPr>
          <a:xfrm flipV="1">
            <a:off x="1634433" y="5658280"/>
            <a:ext cx="758133" cy="2983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3" idx="2"/>
            <a:endCxn id="26" idx="0"/>
          </p:cNvCxnSpPr>
          <p:nvPr/>
        </p:nvCxnSpPr>
        <p:spPr>
          <a:xfrm>
            <a:off x="5867973" y="3206972"/>
            <a:ext cx="790648" cy="2029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8" idx="2"/>
            <a:endCxn id="33" idx="0"/>
          </p:cNvCxnSpPr>
          <p:nvPr/>
        </p:nvCxnSpPr>
        <p:spPr>
          <a:xfrm>
            <a:off x="2392566" y="5658280"/>
            <a:ext cx="712512" cy="3091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9" idx="2"/>
            <a:endCxn id="34" idx="7"/>
          </p:cNvCxnSpPr>
          <p:nvPr/>
        </p:nvCxnSpPr>
        <p:spPr>
          <a:xfrm flipH="1">
            <a:off x="7682660" y="5740476"/>
            <a:ext cx="1853227" cy="80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7" idx="0"/>
            <a:endCxn id="22" idx="4"/>
          </p:cNvCxnSpPr>
          <p:nvPr/>
        </p:nvCxnSpPr>
        <p:spPr>
          <a:xfrm flipV="1">
            <a:off x="8536738" y="2070833"/>
            <a:ext cx="1592670" cy="8804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7" idx="0"/>
            <a:endCxn id="19" idx="4"/>
          </p:cNvCxnSpPr>
          <p:nvPr/>
        </p:nvCxnSpPr>
        <p:spPr>
          <a:xfrm flipH="1" flipV="1">
            <a:off x="7892716" y="2541645"/>
            <a:ext cx="644022" cy="409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7" idx="0"/>
            <a:endCxn id="23" idx="4"/>
          </p:cNvCxnSpPr>
          <p:nvPr/>
        </p:nvCxnSpPr>
        <p:spPr>
          <a:xfrm flipV="1">
            <a:off x="8536738" y="2099914"/>
            <a:ext cx="133782" cy="8513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36" idx="0"/>
            <a:endCxn id="9" idx="2"/>
          </p:cNvCxnSpPr>
          <p:nvPr/>
        </p:nvCxnSpPr>
        <p:spPr>
          <a:xfrm flipV="1">
            <a:off x="8185844" y="5740476"/>
            <a:ext cx="1350043" cy="4724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9" idx="2"/>
            <a:endCxn id="37" idx="1"/>
          </p:cNvCxnSpPr>
          <p:nvPr/>
        </p:nvCxnSpPr>
        <p:spPr>
          <a:xfrm>
            <a:off x="9535887" y="5740476"/>
            <a:ext cx="1247541" cy="301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35" idx="1"/>
            <a:endCxn id="9" idx="2"/>
          </p:cNvCxnSpPr>
          <p:nvPr/>
        </p:nvCxnSpPr>
        <p:spPr>
          <a:xfrm flipV="1">
            <a:off x="9270850" y="5740476"/>
            <a:ext cx="265037" cy="6288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7" idx="0"/>
            <a:endCxn id="46" idx="2"/>
          </p:cNvCxnSpPr>
          <p:nvPr/>
        </p:nvCxnSpPr>
        <p:spPr>
          <a:xfrm flipV="1">
            <a:off x="8536738" y="2663858"/>
            <a:ext cx="1773145" cy="2873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3: add attributes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10309883" y="2388850"/>
            <a:ext cx="1345062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Suburb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9872858" y="3109400"/>
            <a:ext cx="1087056" cy="5500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libri" panose="020F0502020204030204"/>
                <a:ea typeface="Calibri" panose="020F0502020204030204"/>
                <a:cs typeface="Calibri" panose="020F0502020204030204"/>
              </a:rPr>
              <a:t>Street</a:t>
            </a:r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8" name="直接连接符 49"/>
          <p:cNvCxnSpPr>
            <a:stCxn id="47" idx="2"/>
            <a:endCxn id="7" idx="3"/>
          </p:cNvCxnSpPr>
          <p:nvPr/>
        </p:nvCxnSpPr>
        <p:spPr>
          <a:xfrm flipH="1" flipV="1">
            <a:off x="9334260" y="3284688"/>
            <a:ext cx="538598" cy="997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等腰三角形 15"/>
          <p:cNvSpPr/>
          <p:nvPr/>
        </p:nvSpPr>
        <p:spPr>
          <a:xfrm rot="10800000">
            <a:off x="2319143" y="3674788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2377816" y="3128756"/>
            <a:ext cx="0" cy="546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433600" y="3128756"/>
            <a:ext cx="0" cy="546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06133"/>
            <a:ext cx="9144000" cy="2356483"/>
          </a:xfrm>
        </p:spPr>
        <p:txBody>
          <a:bodyPr>
            <a:normAutofit fontScale="90000"/>
          </a:bodyPr>
          <a:lstStyle/>
          <a:p>
            <a:br>
              <a:rPr lang="en-US" altLang="zh-CN" dirty="0">
                <a:latin typeface="Calibri" panose="020F0502020204030204"/>
                <a:ea typeface="黑体" panose="02010609060101010101" pitchFamily="49" charset="-122"/>
              </a:rPr>
            </a:b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Another Example</a:t>
            </a:r>
            <a:br>
              <a:rPr lang="en-US" altLang="zh-CN" dirty="0">
                <a:latin typeface="Calibri" panose="020F0502020204030204"/>
                <a:ea typeface="黑体" panose="02010609060101010101" pitchFamily="49" charset="-122"/>
              </a:rPr>
            </a:br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University Database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University Database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399" y="1282700"/>
            <a:ext cx="8743201" cy="489426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University Database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762" y="1282700"/>
            <a:ext cx="8218475" cy="489426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0B37-83D4-4A6C-4D15-52935237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A533B-9096-2547-8301-25C6E5FD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Think and discussion (6 Min)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9E3699-0521-B814-E79F-20FBBB99C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Think by yourself.</a:t>
            </a:r>
          </a:p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Quietly discuss with nearby students.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D154F1-F027-1E25-21B9-B75A0F9D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70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1: identify entity sets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566" y="1456931"/>
            <a:ext cx="7280822" cy="481870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38897" y="2441575"/>
            <a:ext cx="138145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Course</a:t>
            </a:r>
          </a:p>
        </p:txBody>
      </p:sp>
      <p:sp>
        <p:nvSpPr>
          <p:cNvPr id="9" name="矩形 8"/>
          <p:cNvSpPr/>
          <p:nvPr/>
        </p:nvSpPr>
        <p:spPr>
          <a:xfrm>
            <a:off x="7540792" y="2080125"/>
            <a:ext cx="19720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Department</a:t>
            </a:r>
          </a:p>
        </p:txBody>
      </p:sp>
      <p:sp>
        <p:nvSpPr>
          <p:cNvPr id="10" name="矩形 9"/>
          <p:cNvSpPr/>
          <p:nvPr/>
        </p:nvSpPr>
        <p:spPr>
          <a:xfrm>
            <a:off x="1759117" y="4832850"/>
            <a:ext cx="1657684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Student</a:t>
            </a:r>
          </a:p>
        </p:txBody>
      </p:sp>
      <p:sp>
        <p:nvSpPr>
          <p:cNvPr id="11" name="矩形 10"/>
          <p:cNvSpPr/>
          <p:nvPr/>
        </p:nvSpPr>
        <p:spPr>
          <a:xfrm>
            <a:off x="8017042" y="4689975"/>
            <a:ext cx="17815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Instructor</a:t>
            </a:r>
          </a:p>
        </p:txBody>
      </p:sp>
      <p:sp>
        <p:nvSpPr>
          <p:cNvPr id="14" name="菱形 13"/>
          <p:cNvSpPr/>
          <p:nvPr/>
        </p:nvSpPr>
        <p:spPr>
          <a:xfrm>
            <a:off x="4150897" y="2038684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Offer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086642" y="2417010"/>
            <a:ext cx="1455821" cy="521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4"/>
          <p:cNvSpPr/>
          <p:nvPr/>
        </p:nvSpPr>
        <p:spPr>
          <a:xfrm rot="4311071">
            <a:off x="3970497" y="2396412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" name="直接连接符 6"/>
          <p:cNvCxnSpPr/>
          <p:nvPr/>
        </p:nvCxnSpPr>
        <p:spPr>
          <a:xfrm flipV="1">
            <a:off x="3120356" y="246182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7"/>
          <p:cNvCxnSpPr/>
          <p:nvPr/>
        </p:nvCxnSpPr>
        <p:spPr>
          <a:xfrm flipV="1">
            <a:off x="3126092" y="251194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38897" y="2441575"/>
            <a:ext cx="138145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Course</a:t>
            </a:r>
          </a:p>
        </p:txBody>
      </p:sp>
      <p:sp>
        <p:nvSpPr>
          <p:cNvPr id="9" name="矩形 8"/>
          <p:cNvSpPr/>
          <p:nvPr/>
        </p:nvSpPr>
        <p:spPr>
          <a:xfrm>
            <a:off x="7540792" y="2080125"/>
            <a:ext cx="19720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Department</a:t>
            </a:r>
          </a:p>
        </p:txBody>
      </p:sp>
      <p:sp>
        <p:nvSpPr>
          <p:cNvPr id="10" name="矩形 9"/>
          <p:cNvSpPr/>
          <p:nvPr/>
        </p:nvSpPr>
        <p:spPr>
          <a:xfrm>
            <a:off x="1759117" y="4832850"/>
            <a:ext cx="1657684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Student</a:t>
            </a:r>
          </a:p>
        </p:txBody>
      </p:sp>
      <p:sp>
        <p:nvSpPr>
          <p:cNvPr id="11" name="矩形 10"/>
          <p:cNvSpPr/>
          <p:nvPr/>
        </p:nvSpPr>
        <p:spPr>
          <a:xfrm>
            <a:off x="8017042" y="4689975"/>
            <a:ext cx="17815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Instructor</a:t>
            </a:r>
          </a:p>
        </p:txBody>
      </p:sp>
      <p:sp>
        <p:nvSpPr>
          <p:cNvPr id="14" name="菱形 13"/>
          <p:cNvSpPr/>
          <p:nvPr/>
        </p:nvSpPr>
        <p:spPr>
          <a:xfrm>
            <a:off x="4150897" y="2038684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Offer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1383633" y="3502526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Enroll</a:t>
            </a:r>
            <a:endParaRPr lang="zh-CN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086642" y="2417010"/>
            <a:ext cx="1455821" cy="521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302043" y="3005222"/>
            <a:ext cx="175123" cy="49329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410326" y="4281903"/>
            <a:ext cx="72189" cy="5467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等腰三角形 4"/>
          <p:cNvSpPr/>
          <p:nvPr/>
        </p:nvSpPr>
        <p:spPr>
          <a:xfrm rot="4311071">
            <a:off x="3970497" y="2396412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120356" y="246182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3126092" y="251194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38897" y="2441575"/>
            <a:ext cx="138145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Course</a:t>
            </a:r>
          </a:p>
        </p:txBody>
      </p:sp>
      <p:sp>
        <p:nvSpPr>
          <p:cNvPr id="9" name="矩形 8"/>
          <p:cNvSpPr/>
          <p:nvPr/>
        </p:nvSpPr>
        <p:spPr>
          <a:xfrm>
            <a:off x="7540792" y="2080125"/>
            <a:ext cx="19720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Department</a:t>
            </a:r>
          </a:p>
        </p:txBody>
      </p:sp>
      <p:sp>
        <p:nvSpPr>
          <p:cNvPr id="10" name="矩形 9"/>
          <p:cNvSpPr/>
          <p:nvPr/>
        </p:nvSpPr>
        <p:spPr>
          <a:xfrm>
            <a:off x="1759117" y="4832850"/>
            <a:ext cx="1657684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Student</a:t>
            </a:r>
          </a:p>
        </p:txBody>
      </p:sp>
      <p:sp>
        <p:nvSpPr>
          <p:cNvPr id="11" name="矩形 10"/>
          <p:cNvSpPr/>
          <p:nvPr/>
        </p:nvSpPr>
        <p:spPr>
          <a:xfrm>
            <a:off x="8017042" y="4689975"/>
            <a:ext cx="17815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Instructor</a:t>
            </a:r>
          </a:p>
        </p:txBody>
      </p:sp>
      <p:sp>
        <p:nvSpPr>
          <p:cNvPr id="14" name="菱形 13"/>
          <p:cNvSpPr/>
          <p:nvPr/>
        </p:nvSpPr>
        <p:spPr>
          <a:xfrm>
            <a:off x="4150897" y="2038684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Offer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1383633" y="3502526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Enroll</a:t>
            </a:r>
            <a:endParaRPr lang="zh-CN"/>
          </a:p>
        </p:txBody>
      </p:sp>
      <p:sp>
        <p:nvSpPr>
          <p:cNvPr id="17" name="菱形 16"/>
          <p:cNvSpPr/>
          <p:nvPr/>
        </p:nvSpPr>
        <p:spPr>
          <a:xfrm>
            <a:off x="4625475" y="4184315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Teach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086642" y="2417010"/>
            <a:ext cx="1455821" cy="521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302043" y="3005222"/>
            <a:ext cx="175123" cy="49329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410326" y="4281903"/>
            <a:ext cx="72189" cy="5467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541169" y="4589378"/>
            <a:ext cx="1469189" cy="32619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7"/>
          <p:cNvSpPr/>
          <p:nvPr/>
        </p:nvSpPr>
        <p:spPr>
          <a:xfrm rot="4311071">
            <a:off x="3970497" y="2396412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3120356" y="246182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3126092" y="251194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2564727" y="3007274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2512400" y="3023794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38897" y="2441575"/>
            <a:ext cx="138145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Course</a:t>
            </a:r>
          </a:p>
        </p:txBody>
      </p:sp>
      <p:sp>
        <p:nvSpPr>
          <p:cNvPr id="9" name="矩形 8"/>
          <p:cNvSpPr/>
          <p:nvPr/>
        </p:nvSpPr>
        <p:spPr>
          <a:xfrm>
            <a:off x="7540792" y="2080125"/>
            <a:ext cx="19720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Department</a:t>
            </a:r>
          </a:p>
        </p:txBody>
      </p:sp>
      <p:sp>
        <p:nvSpPr>
          <p:cNvPr id="10" name="矩形 9"/>
          <p:cNvSpPr/>
          <p:nvPr/>
        </p:nvSpPr>
        <p:spPr>
          <a:xfrm>
            <a:off x="1759117" y="4832850"/>
            <a:ext cx="1657684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Student</a:t>
            </a:r>
          </a:p>
        </p:txBody>
      </p:sp>
      <p:sp>
        <p:nvSpPr>
          <p:cNvPr id="11" name="矩形 10"/>
          <p:cNvSpPr/>
          <p:nvPr/>
        </p:nvSpPr>
        <p:spPr>
          <a:xfrm>
            <a:off x="8017042" y="4689975"/>
            <a:ext cx="17815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Instructor</a:t>
            </a:r>
          </a:p>
        </p:txBody>
      </p:sp>
      <p:sp>
        <p:nvSpPr>
          <p:cNvPr id="14" name="菱形 13"/>
          <p:cNvSpPr/>
          <p:nvPr/>
        </p:nvSpPr>
        <p:spPr>
          <a:xfrm>
            <a:off x="4150897" y="2038684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Offer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1383633" y="3502526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Enroll</a:t>
            </a:r>
            <a:endParaRPr lang="zh-CN"/>
          </a:p>
        </p:txBody>
      </p:sp>
      <p:sp>
        <p:nvSpPr>
          <p:cNvPr id="17" name="菱形 16"/>
          <p:cNvSpPr/>
          <p:nvPr/>
        </p:nvSpPr>
        <p:spPr>
          <a:xfrm>
            <a:off x="4625475" y="4184315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Teach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8" name="菱形 17"/>
          <p:cNvSpPr/>
          <p:nvPr/>
        </p:nvSpPr>
        <p:spPr>
          <a:xfrm>
            <a:off x="6570581" y="3241842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Head</a:t>
            </a:r>
            <a:endParaRPr lang="zh-CN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086642" y="2417010"/>
            <a:ext cx="1455821" cy="521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302043" y="3005222"/>
            <a:ext cx="175123" cy="49329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410326" y="4281903"/>
            <a:ext cx="72189" cy="5467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541169" y="4589378"/>
            <a:ext cx="1469189" cy="32619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7557167" y="4061325"/>
            <a:ext cx="1328822" cy="62697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 rot="4311071">
            <a:off x="3970497" y="2396412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3120356" y="246182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126092" y="251194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564727" y="3007274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512400" y="3022098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等腰三角形 26"/>
          <p:cNvSpPr/>
          <p:nvPr/>
        </p:nvSpPr>
        <p:spPr>
          <a:xfrm rot="13069753">
            <a:off x="7522017" y="3087593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7637043" y="2646469"/>
            <a:ext cx="347253" cy="430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7655420" y="2645776"/>
            <a:ext cx="396412" cy="4884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2: add relationships</a:t>
            </a:r>
            <a:endParaRPr lang="zh-CN" altLang="en-US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38897" y="2441575"/>
            <a:ext cx="138145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Course</a:t>
            </a:r>
          </a:p>
        </p:txBody>
      </p:sp>
      <p:sp>
        <p:nvSpPr>
          <p:cNvPr id="9" name="矩形 8"/>
          <p:cNvSpPr/>
          <p:nvPr/>
        </p:nvSpPr>
        <p:spPr>
          <a:xfrm>
            <a:off x="7540792" y="2080125"/>
            <a:ext cx="19720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 dirty="0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Department</a:t>
            </a:r>
          </a:p>
        </p:txBody>
      </p:sp>
      <p:sp>
        <p:nvSpPr>
          <p:cNvPr id="10" name="矩形 9"/>
          <p:cNvSpPr/>
          <p:nvPr/>
        </p:nvSpPr>
        <p:spPr>
          <a:xfrm>
            <a:off x="1759117" y="4832850"/>
            <a:ext cx="1657684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Student</a:t>
            </a:r>
          </a:p>
        </p:txBody>
      </p:sp>
      <p:sp>
        <p:nvSpPr>
          <p:cNvPr id="11" name="矩形 10"/>
          <p:cNvSpPr/>
          <p:nvPr/>
        </p:nvSpPr>
        <p:spPr>
          <a:xfrm>
            <a:off x="8017042" y="4689975"/>
            <a:ext cx="1781509" cy="565651"/>
          </a:xfrm>
          <a:prstGeom prst="rect">
            <a:avLst/>
          </a:prstGeom>
          <a:solidFill>
            <a:srgbClr val="F4D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68403E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Instructor</a:t>
            </a:r>
          </a:p>
        </p:txBody>
      </p:sp>
      <p:sp>
        <p:nvSpPr>
          <p:cNvPr id="14" name="菱形 13"/>
          <p:cNvSpPr/>
          <p:nvPr/>
        </p:nvSpPr>
        <p:spPr>
          <a:xfrm>
            <a:off x="4150897" y="2038684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Offer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1383633" y="3502526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Enroll</a:t>
            </a:r>
            <a:endParaRPr lang="zh-CN"/>
          </a:p>
        </p:txBody>
      </p:sp>
      <p:sp>
        <p:nvSpPr>
          <p:cNvPr id="17" name="菱形 16"/>
          <p:cNvSpPr/>
          <p:nvPr/>
        </p:nvSpPr>
        <p:spPr>
          <a:xfrm>
            <a:off x="4625475" y="4184315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Teach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18" name="菱形 17"/>
          <p:cNvSpPr/>
          <p:nvPr/>
        </p:nvSpPr>
        <p:spPr>
          <a:xfrm>
            <a:off x="6574817" y="3240262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 dirty="0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Head</a:t>
            </a:r>
            <a:endParaRPr lang="zh-CN" dirty="0"/>
          </a:p>
        </p:txBody>
      </p:sp>
      <p:sp>
        <p:nvSpPr>
          <p:cNvPr id="19" name="菱形 18"/>
          <p:cNvSpPr/>
          <p:nvPr/>
        </p:nvSpPr>
        <p:spPr>
          <a:xfrm>
            <a:off x="9217527" y="3108157"/>
            <a:ext cx="1945104" cy="788736"/>
          </a:xfrm>
          <a:prstGeom prst="diamond">
            <a:avLst/>
          </a:prstGeom>
          <a:solidFill>
            <a:srgbClr val="EBF0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2400" b="1">
                <a:solidFill>
                  <a:srgbClr val="4A5B25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Work</a:t>
            </a:r>
            <a:endParaRPr lang="zh-CN" sz="2400" b="1">
              <a:solidFill>
                <a:srgbClr val="4A5B25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086642" y="2417010"/>
            <a:ext cx="1455821" cy="521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302043" y="3005222"/>
            <a:ext cx="175123" cy="49329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410326" y="4281903"/>
            <a:ext cx="72189" cy="5467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541169" y="4589378"/>
            <a:ext cx="1469189" cy="32619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7557167" y="4061325"/>
            <a:ext cx="1328822" cy="62697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8839200" y="3847431"/>
            <a:ext cx="1405018" cy="8676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 rot="4311071">
            <a:off x="3970497" y="2396412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3120356" y="246182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126092" y="2511940"/>
            <a:ext cx="865875" cy="232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564727" y="3007274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512400" y="3022098"/>
            <a:ext cx="2165402" cy="154801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等腰三角形 26"/>
          <p:cNvSpPr/>
          <p:nvPr/>
        </p:nvSpPr>
        <p:spPr>
          <a:xfrm rot="13069753">
            <a:off x="7522017" y="3087593"/>
            <a:ext cx="169704" cy="145473"/>
          </a:xfrm>
          <a:prstGeom prst="triangle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7637043" y="2646469"/>
            <a:ext cx="347253" cy="430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7655420" y="2645776"/>
            <a:ext cx="396412" cy="4884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19" idx="0"/>
          </p:cNvCxnSpPr>
          <p:nvPr/>
        </p:nvCxnSpPr>
        <p:spPr>
          <a:xfrm>
            <a:off x="8681450" y="2637175"/>
            <a:ext cx="1508629" cy="47098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8619452" y="2671976"/>
            <a:ext cx="1508629" cy="47098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Step 3: add attributes</a:t>
            </a:r>
            <a:endParaRPr lang="zh-CN" altLang="en-US" dirty="0">
              <a:latin typeface="Calibri" panose="020F0502020204030204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5E83-0E96-4FC2-A2F8-C06E687B247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49" y="1475589"/>
            <a:ext cx="7697274" cy="4763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731</Words>
  <Application>Microsoft Office PowerPoint</Application>
  <PresentationFormat>宽屏</PresentationFormat>
  <Paragraphs>155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微软雅黑</vt:lpstr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演示文稿</vt:lpstr>
      <vt:lpstr>Part One: Review  Basic ER-model Notations</vt:lpstr>
      <vt:lpstr>ER-model</vt:lpstr>
      <vt:lpstr>ER-diagram</vt:lpstr>
      <vt:lpstr>Relations</vt:lpstr>
      <vt:lpstr>Total-Participation</vt:lpstr>
      <vt:lpstr> Practice by Example Library Database</vt:lpstr>
      <vt:lpstr>Library Database</vt:lpstr>
      <vt:lpstr>Think and discussion (6 Min)</vt:lpstr>
      <vt:lpstr>Step 1: identify entity sets</vt:lpstr>
      <vt:lpstr>Step 2: add relationships</vt:lpstr>
      <vt:lpstr>Step 2.5: add constraints to relationships</vt:lpstr>
      <vt:lpstr>Step 3: add attributes</vt:lpstr>
      <vt:lpstr> Another Example University Database</vt:lpstr>
      <vt:lpstr>University Database</vt:lpstr>
      <vt:lpstr>University Database</vt:lpstr>
      <vt:lpstr>Think and discussion (6 Min)</vt:lpstr>
      <vt:lpstr>Step 1: identify entity sets</vt:lpstr>
      <vt:lpstr>Step 2: add relationships</vt:lpstr>
      <vt:lpstr>Step 2: add relationships</vt:lpstr>
      <vt:lpstr>Step 2: add relationships</vt:lpstr>
      <vt:lpstr>Step 2: add relationships</vt:lpstr>
      <vt:lpstr>Step 2: add relationships</vt:lpstr>
      <vt:lpstr>Step 3: add attributes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3170 Tutorial Week 2</dc:title>
  <dc:creator>Tony Leo</dc:creator>
  <cp:lastModifiedBy>潇 晏</cp:lastModifiedBy>
  <cp:revision>473</cp:revision>
  <dcterms:created xsi:type="dcterms:W3CDTF">2025-09-06T11:36:47Z</dcterms:created>
  <dcterms:modified xsi:type="dcterms:W3CDTF">2026-09-14T13:57:06Z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IPGFID">
    <vt:lpwstr>[DocID]=AB0361B8-E8A2-4AE6-9798-7F9DD6B00F08</vt:lpwstr>
  </property>
  <property fmtid="{D5CDD505-2E9C-101B-9397-08002B2CF9AE}" pid="3" name="_IPGLAB_P-BAA1_E-1_CV-6AE3F3B2_CN-F16743B7">
    <vt:lpwstr>dL6hD+cgDcSTMbt9IH0B123WnVXHvw8W6BYEGMONmjS/GyfkvgbyW6lCDMcs3uPLkaoyUTn4sTrZTAa1K1zuGw==</vt:lpwstr>
  </property>
  <property fmtid="{D5CDD505-2E9C-101B-9397-08002B2CF9AE}" pid="4" name="ICV">
    <vt:lpwstr>E8AEBEBF0F284D8D869961835CA0F5C6_12</vt:lpwstr>
  </property>
  <property fmtid="{D5CDD505-2E9C-101B-9397-08002B2CF9AE}" pid="5" name="KSOProductBuildVer">
    <vt:lpwstr>1033-6.2.2.8394</vt:lpwstr>
  </property>
</Properties>
</file>