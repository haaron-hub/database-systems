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9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6" r:id="rId49"/>
    <p:sldId id="307" r:id="rId50"/>
    <p:sldId id="308" r:id="rId51"/>
    <p:sldId id="309" r:id="rId52"/>
    <p:sldId id="310" r:id="rId53"/>
    <p:sldId id="311" r:id="rId54"/>
    <p:sldId id="312" r:id="rId55"/>
    <p:sldId id="313" r:id="rId56"/>
    <p:sldId id="314" r:id="rId57"/>
    <p:sldId id="315" r:id="rId58"/>
    <p:sldId id="316" r:id="rId59"/>
    <p:sldId id="317" r:id="rId60"/>
    <p:sldId id="318" r:id="rId61"/>
    <p:sldId id="319" r:id="rId62"/>
    <p:sldId id="320" r:id="rId63"/>
    <p:sldId id="321" r:id="rId64"/>
    <p:sldId id="326" r:id="rId65"/>
    <p:sldId id="327" r:id="rId66"/>
    <p:sldId id="328" r:id="rId67"/>
    <p:sldId id="329" r:id="rId68"/>
    <p:sldId id="330" r:id="rId69"/>
    <p:sldId id="331" r:id="rId70"/>
    <p:sldId id="332" r:id="rId71"/>
    <p:sldId id="333" r:id="rId72"/>
    <p:sldId id="334" r:id="rId73"/>
    <p:sldId id="335" r:id="rId74"/>
    <p:sldId id="336" r:id="rId75"/>
    <p:sldId id="337" r:id="rId76"/>
    <p:sldId id="338" r:id="rId77"/>
    <p:sldId id="339" r:id="rId78"/>
    <p:sldId id="340" r:id="rId79"/>
    <p:sldId id="341" r:id="rId80"/>
    <p:sldId id="342" r:id="rId81"/>
    <p:sldId id="343" r:id="rId82"/>
    <p:sldId id="344" r:id="rId83"/>
    <p:sldId id="345" r:id="rId84"/>
    <p:sldId id="346" r:id="rId85"/>
    <p:sldId id="347" r:id="rId86"/>
    <p:sldId id="348" r:id="rId87"/>
    <p:sldId id="349" r:id="rId88"/>
    <p:sldId id="350" r:id="rId89"/>
    <p:sldId id="351" r:id="rId90"/>
    <p:sldId id="352" r:id="rId91"/>
    <p:sldId id="353" r:id="rId92"/>
    <p:sldId id="354" r:id="rId93"/>
    <p:sldId id="355" r:id="rId94"/>
    <p:sldId id="356" r:id="rId95"/>
    <p:sldId id="357" r:id="rId96"/>
    <p:sldId id="358" r:id="rId97"/>
  </p:sldIdLst>
  <p:sldSz cx="9144000" cy="6858000" type="screen4x3"/>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86" d="100"/>
          <a:sy n="86" d="100"/>
        </p:scale>
        <p:origin x="1800" y="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tableStyles" Target="tableStyles.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presProps" Target="presProps.xml"/><Relationship Id="rId10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notesMaster" Target="notesMasters/notesMaster1.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0–1 min. Preserve the original course cover and source attribution. Introduce this as a practice session following the relational algebra lecture.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01:00–02:00 (60 seconds). 32 core questions. Each starts with 30 seconds of individual thinking. Complex answers reveal intermediate relations over several slides. The optional challenge is outside the 90-minute plan.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02:00–03:00 (60 seconds). Ask students which operators change rows, columns or both. Set semantics only, matching lecture slides 3 and 50. No SQL, bag semantics, outer joins or aggregation.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03:00–04:00 (60 seconds). Recap σ, unchanged schema, Boolean conditions and strict versus inclusive inequalities. Lecture scope: slides 4–5.</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04:00–04:30 (30 seconds). Ask learners to circle qualifying rows before writing σ. Pay attention to score=80.</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04:30–05:45 (75 seconds). Explain both predicates must be true on the same tuple. The whole row remains. Cara is the boundary case.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05:45–06:15 (30 seconds). Test OR versus AND on the same Applicant relation.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06:15–07:30 (75 seconds). OR includes any tuple satisfying at least one predicate. Ben enters through the score condition.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07:30–08:00 (30 seconds). Selection can compare two attributes from the same tuple.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08:00–09:00 (60 seconds). The two values being compared belong to each individual row.</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09:00–09:45 (45 seconds). Projection keeps named attributes and removes repeated tuples. Lecture slides 6–7.</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09:45–10:15 (30 seconds). Projection does not count occurrences. Require the final relation, not a list retaining duplicates.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10:15–11:15 (60 seconds). The three CS year-3 applicants collapse to a single pair. Do not remove duplicates based on only one field.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11:15–11:45 (30 seconds). Compare projection cardinalities and the role of a unique identifier.</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11:45–12:45 (60 seconds). mid/uid identity fields prevent otherwise identical projected tuples from collapsing.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12:45–13:30 (45 seconds). Explain temporary names and nesting. Assignment is a presentation aid, not an extra primitive. It never changes the original input relation.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13:30–14:00 (30 seconds). Ask students to diagnose the invalid expression, then construct a correct one.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14:00–15:00 (60 seconds). First select using all needed attributes, then project. Equivalent stepwise and nested forms. Require both uname and major in the final schema.</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15:00–15:45 (45 seconds). Corresponding attributes need matching domains and arity. Names can differ under the lecture convention. Output names come from the left relation.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15:45–16:15 (30 seconds). mid is an integer in both relations. These are workshop attendance lists.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16:15–17:15 (60 seconds). Union includes the shared tuples once, not twice.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17:15–17:45 (30 seconds). A union compares complete tuples. The same sid can occur in different rows.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17:45–18:45 (60 seconds). Only (2,Music) is shared. Different club values produce different tuples for sid 1.</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18:45–19:30 (45 seconds). Direction matters. Difference requires compatible schemas.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19:30–20:00 (30 seconds). Require separate answers and interpretations for both directions.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20:00–21:00 (60 seconds). Natural-language but not maps to directional difference. The two answers have the same schema but different tuples.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21:00–21:30 (30 seconds). Use the complete population as the left operand of difference.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21:30–22:30 (60 seconds). Project both sides to the same schema before subtraction.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22:30–23:15 (45 seconds). Intersection is derived from basic operators and needs compatible inputs.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23:15–23:45 (30 seconds). Venue(code) has text values, while mid values are integers. Same arity alone is insufficient.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23:45–24:45 (60 seconds). Both versions return IDs 2 and 4. Explain that renaming cannot change a domain. Names may differ in a compatible union under this lecture convention, but domains must match.</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24:45–25:15 (30 seconds). Symmetric difference combines two directional differences.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25:15–26:15 (60 seconds). Separate Hack-only from Design-only before union.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26:15–27:00 (45 seconds). Equivalent expression removes both-workshop attendees from anyone who attended.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27:00–28:00 (60 seconds). Show relation rename and attribute renaming separately. Follow lecture slides 17–18. Assignment stores a result, whereas rename changes labels.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28:00–28:30 (30 seconds). Ask for the fully renamed schema and all tuples. A second subpart contrasts renaming with assignment.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28:30–30:00 (90 seconds). This is the lecture renaming-list notation. Values are unchanged. T ← Club assigns an unchanged result to T and retains mid,label.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30:00–30:30 (30 seconds). Prepare two independent references to the same relation. This is schema work before a self-join.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30:30–31:45 (75 seconds). Aliases label two copies. They do not change stored values or multiply tuples until the product runs.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31:45–32:30 (45 seconds). Cross product pairs every left tuple with every right tuple. Qualify or rename overlapping names. Lecture slides 19–20.</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32:30–33:00 (30 seconds). Require all four rows and the schema. An empty operand produces an empty product.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33:00–34:15 (75 seconds). Every pairing appears. Nothing in × enforces a meaningful relationship or a join condition.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34:15–34:45 (30 seconds). Projection after product removes duplicate IDs. The empty relation is a counterexample to an unconditional simplification.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34:45–36:00 (75 seconds). With a nonempty Slot every sid appears in the product; projection collapses repeats.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36:00–37:00 (60 seconds). A condition join is selection over a product. It can use inequalities. All fields remain at this stage.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37:00–37:30 (30 seconds). Size and capacity are integers. Room R2 exactly fits group G2.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37:30–38:45 (75 seconds). 2×3=6 candidates, with only G2/R1 removed. Walk through the equality boundary G2/R2.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41:45–42:45 (60 seconds). Follow lecture slide 30 convention: equality conditions followed by projection to remove right-side equal join attributes. Other textbooks may keep both. State the convention explicitly.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42:45–43:15 (30 seconds). did and ref are matching device IDs with the same domain. Only equality on did=ref is intended.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43:15–44:30 (75 seconds). T3 has no matching Loan and does not appear. The equality join does not preserve unmatched rows.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44:30–45:00 (30 seconds). A multistep join query can filter one input before matching. Keep the join attribute.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45:00–46:15 (75 seconds). Filter devices first and keep did for matching. T3 survives the first stage but has no loan.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46:15–47:15 (60 seconds). J keeps both join columns until an explicit projection.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47:15–48:00 (45 seconds). Natural join compares every shared attribute, not only a presumed key. Lecture slide 33.</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48:00–48:30 (30 seconds). campus is a member home campus in Local and a booked room campus in Booking. This intentional naming collision tests understanding.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48:30–49:30 (60 seconds). Natural join yields two rows because it matches both mid and campus. Project the booking campus away since only home campus is requested. Then mid is the only shared attribute and all three bookings survive.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49:30–50:00 (30 seconds). A natural join recognizes attribute names, not foreign-key intent.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50:00–51:00 (60 seconds). No attribute names are shared before renaming, so this natural join is a product.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51:00–52:00 (60 seconds). After renaming, did is the one common field. Each matching ID is kept once in the schema.</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52:00–53:00 (60 seconds). Review all versus at least one. Candidates for R(X,Y)/S(Y) are the X-values in πX(R). Extra Y values are allowed. Lecture slides 36–40.</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53:00–54:00 (60 seconds). Dataset for Q23–Q28 and Q30–Q32. mid and tid are keys in Member and Tool. Trained key is (mid,tid,day). All foreign keys shown are valid. Alex occurs twice and Noor has no training records.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54:00–54:30 (30 seconds). Repeat inputs so learners do not need to remember the previous slide. Ask for mid and mname, not just names.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54:30–56:00 (90 seconds). Show projection removes day and duplicate (M1,T1). Derive the divisor from Tool, not from training records. Divide by T1,T2 and join back by mid.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60:45–61:15 (30 seconds). Use the same makerspace data. Keep IDs throughout the calculation.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61:15–62:30 (75 seconds). Build the complete tool divisor, rather than a divisor obtained from observed training.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62:30–63:45 (75 seconds). Check every required tool for each member, then attach names using mid.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63:45–64:15 (30 seconds). Use the same makerspace data. Keep IDs throughout the calculation.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64:15–65:30 (75 seconds). M1 has two training records, but only one distinct required tool.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65:30–66:45 (75 seconds). R / Required keeps M1 and M2. Do not remove M1 unless the wording requests other members.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66:45–67:15 (30 seconds). Use the same makerspace data. Keep IDs throughout the calculation.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67:15–68:30 (75 seconds). First create the common pair relation and Laser divisor. Any uses a join; every uses division.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68:30–69:45 (75 seconds). Only Laser means at least one Laser training and no non-Laser training. Never-trained members must stay excluded.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69:45–71:00 (75 seconds). Join each qualifying ID set to Member. Same-name people are kept distinct.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71:00–71:30 (30 seconds). A divisor can contain more than one attribute. Here dates form part of the requirement.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71:30–72:45 (75 seconds). Keep day in this dividend because day also occurs in the divisor. Both requirement attributes must match.</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72:45–74:00 (75 seconds). Adding requirements cannot enlarge the quotient for a fixed dividend. Different members cannot pool their records.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74:00–74:30 (30 seconds). Integrated query uses rename, product/condition join, projection and difference. No MAX or aggregation. Learners should keep IDs until the final projection.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74:30–75:30 (60 seconds). Introduce two aliases. Compare scores using strict &lt;. The output column S.mid is renamed back to mid to make the difference schema explicit.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75:30–76:30 (60 seconds). L={1,4}, W={2,3}. A name-only difference wrongly removes winning Alex because a different Alex has a lower score. Strict &lt; includes all ties.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76:30–77:30 (60 seconds). A counterexample shows why identity must be retained until after difference. Two different members share the name Alex.</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77:30–78:00 (30 seconds). Use the same makerspace data. Keep IDs throughout the calculation.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78:00–79:00 (60 seconds). Remove dates and duplicate tool pairs. Then rename every attribute of two copies to make the comparison explicit.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79:00–80:00 (60 seconds). A pair certifies two different tools for the same member. Both directions are present, which is harmless under projection.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80:00–81:00 (60 seconds). Project and rename a_mid to the canonical mid before joining Member.</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81:00–81:30 (30 seconds). Use the same makerspace data. Keep IDs throughout the calculation.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81:30–82:30 (60 seconds). Attach category by tid, then form two ID sets. Do not apply contradictory category predicates to a single row.</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82:30–83:30 (60 seconds). Intersect IDs. The same member, rather than a single training row, must meet both conditions.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83:30–84:00 (30 seconds). Use the same makerspace data. Keep IDs throughout the calculation.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84:00–85:00 (60 seconds). The candidate population must include M4. Start from Member rather than the training relation.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85:00–86:00 (60 seconds). Explicitly list all needed pairs and subtract the completed pair relation. Each table is a relation with two atomic attributes.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86:00–87:00 (60 seconds). Project the IDs from missing pairs and join Member. Both Alex members survive because the IDs are distinct.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87:00–88:00 (60 seconds). Separate never-trained members from members with some incomplete training. The all-member candidate set matters.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88:00–90:00 (120 seconds). Ask students to explain one check to a partner. Optional challenge after Reference is excluded from the 90 minutes.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alignment: 4 Relational Algebra.pptx (50 slides). Original design and attribution from Practice-relational_algebra.pptx (57 slides). New synthetic exercises replace repeated lecture examples. No external factual research used.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Optional extension or homework, outside the 90-minute plan. Candidate universe explicitly includes all four Member rows. Do not assume R contains every member.</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Optional homework answer. Under the active candidate-domain definition R/∅=πmid(R). Business candidate set is πmid(Member), which also includes M4. Vacuous truth applies when no requirement is unmet.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
        <p:nvSpPr>
          <p:cNvPr id="4" name="Rectangle 4">
            <a:extLst>
              <a:ext uri="{FF2B5EF4-FFF2-40B4-BE49-F238E27FC236}">
                <a16:creationId xmlns:a16="http://schemas.microsoft.com/office/drawing/2014/main" id="{6A9DFA76-17E1-2A4B-8D83-44130AB25877}"/>
              </a:ext>
            </a:extLst>
          </p:cNvPr>
          <p:cNvSpPr>
            <a:spLocks noGrp="1" noChangeArrowheads="1"/>
          </p:cNvSpPr>
          <p:nvPr>
            <p:ph type="dt" sz="half" idx="10"/>
          </p:nvPr>
        </p:nvSpPr>
        <p:spPr>
          <a:ln/>
        </p:spPr>
        <p:txBody>
          <a:bodyPr/>
          <a:lstStyle>
            <a:lvl1pPr>
              <a:defRPr/>
            </a:lvl1pPr>
          </a:lstStyle>
          <a:p>
            <a:pPr>
              <a:defRPr/>
            </a:pPr>
            <a:endParaRPr lang="en-US" altLang="zh-TW"/>
          </a:p>
        </p:txBody>
      </p:sp>
      <p:sp>
        <p:nvSpPr>
          <p:cNvPr id="5" name="Rectangle 5">
            <a:extLst>
              <a:ext uri="{FF2B5EF4-FFF2-40B4-BE49-F238E27FC236}">
                <a16:creationId xmlns:a16="http://schemas.microsoft.com/office/drawing/2014/main" id="{F27518D5-A903-7E4D-A070-D430055F4802}"/>
              </a:ext>
            </a:extLst>
          </p:cNvPr>
          <p:cNvSpPr>
            <a:spLocks noGrp="1" noChangeArrowheads="1"/>
          </p:cNvSpPr>
          <p:nvPr>
            <p:ph type="ftr" sz="quarter" idx="11"/>
          </p:nvPr>
        </p:nvSpPr>
        <p:spPr>
          <a:ln/>
        </p:spPr>
        <p:txBody>
          <a:bodyPr/>
          <a:lstStyle>
            <a:lvl1pPr>
              <a:defRPr/>
            </a:lvl1pPr>
          </a:lstStyle>
          <a:p>
            <a:pPr>
              <a:defRPr/>
            </a:pPr>
            <a:r>
              <a:rPr lang="fr-FR" altLang="zh-TW"/>
              <a:t>2024-2025 T1 (Michael Yu's Slides) v_1.0</a:t>
            </a:r>
            <a:endParaRPr lang="en-US" altLang="zh-TW"/>
          </a:p>
        </p:txBody>
      </p:sp>
      <p:sp>
        <p:nvSpPr>
          <p:cNvPr id="6" name="Rectangle 6">
            <a:extLst>
              <a:ext uri="{FF2B5EF4-FFF2-40B4-BE49-F238E27FC236}">
                <a16:creationId xmlns:a16="http://schemas.microsoft.com/office/drawing/2014/main" id="{DF676B5C-E66B-2C47-9925-8BC16A750D10}"/>
              </a:ext>
            </a:extLst>
          </p:cNvPr>
          <p:cNvSpPr>
            <a:spLocks noGrp="1" noChangeArrowheads="1"/>
          </p:cNvSpPr>
          <p:nvPr>
            <p:ph type="sldNum" sz="quarter" idx="12"/>
          </p:nvPr>
        </p:nvSpPr>
        <p:spPr>
          <a:ln/>
        </p:spPr>
        <p:txBody>
          <a:bodyPr/>
          <a:lstStyle>
            <a:lvl1pPr>
              <a:defRPr/>
            </a:lvl1pPr>
          </a:lstStyle>
          <a:p>
            <a:pPr>
              <a:defRPr/>
            </a:pPr>
            <a:fld id="{B84C4514-1EF6-6C41-8DFC-B806BCA42198}" type="slidenum">
              <a:rPr lang="en-US" altLang="zh-TW"/>
              <a:pPr>
                <a:defRPr/>
              </a:pPr>
              <a:t>‹#›</a:t>
            </a:fld>
            <a:endParaRPr lang="en-US" altLang="zh-TW"/>
          </a:p>
        </p:txBody>
      </p:sp>
    </p:spTree>
    <p:extLst>
      <p:ext uri="{BB962C8B-B14F-4D97-AF65-F5344CB8AC3E}">
        <p14:creationId xmlns:p14="http://schemas.microsoft.com/office/powerpoint/2010/main" val="3729172649"/>
      </p:ext>
    </p:extLst>
  </p:cSld>
  <p:clrMapOvr>
    <a:masterClrMapping/>
  </p:clrMapOvr>
  <p:extLst>
    <p:ext uri="{DCECCB84-F9BA-43D5-87BE-67443E8EF086}">
      <p15:sldGuideLst xmlns:p15="http://schemas.microsoft.com/office/powerpoint/2012/main">
        <p15:guide id="1" orient="horz" pos="2160">
          <p15:clr>
            <a:srgbClr val="FBAE40"/>
          </p15:clr>
        </p15:guide>
        <p15:guide id="2" pos="288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85800" y="228600"/>
            <a:ext cx="7772400" cy="533400"/>
          </a:xfrm>
        </p:spPr>
        <p:txBody>
          <a:bodyPr/>
          <a:lstStyle>
            <a:lvl1pPr>
              <a:defRPr sz="3600"/>
            </a:lvl1pPr>
          </a:lstStyle>
          <a:p>
            <a:r>
              <a:rPr lang="en-US" dirty="0"/>
              <a:t>Click to edit Master title style</a:t>
            </a:r>
          </a:p>
        </p:txBody>
      </p:sp>
      <p:sp>
        <p:nvSpPr>
          <p:cNvPr id="3" name="Content Placeholder 2"/>
          <p:cNvSpPr>
            <a:spLocks noGrp="1"/>
          </p:cNvSpPr>
          <p:nvPr>
            <p:ph idx="1"/>
          </p:nvPr>
        </p:nvSpPr>
        <p:spPr>
          <a:xfrm>
            <a:off x="685800" y="838200"/>
            <a:ext cx="7772400" cy="5257800"/>
          </a:xfrm>
        </p:spPr>
        <p:txBody>
          <a:bodyPr/>
          <a:lstStyle>
            <a:lvl1pPr>
              <a:defRPr sz="2400"/>
            </a:lvl1pPr>
            <a:lvl2pPr>
              <a:defRPr sz="2000"/>
            </a:lvl2pPr>
            <a:lvl3pPr>
              <a:defRPr sz="18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2D15C33E-6E44-8048-96EA-7E5216EF6587}"/>
              </a:ext>
            </a:extLst>
          </p:cNvPr>
          <p:cNvSpPr>
            <a:spLocks noGrp="1" noChangeArrowheads="1"/>
          </p:cNvSpPr>
          <p:nvPr>
            <p:ph type="dt" sz="half" idx="10"/>
          </p:nvPr>
        </p:nvSpPr>
        <p:spPr>
          <a:ln/>
        </p:spPr>
        <p:txBody>
          <a:bodyPr/>
          <a:lstStyle>
            <a:lvl1pPr>
              <a:defRPr/>
            </a:lvl1pPr>
          </a:lstStyle>
          <a:p>
            <a:pPr>
              <a:defRPr/>
            </a:pPr>
            <a:endParaRPr lang="en-US" altLang="zh-TW"/>
          </a:p>
        </p:txBody>
      </p:sp>
      <p:sp>
        <p:nvSpPr>
          <p:cNvPr id="5" name="Rectangle 5">
            <a:extLst>
              <a:ext uri="{FF2B5EF4-FFF2-40B4-BE49-F238E27FC236}">
                <a16:creationId xmlns:a16="http://schemas.microsoft.com/office/drawing/2014/main" id="{A4439DA1-139F-6E49-BC6C-723244AB5C81}"/>
              </a:ext>
            </a:extLst>
          </p:cNvPr>
          <p:cNvSpPr>
            <a:spLocks noGrp="1" noChangeArrowheads="1"/>
          </p:cNvSpPr>
          <p:nvPr>
            <p:ph type="ftr" sz="quarter" idx="11"/>
          </p:nvPr>
        </p:nvSpPr>
        <p:spPr>
          <a:ln/>
        </p:spPr>
        <p:txBody>
          <a:bodyPr/>
          <a:lstStyle>
            <a:lvl1pPr>
              <a:defRPr/>
            </a:lvl1pPr>
          </a:lstStyle>
          <a:p>
            <a:pPr>
              <a:defRPr/>
            </a:pPr>
            <a:r>
              <a:rPr lang="fr-FR" altLang="zh-TW"/>
              <a:t>2024-2025 T1 (Michael Yu's Slides) v_1.0</a:t>
            </a:r>
            <a:endParaRPr lang="en-US" altLang="zh-TW"/>
          </a:p>
        </p:txBody>
      </p:sp>
      <p:sp>
        <p:nvSpPr>
          <p:cNvPr id="6" name="Rectangle 6">
            <a:extLst>
              <a:ext uri="{FF2B5EF4-FFF2-40B4-BE49-F238E27FC236}">
                <a16:creationId xmlns:a16="http://schemas.microsoft.com/office/drawing/2014/main" id="{1E1F6A1A-F545-CB42-989D-AC5E94349427}"/>
              </a:ext>
            </a:extLst>
          </p:cNvPr>
          <p:cNvSpPr>
            <a:spLocks noGrp="1" noChangeArrowheads="1"/>
          </p:cNvSpPr>
          <p:nvPr>
            <p:ph type="sldNum" sz="quarter" idx="12"/>
          </p:nvPr>
        </p:nvSpPr>
        <p:spPr>
          <a:ln/>
        </p:spPr>
        <p:txBody>
          <a:bodyPr/>
          <a:lstStyle>
            <a:lvl1pPr>
              <a:defRPr/>
            </a:lvl1pPr>
          </a:lstStyle>
          <a:p>
            <a:pPr>
              <a:defRPr/>
            </a:pPr>
            <a:fld id="{43CA101F-9E5F-9249-9862-3CE55B3BB777}" type="slidenum">
              <a:rPr lang="en-US" altLang="zh-TW"/>
              <a:pPr>
                <a:defRPr/>
              </a:pPr>
              <a:t>‹#›</a:t>
            </a:fld>
            <a:endParaRPr lang="en-US" altLang="zh-TW"/>
          </a:p>
        </p:txBody>
      </p:sp>
    </p:spTree>
    <p:extLst>
      <p:ext uri="{BB962C8B-B14F-4D97-AF65-F5344CB8AC3E}">
        <p14:creationId xmlns:p14="http://schemas.microsoft.com/office/powerpoint/2010/main" val="2251464461"/>
      </p:ext>
    </p:extLst>
  </p:cSld>
  <p:clrMapOvr>
    <a:masterClrMapping/>
  </p:clrMapOvr>
  <p:extLst>
    <p:ext uri="{DCECCB84-F9BA-43D5-87BE-67443E8EF086}">
      <p15:sldGuideLst xmlns:p15="http://schemas.microsoft.com/office/powerpoint/2012/main">
        <p15:guide id="1" orient="horz" pos="2160">
          <p15:clr>
            <a:srgbClr val="FBAE40"/>
          </p15:clr>
        </p15:guide>
        <p15:guide id="2" pos="288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4">
            <a:extLst>
              <a:ext uri="{FF2B5EF4-FFF2-40B4-BE49-F238E27FC236}">
                <a16:creationId xmlns:a16="http://schemas.microsoft.com/office/drawing/2014/main" id="{1CCEF168-925F-4A4E-BF36-AAA7083EE2B5}"/>
              </a:ext>
            </a:extLst>
          </p:cNvPr>
          <p:cNvSpPr>
            <a:spLocks noGrp="1" noChangeArrowheads="1"/>
          </p:cNvSpPr>
          <p:nvPr>
            <p:ph type="dt" sz="half" idx="10"/>
          </p:nvPr>
        </p:nvSpPr>
        <p:spPr>
          <a:ln/>
        </p:spPr>
        <p:txBody>
          <a:bodyPr/>
          <a:lstStyle>
            <a:lvl1pPr>
              <a:defRPr/>
            </a:lvl1pPr>
          </a:lstStyle>
          <a:p>
            <a:pPr>
              <a:defRPr/>
            </a:pPr>
            <a:endParaRPr lang="en-US" altLang="zh-TW"/>
          </a:p>
        </p:txBody>
      </p:sp>
      <p:sp>
        <p:nvSpPr>
          <p:cNvPr id="5" name="Rectangle 5">
            <a:extLst>
              <a:ext uri="{FF2B5EF4-FFF2-40B4-BE49-F238E27FC236}">
                <a16:creationId xmlns:a16="http://schemas.microsoft.com/office/drawing/2014/main" id="{0182D204-F6E4-AE4A-A3F2-AAA670614A6E}"/>
              </a:ext>
            </a:extLst>
          </p:cNvPr>
          <p:cNvSpPr>
            <a:spLocks noGrp="1" noChangeArrowheads="1"/>
          </p:cNvSpPr>
          <p:nvPr>
            <p:ph type="ftr" sz="quarter" idx="11"/>
          </p:nvPr>
        </p:nvSpPr>
        <p:spPr>
          <a:ln/>
        </p:spPr>
        <p:txBody>
          <a:bodyPr/>
          <a:lstStyle>
            <a:lvl1pPr>
              <a:defRPr/>
            </a:lvl1pPr>
          </a:lstStyle>
          <a:p>
            <a:pPr>
              <a:defRPr/>
            </a:pPr>
            <a:r>
              <a:rPr lang="fr-FR" altLang="zh-TW"/>
              <a:t>2024-2025 T1 (Michael Yu's Slides) v_1.0</a:t>
            </a:r>
            <a:endParaRPr lang="en-US" altLang="zh-TW"/>
          </a:p>
        </p:txBody>
      </p:sp>
      <p:sp>
        <p:nvSpPr>
          <p:cNvPr id="6" name="Rectangle 6">
            <a:extLst>
              <a:ext uri="{FF2B5EF4-FFF2-40B4-BE49-F238E27FC236}">
                <a16:creationId xmlns:a16="http://schemas.microsoft.com/office/drawing/2014/main" id="{1830C2C2-E356-4348-ADCF-01A081D513E6}"/>
              </a:ext>
            </a:extLst>
          </p:cNvPr>
          <p:cNvSpPr>
            <a:spLocks noGrp="1" noChangeArrowheads="1"/>
          </p:cNvSpPr>
          <p:nvPr>
            <p:ph type="sldNum" sz="quarter" idx="12"/>
          </p:nvPr>
        </p:nvSpPr>
        <p:spPr>
          <a:ln/>
        </p:spPr>
        <p:txBody>
          <a:bodyPr/>
          <a:lstStyle>
            <a:lvl1pPr>
              <a:defRPr/>
            </a:lvl1pPr>
          </a:lstStyle>
          <a:p>
            <a:pPr>
              <a:defRPr/>
            </a:pPr>
            <a:fld id="{7035CF63-A36F-AE4B-A58B-F454462B6A58}" type="slidenum">
              <a:rPr lang="en-US" altLang="zh-TW"/>
              <a:pPr>
                <a:defRPr/>
              </a:pPr>
              <a:t>‹#›</a:t>
            </a:fld>
            <a:endParaRPr lang="en-US" altLang="zh-TW"/>
          </a:p>
        </p:txBody>
      </p:sp>
    </p:spTree>
    <p:extLst>
      <p:ext uri="{BB962C8B-B14F-4D97-AF65-F5344CB8AC3E}">
        <p14:creationId xmlns:p14="http://schemas.microsoft.com/office/powerpoint/2010/main" val="97012851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85800" y="1524000"/>
            <a:ext cx="3810000" cy="4572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524000"/>
            <a:ext cx="3810000" cy="4572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a:extLst>
              <a:ext uri="{FF2B5EF4-FFF2-40B4-BE49-F238E27FC236}">
                <a16:creationId xmlns:a16="http://schemas.microsoft.com/office/drawing/2014/main" id="{16D260DF-ED74-9B43-8173-4915E55E6EB6}"/>
              </a:ext>
            </a:extLst>
          </p:cNvPr>
          <p:cNvSpPr>
            <a:spLocks noGrp="1" noChangeArrowheads="1"/>
          </p:cNvSpPr>
          <p:nvPr>
            <p:ph type="dt" sz="half" idx="10"/>
          </p:nvPr>
        </p:nvSpPr>
        <p:spPr>
          <a:ln/>
        </p:spPr>
        <p:txBody>
          <a:bodyPr/>
          <a:lstStyle>
            <a:lvl1pPr>
              <a:defRPr/>
            </a:lvl1pPr>
          </a:lstStyle>
          <a:p>
            <a:pPr>
              <a:defRPr/>
            </a:pPr>
            <a:endParaRPr lang="en-US" altLang="zh-TW"/>
          </a:p>
        </p:txBody>
      </p:sp>
      <p:sp>
        <p:nvSpPr>
          <p:cNvPr id="6" name="Rectangle 5">
            <a:extLst>
              <a:ext uri="{FF2B5EF4-FFF2-40B4-BE49-F238E27FC236}">
                <a16:creationId xmlns:a16="http://schemas.microsoft.com/office/drawing/2014/main" id="{0B38D145-F6DA-784A-A6CA-0417FD938B3B}"/>
              </a:ext>
            </a:extLst>
          </p:cNvPr>
          <p:cNvSpPr>
            <a:spLocks noGrp="1" noChangeArrowheads="1"/>
          </p:cNvSpPr>
          <p:nvPr>
            <p:ph type="ftr" sz="quarter" idx="11"/>
          </p:nvPr>
        </p:nvSpPr>
        <p:spPr>
          <a:ln/>
        </p:spPr>
        <p:txBody>
          <a:bodyPr/>
          <a:lstStyle>
            <a:lvl1pPr>
              <a:defRPr/>
            </a:lvl1pPr>
          </a:lstStyle>
          <a:p>
            <a:pPr>
              <a:defRPr/>
            </a:pPr>
            <a:r>
              <a:rPr lang="fr-FR" altLang="zh-TW"/>
              <a:t>2024-2025 T1 (Michael Yu's Slides) v_1.0</a:t>
            </a:r>
            <a:endParaRPr lang="en-US" altLang="zh-TW"/>
          </a:p>
        </p:txBody>
      </p:sp>
      <p:sp>
        <p:nvSpPr>
          <p:cNvPr id="7" name="Rectangle 6">
            <a:extLst>
              <a:ext uri="{FF2B5EF4-FFF2-40B4-BE49-F238E27FC236}">
                <a16:creationId xmlns:a16="http://schemas.microsoft.com/office/drawing/2014/main" id="{3D55C589-6E07-BA43-962D-6CFAEEC41AFE}"/>
              </a:ext>
            </a:extLst>
          </p:cNvPr>
          <p:cNvSpPr>
            <a:spLocks noGrp="1" noChangeArrowheads="1"/>
          </p:cNvSpPr>
          <p:nvPr>
            <p:ph type="sldNum" sz="quarter" idx="12"/>
          </p:nvPr>
        </p:nvSpPr>
        <p:spPr>
          <a:ln/>
        </p:spPr>
        <p:txBody>
          <a:bodyPr/>
          <a:lstStyle>
            <a:lvl1pPr>
              <a:defRPr/>
            </a:lvl1pPr>
          </a:lstStyle>
          <a:p>
            <a:pPr>
              <a:defRPr/>
            </a:pPr>
            <a:fld id="{B3127A75-7A4E-F64C-9170-1B654406372F}" type="slidenum">
              <a:rPr lang="en-US" altLang="zh-TW"/>
              <a:pPr>
                <a:defRPr/>
              </a:pPr>
              <a:t>‹#›</a:t>
            </a:fld>
            <a:endParaRPr lang="en-US" altLang="zh-TW"/>
          </a:p>
        </p:txBody>
      </p:sp>
    </p:spTree>
    <p:extLst>
      <p:ext uri="{BB962C8B-B14F-4D97-AF65-F5344CB8AC3E}">
        <p14:creationId xmlns:p14="http://schemas.microsoft.com/office/powerpoint/2010/main" val="412365403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a:extLst>
              <a:ext uri="{FF2B5EF4-FFF2-40B4-BE49-F238E27FC236}">
                <a16:creationId xmlns:a16="http://schemas.microsoft.com/office/drawing/2014/main" id="{44A0C8DB-0B4C-7A44-8129-D2F6EBB2C4A0}"/>
              </a:ext>
            </a:extLst>
          </p:cNvPr>
          <p:cNvSpPr>
            <a:spLocks noGrp="1" noChangeArrowheads="1"/>
          </p:cNvSpPr>
          <p:nvPr>
            <p:ph type="dt" sz="half" idx="10"/>
          </p:nvPr>
        </p:nvSpPr>
        <p:spPr>
          <a:ln/>
        </p:spPr>
        <p:txBody>
          <a:bodyPr/>
          <a:lstStyle>
            <a:lvl1pPr>
              <a:defRPr/>
            </a:lvl1pPr>
          </a:lstStyle>
          <a:p>
            <a:pPr>
              <a:defRPr/>
            </a:pPr>
            <a:endParaRPr lang="en-US" altLang="zh-TW"/>
          </a:p>
        </p:txBody>
      </p:sp>
      <p:sp>
        <p:nvSpPr>
          <p:cNvPr id="8" name="Rectangle 5">
            <a:extLst>
              <a:ext uri="{FF2B5EF4-FFF2-40B4-BE49-F238E27FC236}">
                <a16:creationId xmlns:a16="http://schemas.microsoft.com/office/drawing/2014/main" id="{21872DF0-5535-0547-B313-49A4E30F021A}"/>
              </a:ext>
            </a:extLst>
          </p:cNvPr>
          <p:cNvSpPr>
            <a:spLocks noGrp="1" noChangeArrowheads="1"/>
          </p:cNvSpPr>
          <p:nvPr>
            <p:ph type="ftr" sz="quarter" idx="11"/>
          </p:nvPr>
        </p:nvSpPr>
        <p:spPr>
          <a:ln/>
        </p:spPr>
        <p:txBody>
          <a:bodyPr/>
          <a:lstStyle>
            <a:lvl1pPr>
              <a:defRPr/>
            </a:lvl1pPr>
          </a:lstStyle>
          <a:p>
            <a:pPr>
              <a:defRPr/>
            </a:pPr>
            <a:r>
              <a:rPr lang="fr-FR" altLang="zh-TW"/>
              <a:t>2024-2025 T1 (Michael Yu's Slides) v_1.0</a:t>
            </a:r>
            <a:endParaRPr lang="en-US" altLang="zh-TW"/>
          </a:p>
        </p:txBody>
      </p:sp>
      <p:sp>
        <p:nvSpPr>
          <p:cNvPr id="9" name="Rectangle 6">
            <a:extLst>
              <a:ext uri="{FF2B5EF4-FFF2-40B4-BE49-F238E27FC236}">
                <a16:creationId xmlns:a16="http://schemas.microsoft.com/office/drawing/2014/main" id="{6F8BB327-D5D0-214C-A9A4-7391D65315F7}"/>
              </a:ext>
            </a:extLst>
          </p:cNvPr>
          <p:cNvSpPr>
            <a:spLocks noGrp="1" noChangeArrowheads="1"/>
          </p:cNvSpPr>
          <p:nvPr>
            <p:ph type="sldNum" sz="quarter" idx="12"/>
          </p:nvPr>
        </p:nvSpPr>
        <p:spPr>
          <a:ln/>
        </p:spPr>
        <p:txBody>
          <a:bodyPr/>
          <a:lstStyle>
            <a:lvl1pPr>
              <a:defRPr/>
            </a:lvl1pPr>
          </a:lstStyle>
          <a:p>
            <a:pPr>
              <a:defRPr/>
            </a:pPr>
            <a:fld id="{B827C1E0-6E68-684B-9630-74530A4FBB88}" type="slidenum">
              <a:rPr lang="en-US" altLang="zh-TW"/>
              <a:pPr>
                <a:defRPr/>
              </a:pPr>
              <a:t>‹#›</a:t>
            </a:fld>
            <a:endParaRPr lang="en-US" altLang="zh-TW"/>
          </a:p>
        </p:txBody>
      </p:sp>
    </p:spTree>
    <p:extLst>
      <p:ext uri="{BB962C8B-B14F-4D97-AF65-F5344CB8AC3E}">
        <p14:creationId xmlns:p14="http://schemas.microsoft.com/office/powerpoint/2010/main" val="5700684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4">
            <a:extLst>
              <a:ext uri="{FF2B5EF4-FFF2-40B4-BE49-F238E27FC236}">
                <a16:creationId xmlns:a16="http://schemas.microsoft.com/office/drawing/2014/main" id="{E37FA61D-892F-B94D-B117-A4BF5FF0474E}"/>
              </a:ext>
            </a:extLst>
          </p:cNvPr>
          <p:cNvSpPr>
            <a:spLocks noGrp="1" noChangeArrowheads="1"/>
          </p:cNvSpPr>
          <p:nvPr>
            <p:ph type="dt" sz="half" idx="10"/>
          </p:nvPr>
        </p:nvSpPr>
        <p:spPr>
          <a:ln/>
        </p:spPr>
        <p:txBody>
          <a:bodyPr/>
          <a:lstStyle>
            <a:lvl1pPr>
              <a:defRPr/>
            </a:lvl1pPr>
          </a:lstStyle>
          <a:p>
            <a:pPr>
              <a:defRPr/>
            </a:pPr>
            <a:endParaRPr lang="en-US" altLang="zh-TW"/>
          </a:p>
        </p:txBody>
      </p:sp>
      <p:sp>
        <p:nvSpPr>
          <p:cNvPr id="4" name="Rectangle 5">
            <a:extLst>
              <a:ext uri="{FF2B5EF4-FFF2-40B4-BE49-F238E27FC236}">
                <a16:creationId xmlns:a16="http://schemas.microsoft.com/office/drawing/2014/main" id="{DD3359DB-8F88-3F4D-BDA9-EE49A000542A}"/>
              </a:ext>
            </a:extLst>
          </p:cNvPr>
          <p:cNvSpPr>
            <a:spLocks noGrp="1" noChangeArrowheads="1"/>
          </p:cNvSpPr>
          <p:nvPr>
            <p:ph type="ftr" sz="quarter" idx="11"/>
          </p:nvPr>
        </p:nvSpPr>
        <p:spPr>
          <a:ln/>
        </p:spPr>
        <p:txBody>
          <a:bodyPr/>
          <a:lstStyle>
            <a:lvl1pPr>
              <a:defRPr/>
            </a:lvl1pPr>
          </a:lstStyle>
          <a:p>
            <a:pPr>
              <a:defRPr/>
            </a:pPr>
            <a:r>
              <a:rPr lang="fr-FR" altLang="zh-TW"/>
              <a:t>2024-2025 T1 (Michael Yu's Slides) v_1.0</a:t>
            </a:r>
            <a:endParaRPr lang="en-US" altLang="zh-TW"/>
          </a:p>
        </p:txBody>
      </p:sp>
      <p:sp>
        <p:nvSpPr>
          <p:cNvPr id="5" name="Rectangle 6">
            <a:extLst>
              <a:ext uri="{FF2B5EF4-FFF2-40B4-BE49-F238E27FC236}">
                <a16:creationId xmlns:a16="http://schemas.microsoft.com/office/drawing/2014/main" id="{F319CF00-ADA4-E749-9A5E-E4F099BC263F}"/>
              </a:ext>
            </a:extLst>
          </p:cNvPr>
          <p:cNvSpPr>
            <a:spLocks noGrp="1" noChangeArrowheads="1"/>
          </p:cNvSpPr>
          <p:nvPr>
            <p:ph type="sldNum" sz="quarter" idx="12"/>
          </p:nvPr>
        </p:nvSpPr>
        <p:spPr>
          <a:ln/>
        </p:spPr>
        <p:txBody>
          <a:bodyPr/>
          <a:lstStyle>
            <a:lvl1pPr>
              <a:defRPr/>
            </a:lvl1pPr>
          </a:lstStyle>
          <a:p>
            <a:pPr>
              <a:defRPr/>
            </a:pPr>
            <a:fld id="{2EFF21DE-5039-9D4E-8265-B24C97B74BE6}" type="slidenum">
              <a:rPr lang="en-US" altLang="zh-TW"/>
              <a:pPr>
                <a:defRPr/>
              </a:pPr>
              <a:t>‹#›</a:t>
            </a:fld>
            <a:endParaRPr lang="en-US" altLang="zh-TW"/>
          </a:p>
        </p:txBody>
      </p:sp>
    </p:spTree>
    <p:extLst>
      <p:ext uri="{BB962C8B-B14F-4D97-AF65-F5344CB8AC3E}">
        <p14:creationId xmlns:p14="http://schemas.microsoft.com/office/powerpoint/2010/main" val="279586725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CA7652A2-99B0-F240-817F-38053C14CF01}"/>
              </a:ext>
            </a:extLst>
          </p:cNvPr>
          <p:cNvSpPr>
            <a:spLocks noGrp="1" noChangeArrowheads="1"/>
          </p:cNvSpPr>
          <p:nvPr>
            <p:ph type="dt" sz="half" idx="10"/>
          </p:nvPr>
        </p:nvSpPr>
        <p:spPr>
          <a:ln/>
        </p:spPr>
        <p:txBody>
          <a:bodyPr/>
          <a:lstStyle>
            <a:lvl1pPr>
              <a:defRPr/>
            </a:lvl1pPr>
          </a:lstStyle>
          <a:p>
            <a:pPr>
              <a:defRPr/>
            </a:pPr>
            <a:endParaRPr lang="en-US" altLang="zh-TW"/>
          </a:p>
        </p:txBody>
      </p:sp>
      <p:sp>
        <p:nvSpPr>
          <p:cNvPr id="3" name="Rectangle 5">
            <a:extLst>
              <a:ext uri="{FF2B5EF4-FFF2-40B4-BE49-F238E27FC236}">
                <a16:creationId xmlns:a16="http://schemas.microsoft.com/office/drawing/2014/main" id="{168AFBCB-615F-754E-9067-3A9485171B08}"/>
              </a:ext>
            </a:extLst>
          </p:cNvPr>
          <p:cNvSpPr>
            <a:spLocks noGrp="1" noChangeArrowheads="1"/>
          </p:cNvSpPr>
          <p:nvPr>
            <p:ph type="ftr" sz="quarter" idx="11"/>
          </p:nvPr>
        </p:nvSpPr>
        <p:spPr>
          <a:ln/>
        </p:spPr>
        <p:txBody>
          <a:bodyPr/>
          <a:lstStyle>
            <a:lvl1pPr>
              <a:defRPr/>
            </a:lvl1pPr>
          </a:lstStyle>
          <a:p>
            <a:pPr>
              <a:defRPr/>
            </a:pPr>
            <a:r>
              <a:rPr lang="fr-FR" altLang="zh-TW"/>
              <a:t>2024-2025 T1 (Michael Yu's Slides) v_1.0</a:t>
            </a:r>
            <a:endParaRPr lang="en-US" altLang="zh-TW"/>
          </a:p>
        </p:txBody>
      </p:sp>
      <p:sp>
        <p:nvSpPr>
          <p:cNvPr id="4" name="Rectangle 6">
            <a:extLst>
              <a:ext uri="{FF2B5EF4-FFF2-40B4-BE49-F238E27FC236}">
                <a16:creationId xmlns:a16="http://schemas.microsoft.com/office/drawing/2014/main" id="{DDB9179F-6BCB-D845-A5AA-33B2F3FB44AD}"/>
              </a:ext>
            </a:extLst>
          </p:cNvPr>
          <p:cNvSpPr>
            <a:spLocks noGrp="1" noChangeArrowheads="1"/>
          </p:cNvSpPr>
          <p:nvPr>
            <p:ph type="sldNum" sz="quarter" idx="12"/>
          </p:nvPr>
        </p:nvSpPr>
        <p:spPr>
          <a:ln/>
        </p:spPr>
        <p:txBody>
          <a:bodyPr/>
          <a:lstStyle>
            <a:lvl1pPr>
              <a:defRPr/>
            </a:lvl1pPr>
          </a:lstStyle>
          <a:p>
            <a:pPr>
              <a:defRPr/>
            </a:pPr>
            <a:fld id="{81F90635-80B8-CA47-B91D-2166049991E5}" type="slidenum">
              <a:rPr lang="en-US" altLang="zh-TW"/>
              <a:pPr>
                <a:defRPr/>
              </a:pPr>
              <a:t>‹#›</a:t>
            </a:fld>
            <a:endParaRPr lang="en-US" altLang="zh-TW"/>
          </a:p>
        </p:txBody>
      </p:sp>
    </p:spTree>
    <p:extLst>
      <p:ext uri="{BB962C8B-B14F-4D97-AF65-F5344CB8AC3E}">
        <p14:creationId xmlns:p14="http://schemas.microsoft.com/office/powerpoint/2010/main" val="90994368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a:extLst>
              <a:ext uri="{FF2B5EF4-FFF2-40B4-BE49-F238E27FC236}">
                <a16:creationId xmlns:a16="http://schemas.microsoft.com/office/drawing/2014/main" id="{221C832E-A2F0-4A4E-B8FC-7CAAC10B964F}"/>
              </a:ext>
            </a:extLst>
          </p:cNvPr>
          <p:cNvSpPr>
            <a:spLocks noGrp="1" noChangeArrowheads="1"/>
          </p:cNvSpPr>
          <p:nvPr>
            <p:ph type="dt" sz="half" idx="10"/>
          </p:nvPr>
        </p:nvSpPr>
        <p:spPr>
          <a:ln/>
        </p:spPr>
        <p:txBody>
          <a:bodyPr/>
          <a:lstStyle>
            <a:lvl1pPr>
              <a:defRPr/>
            </a:lvl1pPr>
          </a:lstStyle>
          <a:p>
            <a:pPr>
              <a:defRPr/>
            </a:pPr>
            <a:endParaRPr lang="en-US" altLang="zh-TW"/>
          </a:p>
        </p:txBody>
      </p:sp>
      <p:sp>
        <p:nvSpPr>
          <p:cNvPr id="6" name="Rectangle 5">
            <a:extLst>
              <a:ext uri="{FF2B5EF4-FFF2-40B4-BE49-F238E27FC236}">
                <a16:creationId xmlns:a16="http://schemas.microsoft.com/office/drawing/2014/main" id="{838B49AC-8830-8249-A1F0-1C14D9CE9739}"/>
              </a:ext>
            </a:extLst>
          </p:cNvPr>
          <p:cNvSpPr>
            <a:spLocks noGrp="1" noChangeArrowheads="1"/>
          </p:cNvSpPr>
          <p:nvPr>
            <p:ph type="ftr" sz="quarter" idx="11"/>
          </p:nvPr>
        </p:nvSpPr>
        <p:spPr>
          <a:ln/>
        </p:spPr>
        <p:txBody>
          <a:bodyPr/>
          <a:lstStyle>
            <a:lvl1pPr>
              <a:defRPr/>
            </a:lvl1pPr>
          </a:lstStyle>
          <a:p>
            <a:pPr>
              <a:defRPr/>
            </a:pPr>
            <a:r>
              <a:rPr lang="fr-FR" altLang="zh-TW"/>
              <a:t>2024-2025 T1 (Michael Yu's Slides) v_1.0</a:t>
            </a:r>
            <a:endParaRPr lang="en-US" altLang="zh-TW"/>
          </a:p>
        </p:txBody>
      </p:sp>
      <p:sp>
        <p:nvSpPr>
          <p:cNvPr id="7" name="Rectangle 6">
            <a:extLst>
              <a:ext uri="{FF2B5EF4-FFF2-40B4-BE49-F238E27FC236}">
                <a16:creationId xmlns:a16="http://schemas.microsoft.com/office/drawing/2014/main" id="{393BB7D4-FFDB-8F49-9F2C-B440FAC48A52}"/>
              </a:ext>
            </a:extLst>
          </p:cNvPr>
          <p:cNvSpPr>
            <a:spLocks noGrp="1" noChangeArrowheads="1"/>
          </p:cNvSpPr>
          <p:nvPr>
            <p:ph type="sldNum" sz="quarter" idx="12"/>
          </p:nvPr>
        </p:nvSpPr>
        <p:spPr>
          <a:ln/>
        </p:spPr>
        <p:txBody>
          <a:bodyPr/>
          <a:lstStyle>
            <a:lvl1pPr>
              <a:defRPr/>
            </a:lvl1pPr>
          </a:lstStyle>
          <a:p>
            <a:pPr>
              <a:defRPr/>
            </a:pPr>
            <a:fld id="{43C0A29B-6602-BD46-91DC-EE3C884B361E}" type="slidenum">
              <a:rPr lang="en-US" altLang="zh-TW"/>
              <a:pPr>
                <a:defRPr/>
              </a:pPr>
              <a:t>‹#›</a:t>
            </a:fld>
            <a:endParaRPr lang="en-US" altLang="zh-TW"/>
          </a:p>
        </p:txBody>
      </p:sp>
    </p:spTree>
    <p:extLst>
      <p:ext uri="{BB962C8B-B14F-4D97-AF65-F5344CB8AC3E}">
        <p14:creationId xmlns:p14="http://schemas.microsoft.com/office/powerpoint/2010/main" val="365415415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a:extLst>
              <a:ext uri="{FF2B5EF4-FFF2-40B4-BE49-F238E27FC236}">
                <a16:creationId xmlns:a16="http://schemas.microsoft.com/office/drawing/2014/main" id="{26C045A4-645B-4F46-A743-32BC13EC651D}"/>
              </a:ext>
            </a:extLst>
          </p:cNvPr>
          <p:cNvSpPr>
            <a:spLocks noGrp="1" noChangeArrowheads="1"/>
          </p:cNvSpPr>
          <p:nvPr>
            <p:ph type="dt" sz="half" idx="10"/>
          </p:nvPr>
        </p:nvSpPr>
        <p:spPr>
          <a:ln/>
        </p:spPr>
        <p:txBody>
          <a:bodyPr/>
          <a:lstStyle>
            <a:lvl1pPr>
              <a:defRPr/>
            </a:lvl1pPr>
          </a:lstStyle>
          <a:p>
            <a:pPr>
              <a:defRPr/>
            </a:pPr>
            <a:endParaRPr lang="en-US" altLang="zh-TW"/>
          </a:p>
        </p:txBody>
      </p:sp>
      <p:sp>
        <p:nvSpPr>
          <p:cNvPr id="6" name="Rectangle 5">
            <a:extLst>
              <a:ext uri="{FF2B5EF4-FFF2-40B4-BE49-F238E27FC236}">
                <a16:creationId xmlns:a16="http://schemas.microsoft.com/office/drawing/2014/main" id="{C77F8289-2910-5747-920C-3CB47EF0A241}"/>
              </a:ext>
            </a:extLst>
          </p:cNvPr>
          <p:cNvSpPr>
            <a:spLocks noGrp="1" noChangeArrowheads="1"/>
          </p:cNvSpPr>
          <p:nvPr>
            <p:ph type="ftr" sz="quarter" idx="11"/>
          </p:nvPr>
        </p:nvSpPr>
        <p:spPr>
          <a:ln/>
        </p:spPr>
        <p:txBody>
          <a:bodyPr/>
          <a:lstStyle>
            <a:lvl1pPr>
              <a:defRPr/>
            </a:lvl1pPr>
          </a:lstStyle>
          <a:p>
            <a:pPr>
              <a:defRPr/>
            </a:pPr>
            <a:r>
              <a:rPr lang="fr-FR" altLang="zh-TW"/>
              <a:t>2024-2025 T1 (Michael Yu's Slides) v_1.0</a:t>
            </a:r>
            <a:endParaRPr lang="en-US" altLang="zh-TW"/>
          </a:p>
        </p:txBody>
      </p:sp>
      <p:sp>
        <p:nvSpPr>
          <p:cNvPr id="7" name="Rectangle 6">
            <a:extLst>
              <a:ext uri="{FF2B5EF4-FFF2-40B4-BE49-F238E27FC236}">
                <a16:creationId xmlns:a16="http://schemas.microsoft.com/office/drawing/2014/main" id="{67C1206C-4E9B-4D4A-9FE6-6EF147ED3F14}"/>
              </a:ext>
            </a:extLst>
          </p:cNvPr>
          <p:cNvSpPr>
            <a:spLocks noGrp="1" noChangeArrowheads="1"/>
          </p:cNvSpPr>
          <p:nvPr>
            <p:ph type="sldNum" sz="quarter" idx="12"/>
          </p:nvPr>
        </p:nvSpPr>
        <p:spPr>
          <a:ln/>
        </p:spPr>
        <p:txBody>
          <a:bodyPr/>
          <a:lstStyle>
            <a:lvl1pPr>
              <a:defRPr/>
            </a:lvl1pPr>
          </a:lstStyle>
          <a:p>
            <a:pPr>
              <a:defRPr/>
            </a:pPr>
            <a:fld id="{08448F38-48C3-5848-9921-88530550C673}" type="slidenum">
              <a:rPr lang="en-US" altLang="zh-TW"/>
              <a:pPr>
                <a:defRPr/>
              </a:pPr>
              <a:t>‹#›</a:t>
            </a:fld>
            <a:endParaRPr lang="en-US" altLang="zh-TW"/>
          </a:p>
        </p:txBody>
      </p:sp>
    </p:spTree>
    <p:extLst>
      <p:ext uri="{BB962C8B-B14F-4D97-AF65-F5344CB8AC3E}">
        <p14:creationId xmlns:p14="http://schemas.microsoft.com/office/powerpoint/2010/main" val="301150557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148D41BE-28F7-1B4C-8B4F-370633654E13}"/>
              </a:ext>
            </a:extLst>
          </p:cNvPr>
          <p:cNvSpPr>
            <a:spLocks noGrp="1" noChangeArrowheads="1"/>
          </p:cNvSpPr>
          <p:nvPr>
            <p:ph type="dt" sz="half" idx="10"/>
          </p:nvPr>
        </p:nvSpPr>
        <p:spPr>
          <a:ln/>
        </p:spPr>
        <p:txBody>
          <a:bodyPr/>
          <a:lstStyle>
            <a:lvl1pPr>
              <a:defRPr/>
            </a:lvl1pPr>
          </a:lstStyle>
          <a:p>
            <a:pPr>
              <a:defRPr/>
            </a:pPr>
            <a:endParaRPr lang="en-US" altLang="zh-TW"/>
          </a:p>
        </p:txBody>
      </p:sp>
      <p:sp>
        <p:nvSpPr>
          <p:cNvPr id="5" name="Rectangle 5">
            <a:extLst>
              <a:ext uri="{FF2B5EF4-FFF2-40B4-BE49-F238E27FC236}">
                <a16:creationId xmlns:a16="http://schemas.microsoft.com/office/drawing/2014/main" id="{E9CAB8BD-F2E2-9A46-BEA3-8A6A6BCADD39}"/>
              </a:ext>
            </a:extLst>
          </p:cNvPr>
          <p:cNvSpPr>
            <a:spLocks noGrp="1" noChangeArrowheads="1"/>
          </p:cNvSpPr>
          <p:nvPr>
            <p:ph type="ftr" sz="quarter" idx="11"/>
          </p:nvPr>
        </p:nvSpPr>
        <p:spPr>
          <a:ln/>
        </p:spPr>
        <p:txBody>
          <a:bodyPr/>
          <a:lstStyle>
            <a:lvl1pPr>
              <a:defRPr/>
            </a:lvl1pPr>
          </a:lstStyle>
          <a:p>
            <a:pPr>
              <a:defRPr/>
            </a:pPr>
            <a:r>
              <a:rPr lang="fr-FR" altLang="zh-TW"/>
              <a:t>2024-2025 T1 (Michael Yu's Slides) v_1.0</a:t>
            </a:r>
            <a:endParaRPr lang="en-US" altLang="zh-TW"/>
          </a:p>
        </p:txBody>
      </p:sp>
      <p:sp>
        <p:nvSpPr>
          <p:cNvPr id="6" name="Rectangle 6">
            <a:extLst>
              <a:ext uri="{FF2B5EF4-FFF2-40B4-BE49-F238E27FC236}">
                <a16:creationId xmlns:a16="http://schemas.microsoft.com/office/drawing/2014/main" id="{F90A649A-F8E1-BB4D-9388-50BBBA33E051}"/>
              </a:ext>
            </a:extLst>
          </p:cNvPr>
          <p:cNvSpPr>
            <a:spLocks noGrp="1" noChangeArrowheads="1"/>
          </p:cNvSpPr>
          <p:nvPr>
            <p:ph type="sldNum" sz="quarter" idx="12"/>
          </p:nvPr>
        </p:nvSpPr>
        <p:spPr>
          <a:ln/>
        </p:spPr>
        <p:txBody>
          <a:bodyPr/>
          <a:lstStyle>
            <a:lvl1pPr>
              <a:defRPr/>
            </a:lvl1pPr>
          </a:lstStyle>
          <a:p>
            <a:pPr>
              <a:defRPr/>
            </a:pPr>
            <a:fld id="{145983D2-769A-6444-B561-8008FFE75690}" type="slidenum">
              <a:rPr lang="en-US" altLang="zh-TW"/>
              <a:pPr>
                <a:defRPr/>
              </a:pPr>
              <a:t>‹#›</a:t>
            </a:fld>
            <a:endParaRPr lang="en-US" altLang="zh-TW"/>
          </a:p>
        </p:txBody>
      </p:sp>
    </p:spTree>
    <p:extLst>
      <p:ext uri="{BB962C8B-B14F-4D97-AF65-F5344CB8AC3E}">
        <p14:creationId xmlns:p14="http://schemas.microsoft.com/office/powerpoint/2010/main" val="67379661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496050" y="228600"/>
            <a:ext cx="1962150" cy="58674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28600"/>
            <a:ext cx="5734050" cy="58674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80840955-0547-5842-853E-B2BE8CD0B937}"/>
              </a:ext>
            </a:extLst>
          </p:cNvPr>
          <p:cNvSpPr>
            <a:spLocks noGrp="1" noChangeArrowheads="1"/>
          </p:cNvSpPr>
          <p:nvPr>
            <p:ph type="dt" sz="half" idx="10"/>
          </p:nvPr>
        </p:nvSpPr>
        <p:spPr>
          <a:ln/>
        </p:spPr>
        <p:txBody>
          <a:bodyPr/>
          <a:lstStyle>
            <a:lvl1pPr>
              <a:defRPr/>
            </a:lvl1pPr>
          </a:lstStyle>
          <a:p>
            <a:pPr>
              <a:defRPr/>
            </a:pPr>
            <a:endParaRPr lang="en-US" altLang="zh-TW"/>
          </a:p>
        </p:txBody>
      </p:sp>
      <p:sp>
        <p:nvSpPr>
          <p:cNvPr id="5" name="Rectangle 5">
            <a:extLst>
              <a:ext uri="{FF2B5EF4-FFF2-40B4-BE49-F238E27FC236}">
                <a16:creationId xmlns:a16="http://schemas.microsoft.com/office/drawing/2014/main" id="{5E23D349-BA33-5A4C-ACC6-675404AD3D83}"/>
              </a:ext>
            </a:extLst>
          </p:cNvPr>
          <p:cNvSpPr>
            <a:spLocks noGrp="1" noChangeArrowheads="1"/>
          </p:cNvSpPr>
          <p:nvPr>
            <p:ph type="ftr" sz="quarter" idx="11"/>
          </p:nvPr>
        </p:nvSpPr>
        <p:spPr>
          <a:ln/>
        </p:spPr>
        <p:txBody>
          <a:bodyPr/>
          <a:lstStyle>
            <a:lvl1pPr>
              <a:defRPr/>
            </a:lvl1pPr>
          </a:lstStyle>
          <a:p>
            <a:pPr>
              <a:defRPr/>
            </a:pPr>
            <a:r>
              <a:rPr lang="fr-FR" altLang="zh-TW"/>
              <a:t>2024-2025 T1 (Michael Yu's Slides) v_1.0</a:t>
            </a:r>
            <a:endParaRPr lang="en-US" altLang="zh-TW"/>
          </a:p>
        </p:txBody>
      </p:sp>
      <p:sp>
        <p:nvSpPr>
          <p:cNvPr id="6" name="Rectangle 6">
            <a:extLst>
              <a:ext uri="{FF2B5EF4-FFF2-40B4-BE49-F238E27FC236}">
                <a16:creationId xmlns:a16="http://schemas.microsoft.com/office/drawing/2014/main" id="{901D6A3A-B4D6-514A-A0F8-7E92AE259E9C}"/>
              </a:ext>
            </a:extLst>
          </p:cNvPr>
          <p:cNvSpPr>
            <a:spLocks noGrp="1" noChangeArrowheads="1"/>
          </p:cNvSpPr>
          <p:nvPr>
            <p:ph type="sldNum" sz="quarter" idx="12"/>
          </p:nvPr>
        </p:nvSpPr>
        <p:spPr>
          <a:ln/>
        </p:spPr>
        <p:txBody>
          <a:bodyPr/>
          <a:lstStyle>
            <a:lvl1pPr>
              <a:defRPr/>
            </a:lvl1pPr>
          </a:lstStyle>
          <a:p>
            <a:pPr>
              <a:defRPr/>
            </a:pPr>
            <a:fld id="{4CE65FBB-89EC-FA43-A717-36F7A464B091}" type="slidenum">
              <a:rPr lang="en-US" altLang="zh-TW"/>
              <a:pPr>
                <a:defRPr/>
              </a:pPr>
              <a:t>‹#›</a:t>
            </a:fld>
            <a:endParaRPr lang="en-US" altLang="zh-TW"/>
          </a:p>
        </p:txBody>
      </p:sp>
    </p:spTree>
    <p:extLst>
      <p:ext uri="{BB962C8B-B14F-4D97-AF65-F5344CB8AC3E}">
        <p14:creationId xmlns:p14="http://schemas.microsoft.com/office/powerpoint/2010/main" val="88706420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5122" name="Rectangle 2">
            <a:extLst>
              <a:ext uri="{FF2B5EF4-FFF2-40B4-BE49-F238E27FC236}">
                <a16:creationId xmlns:a16="http://schemas.microsoft.com/office/drawing/2014/main" id="{8CFBCA1E-1D87-1A45-AED3-1B9FABB02D8C}"/>
              </a:ext>
            </a:extLst>
          </p:cNvPr>
          <p:cNvSpPr>
            <a:spLocks noGrp="1" noChangeArrowheads="1"/>
          </p:cNvSpPr>
          <p:nvPr>
            <p:ph type="title"/>
          </p:nvPr>
        </p:nvSpPr>
        <p:spPr bwMode="auto">
          <a:xfrm>
            <a:off x="685800" y="228600"/>
            <a:ext cx="7772400" cy="609600"/>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p>
            <a:pPr lvl="0"/>
            <a:r>
              <a:rPr lang="en-US" altLang="zh-TW" dirty="0"/>
              <a:t>test</a:t>
            </a:r>
            <a:endParaRPr lang="zh-TW" altLang="en-US" dirty="0"/>
          </a:p>
        </p:txBody>
      </p:sp>
      <p:sp>
        <p:nvSpPr>
          <p:cNvPr id="1027" name="Rectangle 3">
            <a:extLst>
              <a:ext uri="{FF2B5EF4-FFF2-40B4-BE49-F238E27FC236}">
                <a16:creationId xmlns:a16="http://schemas.microsoft.com/office/drawing/2014/main" id="{AEEEA3F3-01F3-274B-969B-6284A563E949}"/>
              </a:ext>
            </a:extLst>
          </p:cNvPr>
          <p:cNvSpPr>
            <a:spLocks noGrp="1" noChangeArrowheads="1"/>
          </p:cNvSpPr>
          <p:nvPr>
            <p:ph type="body" idx="1"/>
          </p:nvPr>
        </p:nvSpPr>
        <p:spPr bwMode="auto">
          <a:xfrm>
            <a:off x="685800" y="914400"/>
            <a:ext cx="7772400" cy="5181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zh-TW"/>
              <a:t>test</a:t>
            </a:r>
            <a:endParaRPr lang="zh-TW" altLang="en-US"/>
          </a:p>
          <a:p>
            <a:pPr lvl="1"/>
            <a:r>
              <a:rPr lang="en-US" altLang="zh-TW"/>
              <a:t>test</a:t>
            </a:r>
            <a:endParaRPr lang="zh-TW" altLang="en-US"/>
          </a:p>
          <a:p>
            <a:pPr lvl="2"/>
            <a:r>
              <a:rPr lang="en-US" altLang="zh-TW"/>
              <a:t>test</a:t>
            </a:r>
            <a:endParaRPr lang="zh-TW" altLang="en-US"/>
          </a:p>
          <a:p>
            <a:pPr lvl="3"/>
            <a:r>
              <a:rPr lang="en-US" altLang="zh-TW"/>
              <a:t>test</a:t>
            </a:r>
            <a:endParaRPr lang="zh-TW" altLang="en-US"/>
          </a:p>
          <a:p>
            <a:pPr lvl="4"/>
            <a:r>
              <a:rPr lang="en-US" altLang="zh-TW"/>
              <a:t>test</a:t>
            </a:r>
            <a:endParaRPr lang="zh-TW" altLang="en-US"/>
          </a:p>
        </p:txBody>
      </p:sp>
      <p:sp>
        <p:nvSpPr>
          <p:cNvPr id="5124" name="Rectangle 4">
            <a:extLst>
              <a:ext uri="{FF2B5EF4-FFF2-40B4-BE49-F238E27FC236}">
                <a16:creationId xmlns:a16="http://schemas.microsoft.com/office/drawing/2014/main" id="{8442E8C3-D3C6-9844-A17A-1E602C139F07}"/>
              </a:ext>
            </a:extLst>
          </p:cNvPr>
          <p:cNvSpPr>
            <a:spLocks noGrp="1" noChangeArrowheads="1"/>
          </p:cNvSpPr>
          <p:nvPr>
            <p:ph type="dt" sz="half" idx="2"/>
          </p:nvPr>
        </p:nvSpPr>
        <p:spPr bwMode="auto">
          <a:xfrm>
            <a:off x="685800" y="6248400"/>
            <a:ext cx="1905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400"/>
            </a:lvl1pPr>
          </a:lstStyle>
          <a:p>
            <a:pPr>
              <a:defRPr/>
            </a:pPr>
            <a:endParaRPr lang="en-US" altLang="zh-TW"/>
          </a:p>
        </p:txBody>
      </p:sp>
      <p:sp>
        <p:nvSpPr>
          <p:cNvPr id="5125" name="Rectangle 5">
            <a:extLst>
              <a:ext uri="{FF2B5EF4-FFF2-40B4-BE49-F238E27FC236}">
                <a16:creationId xmlns:a16="http://schemas.microsoft.com/office/drawing/2014/main" id="{C761D2FF-B36B-C742-A48A-A379E60971B1}"/>
              </a:ext>
            </a:extLst>
          </p:cNvPr>
          <p:cNvSpPr>
            <a:spLocks noGrp="1" noChangeArrowheads="1"/>
          </p:cNvSpPr>
          <p:nvPr>
            <p:ph type="ftr" sz="quarter" idx="3"/>
          </p:nvPr>
        </p:nvSpPr>
        <p:spPr bwMode="auto">
          <a:xfrm>
            <a:off x="3124200" y="6248400"/>
            <a:ext cx="28956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eaLnBrk="1" hangingPunct="1">
              <a:defRPr sz="1400"/>
            </a:lvl1pPr>
          </a:lstStyle>
          <a:p>
            <a:pPr>
              <a:defRPr/>
            </a:pPr>
            <a:r>
              <a:rPr lang="fr-FR" altLang="zh-TW"/>
              <a:t>2024-2025 T1 (Michael Yu's Slides) v_1.0</a:t>
            </a:r>
            <a:endParaRPr lang="en-US" altLang="zh-TW"/>
          </a:p>
        </p:txBody>
      </p:sp>
      <p:sp>
        <p:nvSpPr>
          <p:cNvPr id="5126" name="Rectangle 6">
            <a:extLst>
              <a:ext uri="{FF2B5EF4-FFF2-40B4-BE49-F238E27FC236}">
                <a16:creationId xmlns:a16="http://schemas.microsoft.com/office/drawing/2014/main" id="{B7D0037C-8401-2E44-8C9D-71562E60B5C7}"/>
              </a:ext>
            </a:extLst>
          </p:cNvPr>
          <p:cNvSpPr>
            <a:spLocks noGrp="1" noChangeArrowheads="1"/>
          </p:cNvSpPr>
          <p:nvPr>
            <p:ph type="sldNum" sz="quarter" idx="4"/>
          </p:nvPr>
        </p:nvSpPr>
        <p:spPr bwMode="auto">
          <a:xfrm>
            <a:off x="6553200" y="6248400"/>
            <a:ext cx="1905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400" smtClean="0"/>
            </a:lvl1pPr>
          </a:lstStyle>
          <a:p>
            <a:pPr>
              <a:defRPr/>
            </a:pPr>
            <a:fld id="{4452281B-98BA-454B-9A62-151AF73D11BC}" type="slidenum">
              <a:rPr lang="en-US" altLang="zh-TW"/>
              <a:pPr>
                <a:defRPr/>
              </a:pPr>
              <a:t>‹#›</a:t>
            </a:fld>
            <a:endParaRPr lang="en-US" altLang="zh-TW"/>
          </a:p>
        </p:txBody>
      </p:sp>
    </p:spTree>
    <p:extLst>
      <p:ext uri="{BB962C8B-B14F-4D97-AF65-F5344CB8AC3E}">
        <p14:creationId xmlns:p14="http://schemas.microsoft.com/office/powerpoint/2010/main" val="3203634889"/>
      </p:ext>
    </p:extLst>
  </p:cSld>
  <p:clrMap bg1="lt1" tx1="dk1" bg2="lt2" tx2="dk2" accent1="accent1" accent2="accent2" accent3="accent3" accent4="accent4" accent5="accent5" accent6="accent6" hlink="hlink" folHlink="folHlink"/>
  <p:sldLayoutIdLst>
    <p:sldLayoutId id="2147483676" r:id="rId1"/>
    <p:sldLayoutId id="2147483677" r:id="rId2"/>
    <p:sldLayoutId id="2147483678" r:id="rId3"/>
    <p:sldLayoutId id="2147483679" r:id="rId4"/>
    <p:sldLayoutId id="2147483680" r:id="rId5"/>
    <p:sldLayoutId id="2147483681" r:id="rId6"/>
    <p:sldLayoutId id="2147483682" r:id="rId7"/>
    <p:sldLayoutId id="2147483683" r:id="rId8"/>
    <p:sldLayoutId id="2147483684" r:id="rId9"/>
    <p:sldLayoutId id="2147483685" r:id="rId10"/>
    <p:sldLayoutId id="2147483686" r:id="rId11"/>
  </p:sldLayoutIdLst>
  <p:hf hdr="0" ftr="0" dt="0"/>
  <p:txStyles>
    <p:titleStyle>
      <a:lvl1pPr algn="l" rtl="0" eaLnBrk="0" fontAlgn="base" hangingPunct="0">
        <a:spcBef>
          <a:spcPct val="0"/>
        </a:spcBef>
        <a:spcAft>
          <a:spcPct val="0"/>
        </a:spcAft>
        <a:defRPr kumimoji="1" sz="3600" b="1">
          <a:solidFill>
            <a:schemeClr val="accent2"/>
          </a:solidFill>
          <a:effectLst>
            <a:outerShdw blurRad="38100" dist="38100" dir="2700000" algn="tl">
              <a:srgbClr val="C0C0C0"/>
            </a:outerShdw>
          </a:effectLst>
          <a:latin typeface="+mj-lt"/>
          <a:ea typeface="+mj-ea"/>
          <a:cs typeface="+mj-cs"/>
        </a:defRPr>
      </a:lvl1pPr>
      <a:lvl2pPr algn="ctr" rtl="0" eaLnBrk="0" fontAlgn="base" hangingPunct="0">
        <a:spcBef>
          <a:spcPct val="0"/>
        </a:spcBef>
        <a:spcAft>
          <a:spcPct val="0"/>
        </a:spcAft>
        <a:defRPr kumimoji="1" sz="4400" b="1">
          <a:solidFill>
            <a:schemeClr val="accent2"/>
          </a:solidFill>
          <a:effectLst>
            <a:outerShdw blurRad="38100" dist="38100" dir="2700000" algn="tl">
              <a:srgbClr val="C0C0C0"/>
            </a:outerShdw>
          </a:effectLst>
          <a:latin typeface="Times New Roman" pitchFamily="18" charset="0"/>
          <a:ea typeface="新細明體" pitchFamily="18" charset="-120"/>
        </a:defRPr>
      </a:lvl2pPr>
      <a:lvl3pPr algn="ctr" rtl="0" eaLnBrk="0" fontAlgn="base" hangingPunct="0">
        <a:spcBef>
          <a:spcPct val="0"/>
        </a:spcBef>
        <a:spcAft>
          <a:spcPct val="0"/>
        </a:spcAft>
        <a:defRPr kumimoji="1" sz="4400" b="1">
          <a:solidFill>
            <a:schemeClr val="accent2"/>
          </a:solidFill>
          <a:effectLst>
            <a:outerShdw blurRad="38100" dist="38100" dir="2700000" algn="tl">
              <a:srgbClr val="C0C0C0"/>
            </a:outerShdw>
          </a:effectLst>
          <a:latin typeface="Times New Roman" pitchFamily="18" charset="0"/>
          <a:ea typeface="新細明體" pitchFamily="18" charset="-120"/>
        </a:defRPr>
      </a:lvl3pPr>
      <a:lvl4pPr algn="ctr" rtl="0" eaLnBrk="0" fontAlgn="base" hangingPunct="0">
        <a:spcBef>
          <a:spcPct val="0"/>
        </a:spcBef>
        <a:spcAft>
          <a:spcPct val="0"/>
        </a:spcAft>
        <a:defRPr kumimoji="1" sz="4400" b="1">
          <a:solidFill>
            <a:schemeClr val="accent2"/>
          </a:solidFill>
          <a:effectLst>
            <a:outerShdw blurRad="38100" dist="38100" dir="2700000" algn="tl">
              <a:srgbClr val="C0C0C0"/>
            </a:outerShdw>
          </a:effectLst>
          <a:latin typeface="Times New Roman" pitchFamily="18" charset="0"/>
          <a:ea typeface="新細明體" pitchFamily="18" charset="-120"/>
        </a:defRPr>
      </a:lvl4pPr>
      <a:lvl5pPr algn="ctr" rtl="0" eaLnBrk="0" fontAlgn="base" hangingPunct="0">
        <a:spcBef>
          <a:spcPct val="0"/>
        </a:spcBef>
        <a:spcAft>
          <a:spcPct val="0"/>
        </a:spcAft>
        <a:defRPr kumimoji="1" sz="4400" b="1">
          <a:solidFill>
            <a:schemeClr val="accent2"/>
          </a:solidFill>
          <a:effectLst>
            <a:outerShdw blurRad="38100" dist="38100" dir="2700000" algn="tl">
              <a:srgbClr val="C0C0C0"/>
            </a:outerShdw>
          </a:effectLst>
          <a:latin typeface="Times New Roman" pitchFamily="18" charset="0"/>
          <a:ea typeface="新細明體" pitchFamily="18" charset="-120"/>
        </a:defRPr>
      </a:lvl5pPr>
      <a:lvl6pPr marL="457200" algn="ctr" rtl="0" fontAlgn="base">
        <a:spcBef>
          <a:spcPct val="0"/>
        </a:spcBef>
        <a:spcAft>
          <a:spcPct val="0"/>
        </a:spcAft>
        <a:defRPr kumimoji="1" sz="4400" b="1">
          <a:solidFill>
            <a:schemeClr val="accent2"/>
          </a:solidFill>
          <a:effectLst>
            <a:outerShdw blurRad="38100" dist="38100" dir="2700000" algn="tl">
              <a:srgbClr val="C0C0C0"/>
            </a:outerShdw>
          </a:effectLst>
          <a:latin typeface="Times New Roman" pitchFamily="18" charset="0"/>
          <a:ea typeface="新細明體" pitchFamily="18" charset="-120"/>
        </a:defRPr>
      </a:lvl6pPr>
      <a:lvl7pPr marL="914400" algn="ctr" rtl="0" fontAlgn="base">
        <a:spcBef>
          <a:spcPct val="0"/>
        </a:spcBef>
        <a:spcAft>
          <a:spcPct val="0"/>
        </a:spcAft>
        <a:defRPr kumimoji="1" sz="4400" b="1">
          <a:solidFill>
            <a:schemeClr val="accent2"/>
          </a:solidFill>
          <a:effectLst>
            <a:outerShdw blurRad="38100" dist="38100" dir="2700000" algn="tl">
              <a:srgbClr val="C0C0C0"/>
            </a:outerShdw>
          </a:effectLst>
          <a:latin typeface="Times New Roman" pitchFamily="18" charset="0"/>
          <a:ea typeface="新細明體" pitchFamily="18" charset="-120"/>
        </a:defRPr>
      </a:lvl7pPr>
      <a:lvl8pPr marL="1371600" algn="ctr" rtl="0" fontAlgn="base">
        <a:spcBef>
          <a:spcPct val="0"/>
        </a:spcBef>
        <a:spcAft>
          <a:spcPct val="0"/>
        </a:spcAft>
        <a:defRPr kumimoji="1" sz="4400" b="1">
          <a:solidFill>
            <a:schemeClr val="accent2"/>
          </a:solidFill>
          <a:effectLst>
            <a:outerShdw blurRad="38100" dist="38100" dir="2700000" algn="tl">
              <a:srgbClr val="C0C0C0"/>
            </a:outerShdw>
          </a:effectLst>
          <a:latin typeface="Times New Roman" pitchFamily="18" charset="0"/>
          <a:ea typeface="新細明體" pitchFamily="18" charset="-120"/>
        </a:defRPr>
      </a:lvl8pPr>
      <a:lvl9pPr marL="1828800" algn="ctr" rtl="0" fontAlgn="base">
        <a:spcBef>
          <a:spcPct val="0"/>
        </a:spcBef>
        <a:spcAft>
          <a:spcPct val="0"/>
        </a:spcAft>
        <a:defRPr kumimoji="1" sz="4400" b="1">
          <a:solidFill>
            <a:schemeClr val="accent2"/>
          </a:solidFill>
          <a:effectLst>
            <a:outerShdw blurRad="38100" dist="38100" dir="2700000" algn="tl">
              <a:srgbClr val="C0C0C0"/>
            </a:outerShdw>
          </a:effectLst>
          <a:latin typeface="Times New Roman" pitchFamily="18" charset="0"/>
          <a:ea typeface="新細明體" pitchFamily="18" charset="-120"/>
        </a:defRPr>
      </a:lvl9pPr>
    </p:titleStyle>
    <p:bodyStyle>
      <a:lvl1pPr marL="342900" indent="-342900" algn="l" rtl="0" eaLnBrk="0" fontAlgn="base" hangingPunct="0">
        <a:spcBef>
          <a:spcPct val="20000"/>
        </a:spcBef>
        <a:spcAft>
          <a:spcPct val="0"/>
        </a:spcAft>
        <a:buChar char="•"/>
        <a:defRPr kumimoji="1" sz="2400">
          <a:solidFill>
            <a:schemeClr val="tx1"/>
          </a:solidFill>
          <a:latin typeface="Calibri" panose="020F0502020204030204" pitchFamily="34" charset="0"/>
          <a:ea typeface="+mn-ea"/>
          <a:cs typeface="Calibri" panose="020F0502020204030204" pitchFamily="34" charset="0"/>
        </a:defRPr>
      </a:lvl1pPr>
      <a:lvl2pPr marL="742950" indent="-285750" algn="l" rtl="0" eaLnBrk="0" fontAlgn="base" hangingPunct="0">
        <a:spcBef>
          <a:spcPct val="20000"/>
        </a:spcBef>
        <a:spcAft>
          <a:spcPct val="0"/>
        </a:spcAft>
        <a:buChar char="–"/>
        <a:defRPr kumimoji="1" sz="2000">
          <a:solidFill>
            <a:schemeClr val="tx1"/>
          </a:solidFill>
          <a:latin typeface="Calibri" panose="020F0502020204030204" pitchFamily="34" charset="0"/>
          <a:ea typeface="+mn-ea"/>
          <a:cs typeface="Calibri" panose="020F0502020204030204" pitchFamily="34" charset="0"/>
        </a:defRPr>
      </a:lvl2pPr>
      <a:lvl3pPr marL="1143000" indent="-228600" algn="l" rtl="0" eaLnBrk="0" fontAlgn="base" hangingPunct="0">
        <a:spcBef>
          <a:spcPct val="20000"/>
        </a:spcBef>
        <a:spcAft>
          <a:spcPct val="0"/>
        </a:spcAft>
        <a:buChar char="•"/>
        <a:defRPr kumimoji="1" sz="1800">
          <a:solidFill>
            <a:schemeClr val="tx1"/>
          </a:solidFill>
          <a:latin typeface="Calibri" panose="020F0502020204030204" pitchFamily="34" charset="0"/>
          <a:ea typeface="+mn-ea"/>
          <a:cs typeface="Calibri" panose="020F0502020204030204" pitchFamily="34" charset="0"/>
        </a:defRPr>
      </a:lvl3pPr>
      <a:lvl4pPr marL="1600200" indent="-228600" algn="l" rtl="0" eaLnBrk="0" fontAlgn="base" hangingPunct="0">
        <a:spcBef>
          <a:spcPct val="20000"/>
        </a:spcBef>
        <a:spcAft>
          <a:spcPct val="0"/>
        </a:spcAft>
        <a:buChar char="–"/>
        <a:defRPr kumimoji="1" sz="1600">
          <a:solidFill>
            <a:schemeClr val="tx1"/>
          </a:solidFill>
          <a:latin typeface="Calibri" panose="020F0502020204030204" pitchFamily="34" charset="0"/>
          <a:ea typeface="+mn-ea"/>
          <a:cs typeface="Calibri" panose="020F0502020204030204" pitchFamily="34" charset="0"/>
        </a:defRPr>
      </a:lvl4pPr>
      <a:lvl5pPr marL="2057400" indent="-228600" algn="l" rtl="0" eaLnBrk="0" fontAlgn="base" hangingPunct="0">
        <a:spcBef>
          <a:spcPct val="20000"/>
        </a:spcBef>
        <a:spcAft>
          <a:spcPct val="0"/>
        </a:spcAft>
        <a:buChar char="»"/>
        <a:defRPr kumimoji="1" sz="1600">
          <a:solidFill>
            <a:schemeClr val="tx1"/>
          </a:solidFill>
          <a:latin typeface="Calibri" panose="020F0502020204030204" pitchFamily="34" charset="0"/>
          <a:ea typeface="+mn-ea"/>
          <a:cs typeface="Calibri" panose="020F0502020204030204" pitchFamily="34" charset="0"/>
        </a:defRPr>
      </a:lvl5pPr>
      <a:lvl6pPr marL="2514600" indent="-228600" algn="l" rtl="0" fontAlgn="base">
        <a:spcBef>
          <a:spcPct val="20000"/>
        </a:spcBef>
        <a:spcAft>
          <a:spcPct val="0"/>
        </a:spcAft>
        <a:buChar char="»"/>
        <a:defRPr kumimoji="1" sz="2000">
          <a:solidFill>
            <a:schemeClr val="tx1"/>
          </a:solidFill>
          <a:latin typeface="+mn-lt"/>
          <a:ea typeface="+mn-ea"/>
        </a:defRPr>
      </a:lvl6pPr>
      <a:lvl7pPr marL="2971800" indent="-228600" algn="l" rtl="0" fontAlgn="base">
        <a:spcBef>
          <a:spcPct val="20000"/>
        </a:spcBef>
        <a:spcAft>
          <a:spcPct val="0"/>
        </a:spcAft>
        <a:buChar char="»"/>
        <a:defRPr kumimoji="1" sz="2000">
          <a:solidFill>
            <a:schemeClr val="tx1"/>
          </a:solidFill>
          <a:latin typeface="+mn-lt"/>
          <a:ea typeface="+mn-ea"/>
        </a:defRPr>
      </a:lvl7pPr>
      <a:lvl8pPr marL="3429000" indent="-228600" algn="l" rtl="0" fontAlgn="base">
        <a:spcBef>
          <a:spcPct val="20000"/>
        </a:spcBef>
        <a:spcAft>
          <a:spcPct val="0"/>
        </a:spcAft>
        <a:buChar char="»"/>
        <a:defRPr kumimoji="1" sz="2000">
          <a:solidFill>
            <a:schemeClr val="tx1"/>
          </a:solidFill>
          <a:latin typeface="+mn-lt"/>
          <a:ea typeface="+mn-ea"/>
        </a:defRPr>
      </a:lvl8pPr>
      <a:lvl9pPr marL="3886200" indent="-228600" algn="l" rtl="0" fontAlgn="base">
        <a:spcBef>
          <a:spcPct val="20000"/>
        </a:spcBef>
        <a:spcAft>
          <a:spcPct val="0"/>
        </a:spcAft>
        <a:buChar char="»"/>
        <a:defRPr kumimoji="1" sz="2000">
          <a:solidFill>
            <a:schemeClr val="tx1"/>
          </a:solidFill>
          <a:latin typeface="+mn-lt"/>
          <a:ea typeface="+mn-ea"/>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2880">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83.xml"/><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84.xml"/><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85.xml"/><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86.xml"/><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87.xml"/><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88.xml"/><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89.xml"/><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90.xml"/><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91.xml"/><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92.xml"/><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2" Type="http://schemas.openxmlformats.org/officeDocument/2006/relationships/notesSlide" Target="../notesSlides/notesSlide93.xml"/><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2" Type="http://schemas.openxmlformats.org/officeDocument/2006/relationships/notesSlide" Target="../notesSlides/notesSlide94.xml"/><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2" Type="http://schemas.openxmlformats.org/officeDocument/2006/relationships/notesSlide" Target="../notesSlides/notesSlide95.xml"/><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2" Type="http://schemas.openxmlformats.org/officeDocument/2006/relationships/notesSlide" Target="../notesSlides/notesSlide9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9" name="Rectangle 3">
            <a:extLst>
              <a:ext uri="{FF2B5EF4-FFF2-40B4-BE49-F238E27FC236}">
                <a16:creationId xmlns:a16="http://schemas.microsoft.com/office/drawing/2014/main" id="{DCD9830D-D17A-D842-B75F-E999D36B31FD}"/>
              </a:ext>
            </a:extLst>
          </p:cNvPr>
          <p:cNvSpPr>
            <a:spLocks noGrp="1" noChangeArrowheads="1"/>
          </p:cNvSpPr>
          <p:nvPr>
            <p:ph type="subTitle" idx="1"/>
          </p:nvPr>
        </p:nvSpPr>
        <p:spPr>
          <a:xfrm>
            <a:off x="1434662" y="2933700"/>
            <a:ext cx="6400800" cy="1752600"/>
          </a:xfrm>
        </p:spPr>
        <p:txBody>
          <a:bodyPr/>
          <a:lstStyle/>
          <a:p>
            <a:pPr eaLnBrk="1" hangingPunct="1"/>
            <a:r>
              <a:rPr lang="en-US" altLang="zh-CN" dirty="0">
                <a:ea typeface="Calibri" panose="020F0502020204030204" pitchFamily="34" charset="0"/>
              </a:rPr>
              <a:t>Course Training 2: </a:t>
            </a:r>
            <a:r>
              <a:rPr lang="en-US" altLang="zh-TW" dirty="0">
                <a:ea typeface="Calibri" panose="020F0502020204030204" pitchFamily="34" charset="0"/>
              </a:rPr>
              <a:t>Relational Algebra</a:t>
            </a:r>
            <a:endParaRPr lang="en-US" altLang="zh-TW" dirty="0">
              <a:latin typeface="Calibri" panose="020F0502020204030204" pitchFamily="34" charset="0"/>
              <a:ea typeface="Calibri" panose="020F0502020204030204" pitchFamily="34" charset="0"/>
              <a:cs typeface="Calibri" panose="020F0502020204030204" pitchFamily="34" charset="0"/>
            </a:endParaRPr>
          </a:p>
          <a:p>
            <a:pPr eaLnBrk="1" hangingPunct="1"/>
            <a:endParaRPr lang="en-US" altLang="zh-TW" dirty="0"/>
          </a:p>
        </p:txBody>
      </p:sp>
      <p:sp>
        <p:nvSpPr>
          <p:cNvPr id="14337" name="Slide Number Placeholder 5">
            <a:extLst>
              <a:ext uri="{FF2B5EF4-FFF2-40B4-BE49-F238E27FC236}">
                <a16:creationId xmlns:a16="http://schemas.microsoft.com/office/drawing/2014/main" id="{CB246A48-997A-2D44-B0B4-4840AAC0F416}"/>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a:spcBef>
                <a:spcPct val="0"/>
              </a:spcBef>
              <a:buFontTx/>
              <a:buNone/>
            </a:pPr>
            <a:fld id="{B1DA2459-8ABC-454D-AAF4-F2B75D230C46}" type="slidenum">
              <a:rPr lang="en-US" altLang="zh-TW" sz="1400" smtClean="0"/>
              <a:pPr>
                <a:spcBef>
                  <a:spcPct val="0"/>
                </a:spcBef>
                <a:buFontTx/>
                <a:buNone/>
              </a:pPr>
              <a:t>1</a:t>
            </a:fld>
            <a:endParaRPr lang="en-US" altLang="zh-TW" sz="1400"/>
          </a:p>
        </p:txBody>
      </p:sp>
      <p:sp>
        <p:nvSpPr>
          <p:cNvPr id="10" name="Rectangle 2">
            <a:extLst>
              <a:ext uri="{FF2B5EF4-FFF2-40B4-BE49-F238E27FC236}">
                <a16:creationId xmlns:a16="http://schemas.microsoft.com/office/drawing/2014/main" id="{C254F077-5995-3932-6796-4948E9EE9935}"/>
              </a:ext>
            </a:extLst>
          </p:cNvPr>
          <p:cNvSpPr txBox="1">
            <a:spLocks noChangeArrowheads="1"/>
          </p:cNvSpPr>
          <p:nvPr/>
        </p:nvSpPr>
        <p:spPr bwMode="auto">
          <a:xfrm>
            <a:off x="0" y="1466850"/>
            <a:ext cx="9144000" cy="1143000"/>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defPPr>
              <a:defRPr lang="zh-CN"/>
            </a:defPPr>
            <a:lvl1pPr marL="0" algn="ctr" defTabSz="914400" rtl="0" eaLnBrk="0" fontAlgn="base" latinLnBrk="0" hangingPunct="0">
              <a:spcBef>
                <a:spcPct val="0"/>
              </a:spcBef>
              <a:spcAft>
                <a:spcPct val="0"/>
              </a:spcAft>
              <a:defRPr kumimoji="1" sz="4400" b="1" kern="1200">
                <a:solidFill>
                  <a:schemeClr val="accent2"/>
                </a:solidFill>
                <a:effectLst>
                  <a:outerShdw blurRad="38100" dist="38100" dir="2700000" algn="tl">
                    <a:srgbClr val="C0C0C0"/>
                  </a:outerShdw>
                </a:effectLst>
                <a:latin typeface="+mj-lt"/>
                <a:ea typeface="+mj-ea"/>
                <a:cs typeface="+mj-cs"/>
              </a:defRPr>
            </a:lvl1pPr>
            <a:lvl2pPr marL="457200" algn="ctr" defTabSz="914400" rtl="0" eaLnBrk="0" fontAlgn="base" latinLnBrk="0" hangingPunct="0">
              <a:spcBef>
                <a:spcPct val="0"/>
              </a:spcBef>
              <a:spcAft>
                <a:spcPct val="0"/>
              </a:spcAft>
              <a:defRPr kumimoji="1" sz="4400" b="1" kern="1200">
                <a:solidFill>
                  <a:schemeClr val="accent2"/>
                </a:solidFill>
                <a:effectLst>
                  <a:outerShdw blurRad="38100" dist="38100" dir="2700000" algn="tl">
                    <a:srgbClr val="C0C0C0"/>
                  </a:outerShdw>
                </a:effectLst>
                <a:latin typeface="Times New Roman" pitchFamily="18" charset="0"/>
                <a:ea typeface="新細明體" pitchFamily="18" charset="-120"/>
                <a:cs typeface="+mn-cs"/>
              </a:defRPr>
            </a:lvl2pPr>
            <a:lvl3pPr marL="914400" algn="ctr" defTabSz="914400" rtl="0" eaLnBrk="0" fontAlgn="base" latinLnBrk="0" hangingPunct="0">
              <a:spcBef>
                <a:spcPct val="0"/>
              </a:spcBef>
              <a:spcAft>
                <a:spcPct val="0"/>
              </a:spcAft>
              <a:defRPr kumimoji="1" sz="4400" b="1" kern="1200">
                <a:solidFill>
                  <a:schemeClr val="accent2"/>
                </a:solidFill>
                <a:effectLst>
                  <a:outerShdw blurRad="38100" dist="38100" dir="2700000" algn="tl">
                    <a:srgbClr val="C0C0C0"/>
                  </a:outerShdw>
                </a:effectLst>
                <a:latin typeface="Times New Roman" pitchFamily="18" charset="0"/>
                <a:ea typeface="新細明體" pitchFamily="18" charset="-120"/>
                <a:cs typeface="+mn-cs"/>
              </a:defRPr>
            </a:lvl3pPr>
            <a:lvl4pPr marL="1371600" algn="ctr" defTabSz="914400" rtl="0" eaLnBrk="0" fontAlgn="base" latinLnBrk="0" hangingPunct="0">
              <a:spcBef>
                <a:spcPct val="0"/>
              </a:spcBef>
              <a:spcAft>
                <a:spcPct val="0"/>
              </a:spcAft>
              <a:defRPr kumimoji="1" sz="4400" b="1" kern="1200">
                <a:solidFill>
                  <a:schemeClr val="accent2"/>
                </a:solidFill>
                <a:effectLst>
                  <a:outerShdw blurRad="38100" dist="38100" dir="2700000" algn="tl">
                    <a:srgbClr val="C0C0C0"/>
                  </a:outerShdw>
                </a:effectLst>
                <a:latin typeface="Times New Roman" pitchFamily="18" charset="0"/>
                <a:ea typeface="新細明體" pitchFamily="18" charset="-120"/>
                <a:cs typeface="+mn-cs"/>
              </a:defRPr>
            </a:lvl4pPr>
            <a:lvl5pPr marL="1828800" algn="ctr" defTabSz="914400" rtl="0" eaLnBrk="0" fontAlgn="base" latinLnBrk="0" hangingPunct="0">
              <a:spcBef>
                <a:spcPct val="0"/>
              </a:spcBef>
              <a:spcAft>
                <a:spcPct val="0"/>
              </a:spcAft>
              <a:defRPr kumimoji="1" sz="4400" b="1" kern="1200">
                <a:solidFill>
                  <a:schemeClr val="accent2"/>
                </a:solidFill>
                <a:effectLst>
                  <a:outerShdw blurRad="38100" dist="38100" dir="2700000" algn="tl">
                    <a:srgbClr val="C0C0C0"/>
                  </a:outerShdw>
                </a:effectLst>
                <a:latin typeface="Times New Roman" pitchFamily="18" charset="0"/>
                <a:ea typeface="新細明體" pitchFamily="18" charset="-120"/>
                <a:cs typeface="+mn-cs"/>
              </a:defRPr>
            </a:lvl5pPr>
            <a:lvl6pPr marL="457200" algn="ctr" defTabSz="914400" rtl="0" eaLnBrk="1" fontAlgn="base" latinLnBrk="0" hangingPunct="1">
              <a:spcBef>
                <a:spcPct val="0"/>
              </a:spcBef>
              <a:spcAft>
                <a:spcPct val="0"/>
              </a:spcAft>
              <a:defRPr kumimoji="1" sz="4400" b="1" kern="1200">
                <a:solidFill>
                  <a:schemeClr val="accent2"/>
                </a:solidFill>
                <a:effectLst>
                  <a:outerShdw blurRad="38100" dist="38100" dir="2700000" algn="tl">
                    <a:srgbClr val="C0C0C0"/>
                  </a:outerShdw>
                </a:effectLst>
                <a:latin typeface="Times New Roman" pitchFamily="18" charset="0"/>
                <a:ea typeface="新細明體" pitchFamily="18" charset="-120"/>
                <a:cs typeface="+mn-cs"/>
              </a:defRPr>
            </a:lvl6pPr>
            <a:lvl7pPr marL="914400" algn="ctr" defTabSz="914400" rtl="0" eaLnBrk="1" fontAlgn="base" latinLnBrk="0" hangingPunct="1">
              <a:spcBef>
                <a:spcPct val="0"/>
              </a:spcBef>
              <a:spcAft>
                <a:spcPct val="0"/>
              </a:spcAft>
              <a:defRPr kumimoji="1" sz="4400" b="1" kern="1200">
                <a:solidFill>
                  <a:schemeClr val="accent2"/>
                </a:solidFill>
                <a:effectLst>
                  <a:outerShdw blurRad="38100" dist="38100" dir="2700000" algn="tl">
                    <a:srgbClr val="C0C0C0"/>
                  </a:outerShdw>
                </a:effectLst>
                <a:latin typeface="Times New Roman" pitchFamily="18" charset="0"/>
                <a:ea typeface="新細明體" pitchFamily="18" charset="-120"/>
                <a:cs typeface="+mn-cs"/>
              </a:defRPr>
            </a:lvl7pPr>
            <a:lvl8pPr marL="1371600" algn="ctr" defTabSz="914400" rtl="0" eaLnBrk="1" fontAlgn="base" latinLnBrk="0" hangingPunct="1">
              <a:spcBef>
                <a:spcPct val="0"/>
              </a:spcBef>
              <a:spcAft>
                <a:spcPct val="0"/>
              </a:spcAft>
              <a:defRPr kumimoji="1" sz="4400" b="1" kern="1200">
                <a:solidFill>
                  <a:schemeClr val="accent2"/>
                </a:solidFill>
                <a:effectLst>
                  <a:outerShdw blurRad="38100" dist="38100" dir="2700000" algn="tl">
                    <a:srgbClr val="C0C0C0"/>
                  </a:outerShdw>
                </a:effectLst>
                <a:latin typeface="Times New Roman" pitchFamily="18" charset="0"/>
                <a:ea typeface="新細明體" pitchFamily="18" charset="-120"/>
                <a:cs typeface="+mn-cs"/>
              </a:defRPr>
            </a:lvl8pPr>
            <a:lvl9pPr marL="1828800" algn="ctr" defTabSz="914400" rtl="0" eaLnBrk="1" fontAlgn="base" latinLnBrk="0" hangingPunct="1">
              <a:spcBef>
                <a:spcPct val="0"/>
              </a:spcBef>
              <a:spcAft>
                <a:spcPct val="0"/>
              </a:spcAft>
              <a:defRPr kumimoji="1" sz="4400" b="1" kern="1200">
                <a:solidFill>
                  <a:schemeClr val="accent2"/>
                </a:solidFill>
                <a:effectLst>
                  <a:outerShdw blurRad="38100" dist="38100" dir="2700000" algn="tl">
                    <a:srgbClr val="C0C0C0"/>
                  </a:outerShdw>
                </a:effectLst>
                <a:latin typeface="Times New Roman" pitchFamily="18" charset="0"/>
                <a:ea typeface="新細明體" pitchFamily="18" charset="-120"/>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TW" sz="4400" b="1" i="0" u="none" strike="noStrike" kern="0" cap="none" spc="0" normalizeH="0" baseline="0" noProof="0" dirty="0">
                <a:ln>
                  <a:noFill/>
                </a:ln>
                <a:solidFill>
                  <a:srgbClr val="3333CC"/>
                </a:solidFill>
                <a:effectLst>
                  <a:outerShdw blurRad="38100" dist="38100" dir="2700000" algn="tl">
                    <a:srgbClr val="C0C0C0"/>
                  </a:outerShdw>
                </a:effectLst>
                <a:uLnTx/>
                <a:uFillTx/>
                <a:latin typeface="Times New Roman"/>
                <a:ea typeface="新細明體"/>
                <a:cs typeface="+mj-cs"/>
              </a:rPr>
              <a:t>Design, Implementation and Management of Database Systems</a:t>
            </a:r>
          </a:p>
        </p:txBody>
      </p:sp>
      <p:sp>
        <p:nvSpPr>
          <p:cNvPr id="11" name="Rectangle 3">
            <a:extLst>
              <a:ext uri="{FF2B5EF4-FFF2-40B4-BE49-F238E27FC236}">
                <a16:creationId xmlns:a16="http://schemas.microsoft.com/office/drawing/2014/main" id="{B2156725-164A-06C1-B537-8B4F62733BB7}"/>
              </a:ext>
            </a:extLst>
          </p:cNvPr>
          <p:cNvSpPr txBox="1">
            <a:spLocks noChangeArrowheads="1"/>
          </p:cNvSpPr>
          <p:nvPr/>
        </p:nvSpPr>
        <p:spPr bwMode="auto">
          <a:xfrm>
            <a:off x="0" y="3981450"/>
            <a:ext cx="9144000" cy="1409700"/>
          </a:xfrm>
          <a:prstGeom prst="rect">
            <a:avLst/>
          </a:prstGeom>
          <a:noFill/>
          <a:ln>
            <a:noFill/>
          </a:ln>
        </p:spPr>
        <p:txBody>
          <a:bodyPr/>
          <a:lstStyle>
            <a:defPPr>
              <a:defRPr lang="zh-CN"/>
            </a:defPPr>
            <a:lvl1pPr marL="0" indent="0" algn="ctr" defTabSz="914400" rtl="0" eaLnBrk="0" fontAlgn="base" latinLnBrk="0" hangingPunct="0">
              <a:spcBef>
                <a:spcPct val="20000"/>
              </a:spcBef>
              <a:spcAft>
                <a:spcPct val="0"/>
              </a:spcAft>
              <a:buNone/>
              <a:defRPr kumimoji="1" sz="3200" kern="1200">
                <a:solidFill>
                  <a:schemeClr val="tx1"/>
                </a:solidFill>
                <a:latin typeface="+mn-lt"/>
                <a:ea typeface="+mn-ea"/>
                <a:cs typeface="新細明體" charset="0"/>
              </a:defRPr>
            </a:lvl1pPr>
            <a:lvl2pPr marL="457200" indent="0" algn="ctr" defTabSz="914400" rtl="0" eaLnBrk="0" fontAlgn="base" latinLnBrk="0" hangingPunct="0">
              <a:spcBef>
                <a:spcPct val="20000"/>
              </a:spcBef>
              <a:spcAft>
                <a:spcPct val="0"/>
              </a:spcAft>
              <a:buNone/>
              <a:defRPr kumimoji="1" sz="2800" kern="1200">
                <a:solidFill>
                  <a:schemeClr val="tx1"/>
                </a:solidFill>
                <a:latin typeface="+mn-lt"/>
                <a:ea typeface="+mn-ea"/>
                <a:cs typeface="新細明體" charset="0"/>
              </a:defRPr>
            </a:lvl2pPr>
            <a:lvl3pPr marL="914400" indent="0" algn="ctr" defTabSz="914400" rtl="0" eaLnBrk="0" fontAlgn="base" latinLnBrk="0" hangingPunct="0">
              <a:spcBef>
                <a:spcPct val="20000"/>
              </a:spcBef>
              <a:spcAft>
                <a:spcPct val="0"/>
              </a:spcAft>
              <a:buNone/>
              <a:defRPr kumimoji="1" sz="2400" kern="1200">
                <a:solidFill>
                  <a:schemeClr val="tx1"/>
                </a:solidFill>
                <a:latin typeface="+mn-lt"/>
                <a:ea typeface="+mn-ea"/>
                <a:cs typeface="新細明體" charset="0"/>
              </a:defRPr>
            </a:lvl3pPr>
            <a:lvl4pPr marL="1371600" indent="0" algn="ctr" defTabSz="914400" rtl="0" eaLnBrk="0" fontAlgn="base" latinLnBrk="0" hangingPunct="0">
              <a:spcBef>
                <a:spcPct val="20000"/>
              </a:spcBef>
              <a:spcAft>
                <a:spcPct val="0"/>
              </a:spcAft>
              <a:buNone/>
              <a:defRPr kumimoji="1" sz="2000" kern="1200">
                <a:solidFill>
                  <a:schemeClr val="tx1"/>
                </a:solidFill>
                <a:latin typeface="+mn-lt"/>
                <a:ea typeface="+mn-ea"/>
                <a:cs typeface="新細明體" charset="0"/>
              </a:defRPr>
            </a:lvl4pPr>
            <a:lvl5pPr marL="1828800" indent="0" algn="ctr" defTabSz="914400" rtl="0" eaLnBrk="0" fontAlgn="base" latinLnBrk="0" hangingPunct="0">
              <a:spcBef>
                <a:spcPct val="20000"/>
              </a:spcBef>
              <a:spcAft>
                <a:spcPct val="0"/>
              </a:spcAft>
              <a:buNone/>
              <a:defRPr kumimoji="1" sz="2000" kern="1200">
                <a:solidFill>
                  <a:schemeClr val="tx1"/>
                </a:solidFill>
                <a:latin typeface="+mn-lt"/>
                <a:ea typeface="+mn-ea"/>
                <a:cs typeface="新細明體" charset="0"/>
              </a:defRPr>
            </a:lvl5pPr>
            <a:lvl6pPr marL="2286000" indent="0" algn="ctr" defTabSz="914400" rtl="0" eaLnBrk="1" fontAlgn="base" latinLnBrk="0" hangingPunct="1">
              <a:spcBef>
                <a:spcPct val="20000"/>
              </a:spcBef>
              <a:spcAft>
                <a:spcPct val="0"/>
              </a:spcAft>
              <a:buNone/>
              <a:defRPr kumimoji="1" sz="2000" kern="1200">
                <a:solidFill>
                  <a:schemeClr val="tx1"/>
                </a:solidFill>
                <a:latin typeface="+mn-lt"/>
                <a:ea typeface="+mn-ea"/>
                <a:cs typeface="+mn-cs"/>
              </a:defRPr>
            </a:lvl6pPr>
            <a:lvl7pPr marL="2743200" indent="0" algn="ctr" defTabSz="914400" rtl="0" eaLnBrk="1" fontAlgn="base" latinLnBrk="0" hangingPunct="1">
              <a:spcBef>
                <a:spcPct val="20000"/>
              </a:spcBef>
              <a:spcAft>
                <a:spcPct val="0"/>
              </a:spcAft>
              <a:buNone/>
              <a:defRPr kumimoji="1" sz="2000" kern="1200">
                <a:solidFill>
                  <a:schemeClr val="tx1"/>
                </a:solidFill>
                <a:latin typeface="+mn-lt"/>
                <a:ea typeface="+mn-ea"/>
                <a:cs typeface="+mn-cs"/>
              </a:defRPr>
            </a:lvl7pPr>
            <a:lvl8pPr marL="3200400" indent="0" algn="ctr" defTabSz="914400" rtl="0" eaLnBrk="1" fontAlgn="base" latinLnBrk="0" hangingPunct="1">
              <a:spcBef>
                <a:spcPct val="20000"/>
              </a:spcBef>
              <a:spcAft>
                <a:spcPct val="0"/>
              </a:spcAft>
              <a:buNone/>
              <a:defRPr kumimoji="1" sz="2000" kern="1200">
                <a:solidFill>
                  <a:schemeClr val="tx1"/>
                </a:solidFill>
                <a:latin typeface="+mn-lt"/>
                <a:ea typeface="+mn-ea"/>
                <a:cs typeface="+mn-cs"/>
              </a:defRPr>
            </a:lvl8pPr>
            <a:lvl9pPr marL="3657600" indent="0" algn="ctr" defTabSz="914400" rtl="0" eaLnBrk="1" fontAlgn="base" latinLnBrk="0" hangingPunct="1">
              <a:spcBef>
                <a:spcPct val="20000"/>
              </a:spcBef>
              <a:spcAft>
                <a:spcPct val="0"/>
              </a:spcAft>
              <a:buNone/>
              <a:defRPr kumimoji="1" sz="2000" kern="1200">
                <a:solidFill>
                  <a:schemeClr val="tx1"/>
                </a:solidFill>
                <a:latin typeface="+mn-lt"/>
                <a:ea typeface="+mn-ea"/>
                <a:cs typeface="+mn-cs"/>
              </a:defRPr>
            </a:lvl9pPr>
          </a:lstStyle>
          <a:p>
            <a:pPr eaLnBrk="1" hangingPunct="1">
              <a:lnSpc>
                <a:spcPct val="110000"/>
              </a:lnSpc>
              <a:buFont typeface="Wingdings" panose="05000000000000000000" pitchFamily="2" charset="2"/>
              <a:buNone/>
              <a:defRPr/>
            </a:pPr>
            <a:r>
              <a:rPr lang="en-US" altLang="zh-CN" sz="2400" kern="0" dirty="0">
                <a:ea typeface="微软雅黑" panose="020B0503020204020204" pitchFamily="34" charset="-122"/>
                <a:cs typeface="Times New Roman" panose="02020603050405020304" pitchFamily="18" charset="0"/>
              </a:rPr>
              <a:t>Dr. Xiao Yan</a:t>
            </a:r>
          </a:p>
          <a:p>
            <a:pPr eaLnBrk="1" hangingPunct="1">
              <a:lnSpc>
                <a:spcPct val="110000"/>
              </a:lnSpc>
              <a:buFont typeface="Wingdings" panose="05000000000000000000" pitchFamily="2" charset="2"/>
              <a:buNone/>
              <a:defRPr/>
            </a:pPr>
            <a:r>
              <a:rPr lang="en-US" altLang="zh-CN" sz="2400" kern="0" dirty="0">
                <a:ea typeface="微软雅黑" panose="020B0503020204020204" pitchFamily="34" charset="-122"/>
                <a:cs typeface="Times New Roman" panose="02020603050405020304" pitchFamily="18" charset="0"/>
              </a:rPr>
              <a:t>School of Computer Science </a:t>
            </a:r>
          </a:p>
          <a:p>
            <a:pPr eaLnBrk="1" hangingPunct="1">
              <a:lnSpc>
                <a:spcPct val="110000"/>
              </a:lnSpc>
              <a:buFont typeface="Wingdings" panose="05000000000000000000" pitchFamily="2" charset="2"/>
              <a:buNone/>
              <a:defRPr/>
            </a:pPr>
            <a:r>
              <a:rPr lang="en-US" altLang="zh-CN" sz="2400" kern="0" dirty="0">
                <a:ea typeface="微软雅黑" panose="020B0503020204020204" pitchFamily="34" charset="-122"/>
                <a:cs typeface="Times New Roman" panose="02020603050405020304" pitchFamily="18" charset="0"/>
              </a:rPr>
              <a:t>yanxiaosunny@whu.edu.cn</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aphicFrame>
        <p:nvGraphicFramePr>
          <p:cNvPr id="7" name="表格 6"/>
          <p:cNvGraphicFramePr/>
          <p:nvPr/>
        </p:nvGraphicFramePr>
        <p:xfrm>
          <a:off x="904875" y="1133475"/>
          <a:ext cx="7334250" cy="4029075"/>
        </p:xfrm>
        <a:graphic>
          <a:graphicData uri="http://schemas.openxmlformats.org/drawingml/2006/table">
            <a:tbl>
              <a:tblPr/>
              <a:tblGrid>
                <a:gridCol w="1238250">
                  <a:extLst>
                    <a:ext uri="{9D8B030D-6E8A-4147-A177-3AD203B41FA5}">
                      <a16:colId xmlns:a16="http://schemas.microsoft.com/office/drawing/2014/main" val="20000"/>
                    </a:ext>
                  </a:extLst>
                </a:gridCol>
                <a:gridCol w="5000625">
                  <a:extLst>
                    <a:ext uri="{9D8B030D-6E8A-4147-A177-3AD203B41FA5}">
                      <a16:colId xmlns:a16="http://schemas.microsoft.com/office/drawing/2014/main" val="20001"/>
                    </a:ext>
                  </a:extLst>
                </a:gridCol>
                <a:gridCol w="1095375">
                  <a:extLst>
                    <a:ext uri="{9D8B030D-6E8A-4147-A177-3AD203B41FA5}">
                      <a16:colId xmlns:a16="http://schemas.microsoft.com/office/drawing/2014/main" val="20002"/>
                    </a:ext>
                  </a:extLst>
                </a:gridCol>
              </a:tblGrid>
              <a:tr h="447675">
                <a:tc>
                  <a:txBody>
                    <a:bodyPr/>
                    <a:lstStyle/>
                    <a:p>
                      <a:pPr algn="ctr"/>
                      <a:r>
                        <a:rPr sz="1725">
                          <a:solidFill>
                            <a:srgbClr val="000000"/>
                          </a:solidFill>
                          <a:latin typeface="Calibri"/>
                          <a:ea typeface="Calibri"/>
                          <a:cs typeface="Calibri"/>
                        </a:rPr>
                        <a:t>Time</a:t>
                      </a:r>
                    </a:p>
                  </a:txBody>
                  <a:tcPr marL="47625" marR="47625" marT="28575" marB="28575" anchor="ctr">
                    <a:solidFill>
                      <a:srgbClr val="D9D9D9"/>
                    </a:solidFill>
                  </a:tcPr>
                </a:tc>
                <a:tc>
                  <a:txBody>
                    <a:bodyPr/>
                    <a:lstStyle/>
                    <a:p>
                      <a:pPr algn="ctr"/>
                      <a:r>
                        <a:rPr sz="1725">
                          <a:solidFill>
                            <a:srgbClr val="000000"/>
                          </a:solidFill>
                          <a:latin typeface="Calibri"/>
                          <a:ea typeface="Calibri"/>
                          <a:cs typeface="Calibri"/>
                        </a:rPr>
                        <a:t>Topic</a:t>
                      </a:r>
                    </a:p>
                  </a:txBody>
                  <a:tcPr marL="47625" marR="47625" marT="28575" marB="28575" anchor="ctr">
                    <a:solidFill>
                      <a:srgbClr val="D9D9D9"/>
                    </a:solidFill>
                  </a:tcPr>
                </a:tc>
                <a:tc>
                  <a:txBody>
                    <a:bodyPr/>
                    <a:lstStyle/>
                    <a:p>
                      <a:pPr algn="ctr"/>
                      <a:r>
                        <a:rPr sz="1725">
                          <a:solidFill>
                            <a:srgbClr val="000000"/>
                          </a:solidFill>
                          <a:latin typeface="Calibri"/>
                          <a:ea typeface="Calibri"/>
                          <a:cs typeface="Calibri"/>
                        </a:rPr>
                        <a:t>Minutes</a:t>
                      </a:r>
                    </a:p>
                  </a:txBody>
                  <a:tcPr marL="47625" marR="47625" marT="28575" marB="28575" anchor="ctr">
                    <a:solidFill>
                      <a:srgbClr val="D9D9D9"/>
                    </a:solidFill>
                  </a:tcPr>
                </a:tc>
                <a:extLst>
                  <a:ext uri="{0D108BD9-81ED-4DB2-BD59-A6C34878D82A}">
                    <a16:rowId xmlns:a16="http://schemas.microsoft.com/office/drawing/2014/main" val="10000"/>
                  </a:ext>
                </a:extLst>
              </a:tr>
              <a:tr h="447675">
                <a:tc>
                  <a:txBody>
                    <a:bodyPr/>
                    <a:lstStyle/>
                    <a:p>
                      <a:pPr algn="ctr"/>
                      <a:r>
                        <a:rPr sz="1725">
                          <a:solidFill>
                            <a:srgbClr val="000000"/>
                          </a:solidFill>
                          <a:latin typeface="Calibri"/>
                          <a:ea typeface="Calibri"/>
                          <a:cs typeface="Calibri"/>
                        </a:rPr>
                        <a:t>0–3</a:t>
                      </a:r>
                    </a:p>
                  </a:txBody>
                  <a:tcPr marL="47625" marR="47625" marT="28575" marB="28575" anchor="ctr">
                    <a:solidFill>
                      <a:srgbClr val="FFFFFF"/>
                    </a:solidFill>
                  </a:tcPr>
                </a:tc>
                <a:tc>
                  <a:txBody>
                    <a:bodyPr/>
                    <a:lstStyle/>
                    <a:p>
                      <a:pPr algn="ctr"/>
                      <a:r>
                        <a:rPr sz="1725">
                          <a:solidFill>
                            <a:srgbClr val="000000"/>
                          </a:solidFill>
                          <a:latin typeface="Calibri"/>
                          <a:ea typeface="Calibri"/>
                          <a:cs typeface="Calibri"/>
                        </a:rPr>
                        <a:t>Set semantics and notation</a:t>
                      </a:r>
                    </a:p>
                  </a:txBody>
                  <a:tcPr marL="47625" marR="47625" marT="28575" marB="28575" anchor="ctr">
                    <a:solidFill>
                      <a:srgbClr val="FFFFFF"/>
                    </a:solidFill>
                  </a:tcPr>
                </a:tc>
                <a:tc>
                  <a:txBody>
                    <a:bodyPr/>
                    <a:lstStyle/>
                    <a:p>
                      <a:pPr algn="ctr"/>
                      <a:r>
                        <a:rPr sz="1725">
                          <a:solidFill>
                            <a:srgbClr val="000000"/>
                          </a:solidFill>
                          <a:latin typeface="Calibri"/>
                          <a:ea typeface="Calibri"/>
                          <a:cs typeface="Calibri"/>
                        </a:rPr>
                        <a:t>3</a:t>
                      </a:r>
                    </a:p>
                  </a:txBody>
                  <a:tcPr marL="47625" marR="47625" marT="28575" marB="28575" anchor="ctr">
                    <a:solidFill>
                      <a:srgbClr val="FFFFFF"/>
                    </a:solidFill>
                  </a:tcPr>
                </a:tc>
                <a:extLst>
                  <a:ext uri="{0D108BD9-81ED-4DB2-BD59-A6C34878D82A}">
                    <a16:rowId xmlns:a16="http://schemas.microsoft.com/office/drawing/2014/main" val="10001"/>
                  </a:ext>
                </a:extLst>
              </a:tr>
              <a:tr h="447675">
                <a:tc>
                  <a:txBody>
                    <a:bodyPr/>
                    <a:lstStyle/>
                    <a:p>
                      <a:pPr algn="ctr"/>
                      <a:r>
                        <a:rPr sz="1725">
                          <a:solidFill>
                            <a:srgbClr val="000000"/>
                          </a:solidFill>
                          <a:latin typeface="Calibri"/>
                          <a:ea typeface="Calibri"/>
                          <a:cs typeface="Calibri"/>
                        </a:rPr>
                        <a:t>3–15</a:t>
                      </a:r>
                    </a:p>
                  </a:txBody>
                  <a:tcPr marL="47625" marR="47625" marT="28575" marB="28575" anchor="ctr">
                    <a:solidFill>
                      <a:srgbClr val="FFFFFF"/>
                    </a:solidFill>
                  </a:tcPr>
                </a:tc>
                <a:tc>
                  <a:txBody>
                    <a:bodyPr/>
                    <a:lstStyle/>
                    <a:p>
                      <a:pPr algn="ctr"/>
                      <a:r>
                        <a:rPr sz="1725">
                          <a:solidFill>
                            <a:srgbClr val="000000"/>
                          </a:solidFill>
                          <a:latin typeface="Calibri"/>
                          <a:ea typeface="Calibri"/>
                          <a:cs typeface="Calibri"/>
                        </a:rPr>
                        <a:t>Selection, projection and composition</a:t>
                      </a:r>
                    </a:p>
                  </a:txBody>
                  <a:tcPr marL="47625" marR="47625" marT="28575" marB="28575" anchor="ctr">
                    <a:solidFill>
                      <a:srgbClr val="FFFFFF"/>
                    </a:solidFill>
                  </a:tcPr>
                </a:tc>
                <a:tc>
                  <a:txBody>
                    <a:bodyPr/>
                    <a:lstStyle/>
                    <a:p>
                      <a:pPr algn="ctr"/>
                      <a:r>
                        <a:rPr sz="1725">
                          <a:solidFill>
                            <a:srgbClr val="000000"/>
                          </a:solidFill>
                          <a:latin typeface="Calibri"/>
                          <a:ea typeface="Calibri"/>
                          <a:cs typeface="Calibri"/>
                        </a:rPr>
                        <a:t>12</a:t>
                      </a:r>
                    </a:p>
                  </a:txBody>
                  <a:tcPr marL="47625" marR="47625" marT="28575" marB="28575" anchor="ctr">
                    <a:solidFill>
                      <a:srgbClr val="FFFFFF"/>
                    </a:solidFill>
                  </a:tcPr>
                </a:tc>
                <a:extLst>
                  <a:ext uri="{0D108BD9-81ED-4DB2-BD59-A6C34878D82A}">
                    <a16:rowId xmlns:a16="http://schemas.microsoft.com/office/drawing/2014/main" val="10002"/>
                  </a:ext>
                </a:extLst>
              </a:tr>
              <a:tr h="447675">
                <a:tc>
                  <a:txBody>
                    <a:bodyPr/>
                    <a:lstStyle/>
                    <a:p>
                      <a:pPr algn="ctr"/>
                      <a:r>
                        <a:rPr sz="1725">
                          <a:solidFill>
                            <a:srgbClr val="000000"/>
                          </a:solidFill>
                          <a:latin typeface="Calibri"/>
                          <a:ea typeface="Calibri"/>
                          <a:cs typeface="Calibri"/>
                        </a:rPr>
                        <a:t>15–27</a:t>
                      </a:r>
                    </a:p>
                  </a:txBody>
                  <a:tcPr marL="47625" marR="47625" marT="28575" marB="28575" anchor="ctr">
                    <a:solidFill>
                      <a:srgbClr val="FFFFFF"/>
                    </a:solidFill>
                  </a:tcPr>
                </a:tc>
                <a:tc>
                  <a:txBody>
                    <a:bodyPr/>
                    <a:lstStyle/>
                    <a:p>
                      <a:pPr algn="ctr"/>
                      <a:r>
                        <a:rPr sz="1725">
                          <a:solidFill>
                            <a:srgbClr val="000000"/>
                          </a:solidFill>
                          <a:latin typeface="Calibri"/>
                          <a:ea typeface="Calibri"/>
                          <a:cs typeface="Calibri"/>
                        </a:rPr>
                        <a:t>Union, difference and intersection</a:t>
                      </a:r>
                    </a:p>
                  </a:txBody>
                  <a:tcPr marL="47625" marR="47625" marT="28575" marB="28575" anchor="ctr">
                    <a:solidFill>
                      <a:srgbClr val="FFFFFF"/>
                    </a:solidFill>
                  </a:tcPr>
                </a:tc>
                <a:tc>
                  <a:txBody>
                    <a:bodyPr/>
                    <a:lstStyle/>
                    <a:p>
                      <a:pPr algn="ctr"/>
                      <a:r>
                        <a:rPr sz="1725">
                          <a:solidFill>
                            <a:srgbClr val="000000"/>
                          </a:solidFill>
                          <a:latin typeface="Calibri"/>
                          <a:ea typeface="Calibri"/>
                          <a:cs typeface="Calibri"/>
                        </a:rPr>
                        <a:t>12</a:t>
                      </a:r>
                    </a:p>
                  </a:txBody>
                  <a:tcPr marL="47625" marR="47625" marT="28575" marB="28575" anchor="ctr">
                    <a:solidFill>
                      <a:srgbClr val="FFFFFF"/>
                    </a:solidFill>
                  </a:tcPr>
                </a:tc>
                <a:extLst>
                  <a:ext uri="{0D108BD9-81ED-4DB2-BD59-A6C34878D82A}">
                    <a16:rowId xmlns:a16="http://schemas.microsoft.com/office/drawing/2014/main" val="10003"/>
                  </a:ext>
                </a:extLst>
              </a:tr>
              <a:tr h="447675">
                <a:tc>
                  <a:txBody>
                    <a:bodyPr/>
                    <a:lstStyle/>
                    <a:p>
                      <a:pPr algn="ctr"/>
                      <a:r>
                        <a:rPr sz="1725">
                          <a:solidFill>
                            <a:srgbClr val="000000"/>
                          </a:solidFill>
                          <a:latin typeface="Calibri"/>
                          <a:ea typeface="Calibri"/>
                          <a:cs typeface="Calibri"/>
                        </a:rPr>
                        <a:t>27–36</a:t>
                      </a:r>
                    </a:p>
                  </a:txBody>
                  <a:tcPr marL="47625" marR="47625" marT="28575" marB="28575" anchor="ctr">
                    <a:solidFill>
                      <a:srgbClr val="FFFFFF"/>
                    </a:solidFill>
                  </a:tcPr>
                </a:tc>
                <a:tc>
                  <a:txBody>
                    <a:bodyPr/>
                    <a:lstStyle/>
                    <a:p>
                      <a:pPr algn="ctr"/>
                      <a:r>
                        <a:rPr sz="1725">
                          <a:solidFill>
                            <a:srgbClr val="000000"/>
                          </a:solidFill>
                          <a:latin typeface="Calibri"/>
                          <a:ea typeface="Calibri"/>
                          <a:cs typeface="Calibri"/>
                        </a:rPr>
                        <a:t>Rename and Cartesian product</a:t>
                      </a:r>
                    </a:p>
                  </a:txBody>
                  <a:tcPr marL="47625" marR="47625" marT="28575" marB="28575" anchor="ctr">
                    <a:solidFill>
                      <a:srgbClr val="FFFFFF"/>
                    </a:solidFill>
                  </a:tcPr>
                </a:tc>
                <a:tc>
                  <a:txBody>
                    <a:bodyPr/>
                    <a:lstStyle/>
                    <a:p>
                      <a:pPr algn="ctr"/>
                      <a:r>
                        <a:rPr sz="1725">
                          <a:solidFill>
                            <a:srgbClr val="000000"/>
                          </a:solidFill>
                          <a:latin typeface="Calibri"/>
                          <a:ea typeface="Calibri"/>
                          <a:cs typeface="Calibri"/>
                        </a:rPr>
                        <a:t>9</a:t>
                      </a:r>
                    </a:p>
                  </a:txBody>
                  <a:tcPr marL="47625" marR="47625" marT="28575" marB="28575" anchor="ctr">
                    <a:solidFill>
                      <a:srgbClr val="FFFFFF"/>
                    </a:solidFill>
                  </a:tcPr>
                </a:tc>
                <a:extLst>
                  <a:ext uri="{0D108BD9-81ED-4DB2-BD59-A6C34878D82A}">
                    <a16:rowId xmlns:a16="http://schemas.microsoft.com/office/drawing/2014/main" val="10004"/>
                  </a:ext>
                </a:extLst>
              </a:tr>
              <a:tr h="447675">
                <a:tc>
                  <a:txBody>
                    <a:bodyPr/>
                    <a:lstStyle/>
                    <a:p>
                      <a:pPr algn="ctr"/>
                      <a:r>
                        <a:rPr sz="1725">
                          <a:solidFill>
                            <a:srgbClr val="000000"/>
                          </a:solidFill>
                          <a:latin typeface="Calibri"/>
                          <a:ea typeface="Calibri"/>
                          <a:cs typeface="Calibri"/>
                        </a:rPr>
                        <a:t>36–52</a:t>
                      </a:r>
                    </a:p>
                  </a:txBody>
                  <a:tcPr marL="47625" marR="47625" marT="28575" marB="28575" anchor="ctr">
                    <a:solidFill>
                      <a:srgbClr val="FFFFFF"/>
                    </a:solidFill>
                  </a:tcPr>
                </a:tc>
                <a:tc>
                  <a:txBody>
                    <a:bodyPr/>
                    <a:lstStyle/>
                    <a:p>
                      <a:pPr algn="ctr"/>
                      <a:r>
                        <a:rPr sz="1725">
                          <a:solidFill>
                            <a:srgbClr val="000000"/>
                          </a:solidFill>
                          <a:latin typeface="Calibri"/>
                          <a:ea typeface="Calibri"/>
                          <a:cs typeface="Calibri"/>
                        </a:rPr>
                        <a:t>Theta, equi and natural join</a:t>
                      </a:r>
                    </a:p>
                  </a:txBody>
                  <a:tcPr marL="47625" marR="47625" marT="28575" marB="28575" anchor="ctr">
                    <a:solidFill>
                      <a:srgbClr val="FFFFFF"/>
                    </a:solidFill>
                  </a:tcPr>
                </a:tc>
                <a:tc>
                  <a:txBody>
                    <a:bodyPr/>
                    <a:lstStyle/>
                    <a:p>
                      <a:pPr algn="ctr"/>
                      <a:r>
                        <a:rPr sz="1725">
                          <a:solidFill>
                            <a:srgbClr val="000000"/>
                          </a:solidFill>
                          <a:latin typeface="Calibri"/>
                          <a:ea typeface="Calibri"/>
                          <a:cs typeface="Calibri"/>
                        </a:rPr>
                        <a:t>16</a:t>
                      </a:r>
                    </a:p>
                  </a:txBody>
                  <a:tcPr marL="47625" marR="47625" marT="28575" marB="28575" anchor="ctr">
                    <a:solidFill>
                      <a:srgbClr val="FFFFFF"/>
                    </a:solidFill>
                  </a:tcPr>
                </a:tc>
                <a:extLst>
                  <a:ext uri="{0D108BD9-81ED-4DB2-BD59-A6C34878D82A}">
                    <a16:rowId xmlns:a16="http://schemas.microsoft.com/office/drawing/2014/main" val="10005"/>
                  </a:ext>
                </a:extLst>
              </a:tr>
              <a:tr h="447675">
                <a:tc>
                  <a:txBody>
                    <a:bodyPr/>
                    <a:lstStyle/>
                    <a:p>
                      <a:pPr algn="ctr"/>
                      <a:r>
                        <a:rPr sz="1725">
                          <a:solidFill>
                            <a:srgbClr val="000000"/>
                          </a:solidFill>
                          <a:latin typeface="Calibri"/>
                          <a:ea typeface="Calibri"/>
                          <a:cs typeface="Calibri"/>
                        </a:rPr>
                        <a:t>52–74</a:t>
                      </a:r>
                    </a:p>
                  </a:txBody>
                  <a:tcPr marL="47625" marR="47625" marT="28575" marB="28575" anchor="ctr">
                    <a:solidFill>
                      <a:srgbClr val="FFFFFF"/>
                    </a:solidFill>
                  </a:tcPr>
                </a:tc>
                <a:tc>
                  <a:txBody>
                    <a:bodyPr/>
                    <a:lstStyle/>
                    <a:p>
                      <a:pPr algn="ctr"/>
                      <a:r>
                        <a:rPr sz="1725">
                          <a:solidFill>
                            <a:srgbClr val="000000"/>
                          </a:solidFill>
                          <a:latin typeface="Calibri"/>
                          <a:ea typeface="Calibri"/>
                          <a:cs typeface="Calibri"/>
                        </a:rPr>
                        <a:t>Division and its variants</a:t>
                      </a:r>
                    </a:p>
                  </a:txBody>
                  <a:tcPr marL="47625" marR="47625" marT="28575" marB="28575" anchor="ctr">
                    <a:solidFill>
                      <a:srgbClr val="FFFFFF"/>
                    </a:solidFill>
                  </a:tcPr>
                </a:tc>
                <a:tc>
                  <a:txBody>
                    <a:bodyPr/>
                    <a:lstStyle/>
                    <a:p>
                      <a:pPr algn="ctr"/>
                      <a:r>
                        <a:rPr sz="1725">
                          <a:solidFill>
                            <a:srgbClr val="000000"/>
                          </a:solidFill>
                          <a:latin typeface="Calibri"/>
                          <a:ea typeface="Calibri"/>
                          <a:cs typeface="Calibri"/>
                        </a:rPr>
                        <a:t>22</a:t>
                      </a:r>
                    </a:p>
                  </a:txBody>
                  <a:tcPr marL="47625" marR="47625" marT="28575" marB="28575" anchor="ctr">
                    <a:solidFill>
                      <a:srgbClr val="FFFFFF"/>
                    </a:solidFill>
                  </a:tcPr>
                </a:tc>
                <a:extLst>
                  <a:ext uri="{0D108BD9-81ED-4DB2-BD59-A6C34878D82A}">
                    <a16:rowId xmlns:a16="http://schemas.microsoft.com/office/drawing/2014/main" val="10006"/>
                  </a:ext>
                </a:extLst>
              </a:tr>
              <a:tr h="447675">
                <a:tc>
                  <a:txBody>
                    <a:bodyPr/>
                    <a:lstStyle/>
                    <a:p>
                      <a:pPr algn="ctr"/>
                      <a:r>
                        <a:rPr sz="1725">
                          <a:solidFill>
                            <a:srgbClr val="000000"/>
                          </a:solidFill>
                          <a:latin typeface="Calibri"/>
                          <a:ea typeface="Calibri"/>
                          <a:cs typeface="Calibri"/>
                        </a:rPr>
                        <a:t>74–88</a:t>
                      </a:r>
                    </a:p>
                  </a:txBody>
                  <a:tcPr marL="47625" marR="47625" marT="28575" marB="28575" anchor="ctr">
                    <a:solidFill>
                      <a:srgbClr val="FFFFFF"/>
                    </a:solidFill>
                  </a:tcPr>
                </a:tc>
                <a:tc>
                  <a:txBody>
                    <a:bodyPr/>
                    <a:lstStyle/>
                    <a:p>
                      <a:pPr algn="ctr"/>
                      <a:r>
                        <a:rPr sz="1725">
                          <a:solidFill>
                            <a:srgbClr val="000000"/>
                          </a:solidFill>
                          <a:latin typeface="Calibri"/>
                          <a:ea typeface="Calibri"/>
                          <a:cs typeface="Calibri"/>
                        </a:rPr>
                        <a:t>Integrated queries</a:t>
                      </a:r>
                    </a:p>
                  </a:txBody>
                  <a:tcPr marL="47625" marR="47625" marT="28575" marB="28575" anchor="ctr">
                    <a:solidFill>
                      <a:srgbClr val="FFFFFF"/>
                    </a:solidFill>
                  </a:tcPr>
                </a:tc>
                <a:tc>
                  <a:txBody>
                    <a:bodyPr/>
                    <a:lstStyle/>
                    <a:p>
                      <a:pPr algn="ctr"/>
                      <a:r>
                        <a:rPr sz="1725">
                          <a:solidFill>
                            <a:srgbClr val="000000"/>
                          </a:solidFill>
                          <a:latin typeface="Calibri"/>
                          <a:ea typeface="Calibri"/>
                          <a:cs typeface="Calibri"/>
                        </a:rPr>
                        <a:t>14</a:t>
                      </a:r>
                    </a:p>
                  </a:txBody>
                  <a:tcPr marL="47625" marR="47625" marT="28575" marB="28575" anchor="ctr">
                    <a:solidFill>
                      <a:srgbClr val="FFFFFF"/>
                    </a:solidFill>
                  </a:tcPr>
                </a:tc>
                <a:extLst>
                  <a:ext uri="{0D108BD9-81ED-4DB2-BD59-A6C34878D82A}">
                    <a16:rowId xmlns:a16="http://schemas.microsoft.com/office/drawing/2014/main" val="10007"/>
                  </a:ext>
                </a:extLst>
              </a:tr>
              <a:tr h="447675">
                <a:tc>
                  <a:txBody>
                    <a:bodyPr/>
                    <a:lstStyle/>
                    <a:p>
                      <a:pPr algn="ctr"/>
                      <a:r>
                        <a:rPr sz="1725">
                          <a:solidFill>
                            <a:srgbClr val="000000"/>
                          </a:solidFill>
                          <a:latin typeface="Calibri"/>
                          <a:ea typeface="Calibri"/>
                          <a:cs typeface="Calibri"/>
                        </a:rPr>
                        <a:t>88–90</a:t>
                      </a:r>
                    </a:p>
                  </a:txBody>
                  <a:tcPr marL="47625" marR="47625" marT="28575" marB="28575" anchor="ctr">
                    <a:solidFill>
                      <a:srgbClr val="FFFFFF"/>
                    </a:solidFill>
                  </a:tcPr>
                </a:tc>
                <a:tc>
                  <a:txBody>
                    <a:bodyPr/>
                    <a:lstStyle/>
                    <a:p>
                      <a:pPr algn="ctr"/>
                      <a:r>
                        <a:rPr sz="1725">
                          <a:solidFill>
                            <a:srgbClr val="000000"/>
                          </a:solidFill>
                          <a:latin typeface="Calibri"/>
                          <a:ea typeface="Calibri"/>
                          <a:cs typeface="Calibri"/>
                        </a:rPr>
                        <a:t>Recap</a:t>
                      </a:r>
                    </a:p>
                  </a:txBody>
                  <a:tcPr marL="47625" marR="47625" marT="28575" marB="28575" anchor="ctr">
                    <a:solidFill>
                      <a:srgbClr val="FFFFFF"/>
                    </a:solidFill>
                  </a:tcPr>
                </a:tc>
                <a:tc>
                  <a:txBody>
                    <a:bodyPr/>
                    <a:lstStyle/>
                    <a:p>
                      <a:pPr algn="ctr"/>
                      <a:r>
                        <a:rPr sz="1725">
                          <a:solidFill>
                            <a:srgbClr val="000000"/>
                          </a:solidFill>
                          <a:latin typeface="Calibri"/>
                          <a:ea typeface="Calibri"/>
                          <a:cs typeface="Calibri"/>
                        </a:rPr>
                        <a:t>2</a:t>
                      </a:r>
                    </a:p>
                  </a:txBody>
                  <a:tcPr marL="47625" marR="47625" marT="28575" marB="28575" anchor="ctr">
                    <a:solidFill>
                      <a:srgbClr val="FFFFFF"/>
                    </a:solidFill>
                  </a:tcPr>
                </a:tc>
                <a:extLst>
                  <a:ext uri="{0D108BD9-81ED-4DB2-BD59-A6C34878D82A}">
                    <a16:rowId xmlns:a16="http://schemas.microsoft.com/office/drawing/2014/main" val="10008"/>
                  </a:ext>
                </a:extLst>
              </a:tr>
            </a:tbl>
          </a:graphicData>
        </a:graphic>
      </p:graphicFrame>
      <p:sp>
        <p:nvSpPr>
          <p:cNvPr id="9001" name="Title 1">
            <a:extLst>
              <a:ext uri="{FF2B5EF4-FFF2-40B4-BE49-F238E27FC236}">
                <a16:creationId xmlns:a16="http://schemas.microsoft.com/office/drawing/2014/main" id="{4EF27E5C-9C4D-BDBE-7667-D0B141BCC8F5}"/>
              </a:ext>
            </a:extLst>
          </p:cNvPr>
          <p:cNvSpPr>
            <a:spLocks noGrp="1"/>
          </p:cNvSpPr>
          <p:nvPr>
            <p:ph type="title"/>
          </p:nvPr>
        </p:nvSpPr>
        <p:spPr/>
        <p:txBody>
          <a:bodyPr/>
          <a:lstStyle/>
          <a:p>
            <a:r>
              <a:rPr lang="en-US" dirty="0">
                <a:solidFill>
                  <a:srgbClr val="3333CC"/>
                </a:solidFill>
              </a:rPr>
              <a:t>Session Plan</a:t>
            </a:r>
          </a:p>
        </p:txBody>
      </p:sp>
      <p:sp>
        <p:nvSpPr>
          <p:cNvPr id="9002" name="Slide Number Placeholder 1">
            <a:extLst>
              <a:ext uri="{FF2B5EF4-FFF2-40B4-BE49-F238E27FC236}">
                <a16:creationId xmlns:a16="http://schemas.microsoft.com/office/drawing/2014/main" id="{B90139AC-3BDA-723A-097A-000DA0A784C1}"/>
              </a:ext>
            </a:extLst>
          </p:cNvPr>
          <p:cNvSpPr>
            <a:spLocks noGrp="1"/>
          </p:cNvSpPr>
          <p:nvPr>
            <p:ph type="sldNum" sz="quarter" idx="12"/>
          </p:nvPr>
        </p:nvSpPr>
        <p:spPr/>
        <p:txBody>
          <a:bodyPr/>
          <a:lstStyle/>
          <a:p>
            <a:pPr>
              <a:defRPr/>
            </a:pPr>
            <a:fld id="{43CA101F-9E5F-9249-9862-3CE55B3BB777}" type="slidenum">
              <a:rPr lang="en-US" altLang="zh-TW" smtClean="0"/>
              <a:pPr>
                <a:defRPr/>
              </a:pPr>
              <a:t>2</a:t>
            </a:fld>
            <a:endParaRPr lang="en-US" altLang="zh-TW"/>
          </a:p>
        </p:txBody>
      </p:sp>
    </p:spTree>
    <p:extLst>
      <p:ext uri="{BB962C8B-B14F-4D97-AF65-F5344CB8AC3E}">
        <p14:creationId xmlns:p14="http://schemas.microsoft.com/office/powerpoint/2010/main" val="7746065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body">
            <a:extLst>
              <a:ext uri="{FF2B5EF4-FFF2-40B4-BE49-F238E27FC236}">
                <a16:creationId xmlns:a16="http://schemas.microsoft.com/office/drawing/2014/main" id="{CA0FABA0-8027-405F-987E-73BBAA2DBAD5}"/>
              </a:ext>
            </a:extLst>
          </p:cNvPr>
          <p:cNvSpPr>
            <a:spLocks noGrp="1"/>
          </p:cNvSpPr>
          <p:nvPr/>
        </p:nvSpPr>
        <p:spPr>
          <a:xfrm>
            <a:off x="781050" y="1047750"/>
            <a:ext cx="219075" cy="400050"/>
          </a:xfrm>
          <a:prstGeom prst="rect">
            <a:avLst/>
          </a:prstGeom>
          <a:noFill/>
          <a:ln w="0">
            <a:noFill/>
          </a:ln>
        </p:spPr>
        <p:txBody>
          <a:bodyPr wrap="square" lIns="0" tIns="0" rIns="0" bIns="0">
            <a:noAutofit/>
          </a:bodyPr>
          <a:lstStyle/>
          <a:p>
            <a:pPr>
              <a:defRPr sz="2250" b="0">
                <a:solidFill>
                  <a:srgbClr val="000000"/>
                </a:solidFill>
                <a:latin typeface="Calibri"/>
                <a:ea typeface="Calibri"/>
                <a:cs typeface="Calibri"/>
              </a:defRPr>
            </a:pPr>
            <a:r>
              <a:rPr sz="2250" b="0">
                <a:solidFill>
                  <a:srgbClr val="000000"/>
                </a:solidFill>
                <a:latin typeface="Calibri"/>
                <a:ea typeface="Calibri"/>
                <a:cs typeface="Calibri"/>
              </a:rPr>
              <a:t>•</a:t>
            </a:r>
          </a:p>
        </p:txBody>
      </p:sp>
      <p:sp>
        <p:nvSpPr>
          <p:cNvPr id="4" name="body">
            <a:extLst>
              <a:ext uri="{FF2B5EF4-FFF2-40B4-BE49-F238E27FC236}">
                <a16:creationId xmlns:a16="http://schemas.microsoft.com/office/drawing/2014/main" id="{49F87359-FE4B-4C22-8341-8C4DC0301A57}"/>
              </a:ext>
            </a:extLst>
          </p:cNvPr>
          <p:cNvSpPr>
            <a:spLocks noGrp="1"/>
          </p:cNvSpPr>
          <p:nvPr/>
        </p:nvSpPr>
        <p:spPr>
          <a:xfrm>
            <a:off x="1104900" y="1047750"/>
            <a:ext cx="7239000" cy="952500"/>
          </a:xfrm>
          <a:prstGeom prst="rect">
            <a:avLst/>
          </a:prstGeom>
          <a:noFill/>
          <a:ln w="0">
            <a:noFill/>
          </a:ln>
        </p:spPr>
        <p:txBody>
          <a:bodyPr wrap="square" lIns="0" tIns="0" rIns="0" bIns="0">
            <a:noAutofit/>
          </a:bodyPr>
          <a:lstStyle/>
          <a:p>
            <a:pPr>
              <a:defRPr sz="2250" b="0">
                <a:solidFill>
                  <a:srgbClr val="000000"/>
                </a:solidFill>
                <a:latin typeface="Calibri"/>
                <a:ea typeface="Calibri"/>
                <a:cs typeface="Calibri"/>
              </a:defRPr>
            </a:pPr>
            <a:r>
              <a:rPr sz="2250" b="0" dirty="0">
                <a:solidFill>
                  <a:srgbClr val="000000"/>
                </a:solidFill>
                <a:latin typeface="Calibri"/>
                <a:ea typeface="Calibri"/>
                <a:cs typeface="Calibri"/>
              </a:rPr>
              <a:t>Six basic operators: select, project, union, difference, Cartesian product and rename.</a:t>
            </a:r>
          </a:p>
        </p:txBody>
      </p:sp>
      <p:sp>
        <p:nvSpPr>
          <p:cNvPr id="5" name="formula">
            <a:extLst>
              <a:ext uri="{FF2B5EF4-FFF2-40B4-BE49-F238E27FC236}">
                <a16:creationId xmlns:a16="http://schemas.microsoft.com/office/drawing/2014/main" id="{E33AE86D-92DB-4404-8C69-0C70EB9C1887}"/>
              </a:ext>
            </a:extLst>
          </p:cNvPr>
          <p:cNvSpPr>
            <a:spLocks noGrp="1"/>
          </p:cNvSpPr>
          <p:nvPr/>
        </p:nvSpPr>
        <p:spPr>
          <a:xfrm>
            <a:off x="1190625" y="2114550"/>
            <a:ext cx="6953250" cy="523875"/>
          </a:xfrm>
          <a:prstGeom prst="rect">
            <a:avLst/>
          </a:prstGeom>
          <a:noFill/>
          <a:ln w="0">
            <a:noFill/>
          </a:ln>
        </p:spPr>
        <p:txBody>
          <a:bodyPr wrap="square" lIns="0" tIns="0" rIns="0" bIns="0">
            <a:noAutofit/>
          </a:bodyPr>
          <a:lstStyle/>
          <a:p>
            <a:pPr>
              <a:defRPr sz="3000" b="0">
                <a:solidFill>
                  <a:srgbClr val="000000"/>
                </a:solidFill>
                <a:latin typeface="Cambria Math"/>
                <a:ea typeface="Cambria Math"/>
                <a:cs typeface="Cambria Math"/>
              </a:defRPr>
            </a:pPr>
            <a:r>
              <a:rPr sz="3000" b="0" dirty="0">
                <a:solidFill>
                  <a:srgbClr val="000000"/>
                </a:solidFill>
                <a:latin typeface="Cambria Math"/>
                <a:ea typeface="Cambria Math"/>
                <a:cs typeface="Cambria Math"/>
              </a:rPr>
              <a:t>σ     π     ∪     −     ×     ρ</a:t>
            </a:r>
          </a:p>
        </p:txBody>
      </p:sp>
      <p:sp>
        <p:nvSpPr>
          <p:cNvPr id="6" name="body">
            <a:extLst>
              <a:ext uri="{FF2B5EF4-FFF2-40B4-BE49-F238E27FC236}">
                <a16:creationId xmlns:a16="http://schemas.microsoft.com/office/drawing/2014/main" id="{D97685B9-5AD1-4BD5-975D-CCD650B01752}"/>
              </a:ext>
            </a:extLst>
          </p:cNvPr>
          <p:cNvSpPr>
            <a:spLocks noGrp="1"/>
          </p:cNvSpPr>
          <p:nvPr/>
        </p:nvSpPr>
        <p:spPr>
          <a:xfrm>
            <a:off x="781050" y="2905125"/>
            <a:ext cx="219075" cy="400050"/>
          </a:xfrm>
          <a:prstGeom prst="rect">
            <a:avLst/>
          </a:prstGeom>
          <a:noFill/>
          <a:ln w="0">
            <a:noFill/>
          </a:ln>
        </p:spPr>
        <p:txBody>
          <a:bodyPr wrap="square" lIns="0" tIns="0" rIns="0" bIns="0">
            <a:noAutofit/>
          </a:bodyPr>
          <a:lstStyle/>
          <a:p>
            <a:pPr>
              <a:defRPr sz="2250" b="0">
                <a:solidFill>
                  <a:srgbClr val="000000"/>
                </a:solidFill>
                <a:latin typeface="Calibri"/>
                <a:ea typeface="Calibri"/>
                <a:cs typeface="Calibri"/>
              </a:defRPr>
            </a:pPr>
            <a:r>
              <a:rPr sz="2250" b="0">
                <a:solidFill>
                  <a:srgbClr val="000000"/>
                </a:solidFill>
                <a:latin typeface="Calibri"/>
                <a:ea typeface="Calibri"/>
                <a:cs typeface="Calibri"/>
              </a:rPr>
              <a:t>•</a:t>
            </a:r>
          </a:p>
        </p:txBody>
      </p:sp>
      <p:sp>
        <p:nvSpPr>
          <p:cNvPr id="7" name="body">
            <a:extLst>
              <a:ext uri="{FF2B5EF4-FFF2-40B4-BE49-F238E27FC236}">
                <a16:creationId xmlns:a16="http://schemas.microsoft.com/office/drawing/2014/main" id="{D8A9FB41-5F87-4F13-8F29-2862DE6DAC8B}"/>
              </a:ext>
            </a:extLst>
          </p:cNvPr>
          <p:cNvSpPr>
            <a:spLocks noGrp="1"/>
          </p:cNvSpPr>
          <p:nvPr/>
        </p:nvSpPr>
        <p:spPr>
          <a:xfrm>
            <a:off x="1104900" y="2905125"/>
            <a:ext cx="7239000" cy="952500"/>
          </a:xfrm>
          <a:prstGeom prst="rect">
            <a:avLst/>
          </a:prstGeom>
          <a:noFill/>
          <a:ln w="0">
            <a:noFill/>
          </a:ln>
        </p:spPr>
        <p:txBody>
          <a:bodyPr wrap="square" lIns="0" tIns="0" rIns="0" bIns="0">
            <a:noAutofit/>
          </a:bodyPr>
          <a:lstStyle/>
          <a:p>
            <a:pPr>
              <a:defRPr sz="2250" b="0">
                <a:solidFill>
                  <a:srgbClr val="000000"/>
                </a:solidFill>
                <a:latin typeface="Calibri"/>
                <a:ea typeface="Calibri"/>
                <a:cs typeface="Calibri"/>
              </a:defRPr>
            </a:pPr>
            <a:r>
              <a:rPr sz="2250" b="0" dirty="0">
                <a:solidFill>
                  <a:srgbClr val="000000"/>
                </a:solidFill>
                <a:latin typeface="Calibri"/>
                <a:ea typeface="Calibri"/>
                <a:cs typeface="Calibri"/>
              </a:rPr>
              <a:t>We also use intersection, joins and division.</a:t>
            </a:r>
          </a:p>
        </p:txBody>
      </p:sp>
      <p:sp>
        <p:nvSpPr>
          <p:cNvPr id="8" name="body">
            <a:extLst>
              <a:ext uri="{FF2B5EF4-FFF2-40B4-BE49-F238E27FC236}">
                <a16:creationId xmlns:a16="http://schemas.microsoft.com/office/drawing/2014/main" id="{577CAFF8-8FF3-43AF-8C65-BB43C6078EF9}"/>
              </a:ext>
            </a:extLst>
          </p:cNvPr>
          <p:cNvSpPr>
            <a:spLocks noGrp="1"/>
          </p:cNvSpPr>
          <p:nvPr/>
        </p:nvSpPr>
        <p:spPr>
          <a:xfrm>
            <a:off x="781050" y="3667125"/>
            <a:ext cx="219075" cy="400050"/>
          </a:xfrm>
          <a:prstGeom prst="rect">
            <a:avLst/>
          </a:prstGeom>
          <a:noFill/>
          <a:ln w="0">
            <a:noFill/>
          </a:ln>
        </p:spPr>
        <p:txBody>
          <a:bodyPr wrap="square" lIns="0" tIns="0" rIns="0" bIns="0">
            <a:noAutofit/>
          </a:bodyPr>
          <a:lstStyle/>
          <a:p>
            <a:pPr>
              <a:defRPr sz="2250" b="0">
                <a:solidFill>
                  <a:srgbClr val="000000"/>
                </a:solidFill>
                <a:latin typeface="Calibri"/>
                <a:ea typeface="Calibri"/>
                <a:cs typeface="Calibri"/>
              </a:defRPr>
            </a:pPr>
            <a:r>
              <a:rPr sz="2250" b="0">
                <a:solidFill>
                  <a:srgbClr val="000000"/>
                </a:solidFill>
                <a:latin typeface="Calibri"/>
                <a:ea typeface="Calibri"/>
                <a:cs typeface="Calibri"/>
              </a:rPr>
              <a:t>•</a:t>
            </a:r>
          </a:p>
        </p:txBody>
      </p:sp>
      <p:sp>
        <p:nvSpPr>
          <p:cNvPr id="9" name="body">
            <a:extLst>
              <a:ext uri="{FF2B5EF4-FFF2-40B4-BE49-F238E27FC236}">
                <a16:creationId xmlns:a16="http://schemas.microsoft.com/office/drawing/2014/main" id="{B7DED819-AD44-46F0-A7FD-4D3DC742CD14}"/>
              </a:ext>
            </a:extLst>
          </p:cNvPr>
          <p:cNvSpPr>
            <a:spLocks noGrp="1"/>
          </p:cNvSpPr>
          <p:nvPr/>
        </p:nvSpPr>
        <p:spPr>
          <a:xfrm>
            <a:off x="1104900" y="3667125"/>
            <a:ext cx="7239000" cy="952500"/>
          </a:xfrm>
          <a:prstGeom prst="rect">
            <a:avLst/>
          </a:prstGeom>
          <a:noFill/>
          <a:ln w="0">
            <a:noFill/>
          </a:ln>
        </p:spPr>
        <p:txBody>
          <a:bodyPr wrap="square" lIns="0" tIns="0" rIns="0" bIns="0">
            <a:noAutofit/>
          </a:bodyPr>
          <a:lstStyle/>
          <a:p>
            <a:pPr>
              <a:defRPr sz="2250" b="0">
                <a:solidFill>
                  <a:srgbClr val="000000"/>
                </a:solidFill>
                <a:latin typeface="Calibri"/>
                <a:ea typeface="Calibri"/>
                <a:cs typeface="Calibri"/>
              </a:defRPr>
            </a:pPr>
            <a:r>
              <a:rPr sz="2250" b="0" dirty="0">
                <a:solidFill>
                  <a:srgbClr val="000000"/>
                </a:solidFill>
                <a:latin typeface="Calibri"/>
                <a:ea typeface="Calibri"/>
                <a:cs typeface="Calibri"/>
              </a:rPr>
              <a:t>Every expression returns a relation. Tuples are unordered and duplicates are eliminated.</a:t>
            </a:r>
          </a:p>
        </p:txBody>
      </p:sp>
      <p:sp>
        <p:nvSpPr>
          <p:cNvPr id="10" name="body">
            <a:extLst>
              <a:ext uri="{FF2B5EF4-FFF2-40B4-BE49-F238E27FC236}">
                <a16:creationId xmlns:a16="http://schemas.microsoft.com/office/drawing/2014/main" id="{46B759C6-D233-4C3D-93DE-D18FC22F9531}"/>
              </a:ext>
            </a:extLst>
          </p:cNvPr>
          <p:cNvSpPr>
            <a:spLocks noGrp="1"/>
          </p:cNvSpPr>
          <p:nvPr/>
        </p:nvSpPr>
        <p:spPr>
          <a:xfrm>
            <a:off x="781050" y="4848225"/>
            <a:ext cx="7600950" cy="952500"/>
          </a:xfrm>
          <a:prstGeom prst="rect">
            <a:avLst/>
          </a:prstGeom>
          <a:noFill/>
          <a:ln w="0">
            <a:noFill/>
          </a:ln>
        </p:spPr>
        <p:txBody>
          <a:bodyPr wrap="square" lIns="0" tIns="0" rIns="0" bIns="0">
            <a:noAutofit/>
          </a:bodyPr>
          <a:lstStyle/>
          <a:p>
            <a:pPr>
              <a:defRPr sz="2250" b="0">
                <a:solidFill>
                  <a:srgbClr val="FF0000"/>
                </a:solidFill>
                <a:latin typeface="Calibri"/>
                <a:ea typeface="Calibri"/>
                <a:cs typeface="Calibri"/>
              </a:defRPr>
            </a:pPr>
            <a:r>
              <a:rPr sz="2250" b="0" dirty="0">
                <a:solidFill>
                  <a:srgbClr val="FF0000"/>
                </a:solidFill>
                <a:latin typeface="Calibri"/>
                <a:ea typeface="Calibri"/>
                <a:cs typeface="Calibri"/>
              </a:rPr>
              <a:t>For each question: write an expression, </a:t>
            </a:r>
            <a:r>
              <a:rPr lang="en-US" sz="2250" b="0" dirty="0">
                <a:solidFill>
                  <a:srgbClr val="FF0000"/>
                </a:solidFill>
                <a:latin typeface="Calibri"/>
                <a:ea typeface="Calibri"/>
                <a:cs typeface="Calibri"/>
              </a:rPr>
              <a:t>the </a:t>
            </a:r>
            <a:r>
              <a:rPr sz="2250" b="0" dirty="0">
                <a:solidFill>
                  <a:srgbClr val="FF0000"/>
                </a:solidFill>
                <a:latin typeface="Calibri"/>
                <a:ea typeface="Calibri"/>
                <a:cs typeface="Calibri"/>
              </a:rPr>
              <a:t>output schema</a:t>
            </a:r>
            <a:r>
              <a:rPr lang="en-US" sz="2250" dirty="0">
                <a:solidFill>
                  <a:srgbClr val="FF0000"/>
                </a:solidFill>
                <a:latin typeface="Calibri"/>
                <a:ea typeface="Calibri"/>
                <a:cs typeface="Calibri"/>
              </a:rPr>
              <a:t>,</a:t>
            </a:r>
            <a:r>
              <a:rPr sz="2250" b="0" dirty="0">
                <a:solidFill>
                  <a:srgbClr val="FF0000"/>
                </a:solidFill>
                <a:latin typeface="Calibri"/>
                <a:ea typeface="Calibri"/>
                <a:cs typeface="Calibri"/>
              </a:rPr>
              <a:t> and </a:t>
            </a:r>
            <a:r>
              <a:rPr lang="en-US" sz="2250" b="0" dirty="0">
                <a:solidFill>
                  <a:srgbClr val="FF0000"/>
                </a:solidFill>
                <a:latin typeface="Calibri"/>
                <a:ea typeface="Calibri"/>
                <a:cs typeface="Calibri"/>
              </a:rPr>
              <a:t>or</a:t>
            </a:r>
            <a:r>
              <a:rPr sz="2250" b="0" dirty="0">
                <a:solidFill>
                  <a:srgbClr val="FF0000"/>
                </a:solidFill>
                <a:latin typeface="Calibri"/>
                <a:ea typeface="Calibri"/>
                <a:cs typeface="Calibri"/>
              </a:rPr>
              <a:t> result tuples.</a:t>
            </a:r>
          </a:p>
        </p:txBody>
      </p:sp>
      <p:sp>
        <p:nvSpPr>
          <p:cNvPr id="9001" name="Title 1">
            <a:extLst>
              <a:ext uri="{FF2B5EF4-FFF2-40B4-BE49-F238E27FC236}">
                <a16:creationId xmlns:a16="http://schemas.microsoft.com/office/drawing/2014/main" id="{4EF27E5C-9C4D-BDBE-7667-D0B141BCC8F5}"/>
              </a:ext>
            </a:extLst>
          </p:cNvPr>
          <p:cNvSpPr>
            <a:spLocks noGrp="1"/>
          </p:cNvSpPr>
          <p:nvPr>
            <p:ph type="title"/>
          </p:nvPr>
        </p:nvSpPr>
        <p:spPr/>
        <p:txBody>
          <a:bodyPr/>
          <a:lstStyle/>
          <a:p>
            <a:r>
              <a:rPr lang="en-US">
                <a:solidFill>
                  <a:srgbClr val="3333CC"/>
                </a:solidFill>
              </a:rPr>
              <a:t>Basic Operators</a:t>
            </a:r>
          </a:p>
        </p:txBody>
      </p:sp>
      <p:sp>
        <p:nvSpPr>
          <p:cNvPr id="9002" name="Slide Number Placeholder 1">
            <a:extLst>
              <a:ext uri="{FF2B5EF4-FFF2-40B4-BE49-F238E27FC236}">
                <a16:creationId xmlns:a16="http://schemas.microsoft.com/office/drawing/2014/main" id="{B90139AC-3BDA-723A-097A-000DA0A784C1}"/>
              </a:ext>
            </a:extLst>
          </p:cNvPr>
          <p:cNvSpPr>
            <a:spLocks noGrp="1"/>
          </p:cNvSpPr>
          <p:nvPr>
            <p:ph type="sldNum" sz="quarter" idx="12"/>
          </p:nvPr>
        </p:nvSpPr>
        <p:spPr/>
        <p:txBody>
          <a:bodyPr/>
          <a:lstStyle/>
          <a:p>
            <a:pPr>
              <a:defRPr/>
            </a:pPr>
            <a:fld id="{43CA101F-9E5F-9249-9862-3CE55B3BB777}" type="slidenum">
              <a:rPr lang="en-US" altLang="zh-TW" smtClean="0"/>
              <a:pPr>
                <a:defRPr/>
              </a:pPr>
              <a:t>3</a:t>
            </a:fld>
            <a:endParaRPr lang="en-US" altLang="zh-TW"/>
          </a:p>
        </p:txBody>
      </p:sp>
    </p:spTree>
    <p:extLst>
      <p:ext uri="{BB962C8B-B14F-4D97-AF65-F5344CB8AC3E}">
        <p14:creationId xmlns:p14="http://schemas.microsoft.com/office/powerpoint/2010/main" val="176126184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矩形 2">
            <a:extLst>
              <a:ext uri="{FF2B5EF4-FFF2-40B4-BE49-F238E27FC236}">
                <a16:creationId xmlns:a16="http://schemas.microsoft.com/office/drawing/2014/main" id="{30EBA2BC-F408-4BF1-B0FF-336563CF82BF}"/>
              </a:ext>
            </a:extLst>
          </p:cNvPr>
          <p:cNvSpPr>
            <a:spLocks noGrp="1"/>
          </p:cNvSpPr>
          <p:nvPr/>
        </p:nvSpPr>
        <p:spPr>
          <a:xfrm>
            <a:off x="5962650" y="962025"/>
            <a:ext cx="2428875" cy="647700"/>
          </a:xfrm>
          <a:prstGeom prst="rect">
            <a:avLst/>
          </a:prstGeom>
          <a:solidFill>
            <a:srgbClr val="BFE7EF"/>
          </a:solidFill>
          <a:ln w="0">
            <a:noFill/>
          </a:ln>
        </p:spPr>
      </p:sp>
      <p:sp>
        <p:nvSpPr>
          <p:cNvPr id="4" name="formula">
            <a:extLst>
              <a:ext uri="{FF2B5EF4-FFF2-40B4-BE49-F238E27FC236}">
                <a16:creationId xmlns:a16="http://schemas.microsoft.com/office/drawing/2014/main" id="{DAEE6CC6-1FF2-4D85-93BA-5FFC36216550}"/>
              </a:ext>
            </a:extLst>
          </p:cNvPr>
          <p:cNvSpPr>
            <a:spLocks noGrp="1"/>
          </p:cNvSpPr>
          <p:nvPr/>
        </p:nvSpPr>
        <p:spPr>
          <a:xfrm>
            <a:off x="6096000" y="1095375"/>
            <a:ext cx="2152650" cy="419100"/>
          </a:xfrm>
          <a:prstGeom prst="rect">
            <a:avLst/>
          </a:prstGeom>
          <a:noFill/>
          <a:ln w="0">
            <a:noFill/>
          </a:ln>
        </p:spPr>
        <p:txBody>
          <a:bodyPr wrap="square" lIns="0" tIns="0" rIns="0" bIns="0">
            <a:noAutofit/>
          </a:bodyPr>
          <a:lstStyle/>
          <a:p>
            <a:pPr>
              <a:defRPr sz="2100" b="0">
                <a:solidFill>
                  <a:srgbClr val="000000"/>
                </a:solidFill>
                <a:latin typeface="Cambria Math"/>
                <a:ea typeface="Cambria Math"/>
                <a:cs typeface="Cambria Math"/>
              </a:defRPr>
            </a:pPr>
            <a:r>
              <a:rPr sz="2100" b="0" dirty="0" err="1">
                <a:solidFill>
                  <a:srgbClr val="000000"/>
                </a:solidFill>
                <a:latin typeface="Cambria Math"/>
                <a:ea typeface="Cambria Math"/>
                <a:cs typeface="Cambria Math"/>
              </a:rPr>
              <a:t>σ</a:t>
            </a:r>
            <a:r>
              <a:rPr sz="1491" b="0" baseline="-25000" dirty="0" err="1">
                <a:solidFill>
                  <a:srgbClr val="000000"/>
                </a:solidFill>
                <a:latin typeface="Cambria Math"/>
                <a:ea typeface="Cambria Math"/>
                <a:cs typeface="Cambria Math"/>
              </a:rPr>
              <a:t>condition</a:t>
            </a:r>
            <a:r>
              <a:rPr sz="2100" b="0" dirty="0">
                <a:solidFill>
                  <a:srgbClr val="000000"/>
                </a:solidFill>
                <a:latin typeface="Cambria Math"/>
                <a:ea typeface="Cambria Math"/>
                <a:cs typeface="Cambria Math"/>
              </a:rPr>
              <a:t>(R)</a:t>
            </a:r>
          </a:p>
        </p:txBody>
      </p:sp>
      <p:sp>
        <p:nvSpPr>
          <p:cNvPr id="5" name="body">
            <a:extLst>
              <a:ext uri="{FF2B5EF4-FFF2-40B4-BE49-F238E27FC236}">
                <a16:creationId xmlns:a16="http://schemas.microsoft.com/office/drawing/2014/main" id="{512B4C2B-78F8-42BA-82A8-3867F130A419}"/>
              </a:ext>
            </a:extLst>
          </p:cNvPr>
          <p:cNvSpPr>
            <a:spLocks noGrp="1"/>
          </p:cNvSpPr>
          <p:nvPr/>
        </p:nvSpPr>
        <p:spPr>
          <a:xfrm>
            <a:off x="781050" y="1809750"/>
            <a:ext cx="219075" cy="400050"/>
          </a:xfrm>
          <a:prstGeom prst="rect">
            <a:avLst/>
          </a:prstGeom>
          <a:noFill/>
          <a:ln w="0">
            <a:noFill/>
          </a:ln>
        </p:spPr>
        <p:txBody>
          <a:bodyPr wrap="square" lIns="0" tIns="0" rIns="0" bIns="0">
            <a:noAutofit/>
          </a:bodyPr>
          <a:lstStyle/>
          <a:p>
            <a:pPr>
              <a:defRPr sz="2250" b="0">
                <a:solidFill>
                  <a:srgbClr val="000000"/>
                </a:solidFill>
                <a:latin typeface="Calibri"/>
                <a:ea typeface="Calibri"/>
                <a:cs typeface="Calibri"/>
              </a:defRPr>
            </a:pPr>
            <a:r>
              <a:rPr sz="2250" b="0">
                <a:solidFill>
                  <a:srgbClr val="000000"/>
                </a:solidFill>
                <a:latin typeface="Calibri"/>
                <a:ea typeface="Calibri"/>
                <a:cs typeface="Calibri"/>
              </a:rPr>
              <a:t>•</a:t>
            </a:r>
          </a:p>
        </p:txBody>
      </p:sp>
      <p:sp>
        <p:nvSpPr>
          <p:cNvPr id="6" name="body">
            <a:extLst>
              <a:ext uri="{FF2B5EF4-FFF2-40B4-BE49-F238E27FC236}">
                <a16:creationId xmlns:a16="http://schemas.microsoft.com/office/drawing/2014/main" id="{969F8170-CD56-4795-85BC-A048D63CDD10}"/>
              </a:ext>
            </a:extLst>
          </p:cNvPr>
          <p:cNvSpPr>
            <a:spLocks noGrp="1"/>
          </p:cNvSpPr>
          <p:nvPr/>
        </p:nvSpPr>
        <p:spPr>
          <a:xfrm>
            <a:off x="1104900" y="1809750"/>
            <a:ext cx="7239000" cy="952500"/>
          </a:xfrm>
          <a:prstGeom prst="rect">
            <a:avLst/>
          </a:prstGeom>
          <a:noFill/>
          <a:ln w="0">
            <a:noFill/>
          </a:ln>
        </p:spPr>
        <p:txBody>
          <a:bodyPr wrap="square" lIns="0" tIns="0" rIns="0" bIns="0">
            <a:noAutofit/>
          </a:bodyPr>
          <a:lstStyle/>
          <a:p>
            <a:pPr>
              <a:defRPr sz="2250" b="0">
                <a:solidFill>
                  <a:srgbClr val="000000"/>
                </a:solidFill>
                <a:latin typeface="Calibri"/>
                <a:ea typeface="Calibri"/>
                <a:cs typeface="Calibri"/>
              </a:defRPr>
            </a:pPr>
            <a:r>
              <a:rPr sz="2250" b="0" dirty="0">
                <a:solidFill>
                  <a:srgbClr val="000000"/>
                </a:solidFill>
                <a:latin typeface="Calibri"/>
                <a:ea typeface="Calibri"/>
                <a:cs typeface="Calibri"/>
              </a:rPr>
              <a:t>Selection keeps the tuples that satisfy a condition</a:t>
            </a:r>
            <a:r>
              <a:rPr lang="en-US" sz="2250" b="0" dirty="0">
                <a:solidFill>
                  <a:srgbClr val="000000"/>
                </a:solidFill>
                <a:latin typeface="Calibri"/>
                <a:ea typeface="Calibri"/>
                <a:cs typeface="Calibri"/>
              </a:rPr>
              <a:t> (</a:t>
            </a:r>
            <a:r>
              <a:rPr lang="en-US" sz="2250" dirty="0">
                <a:solidFill>
                  <a:srgbClr val="000000"/>
                </a:solidFill>
                <a:latin typeface="Calibri"/>
                <a:ea typeface="Calibri"/>
                <a:cs typeface="Calibri"/>
              </a:rPr>
              <a:t>predicate</a:t>
            </a:r>
            <a:r>
              <a:rPr lang="en-US" sz="2250" b="0" dirty="0">
                <a:solidFill>
                  <a:srgbClr val="000000"/>
                </a:solidFill>
                <a:latin typeface="Calibri"/>
                <a:ea typeface="Calibri"/>
                <a:cs typeface="Calibri"/>
              </a:rPr>
              <a:t>)</a:t>
            </a:r>
            <a:r>
              <a:rPr sz="2250" b="0" dirty="0">
                <a:solidFill>
                  <a:srgbClr val="000000"/>
                </a:solidFill>
                <a:latin typeface="Calibri"/>
                <a:ea typeface="Calibri"/>
                <a:cs typeface="Calibri"/>
              </a:rPr>
              <a:t>.</a:t>
            </a:r>
          </a:p>
        </p:txBody>
      </p:sp>
      <p:sp>
        <p:nvSpPr>
          <p:cNvPr id="7" name="body">
            <a:extLst>
              <a:ext uri="{FF2B5EF4-FFF2-40B4-BE49-F238E27FC236}">
                <a16:creationId xmlns:a16="http://schemas.microsoft.com/office/drawing/2014/main" id="{69A891B2-70D8-4F93-956C-8D8003CB5DDE}"/>
              </a:ext>
            </a:extLst>
          </p:cNvPr>
          <p:cNvSpPr>
            <a:spLocks noGrp="1"/>
          </p:cNvSpPr>
          <p:nvPr/>
        </p:nvSpPr>
        <p:spPr>
          <a:xfrm>
            <a:off x="781050" y="2686050"/>
            <a:ext cx="219075" cy="400050"/>
          </a:xfrm>
          <a:prstGeom prst="rect">
            <a:avLst/>
          </a:prstGeom>
          <a:noFill/>
          <a:ln w="0">
            <a:noFill/>
          </a:ln>
        </p:spPr>
        <p:txBody>
          <a:bodyPr wrap="square" lIns="0" tIns="0" rIns="0" bIns="0">
            <a:noAutofit/>
          </a:bodyPr>
          <a:lstStyle/>
          <a:p>
            <a:pPr>
              <a:defRPr sz="2250" b="0">
                <a:solidFill>
                  <a:srgbClr val="000000"/>
                </a:solidFill>
                <a:latin typeface="Calibri"/>
                <a:ea typeface="Calibri"/>
                <a:cs typeface="Calibri"/>
              </a:defRPr>
            </a:pPr>
            <a:r>
              <a:rPr sz="2250" b="0">
                <a:solidFill>
                  <a:srgbClr val="000000"/>
                </a:solidFill>
                <a:latin typeface="Calibri"/>
                <a:ea typeface="Calibri"/>
                <a:cs typeface="Calibri"/>
              </a:rPr>
              <a:t>•</a:t>
            </a:r>
          </a:p>
        </p:txBody>
      </p:sp>
      <p:sp>
        <p:nvSpPr>
          <p:cNvPr id="8" name="body">
            <a:extLst>
              <a:ext uri="{FF2B5EF4-FFF2-40B4-BE49-F238E27FC236}">
                <a16:creationId xmlns:a16="http://schemas.microsoft.com/office/drawing/2014/main" id="{0CEE1137-B5E2-4BCC-8605-2F3B5388FD68}"/>
              </a:ext>
            </a:extLst>
          </p:cNvPr>
          <p:cNvSpPr>
            <a:spLocks noGrp="1"/>
          </p:cNvSpPr>
          <p:nvPr/>
        </p:nvSpPr>
        <p:spPr>
          <a:xfrm>
            <a:off x="1104900" y="2686050"/>
            <a:ext cx="7239000" cy="952500"/>
          </a:xfrm>
          <a:prstGeom prst="rect">
            <a:avLst/>
          </a:prstGeom>
          <a:noFill/>
          <a:ln w="0">
            <a:noFill/>
          </a:ln>
        </p:spPr>
        <p:txBody>
          <a:bodyPr wrap="square" lIns="0" tIns="0" rIns="0" bIns="0">
            <a:noAutofit/>
          </a:bodyPr>
          <a:lstStyle/>
          <a:p>
            <a:pPr>
              <a:defRPr sz="2250" b="0">
                <a:solidFill>
                  <a:srgbClr val="000000"/>
                </a:solidFill>
                <a:latin typeface="Calibri"/>
                <a:ea typeface="Calibri"/>
                <a:cs typeface="Calibri"/>
              </a:defRPr>
            </a:pPr>
            <a:r>
              <a:rPr sz="2250" b="0">
                <a:solidFill>
                  <a:srgbClr val="000000"/>
                </a:solidFill>
                <a:latin typeface="Calibri"/>
                <a:ea typeface="Calibri"/>
                <a:cs typeface="Calibri"/>
              </a:rPr>
              <a:t>All attributes remain in the output schema.</a:t>
            </a:r>
          </a:p>
        </p:txBody>
      </p:sp>
      <p:sp>
        <p:nvSpPr>
          <p:cNvPr id="9" name="body">
            <a:extLst>
              <a:ext uri="{FF2B5EF4-FFF2-40B4-BE49-F238E27FC236}">
                <a16:creationId xmlns:a16="http://schemas.microsoft.com/office/drawing/2014/main" id="{9B13E3D6-0471-4B07-85F3-371A0823C74F}"/>
              </a:ext>
            </a:extLst>
          </p:cNvPr>
          <p:cNvSpPr>
            <a:spLocks noGrp="1"/>
          </p:cNvSpPr>
          <p:nvPr/>
        </p:nvSpPr>
        <p:spPr>
          <a:xfrm>
            <a:off x="781050" y="3476625"/>
            <a:ext cx="219075" cy="400050"/>
          </a:xfrm>
          <a:prstGeom prst="rect">
            <a:avLst/>
          </a:prstGeom>
          <a:noFill/>
          <a:ln w="0">
            <a:noFill/>
          </a:ln>
        </p:spPr>
        <p:txBody>
          <a:bodyPr wrap="square" lIns="0" tIns="0" rIns="0" bIns="0">
            <a:noAutofit/>
          </a:bodyPr>
          <a:lstStyle/>
          <a:p>
            <a:pPr>
              <a:defRPr sz="2250" b="0">
                <a:solidFill>
                  <a:srgbClr val="000000"/>
                </a:solidFill>
                <a:latin typeface="Calibri"/>
                <a:ea typeface="Calibri"/>
                <a:cs typeface="Calibri"/>
              </a:defRPr>
            </a:pPr>
            <a:r>
              <a:rPr sz="2250" b="0">
                <a:solidFill>
                  <a:srgbClr val="000000"/>
                </a:solidFill>
                <a:latin typeface="Calibri"/>
                <a:ea typeface="Calibri"/>
                <a:cs typeface="Calibri"/>
              </a:rPr>
              <a:t>•</a:t>
            </a:r>
          </a:p>
        </p:txBody>
      </p:sp>
      <p:sp>
        <p:nvSpPr>
          <p:cNvPr id="10" name="body">
            <a:extLst>
              <a:ext uri="{FF2B5EF4-FFF2-40B4-BE49-F238E27FC236}">
                <a16:creationId xmlns:a16="http://schemas.microsoft.com/office/drawing/2014/main" id="{428E997B-2B6E-471E-A009-FE21B1D79E81}"/>
              </a:ext>
            </a:extLst>
          </p:cNvPr>
          <p:cNvSpPr>
            <a:spLocks noGrp="1"/>
          </p:cNvSpPr>
          <p:nvPr/>
        </p:nvSpPr>
        <p:spPr>
          <a:xfrm>
            <a:off x="1104900" y="3476625"/>
            <a:ext cx="7239000" cy="952500"/>
          </a:xfrm>
          <a:prstGeom prst="rect">
            <a:avLst/>
          </a:prstGeom>
          <a:noFill/>
          <a:ln w="0">
            <a:noFill/>
          </a:ln>
        </p:spPr>
        <p:txBody>
          <a:bodyPr wrap="square" lIns="0" tIns="0" rIns="0" bIns="0">
            <a:noAutofit/>
          </a:bodyPr>
          <a:lstStyle/>
          <a:p>
            <a:pPr>
              <a:defRPr sz="2250" b="0">
                <a:solidFill>
                  <a:srgbClr val="000000"/>
                </a:solidFill>
                <a:latin typeface="Calibri"/>
                <a:ea typeface="Calibri"/>
                <a:cs typeface="Calibri"/>
              </a:defRPr>
            </a:pPr>
            <a:r>
              <a:rPr sz="2250" b="0">
                <a:solidFill>
                  <a:srgbClr val="000000"/>
                </a:solidFill>
                <a:latin typeface="Calibri"/>
                <a:ea typeface="Calibri"/>
                <a:cs typeface="Calibri"/>
              </a:rPr>
              <a:t>Use ∧ (AND), ∨ (OR) and ¬ (NOT) to combine conditions.</a:t>
            </a:r>
          </a:p>
        </p:txBody>
      </p:sp>
      <p:sp>
        <p:nvSpPr>
          <p:cNvPr id="11" name="body">
            <a:extLst>
              <a:ext uri="{FF2B5EF4-FFF2-40B4-BE49-F238E27FC236}">
                <a16:creationId xmlns:a16="http://schemas.microsoft.com/office/drawing/2014/main" id="{C0DE8E51-39E2-4E7B-815E-FE7902B851ED}"/>
              </a:ext>
            </a:extLst>
          </p:cNvPr>
          <p:cNvSpPr>
            <a:spLocks noGrp="1"/>
          </p:cNvSpPr>
          <p:nvPr/>
        </p:nvSpPr>
        <p:spPr>
          <a:xfrm>
            <a:off x="781050" y="4543425"/>
            <a:ext cx="7600950" cy="952500"/>
          </a:xfrm>
          <a:prstGeom prst="rect">
            <a:avLst/>
          </a:prstGeom>
          <a:noFill/>
          <a:ln w="0">
            <a:noFill/>
          </a:ln>
        </p:spPr>
        <p:txBody>
          <a:bodyPr wrap="square" lIns="0" tIns="0" rIns="0" bIns="0">
            <a:noAutofit/>
          </a:bodyPr>
          <a:lstStyle/>
          <a:p>
            <a:pPr>
              <a:defRPr sz="2250" b="0">
                <a:solidFill>
                  <a:srgbClr val="FF0000"/>
                </a:solidFill>
                <a:latin typeface="Calibri"/>
                <a:ea typeface="Calibri"/>
                <a:cs typeface="Calibri"/>
              </a:defRPr>
            </a:pPr>
            <a:r>
              <a:rPr sz="2250" b="0">
                <a:solidFill>
                  <a:srgbClr val="FF0000"/>
                </a:solidFill>
                <a:latin typeface="Calibri"/>
                <a:ea typeface="Calibri"/>
                <a:cs typeface="Calibri"/>
              </a:rPr>
              <a:t>A condition is tested on one tuple at a time.</a:t>
            </a:r>
          </a:p>
        </p:txBody>
      </p:sp>
      <p:sp>
        <p:nvSpPr>
          <p:cNvPr id="9001" name="Title 1">
            <a:extLst>
              <a:ext uri="{FF2B5EF4-FFF2-40B4-BE49-F238E27FC236}">
                <a16:creationId xmlns:a16="http://schemas.microsoft.com/office/drawing/2014/main" id="{4EF27E5C-9C4D-BDBE-7667-D0B141BCC8F5}"/>
              </a:ext>
            </a:extLst>
          </p:cNvPr>
          <p:cNvSpPr>
            <a:spLocks noGrp="1"/>
          </p:cNvSpPr>
          <p:nvPr>
            <p:ph type="title"/>
          </p:nvPr>
        </p:nvSpPr>
        <p:spPr/>
        <p:txBody>
          <a:bodyPr/>
          <a:lstStyle/>
          <a:p>
            <a:r>
              <a:rPr lang="en-US">
                <a:solidFill>
                  <a:srgbClr val="3333CC"/>
                </a:solidFill>
              </a:rPr>
              <a:t>Select Operation</a:t>
            </a:r>
          </a:p>
        </p:txBody>
      </p:sp>
      <p:sp>
        <p:nvSpPr>
          <p:cNvPr id="9002" name="Slide Number Placeholder 1">
            <a:extLst>
              <a:ext uri="{FF2B5EF4-FFF2-40B4-BE49-F238E27FC236}">
                <a16:creationId xmlns:a16="http://schemas.microsoft.com/office/drawing/2014/main" id="{B90139AC-3BDA-723A-097A-000DA0A784C1}"/>
              </a:ext>
            </a:extLst>
          </p:cNvPr>
          <p:cNvSpPr>
            <a:spLocks noGrp="1"/>
          </p:cNvSpPr>
          <p:nvPr>
            <p:ph type="sldNum" sz="quarter" idx="12"/>
          </p:nvPr>
        </p:nvSpPr>
        <p:spPr/>
        <p:txBody>
          <a:bodyPr/>
          <a:lstStyle/>
          <a:p>
            <a:pPr>
              <a:defRPr/>
            </a:pPr>
            <a:fld id="{43CA101F-9E5F-9249-9862-3CE55B3BB777}" type="slidenum">
              <a:rPr lang="en-US" altLang="zh-TW" smtClean="0"/>
              <a:pPr>
                <a:defRPr/>
              </a:pPr>
              <a:t>4</a:t>
            </a:fld>
            <a:endParaRPr lang="en-US" altLang="zh-TW"/>
          </a:p>
        </p:txBody>
      </p:sp>
    </p:spTree>
    <p:extLst>
      <p:ext uri="{BB962C8B-B14F-4D97-AF65-F5344CB8AC3E}">
        <p14:creationId xmlns:p14="http://schemas.microsoft.com/office/powerpoint/2010/main" val="47883337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body">
            <a:extLst>
              <a:ext uri="{FF2B5EF4-FFF2-40B4-BE49-F238E27FC236}">
                <a16:creationId xmlns:a16="http://schemas.microsoft.com/office/drawing/2014/main" id="{F2D342A9-11D7-4997-95F9-33781B9C977E}"/>
              </a:ext>
            </a:extLst>
          </p:cNvPr>
          <p:cNvSpPr>
            <a:spLocks noGrp="1"/>
          </p:cNvSpPr>
          <p:nvPr/>
        </p:nvSpPr>
        <p:spPr>
          <a:xfrm>
            <a:off x="781050" y="5876925"/>
            <a:ext cx="7620000" cy="285750"/>
          </a:xfrm>
          <a:prstGeom prst="rect">
            <a:avLst/>
          </a:prstGeom>
          <a:noFill/>
          <a:ln w="0">
            <a:noFill/>
          </a:ln>
        </p:spPr>
        <p:txBody>
          <a:bodyPr wrap="square" lIns="0" tIns="0" rIns="0" bIns="0">
            <a:noAutofit/>
          </a:bodyPr>
          <a:lstStyle/>
          <a:p>
            <a:pPr>
              <a:defRPr sz="1725" b="0">
                <a:solidFill>
                  <a:srgbClr val="3333CC"/>
                </a:solidFill>
                <a:latin typeface="Calibri"/>
                <a:ea typeface="Calibri"/>
                <a:cs typeface="Calibri"/>
              </a:defRPr>
            </a:pPr>
            <a:r>
              <a:rPr sz="1725" b="0">
                <a:solidFill>
                  <a:srgbClr val="3333CC"/>
                </a:solidFill>
                <a:latin typeface="Calibri"/>
                <a:ea typeface="Calibri"/>
                <a:cs typeface="Calibri"/>
              </a:rPr>
              <a:t>Think: 30 s</a:t>
            </a:r>
          </a:p>
        </p:txBody>
      </p:sp>
      <p:sp>
        <p:nvSpPr>
          <p:cNvPr id="4" name="矩形 3">
            <a:extLst>
              <a:ext uri="{FF2B5EF4-FFF2-40B4-BE49-F238E27FC236}">
                <a16:creationId xmlns:a16="http://schemas.microsoft.com/office/drawing/2014/main" id="{6F1B98E3-490E-4ADE-AAEF-46A368393968}"/>
              </a:ext>
            </a:extLst>
          </p:cNvPr>
          <p:cNvSpPr>
            <a:spLocks noGrp="1"/>
          </p:cNvSpPr>
          <p:nvPr/>
        </p:nvSpPr>
        <p:spPr>
          <a:xfrm>
            <a:off x="5962650" y="962025"/>
            <a:ext cx="2428875" cy="647700"/>
          </a:xfrm>
          <a:prstGeom prst="rect">
            <a:avLst/>
          </a:prstGeom>
          <a:solidFill>
            <a:srgbClr val="BFE7EF"/>
          </a:solidFill>
          <a:ln w="0">
            <a:noFill/>
          </a:ln>
        </p:spPr>
      </p:sp>
      <p:sp>
        <p:nvSpPr>
          <p:cNvPr id="5" name="formula">
            <a:extLst>
              <a:ext uri="{FF2B5EF4-FFF2-40B4-BE49-F238E27FC236}">
                <a16:creationId xmlns:a16="http://schemas.microsoft.com/office/drawing/2014/main" id="{8B7ECCD8-5947-4F5E-A6B2-B2F633A1216C}"/>
              </a:ext>
            </a:extLst>
          </p:cNvPr>
          <p:cNvSpPr>
            <a:spLocks noGrp="1"/>
          </p:cNvSpPr>
          <p:nvPr/>
        </p:nvSpPr>
        <p:spPr>
          <a:xfrm>
            <a:off x="6096000" y="1095375"/>
            <a:ext cx="2152650" cy="419100"/>
          </a:xfrm>
          <a:prstGeom prst="rect">
            <a:avLst/>
          </a:prstGeom>
          <a:noFill/>
          <a:ln w="0">
            <a:noFill/>
          </a:ln>
        </p:spPr>
        <p:txBody>
          <a:bodyPr wrap="square" lIns="0" tIns="0" rIns="0" bIns="0">
            <a:noAutofit/>
          </a:bodyPr>
          <a:lstStyle/>
          <a:p>
            <a:pPr>
              <a:defRPr sz="2100" b="0">
                <a:solidFill>
                  <a:srgbClr val="000000"/>
                </a:solidFill>
                <a:latin typeface="Cambria Math"/>
                <a:ea typeface="Cambria Math"/>
                <a:cs typeface="Cambria Math"/>
              </a:defRPr>
            </a:pPr>
            <a:r>
              <a:rPr sz="2100" b="0">
                <a:solidFill>
                  <a:srgbClr val="000000"/>
                </a:solidFill>
                <a:latin typeface="Cambria Math"/>
                <a:ea typeface="Cambria Math"/>
                <a:cs typeface="Cambria Math"/>
              </a:rPr>
              <a:t>σ</a:t>
            </a:r>
            <a:r>
              <a:rPr sz="1491" b="0" baseline="-25000">
                <a:solidFill>
                  <a:srgbClr val="000000"/>
                </a:solidFill>
                <a:latin typeface="Cambria Math"/>
                <a:ea typeface="Cambria Math"/>
                <a:cs typeface="Cambria Math"/>
              </a:rPr>
              <a:t>condition</a:t>
            </a:r>
            <a:r>
              <a:rPr sz="2100" b="0">
                <a:solidFill>
                  <a:srgbClr val="000000"/>
                </a:solidFill>
                <a:latin typeface="Cambria Math"/>
                <a:ea typeface="Cambria Math"/>
                <a:cs typeface="Cambria Math"/>
              </a:rPr>
              <a:t>(R)</a:t>
            </a:r>
          </a:p>
        </p:txBody>
      </p:sp>
      <p:sp>
        <p:nvSpPr>
          <p:cNvPr id="6" name="body">
            <a:extLst>
              <a:ext uri="{FF2B5EF4-FFF2-40B4-BE49-F238E27FC236}">
                <a16:creationId xmlns:a16="http://schemas.microsoft.com/office/drawing/2014/main" id="{C5DCE9AE-1341-4887-B1E4-A3A3566016E2}"/>
              </a:ext>
            </a:extLst>
          </p:cNvPr>
          <p:cNvSpPr>
            <a:spLocks noGrp="1"/>
          </p:cNvSpPr>
          <p:nvPr/>
        </p:nvSpPr>
        <p:spPr>
          <a:xfrm>
            <a:off x="952500" y="1590675"/>
            <a:ext cx="7048500" cy="361950"/>
          </a:xfrm>
          <a:prstGeom prst="rect">
            <a:avLst/>
          </a:prstGeom>
          <a:noFill/>
          <a:ln w="0">
            <a:noFill/>
          </a:ln>
        </p:spPr>
        <p:txBody>
          <a:bodyPr wrap="square" lIns="0" tIns="0" rIns="0" bIns="0">
            <a:noAutofit/>
          </a:bodyPr>
          <a:lstStyle/>
          <a:p>
            <a:pPr>
              <a:defRPr sz="2250" b="0">
                <a:solidFill>
                  <a:srgbClr val="000000"/>
                </a:solidFill>
                <a:latin typeface="Calibri"/>
                <a:ea typeface="Calibri"/>
                <a:cs typeface="Calibri"/>
              </a:defRPr>
            </a:pPr>
            <a:r>
              <a:rPr sz="2250" b="0">
                <a:solidFill>
                  <a:srgbClr val="000000"/>
                </a:solidFill>
                <a:latin typeface="Calibri"/>
                <a:ea typeface="Calibri"/>
                <a:cs typeface="Calibri"/>
              </a:rPr>
              <a:t>Applicant</a:t>
            </a:r>
          </a:p>
        </p:txBody>
      </p:sp>
      <p:graphicFrame>
        <p:nvGraphicFramePr>
          <p:cNvPr id="16" name="表格 15"/>
          <p:cNvGraphicFramePr/>
          <p:nvPr/>
        </p:nvGraphicFramePr>
        <p:xfrm>
          <a:off x="1028700" y="2009775"/>
          <a:ext cx="7048500" cy="2000250"/>
        </p:xfrm>
        <a:graphic>
          <a:graphicData uri="http://schemas.openxmlformats.org/drawingml/2006/table">
            <a:tbl>
              <a:tblPr/>
              <a:tblGrid>
                <a:gridCol w="1409700">
                  <a:extLst>
                    <a:ext uri="{9D8B030D-6E8A-4147-A177-3AD203B41FA5}">
                      <a16:colId xmlns:a16="http://schemas.microsoft.com/office/drawing/2014/main" val="20000"/>
                    </a:ext>
                  </a:extLst>
                </a:gridCol>
                <a:gridCol w="1409700">
                  <a:extLst>
                    <a:ext uri="{9D8B030D-6E8A-4147-A177-3AD203B41FA5}">
                      <a16:colId xmlns:a16="http://schemas.microsoft.com/office/drawing/2014/main" val="20001"/>
                    </a:ext>
                  </a:extLst>
                </a:gridCol>
                <a:gridCol w="1409700">
                  <a:extLst>
                    <a:ext uri="{9D8B030D-6E8A-4147-A177-3AD203B41FA5}">
                      <a16:colId xmlns:a16="http://schemas.microsoft.com/office/drawing/2014/main" val="20002"/>
                    </a:ext>
                  </a:extLst>
                </a:gridCol>
                <a:gridCol w="1409700">
                  <a:extLst>
                    <a:ext uri="{9D8B030D-6E8A-4147-A177-3AD203B41FA5}">
                      <a16:colId xmlns:a16="http://schemas.microsoft.com/office/drawing/2014/main" val="20003"/>
                    </a:ext>
                  </a:extLst>
                </a:gridCol>
                <a:gridCol w="1409700">
                  <a:extLst>
                    <a:ext uri="{9D8B030D-6E8A-4147-A177-3AD203B41FA5}">
                      <a16:colId xmlns:a16="http://schemas.microsoft.com/office/drawing/2014/main" val="20004"/>
                    </a:ext>
                  </a:extLst>
                </a:gridCol>
              </a:tblGrid>
              <a:tr h="333375">
                <a:tc>
                  <a:txBody>
                    <a:bodyPr/>
                    <a:lstStyle/>
                    <a:p>
                      <a:pPr algn="ctr"/>
                      <a:r>
                        <a:rPr sz="1725">
                          <a:solidFill>
                            <a:srgbClr val="000000"/>
                          </a:solidFill>
                          <a:latin typeface="Calibri"/>
                          <a:ea typeface="Calibri"/>
                          <a:cs typeface="Calibri"/>
                        </a:rPr>
                        <a:t>uid</a:t>
                      </a:r>
                    </a:p>
                  </a:txBody>
                  <a:tcPr marL="47625" marR="47625" marT="28575" marB="28575" anchor="ctr">
                    <a:solidFill>
                      <a:srgbClr val="D9D9D9"/>
                    </a:solidFill>
                  </a:tcPr>
                </a:tc>
                <a:tc>
                  <a:txBody>
                    <a:bodyPr/>
                    <a:lstStyle/>
                    <a:p>
                      <a:pPr algn="ctr"/>
                      <a:r>
                        <a:rPr sz="1725">
                          <a:solidFill>
                            <a:srgbClr val="000000"/>
                          </a:solidFill>
                          <a:latin typeface="Calibri"/>
                          <a:ea typeface="Calibri"/>
                          <a:cs typeface="Calibri"/>
                        </a:rPr>
                        <a:t>uname</a:t>
                      </a:r>
                    </a:p>
                  </a:txBody>
                  <a:tcPr marL="47625" marR="47625" marT="28575" marB="28575" anchor="ctr">
                    <a:solidFill>
                      <a:srgbClr val="D9D9D9"/>
                    </a:solidFill>
                  </a:tcPr>
                </a:tc>
                <a:tc>
                  <a:txBody>
                    <a:bodyPr/>
                    <a:lstStyle/>
                    <a:p>
                      <a:pPr algn="ctr"/>
                      <a:r>
                        <a:rPr sz="1725">
                          <a:solidFill>
                            <a:srgbClr val="000000"/>
                          </a:solidFill>
                          <a:latin typeface="Calibri"/>
                          <a:ea typeface="Calibri"/>
                          <a:cs typeface="Calibri"/>
                        </a:rPr>
                        <a:t>major</a:t>
                      </a:r>
                    </a:p>
                  </a:txBody>
                  <a:tcPr marL="47625" marR="47625" marT="28575" marB="28575" anchor="ctr">
                    <a:solidFill>
                      <a:srgbClr val="D9D9D9"/>
                    </a:solidFill>
                  </a:tcPr>
                </a:tc>
                <a:tc>
                  <a:txBody>
                    <a:bodyPr/>
                    <a:lstStyle/>
                    <a:p>
                      <a:pPr algn="ctr"/>
                      <a:r>
                        <a:rPr sz="1725">
                          <a:solidFill>
                            <a:srgbClr val="000000"/>
                          </a:solidFill>
                          <a:latin typeface="Calibri"/>
                          <a:ea typeface="Calibri"/>
                          <a:cs typeface="Calibri"/>
                        </a:rPr>
                        <a:t>year</a:t>
                      </a:r>
                    </a:p>
                  </a:txBody>
                  <a:tcPr marL="47625" marR="47625" marT="28575" marB="28575" anchor="ctr">
                    <a:solidFill>
                      <a:srgbClr val="D9D9D9"/>
                    </a:solidFill>
                  </a:tcPr>
                </a:tc>
                <a:tc>
                  <a:txBody>
                    <a:bodyPr/>
                    <a:lstStyle/>
                    <a:p>
                      <a:pPr algn="ctr"/>
                      <a:r>
                        <a:rPr sz="1725">
                          <a:solidFill>
                            <a:srgbClr val="000000"/>
                          </a:solidFill>
                          <a:latin typeface="Calibri"/>
                          <a:ea typeface="Calibri"/>
                          <a:cs typeface="Calibri"/>
                        </a:rPr>
                        <a:t>score</a:t>
                      </a:r>
                    </a:p>
                  </a:txBody>
                  <a:tcPr marL="47625" marR="47625" marT="28575" marB="28575" anchor="ctr">
                    <a:solidFill>
                      <a:srgbClr val="D9D9D9"/>
                    </a:solidFill>
                  </a:tcPr>
                </a:tc>
                <a:extLst>
                  <a:ext uri="{0D108BD9-81ED-4DB2-BD59-A6C34878D82A}">
                    <a16:rowId xmlns:a16="http://schemas.microsoft.com/office/drawing/2014/main" val="10000"/>
                  </a:ext>
                </a:extLst>
              </a:tr>
              <a:tr h="333375">
                <a:tc>
                  <a:txBody>
                    <a:bodyPr/>
                    <a:lstStyle/>
                    <a:p>
                      <a:pPr algn="ctr"/>
                      <a:r>
                        <a:rPr sz="1725">
                          <a:solidFill>
                            <a:srgbClr val="000000"/>
                          </a:solidFill>
                          <a:latin typeface="Calibri"/>
                          <a:ea typeface="Calibri"/>
                          <a:cs typeface="Calibri"/>
                        </a:rPr>
                        <a:t>101</a:t>
                      </a:r>
                    </a:p>
                  </a:txBody>
                  <a:tcPr marL="47625" marR="47625" marT="28575" marB="28575" anchor="ctr">
                    <a:solidFill>
                      <a:srgbClr val="FFFFFF"/>
                    </a:solidFill>
                  </a:tcPr>
                </a:tc>
                <a:tc>
                  <a:txBody>
                    <a:bodyPr/>
                    <a:lstStyle/>
                    <a:p>
                      <a:pPr algn="ctr"/>
                      <a:r>
                        <a:rPr sz="1725">
                          <a:solidFill>
                            <a:srgbClr val="000000"/>
                          </a:solidFill>
                          <a:latin typeface="Calibri"/>
                          <a:ea typeface="Calibri"/>
                          <a:cs typeface="Calibri"/>
                        </a:rPr>
                        <a:t>Ada</a:t>
                      </a:r>
                    </a:p>
                  </a:txBody>
                  <a:tcPr marL="47625" marR="47625" marT="28575" marB="28575" anchor="ctr">
                    <a:solidFill>
                      <a:srgbClr val="FFFFFF"/>
                    </a:solidFill>
                  </a:tcPr>
                </a:tc>
                <a:tc>
                  <a:txBody>
                    <a:bodyPr/>
                    <a:lstStyle/>
                    <a:p>
                      <a:pPr algn="ctr"/>
                      <a:r>
                        <a:rPr sz="1725">
                          <a:solidFill>
                            <a:srgbClr val="000000"/>
                          </a:solidFill>
                          <a:latin typeface="Calibri"/>
                          <a:ea typeface="Calibri"/>
                          <a:cs typeface="Calibri"/>
                        </a:rPr>
                        <a:t>CS</a:t>
                      </a:r>
                    </a:p>
                  </a:txBody>
                  <a:tcPr marL="47625" marR="47625" marT="28575" marB="28575" anchor="ctr">
                    <a:solidFill>
                      <a:srgbClr val="FFFFFF"/>
                    </a:solidFill>
                  </a:tcPr>
                </a:tc>
                <a:tc>
                  <a:txBody>
                    <a:bodyPr/>
                    <a:lstStyle/>
                    <a:p>
                      <a:pPr algn="ctr"/>
                      <a:r>
                        <a:rPr sz="1725">
                          <a:solidFill>
                            <a:srgbClr val="000000"/>
                          </a:solidFill>
                          <a:latin typeface="Calibri"/>
                          <a:ea typeface="Calibri"/>
                          <a:cs typeface="Calibri"/>
                        </a:rPr>
                        <a:t>3</a:t>
                      </a:r>
                    </a:p>
                  </a:txBody>
                  <a:tcPr marL="47625" marR="47625" marT="28575" marB="28575" anchor="ctr">
                    <a:solidFill>
                      <a:srgbClr val="FFFFFF"/>
                    </a:solidFill>
                  </a:tcPr>
                </a:tc>
                <a:tc>
                  <a:txBody>
                    <a:bodyPr/>
                    <a:lstStyle/>
                    <a:p>
                      <a:pPr algn="ctr"/>
                      <a:r>
                        <a:rPr sz="1725">
                          <a:solidFill>
                            <a:srgbClr val="000000"/>
                          </a:solidFill>
                          <a:latin typeface="Calibri"/>
                          <a:ea typeface="Calibri"/>
                          <a:cs typeface="Calibri"/>
                        </a:rPr>
                        <a:t>86</a:t>
                      </a:r>
                    </a:p>
                  </a:txBody>
                  <a:tcPr marL="47625" marR="47625" marT="28575" marB="28575" anchor="ctr">
                    <a:solidFill>
                      <a:srgbClr val="FFFFFF"/>
                    </a:solidFill>
                  </a:tcPr>
                </a:tc>
                <a:extLst>
                  <a:ext uri="{0D108BD9-81ED-4DB2-BD59-A6C34878D82A}">
                    <a16:rowId xmlns:a16="http://schemas.microsoft.com/office/drawing/2014/main" val="10001"/>
                  </a:ext>
                </a:extLst>
              </a:tr>
              <a:tr h="333375">
                <a:tc>
                  <a:txBody>
                    <a:bodyPr/>
                    <a:lstStyle/>
                    <a:p>
                      <a:pPr algn="ctr"/>
                      <a:r>
                        <a:rPr sz="1725">
                          <a:solidFill>
                            <a:srgbClr val="000000"/>
                          </a:solidFill>
                          <a:latin typeface="Calibri"/>
                          <a:ea typeface="Calibri"/>
                          <a:cs typeface="Calibri"/>
                        </a:rPr>
                        <a:t>102</a:t>
                      </a:r>
                    </a:p>
                  </a:txBody>
                  <a:tcPr marL="47625" marR="47625" marT="28575" marB="28575" anchor="ctr">
                    <a:solidFill>
                      <a:srgbClr val="FFFFFF"/>
                    </a:solidFill>
                  </a:tcPr>
                </a:tc>
                <a:tc>
                  <a:txBody>
                    <a:bodyPr/>
                    <a:lstStyle/>
                    <a:p>
                      <a:pPr algn="ctr"/>
                      <a:r>
                        <a:rPr sz="1725">
                          <a:solidFill>
                            <a:srgbClr val="000000"/>
                          </a:solidFill>
                          <a:latin typeface="Calibri"/>
                          <a:ea typeface="Calibri"/>
                          <a:cs typeface="Calibri"/>
                        </a:rPr>
                        <a:t>Ben</a:t>
                      </a:r>
                    </a:p>
                  </a:txBody>
                  <a:tcPr marL="47625" marR="47625" marT="28575" marB="28575" anchor="ctr">
                    <a:solidFill>
                      <a:srgbClr val="FFFFFF"/>
                    </a:solidFill>
                  </a:tcPr>
                </a:tc>
                <a:tc>
                  <a:txBody>
                    <a:bodyPr/>
                    <a:lstStyle/>
                    <a:p>
                      <a:pPr algn="ctr"/>
                      <a:r>
                        <a:rPr sz="1725">
                          <a:solidFill>
                            <a:srgbClr val="000000"/>
                          </a:solidFill>
                          <a:latin typeface="Calibri"/>
                          <a:ea typeface="Calibri"/>
                          <a:cs typeface="Calibri"/>
                        </a:rPr>
                        <a:t>EE</a:t>
                      </a:r>
                    </a:p>
                  </a:txBody>
                  <a:tcPr marL="47625" marR="47625" marT="28575" marB="28575" anchor="ctr">
                    <a:solidFill>
                      <a:srgbClr val="FFFFFF"/>
                    </a:solidFill>
                  </a:tcPr>
                </a:tc>
                <a:tc>
                  <a:txBody>
                    <a:bodyPr/>
                    <a:lstStyle/>
                    <a:p>
                      <a:pPr algn="ctr"/>
                      <a:r>
                        <a:rPr sz="1725">
                          <a:solidFill>
                            <a:srgbClr val="000000"/>
                          </a:solidFill>
                          <a:latin typeface="Calibri"/>
                          <a:ea typeface="Calibri"/>
                          <a:cs typeface="Calibri"/>
                        </a:rPr>
                        <a:t>3</a:t>
                      </a:r>
                    </a:p>
                  </a:txBody>
                  <a:tcPr marL="47625" marR="47625" marT="28575" marB="28575" anchor="ctr">
                    <a:solidFill>
                      <a:srgbClr val="FFFFFF"/>
                    </a:solidFill>
                  </a:tcPr>
                </a:tc>
                <a:tc>
                  <a:txBody>
                    <a:bodyPr/>
                    <a:lstStyle/>
                    <a:p>
                      <a:pPr algn="ctr"/>
                      <a:r>
                        <a:rPr sz="1725">
                          <a:solidFill>
                            <a:srgbClr val="000000"/>
                          </a:solidFill>
                          <a:latin typeface="Calibri"/>
                          <a:ea typeface="Calibri"/>
                          <a:cs typeface="Calibri"/>
                        </a:rPr>
                        <a:t>80</a:t>
                      </a:r>
                    </a:p>
                  </a:txBody>
                  <a:tcPr marL="47625" marR="47625" marT="28575" marB="28575" anchor="ctr">
                    <a:solidFill>
                      <a:srgbClr val="FFFFFF"/>
                    </a:solidFill>
                  </a:tcPr>
                </a:tc>
                <a:extLst>
                  <a:ext uri="{0D108BD9-81ED-4DB2-BD59-A6C34878D82A}">
                    <a16:rowId xmlns:a16="http://schemas.microsoft.com/office/drawing/2014/main" val="10002"/>
                  </a:ext>
                </a:extLst>
              </a:tr>
              <a:tr h="333375">
                <a:tc>
                  <a:txBody>
                    <a:bodyPr/>
                    <a:lstStyle/>
                    <a:p>
                      <a:pPr algn="ctr"/>
                      <a:r>
                        <a:rPr sz="1725">
                          <a:solidFill>
                            <a:srgbClr val="000000"/>
                          </a:solidFill>
                          <a:latin typeface="Calibri"/>
                          <a:ea typeface="Calibri"/>
                          <a:cs typeface="Calibri"/>
                        </a:rPr>
                        <a:t>103</a:t>
                      </a:r>
                    </a:p>
                  </a:txBody>
                  <a:tcPr marL="47625" marR="47625" marT="28575" marB="28575" anchor="ctr">
                    <a:solidFill>
                      <a:srgbClr val="FFFFFF"/>
                    </a:solidFill>
                  </a:tcPr>
                </a:tc>
                <a:tc>
                  <a:txBody>
                    <a:bodyPr/>
                    <a:lstStyle/>
                    <a:p>
                      <a:pPr algn="ctr"/>
                      <a:r>
                        <a:rPr sz="1725">
                          <a:solidFill>
                            <a:srgbClr val="000000"/>
                          </a:solidFill>
                          <a:latin typeface="Calibri"/>
                          <a:ea typeface="Calibri"/>
                          <a:cs typeface="Calibri"/>
                        </a:rPr>
                        <a:t>Cara</a:t>
                      </a:r>
                    </a:p>
                  </a:txBody>
                  <a:tcPr marL="47625" marR="47625" marT="28575" marB="28575" anchor="ctr">
                    <a:solidFill>
                      <a:srgbClr val="FFFFFF"/>
                    </a:solidFill>
                  </a:tcPr>
                </a:tc>
                <a:tc>
                  <a:txBody>
                    <a:bodyPr/>
                    <a:lstStyle/>
                    <a:p>
                      <a:pPr algn="ctr"/>
                      <a:r>
                        <a:rPr sz="1725">
                          <a:solidFill>
                            <a:srgbClr val="000000"/>
                          </a:solidFill>
                          <a:latin typeface="Calibri"/>
                          <a:ea typeface="Calibri"/>
                          <a:cs typeface="Calibri"/>
                        </a:rPr>
                        <a:t>CS</a:t>
                      </a:r>
                    </a:p>
                  </a:txBody>
                  <a:tcPr marL="47625" marR="47625" marT="28575" marB="28575" anchor="ctr">
                    <a:solidFill>
                      <a:srgbClr val="FFFFFF"/>
                    </a:solidFill>
                  </a:tcPr>
                </a:tc>
                <a:tc>
                  <a:txBody>
                    <a:bodyPr/>
                    <a:lstStyle/>
                    <a:p>
                      <a:pPr algn="ctr"/>
                      <a:r>
                        <a:rPr sz="1725">
                          <a:solidFill>
                            <a:srgbClr val="000000"/>
                          </a:solidFill>
                          <a:latin typeface="Calibri"/>
                          <a:ea typeface="Calibri"/>
                          <a:cs typeface="Calibri"/>
                        </a:rPr>
                        <a:t>3</a:t>
                      </a:r>
                    </a:p>
                  </a:txBody>
                  <a:tcPr marL="47625" marR="47625" marT="28575" marB="28575" anchor="ctr">
                    <a:solidFill>
                      <a:srgbClr val="FFFFFF"/>
                    </a:solidFill>
                  </a:tcPr>
                </a:tc>
                <a:tc>
                  <a:txBody>
                    <a:bodyPr/>
                    <a:lstStyle/>
                    <a:p>
                      <a:pPr algn="ctr"/>
                      <a:r>
                        <a:rPr sz="1725">
                          <a:solidFill>
                            <a:srgbClr val="000000"/>
                          </a:solidFill>
                          <a:latin typeface="Calibri"/>
                          <a:ea typeface="Calibri"/>
                          <a:cs typeface="Calibri"/>
                        </a:rPr>
                        <a:t>80</a:t>
                      </a:r>
                    </a:p>
                  </a:txBody>
                  <a:tcPr marL="47625" marR="47625" marT="28575" marB="28575" anchor="ctr">
                    <a:solidFill>
                      <a:srgbClr val="FFFFFF"/>
                    </a:solidFill>
                  </a:tcPr>
                </a:tc>
                <a:extLst>
                  <a:ext uri="{0D108BD9-81ED-4DB2-BD59-A6C34878D82A}">
                    <a16:rowId xmlns:a16="http://schemas.microsoft.com/office/drawing/2014/main" val="10003"/>
                  </a:ext>
                </a:extLst>
              </a:tr>
              <a:tr h="333375">
                <a:tc>
                  <a:txBody>
                    <a:bodyPr/>
                    <a:lstStyle/>
                    <a:p>
                      <a:pPr algn="ctr"/>
                      <a:r>
                        <a:rPr sz="1725">
                          <a:solidFill>
                            <a:srgbClr val="000000"/>
                          </a:solidFill>
                          <a:latin typeface="Calibri"/>
                          <a:ea typeface="Calibri"/>
                          <a:cs typeface="Calibri"/>
                        </a:rPr>
                        <a:t>104</a:t>
                      </a:r>
                    </a:p>
                  </a:txBody>
                  <a:tcPr marL="47625" marR="47625" marT="28575" marB="28575" anchor="ctr">
                    <a:solidFill>
                      <a:srgbClr val="FFFFFF"/>
                    </a:solidFill>
                  </a:tcPr>
                </a:tc>
                <a:tc>
                  <a:txBody>
                    <a:bodyPr/>
                    <a:lstStyle/>
                    <a:p>
                      <a:pPr algn="ctr"/>
                      <a:r>
                        <a:rPr sz="1725">
                          <a:solidFill>
                            <a:srgbClr val="000000"/>
                          </a:solidFill>
                          <a:latin typeface="Calibri"/>
                          <a:ea typeface="Calibri"/>
                          <a:cs typeface="Calibri"/>
                        </a:rPr>
                        <a:t>Dev</a:t>
                      </a:r>
                    </a:p>
                  </a:txBody>
                  <a:tcPr marL="47625" marR="47625" marT="28575" marB="28575" anchor="ctr">
                    <a:solidFill>
                      <a:srgbClr val="FFFFFF"/>
                    </a:solidFill>
                  </a:tcPr>
                </a:tc>
                <a:tc>
                  <a:txBody>
                    <a:bodyPr/>
                    <a:lstStyle/>
                    <a:p>
                      <a:pPr algn="ctr"/>
                      <a:r>
                        <a:rPr sz="1725">
                          <a:solidFill>
                            <a:srgbClr val="000000"/>
                          </a:solidFill>
                          <a:latin typeface="Calibri"/>
                          <a:ea typeface="Calibri"/>
                          <a:cs typeface="Calibri"/>
                        </a:rPr>
                        <a:t>DS</a:t>
                      </a:r>
                    </a:p>
                  </a:txBody>
                  <a:tcPr marL="47625" marR="47625" marT="28575" marB="28575" anchor="ctr">
                    <a:solidFill>
                      <a:srgbClr val="FFFFFF"/>
                    </a:solidFill>
                  </a:tcPr>
                </a:tc>
                <a:tc>
                  <a:txBody>
                    <a:bodyPr/>
                    <a:lstStyle/>
                    <a:p>
                      <a:pPr algn="ctr"/>
                      <a:r>
                        <a:rPr sz="1725">
                          <a:solidFill>
                            <a:srgbClr val="000000"/>
                          </a:solidFill>
                          <a:latin typeface="Calibri"/>
                          <a:ea typeface="Calibri"/>
                          <a:cs typeface="Calibri"/>
                        </a:rPr>
                        <a:t>2</a:t>
                      </a:r>
                    </a:p>
                  </a:txBody>
                  <a:tcPr marL="47625" marR="47625" marT="28575" marB="28575" anchor="ctr">
                    <a:solidFill>
                      <a:srgbClr val="FFFFFF"/>
                    </a:solidFill>
                  </a:tcPr>
                </a:tc>
                <a:tc>
                  <a:txBody>
                    <a:bodyPr/>
                    <a:lstStyle/>
                    <a:p>
                      <a:pPr algn="ctr"/>
                      <a:r>
                        <a:rPr sz="1725">
                          <a:solidFill>
                            <a:srgbClr val="000000"/>
                          </a:solidFill>
                          <a:latin typeface="Calibri"/>
                          <a:ea typeface="Calibri"/>
                          <a:cs typeface="Calibri"/>
                        </a:rPr>
                        <a:t>74</a:t>
                      </a:r>
                    </a:p>
                  </a:txBody>
                  <a:tcPr marL="47625" marR="47625" marT="28575" marB="28575" anchor="ctr">
                    <a:solidFill>
                      <a:srgbClr val="FFFFFF"/>
                    </a:solidFill>
                  </a:tcPr>
                </a:tc>
                <a:extLst>
                  <a:ext uri="{0D108BD9-81ED-4DB2-BD59-A6C34878D82A}">
                    <a16:rowId xmlns:a16="http://schemas.microsoft.com/office/drawing/2014/main" val="10004"/>
                  </a:ext>
                </a:extLst>
              </a:tr>
              <a:tr h="333375">
                <a:tc>
                  <a:txBody>
                    <a:bodyPr/>
                    <a:lstStyle/>
                    <a:p>
                      <a:pPr algn="ctr"/>
                      <a:r>
                        <a:rPr sz="1725">
                          <a:solidFill>
                            <a:srgbClr val="000000"/>
                          </a:solidFill>
                          <a:latin typeface="Calibri"/>
                          <a:ea typeface="Calibri"/>
                          <a:cs typeface="Calibri"/>
                        </a:rPr>
                        <a:t>105</a:t>
                      </a:r>
                    </a:p>
                  </a:txBody>
                  <a:tcPr marL="47625" marR="47625" marT="28575" marB="28575" anchor="ctr">
                    <a:solidFill>
                      <a:srgbClr val="FFFFFF"/>
                    </a:solidFill>
                  </a:tcPr>
                </a:tc>
                <a:tc>
                  <a:txBody>
                    <a:bodyPr/>
                    <a:lstStyle/>
                    <a:p>
                      <a:pPr algn="ctr"/>
                      <a:r>
                        <a:rPr sz="1725">
                          <a:solidFill>
                            <a:srgbClr val="000000"/>
                          </a:solidFill>
                          <a:latin typeface="Calibri"/>
                          <a:ea typeface="Calibri"/>
                          <a:cs typeface="Calibri"/>
                        </a:rPr>
                        <a:t>Eli</a:t>
                      </a:r>
                    </a:p>
                  </a:txBody>
                  <a:tcPr marL="47625" marR="47625" marT="28575" marB="28575" anchor="ctr">
                    <a:solidFill>
                      <a:srgbClr val="FFFFFF"/>
                    </a:solidFill>
                  </a:tcPr>
                </a:tc>
                <a:tc>
                  <a:txBody>
                    <a:bodyPr/>
                    <a:lstStyle/>
                    <a:p>
                      <a:pPr algn="ctr"/>
                      <a:r>
                        <a:rPr sz="1725">
                          <a:solidFill>
                            <a:srgbClr val="000000"/>
                          </a:solidFill>
                          <a:latin typeface="Calibri"/>
                          <a:ea typeface="Calibri"/>
                          <a:cs typeface="Calibri"/>
                        </a:rPr>
                        <a:t>CS</a:t>
                      </a:r>
                    </a:p>
                  </a:txBody>
                  <a:tcPr marL="47625" marR="47625" marT="28575" marB="28575" anchor="ctr">
                    <a:solidFill>
                      <a:srgbClr val="FFFFFF"/>
                    </a:solidFill>
                  </a:tcPr>
                </a:tc>
                <a:tc>
                  <a:txBody>
                    <a:bodyPr/>
                    <a:lstStyle/>
                    <a:p>
                      <a:pPr algn="ctr"/>
                      <a:r>
                        <a:rPr sz="1725">
                          <a:solidFill>
                            <a:srgbClr val="000000"/>
                          </a:solidFill>
                          <a:latin typeface="Calibri"/>
                          <a:ea typeface="Calibri"/>
                          <a:cs typeface="Calibri"/>
                        </a:rPr>
                        <a:t>3</a:t>
                      </a:r>
                    </a:p>
                  </a:txBody>
                  <a:tcPr marL="47625" marR="47625" marT="28575" marB="28575" anchor="ctr">
                    <a:solidFill>
                      <a:srgbClr val="FFFFFF"/>
                    </a:solidFill>
                  </a:tcPr>
                </a:tc>
                <a:tc>
                  <a:txBody>
                    <a:bodyPr/>
                    <a:lstStyle/>
                    <a:p>
                      <a:pPr algn="ctr"/>
                      <a:r>
                        <a:rPr sz="1725">
                          <a:solidFill>
                            <a:srgbClr val="000000"/>
                          </a:solidFill>
                          <a:latin typeface="Calibri"/>
                          <a:ea typeface="Calibri"/>
                          <a:cs typeface="Calibri"/>
                        </a:rPr>
                        <a:t>91</a:t>
                      </a:r>
                    </a:p>
                  </a:txBody>
                  <a:tcPr marL="47625" marR="47625" marT="28575" marB="28575" anchor="ctr">
                    <a:solidFill>
                      <a:srgbClr val="FFFFFF"/>
                    </a:solidFill>
                  </a:tcPr>
                </a:tc>
                <a:extLst>
                  <a:ext uri="{0D108BD9-81ED-4DB2-BD59-A6C34878D82A}">
                    <a16:rowId xmlns:a16="http://schemas.microsoft.com/office/drawing/2014/main" val="10005"/>
                  </a:ext>
                </a:extLst>
              </a:tr>
            </a:tbl>
          </a:graphicData>
        </a:graphic>
      </p:graphicFrame>
      <p:sp>
        <p:nvSpPr>
          <p:cNvPr id="8" name="body">
            <a:extLst>
              <a:ext uri="{FF2B5EF4-FFF2-40B4-BE49-F238E27FC236}">
                <a16:creationId xmlns:a16="http://schemas.microsoft.com/office/drawing/2014/main" id="{89BC20DE-7047-41DA-B982-7C49E5708D4F}"/>
              </a:ext>
            </a:extLst>
          </p:cNvPr>
          <p:cNvSpPr>
            <a:spLocks noGrp="1"/>
          </p:cNvSpPr>
          <p:nvPr/>
        </p:nvSpPr>
        <p:spPr>
          <a:xfrm>
            <a:off x="781050" y="4314825"/>
            <a:ext cx="7600950" cy="952500"/>
          </a:xfrm>
          <a:prstGeom prst="rect">
            <a:avLst/>
          </a:prstGeom>
          <a:noFill/>
          <a:ln w="0">
            <a:noFill/>
          </a:ln>
        </p:spPr>
        <p:txBody>
          <a:bodyPr wrap="square" lIns="0" tIns="0" rIns="0" bIns="0">
            <a:noAutofit/>
          </a:bodyPr>
          <a:lstStyle/>
          <a:p>
            <a:pPr>
              <a:defRPr sz="2250" b="0">
                <a:solidFill>
                  <a:srgbClr val="FF0000"/>
                </a:solidFill>
                <a:latin typeface="Calibri"/>
                <a:ea typeface="Calibri"/>
                <a:cs typeface="Calibri"/>
              </a:defRPr>
            </a:pPr>
            <a:r>
              <a:rPr sz="2250" b="0">
                <a:solidFill>
                  <a:srgbClr val="FF0000"/>
                </a:solidFill>
                <a:latin typeface="Calibri"/>
                <a:ea typeface="Calibri"/>
                <a:cs typeface="Calibri"/>
              </a:rPr>
              <a:t>Find all CS applicants whose score is greater than 80.</a:t>
            </a:r>
          </a:p>
        </p:txBody>
      </p:sp>
      <p:sp>
        <p:nvSpPr>
          <p:cNvPr id="9001" name="Title 1">
            <a:extLst>
              <a:ext uri="{FF2B5EF4-FFF2-40B4-BE49-F238E27FC236}">
                <a16:creationId xmlns:a16="http://schemas.microsoft.com/office/drawing/2014/main" id="{4EF27E5C-9C4D-BDBE-7667-D0B141BCC8F5}"/>
              </a:ext>
            </a:extLst>
          </p:cNvPr>
          <p:cNvSpPr>
            <a:spLocks noGrp="1"/>
          </p:cNvSpPr>
          <p:nvPr>
            <p:ph type="title"/>
          </p:nvPr>
        </p:nvSpPr>
        <p:spPr/>
        <p:txBody>
          <a:bodyPr/>
          <a:lstStyle/>
          <a:p>
            <a:r>
              <a:rPr lang="en-US">
                <a:solidFill>
                  <a:srgbClr val="FF0000"/>
                </a:solidFill>
              </a:rPr>
              <a:t>Practice: </a:t>
            </a:r>
            <a:r>
              <a:rPr lang="en-US">
                <a:solidFill>
                  <a:srgbClr val="3333CC"/>
                </a:solidFill>
              </a:rPr>
              <a:t>Q1</a:t>
            </a:r>
          </a:p>
        </p:txBody>
      </p:sp>
      <p:sp>
        <p:nvSpPr>
          <p:cNvPr id="9002" name="Slide Number Placeholder 1">
            <a:extLst>
              <a:ext uri="{FF2B5EF4-FFF2-40B4-BE49-F238E27FC236}">
                <a16:creationId xmlns:a16="http://schemas.microsoft.com/office/drawing/2014/main" id="{B90139AC-3BDA-723A-097A-000DA0A784C1}"/>
              </a:ext>
            </a:extLst>
          </p:cNvPr>
          <p:cNvSpPr>
            <a:spLocks noGrp="1"/>
          </p:cNvSpPr>
          <p:nvPr>
            <p:ph type="sldNum" sz="quarter" idx="12"/>
          </p:nvPr>
        </p:nvSpPr>
        <p:spPr/>
        <p:txBody>
          <a:bodyPr/>
          <a:lstStyle/>
          <a:p>
            <a:pPr>
              <a:defRPr/>
            </a:pPr>
            <a:fld id="{43CA101F-9E5F-9249-9862-3CE55B3BB777}" type="slidenum">
              <a:rPr lang="en-US" altLang="zh-TW" smtClean="0"/>
              <a:pPr>
                <a:defRPr/>
              </a:pPr>
              <a:t>5</a:t>
            </a:fld>
            <a:endParaRPr lang="en-US" altLang="zh-TW"/>
          </a:p>
        </p:txBody>
      </p:sp>
    </p:spTree>
    <p:extLst>
      <p:ext uri="{BB962C8B-B14F-4D97-AF65-F5344CB8AC3E}">
        <p14:creationId xmlns:p14="http://schemas.microsoft.com/office/powerpoint/2010/main" val="136950509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formula">
            <a:extLst>
              <a:ext uri="{FF2B5EF4-FFF2-40B4-BE49-F238E27FC236}">
                <a16:creationId xmlns:a16="http://schemas.microsoft.com/office/drawing/2014/main" id="{E38C5CB6-2FBB-4D04-BC44-F99D10DCADDE}"/>
              </a:ext>
            </a:extLst>
          </p:cNvPr>
          <p:cNvSpPr>
            <a:spLocks noGrp="1"/>
          </p:cNvSpPr>
          <p:nvPr/>
        </p:nvSpPr>
        <p:spPr>
          <a:xfrm>
            <a:off x="781050" y="1143000"/>
            <a:ext cx="7600950" cy="523875"/>
          </a:xfrm>
          <a:prstGeom prst="rect">
            <a:avLst/>
          </a:prstGeom>
          <a:noFill/>
          <a:ln w="0">
            <a:noFill/>
          </a:ln>
        </p:spPr>
        <p:txBody>
          <a:bodyPr wrap="square" lIns="0" tIns="0" rIns="0" bIns="0">
            <a:noAutofit/>
          </a:bodyPr>
          <a:lstStyle/>
          <a:p>
            <a:pPr>
              <a:defRPr sz="2175" b="0">
                <a:solidFill>
                  <a:srgbClr val="000000"/>
                </a:solidFill>
                <a:latin typeface="Cambria Math"/>
                <a:ea typeface="Cambria Math"/>
                <a:cs typeface="Cambria Math"/>
              </a:defRPr>
            </a:pPr>
            <a:r>
              <a:rPr sz="2175" b="0" dirty="0" err="1">
                <a:solidFill>
                  <a:srgbClr val="000000"/>
                </a:solidFill>
                <a:latin typeface="Cambria Math"/>
                <a:ea typeface="Cambria Math"/>
                <a:cs typeface="Cambria Math"/>
              </a:rPr>
              <a:t>σ</a:t>
            </a:r>
            <a:r>
              <a:rPr sz="1544" b="0" baseline="-25000" dirty="0" err="1">
                <a:solidFill>
                  <a:srgbClr val="000000"/>
                </a:solidFill>
                <a:latin typeface="Cambria Math"/>
                <a:ea typeface="Cambria Math"/>
                <a:cs typeface="Cambria Math"/>
              </a:rPr>
              <a:t>major</a:t>
            </a:r>
            <a:r>
              <a:rPr sz="1544" b="0" baseline="-25000" dirty="0">
                <a:solidFill>
                  <a:srgbClr val="000000"/>
                </a:solidFill>
                <a:latin typeface="Cambria Math"/>
                <a:ea typeface="Cambria Math"/>
                <a:cs typeface="Cambria Math"/>
              </a:rPr>
              <a:t>='CS' ∧ score&gt;80</a:t>
            </a:r>
            <a:r>
              <a:rPr sz="2175" b="0" dirty="0">
                <a:solidFill>
                  <a:srgbClr val="000000"/>
                </a:solidFill>
                <a:latin typeface="Cambria Math"/>
                <a:ea typeface="Cambria Math"/>
                <a:cs typeface="Cambria Math"/>
              </a:rPr>
              <a:t>(Applicant)</a:t>
            </a:r>
          </a:p>
        </p:txBody>
      </p:sp>
      <p:sp>
        <p:nvSpPr>
          <p:cNvPr id="4" name="body">
            <a:extLst>
              <a:ext uri="{FF2B5EF4-FFF2-40B4-BE49-F238E27FC236}">
                <a16:creationId xmlns:a16="http://schemas.microsoft.com/office/drawing/2014/main" id="{ED0B5948-32D9-4ADE-9CCF-2FEA829EE724}"/>
              </a:ext>
            </a:extLst>
          </p:cNvPr>
          <p:cNvSpPr>
            <a:spLocks noGrp="1"/>
          </p:cNvSpPr>
          <p:nvPr/>
        </p:nvSpPr>
        <p:spPr>
          <a:xfrm>
            <a:off x="952500" y="1914525"/>
            <a:ext cx="7048500" cy="361950"/>
          </a:xfrm>
          <a:prstGeom prst="rect">
            <a:avLst/>
          </a:prstGeom>
          <a:noFill/>
          <a:ln w="0">
            <a:noFill/>
          </a:ln>
        </p:spPr>
        <p:txBody>
          <a:bodyPr wrap="square" lIns="0" tIns="0" rIns="0" bIns="0">
            <a:noAutofit/>
          </a:bodyPr>
          <a:lstStyle/>
          <a:p>
            <a:pPr>
              <a:defRPr sz="2250" b="0">
                <a:solidFill>
                  <a:srgbClr val="000000"/>
                </a:solidFill>
                <a:latin typeface="Calibri"/>
                <a:ea typeface="Calibri"/>
                <a:cs typeface="Calibri"/>
              </a:defRPr>
            </a:pPr>
            <a:r>
              <a:rPr sz="2250" b="0">
                <a:solidFill>
                  <a:srgbClr val="000000"/>
                </a:solidFill>
                <a:latin typeface="Calibri"/>
                <a:ea typeface="Calibri"/>
                <a:cs typeface="Calibri"/>
              </a:rPr>
              <a:t>Result</a:t>
            </a:r>
          </a:p>
        </p:txBody>
      </p:sp>
      <p:graphicFrame>
        <p:nvGraphicFramePr>
          <p:cNvPr id="12" name="表格 11"/>
          <p:cNvGraphicFramePr/>
          <p:nvPr/>
        </p:nvGraphicFramePr>
        <p:xfrm>
          <a:off x="1028700" y="2333625"/>
          <a:ext cx="7048500" cy="1143000"/>
        </p:xfrm>
        <a:graphic>
          <a:graphicData uri="http://schemas.openxmlformats.org/drawingml/2006/table">
            <a:tbl>
              <a:tblPr/>
              <a:tblGrid>
                <a:gridCol w="1409700">
                  <a:extLst>
                    <a:ext uri="{9D8B030D-6E8A-4147-A177-3AD203B41FA5}">
                      <a16:colId xmlns:a16="http://schemas.microsoft.com/office/drawing/2014/main" val="20000"/>
                    </a:ext>
                  </a:extLst>
                </a:gridCol>
                <a:gridCol w="1409700">
                  <a:extLst>
                    <a:ext uri="{9D8B030D-6E8A-4147-A177-3AD203B41FA5}">
                      <a16:colId xmlns:a16="http://schemas.microsoft.com/office/drawing/2014/main" val="20001"/>
                    </a:ext>
                  </a:extLst>
                </a:gridCol>
                <a:gridCol w="1409700">
                  <a:extLst>
                    <a:ext uri="{9D8B030D-6E8A-4147-A177-3AD203B41FA5}">
                      <a16:colId xmlns:a16="http://schemas.microsoft.com/office/drawing/2014/main" val="20002"/>
                    </a:ext>
                  </a:extLst>
                </a:gridCol>
                <a:gridCol w="1409700">
                  <a:extLst>
                    <a:ext uri="{9D8B030D-6E8A-4147-A177-3AD203B41FA5}">
                      <a16:colId xmlns:a16="http://schemas.microsoft.com/office/drawing/2014/main" val="20003"/>
                    </a:ext>
                  </a:extLst>
                </a:gridCol>
                <a:gridCol w="1409700">
                  <a:extLst>
                    <a:ext uri="{9D8B030D-6E8A-4147-A177-3AD203B41FA5}">
                      <a16:colId xmlns:a16="http://schemas.microsoft.com/office/drawing/2014/main" val="20004"/>
                    </a:ext>
                  </a:extLst>
                </a:gridCol>
              </a:tblGrid>
              <a:tr h="381000">
                <a:tc>
                  <a:txBody>
                    <a:bodyPr/>
                    <a:lstStyle/>
                    <a:p>
                      <a:pPr algn="ctr"/>
                      <a:r>
                        <a:rPr sz="1725">
                          <a:solidFill>
                            <a:srgbClr val="000000"/>
                          </a:solidFill>
                          <a:latin typeface="Calibri"/>
                          <a:ea typeface="Calibri"/>
                          <a:cs typeface="Calibri"/>
                        </a:rPr>
                        <a:t>uid</a:t>
                      </a:r>
                    </a:p>
                  </a:txBody>
                  <a:tcPr marL="47625" marR="47625" marT="28575" marB="28575" anchor="ctr">
                    <a:solidFill>
                      <a:srgbClr val="D9D9D9"/>
                    </a:solidFill>
                  </a:tcPr>
                </a:tc>
                <a:tc>
                  <a:txBody>
                    <a:bodyPr/>
                    <a:lstStyle/>
                    <a:p>
                      <a:pPr algn="ctr"/>
                      <a:r>
                        <a:rPr sz="1725">
                          <a:solidFill>
                            <a:srgbClr val="000000"/>
                          </a:solidFill>
                          <a:latin typeface="Calibri"/>
                          <a:ea typeface="Calibri"/>
                          <a:cs typeface="Calibri"/>
                        </a:rPr>
                        <a:t>uname</a:t>
                      </a:r>
                    </a:p>
                  </a:txBody>
                  <a:tcPr marL="47625" marR="47625" marT="28575" marB="28575" anchor="ctr">
                    <a:solidFill>
                      <a:srgbClr val="D9D9D9"/>
                    </a:solidFill>
                  </a:tcPr>
                </a:tc>
                <a:tc>
                  <a:txBody>
                    <a:bodyPr/>
                    <a:lstStyle/>
                    <a:p>
                      <a:pPr algn="ctr"/>
                      <a:r>
                        <a:rPr sz="1725">
                          <a:solidFill>
                            <a:srgbClr val="000000"/>
                          </a:solidFill>
                          <a:latin typeface="Calibri"/>
                          <a:ea typeface="Calibri"/>
                          <a:cs typeface="Calibri"/>
                        </a:rPr>
                        <a:t>major</a:t>
                      </a:r>
                    </a:p>
                  </a:txBody>
                  <a:tcPr marL="47625" marR="47625" marT="28575" marB="28575" anchor="ctr">
                    <a:solidFill>
                      <a:srgbClr val="D9D9D9"/>
                    </a:solidFill>
                  </a:tcPr>
                </a:tc>
                <a:tc>
                  <a:txBody>
                    <a:bodyPr/>
                    <a:lstStyle/>
                    <a:p>
                      <a:pPr algn="ctr"/>
                      <a:r>
                        <a:rPr sz="1725">
                          <a:solidFill>
                            <a:srgbClr val="000000"/>
                          </a:solidFill>
                          <a:latin typeface="Calibri"/>
                          <a:ea typeface="Calibri"/>
                          <a:cs typeface="Calibri"/>
                        </a:rPr>
                        <a:t>year</a:t>
                      </a:r>
                    </a:p>
                  </a:txBody>
                  <a:tcPr marL="47625" marR="47625" marT="28575" marB="28575" anchor="ctr">
                    <a:solidFill>
                      <a:srgbClr val="D9D9D9"/>
                    </a:solidFill>
                  </a:tcPr>
                </a:tc>
                <a:tc>
                  <a:txBody>
                    <a:bodyPr/>
                    <a:lstStyle/>
                    <a:p>
                      <a:pPr algn="ctr"/>
                      <a:r>
                        <a:rPr sz="1725">
                          <a:solidFill>
                            <a:srgbClr val="000000"/>
                          </a:solidFill>
                          <a:latin typeface="Calibri"/>
                          <a:ea typeface="Calibri"/>
                          <a:cs typeface="Calibri"/>
                        </a:rPr>
                        <a:t>score</a:t>
                      </a:r>
                    </a:p>
                  </a:txBody>
                  <a:tcPr marL="47625" marR="47625" marT="28575" marB="28575" anchor="ctr">
                    <a:solidFill>
                      <a:srgbClr val="D9D9D9"/>
                    </a:solidFill>
                  </a:tcPr>
                </a:tc>
                <a:extLst>
                  <a:ext uri="{0D108BD9-81ED-4DB2-BD59-A6C34878D82A}">
                    <a16:rowId xmlns:a16="http://schemas.microsoft.com/office/drawing/2014/main" val="10000"/>
                  </a:ext>
                </a:extLst>
              </a:tr>
              <a:tr h="381000">
                <a:tc>
                  <a:txBody>
                    <a:bodyPr/>
                    <a:lstStyle/>
                    <a:p>
                      <a:pPr algn="ctr"/>
                      <a:r>
                        <a:rPr sz="1725">
                          <a:solidFill>
                            <a:srgbClr val="000000"/>
                          </a:solidFill>
                          <a:latin typeface="Calibri"/>
                          <a:ea typeface="Calibri"/>
                          <a:cs typeface="Calibri"/>
                        </a:rPr>
                        <a:t>101</a:t>
                      </a:r>
                    </a:p>
                  </a:txBody>
                  <a:tcPr marL="47625" marR="47625" marT="28575" marB="28575" anchor="ctr">
                    <a:solidFill>
                      <a:srgbClr val="FFFFFF"/>
                    </a:solidFill>
                  </a:tcPr>
                </a:tc>
                <a:tc>
                  <a:txBody>
                    <a:bodyPr/>
                    <a:lstStyle/>
                    <a:p>
                      <a:pPr algn="ctr"/>
                      <a:r>
                        <a:rPr sz="1725">
                          <a:solidFill>
                            <a:srgbClr val="000000"/>
                          </a:solidFill>
                          <a:latin typeface="Calibri"/>
                          <a:ea typeface="Calibri"/>
                          <a:cs typeface="Calibri"/>
                        </a:rPr>
                        <a:t>Ada</a:t>
                      </a:r>
                    </a:p>
                  </a:txBody>
                  <a:tcPr marL="47625" marR="47625" marT="28575" marB="28575" anchor="ctr">
                    <a:solidFill>
                      <a:srgbClr val="FFFFFF"/>
                    </a:solidFill>
                  </a:tcPr>
                </a:tc>
                <a:tc>
                  <a:txBody>
                    <a:bodyPr/>
                    <a:lstStyle/>
                    <a:p>
                      <a:pPr algn="ctr"/>
                      <a:r>
                        <a:rPr sz="1725">
                          <a:solidFill>
                            <a:srgbClr val="000000"/>
                          </a:solidFill>
                          <a:latin typeface="Calibri"/>
                          <a:ea typeface="Calibri"/>
                          <a:cs typeface="Calibri"/>
                        </a:rPr>
                        <a:t>CS</a:t>
                      </a:r>
                    </a:p>
                  </a:txBody>
                  <a:tcPr marL="47625" marR="47625" marT="28575" marB="28575" anchor="ctr">
                    <a:solidFill>
                      <a:srgbClr val="FFFFFF"/>
                    </a:solidFill>
                  </a:tcPr>
                </a:tc>
                <a:tc>
                  <a:txBody>
                    <a:bodyPr/>
                    <a:lstStyle/>
                    <a:p>
                      <a:pPr algn="ctr"/>
                      <a:r>
                        <a:rPr sz="1725">
                          <a:solidFill>
                            <a:srgbClr val="000000"/>
                          </a:solidFill>
                          <a:latin typeface="Calibri"/>
                          <a:ea typeface="Calibri"/>
                          <a:cs typeface="Calibri"/>
                        </a:rPr>
                        <a:t>3</a:t>
                      </a:r>
                    </a:p>
                  </a:txBody>
                  <a:tcPr marL="47625" marR="47625" marT="28575" marB="28575" anchor="ctr">
                    <a:solidFill>
                      <a:srgbClr val="FFFFFF"/>
                    </a:solidFill>
                  </a:tcPr>
                </a:tc>
                <a:tc>
                  <a:txBody>
                    <a:bodyPr/>
                    <a:lstStyle/>
                    <a:p>
                      <a:pPr algn="ctr"/>
                      <a:r>
                        <a:rPr sz="1725">
                          <a:solidFill>
                            <a:srgbClr val="000000"/>
                          </a:solidFill>
                          <a:latin typeface="Calibri"/>
                          <a:ea typeface="Calibri"/>
                          <a:cs typeface="Calibri"/>
                        </a:rPr>
                        <a:t>86</a:t>
                      </a:r>
                    </a:p>
                  </a:txBody>
                  <a:tcPr marL="47625" marR="47625" marT="28575" marB="28575" anchor="ctr">
                    <a:solidFill>
                      <a:srgbClr val="FFFFFF"/>
                    </a:solidFill>
                  </a:tcPr>
                </a:tc>
                <a:extLst>
                  <a:ext uri="{0D108BD9-81ED-4DB2-BD59-A6C34878D82A}">
                    <a16:rowId xmlns:a16="http://schemas.microsoft.com/office/drawing/2014/main" val="10001"/>
                  </a:ext>
                </a:extLst>
              </a:tr>
              <a:tr h="381000">
                <a:tc>
                  <a:txBody>
                    <a:bodyPr/>
                    <a:lstStyle/>
                    <a:p>
                      <a:pPr algn="ctr"/>
                      <a:r>
                        <a:rPr sz="1725">
                          <a:solidFill>
                            <a:srgbClr val="000000"/>
                          </a:solidFill>
                          <a:latin typeface="Calibri"/>
                          <a:ea typeface="Calibri"/>
                          <a:cs typeface="Calibri"/>
                        </a:rPr>
                        <a:t>105</a:t>
                      </a:r>
                    </a:p>
                  </a:txBody>
                  <a:tcPr marL="47625" marR="47625" marT="28575" marB="28575" anchor="ctr">
                    <a:solidFill>
                      <a:srgbClr val="FFFFFF"/>
                    </a:solidFill>
                  </a:tcPr>
                </a:tc>
                <a:tc>
                  <a:txBody>
                    <a:bodyPr/>
                    <a:lstStyle/>
                    <a:p>
                      <a:pPr algn="ctr"/>
                      <a:r>
                        <a:rPr sz="1725">
                          <a:solidFill>
                            <a:srgbClr val="000000"/>
                          </a:solidFill>
                          <a:latin typeface="Calibri"/>
                          <a:ea typeface="Calibri"/>
                          <a:cs typeface="Calibri"/>
                        </a:rPr>
                        <a:t>Eli</a:t>
                      </a:r>
                    </a:p>
                  </a:txBody>
                  <a:tcPr marL="47625" marR="47625" marT="28575" marB="28575" anchor="ctr">
                    <a:solidFill>
                      <a:srgbClr val="FFFFFF"/>
                    </a:solidFill>
                  </a:tcPr>
                </a:tc>
                <a:tc>
                  <a:txBody>
                    <a:bodyPr/>
                    <a:lstStyle/>
                    <a:p>
                      <a:pPr algn="ctr"/>
                      <a:r>
                        <a:rPr sz="1725">
                          <a:solidFill>
                            <a:srgbClr val="000000"/>
                          </a:solidFill>
                          <a:latin typeface="Calibri"/>
                          <a:ea typeface="Calibri"/>
                          <a:cs typeface="Calibri"/>
                        </a:rPr>
                        <a:t>CS</a:t>
                      </a:r>
                    </a:p>
                  </a:txBody>
                  <a:tcPr marL="47625" marR="47625" marT="28575" marB="28575" anchor="ctr">
                    <a:solidFill>
                      <a:srgbClr val="FFFFFF"/>
                    </a:solidFill>
                  </a:tcPr>
                </a:tc>
                <a:tc>
                  <a:txBody>
                    <a:bodyPr/>
                    <a:lstStyle/>
                    <a:p>
                      <a:pPr algn="ctr"/>
                      <a:r>
                        <a:rPr sz="1725">
                          <a:solidFill>
                            <a:srgbClr val="000000"/>
                          </a:solidFill>
                          <a:latin typeface="Calibri"/>
                          <a:ea typeface="Calibri"/>
                          <a:cs typeface="Calibri"/>
                        </a:rPr>
                        <a:t>3</a:t>
                      </a:r>
                    </a:p>
                  </a:txBody>
                  <a:tcPr marL="47625" marR="47625" marT="28575" marB="28575" anchor="ctr">
                    <a:solidFill>
                      <a:srgbClr val="FFFFFF"/>
                    </a:solidFill>
                  </a:tcPr>
                </a:tc>
                <a:tc>
                  <a:txBody>
                    <a:bodyPr/>
                    <a:lstStyle/>
                    <a:p>
                      <a:pPr algn="ctr"/>
                      <a:r>
                        <a:rPr sz="1725">
                          <a:solidFill>
                            <a:srgbClr val="000000"/>
                          </a:solidFill>
                          <a:latin typeface="Calibri"/>
                          <a:ea typeface="Calibri"/>
                          <a:cs typeface="Calibri"/>
                        </a:rPr>
                        <a:t>91</a:t>
                      </a:r>
                    </a:p>
                  </a:txBody>
                  <a:tcPr marL="47625" marR="47625" marT="28575" marB="28575" anchor="ctr">
                    <a:solidFill>
                      <a:srgbClr val="FFFFFF"/>
                    </a:solidFill>
                  </a:tcPr>
                </a:tc>
                <a:extLst>
                  <a:ext uri="{0D108BD9-81ED-4DB2-BD59-A6C34878D82A}">
                    <a16:rowId xmlns:a16="http://schemas.microsoft.com/office/drawing/2014/main" val="10002"/>
                  </a:ext>
                </a:extLst>
              </a:tr>
            </a:tbl>
          </a:graphicData>
        </a:graphic>
      </p:graphicFrame>
      <p:sp>
        <p:nvSpPr>
          <p:cNvPr id="6" name="body">
            <a:extLst>
              <a:ext uri="{FF2B5EF4-FFF2-40B4-BE49-F238E27FC236}">
                <a16:creationId xmlns:a16="http://schemas.microsoft.com/office/drawing/2014/main" id="{AD251D58-E44D-4FCB-AB6C-E10809A19B33}"/>
              </a:ext>
            </a:extLst>
          </p:cNvPr>
          <p:cNvSpPr>
            <a:spLocks noGrp="1"/>
          </p:cNvSpPr>
          <p:nvPr/>
        </p:nvSpPr>
        <p:spPr>
          <a:xfrm>
            <a:off x="781050" y="3876675"/>
            <a:ext cx="7600950" cy="952500"/>
          </a:xfrm>
          <a:prstGeom prst="rect">
            <a:avLst/>
          </a:prstGeom>
          <a:noFill/>
          <a:ln w="0">
            <a:noFill/>
          </a:ln>
        </p:spPr>
        <p:txBody>
          <a:bodyPr wrap="square" lIns="0" tIns="0" rIns="0" bIns="0">
            <a:noAutofit/>
          </a:bodyPr>
          <a:lstStyle/>
          <a:p>
            <a:pPr>
              <a:defRPr sz="2250" b="0">
                <a:solidFill>
                  <a:srgbClr val="000000"/>
                </a:solidFill>
                <a:latin typeface="Calibri"/>
                <a:ea typeface="Calibri"/>
                <a:cs typeface="Calibri"/>
              </a:defRPr>
            </a:pPr>
            <a:r>
              <a:rPr sz="2250" b="0">
                <a:solidFill>
                  <a:srgbClr val="000000"/>
                </a:solidFill>
                <a:latin typeface="Calibri"/>
                <a:ea typeface="Calibri"/>
                <a:cs typeface="Calibri"/>
              </a:rPr>
              <a:t>Ada and Eli satisfy both conditions.</a:t>
            </a:r>
          </a:p>
        </p:txBody>
      </p:sp>
      <p:sp>
        <p:nvSpPr>
          <p:cNvPr id="9001" name="Title 1">
            <a:extLst>
              <a:ext uri="{FF2B5EF4-FFF2-40B4-BE49-F238E27FC236}">
                <a16:creationId xmlns:a16="http://schemas.microsoft.com/office/drawing/2014/main" id="{4EF27E5C-9C4D-BDBE-7667-D0B141BCC8F5}"/>
              </a:ext>
            </a:extLst>
          </p:cNvPr>
          <p:cNvSpPr>
            <a:spLocks noGrp="1"/>
          </p:cNvSpPr>
          <p:nvPr>
            <p:ph type="title"/>
          </p:nvPr>
        </p:nvSpPr>
        <p:spPr/>
        <p:txBody>
          <a:bodyPr/>
          <a:lstStyle/>
          <a:p>
            <a:r>
              <a:rPr lang="en-US">
                <a:solidFill>
                  <a:srgbClr val="FF0000"/>
                </a:solidFill>
              </a:rPr>
              <a:t>Solutions: </a:t>
            </a:r>
            <a:r>
              <a:rPr lang="en-US">
                <a:solidFill>
                  <a:srgbClr val="3333CC"/>
                </a:solidFill>
              </a:rPr>
              <a:t>Q1</a:t>
            </a:r>
          </a:p>
        </p:txBody>
      </p:sp>
      <p:sp>
        <p:nvSpPr>
          <p:cNvPr id="9002" name="Slide Number Placeholder 1">
            <a:extLst>
              <a:ext uri="{FF2B5EF4-FFF2-40B4-BE49-F238E27FC236}">
                <a16:creationId xmlns:a16="http://schemas.microsoft.com/office/drawing/2014/main" id="{B90139AC-3BDA-723A-097A-000DA0A784C1}"/>
              </a:ext>
            </a:extLst>
          </p:cNvPr>
          <p:cNvSpPr>
            <a:spLocks noGrp="1"/>
          </p:cNvSpPr>
          <p:nvPr>
            <p:ph type="sldNum" sz="quarter" idx="12"/>
          </p:nvPr>
        </p:nvSpPr>
        <p:spPr/>
        <p:txBody>
          <a:bodyPr/>
          <a:lstStyle/>
          <a:p>
            <a:pPr>
              <a:defRPr/>
            </a:pPr>
            <a:fld id="{43CA101F-9E5F-9249-9862-3CE55B3BB777}" type="slidenum">
              <a:rPr lang="en-US" altLang="zh-TW" smtClean="0"/>
              <a:pPr>
                <a:defRPr/>
              </a:pPr>
              <a:t>6</a:t>
            </a:fld>
            <a:endParaRPr lang="en-US" altLang="zh-TW"/>
          </a:p>
        </p:txBody>
      </p:sp>
    </p:spTree>
    <p:extLst>
      <p:ext uri="{BB962C8B-B14F-4D97-AF65-F5344CB8AC3E}">
        <p14:creationId xmlns:p14="http://schemas.microsoft.com/office/powerpoint/2010/main" val="50930525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body">
            <a:extLst>
              <a:ext uri="{FF2B5EF4-FFF2-40B4-BE49-F238E27FC236}">
                <a16:creationId xmlns:a16="http://schemas.microsoft.com/office/drawing/2014/main" id="{9C990BBF-D494-4D77-A8EB-E432AD618583}"/>
              </a:ext>
            </a:extLst>
          </p:cNvPr>
          <p:cNvSpPr>
            <a:spLocks noGrp="1"/>
          </p:cNvSpPr>
          <p:nvPr/>
        </p:nvSpPr>
        <p:spPr>
          <a:xfrm>
            <a:off x="781050" y="5876925"/>
            <a:ext cx="7620000" cy="285750"/>
          </a:xfrm>
          <a:prstGeom prst="rect">
            <a:avLst/>
          </a:prstGeom>
          <a:noFill/>
          <a:ln w="0">
            <a:noFill/>
          </a:ln>
        </p:spPr>
        <p:txBody>
          <a:bodyPr wrap="square" lIns="0" tIns="0" rIns="0" bIns="0">
            <a:noAutofit/>
          </a:bodyPr>
          <a:lstStyle/>
          <a:p>
            <a:pPr>
              <a:defRPr sz="1725" b="0">
                <a:solidFill>
                  <a:srgbClr val="3333CC"/>
                </a:solidFill>
                <a:latin typeface="Calibri"/>
                <a:ea typeface="Calibri"/>
                <a:cs typeface="Calibri"/>
              </a:defRPr>
            </a:pPr>
            <a:r>
              <a:rPr sz="1725" b="0">
                <a:solidFill>
                  <a:srgbClr val="3333CC"/>
                </a:solidFill>
                <a:latin typeface="Calibri"/>
                <a:ea typeface="Calibri"/>
                <a:cs typeface="Calibri"/>
              </a:rPr>
              <a:t>Think: 30 s</a:t>
            </a:r>
          </a:p>
        </p:txBody>
      </p:sp>
      <p:sp>
        <p:nvSpPr>
          <p:cNvPr id="4" name="body">
            <a:extLst>
              <a:ext uri="{FF2B5EF4-FFF2-40B4-BE49-F238E27FC236}">
                <a16:creationId xmlns:a16="http://schemas.microsoft.com/office/drawing/2014/main" id="{086FF00C-84B4-4390-BD7A-CF880153F502}"/>
              </a:ext>
            </a:extLst>
          </p:cNvPr>
          <p:cNvSpPr>
            <a:spLocks noGrp="1"/>
          </p:cNvSpPr>
          <p:nvPr/>
        </p:nvSpPr>
        <p:spPr>
          <a:xfrm>
            <a:off x="952500" y="1114425"/>
            <a:ext cx="7048500" cy="361950"/>
          </a:xfrm>
          <a:prstGeom prst="rect">
            <a:avLst/>
          </a:prstGeom>
          <a:noFill/>
          <a:ln w="0">
            <a:noFill/>
          </a:ln>
        </p:spPr>
        <p:txBody>
          <a:bodyPr wrap="square" lIns="0" tIns="0" rIns="0" bIns="0">
            <a:noAutofit/>
          </a:bodyPr>
          <a:lstStyle/>
          <a:p>
            <a:pPr>
              <a:defRPr sz="2250" b="0">
                <a:solidFill>
                  <a:srgbClr val="000000"/>
                </a:solidFill>
                <a:latin typeface="Calibri"/>
                <a:ea typeface="Calibri"/>
                <a:cs typeface="Calibri"/>
              </a:defRPr>
            </a:pPr>
            <a:r>
              <a:rPr sz="2250" b="0">
                <a:solidFill>
                  <a:srgbClr val="000000"/>
                </a:solidFill>
                <a:latin typeface="Calibri"/>
                <a:ea typeface="Calibri"/>
                <a:cs typeface="Calibri"/>
              </a:rPr>
              <a:t>Applicant</a:t>
            </a:r>
          </a:p>
        </p:txBody>
      </p:sp>
      <p:graphicFrame>
        <p:nvGraphicFramePr>
          <p:cNvPr id="12" name="表格 11"/>
          <p:cNvGraphicFramePr/>
          <p:nvPr/>
        </p:nvGraphicFramePr>
        <p:xfrm>
          <a:off x="1028700" y="1533525"/>
          <a:ext cx="7048500" cy="1943100"/>
        </p:xfrm>
        <a:graphic>
          <a:graphicData uri="http://schemas.openxmlformats.org/drawingml/2006/table">
            <a:tbl>
              <a:tblPr/>
              <a:tblGrid>
                <a:gridCol w="1409700">
                  <a:extLst>
                    <a:ext uri="{9D8B030D-6E8A-4147-A177-3AD203B41FA5}">
                      <a16:colId xmlns:a16="http://schemas.microsoft.com/office/drawing/2014/main" val="20000"/>
                    </a:ext>
                  </a:extLst>
                </a:gridCol>
                <a:gridCol w="1409700">
                  <a:extLst>
                    <a:ext uri="{9D8B030D-6E8A-4147-A177-3AD203B41FA5}">
                      <a16:colId xmlns:a16="http://schemas.microsoft.com/office/drawing/2014/main" val="20001"/>
                    </a:ext>
                  </a:extLst>
                </a:gridCol>
                <a:gridCol w="1409700">
                  <a:extLst>
                    <a:ext uri="{9D8B030D-6E8A-4147-A177-3AD203B41FA5}">
                      <a16:colId xmlns:a16="http://schemas.microsoft.com/office/drawing/2014/main" val="20002"/>
                    </a:ext>
                  </a:extLst>
                </a:gridCol>
                <a:gridCol w="1409700">
                  <a:extLst>
                    <a:ext uri="{9D8B030D-6E8A-4147-A177-3AD203B41FA5}">
                      <a16:colId xmlns:a16="http://schemas.microsoft.com/office/drawing/2014/main" val="20003"/>
                    </a:ext>
                  </a:extLst>
                </a:gridCol>
                <a:gridCol w="1409700">
                  <a:extLst>
                    <a:ext uri="{9D8B030D-6E8A-4147-A177-3AD203B41FA5}">
                      <a16:colId xmlns:a16="http://schemas.microsoft.com/office/drawing/2014/main" val="20004"/>
                    </a:ext>
                  </a:extLst>
                </a:gridCol>
              </a:tblGrid>
              <a:tr h="323850">
                <a:tc>
                  <a:txBody>
                    <a:bodyPr/>
                    <a:lstStyle/>
                    <a:p>
                      <a:pPr algn="ctr"/>
                      <a:r>
                        <a:rPr sz="1725">
                          <a:solidFill>
                            <a:srgbClr val="000000"/>
                          </a:solidFill>
                          <a:latin typeface="Calibri"/>
                          <a:ea typeface="Calibri"/>
                          <a:cs typeface="Calibri"/>
                        </a:rPr>
                        <a:t>uid</a:t>
                      </a:r>
                    </a:p>
                  </a:txBody>
                  <a:tcPr marL="47625" marR="47625" marT="28575" marB="28575" anchor="ctr">
                    <a:solidFill>
                      <a:srgbClr val="D9D9D9"/>
                    </a:solidFill>
                  </a:tcPr>
                </a:tc>
                <a:tc>
                  <a:txBody>
                    <a:bodyPr/>
                    <a:lstStyle/>
                    <a:p>
                      <a:pPr algn="ctr"/>
                      <a:r>
                        <a:rPr sz="1725">
                          <a:solidFill>
                            <a:srgbClr val="000000"/>
                          </a:solidFill>
                          <a:latin typeface="Calibri"/>
                          <a:ea typeface="Calibri"/>
                          <a:cs typeface="Calibri"/>
                        </a:rPr>
                        <a:t>uname</a:t>
                      </a:r>
                    </a:p>
                  </a:txBody>
                  <a:tcPr marL="47625" marR="47625" marT="28575" marB="28575" anchor="ctr">
                    <a:solidFill>
                      <a:srgbClr val="D9D9D9"/>
                    </a:solidFill>
                  </a:tcPr>
                </a:tc>
                <a:tc>
                  <a:txBody>
                    <a:bodyPr/>
                    <a:lstStyle/>
                    <a:p>
                      <a:pPr algn="ctr"/>
                      <a:r>
                        <a:rPr sz="1725">
                          <a:solidFill>
                            <a:srgbClr val="000000"/>
                          </a:solidFill>
                          <a:latin typeface="Calibri"/>
                          <a:ea typeface="Calibri"/>
                          <a:cs typeface="Calibri"/>
                        </a:rPr>
                        <a:t>major</a:t>
                      </a:r>
                    </a:p>
                  </a:txBody>
                  <a:tcPr marL="47625" marR="47625" marT="28575" marB="28575" anchor="ctr">
                    <a:solidFill>
                      <a:srgbClr val="D9D9D9"/>
                    </a:solidFill>
                  </a:tcPr>
                </a:tc>
                <a:tc>
                  <a:txBody>
                    <a:bodyPr/>
                    <a:lstStyle/>
                    <a:p>
                      <a:pPr algn="ctr"/>
                      <a:r>
                        <a:rPr sz="1725">
                          <a:solidFill>
                            <a:srgbClr val="000000"/>
                          </a:solidFill>
                          <a:latin typeface="Calibri"/>
                          <a:ea typeface="Calibri"/>
                          <a:cs typeface="Calibri"/>
                        </a:rPr>
                        <a:t>year</a:t>
                      </a:r>
                    </a:p>
                  </a:txBody>
                  <a:tcPr marL="47625" marR="47625" marT="28575" marB="28575" anchor="ctr">
                    <a:solidFill>
                      <a:srgbClr val="D9D9D9"/>
                    </a:solidFill>
                  </a:tcPr>
                </a:tc>
                <a:tc>
                  <a:txBody>
                    <a:bodyPr/>
                    <a:lstStyle/>
                    <a:p>
                      <a:pPr algn="ctr"/>
                      <a:r>
                        <a:rPr sz="1725">
                          <a:solidFill>
                            <a:srgbClr val="000000"/>
                          </a:solidFill>
                          <a:latin typeface="Calibri"/>
                          <a:ea typeface="Calibri"/>
                          <a:cs typeface="Calibri"/>
                        </a:rPr>
                        <a:t>score</a:t>
                      </a:r>
                    </a:p>
                  </a:txBody>
                  <a:tcPr marL="47625" marR="47625" marT="28575" marB="28575" anchor="ctr">
                    <a:solidFill>
                      <a:srgbClr val="D9D9D9"/>
                    </a:solidFill>
                  </a:tcPr>
                </a:tc>
                <a:extLst>
                  <a:ext uri="{0D108BD9-81ED-4DB2-BD59-A6C34878D82A}">
                    <a16:rowId xmlns:a16="http://schemas.microsoft.com/office/drawing/2014/main" val="10000"/>
                  </a:ext>
                </a:extLst>
              </a:tr>
              <a:tr h="323850">
                <a:tc>
                  <a:txBody>
                    <a:bodyPr/>
                    <a:lstStyle/>
                    <a:p>
                      <a:pPr algn="ctr"/>
                      <a:r>
                        <a:rPr sz="1725">
                          <a:solidFill>
                            <a:srgbClr val="000000"/>
                          </a:solidFill>
                          <a:latin typeface="Calibri"/>
                          <a:ea typeface="Calibri"/>
                          <a:cs typeface="Calibri"/>
                        </a:rPr>
                        <a:t>101</a:t>
                      </a:r>
                    </a:p>
                  </a:txBody>
                  <a:tcPr marL="47625" marR="47625" marT="28575" marB="28575" anchor="ctr">
                    <a:solidFill>
                      <a:srgbClr val="FFFFFF"/>
                    </a:solidFill>
                  </a:tcPr>
                </a:tc>
                <a:tc>
                  <a:txBody>
                    <a:bodyPr/>
                    <a:lstStyle/>
                    <a:p>
                      <a:pPr algn="ctr"/>
                      <a:r>
                        <a:rPr sz="1725">
                          <a:solidFill>
                            <a:srgbClr val="000000"/>
                          </a:solidFill>
                          <a:latin typeface="Calibri"/>
                          <a:ea typeface="Calibri"/>
                          <a:cs typeface="Calibri"/>
                        </a:rPr>
                        <a:t>Ada</a:t>
                      </a:r>
                    </a:p>
                  </a:txBody>
                  <a:tcPr marL="47625" marR="47625" marT="28575" marB="28575" anchor="ctr">
                    <a:solidFill>
                      <a:srgbClr val="FFFFFF"/>
                    </a:solidFill>
                  </a:tcPr>
                </a:tc>
                <a:tc>
                  <a:txBody>
                    <a:bodyPr/>
                    <a:lstStyle/>
                    <a:p>
                      <a:pPr algn="ctr"/>
                      <a:r>
                        <a:rPr sz="1725">
                          <a:solidFill>
                            <a:srgbClr val="000000"/>
                          </a:solidFill>
                          <a:latin typeface="Calibri"/>
                          <a:ea typeface="Calibri"/>
                          <a:cs typeface="Calibri"/>
                        </a:rPr>
                        <a:t>CS</a:t>
                      </a:r>
                    </a:p>
                  </a:txBody>
                  <a:tcPr marL="47625" marR="47625" marT="28575" marB="28575" anchor="ctr">
                    <a:solidFill>
                      <a:srgbClr val="FFFFFF"/>
                    </a:solidFill>
                  </a:tcPr>
                </a:tc>
                <a:tc>
                  <a:txBody>
                    <a:bodyPr/>
                    <a:lstStyle/>
                    <a:p>
                      <a:pPr algn="ctr"/>
                      <a:r>
                        <a:rPr sz="1725">
                          <a:solidFill>
                            <a:srgbClr val="000000"/>
                          </a:solidFill>
                          <a:latin typeface="Calibri"/>
                          <a:ea typeface="Calibri"/>
                          <a:cs typeface="Calibri"/>
                        </a:rPr>
                        <a:t>3</a:t>
                      </a:r>
                    </a:p>
                  </a:txBody>
                  <a:tcPr marL="47625" marR="47625" marT="28575" marB="28575" anchor="ctr">
                    <a:solidFill>
                      <a:srgbClr val="FFFFFF"/>
                    </a:solidFill>
                  </a:tcPr>
                </a:tc>
                <a:tc>
                  <a:txBody>
                    <a:bodyPr/>
                    <a:lstStyle/>
                    <a:p>
                      <a:pPr algn="ctr"/>
                      <a:r>
                        <a:rPr sz="1725">
                          <a:solidFill>
                            <a:srgbClr val="000000"/>
                          </a:solidFill>
                          <a:latin typeface="Calibri"/>
                          <a:ea typeface="Calibri"/>
                          <a:cs typeface="Calibri"/>
                        </a:rPr>
                        <a:t>86</a:t>
                      </a:r>
                    </a:p>
                  </a:txBody>
                  <a:tcPr marL="47625" marR="47625" marT="28575" marB="28575" anchor="ctr">
                    <a:solidFill>
                      <a:srgbClr val="FFFFFF"/>
                    </a:solidFill>
                  </a:tcPr>
                </a:tc>
                <a:extLst>
                  <a:ext uri="{0D108BD9-81ED-4DB2-BD59-A6C34878D82A}">
                    <a16:rowId xmlns:a16="http://schemas.microsoft.com/office/drawing/2014/main" val="10001"/>
                  </a:ext>
                </a:extLst>
              </a:tr>
              <a:tr h="323850">
                <a:tc>
                  <a:txBody>
                    <a:bodyPr/>
                    <a:lstStyle/>
                    <a:p>
                      <a:pPr algn="ctr"/>
                      <a:r>
                        <a:rPr sz="1725">
                          <a:solidFill>
                            <a:srgbClr val="000000"/>
                          </a:solidFill>
                          <a:latin typeface="Calibri"/>
                          <a:ea typeface="Calibri"/>
                          <a:cs typeface="Calibri"/>
                        </a:rPr>
                        <a:t>102</a:t>
                      </a:r>
                    </a:p>
                  </a:txBody>
                  <a:tcPr marL="47625" marR="47625" marT="28575" marB="28575" anchor="ctr">
                    <a:solidFill>
                      <a:srgbClr val="FFFFFF"/>
                    </a:solidFill>
                  </a:tcPr>
                </a:tc>
                <a:tc>
                  <a:txBody>
                    <a:bodyPr/>
                    <a:lstStyle/>
                    <a:p>
                      <a:pPr algn="ctr"/>
                      <a:r>
                        <a:rPr sz="1725">
                          <a:solidFill>
                            <a:srgbClr val="000000"/>
                          </a:solidFill>
                          <a:latin typeface="Calibri"/>
                          <a:ea typeface="Calibri"/>
                          <a:cs typeface="Calibri"/>
                        </a:rPr>
                        <a:t>Ben</a:t>
                      </a:r>
                    </a:p>
                  </a:txBody>
                  <a:tcPr marL="47625" marR="47625" marT="28575" marB="28575" anchor="ctr">
                    <a:solidFill>
                      <a:srgbClr val="FFFFFF"/>
                    </a:solidFill>
                  </a:tcPr>
                </a:tc>
                <a:tc>
                  <a:txBody>
                    <a:bodyPr/>
                    <a:lstStyle/>
                    <a:p>
                      <a:pPr algn="ctr"/>
                      <a:r>
                        <a:rPr sz="1725">
                          <a:solidFill>
                            <a:srgbClr val="000000"/>
                          </a:solidFill>
                          <a:latin typeface="Calibri"/>
                          <a:ea typeface="Calibri"/>
                          <a:cs typeface="Calibri"/>
                        </a:rPr>
                        <a:t>EE</a:t>
                      </a:r>
                    </a:p>
                  </a:txBody>
                  <a:tcPr marL="47625" marR="47625" marT="28575" marB="28575" anchor="ctr">
                    <a:solidFill>
                      <a:srgbClr val="FFFFFF"/>
                    </a:solidFill>
                  </a:tcPr>
                </a:tc>
                <a:tc>
                  <a:txBody>
                    <a:bodyPr/>
                    <a:lstStyle/>
                    <a:p>
                      <a:pPr algn="ctr"/>
                      <a:r>
                        <a:rPr sz="1725">
                          <a:solidFill>
                            <a:srgbClr val="000000"/>
                          </a:solidFill>
                          <a:latin typeface="Calibri"/>
                          <a:ea typeface="Calibri"/>
                          <a:cs typeface="Calibri"/>
                        </a:rPr>
                        <a:t>3</a:t>
                      </a:r>
                    </a:p>
                  </a:txBody>
                  <a:tcPr marL="47625" marR="47625" marT="28575" marB="28575" anchor="ctr">
                    <a:solidFill>
                      <a:srgbClr val="FFFFFF"/>
                    </a:solidFill>
                  </a:tcPr>
                </a:tc>
                <a:tc>
                  <a:txBody>
                    <a:bodyPr/>
                    <a:lstStyle/>
                    <a:p>
                      <a:pPr algn="ctr"/>
                      <a:r>
                        <a:rPr sz="1725">
                          <a:solidFill>
                            <a:srgbClr val="000000"/>
                          </a:solidFill>
                          <a:latin typeface="Calibri"/>
                          <a:ea typeface="Calibri"/>
                          <a:cs typeface="Calibri"/>
                        </a:rPr>
                        <a:t>80</a:t>
                      </a:r>
                    </a:p>
                  </a:txBody>
                  <a:tcPr marL="47625" marR="47625" marT="28575" marB="28575" anchor="ctr">
                    <a:solidFill>
                      <a:srgbClr val="FFFFFF"/>
                    </a:solidFill>
                  </a:tcPr>
                </a:tc>
                <a:extLst>
                  <a:ext uri="{0D108BD9-81ED-4DB2-BD59-A6C34878D82A}">
                    <a16:rowId xmlns:a16="http://schemas.microsoft.com/office/drawing/2014/main" val="10002"/>
                  </a:ext>
                </a:extLst>
              </a:tr>
              <a:tr h="323850">
                <a:tc>
                  <a:txBody>
                    <a:bodyPr/>
                    <a:lstStyle/>
                    <a:p>
                      <a:pPr algn="ctr"/>
                      <a:r>
                        <a:rPr sz="1725">
                          <a:solidFill>
                            <a:srgbClr val="000000"/>
                          </a:solidFill>
                          <a:latin typeface="Calibri"/>
                          <a:ea typeface="Calibri"/>
                          <a:cs typeface="Calibri"/>
                        </a:rPr>
                        <a:t>103</a:t>
                      </a:r>
                    </a:p>
                  </a:txBody>
                  <a:tcPr marL="47625" marR="47625" marT="28575" marB="28575" anchor="ctr">
                    <a:solidFill>
                      <a:srgbClr val="FFFFFF"/>
                    </a:solidFill>
                  </a:tcPr>
                </a:tc>
                <a:tc>
                  <a:txBody>
                    <a:bodyPr/>
                    <a:lstStyle/>
                    <a:p>
                      <a:pPr algn="ctr"/>
                      <a:r>
                        <a:rPr sz="1725">
                          <a:solidFill>
                            <a:srgbClr val="000000"/>
                          </a:solidFill>
                          <a:latin typeface="Calibri"/>
                          <a:ea typeface="Calibri"/>
                          <a:cs typeface="Calibri"/>
                        </a:rPr>
                        <a:t>Cara</a:t>
                      </a:r>
                    </a:p>
                  </a:txBody>
                  <a:tcPr marL="47625" marR="47625" marT="28575" marB="28575" anchor="ctr">
                    <a:solidFill>
                      <a:srgbClr val="FFFFFF"/>
                    </a:solidFill>
                  </a:tcPr>
                </a:tc>
                <a:tc>
                  <a:txBody>
                    <a:bodyPr/>
                    <a:lstStyle/>
                    <a:p>
                      <a:pPr algn="ctr"/>
                      <a:r>
                        <a:rPr sz="1725">
                          <a:solidFill>
                            <a:srgbClr val="000000"/>
                          </a:solidFill>
                          <a:latin typeface="Calibri"/>
                          <a:ea typeface="Calibri"/>
                          <a:cs typeface="Calibri"/>
                        </a:rPr>
                        <a:t>CS</a:t>
                      </a:r>
                    </a:p>
                  </a:txBody>
                  <a:tcPr marL="47625" marR="47625" marT="28575" marB="28575" anchor="ctr">
                    <a:solidFill>
                      <a:srgbClr val="FFFFFF"/>
                    </a:solidFill>
                  </a:tcPr>
                </a:tc>
                <a:tc>
                  <a:txBody>
                    <a:bodyPr/>
                    <a:lstStyle/>
                    <a:p>
                      <a:pPr algn="ctr"/>
                      <a:r>
                        <a:rPr sz="1725">
                          <a:solidFill>
                            <a:srgbClr val="000000"/>
                          </a:solidFill>
                          <a:latin typeface="Calibri"/>
                          <a:ea typeface="Calibri"/>
                          <a:cs typeface="Calibri"/>
                        </a:rPr>
                        <a:t>3</a:t>
                      </a:r>
                    </a:p>
                  </a:txBody>
                  <a:tcPr marL="47625" marR="47625" marT="28575" marB="28575" anchor="ctr">
                    <a:solidFill>
                      <a:srgbClr val="FFFFFF"/>
                    </a:solidFill>
                  </a:tcPr>
                </a:tc>
                <a:tc>
                  <a:txBody>
                    <a:bodyPr/>
                    <a:lstStyle/>
                    <a:p>
                      <a:pPr algn="ctr"/>
                      <a:r>
                        <a:rPr sz="1725">
                          <a:solidFill>
                            <a:srgbClr val="000000"/>
                          </a:solidFill>
                          <a:latin typeface="Calibri"/>
                          <a:ea typeface="Calibri"/>
                          <a:cs typeface="Calibri"/>
                        </a:rPr>
                        <a:t>80</a:t>
                      </a:r>
                    </a:p>
                  </a:txBody>
                  <a:tcPr marL="47625" marR="47625" marT="28575" marB="28575" anchor="ctr">
                    <a:solidFill>
                      <a:srgbClr val="FFFFFF"/>
                    </a:solidFill>
                  </a:tcPr>
                </a:tc>
                <a:extLst>
                  <a:ext uri="{0D108BD9-81ED-4DB2-BD59-A6C34878D82A}">
                    <a16:rowId xmlns:a16="http://schemas.microsoft.com/office/drawing/2014/main" val="10003"/>
                  </a:ext>
                </a:extLst>
              </a:tr>
              <a:tr h="323850">
                <a:tc>
                  <a:txBody>
                    <a:bodyPr/>
                    <a:lstStyle/>
                    <a:p>
                      <a:pPr algn="ctr"/>
                      <a:r>
                        <a:rPr sz="1725">
                          <a:solidFill>
                            <a:srgbClr val="000000"/>
                          </a:solidFill>
                          <a:latin typeface="Calibri"/>
                          <a:ea typeface="Calibri"/>
                          <a:cs typeface="Calibri"/>
                        </a:rPr>
                        <a:t>104</a:t>
                      </a:r>
                    </a:p>
                  </a:txBody>
                  <a:tcPr marL="47625" marR="47625" marT="28575" marB="28575" anchor="ctr">
                    <a:solidFill>
                      <a:srgbClr val="FFFFFF"/>
                    </a:solidFill>
                  </a:tcPr>
                </a:tc>
                <a:tc>
                  <a:txBody>
                    <a:bodyPr/>
                    <a:lstStyle/>
                    <a:p>
                      <a:pPr algn="ctr"/>
                      <a:r>
                        <a:rPr sz="1725">
                          <a:solidFill>
                            <a:srgbClr val="000000"/>
                          </a:solidFill>
                          <a:latin typeface="Calibri"/>
                          <a:ea typeface="Calibri"/>
                          <a:cs typeface="Calibri"/>
                        </a:rPr>
                        <a:t>Dev</a:t>
                      </a:r>
                    </a:p>
                  </a:txBody>
                  <a:tcPr marL="47625" marR="47625" marT="28575" marB="28575" anchor="ctr">
                    <a:solidFill>
                      <a:srgbClr val="FFFFFF"/>
                    </a:solidFill>
                  </a:tcPr>
                </a:tc>
                <a:tc>
                  <a:txBody>
                    <a:bodyPr/>
                    <a:lstStyle/>
                    <a:p>
                      <a:pPr algn="ctr"/>
                      <a:r>
                        <a:rPr sz="1725">
                          <a:solidFill>
                            <a:srgbClr val="000000"/>
                          </a:solidFill>
                          <a:latin typeface="Calibri"/>
                          <a:ea typeface="Calibri"/>
                          <a:cs typeface="Calibri"/>
                        </a:rPr>
                        <a:t>DS</a:t>
                      </a:r>
                    </a:p>
                  </a:txBody>
                  <a:tcPr marL="47625" marR="47625" marT="28575" marB="28575" anchor="ctr">
                    <a:solidFill>
                      <a:srgbClr val="FFFFFF"/>
                    </a:solidFill>
                  </a:tcPr>
                </a:tc>
                <a:tc>
                  <a:txBody>
                    <a:bodyPr/>
                    <a:lstStyle/>
                    <a:p>
                      <a:pPr algn="ctr"/>
                      <a:r>
                        <a:rPr sz="1725">
                          <a:solidFill>
                            <a:srgbClr val="000000"/>
                          </a:solidFill>
                          <a:latin typeface="Calibri"/>
                          <a:ea typeface="Calibri"/>
                          <a:cs typeface="Calibri"/>
                        </a:rPr>
                        <a:t>2</a:t>
                      </a:r>
                    </a:p>
                  </a:txBody>
                  <a:tcPr marL="47625" marR="47625" marT="28575" marB="28575" anchor="ctr">
                    <a:solidFill>
                      <a:srgbClr val="FFFFFF"/>
                    </a:solidFill>
                  </a:tcPr>
                </a:tc>
                <a:tc>
                  <a:txBody>
                    <a:bodyPr/>
                    <a:lstStyle/>
                    <a:p>
                      <a:pPr algn="ctr"/>
                      <a:r>
                        <a:rPr sz="1725">
                          <a:solidFill>
                            <a:srgbClr val="000000"/>
                          </a:solidFill>
                          <a:latin typeface="Calibri"/>
                          <a:ea typeface="Calibri"/>
                          <a:cs typeface="Calibri"/>
                        </a:rPr>
                        <a:t>74</a:t>
                      </a:r>
                    </a:p>
                  </a:txBody>
                  <a:tcPr marL="47625" marR="47625" marT="28575" marB="28575" anchor="ctr">
                    <a:solidFill>
                      <a:srgbClr val="FFFFFF"/>
                    </a:solidFill>
                  </a:tcPr>
                </a:tc>
                <a:extLst>
                  <a:ext uri="{0D108BD9-81ED-4DB2-BD59-A6C34878D82A}">
                    <a16:rowId xmlns:a16="http://schemas.microsoft.com/office/drawing/2014/main" val="10004"/>
                  </a:ext>
                </a:extLst>
              </a:tr>
              <a:tr h="323850">
                <a:tc>
                  <a:txBody>
                    <a:bodyPr/>
                    <a:lstStyle/>
                    <a:p>
                      <a:pPr algn="ctr"/>
                      <a:r>
                        <a:rPr sz="1725">
                          <a:solidFill>
                            <a:srgbClr val="000000"/>
                          </a:solidFill>
                          <a:latin typeface="Calibri"/>
                          <a:ea typeface="Calibri"/>
                          <a:cs typeface="Calibri"/>
                        </a:rPr>
                        <a:t>105</a:t>
                      </a:r>
                    </a:p>
                  </a:txBody>
                  <a:tcPr marL="47625" marR="47625" marT="28575" marB="28575" anchor="ctr">
                    <a:solidFill>
                      <a:srgbClr val="FFFFFF"/>
                    </a:solidFill>
                  </a:tcPr>
                </a:tc>
                <a:tc>
                  <a:txBody>
                    <a:bodyPr/>
                    <a:lstStyle/>
                    <a:p>
                      <a:pPr algn="ctr"/>
                      <a:r>
                        <a:rPr sz="1725">
                          <a:solidFill>
                            <a:srgbClr val="000000"/>
                          </a:solidFill>
                          <a:latin typeface="Calibri"/>
                          <a:ea typeface="Calibri"/>
                          <a:cs typeface="Calibri"/>
                        </a:rPr>
                        <a:t>Eli</a:t>
                      </a:r>
                    </a:p>
                  </a:txBody>
                  <a:tcPr marL="47625" marR="47625" marT="28575" marB="28575" anchor="ctr">
                    <a:solidFill>
                      <a:srgbClr val="FFFFFF"/>
                    </a:solidFill>
                  </a:tcPr>
                </a:tc>
                <a:tc>
                  <a:txBody>
                    <a:bodyPr/>
                    <a:lstStyle/>
                    <a:p>
                      <a:pPr algn="ctr"/>
                      <a:r>
                        <a:rPr sz="1725">
                          <a:solidFill>
                            <a:srgbClr val="000000"/>
                          </a:solidFill>
                          <a:latin typeface="Calibri"/>
                          <a:ea typeface="Calibri"/>
                          <a:cs typeface="Calibri"/>
                        </a:rPr>
                        <a:t>CS</a:t>
                      </a:r>
                    </a:p>
                  </a:txBody>
                  <a:tcPr marL="47625" marR="47625" marT="28575" marB="28575" anchor="ctr">
                    <a:solidFill>
                      <a:srgbClr val="FFFFFF"/>
                    </a:solidFill>
                  </a:tcPr>
                </a:tc>
                <a:tc>
                  <a:txBody>
                    <a:bodyPr/>
                    <a:lstStyle/>
                    <a:p>
                      <a:pPr algn="ctr"/>
                      <a:r>
                        <a:rPr sz="1725">
                          <a:solidFill>
                            <a:srgbClr val="000000"/>
                          </a:solidFill>
                          <a:latin typeface="Calibri"/>
                          <a:ea typeface="Calibri"/>
                          <a:cs typeface="Calibri"/>
                        </a:rPr>
                        <a:t>3</a:t>
                      </a:r>
                    </a:p>
                  </a:txBody>
                  <a:tcPr marL="47625" marR="47625" marT="28575" marB="28575" anchor="ctr">
                    <a:solidFill>
                      <a:srgbClr val="FFFFFF"/>
                    </a:solidFill>
                  </a:tcPr>
                </a:tc>
                <a:tc>
                  <a:txBody>
                    <a:bodyPr/>
                    <a:lstStyle/>
                    <a:p>
                      <a:pPr algn="ctr"/>
                      <a:r>
                        <a:rPr sz="1725">
                          <a:solidFill>
                            <a:srgbClr val="000000"/>
                          </a:solidFill>
                          <a:latin typeface="Calibri"/>
                          <a:ea typeface="Calibri"/>
                          <a:cs typeface="Calibri"/>
                        </a:rPr>
                        <a:t>91</a:t>
                      </a:r>
                    </a:p>
                  </a:txBody>
                  <a:tcPr marL="47625" marR="47625" marT="28575" marB="28575" anchor="ctr">
                    <a:solidFill>
                      <a:srgbClr val="FFFFFF"/>
                    </a:solidFill>
                  </a:tcPr>
                </a:tc>
                <a:extLst>
                  <a:ext uri="{0D108BD9-81ED-4DB2-BD59-A6C34878D82A}">
                    <a16:rowId xmlns:a16="http://schemas.microsoft.com/office/drawing/2014/main" val="10005"/>
                  </a:ext>
                </a:extLst>
              </a:tr>
            </a:tbl>
          </a:graphicData>
        </a:graphic>
      </p:graphicFrame>
      <p:sp>
        <p:nvSpPr>
          <p:cNvPr id="6" name="body">
            <a:extLst>
              <a:ext uri="{FF2B5EF4-FFF2-40B4-BE49-F238E27FC236}">
                <a16:creationId xmlns:a16="http://schemas.microsoft.com/office/drawing/2014/main" id="{9CCC8C27-4C6D-4A00-B12E-E28149CD6B67}"/>
              </a:ext>
            </a:extLst>
          </p:cNvPr>
          <p:cNvSpPr>
            <a:spLocks noGrp="1"/>
          </p:cNvSpPr>
          <p:nvPr/>
        </p:nvSpPr>
        <p:spPr>
          <a:xfrm>
            <a:off x="781050" y="3895725"/>
            <a:ext cx="7600950" cy="952500"/>
          </a:xfrm>
          <a:prstGeom prst="rect">
            <a:avLst/>
          </a:prstGeom>
          <a:noFill/>
          <a:ln w="0">
            <a:noFill/>
          </a:ln>
        </p:spPr>
        <p:txBody>
          <a:bodyPr wrap="square" lIns="0" tIns="0" rIns="0" bIns="0">
            <a:noAutofit/>
          </a:bodyPr>
          <a:lstStyle/>
          <a:p>
            <a:pPr>
              <a:defRPr sz="2250" b="0">
                <a:solidFill>
                  <a:srgbClr val="FF0000"/>
                </a:solidFill>
                <a:latin typeface="Calibri"/>
                <a:ea typeface="Calibri"/>
                <a:cs typeface="Calibri"/>
              </a:defRPr>
            </a:pPr>
            <a:r>
              <a:rPr sz="2250" b="0">
                <a:solidFill>
                  <a:srgbClr val="FF0000"/>
                </a:solidFill>
                <a:latin typeface="Calibri"/>
                <a:ea typeface="Calibri"/>
                <a:cs typeface="Calibri"/>
              </a:rPr>
              <a:t>Find applicants who are in CS or have score ≥ 80.</a:t>
            </a:r>
          </a:p>
        </p:txBody>
      </p:sp>
      <p:sp>
        <p:nvSpPr>
          <p:cNvPr id="9001" name="Title 1">
            <a:extLst>
              <a:ext uri="{FF2B5EF4-FFF2-40B4-BE49-F238E27FC236}">
                <a16:creationId xmlns:a16="http://schemas.microsoft.com/office/drawing/2014/main" id="{4EF27E5C-9C4D-BDBE-7667-D0B141BCC8F5}"/>
              </a:ext>
            </a:extLst>
          </p:cNvPr>
          <p:cNvSpPr>
            <a:spLocks noGrp="1"/>
          </p:cNvSpPr>
          <p:nvPr>
            <p:ph type="title"/>
          </p:nvPr>
        </p:nvSpPr>
        <p:spPr/>
        <p:txBody>
          <a:bodyPr/>
          <a:lstStyle/>
          <a:p>
            <a:r>
              <a:rPr lang="en-US">
                <a:solidFill>
                  <a:srgbClr val="FF0000"/>
                </a:solidFill>
              </a:rPr>
              <a:t>Practice: </a:t>
            </a:r>
            <a:r>
              <a:rPr lang="en-US">
                <a:solidFill>
                  <a:srgbClr val="3333CC"/>
                </a:solidFill>
              </a:rPr>
              <a:t>Q2</a:t>
            </a:r>
          </a:p>
        </p:txBody>
      </p:sp>
      <p:sp>
        <p:nvSpPr>
          <p:cNvPr id="9002" name="Slide Number Placeholder 1">
            <a:extLst>
              <a:ext uri="{FF2B5EF4-FFF2-40B4-BE49-F238E27FC236}">
                <a16:creationId xmlns:a16="http://schemas.microsoft.com/office/drawing/2014/main" id="{B90139AC-3BDA-723A-097A-000DA0A784C1}"/>
              </a:ext>
            </a:extLst>
          </p:cNvPr>
          <p:cNvSpPr>
            <a:spLocks noGrp="1"/>
          </p:cNvSpPr>
          <p:nvPr>
            <p:ph type="sldNum" sz="quarter" idx="12"/>
          </p:nvPr>
        </p:nvSpPr>
        <p:spPr/>
        <p:txBody>
          <a:bodyPr/>
          <a:lstStyle/>
          <a:p>
            <a:pPr>
              <a:defRPr/>
            </a:pPr>
            <a:fld id="{43CA101F-9E5F-9249-9862-3CE55B3BB777}" type="slidenum">
              <a:rPr lang="en-US" altLang="zh-TW" smtClean="0"/>
              <a:pPr>
                <a:defRPr/>
              </a:pPr>
              <a:t>7</a:t>
            </a:fld>
            <a:endParaRPr lang="en-US" altLang="zh-TW"/>
          </a:p>
        </p:txBody>
      </p:sp>
    </p:spTree>
    <p:extLst>
      <p:ext uri="{BB962C8B-B14F-4D97-AF65-F5344CB8AC3E}">
        <p14:creationId xmlns:p14="http://schemas.microsoft.com/office/powerpoint/2010/main" val="97408381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formula">
            <a:extLst>
              <a:ext uri="{FF2B5EF4-FFF2-40B4-BE49-F238E27FC236}">
                <a16:creationId xmlns:a16="http://schemas.microsoft.com/office/drawing/2014/main" id="{83F681BB-214C-4FE8-8428-373BFC5D2EB8}"/>
              </a:ext>
            </a:extLst>
          </p:cNvPr>
          <p:cNvSpPr>
            <a:spLocks noGrp="1"/>
          </p:cNvSpPr>
          <p:nvPr/>
        </p:nvSpPr>
        <p:spPr>
          <a:xfrm>
            <a:off x="781050" y="1095375"/>
            <a:ext cx="7600950" cy="523875"/>
          </a:xfrm>
          <a:prstGeom prst="rect">
            <a:avLst/>
          </a:prstGeom>
          <a:noFill/>
          <a:ln w="0">
            <a:noFill/>
          </a:ln>
        </p:spPr>
        <p:txBody>
          <a:bodyPr wrap="square" lIns="0" tIns="0" rIns="0" bIns="0">
            <a:noAutofit/>
          </a:bodyPr>
          <a:lstStyle/>
          <a:p>
            <a:pPr>
              <a:defRPr sz="2175" b="0">
                <a:solidFill>
                  <a:srgbClr val="000000"/>
                </a:solidFill>
                <a:latin typeface="Cambria Math"/>
                <a:ea typeface="Cambria Math"/>
                <a:cs typeface="Cambria Math"/>
              </a:defRPr>
            </a:pPr>
            <a:r>
              <a:rPr sz="2175" b="0">
                <a:solidFill>
                  <a:srgbClr val="000000"/>
                </a:solidFill>
                <a:latin typeface="Cambria Math"/>
                <a:ea typeface="Cambria Math"/>
                <a:cs typeface="Cambria Math"/>
              </a:rPr>
              <a:t>σ</a:t>
            </a:r>
            <a:r>
              <a:rPr sz="1544" b="0" baseline="-25000">
                <a:solidFill>
                  <a:srgbClr val="000000"/>
                </a:solidFill>
                <a:latin typeface="Cambria Math"/>
                <a:ea typeface="Cambria Math"/>
                <a:cs typeface="Cambria Math"/>
              </a:rPr>
              <a:t>major='CS' ∨ score≥80</a:t>
            </a:r>
            <a:r>
              <a:rPr sz="2175" b="0">
                <a:solidFill>
                  <a:srgbClr val="000000"/>
                </a:solidFill>
                <a:latin typeface="Cambria Math"/>
                <a:ea typeface="Cambria Math"/>
                <a:cs typeface="Cambria Math"/>
              </a:rPr>
              <a:t>(Applicant)</a:t>
            </a:r>
          </a:p>
        </p:txBody>
      </p:sp>
      <p:sp>
        <p:nvSpPr>
          <p:cNvPr id="4" name="body">
            <a:extLst>
              <a:ext uri="{FF2B5EF4-FFF2-40B4-BE49-F238E27FC236}">
                <a16:creationId xmlns:a16="http://schemas.microsoft.com/office/drawing/2014/main" id="{388DD39F-E7E5-45F5-83E9-82B28C87DA4A}"/>
              </a:ext>
            </a:extLst>
          </p:cNvPr>
          <p:cNvSpPr>
            <a:spLocks noGrp="1"/>
          </p:cNvSpPr>
          <p:nvPr/>
        </p:nvSpPr>
        <p:spPr>
          <a:xfrm>
            <a:off x="952500" y="1819275"/>
            <a:ext cx="7048500" cy="361950"/>
          </a:xfrm>
          <a:prstGeom prst="rect">
            <a:avLst/>
          </a:prstGeom>
          <a:noFill/>
          <a:ln w="0">
            <a:noFill/>
          </a:ln>
        </p:spPr>
        <p:txBody>
          <a:bodyPr wrap="square" lIns="0" tIns="0" rIns="0" bIns="0">
            <a:noAutofit/>
          </a:bodyPr>
          <a:lstStyle/>
          <a:p>
            <a:pPr>
              <a:defRPr sz="2250" b="0">
                <a:solidFill>
                  <a:srgbClr val="000000"/>
                </a:solidFill>
                <a:latin typeface="Calibri"/>
                <a:ea typeface="Calibri"/>
                <a:cs typeface="Calibri"/>
              </a:defRPr>
            </a:pPr>
            <a:r>
              <a:rPr sz="2250" b="0">
                <a:solidFill>
                  <a:srgbClr val="000000"/>
                </a:solidFill>
                <a:latin typeface="Calibri"/>
                <a:ea typeface="Calibri"/>
                <a:cs typeface="Calibri"/>
              </a:rPr>
              <a:t>Result</a:t>
            </a:r>
          </a:p>
        </p:txBody>
      </p:sp>
      <p:graphicFrame>
        <p:nvGraphicFramePr>
          <p:cNvPr id="12" name="表格 11"/>
          <p:cNvGraphicFramePr/>
          <p:nvPr/>
        </p:nvGraphicFramePr>
        <p:xfrm>
          <a:off x="1028700" y="2238375"/>
          <a:ext cx="7048500" cy="1905000"/>
        </p:xfrm>
        <a:graphic>
          <a:graphicData uri="http://schemas.openxmlformats.org/drawingml/2006/table">
            <a:tbl>
              <a:tblPr/>
              <a:tblGrid>
                <a:gridCol w="1409700">
                  <a:extLst>
                    <a:ext uri="{9D8B030D-6E8A-4147-A177-3AD203B41FA5}">
                      <a16:colId xmlns:a16="http://schemas.microsoft.com/office/drawing/2014/main" val="20000"/>
                    </a:ext>
                  </a:extLst>
                </a:gridCol>
                <a:gridCol w="1409700">
                  <a:extLst>
                    <a:ext uri="{9D8B030D-6E8A-4147-A177-3AD203B41FA5}">
                      <a16:colId xmlns:a16="http://schemas.microsoft.com/office/drawing/2014/main" val="20001"/>
                    </a:ext>
                  </a:extLst>
                </a:gridCol>
                <a:gridCol w="1409700">
                  <a:extLst>
                    <a:ext uri="{9D8B030D-6E8A-4147-A177-3AD203B41FA5}">
                      <a16:colId xmlns:a16="http://schemas.microsoft.com/office/drawing/2014/main" val="20002"/>
                    </a:ext>
                  </a:extLst>
                </a:gridCol>
                <a:gridCol w="1409700">
                  <a:extLst>
                    <a:ext uri="{9D8B030D-6E8A-4147-A177-3AD203B41FA5}">
                      <a16:colId xmlns:a16="http://schemas.microsoft.com/office/drawing/2014/main" val="20003"/>
                    </a:ext>
                  </a:extLst>
                </a:gridCol>
                <a:gridCol w="1409700">
                  <a:extLst>
                    <a:ext uri="{9D8B030D-6E8A-4147-A177-3AD203B41FA5}">
                      <a16:colId xmlns:a16="http://schemas.microsoft.com/office/drawing/2014/main" val="20004"/>
                    </a:ext>
                  </a:extLst>
                </a:gridCol>
              </a:tblGrid>
              <a:tr h="381000">
                <a:tc>
                  <a:txBody>
                    <a:bodyPr/>
                    <a:lstStyle/>
                    <a:p>
                      <a:pPr algn="ctr"/>
                      <a:r>
                        <a:rPr sz="1725">
                          <a:solidFill>
                            <a:srgbClr val="000000"/>
                          </a:solidFill>
                          <a:latin typeface="Calibri"/>
                          <a:ea typeface="Calibri"/>
                          <a:cs typeface="Calibri"/>
                        </a:rPr>
                        <a:t>uid</a:t>
                      </a:r>
                    </a:p>
                  </a:txBody>
                  <a:tcPr marL="47625" marR="47625" marT="28575" marB="28575" anchor="ctr">
                    <a:solidFill>
                      <a:srgbClr val="D9D9D9"/>
                    </a:solidFill>
                  </a:tcPr>
                </a:tc>
                <a:tc>
                  <a:txBody>
                    <a:bodyPr/>
                    <a:lstStyle/>
                    <a:p>
                      <a:pPr algn="ctr"/>
                      <a:r>
                        <a:rPr sz="1725">
                          <a:solidFill>
                            <a:srgbClr val="000000"/>
                          </a:solidFill>
                          <a:latin typeface="Calibri"/>
                          <a:ea typeface="Calibri"/>
                          <a:cs typeface="Calibri"/>
                        </a:rPr>
                        <a:t>uname</a:t>
                      </a:r>
                    </a:p>
                  </a:txBody>
                  <a:tcPr marL="47625" marR="47625" marT="28575" marB="28575" anchor="ctr">
                    <a:solidFill>
                      <a:srgbClr val="D9D9D9"/>
                    </a:solidFill>
                  </a:tcPr>
                </a:tc>
                <a:tc>
                  <a:txBody>
                    <a:bodyPr/>
                    <a:lstStyle/>
                    <a:p>
                      <a:pPr algn="ctr"/>
                      <a:r>
                        <a:rPr sz="1725">
                          <a:solidFill>
                            <a:srgbClr val="000000"/>
                          </a:solidFill>
                          <a:latin typeface="Calibri"/>
                          <a:ea typeface="Calibri"/>
                          <a:cs typeface="Calibri"/>
                        </a:rPr>
                        <a:t>major</a:t>
                      </a:r>
                    </a:p>
                  </a:txBody>
                  <a:tcPr marL="47625" marR="47625" marT="28575" marB="28575" anchor="ctr">
                    <a:solidFill>
                      <a:srgbClr val="D9D9D9"/>
                    </a:solidFill>
                  </a:tcPr>
                </a:tc>
                <a:tc>
                  <a:txBody>
                    <a:bodyPr/>
                    <a:lstStyle/>
                    <a:p>
                      <a:pPr algn="ctr"/>
                      <a:r>
                        <a:rPr sz="1725">
                          <a:solidFill>
                            <a:srgbClr val="000000"/>
                          </a:solidFill>
                          <a:latin typeface="Calibri"/>
                          <a:ea typeface="Calibri"/>
                          <a:cs typeface="Calibri"/>
                        </a:rPr>
                        <a:t>year</a:t>
                      </a:r>
                    </a:p>
                  </a:txBody>
                  <a:tcPr marL="47625" marR="47625" marT="28575" marB="28575" anchor="ctr">
                    <a:solidFill>
                      <a:srgbClr val="D9D9D9"/>
                    </a:solidFill>
                  </a:tcPr>
                </a:tc>
                <a:tc>
                  <a:txBody>
                    <a:bodyPr/>
                    <a:lstStyle/>
                    <a:p>
                      <a:pPr algn="ctr"/>
                      <a:r>
                        <a:rPr sz="1725">
                          <a:solidFill>
                            <a:srgbClr val="000000"/>
                          </a:solidFill>
                          <a:latin typeface="Calibri"/>
                          <a:ea typeface="Calibri"/>
                          <a:cs typeface="Calibri"/>
                        </a:rPr>
                        <a:t>score</a:t>
                      </a:r>
                    </a:p>
                  </a:txBody>
                  <a:tcPr marL="47625" marR="47625" marT="28575" marB="28575" anchor="ctr">
                    <a:solidFill>
                      <a:srgbClr val="D9D9D9"/>
                    </a:solidFill>
                  </a:tcPr>
                </a:tc>
                <a:extLst>
                  <a:ext uri="{0D108BD9-81ED-4DB2-BD59-A6C34878D82A}">
                    <a16:rowId xmlns:a16="http://schemas.microsoft.com/office/drawing/2014/main" val="10000"/>
                  </a:ext>
                </a:extLst>
              </a:tr>
              <a:tr h="381000">
                <a:tc>
                  <a:txBody>
                    <a:bodyPr/>
                    <a:lstStyle/>
                    <a:p>
                      <a:pPr algn="ctr"/>
                      <a:r>
                        <a:rPr sz="1725">
                          <a:solidFill>
                            <a:srgbClr val="000000"/>
                          </a:solidFill>
                          <a:latin typeface="Calibri"/>
                          <a:ea typeface="Calibri"/>
                          <a:cs typeface="Calibri"/>
                        </a:rPr>
                        <a:t>101</a:t>
                      </a:r>
                    </a:p>
                  </a:txBody>
                  <a:tcPr marL="47625" marR="47625" marT="28575" marB="28575" anchor="ctr">
                    <a:solidFill>
                      <a:srgbClr val="FFFFFF"/>
                    </a:solidFill>
                  </a:tcPr>
                </a:tc>
                <a:tc>
                  <a:txBody>
                    <a:bodyPr/>
                    <a:lstStyle/>
                    <a:p>
                      <a:pPr algn="ctr"/>
                      <a:r>
                        <a:rPr sz="1725">
                          <a:solidFill>
                            <a:srgbClr val="000000"/>
                          </a:solidFill>
                          <a:latin typeface="Calibri"/>
                          <a:ea typeface="Calibri"/>
                          <a:cs typeface="Calibri"/>
                        </a:rPr>
                        <a:t>Ada</a:t>
                      </a:r>
                    </a:p>
                  </a:txBody>
                  <a:tcPr marL="47625" marR="47625" marT="28575" marB="28575" anchor="ctr">
                    <a:solidFill>
                      <a:srgbClr val="FFFFFF"/>
                    </a:solidFill>
                  </a:tcPr>
                </a:tc>
                <a:tc>
                  <a:txBody>
                    <a:bodyPr/>
                    <a:lstStyle/>
                    <a:p>
                      <a:pPr algn="ctr"/>
                      <a:r>
                        <a:rPr sz="1725">
                          <a:solidFill>
                            <a:srgbClr val="000000"/>
                          </a:solidFill>
                          <a:latin typeface="Calibri"/>
                          <a:ea typeface="Calibri"/>
                          <a:cs typeface="Calibri"/>
                        </a:rPr>
                        <a:t>CS</a:t>
                      </a:r>
                    </a:p>
                  </a:txBody>
                  <a:tcPr marL="47625" marR="47625" marT="28575" marB="28575" anchor="ctr">
                    <a:solidFill>
                      <a:srgbClr val="FFFFFF"/>
                    </a:solidFill>
                  </a:tcPr>
                </a:tc>
                <a:tc>
                  <a:txBody>
                    <a:bodyPr/>
                    <a:lstStyle/>
                    <a:p>
                      <a:pPr algn="ctr"/>
                      <a:r>
                        <a:rPr sz="1725">
                          <a:solidFill>
                            <a:srgbClr val="000000"/>
                          </a:solidFill>
                          <a:latin typeface="Calibri"/>
                          <a:ea typeface="Calibri"/>
                          <a:cs typeface="Calibri"/>
                        </a:rPr>
                        <a:t>3</a:t>
                      </a:r>
                    </a:p>
                  </a:txBody>
                  <a:tcPr marL="47625" marR="47625" marT="28575" marB="28575" anchor="ctr">
                    <a:solidFill>
                      <a:srgbClr val="FFFFFF"/>
                    </a:solidFill>
                  </a:tcPr>
                </a:tc>
                <a:tc>
                  <a:txBody>
                    <a:bodyPr/>
                    <a:lstStyle/>
                    <a:p>
                      <a:pPr algn="ctr"/>
                      <a:r>
                        <a:rPr sz="1725">
                          <a:solidFill>
                            <a:srgbClr val="000000"/>
                          </a:solidFill>
                          <a:latin typeface="Calibri"/>
                          <a:ea typeface="Calibri"/>
                          <a:cs typeface="Calibri"/>
                        </a:rPr>
                        <a:t>86</a:t>
                      </a:r>
                    </a:p>
                  </a:txBody>
                  <a:tcPr marL="47625" marR="47625" marT="28575" marB="28575" anchor="ctr">
                    <a:solidFill>
                      <a:srgbClr val="FFFFFF"/>
                    </a:solidFill>
                  </a:tcPr>
                </a:tc>
                <a:extLst>
                  <a:ext uri="{0D108BD9-81ED-4DB2-BD59-A6C34878D82A}">
                    <a16:rowId xmlns:a16="http://schemas.microsoft.com/office/drawing/2014/main" val="10001"/>
                  </a:ext>
                </a:extLst>
              </a:tr>
              <a:tr h="381000">
                <a:tc>
                  <a:txBody>
                    <a:bodyPr/>
                    <a:lstStyle/>
                    <a:p>
                      <a:pPr algn="ctr"/>
                      <a:r>
                        <a:rPr sz="1725">
                          <a:solidFill>
                            <a:srgbClr val="000000"/>
                          </a:solidFill>
                          <a:latin typeface="Calibri"/>
                          <a:ea typeface="Calibri"/>
                          <a:cs typeface="Calibri"/>
                        </a:rPr>
                        <a:t>102</a:t>
                      </a:r>
                    </a:p>
                  </a:txBody>
                  <a:tcPr marL="47625" marR="47625" marT="28575" marB="28575" anchor="ctr">
                    <a:solidFill>
                      <a:srgbClr val="FFFFFF"/>
                    </a:solidFill>
                  </a:tcPr>
                </a:tc>
                <a:tc>
                  <a:txBody>
                    <a:bodyPr/>
                    <a:lstStyle/>
                    <a:p>
                      <a:pPr algn="ctr"/>
                      <a:r>
                        <a:rPr sz="1725">
                          <a:solidFill>
                            <a:srgbClr val="000000"/>
                          </a:solidFill>
                          <a:latin typeface="Calibri"/>
                          <a:ea typeface="Calibri"/>
                          <a:cs typeface="Calibri"/>
                        </a:rPr>
                        <a:t>Ben</a:t>
                      </a:r>
                    </a:p>
                  </a:txBody>
                  <a:tcPr marL="47625" marR="47625" marT="28575" marB="28575" anchor="ctr">
                    <a:solidFill>
                      <a:srgbClr val="FFFFFF"/>
                    </a:solidFill>
                  </a:tcPr>
                </a:tc>
                <a:tc>
                  <a:txBody>
                    <a:bodyPr/>
                    <a:lstStyle/>
                    <a:p>
                      <a:pPr algn="ctr"/>
                      <a:r>
                        <a:rPr sz="1725">
                          <a:solidFill>
                            <a:srgbClr val="000000"/>
                          </a:solidFill>
                          <a:latin typeface="Calibri"/>
                          <a:ea typeface="Calibri"/>
                          <a:cs typeface="Calibri"/>
                        </a:rPr>
                        <a:t>EE</a:t>
                      </a:r>
                    </a:p>
                  </a:txBody>
                  <a:tcPr marL="47625" marR="47625" marT="28575" marB="28575" anchor="ctr">
                    <a:solidFill>
                      <a:srgbClr val="FFFFFF"/>
                    </a:solidFill>
                  </a:tcPr>
                </a:tc>
                <a:tc>
                  <a:txBody>
                    <a:bodyPr/>
                    <a:lstStyle/>
                    <a:p>
                      <a:pPr algn="ctr"/>
                      <a:r>
                        <a:rPr sz="1725">
                          <a:solidFill>
                            <a:srgbClr val="000000"/>
                          </a:solidFill>
                          <a:latin typeface="Calibri"/>
                          <a:ea typeface="Calibri"/>
                          <a:cs typeface="Calibri"/>
                        </a:rPr>
                        <a:t>3</a:t>
                      </a:r>
                    </a:p>
                  </a:txBody>
                  <a:tcPr marL="47625" marR="47625" marT="28575" marB="28575" anchor="ctr">
                    <a:solidFill>
                      <a:srgbClr val="FFFFFF"/>
                    </a:solidFill>
                  </a:tcPr>
                </a:tc>
                <a:tc>
                  <a:txBody>
                    <a:bodyPr/>
                    <a:lstStyle/>
                    <a:p>
                      <a:pPr algn="ctr"/>
                      <a:r>
                        <a:rPr sz="1725">
                          <a:solidFill>
                            <a:srgbClr val="000000"/>
                          </a:solidFill>
                          <a:latin typeface="Calibri"/>
                          <a:ea typeface="Calibri"/>
                          <a:cs typeface="Calibri"/>
                        </a:rPr>
                        <a:t>80</a:t>
                      </a:r>
                    </a:p>
                  </a:txBody>
                  <a:tcPr marL="47625" marR="47625" marT="28575" marB="28575" anchor="ctr">
                    <a:solidFill>
                      <a:srgbClr val="FFFFFF"/>
                    </a:solidFill>
                  </a:tcPr>
                </a:tc>
                <a:extLst>
                  <a:ext uri="{0D108BD9-81ED-4DB2-BD59-A6C34878D82A}">
                    <a16:rowId xmlns:a16="http://schemas.microsoft.com/office/drawing/2014/main" val="10002"/>
                  </a:ext>
                </a:extLst>
              </a:tr>
              <a:tr h="381000">
                <a:tc>
                  <a:txBody>
                    <a:bodyPr/>
                    <a:lstStyle/>
                    <a:p>
                      <a:pPr algn="ctr"/>
                      <a:r>
                        <a:rPr sz="1725">
                          <a:solidFill>
                            <a:srgbClr val="000000"/>
                          </a:solidFill>
                          <a:latin typeface="Calibri"/>
                          <a:ea typeface="Calibri"/>
                          <a:cs typeface="Calibri"/>
                        </a:rPr>
                        <a:t>103</a:t>
                      </a:r>
                    </a:p>
                  </a:txBody>
                  <a:tcPr marL="47625" marR="47625" marT="28575" marB="28575" anchor="ctr">
                    <a:solidFill>
                      <a:srgbClr val="FFFFFF"/>
                    </a:solidFill>
                  </a:tcPr>
                </a:tc>
                <a:tc>
                  <a:txBody>
                    <a:bodyPr/>
                    <a:lstStyle/>
                    <a:p>
                      <a:pPr algn="ctr"/>
                      <a:r>
                        <a:rPr sz="1725">
                          <a:solidFill>
                            <a:srgbClr val="000000"/>
                          </a:solidFill>
                          <a:latin typeface="Calibri"/>
                          <a:ea typeface="Calibri"/>
                          <a:cs typeface="Calibri"/>
                        </a:rPr>
                        <a:t>Cara</a:t>
                      </a:r>
                    </a:p>
                  </a:txBody>
                  <a:tcPr marL="47625" marR="47625" marT="28575" marB="28575" anchor="ctr">
                    <a:solidFill>
                      <a:srgbClr val="FFFFFF"/>
                    </a:solidFill>
                  </a:tcPr>
                </a:tc>
                <a:tc>
                  <a:txBody>
                    <a:bodyPr/>
                    <a:lstStyle/>
                    <a:p>
                      <a:pPr algn="ctr"/>
                      <a:r>
                        <a:rPr sz="1725">
                          <a:solidFill>
                            <a:srgbClr val="000000"/>
                          </a:solidFill>
                          <a:latin typeface="Calibri"/>
                          <a:ea typeface="Calibri"/>
                          <a:cs typeface="Calibri"/>
                        </a:rPr>
                        <a:t>CS</a:t>
                      </a:r>
                    </a:p>
                  </a:txBody>
                  <a:tcPr marL="47625" marR="47625" marT="28575" marB="28575" anchor="ctr">
                    <a:solidFill>
                      <a:srgbClr val="FFFFFF"/>
                    </a:solidFill>
                  </a:tcPr>
                </a:tc>
                <a:tc>
                  <a:txBody>
                    <a:bodyPr/>
                    <a:lstStyle/>
                    <a:p>
                      <a:pPr algn="ctr"/>
                      <a:r>
                        <a:rPr sz="1725">
                          <a:solidFill>
                            <a:srgbClr val="000000"/>
                          </a:solidFill>
                          <a:latin typeface="Calibri"/>
                          <a:ea typeface="Calibri"/>
                          <a:cs typeface="Calibri"/>
                        </a:rPr>
                        <a:t>3</a:t>
                      </a:r>
                    </a:p>
                  </a:txBody>
                  <a:tcPr marL="47625" marR="47625" marT="28575" marB="28575" anchor="ctr">
                    <a:solidFill>
                      <a:srgbClr val="FFFFFF"/>
                    </a:solidFill>
                  </a:tcPr>
                </a:tc>
                <a:tc>
                  <a:txBody>
                    <a:bodyPr/>
                    <a:lstStyle/>
                    <a:p>
                      <a:pPr algn="ctr"/>
                      <a:r>
                        <a:rPr sz="1725">
                          <a:solidFill>
                            <a:srgbClr val="000000"/>
                          </a:solidFill>
                          <a:latin typeface="Calibri"/>
                          <a:ea typeface="Calibri"/>
                          <a:cs typeface="Calibri"/>
                        </a:rPr>
                        <a:t>80</a:t>
                      </a:r>
                    </a:p>
                  </a:txBody>
                  <a:tcPr marL="47625" marR="47625" marT="28575" marB="28575" anchor="ctr">
                    <a:solidFill>
                      <a:srgbClr val="FFFFFF"/>
                    </a:solidFill>
                  </a:tcPr>
                </a:tc>
                <a:extLst>
                  <a:ext uri="{0D108BD9-81ED-4DB2-BD59-A6C34878D82A}">
                    <a16:rowId xmlns:a16="http://schemas.microsoft.com/office/drawing/2014/main" val="10003"/>
                  </a:ext>
                </a:extLst>
              </a:tr>
              <a:tr h="381000">
                <a:tc>
                  <a:txBody>
                    <a:bodyPr/>
                    <a:lstStyle/>
                    <a:p>
                      <a:pPr algn="ctr"/>
                      <a:r>
                        <a:rPr sz="1725">
                          <a:solidFill>
                            <a:srgbClr val="000000"/>
                          </a:solidFill>
                          <a:latin typeface="Calibri"/>
                          <a:ea typeface="Calibri"/>
                          <a:cs typeface="Calibri"/>
                        </a:rPr>
                        <a:t>105</a:t>
                      </a:r>
                    </a:p>
                  </a:txBody>
                  <a:tcPr marL="47625" marR="47625" marT="28575" marB="28575" anchor="ctr">
                    <a:solidFill>
                      <a:srgbClr val="FFFFFF"/>
                    </a:solidFill>
                  </a:tcPr>
                </a:tc>
                <a:tc>
                  <a:txBody>
                    <a:bodyPr/>
                    <a:lstStyle/>
                    <a:p>
                      <a:pPr algn="ctr"/>
                      <a:r>
                        <a:rPr sz="1725">
                          <a:solidFill>
                            <a:srgbClr val="000000"/>
                          </a:solidFill>
                          <a:latin typeface="Calibri"/>
                          <a:ea typeface="Calibri"/>
                          <a:cs typeface="Calibri"/>
                        </a:rPr>
                        <a:t>Eli</a:t>
                      </a:r>
                    </a:p>
                  </a:txBody>
                  <a:tcPr marL="47625" marR="47625" marT="28575" marB="28575" anchor="ctr">
                    <a:solidFill>
                      <a:srgbClr val="FFFFFF"/>
                    </a:solidFill>
                  </a:tcPr>
                </a:tc>
                <a:tc>
                  <a:txBody>
                    <a:bodyPr/>
                    <a:lstStyle/>
                    <a:p>
                      <a:pPr algn="ctr"/>
                      <a:r>
                        <a:rPr sz="1725">
                          <a:solidFill>
                            <a:srgbClr val="000000"/>
                          </a:solidFill>
                          <a:latin typeface="Calibri"/>
                          <a:ea typeface="Calibri"/>
                          <a:cs typeface="Calibri"/>
                        </a:rPr>
                        <a:t>CS</a:t>
                      </a:r>
                    </a:p>
                  </a:txBody>
                  <a:tcPr marL="47625" marR="47625" marT="28575" marB="28575" anchor="ctr">
                    <a:solidFill>
                      <a:srgbClr val="FFFFFF"/>
                    </a:solidFill>
                  </a:tcPr>
                </a:tc>
                <a:tc>
                  <a:txBody>
                    <a:bodyPr/>
                    <a:lstStyle/>
                    <a:p>
                      <a:pPr algn="ctr"/>
                      <a:r>
                        <a:rPr sz="1725">
                          <a:solidFill>
                            <a:srgbClr val="000000"/>
                          </a:solidFill>
                          <a:latin typeface="Calibri"/>
                          <a:ea typeface="Calibri"/>
                          <a:cs typeface="Calibri"/>
                        </a:rPr>
                        <a:t>3</a:t>
                      </a:r>
                    </a:p>
                  </a:txBody>
                  <a:tcPr marL="47625" marR="47625" marT="28575" marB="28575" anchor="ctr">
                    <a:solidFill>
                      <a:srgbClr val="FFFFFF"/>
                    </a:solidFill>
                  </a:tcPr>
                </a:tc>
                <a:tc>
                  <a:txBody>
                    <a:bodyPr/>
                    <a:lstStyle/>
                    <a:p>
                      <a:pPr algn="ctr"/>
                      <a:r>
                        <a:rPr sz="1725">
                          <a:solidFill>
                            <a:srgbClr val="000000"/>
                          </a:solidFill>
                          <a:latin typeface="Calibri"/>
                          <a:ea typeface="Calibri"/>
                          <a:cs typeface="Calibri"/>
                        </a:rPr>
                        <a:t>91</a:t>
                      </a:r>
                    </a:p>
                  </a:txBody>
                  <a:tcPr marL="47625" marR="47625" marT="28575" marB="28575" anchor="ctr">
                    <a:solidFill>
                      <a:srgbClr val="FFFFFF"/>
                    </a:solidFill>
                  </a:tcPr>
                </a:tc>
                <a:extLst>
                  <a:ext uri="{0D108BD9-81ED-4DB2-BD59-A6C34878D82A}">
                    <a16:rowId xmlns:a16="http://schemas.microsoft.com/office/drawing/2014/main" val="10004"/>
                  </a:ext>
                </a:extLst>
              </a:tr>
            </a:tbl>
          </a:graphicData>
        </a:graphic>
      </p:graphicFrame>
      <p:sp>
        <p:nvSpPr>
          <p:cNvPr id="6" name="body">
            <a:extLst>
              <a:ext uri="{FF2B5EF4-FFF2-40B4-BE49-F238E27FC236}">
                <a16:creationId xmlns:a16="http://schemas.microsoft.com/office/drawing/2014/main" id="{261BBA01-95B7-42B0-911F-5DF95A3AFB23}"/>
              </a:ext>
            </a:extLst>
          </p:cNvPr>
          <p:cNvSpPr>
            <a:spLocks noGrp="1"/>
          </p:cNvSpPr>
          <p:nvPr/>
        </p:nvSpPr>
        <p:spPr>
          <a:xfrm>
            <a:off x="781050" y="4638675"/>
            <a:ext cx="7600950" cy="952500"/>
          </a:xfrm>
          <a:prstGeom prst="rect">
            <a:avLst/>
          </a:prstGeom>
          <a:noFill/>
          <a:ln w="0">
            <a:noFill/>
          </a:ln>
        </p:spPr>
        <p:txBody>
          <a:bodyPr wrap="square" lIns="0" tIns="0" rIns="0" bIns="0">
            <a:noAutofit/>
          </a:bodyPr>
          <a:lstStyle/>
          <a:p>
            <a:pPr>
              <a:defRPr sz="2175" b="0">
                <a:solidFill>
                  <a:srgbClr val="FF0000"/>
                </a:solidFill>
                <a:latin typeface="Calibri"/>
                <a:ea typeface="Calibri"/>
                <a:cs typeface="Calibri"/>
              </a:defRPr>
            </a:pPr>
            <a:r>
              <a:rPr sz="2175" b="0">
                <a:solidFill>
                  <a:srgbClr val="FF0000"/>
                </a:solidFill>
                <a:latin typeface="Calibri"/>
                <a:ea typeface="Calibri"/>
                <a:cs typeface="Calibri"/>
              </a:rPr>
              <a:t>Ben qualifies because score = 80, although major = EE.</a:t>
            </a:r>
          </a:p>
        </p:txBody>
      </p:sp>
      <p:sp>
        <p:nvSpPr>
          <p:cNvPr id="7" name="body">
            <a:extLst>
              <a:ext uri="{FF2B5EF4-FFF2-40B4-BE49-F238E27FC236}">
                <a16:creationId xmlns:a16="http://schemas.microsoft.com/office/drawing/2014/main" id="{D1768B96-D6E3-4BC8-BD98-6406DD56BDAC}"/>
              </a:ext>
            </a:extLst>
          </p:cNvPr>
          <p:cNvSpPr>
            <a:spLocks noGrp="1"/>
          </p:cNvSpPr>
          <p:nvPr/>
        </p:nvSpPr>
        <p:spPr>
          <a:xfrm>
            <a:off x="781050" y="5305425"/>
            <a:ext cx="7600950" cy="952500"/>
          </a:xfrm>
          <a:prstGeom prst="rect">
            <a:avLst/>
          </a:prstGeom>
          <a:noFill/>
          <a:ln w="0">
            <a:noFill/>
          </a:ln>
        </p:spPr>
        <p:txBody>
          <a:bodyPr wrap="square" lIns="0" tIns="0" rIns="0" bIns="0">
            <a:noAutofit/>
          </a:bodyPr>
          <a:lstStyle/>
          <a:p>
            <a:pPr>
              <a:defRPr sz="2100" b="0">
                <a:solidFill>
                  <a:srgbClr val="000000"/>
                </a:solidFill>
                <a:latin typeface="Calibri"/>
                <a:ea typeface="Calibri"/>
                <a:cs typeface="Calibri"/>
              </a:defRPr>
            </a:pPr>
            <a:r>
              <a:rPr sz="2100" b="0">
                <a:solidFill>
                  <a:srgbClr val="000000"/>
                </a:solidFill>
                <a:latin typeface="Calibri"/>
                <a:ea typeface="Calibri"/>
                <a:cs typeface="Calibri"/>
              </a:rPr>
              <a:t>With AND, the result contains Ada, Cara and Eli.</a:t>
            </a:r>
          </a:p>
        </p:txBody>
      </p:sp>
      <p:sp>
        <p:nvSpPr>
          <p:cNvPr id="9001" name="Title 1">
            <a:extLst>
              <a:ext uri="{FF2B5EF4-FFF2-40B4-BE49-F238E27FC236}">
                <a16:creationId xmlns:a16="http://schemas.microsoft.com/office/drawing/2014/main" id="{4EF27E5C-9C4D-BDBE-7667-D0B141BCC8F5}"/>
              </a:ext>
            </a:extLst>
          </p:cNvPr>
          <p:cNvSpPr>
            <a:spLocks noGrp="1"/>
          </p:cNvSpPr>
          <p:nvPr>
            <p:ph type="title"/>
          </p:nvPr>
        </p:nvSpPr>
        <p:spPr/>
        <p:txBody>
          <a:bodyPr/>
          <a:lstStyle/>
          <a:p>
            <a:r>
              <a:rPr lang="en-US">
                <a:solidFill>
                  <a:srgbClr val="FF0000"/>
                </a:solidFill>
              </a:rPr>
              <a:t>Solutions: </a:t>
            </a:r>
            <a:r>
              <a:rPr lang="en-US">
                <a:solidFill>
                  <a:srgbClr val="3333CC"/>
                </a:solidFill>
              </a:rPr>
              <a:t>Q2</a:t>
            </a:r>
          </a:p>
        </p:txBody>
      </p:sp>
      <p:sp>
        <p:nvSpPr>
          <p:cNvPr id="9002" name="Slide Number Placeholder 1">
            <a:extLst>
              <a:ext uri="{FF2B5EF4-FFF2-40B4-BE49-F238E27FC236}">
                <a16:creationId xmlns:a16="http://schemas.microsoft.com/office/drawing/2014/main" id="{B90139AC-3BDA-723A-097A-000DA0A784C1}"/>
              </a:ext>
            </a:extLst>
          </p:cNvPr>
          <p:cNvSpPr>
            <a:spLocks noGrp="1"/>
          </p:cNvSpPr>
          <p:nvPr>
            <p:ph type="sldNum" sz="quarter" idx="12"/>
          </p:nvPr>
        </p:nvSpPr>
        <p:spPr/>
        <p:txBody>
          <a:bodyPr/>
          <a:lstStyle/>
          <a:p>
            <a:pPr>
              <a:defRPr/>
            </a:pPr>
            <a:fld id="{43CA101F-9E5F-9249-9862-3CE55B3BB777}" type="slidenum">
              <a:rPr lang="en-US" altLang="zh-TW" smtClean="0"/>
              <a:pPr>
                <a:defRPr/>
              </a:pPr>
              <a:t>8</a:t>
            </a:fld>
            <a:endParaRPr lang="en-US" altLang="zh-TW"/>
          </a:p>
        </p:txBody>
      </p:sp>
    </p:spTree>
    <p:extLst>
      <p:ext uri="{BB962C8B-B14F-4D97-AF65-F5344CB8AC3E}">
        <p14:creationId xmlns:p14="http://schemas.microsoft.com/office/powerpoint/2010/main" val="197763293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body">
            <a:extLst>
              <a:ext uri="{FF2B5EF4-FFF2-40B4-BE49-F238E27FC236}">
                <a16:creationId xmlns:a16="http://schemas.microsoft.com/office/drawing/2014/main" id="{948EB9C2-53F6-4098-A38D-0FBBDD2AC097}"/>
              </a:ext>
            </a:extLst>
          </p:cNvPr>
          <p:cNvSpPr>
            <a:spLocks noGrp="1"/>
          </p:cNvSpPr>
          <p:nvPr/>
        </p:nvSpPr>
        <p:spPr>
          <a:xfrm>
            <a:off x="781050" y="5876925"/>
            <a:ext cx="7620000" cy="285750"/>
          </a:xfrm>
          <a:prstGeom prst="rect">
            <a:avLst/>
          </a:prstGeom>
          <a:noFill/>
          <a:ln w="0">
            <a:noFill/>
          </a:ln>
        </p:spPr>
        <p:txBody>
          <a:bodyPr wrap="square" lIns="0" tIns="0" rIns="0" bIns="0">
            <a:noAutofit/>
          </a:bodyPr>
          <a:lstStyle/>
          <a:p>
            <a:pPr>
              <a:defRPr sz="1725" b="0">
                <a:solidFill>
                  <a:srgbClr val="3333CC"/>
                </a:solidFill>
                <a:latin typeface="Calibri"/>
                <a:ea typeface="Calibri"/>
                <a:cs typeface="Calibri"/>
              </a:defRPr>
            </a:pPr>
            <a:r>
              <a:rPr sz="1725" b="0">
                <a:solidFill>
                  <a:srgbClr val="3333CC"/>
                </a:solidFill>
                <a:latin typeface="Calibri"/>
                <a:ea typeface="Calibri"/>
                <a:cs typeface="Calibri"/>
              </a:rPr>
              <a:t>Think: 30 s</a:t>
            </a:r>
          </a:p>
        </p:txBody>
      </p:sp>
      <p:sp>
        <p:nvSpPr>
          <p:cNvPr id="4" name="body">
            <a:extLst>
              <a:ext uri="{FF2B5EF4-FFF2-40B4-BE49-F238E27FC236}">
                <a16:creationId xmlns:a16="http://schemas.microsoft.com/office/drawing/2014/main" id="{C8A6EA53-43ED-4DE6-B28B-CFE00995AD05}"/>
              </a:ext>
            </a:extLst>
          </p:cNvPr>
          <p:cNvSpPr>
            <a:spLocks noGrp="1"/>
          </p:cNvSpPr>
          <p:nvPr/>
        </p:nvSpPr>
        <p:spPr>
          <a:xfrm>
            <a:off x="1276350" y="1266825"/>
            <a:ext cx="6438900" cy="361950"/>
          </a:xfrm>
          <a:prstGeom prst="rect">
            <a:avLst/>
          </a:prstGeom>
          <a:noFill/>
          <a:ln w="0">
            <a:noFill/>
          </a:ln>
        </p:spPr>
        <p:txBody>
          <a:bodyPr wrap="square" lIns="0" tIns="0" rIns="0" bIns="0">
            <a:noAutofit/>
          </a:bodyPr>
          <a:lstStyle/>
          <a:p>
            <a:pPr>
              <a:defRPr sz="2250" b="0">
                <a:solidFill>
                  <a:srgbClr val="000000"/>
                </a:solidFill>
                <a:latin typeface="Calibri"/>
                <a:ea typeface="Calibri"/>
                <a:cs typeface="Calibri"/>
              </a:defRPr>
            </a:pPr>
            <a:r>
              <a:rPr sz="2250" b="0">
                <a:solidFill>
                  <a:srgbClr val="000000"/>
                </a:solidFill>
                <a:latin typeface="Calibri"/>
                <a:ea typeface="Calibri"/>
                <a:cs typeface="Calibri"/>
              </a:rPr>
              <a:t>Stock</a:t>
            </a:r>
          </a:p>
        </p:txBody>
      </p:sp>
      <p:graphicFrame>
        <p:nvGraphicFramePr>
          <p:cNvPr id="12" name="表格 11"/>
          <p:cNvGraphicFramePr/>
          <p:nvPr/>
        </p:nvGraphicFramePr>
        <p:xfrm>
          <a:off x="1352550" y="1685925"/>
          <a:ext cx="6438900" cy="1714500"/>
        </p:xfrm>
        <a:graphic>
          <a:graphicData uri="http://schemas.openxmlformats.org/drawingml/2006/table">
            <a:tbl>
              <a:tblPr/>
              <a:tblGrid>
                <a:gridCol w="2146300">
                  <a:extLst>
                    <a:ext uri="{9D8B030D-6E8A-4147-A177-3AD203B41FA5}">
                      <a16:colId xmlns:a16="http://schemas.microsoft.com/office/drawing/2014/main" val="20000"/>
                    </a:ext>
                  </a:extLst>
                </a:gridCol>
                <a:gridCol w="2146300">
                  <a:extLst>
                    <a:ext uri="{9D8B030D-6E8A-4147-A177-3AD203B41FA5}">
                      <a16:colId xmlns:a16="http://schemas.microsoft.com/office/drawing/2014/main" val="20001"/>
                    </a:ext>
                  </a:extLst>
                </a:gridCol>
                <a:gridCol w="2146300">
                  <a:extLst>
                    <a:ext uri="{9D8B030D-6E8A-4147-A177-3AD203B41FA5}">
                      <a16:colId xmlns:a16="http://schemas.microsoft.com/office/drawing/2014/main" val="20002"/>
                    </a:ext>
                  </a:extLst>
                </a:gridCol>
              </a:tblGrid>
              <a:tr h="428625">
                <a:tc>
                  <a:txBody>
                    <a:bodyPr/>
                    <a:lstStyle/>
                    <a:p>
                      <a:pPr algn="ctr"/>
                      <a:r>
                        <a:rPr sz="2025">
                          <a:solidFill>
                            <a:srgbClr val="000000"/>
                          </a:solidFill>
                          <a:latin typeface="Calibri"/>
                          <a:ea typeface="Calibri"/>
                          <a:cs typeface="Calibri"/>
                        </a:rPr>
                        <a:t>item</a:t>
                      </a:r>
                    </a:p>
                  </a:txBody>
                  <a:tcPr marL="47625" marR="47625" marT="28575" marB="28575" anchor="ctr">
                    <a:solidFill>
                      <a:srgbClr val="D9D9D9"/>
                    </a:solidFill>
                  </a:tcPr>
                </a:tc>
                <a:tc>
                  <a:txBody>
                    <a:bodyPr/>
                    <a:lstStyle/>
                    <a:p>
                      <a:pPr algn="ctr"/>
                      <a:r>
                        <a:rPr sz="2025">
                          <a:solidFill>
                            <a:srgbClr val="000000"/>
                          </a:solidFill>
                          <a:latin typeface="Calibri"/>
                          <a:ea typeface="Calibri"/>
                          <a:cs typeface="Calibri"/>
                        </a:rPr>
                        <a:t>stock</a:t>
                      </a:r>
                    </a:p>
                  </a:txBody>
                  <a:tcPr marL="47625" marR="47625" marT="28575" marB="28575" anchor="ctr">
                    <a:solidFill>
                      <a:srgbClr val="D9D9D9"/>
                    </a:solidFill>
                  </a:tcPr>
                </a:tc>
                <a:tc>
                  <a:txBody>
                    <a:bodyPr/>
                    <a:lstStyle/>
                    <a:p>
                      <a:pPr algn="ctr"/>
                      <a:r>
                        <a:rPr sz="2025">
                          <a:solidFill>
                            <a:srgbClr val="000000"/>
                          </a:solidFill>
                          <a:latin typeface="Calibri"/>
                          <a:ea typeface="Calibri"/>
                          <a:cs typeface="Calibri"/>
                        </a:rPr>
                        <a:t>reorder</a:t>
                      </a:r>
                    </a:p>
                  </a:txBody>
                  <a:tcPr marL="47625" marR="47625" marT="28575" marB="28575" anchor="ctr">
                    <a:solidFill>
                      <a:srgbClr val="D9D9D9"/>
                    </a:solidFill>
                  </a:tcPr>
                </a:tc>
                <a:extLst>
                  <a:ext uri="{0D108BD9-81ED-4DB2-BD59-A6C34878D82A}">
                    <a16:rowId xmlns:a16="http://schemas.microsoft.com/office/drawing/2014/main" val="10000"/>
                  </a:ext>
                </a:extLst>
              </a:tr>
              <a:tr h="428625">
                <a:tc>
                  <a:txBody>
                    <a:bodyPr/>
                    <a:lstStyle/>
                    <a:p>
                      <a:pPr algn="ctr"/>
                      <a:r>
                        <a:rPr sz="2025">
                          <a:solidFill>
                            <a:srgbClr val="000000"/>
                          </a:solidFill>
                          <a:latin typeface="Calibri"/>
                          <a:ea typeface="Calibri"/>
                          <a:cs typeface="Calibri"/>
                        </a:rPr>
                        <a:t>Printer</a:t>
                      </a:r>
                    </a:p>
                  </a:txBody>
                  <a:tcPr marL="47625" marR="47625" marT="28575" marB="28575" anchor="ctr">
                    <a:solidFill>
                      <a:srgbClr val="FFFFFF"/>
                    </a:solidFill>
                  </a:tcPr>
                </a:tc>
                <a:tc>
                  <a:txBody>
                    <a:bodyPr/>
                    <a:lstStyle/>
                    <a:p>
                      <a:pPr algn="ctr"/>
                      <a:r>
                        <a:rPr sz="2025">
                          <a:solidFill>
                            <a:srgbClr val="000000"/>
                          </a:solidFill>
                          <a:latin typeface="Calibri"/>
                          <a:ea typeface="Calibri"/>
                          <a:cs typeface="Calibri"/>
                        </a:rPr>
                        <a:t>6</a:t>
                      </a:r>
                    </a:p>
                  </a:txBody>
                  <a:tcPr marL="47625" marR="47625" marT="28575" marB="28575" anchor="ctr">
                    <a:solidFill>
                      <a:srgbClr val="FFFFFF"/>
                    </a:solidFill>
                  </a:tcPr>
                </a:tc>
                <a:tc>
                  <a:txBody>
                    <a:bodyPr/>
                    <a:lstStyle/>
                    <a:p>
                      <a:pPr algn="ctr"/>
                      <a:r>
                        <a:rPr sz="2025">
                          <a:solidFill>
                            <a:srgbClr val="000000"/>
                          </a:solidFill>
                          <a:latin typeface="Calibri"/>
                          <a:ea typeface="Calibri"/>
                          <a:cs typeface="Calibri"/>
                        </a:rPr>
                        <a:t>6</a:t>
                      </a:r>
                    </a:p>
                  </a:txBody>
                  <a:tcPr marL="47625" marR="47625" marT="28575" marB="28575" anchor="ctr">
                    <a:solidFill>
                      <a:srgbClr val="FFFFFF"/>
                    </a:solidFill>
                  </a:tcPr>
                </a:tc>
                <a:extLst>
                  <a:ext uri="{0D108BD9-81ED-4DB2-BD59-A6C34878D82A}">
                    <a16:rowId xmlns:a16="http://schemas.microsoft.com/office/drawing/2014/main" val="10001"/>
                  </a:ext>
                </a:extLst>
              </a:tr>
              <a:tr h="428625">
                <a:tc>
                  <a:txBody>
                    <a:bodyPr/>
                    <a:lstStyle/>
                    <a:p>
                      <a:pPr algn="ctr"/>
                      <a:r>
                        <a:rPr sz="2025">
                          <a:solidFill>
                            <a:srgbClr val="000000"/>
                          </a:solidFill>
                          <a:latin typeface="Calibri"/>
                          <a:ea typeface="Calibri"/>
                          <a:cs typeface="Calibri"/>
                        </a:rPr>
                        <a:t>Cutter</a:t>
                      </a:r>
                    </a:p>
                  </a:txBody>
                  <a:tcPr marL="47625" marR="47625" marT="28575" marB="28575" anchor="ctr">
                    <a:solidFill>
                      <a:srgbClr val="FFFFFF"/>
                    </a:solidFill>
                  </a:tcPr>
                </a:tc>
                <a:tc>
                  <a:txBody>
                    <a:bodyPr/>
                    <a:lstStyle/>
                    <a:p>
                      <a:pPr algn="ctr"/>
                      <a:r>
                        <a:rPr sz="2025">
                          <a:solidFill>
                            <a:srgbClr val="000000"/>
                          </a:solidFill>
                          <a:latin typeface="Calibri"/>
                          <a:ea typeface="Calibri"/>
                          <a:cs typeface="Calibri"/>
                        </a:rPr>
                        <a:t>3</a:t>
                      </a:r>
                    </a:p>
                  </a:txBody>
                  <a:tcPr marL="47625" marR="47625" marT="28575" marB="28575" anchor="ctr">
                    <a:solidFill>
                      <a:srgbClr val="FFFFFF"/>
                    </a:solidFill>
                  </a:tcPr>
                </a:tc>
                <a:tc>
                  <a:txBody>
                    <a:bodyPr/>
                    <a:lstStyle/>
                    <a:p>
                      <a:pPr algn="ctr"/>
                      <a:r>
                        <a:rPr sz="2025">
                          <a:solidFill>
                            <a:srgbClr val="000000"/>
                          </a:solidFill>
                          <a:latin typeface="Calibri"/>
                          <a:ea typeface="Calibri"/>
                          <a:cs typeface="Calibri"/>
                        </a:rPr>
                        <a:t>5</a:t>
                      </a:r>
                    </a:p>
                  </a:txBody>
                  <a:tcPr marL="47625" marR="47625" marT="28575" marB="28575" anchor="ctr">
                    <a:solidFill>
                      <a:srgbClr val="FFFFFF"/>
                    </a:solidFill>
                  </a:tcPr>
                </a:tc>
                <a:extLst>
                  <a:ext uri="{0D108BD9-81ED-4DB2-BD59-A6C34878D82A}">
                    <a16:rowId xmlns:a16="http://schemas.microsoft.com/office/drawing/2014/main" val="10002"/>
                  </a:ext>
                </a:extLst>
              </a:tr>
              <a:tr h="428625">
                <a:tc>
                  <a:txBody>
                    <a:bodyPr/>
                    <a:lstStyle/>
                    <a:p>
                      <a:pPr algn="ctr"/>
                      <a:r>
                        <a:rPr sz="2025">
                          <a:solidFill>
                            <a:srgbClr val="000000"/>
                          </a:solidFill>
                          <a:latin typeface="Calibri"/>
                          <a:ea typeface="Calibri"/>
                          <a:cs typeface="Calibri"/>
                        </a:rPr>
                        <a:t>Glue</a:t>
                      </a:r>
                    </a:p>
                  </a:txBody>
                  <a:tcPr marL="47625" marR="47625" marT="28575" marB="28575" anchor="ctr">
                    <a:solidFill>
                      <a:srgbClr val="FFFFFF"/>
                    </a:solidFill>
                  </a:tcPr>
                </a:tc>
                <a:tc>
                  <a:txBody>
                    <a:bodyPr/>
                    <a:lstStyle/>
                    <a:p>
                      <a:pPr algn="ctr"/>
                      <a:r>
                        <a:rPr sz="2025">
                          <a:solidFill>
                            <a:srgbClr val="000000"/>
                          </a:solidFill>
                          <a:latin typeface="Calibri"/>
                          <a:ea typeface="Calibri"/>
                          <a:cs typeface="Calibri"/>
                        </a:rPr>
                        <a:t>12</a:t>
                      </a:r>
                    </a:p>
                  </a:txBody>
                  <a:tcPr marL="47625" marR="47625" marT="28575" marB="28575" anchor="ctr">
                    <a:solidFill>
                      <a:srgbClr val="FFFFFF"/>
                    </a:solidFill>
                  </a:tcPr>
                </a:tc>
                <a:tc>
                  <a:txBody>
                    <a:bodyPr/>
                    <a:lstStyle/>
                    <a:p>
                      <a:pPr algn="ctr"/>
                      <a:r>
                        <a:rPr sz="2025">
                          <a:solidFill>
                            <a:srgbClr val="000000"/>
                          </a:solidFill>
                          <a:latin typeface="Calibri"/>
                          <a:ea typeface="Calibri"/>
                          <a:cs typeface="Calibri"/>
                        </a:rPr>
                        <a:t>4</a:t>
                      </a:r>
                    </a:p>
                  </a:txBody>
                  <a:tcPr marL="47625" marR="47625" marT="28575" marB="28575" anchor="ctr">
                    <a:solidFill>
                      <a:srgbClr val="FFFFFF"/>
                    </a:solidFill>
                  </a:tcPr>
                </a:tc>
                <a:extLst>
                  <a:ext uri="{0D108BD9-81ED-4DB2-BD59-A6C34878D82A}">
                    <a16:rowId xmlns:a16="http://schemas.microsoft.com/office/drawing/2014/main" val="10003"/>
                  </a:ext>
                </a:extLst>
              </a:tr>
            </a:tbl>
          </a:graphicData>
        </a:graphic>
      </p:graphicFrame>
      <p:sp>
        <p:nvSpPr>
          <p:cNvPr id="6" name="body">
            <a:extLst>
              <a:ext uri="{FF2B5EF4-FFF2-40B4-BE49-F238E27FC236}">
                <a16:creationId xmlns:a16="http://schemas.microsoft.com/office/drawing/2014/main" id="{9EBE517D-597A-4C90-96F7-5890E26A05C9}"/>
              </a:ext>
            </a:extLst>
          </p:cNvPr>
          <p:cNvSpPr>
            <a:spLocks noGrp="1"/>
          </p:cNvSpPr>
          <p:nvPr/>
        </p:nvSpPr>
        <p:spPr>
          <a:xfrm>
            <a:off x="781050" y="3895725"/>
            <a:ext cx="7600950" cy="952500"/>
          </a:xfrm>
          <a:prstGeom prst="rect">
            <a:avLst/>
          </a:prstGeom>
          <a:noFill/>
          <a:ln w="0">
            <a:noFill/>
          </a:ln>
        </p:spPr>
        <p:txBody>
          <a:bodyPr wrap="square" lIns="0" tIns="0" rIns="0" bIns="0">
            <a:noAutofit/>
          </a:bodyPr>
          <a:lstStyle/>
          <a:p>
            <a:pPr>
              <a:defRPr sz="2250" b="0">
                <a:solidFill>
                  <a:srgbClr val="FF0000"/>
                </a:solidFill>
                <a:latin typeface="Calibri"/>
                <a:ea typeface="Calibri"/>
                <a:cs typeface="Calibri"/>
              </a:defRPr>
            </a:pPr>
            <a:r>
              <a:rPr sz="2250" b="0">
                <a:solidFill>
                  <a:srgbClr val="FF0000"/>
                </a:solidFill>
                <a:latin typeface="Calibri"/>
                <a:ea typeface="Calibri"/>
                <a:cs typeface="Calibri"/>
              </a:rPr>
              <a:t>Find items whose stock is at or below their reorder level.</a:t>
            </a:r>
          </a:p>
        </p:txBody>
      </p:sp>
      <p:sp>
        <p:nvSpPr>
          <p:cNvPr id="9001" name="Title 1">
            <a:extLst>
              <a:ext uri="{FF2B5EF4-FFF2-40B4-BE49-F238E27FC236}">
                <a16:creationId xmlns:a16="http://schemas.microsoft.com/office/drawing/2014/main" id="{4EF27E5C-9C4D-BDBE-7667-D0B141BCC8F5}"/>
              </a:ext>
            </a:extLst>
          </p:cNvPr>
          <p:cNvSpPr>
            <a:spLocks noGrp="1"/>
          </p:cNvSpPr>
          <p:nvPr>
            <p:ph type="title"/>
          </p:nvPr>
        </p:nvSpPr>
        <p:spPr/>
        <p:txBody>
          <a:bodyPr/>
          <a:lstStyle/>
          <a:p>
            <a:r>
              <a:rPr lang="en-US">
                <a:solidFill>
                  <a:srgbClr val="FF0000"/>
                </a:solidFill>
              </a:rPr>
              <a:t>Practice: </a:t>
            </a:r>
            <a:r>
              <a:rPr lang="en-US">
                <a:solidFill>
                  <a:srgbClr val="3333CC"/>
                </a:solidFill>
              </a:rPr>
              <a:t>Q3</a:t>
            </a:r>
          </a:p>
        </p:txBody>
      </p:sp>
      <p:sp>
        <p:nvSpPr>
          <p:cNvPr id="9002" name="Slide Number Placeholder 1">
            <a:extLst>
              <a:ext uri="{FF2B5EF4-FFF2-40B4-BE49-F238E27FC236}">
                <a16:creationId xmlns:a16="http://schemas.microsoft.com/office/drawing/2014/main" id="{B90139AC-3BDA-723A-097A-000DA0A784C1}"/>
              </a:ext>
            </a:extLst>
          </p:cNvPr>
          <p:cNvSpPr>
            <a:spLocks noGrp="1"/>
          </p:cNvSpPr>
          <p:nvPr>
            <p:ph type="sldNum" sz="quarter" idx="12"/>
          </p:nvPr>
        </p:nvSpPr>
        <p:spPr/>
        <p:txBody>
          <a:bodyPr/>
          <a:lstStyle/>
          <a:p>
            <a:pPr>
              <a:defRPr/>
            </a:pPr>
            <a:fld id="{43CA101F-9E5F-9249-9862-3CE55B3BB777}" type="slidenum">
              <a:rPr lang="en-US" altLang="zh-TW" smtClean="0"/>
              <a:pPr>
                <a:defRPr/>
              </a:pPr>
              <a:t>9</a:t>
            </a:fld>
            <a:endParaRPr lang="en-US" altLang="zh-TW"/>
          </a:p>
        </p:txBody>
      </p:sp>
    </p:spTree>
    <p:extLst>
      <p:ext uri="{BB962C8B-B14F-4D97-AF65-F5344CB8AC3E}">
        <p14:creationId xmlns:p14="http://schemas.microsoft.com/office/powerpoint/2010/main" val="112999426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formula">
            <a:extLst>
              <a:ext uri="{FF2B5EF4-FFF2-40B4-BE49-F238E27FC236}">
                <a16:creationId xmlns:a16="http://schemas.microsoft.com/office/drawing/2014/main" id="{6AC03D92-D105-4540-A685-79DEB6147F23}"/>
              </a:ext>
            </a:extLst>
          </p:cNvPr>
          <p:cNvSpPr>
            <a:spLocks noGrp="1"/>
          </p:cNvSpPr>
          <p:nvPr/>
        </p:nvSpPr>
        <p:spPr>
          <a:xfrm>
            <a:off x="781050" y="1095375"/>
            <a:ext cx="7620000" cy="523875"/>
          </a:xfrm>
          <a:prstGeom prst="rect">
            <a:avLst/>
          </a:prstGeom>
          <a:noFill/>
          <a:ln w="0">
            <a:noFill/>
          </a:ln>
        </p:spPr>
        <p:txBody>
          <a:bodyPr wrap="square" lIns="0" tIns="0" rIns="0" bIns="0">
            <a:noAutofit/>
          </a:bodyPr>
          <a:lstStyle/>
          <a:p>
            <a:pPr>
              <a:defRPr sz="2325" b="0">
                <a:solidFill>
                  <a:srgbClr val="000000"/>
                </a:solidFill>
                <a:latin typeface="Cambria Math"/>
                <a:ea typeface="Cambria Math"/>
                <a:cs typeface="Cambria Math"/>
              </a:defRPr>
            </a:pPr>
            <a:r>
              <a:rPr sz="2325" b="0">
                <a:solidFill>
                  <a:srgbClr val="000000"/>
                </a:solidFill>
                <a:latin typeface="Cambria Math"/>
                <a:ea typeface="Cambria Math"/>
                <a:cs typeface="Cambria Math"/>
              </a:rPr>
              <a:t>σ</a:t>
            </a:r>
            <a:r>
              <a:rPr sz="1651" b="0" baseline="-25000">
                <a:solidFill>
                  <a:srgbClr val="000000"/>
                </a:solidFill>
                <a:latin typeface="Cambria Math"/>
                <a:ea typeface="Cambria Math"/>
                <a:cs typeface="Cambria Math"/>
              </a:rPr>
              <a:t>stock≤reorder</a:t>
            </a:r>
            <a:r>
              <a:rPr sz="2325" b="0">
                <a:solidFill>
                  <a:srgbClr val="000000"/>
                </a:solidFill>
                <a:latin typeface="Cambria Math"/>
                <a:ea typeface="Cambria Math"/>
                <a:cs typeface="Cambria Math"/>
              </a:rPr>
              <a:t>(Stock)</a:t>
            </a:r>
          </a:p>
        </p:txBody>
      </p:sp>
      <p:sp>
        <p:nvSpPr>
          <p:cNvPr id="4" name="body">
            <a:extLst>
              <a:ext uri="{FF2B5EF4-FFF2-40B4-BE49-F238E27FC236}">
                <a16:creationId xmlns:a16="http://schemas.microsoft.com/office/drawing/2014/main" id="{D9C0E157-9CD0-48C9-B9C2-85512736F2BC}"/>
              </a:ext>
            </a:extLst>
          </p:cNvPr>
          <p:cNvSpPr>
            <a:spLocks noGrp="1"/>
          </p:cNvSpPr>
          <p:nvPr/>
        </p:nvSpPr>
        <p:spPr>
          <a:xfrm>
            <a:off x="1304925" y="2095500"/>
            <a:ext cx="6381750" cy="361950"/>
          </a:xfrm>
          <a:prstGeom prst="rect">
            <a:avLst/>
          </a:prstGeom>
          <a:noFill/>
          <a:ln w="0">
            <a:noFill/>
          </a:ln>
        </p:spPr>
        <p:txBody>
          <a:bodyPr wrap="square" lIns="0" tIns="0" rIns="0" bIns="0">
            <a:noAutofit/>
          </a:bodyPr>
          <a:lstStyle/>
          <a:p>
            <a:pPr>
              <a:defRPr sz="2250" b="0">
                <a:solidFill>
                  <a:srgbClr val="000000"/>
                </a:solidFill>
                <a:latin typeface="Calibri"/>
                <a:ea typeface="Calibri"/>
                <a:cs typeface="Calibri"/>
              </a:defRPr>
            </a:pPr>
            <a:r>
              <a:rPr sz="2250" b="0">
                <a:solidFill>
                  <a:srgbClr val="000000"/>
                </a:solidFill>
                <a:latin typeface="Calibri"/>
                <a:ea typeface="Calibri"/>
                <a:cs typeface="Calibri"/>
              </a:rPr>
              <a:t>Result</a:t>
            </a:r>
          </a:p>
        </p:txBody>
      </p:sp>
      <p:graphicFrame>
        <p:nvGraphicFramePr>
          <p:cNvPr id="11" name="表格 10"/>
          <p:cNvGraphicFramePr/>
          <p:nvPr/>
        </p:nvGraphicFramePr>
        <p:xfrm>
          <a:off x="1381125" y="2514600"/>
          <a:ext cx="6381750" cy="1314450"/>
        </p:xfrm>
        <a:graphic>
          <a:graphicData uri="http://schemas.openxmlformats.org/drawingml/2006/table">
            <a:tbl>
              <a:tblPr/>
              <a:tblGrid>
                <a:gridCol w="2127250">
                  <a:extLst>
                    <a:ext uri="{9D8B030D-6E8A-4147-A177-3AD203B41FA5}">
                      <a16:colId xmlns:a16="http://schemas.microsoft.com/office/drawing/2014/main" val="20000"/>
                    </a:ext>
                  </a:extLst>
                </a:gridCol>
                <a:gridCol w="2127250">
                  <a:extLst>
                    <a:ext uri="{9D8B030D-6E8A-4147-A177-3AD203B41FA5}">
                      <a16:colId xmlns:a16="http://schemas.microsoft.com/office/drawing/2014/main" val="20001"/>
                    </a:ext>
                  </a:extLst>
                </a:gridCol>
                <a:gridCol w="2127250">
                  <a:extLst>
                    <a:ext uri="{9D8B030D-6E8A-4147-A177-3AD203B41FA5}">
                      <a16:colId xmlns:a16="http://schemas.microsoft.com/office/drawing/2014/main" val="20002"/>
                    </a:ext>
                  </a:extLst>
                </a:gridCol>
              </a:tblGrid>
              <a:tr h="438150">
                <a:tc>
                  <a:txBody>
                    <a:bodyPr/>
                    <a:lstStyle/>
                    <a:p>
                      <a:pPr algn="ctr"/>
                      <a:r>
                        <a:rPr sz="2025">
                          <a:solidFill>
                            <a:srgbClr val="000000"/>
                          </a:solidFill>
                          <a:latin typeface="Calibri"/>
                          <a:ea typeface="Calibri"/>
                          <a:cs typeface="Calibri"/>
                        </a:rPr>
                        <a:t>item</a:t>
                      </a:r>
                    </a:p>
                  </a:txBody>
                  <a:tcPr marL="47625" marR="47625" marT="28575" marB="28575" anchor="ctr">
                    <a:solidFill>
                      <a:srgbClr val="D9D9D9"/>
                    </a:solidFill>
                  </a:tcPr>
                </a:tc>
                <a:tc>
                  <a:txBody>
                    <a:bodyPr/>
                    <a:lstStyle/>
                    <a:p>
                      <a:pPr algn="ctr"/>
                      <a:r>
                        <a:rPr sz="2025">
                          <a:solidFill>
                            <a:srgbClr val="000000"/>
                          </a:solidFill>
                          <a:latin typeface="Calibri"/>
                          <a:ea typeface="Calibri"/>
                          <a:cs typeface="Calibri"/>
                        </a:rPr>
                        <a:t>stock</a:t>
                      </a:r>
                    </a:p>
                  </a:txBody>
                  <a:tcPr marL="47625" marR="47625" marT="28575" marB="28575" anchor="ctr">
                    <a:solidFill>
                      <a:srgbClr val="D9D9D9"/>
                    </a:solidFill>
                  </a:tcPr>
                </a:tc>
                <a:tc>
                  <a:txBody>
                    <a:bodyPr/>
                    <a:lstStyle/>
                    <a:p>
                      <a:pPr algn="ctr"/>
                      <a:r>
                        <a:rPr sz="2025">
                          <a:solidFill>
                            <a:srgbClr val="000000"/>
                          </a:solidFill>
                          <a:latin typeface="Calibri"/>
                          <a:ea typeface="Calibri"/>
                          <a:cs typeface="Calibri"/>
                        </a:rPr>
                        <a:t>reorder</a:t>
                      </a:r>
                    </a:p>
                  </a:txBody>
                  <a:tcPr marL="47625" marR="47625" marT="28575" marB="28575" anchor="ctr">
                    <a:solidFill>
                      <a:srgbClr val="D9D9D9"/>
                    </a:solidFill>
                  </a:tcPr>
                </a:tc>
                <a:extLst>
                  <a:ext uri="{0D108BD9-81ED-4DB2-BD59-A6C34878D82A}">
                    <a16:rowId xmlns:a16="http://schemas.microsoft.com/office/drawing/2014/main" val="10000"/>
                  </a:ext>
                </a:extLst>
              </a:tr>
              <a:tr h="438150">
                <a:tc>
                  <a:txBody>
                    <a:bodyPr/>
                    <a:lstStyle/>
                    <a:p>
                      <a:pPr algn="ctr"/>
                      <a:r>
                        <a:rPr sz="2025">
                          <a:solidFill>
                            <a:srgbClr val="000000"/>
                          </a:solidFill>
                          <a:latin typeface="Calibri"/>
                          <a:ea typeface="Calibri"/>
                          <a:cs typeface="Calibri"/>
                        </a:rPr>
                        <a:t>Printer</a:t>
                      </a:r>
                    </a:p>
                  </a:txBody>
                  <a:tcPr marL="47625" marR="47625" marT="28575" marB="28575" anchor="ctr">
                    <a:solidFill>
                      <a:srgbClr val="FFFFFF"/>
                    </a:solidFill>
                  </a:tcPr>
                </a:tc>
                <a:tc>
                  <a:txBody>
                    <a:bodyPr/>
                    <a:lstStyle/>
                    <a:p>
                      <a:pPr algn="ctr"/>
                      <a:r>
                        <a:rPr sz="2025">
                          <a:solidFill>
                            <a:srgbClr val="000000"/>
                          </a:solidFill>
                          <a:latin typeface="Calibri"/>
                          <a:ea typeface="Calibri"/>
                          <a:cs typeface="Calibri"/>
                        </a:rPr>
                        <a:t>6</a:t>
                      </a:r>
                    </a:p>
                  </a:txBody>
                  <a:tcPr marL="47625" marR="47625" marT="28575" marB="28575" anchor="ctr">
                    <a:solidFill>
                      <a:srgbClr val="FFFFFF"/>
                    </a:solidFill>
                  </a:tcPr>
                </a:tc>
                <a:tc>
                  <a:txBody>
                    <a:bodyPr/>
                    <a:lstStyle/>
                    <a:p>
                      <a:pPr algn="ctr"/>
                      <a:r>
                        <a:rPr sz="2025">
                          <a:solidFill>
                            <a:srgbClr val="000000"/>
                          </a:solidFill>
                          <a:latin typeface="Calibri"/>
                          <a:ea typeface="Calibri"/>
                          <a:cs typeface="Calibri"/>
                        </a:rPr>
                        <a:t>6</a:t>
                      </a:r>
                    </a:p>
                  </a:txBody>
                  <a:tcPr marL="47625" marR="47625" marT="28575" marB="28575" anchor="ctr">
                    <a:solidFill>
                      <a:srgbClr val="FFFFFF"/>
                    </a:solidFill>
                  </a:tcPr>
                </a:tc>
                <a:extLst>
                  <a:ext uri="{0D108BD9-81ED-4DB2-BD59-A6C34878D82A}">
                    <a16:rowId xmlns:a16="http://schemas.microsoft.com/office/drawing/2014/main" val="10001"/>
                  </a:ext>
                </a:extLst>
              </a:tr>
              <a:tr h="438150">
                <a:tc>
                  <a:txBody>
                    <a:bodyPr/>
                    <a:lstStyle/>
                    <a:p>
                      <a:pPr algn="ctr"/>
                      <a:r>
                        <a:rPr sz="2025">
                          <a:solidFill>
                            <a:srgbClr val="000000"/>
                          </a:solidFill>
                          <a:latin typeface="Calibri"/>
                          <a:ea typeface="Calibri"/>
                          <a:cs typeface="Calibri"/>
                        </a:rPr>
                        <a:t>Cutter</a:t>
                      </a:r>
                    </a:p>
                  </a:txBody>
                  <a:tcPr marL="47625" marR="47625" marT="28575" marB="28575" anchor="ctr">
                    <a:solidFill>
                      <a:srgbClr val="FFFFFF"/>
                    </a:solidFill>
                  </a:tcPr>
                </a:tc>
                <a:tc>
                  <a:txBody>
                    <a:bodyPr/>
                    <a:lstStyle/>
                    <a:p>
                      <a:pPr algn="ctr"/>
                      <a:r>
                        <a:rPr sz="2025">
                          <a:solidFill>
                            <a:srgbClr val="000000"/>
                          </a:solidFill>
                          <a:latin typeface="Calibri"/>
                          <a:ea typeface="Calibri"/>
                          <a:cs typeface="Calibri"/>
                        </a:rPr>
                        <a:t>3</a:t>
                      </a:r>
                    </a:p>
                  </a:txBody>
                  <a:tcPr marL="47625" marR="47625" marT="28575" marB="28575" anchor="ctr">
                    <a:solidFill>
                      <a:srgbClr val="FFFFFF"/>
                    </a:solidFill>
                  </a:tcPr>
                </a:tc>
                <a:tc>
                  <a:txBody>
                    <a:bodyPr/>
                    <a:lstStyle/>
                    <a:p>
                      <a:pPr algn="ctr"/>
                      <a:r>
                        <a:rPr sz="2025">
                          <a:solidFill>
                            <a:srgbClr val="000000"/>
                          </a:solidFill>
                          <a:latin typeface="Calibri"/>
                          <a:ea typeface="Calibri"/>
                          <a:cs typeface="Calibri"/>
                        </a:rPr>
                        <a:t>5</a:t>
                      </a:r>
                    </a:p>
                  </a:txBody>
                  <a:tcPr marL="47625" marR="47625" marT="28575" marB="28575" anchor="ctr">
                    <a:solidFill>
                      <a:srgbClr val="FFFFFF"/>
                    </a:solidFill>
                  </a:tcPr>
                </a:tc>
                <a:extLst>
                  <a:ext uri="{0D108BD9-81ED-4DB2-BD59-A6C34878D82A}">
                    <a16:rowId xmlns:a16="http://schemas.microsoft.com/office/drawing/2014/main" val="10002"/>
                  </a:ext>
                </a:extLst>
              </a:tr>
            </a:tbl>
          </a:graphicData>
        </a:graphic>
      </p:graphicFrame>
      <p:sp>
        <p:nvSpPr>
          <p:cNvPr id="9001" name="Title 1">
            <a:extLst>
              <a:ext uri="{FF2B5EF4-FFF2-40B4-BE49-F238E27FC236}">
                <a16:creationId xmlns:a16="http://schemas.microsoft.com/office/drawing/2014/main" id="{4EF27E5C-9C4D-BDBE-7667-D0B141BCC8F5}"/>
              </a:ext>
            </a:extLst>
          </p:cNvPr>
          <p:cNvSpPr>
            <a:spLocks noGrp="1"/>
          </p:cNvSpPr>
          <p:nvPr>
            <p:ph type="title"/>
          </p:nvPr>
        </p:nvSpPr>
        <p:spPr/>
        <p:txBody>
          <a:bodyPr/>
          <a:lstStyle/>
          <a:p>
            <a:r>
              <a:rPr lang="en-US">
                <a:solidFill>
                  <a:srgbClr val="FF0000"/>
                </a:solidFill>
              </a:rPr>
              <a:t>Solutions: </a:t>
            </a:r>
            <a:r>
              <a:rPr lang="en-US">
                <a:solidFill>
                  <a:srgbClr val="3333CC"/>
                </a:solidFill>
              </a:rPr>
              <a:t>Q3</a:t>
            </a:r>
          </a:p>
        </p:txBody>
      </p:sp>
      <p:sp>
        <p:nvSpPr>
          <p:cNvPr id="9002" name="Slide Number Placeholder 1">
            <a:extLst>
              <a:ext uri="{FF2B5EF4-FFF2-40B4-BE49-F238E27FC236}">
                <a16:creationId xmlns:a16="http://schemas.microsoft.com/office/drawing/2014/main" id="{B90139AC-3BDA-723A-097A-000DA0A784C1}"/>
              </a:ext>
            </a:extLst>
          </p:cNvPr>
          <p:cNvSpPr>
            <a:spLocks noGrp="1"/>
          </p:cNvSpPr>
          <p:nvPr>
            <p:ph type="sldNum" sz="quarter" idx="12"/>
          </p:nvPr>
        </p:nvSpPr>
        <p:spPr/>
        <p:txBody>
          <a:bodyPr/>
          <a:lstStyle/>
          <a:p>
            <a:pPr>
              <a:defRPr/>
            </a:pPr>
            <a:fld id="{43CA101F-9E5F-9249-9862-3CE55B3BB777}" type="slidenum">
              <a:rPr lang="en-US" altLang="zh-TW" smtClean="0"/>
              <a:pPr>
                <a:defRPr/>
              </a:pPr>
              <a:t>10</a:t>
            </a:fld>
            <a:endParaRPr lang="en-US" altLang="zh-TW"/>
          </a:p>
        </p:txBody>
      </p:sp>
    </p:spTree>
    <p:extLst>
      <p:ext uri="{BB962C8B-B14F-4D97-AF65-F5344CB8AC3E}">
        <p14:creationId xmlns:p14="http://schemas.microsoft.com/office/powerpoint/2010/main" val="23624536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矩形 2">
            <a:extLst>
              <a:ext uri="{FF2B5EF4-FFF2-40B4-BE49-F238E27FC236}">
                <a16:creationId xmlns:a16="http://schemas.microsoft.com/office/drawing/2014/main" id="{6555A4B2-293E-4A6F-9E8B-D881FC9BA4C3}"/>
              </a:ext>
            </a:extLst>
          </p:cNvPr>
          <p:cNvSpPr>
            <a:spLocks noGrp="1"/>
          </p:cNvSpPr>
          <p:nvPr/>
        </p:nvSpPr>
        <p:spPr>
          <a:xfrm>
            <a:off x="5962650" y="962025"/>
            <a:ext cx="2428875" cy="647700"/>
          </a:xfrm>
          <a:prstGeom prst="rect">
            <a:avLst/>
          </a:prstGeom>
          <a:solidFill>
            <a:srgbClr val="BFE7EF"/>
          </a:solidFill>
          <a:ln w="0">
            <a:noFill/>
          </a:ln>
        </p:spPr>
      </p:sp>
      <p:sp>
        <p:nvSpPr>
          <p:cNvPr id="4" name="formula">
            <a:extLst>
              <a:ext uri="{FF2B5EF4-FFF2-40B4-BE49-F238E27FC236}">
                <a16:creationId xmlns:a16="http://schemas.microsoft.com/office/drawing/2014/main" id="{9EF4567A-3F1A-4C52-A7CD-8DA16587712C}"/>
              </a:ext>
            </a:extLst>
          </p:cNvPr>
          <p:cNvSpPr>
            <a:spLocks noGrp="1"/>
          </p:cNvSpPr>
          <p:nvPr/>
        </p:nvSpPr>
        <p:spPr>
          <a:xfrm>
            <a:off x="6096000" y="1095375"/>
            <a:ext cx="2152650" cy="419100"/>
          </a:xfrm>
          <a:prstGeom prst="rect">
            <a:avLst/>
          </a:prstGeom>
          <a:noFill/>
          <a:ln w="0">
            <a:noFill/>
          </a:ln>
        </p:spPr>
        <p:txBody>
          <a:bodyPr wrap="square" lIns="0" tIns="0" rIns="0" bIns="0">
            <a:noAutofit/>
          </a:bodyPr>
          <a:lstStyle/>
          <a:p>
            <a:pPr>
              <a:defRPr sz="2100" b="0">
                <a:solidFill>
                  <a:srgbClr val="000000"/>
                </a:solidFill>
                <a:latin typeface="Cambria Math"/>
                <a:ea typeface="Cambria Math"/>
                <a:cs typeface="Cambria Math"/>
              </a:defRPr>
            </a:pPr>
            <a:r>
              <a:rPr sz="2100" b="0">
                <a:solidFill>
                  <a:srgbClr val="000000"/>
                </a:solidFill>
                <a:latin typeface="Cambria Math"/>
                <a:ea typeface="Cambria Math"/>
                <a:cs typeface="Cambria Math"/>
              </a:rPr>
              <a:t>π</a:t>
            </a:r>
            <a:r>
              <a:rPr sz="1491" b="0" baseline="-25000">
                <a:solidFill>
                  <a:srgbClr val="000000"/>
                </a:solidFill>
                <a:latin typeface="Cambria Math"/>
                <a:ea typeface="Cambria Math"/>
                <a:cs typeface="Cambria Math"/>
              </a:rPr>
              <a:t>a,b</a:t>
            </a:r>
            <a:r>
              <a:rPr sz="2100" b="0">
                <a:solidFill>
                  <a:srgbClr val="000000"/>
                </a:solidFill>
                <a:latin typeface="Cambria Math"/>
                <a:ea typeface="Cambria Math"/>
                <a:cs typeface="Cambria Math"/>
              </a:rPr>
              <a:t>(R)</a:t>
            </a:r>
          </a:p>
        </p:txBody>
      </p:sp>
      <p:sp>
        <p:nvSpPr>
          <p:cNvPr id="5" name="body">
            <a:extLst>
              <a:ext uri="{FF2B5EF4-FFF2-40B4-BE49-F238E27FC236}">
                <a16:creationId xmlns:a16="http://schemas.microsoft.com/office/drawing/2014/main" id="{B9B6010D-36EE-436F-8B97-5328861329A1}"/>
              </a:ext>
            </a:extLst>
          </p:cNvPr>
          <p:cNvSpPr>
            <a:spLocks noGrp="1"/>
          </p:cNvSpPr>
          <p:nvPr/>
        </p:nvSpPr>
        <p:spPr>
          <a:xfrm>
            <a:off x="781050" y="1809750"/>
            <a:ext cx="219075" cy="400050"/>
          </a:xfrm>
          <a:prstGeom prst="rect">
            <a:avLst/>
          </a:prstGeom>
          <a:noFill/>
          <a:ln w="0">
            <a:noFill/>
          </a:ln>
        </p:spPr>
        <p:txBody>
          <a:bodyPr wrap="square" lIns="0" tIns="0" rIns="0" bIns="0">
            <a:noAutofit/>
          </a:bodyPr>
          <a:lstStyle/>
          <a:p>
            <a:pPr>
              <a:defRPr sz="2250" b="0">
                <a:solidFill>
                  <a:srgbClr val="000000"/>
                </a:solidFill>
                <a:latin typeface="Calibri"/>
                <a:ea typeface="Calibri"/>
                <a:cs typeface="Calibri"/>
              </a:defRPr>
            </a:pPr>
            <a:r>
              <a:rPr sz="2250" b="0">
                <a:solidFill>
                  <a:srgbClr val="000000"/>
                </a:solidFill>
                <a:latin typeface="Calibri"/>
                <a:ea typeface="Calibri"/>
                <a:cs typeface="Calibri"/>
              </a:rPr>
              <a:t>•</a:t>
            </a:r>
          </a:p>
        </p:txBody>
      </p:sp>
      <p:sp>
        <p:nvSpPr>
          <p:cNvPr id="6" name="body">
            <a:extLst>
              <a:ext uri="{FF2B5EF4-FFF2-40B4-BE49-F238E27FC236}">
                <a16:creationId xmlns:a16="http://schemas.microsoft.com/office/drawing/2014/main" id="{2AB68901-7996-4F0B-80A0-D811876FE98E}"/>
              </a:ext>
            </a:extLst>
          </p:cNvPr>
          <p:cNvSpPr>
            <a:spLocks noGrp="1"/>
          </p:cNvSpPr>
          <p:nvPr/>
        </p:nvSpPr>
        <p:spPr>
          <a:xfrm>
            <a:off x="1104900" y="1809750"/>
            <a:ext cx="7239000" cy="952500"/>
          </a:xfrm>
          <a:prstGeom prst="rect">
            <a:avLst/>
          </a:prstGeom>
          <a:noFill/>
          <a:ln w="0">
            <a:noFill/>
          </a:ln>
        </p:spPr>
        <p:txBody>
          <a:bodyPr wrap="square" lIns="0" tIns="0" rIns="0" bIns="0">
            <a:noAutofit/>
          </a:bodyPr>
          <a:lstStyle/>
          <a:p>
            <a:pPr>
              <a:defRPr sz="2250" b="0">
                <a:solidFill>
                  <a:srgbClr val="000000"/>
                </a:solidFill>
                <a:latin typeface="Calibri"/>
                <a:ea typeface="Calibri"/>
                <a:cs typeface="Calibri"/>
              </a:defRPr>
            </a:pPr>
            <a:r>
              <a:rPr sz="2250" b="0">
                <a:solidFill>
                  <a:srgbClr val="000000"/>
                </a:solidFill>
                <a:latin typeface="Calibri"/>
                <a:ea typeface="Calibri"/>
                <a:cs typeface="Calibri"/>
              </a:rPr>
              <a:t>Projection keeps the attributes listed in the subscript.</a:t>
            </a:r>
          </a:p>
        </p:txBody>
      </p:sp>
      <p:sp>
        <p:nvSpPr>
          <p:cNvPr id="7" name="body">
            <a:extLst>
              <a:ext uri="{FF2B5EF4-FFF2-40B4-BE49-F238E27FC236}">
                <a16:creationId xmlns:a16="http://schemas.microsoft.com/office/drawing/2014/main" id="{9D8A630E-4109-4146-9932-6A12C3AA1F63}"/>
              </a:ext>
            </a:extLst>
          </p:cNvPr>
          <p:cNvSpPr>
            <a:spLocks noGrp="1"/>
          </p:cNvSpPr>
          <p:nvPr/>
        </p:nvSpPr>
        <p:spPr>
          <a:xfrm>
            <a:off x="781050" y="2686050"/>
            <a:ext cx="219075" cy="400050"/>
          </a:xfrm>
          <a:prstGeom prst="rect">
            <a:avLst/>
          </a:prstGeom>
          <a:noFill/>
          <a:ln w="0">
            <a:noFill/>
          </a:ln>
        </p:spPr>
        <p:txBody>
          <a:bodyPr wrap="square" lIns="0" tIns="0" rIns="0" bIns="0">
            <a:noAutofit/>
          </a:bodyPr>
          <a:lstStyle/>
          <a:p>
            <a:pPr>
              <a:defRPr sz="2250" b="0">
                <a:solidFill>
                  <a:srgbClr val="000000"/>
                </a:solidFill>
                <a:latin typeface="Calibri"/>
                <a:ea typeface="Calibri"/>
                <a:cs typeface="Calibri"/>
              </a:defRPr>
            </a:pPr>
            <a:r>
              <a:rPr sz="2250" b="0">
                <a:solidFill>
                  <a:srgbClr val="000000"/>
                </a:solidFill>
                <a:latin typeface="Calibri"/>
                <a:ea typeface="Calibri"/>
                <a:cs typeface="Calibri"/>
              </a:rPr>
              <a:t>•</a:t>
            </a:r>
          </a:p>
        </p:txBody>
      </p:sp>
      <p:sp>
        <p:nvSpPr>
          <p:cNvPr id="8" name="body">
            <a:extLst>
              <a:ext uri="{FF2B5EF4-FFF2-40B4-BE49-F238E27FC236}">
                <a16:creationId xmlns:a16="http://schemas.microsoft.com/office/drawing/2014/main" id="{1F77C998-F924-45E8-B65C-8ACE825B8179}"/>
              </a:ext>
            </a:extLst>
          </p:cNvPr>
          <p:cNvSpPr>
            <a:spLocks noGrp="1"/>
          </p:cNvSpPr>
          <p:nvPr/>
        </p:nvSpPr>
        <p:spPr>
          <a:xfrm>
            <a:off x="1104900" y="2686050"/>
            <a:ext cx="7239000" cy="952500"/>
          </a:xfrm>
          <a:prstGeom prst="rect">
            <a:avLst/>
          </a:prstGeom>
          <a:noFill/>
          <a:ln w="0">
            <a:noFill/>
          </a:ln>
        </p:spPr>
        <p:txBody>
          <a:bodyPr wrap="square" lIns="0" tIns="0" rIns="0" bIns="0">
            <a:noAutofit/>
          </a:bodyPr>
          <a:lstStyle/>
          <a:p>
            <a:pPr>
              <a:defRPr sz="2250" b="0">
                <a:solidFill>
                  <a:srgbClr val="000000"/>
                </a:solidFill>
                <a:latin typeface="Calibri"/>
                <a:ea typeface="Calibri"/>
                <a:cs typeface="Calibri"/>
              </a:defRPr>
            </a:pPr>
            <a:r>
              <a:rPr sz="2250" b="0">
                <a:solidFill>
                  <a:srgbClr val="000000"/>
                </a:solidFill>
                <a:latin typeface="Calibri"/>
                <a:ea typeface="Calibri"/>
                <a:cs typeface="Calibri"/>
              </a:rPr>
              <a:t>The output schema contains only those attributes.</a:t>
            </a:r>
          </a:p>
        </p:txBody>
      </p:sp>
      <p:sp>
        <p:nvSpPr>
          <p:cNvPr id="9" name="body">
            <a:extLst>
              <a:ext uri="{FF2B5EF4-FFF2-40B4-BE49-F238E27FC236}">
                <a16:creationId xmlns:a16="http://schemas.microsoft.com/office/drawing/2014/main" id="{93836E67-43B2-4272-87D6-D983300A1B07}"/>
              </a:ext>
            </a:extLst>
          </p:cNvPr>
          <p:cNvSpPr>
            <a:spLocks noGrp="1"/>
          </p:cNvSpPr>
          <p:nvPr/>
        </p:nvSpPr>
        <p:spPr>
          <a:xfrm>
            <a:off x="781050" y="3495675"/>
            <a:ext cx="219075" cy="400050"/>
          </a:xfrm>
          <a:prstGeom prst="rect">
            <a:avLst/>
          </a:prstGeom>
          <a:noFill/>
          <a:ln w="0">
            <a:noFill/>
          </a:ln>
        </p:spPr>
        <p:txBody>
          <a:bodyPr wrap="square" lIns="0" tIns="0" rIns="0" bIns="0">
            <a:noAutofit/>
          </a:bodyPr>
          <a:lstStyle/>
          <a:p>
            <a:pPr>
              <a:defRPr sz="2250" b="0">
                <a:solidFill>
                  <a:srgbClr val="000000"/>
                </a:solidFill>
                <a:latin typeface="Calibri"/>
                <a:ea typeface="Calibri"/>
                <a:cs typeface="Calibri"/>
              </a:defRPr>
            </a:pPr>
            <a:r>
              <a:rPr sz="2250" b="0">
                <a:solidFill>
                  <a:srgbClr val="000000"/>
                </a:solidFill>
                <a:latin typeface="Calibri"/>
                <a:ea typeface="Calibri"/>
                <a:cs typeface="Calibri"/>
              </a:rPr>
              <a:t>•</a:t>
            </a:r>
          </a:p>
        </p:txBody>
      </p:sp>
      <p:sp>
        <p:nvSpPr>
          <p:cNvPr id="10" name="body">
            <a:extLst>
              <a:ext uri="{FF2B5EF4-FFF2-40B4-BE49-F238E27FC236}">
                <a16:creationId xmlns:a16="http://schemas.microsoft.com/office/drawing/2014/main" id="{32D374D1-8990-46D1-B0E3-D03699CEAF57}"/>
              </a:ext>
            </a:extLst>
          </p:cNvPr>
          <p:cNvSpPr>
            <a:spLocks noGrp="1"/>
          </p:cNvSpPr>
          <p:nvPr/>
        </p:nvSpPr>
        <p:spPr>
          <a:xfrm>
            <a:off x="1104900" y="3495675"/>
            <a:ext cx="7239000" cy="952500"/>
          </a:xfrm>
          <a:prstGeom prst="rect">
            <a:avLst/>
          </a:prstGeom>
          <a:noFill/>
          <a:ln w="0">
            <a:noFill/>
          </a:ln>
        </p:spPr>
        <p:txBody>
          <a:bodyPr wrap="square" lIns="0" tIns="0" rIns="0" bIns="0">
            <a:noAutofit/>
          </a:bodyPr>
          <a:lstStyle/>
          <a:p>
            <a:pPr>
              <a:defRPr sz="2250" b="0">
                <a:solidFill>
                  <a:srgbClr val="000000"/>
                </a:solidFill>
                <a:latin typeface="Calibri"/>
                <a:ea typeface="Calibri"/>
                <a:cs typeface="Calibri"/>
              </a:defRPr>
            </a:pPr>
            <a:r>
              <a:rPr sz="2250" b="0">
                <a:solidFill>
                  <a:srgbClr val="000000"/>
                </a:solidFill>
                <a:latin typeface="Calibri"/>
                <a:ea typeface="Calibri"/>
                <a:cs typeface="Calibri"/>
              </a:rPr>
              <a:t>Repeated output tuples collapse into one tuple.</a:t>
            </a:r>
          </a:p>
        </p:txBody>
      </p:sp>
      <p:sp>
        <p:nvSpPr>
          <p:cNvPr id="11" name="body">
            <a:extLst>
              <a:ext uri="{FF2B5EF4-FFF2-40B4-BE49-F238E27FC236}">
                <a16:creationId xmlns:a16="http://schemas.microsoft.com/office/drawing/2014/main" id="{900CADD7-44BE-46AA-964B-E4B16137090D}"/>
              </a:ext>
            </a:extLst>
          </p:cNvPr>
          <p:cNvSpPr>
            <a:spLocks noGrp="1"/>
          </p:cNvSpPr>
          <p:nvPr/>
        </p:nvSpPr>
        <p:spPr>
          <a:xfrm>
            <a:off x="781050" y="4552950"/>
            <a:ext cx="7600950" cy="952500"/>
          </a:xfrm>
          <a:prstGeom prst="rect">
            <a:avLst/>
          </a:prstGeom>
          <a:noFill/>
          <a:ln w="0">
            <a:noFill/>
          </a:ln>
        </p:spPr>
        <p:txBody>
          <a:bodyPr wrap="square" lIns="0" tIns="0" rIns="0" bIns="0">
            <a:noAutofit/>
          </a:bodyPr>
          <a:lstStyle/>
          <a:p>
            <a:pPr>
              <a:defRPr sz="2250" b="0">
                <a:solidFill>
                  <a:srgbClr val="FF0000"/>
                </a:solidFill>
                <a:latin typeface="Calibri"/>
                <a:ea typeface="Calibri"/>
                <a:cs typeface="Calibri"/>
              </a:defRPr>
            </a:pPr>
            <a:r>
              <a:rPr sz="2250" b="0" dirty="0">
                <a:solidFill>
                  <a:srgbClr val="FF0000"/>
                </a:solidFill>
                <a:latin typeface="Calibri"/>
                <a:ea typeface="Calibri"/>
                <a:cs typeface="Calibri"/>
              </a:rPr>
              <a:t>Different input rows can produce the same output row.</a:t>
            </a:r>
          </a:p>
        </p:txBody>
      </p:sp>
      <p:sp>
        <p:nvSpPr>
          <p:cNvPr id="9001" name="Title 1">
            <a:extLst>
              <a:ext uri="{FF2B5EF4-FFF2-40B4-BE49-F238E27FC236}">
                <a16:creationId xmlns:a16="http://schemas.microsoft.com/office/drawing/2014/main" id="{4EF27E5C-9C4D-BDBE-7667-D0B141BCC8F5}"/>
              </a:ext>
            </a:extLst>
          </p:cNvPr>
          <p:cNvSpPr>
            <a:spLocks noGrp="1"/>
          </p:cNvSpPr>
          <p:nvPr>
            <p:ph type="title"/>
          </p:nvPr>
        </p:nvSpPr>
        <p:spPr/>
        <p:txBody>
          <a:bodyPr/>
          <a:lstStyle/>
          <a:p>
            <a:r>
              <a:rPr lang="en-US">
                <a:solidFill>
                  <a:srgbClr val="3333CC"/>
                </a:solidFill>
              </a:rPr>
              <a:t>Project Operation</a:t>
            </a:r>
          </a:p>
        </p:txBody>
      </p:sp>
      <p:sp>
        <p:nvSpPr>
          <p:cNvPr id="9002" name="Slide Number Placeholder 1">
            <a:extLst>
              <a:ext uri="{FF2B5EF4-FFF2-40B4-BE49-F238E27FC236}">
                <a16:creationId xmlns:a16="http://schemas.microsoft.com/office/drawing/2014/main" id="{B90139AC-3BDA-723A-097A-000DA0A784C1}"/>
              </a:ext>
            </a:extLst>
          </p:cNvPr>
          <p:cNvSpPr>
            <a:spLocks noGrp="1"/>
          </p:cNvSpPr>
          <p:nvPr>
            <p:ph type="sldNum" sz="quarter" idx="12"/>
          </p:nvPr>
        </p:nvSpPr>
        <p:spPr/>
        <p:txBody>
          <a:bodyPr/>
          <a:lstStyle/>
          <a:p>
            <a:pPr>
              <a:defRPr/>
            </a:pPr>
            <a:fld id="{43CA101F-9E5F-9249-9862-3CE55B3BB777}" type="slidenum">
              <a:rPr lang="en-US" altLang="zh-TW" smtClean="0"/>
              <a:pPr>
                <a:defRPr/>
              </a:pPr>
              <a:t>11</a:t>
            </a:fld>
            <a:endParaRPr lang="en-US" altLang="zh-TW"/>
          </a:p>
        </p:txBody>
      </p:sp>
    </p:spTree>
    <p:extLst>
      <p:ext uri="{BB962C8B-B14F-4D97-AF65-F5344CB8AC3E}">
        <p14:creationId xmlns:p14="http://schemas.microsoft.com/office/powerpoint/2010/main" val="104627350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body">
            <a:extLst>
              <a:ext uri="{FF2B5EF4-FFF2-40B4-BE49-F238E27FC236}">
                <a16:creationId xmlns:a16="http://schemas.microsoft.com/office/drawing/2014/main" id="{CD4A6653-F61E-4CB3-8D7A-636674329B44}"/>
              </a:ext>
            </a:extLst>
          </p:cNvPr>
          <p:cNvSpPr>
            <a:spLocks noGrp="1"/>
          </p:cNvSpPr>
          <p:nvPr/>
        </p:nvSpPr>
        <p:spPr>
          <a:xfrm>
            <a:off x="781050" y="5876925"/>
            <a:ext cx="7620000" cy="285750"/>
          </a:xfrm>
          <a:prstGeom prst="rect">
            <a:avLst/>
          </a:prstGeom>
          <a:noFill/>
          <a:ln w="0">
            <a:noFill/>
          </a:ln>
        </p:spPr>
        <p:txBody>
          <a:bodyPr wrap="square" lIns="0" tIns="0" rIns="0" bIns="0">
            <a:noAutofit/>
          </a:bodyPr>
          <a:lstStyle/>
          <a:p>
            <a:pPr>
              <a:defRPr sz="1725" b="0">
                <a:solidFill>
                  <a:srgbClr val="3333CC"/>
                </a:solidFill>
                <a:latin typeface="Calibri"/>
                <a:ea typeface="Calibri"/>
                <a:cs typeface="Calibri"/>
              </a:defRPr>
            </a:pPr>
            <a:r>
              <a:rPr sz="1725" b="0">
                <a:solidFill>
                  <a:srgbClr val="3333CC"/>
                </a:solidFill>
                <a:latin typeface="Calibri"/>
                <a:ea typeface="Calibri"/>
                <a:cs typeface="Calibri"/>
              </a:rPr>
              <a:t>Think: 30 s</a:t>
            </a:r>
          </a:p>
        </p:txBody>
      </p:sp>
      <p:sp>
        <p:nvSpPr>
          <p:cNvPr id="6" name="body">
            <a:extLst>
              <a:ext uri="{FF2B5EF4-FFF2-40B4-BE49-F238E27FC236}">
                <a16:creationId xmlns:a16="http://schemas.microsoft.com/office/drawing/2014/main" id="{030417A0-DBC3-48B6-8135-5B157F875503}"/>
              </a:ext>
            </a:extLst>
          </p:cNvPr>
          <p:cNvSpPr>
            <a:spLocks noGrp="1"/>
          </p:cNvSpPr>
          <p:nvPr/>
        </p:nvSpPr>
        <p:spPr>
          <a:xfrm>
            <a:off x="952500" y="1590675"/>
            <a:ext cx="7048500" cy="361950"/>
          </a:xfrm>
          <a:prstGeom prst="rect">
            <a:avLst/>
          </a:prstGeom>
          <a:noFill/>
          <a:ln w="0">
            <a:noFill/>
          </a:ln>
        </p:spPr>
        <p:txBody>
          <a:bodyPr wrap="square" lIns="0" tIns="0" rIns="0" bIns="0">
            <a:noAutofit/>
          </a:bodyPr>
          <a:lstStyle/>
          <a:p>
            <a:pPr>
              <a:defRPr sz="2250" b="0">
                <a:solidFill>
                  <a:srgbClr val="000000"/>
                </a:solidFill>
                <a:latin typeface="Calibri"/>
                <a:ea typeface="Calibri"/>
                <a:cs typeface="Calibri"/>
              </a:defRPr>
            </a:pPr>
            <a:r>
              <a:rPr sz="2250" b="0">
                <a:solidFill>
                  <a:srgbClr val="000000"/>
                </a:solidFill>
                <a:latin typeface="Calibri"/>
                <a:ea typeface="Calibri"/>
                <a:cs typeface="Calibri"/>
              </a:rPr>
              <a:t>Applicant</a:t>
            </a:r>
          </a:p>
        </p:txBody>
      </p:sp>
      <p:graphicFrame>
        <p:nvGraphicFramePr>
          <p:cNvPr id="16" name="表格 15"/>
          <p:cNvGraphicFramePr/>
          <p:nvPr/>
        </p:nvGraphicFramePr>
        <p:xfrm>
          <a:off x="1028700" y="2009775"/>
          <a:ext cx="7048500" cy="2000250"/>
        </p:xfrm>
        <a:graphic>
          <a:graphicData uri="http://schemas.openxmlformats.org/drawingml/2006/table">
            <a:tbl>
              <a:tblPr/>
              <a:tblGrid>
                <a:gridCol w="1409700">
                  <a:extLst>
                    <a:ext uri="{9D8B030D-6E8A-4147-A177-3AD203B41FA5}">
                      <a16:colId xmlns:a16="http://schemas.microsoft.com/office/drawing/2014/main" val="20000"/>
                    </a:ext>
                  </a:extLst>
                </a:gridCol>
                <a:gridCol w="1409700">
                  <a:extLst>
                    <a:ext uri="{9D8B030D-6E8A-4147-A177-3AD203B41FA5}">
                      <a16:colId xmlns:a16="http://schemas.microsoft.com/office/drawing/2014/main" val="20001"/>
                    </a:ext>
                  </a:extLst>
                </a:gridCol>
                <a:gridCol w="1409700">
                  <a:extLst>
                    <a:ext uri="{9D8B030D-6E8A-4147-A177-3AD203B41FA5}">
                      <a16:colId xmlns:a16="http://schemas.microsoft.com/office/drawing/2014/main" val="20002"/>
                    </a:ext>
                  </a:extLst>
                </a:gridCol>
                <a:gridCol w="1409700">
                  <a:extLst>
                    <a:ext uri="{9D8B030D-6E8A-4147-A177-3AD203B41FA5}">
                      <a16:colId xmlns:a16="http://schemas.microsoft.com/office/drawing/2014/main" val="20003"/>
                    </a:ext>
                  </a:extLst>
                </a:gridCol>
                <a:gridCol w="1409700">
                  <a:extLst>
                    <a:ext uri="{9D8B030D-6E8A-4147-A177-3AD203B41FA5}">
                      <a16:colId xmlns:a16="http://schemas.microsoft.com/office/drawing/2014/main" val="20004"/>
                    </a:ext>
                  </a:extLst>
                </a:gridCol>
              </a:tblGrid>
              <a:tr h="333375">
                <a:tc>
                  <a:txBody>
                    <a:bodyPr/>
                    <a:lstStyle/>
                    <a:p>
                      <a:pPr algn="ctr"/>
                      <a:r>
                        <a:rPr sz="1725">
                          <a:solidFill>
                            <a:srgbClr val="000000"/>
                          </a:solidFill>
                          <a:latin typeface="Calibri"/>
                          <a:ea typeface="Calibri"/>
                          <a:cs typeface="Calibri"/>
                        </a:rPr>
                        <a:t>uid</a:t>
                      </a:r>
                    </a:p>
                  </a:txBody>
                  <a:tcPr marL="47625" marR="47625" marT="28575" marB="28575" anchor="ctr">
                    <a:solidFill>
                      <a:srgbClr val="D9D9D9"/>
                    </a:solidFill>
                  </a:tcPr>
                </a:tc>
                <a:tc>
                  <a:txBody>
                    <a:bodyPr/>
                    <a:lstStyle/>
                    <a:p>
                      <a:pPr algn="ctr"/>
                      <a:r>
                        <a:rPr sz="1725">
                          <a:solidFill>
                            <a:srgbClr val="000000"/>
                          </a:solidFill>
                          <a:latin typeface="Calibri"/>
                          <a:ea typeface="Calibri"/>
                          <a:cs typeface="Calibri"/>
                        </a:rPr>
                        <a:t>uname</a:t>
                      </a:r>
                    </a:p>
                  </a:txBody>
                  <a:tcPr marL="47625" marR="47625" marT="28575" marB="28575" anchor="ctr">
                    <a:solidFill>
                      <a:srgbClr val="D9D9D9"/>
                    </a:solidFill>
                  </a:tcPr>
                </a:tc>
                <a:tc>
                  <a:txBody>
                    <a:bodyPr/>
                    <a:lstStyle/>
                    <a:p>
                      <a:pPr algn="ctr"/>
                      <a:r>
                        <a:rPr sz="1725">
                          <a:solidFill>
                            <a:srgbClr val="000000"/>
                          </a:solidFill>
                          <a:latin typeface="Calibri"/>
                          <a:ea typeface="Calibri"/>
                          <a:cs typeface="Calibri"/>
                        </a:rPr>
                        <a:t>major</a:t>
                      </a:r>
                    </a:p>
                  </a:txBody>
                  <a:tcPr marL="47625" marR="47625" marT="28575" marB="28575" anchor="ctr">
                    <a:solidFill>
                      <a:srgbClr val="D9D9D9"/>
                    </a:solidFill>
                  </a:tcPr>
                </a:tc>
                <a:tc>
                  <a:txBody>
                    <a:bodyPr/>
                    <a:lstStyle/>
                    <a:p>
                      <a:pPr algn="ctr"/>
                      <a:r>
                        <a:rPr sz="1725">
                          <a:solidFill>
                            <a:srgbClr val="000000"/>
                          </a:solidFill>
                          <a:latin typeface="Calibri"/>
                          <a:ea typeface="Calibri"/>
                          <a:cs typeface="Calibri"/>
                        </a:rPr>
                        <a:t>year</a:t>
                      </a:r>
                    </a:p>
                  </a:txBody>
                  <a:tcPr marL="47625" marR="47625" marT="28575" marB="28575" anchor="ctr">
                    <a:solidFill>
                      <a:srgbClr val="D9D9D9"/>
                    </a:solidFill>
                  </a:tcPr>
                </a:tc>
                <a:tc>
                  <a:txBody>
                    <a:bodyPr/>
                    <a:lstStyle/>
                    <a:p>
                      <a:pPr algn="ctr"/>
                      <a:r>
                        <a:rPr sz="1725">
                          <a:solidFill>
                            <a:srgbClr val="000000"/>
                          </a:solidFill>
                          <a:latin typeface="Calibri"/>
                          <a:ea typeface="Calibri"/>
                          <a:cs typeface="Calibri"/>
                        </a:rPr>
                        <a:t>score</a:t>
                      </a:r>
                    </a:p>
                  </a:txBody>
                  <a:tcPr marL="47625" marR="47625" marT="28575" marB="28575" anchor="ctr">
                    <a:solidFill>
                      <a:srgbClr val="D9D9D9"/>
                    </a:solidFill>
                  </a:tcPr>
                </a:tc>
                <a:extLst>
                  <a:ext uri="{0D108BD9-81ED-4DB2-BD59-A6C34878D82A}">
                    <a16:rowId xmlns:a16="http://schemas.microsoft.com/office/drawing/2014/main" val="10000"/>
                  </a:ext>
                </a:extLst>
              </a:tr>
              <a:tr h="333375">
                <a:tc>
                  <a:txBody>
                    <a:bodyPr/>
                    <a:lstStyle/>
                    <a:p>
                      <a:pPr algn="ctr"/>
                      <a:r>
                        <a:rPr sz="1725">
                          <a:solidFill>
                            <a:srgbClr val="000000"/>
                          </a:solidFill>
                          <a:latin typeface="Calibri"/>
                          <a:ea typeface="Calibri"/>
                          <a:cs typeface="Calibri"/>
                        </a:rPr>
                        <a:t>101</a:t>
                      </a:r>
                    </a:p>
                  </a:txBody>
                  <a:tcPr marL="47625" marR="47625" marT="28575" marB="28575" anchor="ctr">
                    <a:solidFill>
                      <a:srgbClr val="FFFFFF"/>
                    </a:solidFill>
                  </a:tcPr>
                </a:tc>
                <a:tc>
                  <a:txBody>
                    <a:bodyPr/>
                    <a:lstStyle/>
                    <a:p>
                      <a:pPr algn="ctr"/>
                      <a:r>
                        <a:rPr sz="1725">
                          <a:solidFill>
                            <a:srgbClr val="000000"/>
                          </a:solidFill>
                          <a:latin typeface="Calibri"/>
                          <a:ea typeface="Calibri"/>
                          <a:cs typeface="Calibri"/>
                        </a:rPr>
                        <a:t>Ada</a:t>
                      </a:r>
                    </a:p>
                  </a:txBody>
                  <a:tcPr marL="47625" marR="47625" marT="28575" marB="28575" anchor="ctr">
                    <a:solidFill>
                      <a:srgbClr val="FFFFFF"/>
                    </a:solidFill>
                  </a:tcPr>
                </a:tc>
                <a:tc>
                  <a:txBody>
                    <a:bodyPr/>
                    <a:lstStyle/>
                    <a:p>
                      <a:pPr algn="ctr"/>
                      <a:r>
                        <a:rPr sz="1725">
                          <a:solidFill>
                            <a:srgbClr val="000000"/>
                          </a:solidFill>
                          <a:latin typeface="Calibri"/>
                          <a:ea typeface="Calibri"/>
                          <a:cs typeface="Calibri"/>
                        </a:rPr>
                        <a:t>CS</a:t>
                      </a:r>
                    </a:p>
                  </a:txBody>
                  <a:tcPr marL="47625" marR="47625" marT="28575" marB="28575" anchor="ctr">
                    <a:solidFill>
                      <a:srgbClr val="FFFFFF"/>
                    </a:solidFill>
                  </a:tcPr>
                </a:tc>
                <a:tc>
                  <a:txBody>
                    <a:bodyPr/>
                    <a:lstStyle/>
                    <a:p>
                      <a:pPr algn="ctr"/>
                      <a:r>
                        <a:rPr sz="1725">
                          <a:solidFill>
                            <a:srgbClr val="000000"/>
                          </a:solidFill>
                          <a:latin typeface="Calibri"/>
                          <a:ea typeface="Calibri"/>
                          <a:cs typeface="Calibri"/>
                        </a:rPr>
                        <a:t>3</a:t>
                      </a:r>
                    </a:p>
                  </a:txBody>
                  <a:tcPr marL="47625" marR="47625" marT="28575" marB="28575" anchor="ctr">
                    <a:solidFill>
                      <a:srgbClr val="FFFFFF"/>
                    </a:solidFill>
                  </a:tcPr>
                </a:tc>
                <a:tc>
                  <a:txBody>
                    <a:bodyPr/>
                    <a:lstStyle/>
                    <a:p>
                      <a:pPr algn="ctr"/>
                      <a:r>
                        <a:rPr sz="1725">
                          <a:solidFill>
                            <a:srgbClr val="000000"/>
                          </a:solidFill>
                          <a:latin typeface="Calibri"/>
                          <a:ea typeface="Calibri"/>
                          <a:cs typeface="Calibri"/>
                        </a:rPr>
                        <a:t>86</a:t>
                      </a:r>
                    </a:p>
                  </a:txBody>
                  <a:tcPr marL="47625" marR="47625" marT="28575" marB="28575" anchor="ctr">
                    <a:solidFill>
                      <a:srgbClr val="FFFFFF"/>
                    </a:solidFill>
                  </a:tcPr>
                </a:tc>
                <a:extLst>
                  <a:ext uri="{0D108BD9-81ED-4DB2-BD59-A6C34878D82A}">
                    <a16:rowId xmlns:a16="http://schemas.microsoft.com/office/drawing/2014/main" val="10001"/>
                  </a:ext>
                </a:extLst>
              </a:tr>
              <a:tr h="333375">
                <a:tc>
                  <a:txBody>
                    <a:bodyPr/>
                    <a:lstStyle/>
                    <a:p>
                      <a:pPr algn="ctr"/>
                      <a:r>
                        <a:rPr sz="1725">
                          <a:solidFill>
                            <a:srgbClr val="000000"/>
                          </a:solidFill>
                          <a:latin typeface="Calibri"/>
                          <a:ea typeface="Calibri"/>
                          <a:cs typeface="Calibri"/>
                        </a:rPr>
                        <a:t>102</a:t>
                      </a:r>
                    </a:p>
                  </a:txBody>
                  <a:tcPr marL="47625" marR="47625" marT="28575" marB="28575" anchor="ctr">
                    <a:solidFill>
                      <a:srgbClr val="FFFFFF"/>
                    </a:solidFill>
                  </a:tcPr>
                </a:tc>
                <a:tc>
                  <a:txBody>
                    <a:bodyPr/>
                    <a:lstStyle/>
                    <a:p>
                      <a:pPr algn="ctr"/>
                      <a:r>
                        <a:rPr sz="1725">
                          <a:solidFill>
                            <a:srgbClr val="000000"/>
                          </a:solidFill>
                          <a:latin typeface="Calibri"/>
                          <a:ea typeface="Calibri"/>
                          <a:cs typeface="Calibri"/>
                        </a:rPr>
                        <a:t>Ben</a:t>
                      </a:r>
                    </a:p>
                  </a:txBody>
                  <a:tcPr marL="47625" marR="47625" marT="28575" marB="28575" anchor="ctr">
                    <a:solidFill>
                      <a:srgbClr val="FFFFFF"/>
                    </a:solidFill>
                  </a:tcPr>
                </a:tc>
                <a:tc>
                  <a:txBody>
                    <a:bodyPr/>
                    <a:lstStyle/>
                    <a:p>
                      <a:pPr algn="ctr"/>
                      <a:r>
                        <a:rPr sz="1725">
                          <a:solidFill>
                            <a:srgbClr val="000000"/>
                          </a:solidFill>
                          <a:latin typeface="Calibri"/>
                          <a:ea typeface="Calibri"/>
                          <a:cs typeface="Calibri"/>
                        </a:rPr>
                        <a:t>EE</a:t>
                      </a:r>
                    </a:p>
                  </a:txBody>
                  <a:tcPr marL="47625" marR="47625" marT="28575" marB="28575" anchor="ctr">
                    <a:solidFill>
                      <a:srgbClr val="FFFFFF"/>
                    </a:solidFill>
                  </a:tcPr>
                </a:tc>
                <a:tc>
                  <a:txBody>
                    <a:bodyPr/>
                    <a:lstStyle/>
                    <a:p>
                      <a:pPr algn="ctr"/>
                      <a:r>
                        <a:rPr sz="1725">
                          <a:solidFill>
                            <a:srgbClr val="000000"/>
                          </a:solidFill>
                          <a:latin typeface="Calibri"/>
                          <a:ea typeface="Calibri"/>
                          <a:cs typeface="Calibri"/>
                        </a:rPr>
                        <a:t>3</a:t>
                      </a:r>
                    </a:p>
                  </a:txBody>
                  <a:tcPr marL="47625" marR="47625" marT="28575" marB="28575" anchor="ctr">
                    <a:solidFill>
                      <a:srgbClr val="FFFFFF"/>
                    </a:solidFill>
                  </a:tcPr>
                </a:tc>
                <a:tc>
                  <a:txBody>
                    <a:bodyPr/>
                    <a:lstStyle/>
                    <a:p>
                      <a:pPr algn="ctr"/>
                      <a:r>
                        <a:rPr sz="1725">
                          <a:solidFill>
                            <a:srgbClr val="000000"/>
                          </a:solidFill>
                          <a:latin typeface="Calibri"/>
                          <a:ea typeface="Calibri"/>
                          <a:cs typeface="Calibri"/>
                        </a:rPr>
                        <a:t>80</a:t>
                      </a:r>
                    </a:p>
                  </a:txBody>
                  <a:tcPr marL="47625" marR="47625" marT="28575" marB="28575" anchor="ctr">
                    <a:solidFill>
                      <a:srgbClr val="FFFFFF"/>
                    </a:solidFill>
                  </a:tcPr>
                </a:tc>
                <a:extLst>
                  <a:ext uri="{0D108BD9-81ED-4DB2-BD59-A6C34878D82A}">
                    <a16:rowId xmlns:a16="http://schemas.microsoft.com/office/drawing/2014/main" val="10002"/>
                  </a:ext>
                </a:extLst>
              </a:tr>
              <a:tr h="333375">
                <a:tc>
                  <a:txBody>
                    <a:bodyPr/>
                    <a:lstStyle/>
                    <a:p>
                      <a:pPr algn="ctr"/>
                      <a:r>
                        <a:rPr sz="1725">
                          <a:solidFill>
                            <a:srgbClr val="000000"/>
                          </a:solidFill>
                          <a:latin typeface="Calibri"/>
                          <a:ea typeface="Calibri"/>
                          <a:cs typeface="Calibri"/>
                        </a:rPr>
                        <a:t>103</a:t>
                      </a:r>
                    </a:p>
                  </a:txBody>
                  <a:tcPr marL="47625" marR="47625" marT="28575" marB="28575" anchor="ctr">
                    <a:solidFill>
                      <a:srgbClr val="FFFFFF"/>
                    </a:solidFill>
                  </a:tcPr>
                </a:tc>
                <a:tc>
                  <a:txBody>
                    <a:bodyPr/>
                    <a:lstStyle/>
                    <a:p>
                      <a:pPr algn="ctr"/>
                      <a:r>
                        <a:rPr sz="1725">
                          <a:solidFill>
                            <a:srgbClr val="000000"/>
                          </a:solidFill>
                          <a:latin typeface="Calibri"/>
                          <a:ea typeface="Calibri"/>
                          <a:cs typeface="Calibri"/>
                        </a:rPr>
                        <a:t>Cara</a:t>
                      </a:r>
                    </a:p>
                  </a:txBody>
                  <a:tcPr marL="47625" marR="47625" marT="28575" marB="28575" anchor="ctr">
                    <a:solidFill>
                      <a:srgbClr val="FFFFFF"/>
                    </a:solidFill>
                  </a:tcPr>
                </a:tc>
                <a:tc>
                  <a:txBody>
                    <a:bodyPr/>
                    <a:lstStyle/>
                    <a:p>
                      <a:pPr algn="ctr"/>
                      <a:r>
                        <a:rPr sz="1725">
                          <a:solidFill>
                            <a:srgbClr val="000000"/>
                          </a:solidFill>
                          <a:latin typeface="Calibri"/>
                          <a:ea typeface="Calibri"/>
                          <a:cs typeface="Calibri"/>
                        </a:rPr>
                        <a:t>CS</a:t>
                      </a:r>
                    </a:p>
                  </a:txBody>
                  <a:tcPr marL="47625" marR="47625" marT="28575" marB="28575" anchor="ctr">
                    <a:solidFill>
                      <a:srgbClr val="FFFFFF"/>
                    </a:solidFill>
                  </a:tcPr>
                </a:tc>
                <a:tc>
                  <a:txBody>
                    <a:bodyPr/>
                    <a:lstStyle/>
                    <a:p>
                      <a:pPr algn="ctr"/>
                      <a:r>
                        <a:rPr sz="1725">
                          <a:solidFill>
                            <a:srgbClr val="000000"/>
                          </a:solidFill>
                          <a:latin typeface="Calibri"/>
                          <a:ea typeface="Calibri"/>
                          <a:cs typeface="Calibri"/>
                        </a:rPr>
                        <a:t>3</a:t>
                      </a:r>
                    </a:p>
                  </a:txBody>
                  <a:tcPr marL="47625" marR="47625" marT="28575" marB="28575" anchor="ctr">
                    <a:solidFill>
                      <a:srgbClr val="FFFFFF"/>
                    </a:solidFill>
                  </a:tcPr>
                </a:tc>
                <a:tc>
                  <a:txBody>
                    <a:bodyPr/>
                    <a:lstStyle/>
                    <a:p>
                      <a:pPr algn="ctr"/>
                      <a:r>
                        <a:rPr sz="1725">
                          <a:solidFill>
                            <a:srgbClr val="000000"/>
                          </a:solidFill>
                          <a:latin typeface="Calibri"/>
                          <a:ea typeface="Calibri"/>
                          <a:cs typeface="Calibri"/>
                        </a:rPr>
                        <a:t>80</a:t>
                      </a:r>
                    </a:p>
                  </a:txBody>
                  <a:tcPr marL="47625" marR="47625" marT="28575" marB="28575" anchor="ctr">
                    <a:solidFill>
                      <a:srgbClr val="FFFFFF"/>
                    </a:solidFill>
                  </a:tcPr>
                </a:tc>
                <a:extLst>
                  <a:ext uri="{0D108BD9-81ED-4DB2-BD59-A6C34878D82A}">
                    <a16:rowId xmlns:a16="http://schemas.microsoft.com/office/drawing/2014/main" val="10003"/>
                  </a:ext>
                </a:extLst>
              </a:tr>
              <a:tr h="333375">
                <a:tc>
                  <a:txBody>
                    <a:bodyPr/>
                    <a:lstStyle/>
                    <a:p>
                      <a:pPr algn="ctr"/>
                      <a:r>
                        <a:rPr sz="1725">
                          <a:solidFill>
                            <a:srgbClr val="000000"/>
                          </a:solidFill>
                          <a:latin typeface="Calibri"/>
                          <a:ea typeface="Calibri"/>
                          <a:cs typeface="Calibri"/>
                        </a:rPr>
                        <a:t>104</a:t>
                      </a:r>
                    </a:p>
                  </a:txBody>
                  <a:tcPr marL="47625" marR="47625" marT="28575" marB="28575" anchor="ctr">
                    <a:solidFill>
                      <a:srgbClr val="FFFFFF"/>
                    </a:solidFill>
                  </a:tcPr>
                </a:tc>
                <a:tc>
                  <a:txBody>
                    <a:bodyPr/>
                    <a:lstStyle/>
                    <a:p>
                      <a:pPr algn="ctr"/>
                      <a:r>
                        <a:rPr sz="1725">
                          <a:solidFill>
                            <a:srgbClr val="000000"/>
                          </a:solidFill>
                          <a:latin typeface="Calibri"/>
                          <a:ea typeface="Calibri"/>
                          <a:cs typeface="Calibri"/>
                        </a:rPr>
                        <a:t>Dev</a:t>
                      </a:r>
                    </a:p>
                  </a:txBody>
                  <a:tcPr marL="47625" marR="47625" marT="28575" marB="28575" anchor="ctr">
                    <a:solidFill>
                      <a:srgbClr val="FFFFFF"/>
                    </a:solidFill>
                  </a:tcPr>
                </a:tc>
                <a:tc>
                  <a:txBody>
                    <a:bodyPr/>
                    <a:lstStyle/>
                    <a:p>
                      <a:pPr algn="ctr"/>
                      <a:r>
                        <a:rPr sz="1725">
                          <a:solidFill>
                            <a:srgbClr val="000000"/>
                          </a:solidFill>
                          <a:latin typeface="Calibri"/>
                          <a:ea typeface="Calibri"/>
                          <a:cs typeface="Calibri"/>
                        </a:rPr>
                        <a:t>DS</a:t>
                      </a:r>
                    </a:p>
                  </a:txBody>
                  <a:tcPr marL="47625" marR="47625" marT="28575" marB="28575" anchor="ctr">
                    <a:solidFill>
                      <a:srgbClr val="FFFFFF"/>
                    </a:solidFill>
                  </a:tcPr>
                </a:tc>
                <a:tc>
                  <a:txBody>
                    <a:bodyPr/>
                    <a:lstStyle/>
                    <a:p>
                      <a:pPr algn="ctr"/>
                      <a:r>
                        <a:rPr sz="1725">
                          <a:solidFill>
                            <a:srgbClr val="000000"/>
                          </a:solidFill>
                          <a:latin typeface="Calibri"/>
                          <a:ea typeface="Calibri"/>
                          <a:cs typeface="Calibri"/>
                        </a:rPr>
                        <a:t>2</a:t>
                      </a:r>
                    </a:p>
                  </a:txBody>
                  <a:tcPr marL="47625" marR="47625" marT="28575" marB="28575" anchor="ctr">
                    <a:solidFill>
                      <a:srgbClr val="FFFFFF"/>
                    </a:solidFill>
                  </a:tcPr>
                </a:tc>
                <a:tc>
                  <a:txBody>
                    <a:bodyPr/>
                    <a:lstStyle/>
                    <a:p>
                      <a:pPr algn="ctr"/>
                      <a:r>
                        <a:rPr sz="1725">
                          <a:solidFill>
                            <a:srgbClr val="000000"/>
                          </a:solidFill>
                          <a:latin typeface="Calibri"/>
                          <a:ea typeface="Calibri"/>
                          <a:cs typeface="Calibri"/>
                        </a:rPr>
                        <a:t>74</a:t>
                      </a:r>
                    </a:p>
                  </a:txBody>
                  <a:tcPr marL="47625" marR="47625" marT="28575" marB="28575" anchor="ctr">
                    <a:solidFill>
                      <a:srgbClr val="FFFFFF"/>
                    </a:solidFill>
                  </a:tcPr>
                </a:tc>
                <a:extLst>
                  <a:ext uri="{0D108BD9-81ED-4DB2-BD59-A6C34878D82A}">
                    <a16:rowId xmlns:a16="http://schemas.microsoft.com/office/drawing/2014/main" val="10004"/>
                  </a:ext>
                </a:extLst>
              </a:tr>
              <a:tr h="333375">
                <a:tc>
                  <a:txBody>
                    <a:bodyPr/>
                    <a:lstStyle/>
                    <a:p>
                      <a:pPr algn="ctr"/>
                      <a:r>
                        <a:rPr sz="1725">
                          <a:solidFill>
                            <a:srgbClr val="000000"/>
                          </a:solidFill>
                          <a:latin typeface="Calibri"/>
                          <a:ea typeface="Calibri"/>
                          <a:cs typeface="Calibri"/>
                        </a:rPr>
                        <a:t>105</a:t>
                      </a:r>
                    </a:p>
                  </a:txBody>
                  <a:tcPr marL="47625" marR="47625" marT="28575" marB="28575" anchor="ctr">
                    <a:solidFill>
                      <a:srgbClr val="FFFFFF"/>
                    </a:solidFill>
                  </a:tcPr>
                </a:tc>
                <a:tc>
                  <a:txBody>
                    <a:bodyPr/>
                    <a:lstStyle/>
                    <a:p>
                      <a:pPr algn="ctr"/>
                      <a:r>
                        <a:rPr sz="1725">
                          <a:solidFill>
                            <a:srgbClr val="000000"/>
                          </a:solidFill>
                          <a:latin typeface="Calibri"/>
                          <a:ea typeface="Calibri"/>
                          <a:cs typeface="Calibri"/>
                        </a:rPr>
                        <a:t>Eli</a:t>
                      </a:r>
                    </a:p>
                  </a:txBody>
                  <a:tcPr marL="47625" marR="47625" marT="28575" marB="28575" anchor="ctr">
                    <a:solidFill>
                      <a:srgbClr val="FFFFFF"/>
                    </a:solidFill>
                  </a:tcPr>
                </a:tc>
                <a:tc>
                  <a:txBody>
                    <a:bodyPr/>
                    <a:lstStyle/>
                    <a:p>
                      <a:pPr algn="ctr"/>
                      <a:r>
                        <a:rPr sz="1725">
                          <a:solidFill>
                            <a:srgbClr val="000000"/>
                          </a:solidFill>
                          <a:latin typeface="Calibri"/>
                          <a:ea typeface="Calibri"/>
                          <a:cs typeface="Calibri"/>
                        </a:rPr>
                        <a:t>CS</a:t>
                      </a:r>
                    </a:p>
                  </a:txBody>
                  <a:tcPr marL="47625" marR="47625" marT="28575" marB="28575" anchor="ctr">
                    <a:solidFill>
                      <a:srgbClr val="FFFFFF"/>
                    </a:solidFill>
                  </a:tcPr>
                </a:tc>
                <a:tc>
                  <a:txBody>
                    <a:bodyPr/>
                    <a:lstStyle/>
                    <a:p>
                      <a:pPr algn="ctr"/>
                      <a:r>
                        <a:rPr sz="1725">
                          <a:solidFill>
                            <a:srgbClr val="000000"/>
                          </a:solidFill>
                          <a:latin typeface="Calibri"/>
                          <a:ea typeface="Calibri"/>
                          <a:cs typeface="Calibri"/>
                        </a:rPr>
                        <a:t>3</a:t>
                      </a:r>
                    </a:p>
                  </a:txBody>
                  <a:tcPr marL="47625" marR="47625" marT="28575" marB="28575" anchor="ctr">
                    <a:solidFill>
                      <a:srgbClr val="FFFFFF"/>
                    </a:solidFill>
                  </a:tcPr>
                </a:tc>
                <a:tc>
                  <a:txBody>
                    <a:bodyPr/>
                    <a:lstStyle/>
                    <a:p>
                      <a:pPr algn="ctr"/>
                      <a:r>
                        <a:rPr sz="1725">
                          <a:solidFill>
                            <a:srgbClr val="000000"/>
                          </a:solidFill>
                          <a:latin typeface="Calibri"/>
                          <a:ea typeface="Calibri"/>
                          <a:cs typeface="Calibri"/>
                        </a:rPr>
                        <a:t>91</a:t>
                      </a:r>
                    </a:p>
                  </a:txBody>
                  <a:tcPr marL="47625" marR="47625" marT="28575" marB="28575" anchor="ctr">
                    <a:solidFill>
                      <a:srgbClr val="FFFFFF"/>
                    </a:solidFill>
                  </a:tcPr>
                </a:tc>
                <a:extLst>
                  <a:ext uri="{0D108BD9-81ED-4DB2-BD59-A6C34878D82A}">
                    <a16:rowId xmlns:a16="http://schemas.microsoft.com/office/drawing/2014/main" val="10005"/>
                  </a:ext>
                </a:extLst>
              </a:tr>
            </a:tbl>
          </a:graphicData>
        </a:graphic>
      </p:graphicFrame>
      <p:sp>
        <p:nvSpPr>
          <p:cNvPr id="8" name="body">
            <a:extLst>
              <a:ext uri="{FF2B5EF4-FFF2-40B4-BE49-F238E27FC236}">
                <a16:creationId xmlns:a16="http://schemas.microsoft.com/office/drawing/2014/main" id="{23020036-C3C9-4E23-B4EA-BC5DF6F82586}"/>
              </a:ext>
            </a:extLst>
          </p:cNvPr>
          <p:cNvSpPr>
            <a:spLocks noGrp="1"/>
          </p:cNvSpPr>
          <p:nvPr/>
        </p:nvSpPr>
        <p:spPr>
          <a:xfrm>
            <a:off x="781050" y="4314825"/>
            <a:ext cx="7600950" cy="952500"/>
          </a:xfrm>
          <a:prstGeom prst="rect">
            <a:avLst/>
          </a:prstGeom>
          <a:noFill/>
          <a:ln w="0">
            <a:noFill/>
          </a:ln>
        </p:spPr>
        <p:txBody>
          <a:bodyPr wrap="square" lIns="0" tIns="0" rIns="0" bIns="0">
            <a:noAutofit/>
          </a:bodyPr>
          <a:lstStyle/>
          <a:p>
            <a:pPr>
              <a:defRPr sz="2250" b="0">
                <a:solidFill>
                  <a:srgbClr val="FF0000"/>
                </a:solidFill>
                <a:latin typeface="Calibri"/>
                <a:ea typeface="Calibri"/>
                <a:cs typeface="Calibri"/>
              </a:defRPr>
            </a:pPr>
            <a:r>
              <a:rPr sz="2250" b="0" dirty="0">
                <a:solidFill>
                  <a:srgbClr val="FF0000"/>
                </a:solidFill>
                <a:latin typeface="Calibri"/>
                <a:ea typeface="Calibri"/>
                <a:cs typeface="Calibri"/>
              </a:rPr>
              <a:t>Find all distinct (major, year) combinations.</a:t>
            </a:r>
          </a:p>
        </p:txBody>
      </p:sp>
      <p:sp>
        <p:nvSpPr>
          <p:cNvPr id="9" name="body">
            <a:extLst>
              <a:ext uri="{FF2B5EF4-FFF2-40B4-BE49-F238E27FC236}">
                <a16:creationId xmlns:a16="http://schemas.microsoft.com/office/drawing/2014/main" id="{0F47BFAB-82D8-453E-8869-0576069E31CC}"/>
              </a:ext>
            </a:extLst>
          </p:cNvPr>
          <p:cNvSpPr>
            <a:spLocks noGrp="1"/>
          </p:cNvSpPr>
          <p:nvPr/>
        </p:nvSpPr>
        <p:spPr>
          <a:xfrm>
            <a:off x="781050" y="5000625"/>
            <a:ext cx="7600950" cy="952500"/>
          </a:xfrm>
          <a:prstGeom prst="rect">
            <a:avLst/>
          </a:prstGeom>
          <a:noFill/>
          <a:ln w="0">
            <a:noFill/>
          </a:ln>
        </p:spPr>
        <p:txBody>
          <a:bodyPr wrap="square" lIns="0" tIns="0" rIns="0" bIns="0">
            <a:noAutofit/>
          </a:bodyPr>
          <a:lstStyle/>
          <a:p>
            <a:pPr>
              <a:defRPr sz="2100" b="0">
                <a:solidFill>
                  <a:srgbClr val="000000"/>
                </a:solidFill>
                <a:latin typeface="Calibri"/>
                <a:ea typeface="Calibri"/>
                <a:cs typeface="Calibri"/>
              </a:defRPr>
            </a:pPr>
            <a:r>
              <a:rPr sz="2100" b="0">
                <a:solidFill>
                  <a:srgbClr val="000000"/>
                </a:solidFill>
                <a:latin typeface="Calibri"/>
                <a:ea typeface="Calibri"/>
                <a:cs typeface="Calibri"/>
              </a:rPr>
              <a:t>Write the expression and state the number of result tuples.</a:t>
            </a:r>
          </a:p>
        </p:txBody>
      </p:sp>
      <p:sp>
        <p:nvSpPr>
          <p:cNvPr id="9001" name="Title 1">
            <a:extLst>
              <a:ext uri="{FF2B5EF4-FFF2-40B4-BE49-F238E27FC236}">
                <a16:creationId xmlns:a16="http://schemas.microsoft.com/office/drawing/2014/main" id="{4EF27E5C-9C4D-BDBE-7667-D0B141BCC8F5}"/>
              </a:ext>
            </a:extLst>
          </p:cNvPr>
          <p:cNvSpPr>
            <a:spLocks noGrp="1"/>
          </p:cNvSpPr>
          <p:nvPr>
            <p:ph type="title"/>
          </p:nvPr>
        </p:nvSpPr>
        <p:spPr/>
        <p:txBody>
          <a:bodyPr/>
          <a:lstStyle/>
          <a:p>
            <a:r>
              <a:rPr lang="en-US">
                <a:solidFill>
                  <a:srgbClr val="FF0000"/>
                </a:solidFill>
              </a:rPr>
              <a:t>Practice: </a:t>
            </a:r>
            <a:r>
              <a:rPr lang="en-US">
                <a:solidFill>
                  <a:srgbClr val="3333CC"/>
                </a:solidFill>
              </a:rPr>
              <a:t>Q4</a:t>
            </a:r>
          </a:p>
        </p:txBody>
      </p:sp>
      <p:sp>
        <p:nvSpPr>
          <p:cNvPr id="9002" name="Slide Number Placeholder 1">
            <a:extLst>
              <a:ext uri="{FF2B5EF4-FFF2-40B4-BE49-F238E27FC236}">
                <a16:creationId xmlns:a16="http://schemas.microsoft.com/office/drawing/2014/main" id="{B90139AC-3BDA-723A-097A-000DA0A784C1}"/>
              </a:ext>
            </a:extLst>
          </p:cNvPr>
          <p:cNvSpPr>
            <a:spLocks noGrp="1"/>
          </p:cNvSpPr>
          <p:nvPr>
            <p:ph type="sldNum" sz="quarter" idx="12"/>
          </p:nvPr>
        </p:nvSpPr>
        <p:spPr/>
        <p:txBody>
          <a:bodyPr/>
          <a:lstStyle/>
          <a:p>
            <a:pPr>
              <a:defRPr/>
            </a:pPr>
            <a:fld id="{43CA101F-9E5F-9249-9862-3CE55B3BB777}" type="slidenum">
              <a:rPr lang="en-US" altLang="zh-TW" smtClean="0"/>
              <a:pPr>
                <a:defRPr/>
              </a:pPr>
              <a:t>12</a:t>
            </a:fld>
            <a:endParaRPr lang="en-US" altLang="zh-TW"/>
          </a:p>
        </p:txBody>
      </p:sp>
    </p:spTree>
    <p:extLst>
      <p:ext uri="{BB962C8B-B14F-4D97-AF65-F5344CB8AC3E}">
        <p14:creationId xmlns:p14="http://schemas.microsoft.com/office/powerpoint/2010/main" val="206317378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formula">
            <a:extLst>
              <a:ext uri="{FF2B5EF4-FFF2-40B4-BE49-F238E27FC236}">
                <a16:creationId xmlns:a16="http://schemas.microsoft.com/office/drawing/2014/main" id="{0BBFA66B-03B8-449F-8BC9-85E450B46A6C}"/>
              </a:ext>
            </a:extLst>
          </p:cNvPr>
          <p:cNvSpPr>
            <a:spLocks noGrp="1"/>
          </p:cNvSpPr>
          <p:nvPr/>
        </p:nvSpPr>
        <p:spPr>
          <a:xfrm>
            <a:off x="781050" y="1143000"/>
            <a:ext cx="7600950" cy="523875"/>
          </a:xfrm>
          <a:prstGeom prst="rect">
            <a:avLst/>
          </a:prstGeom>
          <a:noFill/>
          <a:ln w="0">
            <a:noFill/>
          </a:ln>
        </p:spPr>
        <p:txBody>
          <a:bodyPr wrap="square" lIns="0" tIns="0" rIns="0" bIns="0">
            <a:noAutofit/>
          </a:bodyPr>
          <a:lstStyle/>
          <a:p>
            <a:pPr>
              <a:defRPr sz="2175" b="0">
                <a:solidFill>
                  <a:srgbClr val="000000"/>
                </a:solidFill>
                <a:latin typeface="Cambria Math"/>
                <a:ea typeface="Cambria Math"/>
                <a:cs typeface="Cambria Math"/>
              </a:defRPr>
            </a:pPr>
            <a:r>
              <a:rPr sz="2175" b="0">
                <a:solidFill>
                  <a:srgbClr val="000000"/>
                </a:solidFill>
                <a:latin typeface="Cambria Math"/>
                <a:ea typeface="Cambria Math"/>
                <a:cs typeface="Cambria Math"/>
              </a:rPr>
              <a:t>π</a:t>
            </a:r>
            <a:r>
              <a:rPr sz="1544" b="0" baseline="-25000">
                <a:solidFill>
                  <a:srgbClr val="000000"/>
                </a:solidFill>
                <a:latin typeface="Cambria Math"/>
                <a:ea typeface="Cambria Math"/>
                <a:cs typeface="Cambria Math"/>
              </a:rPr>
              <a:t>major,year</a:t>
            </a:r>
            <a:r>
              <a:rPr sz="2175" b="0">
                <a:solidFill>
                  <a:srgbClr val="000000"/>
                </a:solidFill>
                <a:latin typeface="Cambria Math"/>
                <a:ea typeface="Cambria Math"/>
                <a:cs typeface="Cambria Math"/>
              </a:rPr>
              <a:t>(Applicant)</a:t>
            </a:r>
          </a:p>
        </p:txBody>
      </p:sp>
      <p:sp>
        <p:nvSpPr>
          <p:cNvPr id="4" name="body">
            <a:extLst>
              <a:ext uri="{FF2B5EF4-FFF2-40B4-BE49-F238E27FC236}">
                <a16:creationId xmlns:a16="http://schemas.microsoft.com/office/drawing/2014/main" id="{07C4388B-4D8A-457F-B596-4B320357E3F4}"/>
              </a:ext>
            </a:extLst>
          </p:cNvPr>
          <p:cNvSpPr>
            <a:spLocks noGrp="1"/>
          </p:cNvSpPr>
          <p:nvPr/>
        </p:nvSpPr>
        <p:spPr>
          <a:xfrm>
            <a:off x="2019300" y="1847850"/>
            <a:ext cx="4953000" cy="361950"/>
          </a:xfrm>
          <a:prstGeom prst="rect">
            <a:avLst/>
          </a:prstGeom>
          <a:noFill/>
          <a:ln w="0">
            <a:noFill/>
          </a:ln>
        </p:spPr>
        <p:txBody>
          <a:bodyPr wrap="square" lIns="0" tIns="0" rIns="0" bIns="0">
            <a:noAutofit/>
          </a:bodyPr>
          <a:lstStyle/>
          <a:p>
            <a:pPr>
              <a:defRPr sz="2250" b="0">
                <a:solidFill>
                  <a:srgbClr val="000000"/>
                </a:solidFill>
                <a:latin typeface="Calibri"/>
                <a:ea typeface="Calibri"/>
                <a:cs typeface="Calibri"/>
              </a:defRPr>
            </a:pPr>
            <a:r>
              <a:rPr sz="2250" b="0">
                <a:solidFill>
                  <a:srgbClr val="000000"/>
                </a:solidFill>
                <a:latin typeface="Calibri"/>
                <a:ea typeface="Calibri"/>
                <a:cs typeface="Calibri"/>
              </a:rPr>
              <a:t>Result</a:t>
            </a:r>
          </a:p>
        </p:txBody>
      </p:sp>
      <p:graphicFrame>
        <p:nvGraphicFramePr>
          <p:cNvPr id="12" name="表格 11"/>
          <p:cNvGraphicFramePr/>
          <p:nvPr/>
        </p:nvGraphicFramePr>
        <p:xfrm>
          <a:off x="2095500" y="2266950"/>
          <a:ext cx="4953000" cy="1714500"/>
        </p:xfrm>
        <a:graphic>
          <a:graphicData uri="http://schemas.openxmlformats.org/drawingml/2006/table">
            <a:tbl>
              <a:tblPr/>
              <a:tblGrid>
                <a:gridCol w="2476500">
                  <a:extLst>
                    <a:ext uri="{9D8B030D-6E8A-4147-A177-3AD203B41FA5}">
                      <a16:colId xmlns:a16="http://schemas.microsoft.com/office/drawing/2014/main" val="20000"/>
                    </a:ext>
                  </a:extLst>
                </a:gridCol>
                <a:gridCol w="2476500">
                  <a:extLst>
                    <a:ext uri="{9D8B030D-6E8A-4147-A177-3AD203B41FA5}">
                      <a16:colId xmlns:a16="http://schemas.microsoft.com/office/drawing/2014/main" val="20001"/>
                    </a:ext>
                  </a:extLst>
                </a:gridCol>
              </a:tblGrid>
              <a:tr h="428625">
                <a:tc>
                  <a:txBody>
                    <a:bodyPr/>
                    <a:lstStyle/>
                    <a:p>
                      <a:pPr algn="ctr"/>
                      <a:r>
                        <a:rPr sz="2100">
                          <a:solidFill>
                            <a:srgbClr val="000000"/>
                          </a:solidFill>
                          <a:latin typeface="Calibri"/>
                          <a:ea typeface="Calibri"/>
                          <a:cs typeface="Calibri"/>
                        </a:rPr>
                        <a:t>major</a:t>
                      </a:r>
                    </a:p>
                  </a:txBody>
                  <a:tcPr marL="47625" marR="47625" marT="28575" marB="28575" anchor="ctr">
                    <a:solidFill>
                      <a:srgbClr val="D9D9D9"/>
                    </a:solidFill>
                  </a:tcPr>
                </a:tc>
                <a:tc>
                  <a:txBody>
                    <a:bodyPr/>
                    <a:lstStyle/>
                    <a:p>
                      <a:pPr algn="ctr"/>
                      <a:r>
                        <a:rPr sz="2100">
                          <a:solidFill>
                            <a:srgbClr val="000000"/>
                          </a:solidFill>
                          <a:latin typeface="Calibri"/>
                          <a:ea typeface="Calibri"/>
                          <a:cs typeface="Calibri"/>
                        </a:rPr>
                        <a:t>year</a:t>
                      </a:r>
                    </a:p>
                  </a:txBody>
                  <a:tcPr marL="47625" marR="47625" marT="28575" marB="28575" anchor="ctr">
                    <a:solidFill>
                      <a:srgbClr val="D9D9D9"/>
                    </a:solidFill>
                  </a:tcPr>
                </a:tc>
                <a:extLst>
                  <a:ext uri="{0D108BD9-81ED-4DB2-BD59-A6C34878D82A}">
                    <a16:rowId xmlns:a16="http://schemas.microsoft.com/office/drawing/2014/main" val="10000"/>
                  </a:ext>
                </a:extLst>
              </a:tr>
              <a:tr h="428625">
                <a:tc>
                  <a:txBody>
                    <a:bodyPr/>
                    <a:lstStyle/>
                    <a:p>
                      <a:pPr algn="ctr"/>
                      <a:r>
                        <a:rPr sz="2100">
                          <a:solidFill>
                            <a:srgbClr val="000000"/>
                          </a:solidFill>
                          <a:latin typeface="Calibri"/>
                          <a:ea typeface="Calibri"/>
                          <a:cs typeface="Calibri"/>
                        </a:rPr>
                        <a:t>CS</a:t>
                      </a:r>
                    </a:p>
                  </a:txBody>
                  <a:tcPr marL="47625" marR="47625" marT="28575" marB="28575" anchor="ctr">
                    <a:solidFill>
                      <a:srgbClr val="FFFFFF"/>
                    </a:solidFill>
                  </a:tcPr>
                </a:tc>
                <a:tc>
                  <a:txBody>
                    <a:bodyPr/>
                    <a:lstStyle/>
                    <a:p>
                      <a:pPr algn="ctr"/>
                      <a:r>
                        <a:rPr sz="2100">
                          <a:solidFill>
                            <a:srgbClr val="000000"/>
                          </a:solidFill>
                          <a:latin typeface="Calibri"/>
                          <a:ea typeface="Calibri"/>
                          <a:cs typeface="Calibri"/>
                        </a:rPr>
                        <a:t>3</a:t>
                      </a:r>
                    </a:p>
                  </a:txBody>
                  <a:tcPr marL="47625" marR="47625" marT="28575" marB="28575" anchor="ctr">
                    <a:solidFill>
                      <a:srgbClr val="FFFFFF"/>
                    </a:solidFill>
                  </a:tcPr>
                </a:tc>
                <a:extLst>
                  <a:ext uri="{0D108BD9-81ED-4DB2-BD59-A6C34878D82A}">
                    <a16:rowId xmlns:a16="http://schemas.microsoft.com/office/drawing/2014/main" val="10001"/>
                  </a:ext>
                </a:extLst>
              </a:tr>
              <a:tr h="428625">
                <a:tc>
                  <a:txBody>
                    <a:bodyPr/>
                    <a:lstStyle/>
                    <a:p>
                      <a:pPr algn="ctr"/>
                      <a:r>
                        <a:rPr sz="2100">
                          <a:solidFill>
                            <a:srgbClr val="000000"/>
                          </a:solidFill>
                          <a:latin typeface="Calibri"/>
                          <a:ea typeface="Calibri"/>
                          <a:cs typeface="Calibri"/>
                        </a:rPr>
                        <a:t>EE</a:t>
                      </a:r>
                    </a:p>
                  </a:txBody>
                  <a:tcPr marL="47625" marR="47625" marT="28575" marB="28575" anchor="ctr">
                    <a:solidFill>
                      <a:srgbClr val="FFFFFF"/>
                    </a:solidFill>
                  </a:tcPr>
                </a:tc>
                <a:tc>
                  <a:txBody>
                    <a:bodyPr/>
                    <a:lstStyle/>
                    <a:p>
                      <a:pPr algn="ctr"/>
                      <a:r>
                        <a:rPr sz="2100">
                          <a:solidFill>
                            <a:srgbClr val="000000"/>
                          </a:solidFill>
                          <a:latin typeface="Calibri"/>
                          <a:ea typeface="Calibri"/>
                          <a:cs typeface="Calibri"/>
                        </a:rPr>
                        <a:t>3</a:t>
                      </a:r>
                    </a:p>
                  </a:txBody>
                  <a:tcPr marL="47625" marR="47625" marT="28575" marB="28575" anchor="ctr">
                    <a:solidFill>
                      <a:srgbClr val="FFFFFF"/>
                    </a:solidFill>
                  </a:tcPr>
                </a:tc>
                <a:extLst>
                  <a:ext uri="{0D108BD9-81ED-4DB2-BD59-A6C34878D82A}">
                    <a16:rowId xmlns:a16="http://schemas.microsoft.com/office/drawing/2014/main" val="10002"/>
                  </a:ext>
                </a:extLst>
              </a:tr>
              <a:tr h="428625">
                <a:tc>
                  <a:txBody>
                    <a:bodyPr/>
                    <a:lstStyle/>
                    <a:p>
                      <a:pPr algn="ctr"/>
                      <a:r>
                        <a:rPr sz="2100">
                          <a:solidFill>
                            <a:srgbClr val="000000"/>
                          </a:solidFill>
                          <a:latin typeface="Calibri"/>
                          <a:ea typeface="Calibri"/>
                          <a:cs typeface="Calibri"/>
                        </a:rPr>
                        <a:t>DS</a:t>
                      </a:r>
                    </a:p>
                  </a:txBody>
                  <a:tcPr marL="47625" marR="47625" marT="28575" marB="28575" anchor="ctr">
                    <a:solidFill>
                      <a:srgbClr val="FFFFFF"/>
                    </a:solidFill>
                  </a:tcPr>
                </a:tc>
                <a:tc>
                  <a:txBody>
                    <a:bodyPr/>
                    <a:lstStyle/>
                    <a:p>
                      <a:pPr algn="ctr"/>
                      <a:r>
                        <a:rPr sz="2100">
                          <a:solidFill>
                            <a:srgbClr val="000000"/>
                          </a:solidFill>
                          <a:latin typeface="Calibri"/>
                          <a:ea typeface="Calibri"/>
                          <a:cs typeface="Calibri"/>
                        </a:rPr>
                        <a:t>2</a:t>
                      </a:r>
                    </a:p>
                  </a:txBody>
                  <a:tcPr marL="47625" marR="47625" marT="28575" marB="28575" anchor="ctr">
                    <a:solidFill>
                      <a:srgbClr val="FFFFFF"/>
                    </a:solidFill>
                  </a:tcPr>
                </a:tc>
                <a:extLst>
                  <a:ext uri="{0D108BD9-81ED-4DB2-BD59-A6C34878D82A}">
                    <a16:rowId xmlns:a16="http://schemas.microsoft.com/office/drawing/2014/main" val="10003"/>
                  </a:ext>
                </a:extLst>
              </a:tr>
            </a:tbl>
          </a:graphicData>
        </a:graphic>
      </p:graphicFrame>
      <p:sp>
        <p:nvSpPr>
          <p:cNvPr id="6" name="body">
            <a:extLst>
              <a:ext uri="{FF2B5EF4-FFF2-40B4-BE49-F238E27FC236}">
                <a16:creationId xmlns:a16="http://schemas.microsoft.com/office/drawing/2014/main" id="{B09A3220-8497-406D-9989-583D6FE799F1}"/>
              </a:ext>
            </a:extLst>
          </p:cNvPr>
          <p:cNvSpPr>
            <a:spLocks noGrp="1"/>
          </p:cNvSpPr>
          <p:nvPr/>
        </p:nvSpPr>
        <p:spPr>
          <a:xfrm>
            <a:off x="781050" y="4371975"/>
            <a:ext cx="7600950" cy="952500"/>
          </a:xfrm>
          <a:prstGeom prst="rect">
            <a:avLst/>
          </a:prstGeom>
          <a:noFill/>
          <a:ln w="0">
            <a:noFill/>
          </a:ln>
        </p:spPr>
        <p:txBody>
          <a:bodyPr wrap="square" lIns="0" tIns="0" rIns="0" bIns="0">
            <a:noAutofit/>
          </a:bodyPr>
          <a:lstStyle/>
          <a:p>
            <a:pPr>
              <a:defRPr sz="2250" b="0">
                <a:solidFill>
                  <a:srgbClr val="FF0000"/>
                </a:solidFill>
                <a:latin typeface="Calibri"/>
                <a:ea typeface="Calibri"/>
                <a:cs typeface="Calibri"/>
              </a:defRPr>
            </a:pPr>
            <a:r>
              <a:rPr sz="2250" b="0">
                <a:solidFill>
                  <a:srgbClr val="FF0000"/>
                </a:solidFill>
                <a:latin typeface="Calibri"/>
                <a:ea typeface="Calibri"/>
                <a:cs typeface="Calibri"/>
              </a:rPr>
              <a:t>5 input tuples produce 3 distinct output tuples.</a:t>
            </a:r>
          </a:p>
        </p:txBody>
      </p:sp>
      <p:sp>
        <p:nvSpPr>
          <p:cNvPr id="7" name="body">
            <a:extLst>
              <a:ext uri="{FF2B5EF4-FFF2-40B4-BE49-F238E27FC236}">
                <a16:creationId xmlns:a16="http://schemas.microsoft.com/office/drawing/2014/main" id="{42C24033-73E4-493F-839F-3A30C1075BC5}"/>
              </a:ext>
            </a:extLst>
          </p:cNvPr>
          <p:cNvSpPr>
            <a:spLocks noGrp="1"/>
          </p:cNvSpPr>
          <p:nvPr/>
        </p:nvSpPr>
        <p:spPr>
          <a:xfrm>
            <a:off x="781050" y="5029200"/>
            <a:ext cx="7600950" cy="952500"/>
          </a:xfrm>
          <a:prstGeom prst="rect">
            <a:avLst/>
          </a:prstGeom>
          <a:noFill/>
          <a:ln w="0">
            <a:noFill/>
          </a:ln>
        </p:spPr>
        <p:txBody>
          <a:bodyPr wrap="square" lIns="0" tIns="0" rIns="0" bIns="0">
            <a:noAutofit/>
          </a:bodyPr>
          <a:lstStyle/>
          <a:p>
            <a:pPr>
              <a:defRPr sz="2100" b="0">
                <a:solidFill>
                  <a:srgbClr val="000000"/>
                </a:solidFill>
                <a:latin typeface="Calibri"/>
                <a:ea typeface="Calibri"/>
                <a:cs typeface="Calibri"/>
              </a:defRPr>
            </a:pPr>
            <a:r>
              <a:rPr sz="2100" b="0">
                <a:solidFill>
                  <a:srgbClr val="000000"/>
                </a:solidFill>
                <a:latin typeface="Calibri"/>
                <a:ea typeface="Calibri"/>
                <a:cs typeface="Calibri"/>
              </a:rPr>
              <a:t>The complete projected tuple determines duplication.</a:t>
            </a:r>
          </a:p>
        </p:txBody>
      </p:sp>
      <p:sp>
        <p:nvSpPr>
          <p:cNvPr id="9001" name="Title 1">
            <a:extLst>
              <a:ext uri="{FF2B5EF4-FFF2-40B4-BE49-F238E27FC236}">
                <a16:creationId xmlns:a16="http://schemas.microsoft.com/office/drawing/2014/main" id="{4EF27E5C-9C4D-BDBE-7667-D0B141BCC8F5}"/>
              </a:ext>
            </a:extLst>
          </p:cNvPr>
          <p:cNvSpPr>
            <a:spLocks noGrp="1"/>
          </p:cNvSpPr>
          <p:nvPr>
            <p:ph type="title"/>
          </p:nvPr>
        </p:nvSpPr>
        <p:spPr/>
        <p:txBody>
          <a:bodyPr/>
          <a:lstStyle/>
          <a:p>
            <a:r>
              <a:rPr lang="en-US">
                <a:solidFill>
                  <a:srgbClr val="FF0000"/>
                </a:solidFill>
              </a:rPr>
              <a:t>Solutions: </a:t>
            </a:r>
            <a:r>
              <a:rPr lang="en-US">
                <a:solidFill>
                  <a:srgbClr val="3333CC"/>
                </a:solidFill>
              </a:rPr>
              <a:t>Q4</a:t>
            </a:r>
          </a:p>
        </p:txBody>
      </p:sp>
      <p:sp>
        <p:nvSpPr>
          <p:cNvPr id="9002" name="Slide Number Placeholder 1">
            <a:extLst>
              <a:ext uri="{FF2B5EF4-FFF2-40B4-BE49-F238E27FC236}">
                <a16:creationId xmlns:a16="http://schemas.microsoft.com/office/drawing/2014/main" id="{B90139AC-3BDA-723A-097A-000DA0A784C1}"/>
              </a:ext>
            </a:extLst>
          </p:cNvPr>
          <p:cNvSpPr>
            <a:spLocks noGrp="1"/>
          </p:cNvSpPr>
          <p:nvPr>
            <p:ph type="sldNum" sz="quarter" idx="12"/>
          </p:nvPr>
        </p:nvSpPr>
        <p:spPr/>
        <p:txBody>
          <a:bodyPr/>
          <a:lstStyle/>
          <a:p>
            <a:pPr>
              <a:defRPr/>
            </a:pPr>
            <a:fld id="{43CA101F-9E5F-9249-9862-3CE55B3BB777}" type="slidenum">
              <a:rPr lang="en-US" altLang="zh-TW" smtClean="0"/>
              <a:pPr>
                <a:defRPr/>
              </a:pPr>
              <a:t>13</a:t>
            </a:fld>
            <a:endParaRPr lang="en-US" altLang="zh-TW"/>
          </a:p>
        </p:txBody>
      </p:sp>
    </p:spTree>
    <p:extLst>
      <p:ext uri="{BB962C8B-B14F-4D97-AF65-F5344CB8AC3E}">
        <p14:creationId xmlns:p14="http://schemas.microsoft.com/office/powerpoint/2010/main" val="100173618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body">
            <a:extLst>
              <a:ext uri="{FF2B5EF4-FFF2-40B4-BE49-F238E27FC236}">
                <a16:creationId xmlns:a16="http://schemas.microsoft.com/office/drawing/2014/main" id="{42A4893D-97E0-462D-ABCF-486A16606FC1}"/>
              </a:ext>
            </a:extLst>
          </p:cNvPr>
          <p:cNvSpPr>
            <a:spLocks noGrp="1"/>
          </p:cNvSpPr>
          <p:nvPr/>
        </p:nvSpPr>
        <p:spPr>
          <a:xfrm>
            <a:off x="781050" y="5876925"/>
            <a:ext cx="7620000" cy="285750"/>
          </a:xfrm>
          <a:prstGeom prst="rect">
            <a:avLst/>
          </a:prstGeom>
          <a:noFill/>
          <a:ln w="0">
            <a:noFill/>
          </a:ln>
        </p:spPr>
        <p:txBody>
          <a:bodyPr wrap="square" lIns="0" tIns="0" rIns="0" bIns="0">
            <a:noAutofit/>
          </a:bodyPr>
          <a:lstStyle/>
          <a:p>
            <a:pPr>
              <a:defRPr sz="1725" b="0">
                <a:solidFill>
                  <a:srgbClr val="3333CC"/>
                </a:solidFill>
                <a:latin typeface="Calibri"/>
                <a:ea typeface="Calibri"/>
                <a:cs typeface="Calibri"/>
              </a:defRPr>
            </a:pPr>
            <a:r>
              <a:rPr sz="1725" b="0">
                <a:solidFill>
                  <a:srgbClr val="3333CC"/>
                </a:solidFill>
                <a:latin typeface="Calibri"/>
                <a:ea typeface="Calibri"/>
                <a:cs typeface="Calibri"/>
              </a:rPr>
              <a:t>Think: 30 s</a:t>
            </a:r>
          </a:p>
        </p:txBody>
      </p:sp>
      <p:sp>
        <p:nvSpPr>
          <p:cNvPr id="4" name="body">
            <a:extLst>
              <a:ext uri="{FF2B5EF4-FFF2-40B4-BE49-F238E27FC236}">
                <a16:creationId xmlns:a16="http://schemas.microsoft.com/office/drawing/2014/main" id="{1F4D7129-D5AA-47F4-A4AC-DCD20C21E3F5}"/>
              </a:ext>
            </a:extLst>
          </p:cNvPr>
          <p:cNvSpPr>
            <a:spLocks noGrp="1"/>
          </p:cNvSpPr>
          <p:nvPr/>
        </p:nvSpPr>
        <p:spPr>
          <a:xfrm>
            <a:off x="952500" y="1085850"/>
            <a:ext cx="7048500" cy="361950"/>
          </a:xfrm>
          <a:prstGeom prst="rect">
            <a:avLst/>
          </a:prstGeom>
          <a:noFill/>
          <a:ln w="0">
            <a:noFill/>
          </a:ln>
        </p:spPr>
        <p:txBody>
          <a:bodyPr wrap="square" lIns="0" tIns="0" rIns="0" bIns="0">
            <a:noAutofit/>
          </a:bodyPr>
          <a:lstStyle/>
          <a:p>
            <a:pPr>
              <a:defRPr sz="2250" b="0">
                <a:solidFill>
                  <a:srgbClr val="000000"/>
                </a:solidFill>
                <a:latin typeface="Calibri"/>
                <a:ea typeface="Calibri"/>
                <a:cs typeface="Calibri"/>
              </a:defRPr>
            </a:pPr>
            <a:r>
              <a:rPr sz="2250" b="0">
                <a:solidFill>
                  <a:srgbClr val="000000"/>
                </a:solidFill>
                <a:latin typeface="Calibri"/>
                <a:ea typeface="Calibri"/>
                <a:cs typeface="Calibri"/>
              </a:rPr>
              <a:t>Applicant</a:t>
            </a:r>
          </a:p>
        </p:txBody>
      </p:sp>
      <p:graphicFrame>
        <p:nvGraphicFramePr>
          <p:cNvPr id="13" name="表格 12"/>
          <p:cNvGraphicFramePr/>
          <p:nvPr/>
        </p:nvGraphicFramePr>
        <p:xfrm>
          <a:off x="1028700" y="1504950"/>
          <a:ext cx="7048500" cy="1943100"/>
        </p:xfrm>
        <a:graphic>
          <a:graphicData uri="http://schemas.openxmlformats.org/drawingml/2006/table">
            <a:tbl>
              <a:tblPr/>
              <a:tblGrid>
                <a:gridCol w="1409700">
                  <a:extLst>
                    <a:ext uri="{9D8B030D-6E8A-4147-A177-3AD203B41FA5}">
                      <a16:colId xmlns:a16="http://schemas.microsoft.com/office/drawing/2014/main" val="20000"/>
                    </a:ext>
                  </a:extLst>
                </a:gridCol>
                <a:gridCol w="1409700">
                  <a:extLst>
                    <a:ext uri="{9D8B030D-6E8A-4147-A177-3AD203B41FA5}">
                      <a16:colId xmlns:a16="http://schemas.microsoft.com/office/drawing/2014/main" val="20001"/>
                    </a:ext>
                  </a:extLst>
                </a:gridCol>
                <a:gridCol w="1409700">
                  <a:extLst>
                    <a:ext uri="{9D8B030D-6E8A-4147-A177-3AD203B41FA5}">
                      <a16:colId xmlns:a16="http://schemas.microsoft.com/office/drawing/2014/main" val="20002"/>
                    </a:ext>
                  </a:extLst>
                </a:gridCol>
                <a:gridCol w="1409700">
                  <a:extLst>
                    <a:ext uri="{9D8B030D-6E8A-4147-A177-3AD203B41FA5}">
                      <a16:colId xmlns:a16="http://schemas.microsoft.com/office/drawing/2014/main" val="20003"/>
                    </a:ext>
                  </a:extLst>
                </a:gridCol>
                <a:gridCol w="1409700">
                  <a:extLst>
                    <a:ext uri="{9D8B030D-6E8A-4147-A177-3AD203B41FA5}">
                      <a16:colId xmlns:a16="http://schemas.microsoft.com/office/drawing/2014/main" val="20004"/>
                    </a:ext>
                  </a:extLst>
                </a:gridCol>
              </a:tblGrid>
              <a:tr h="323850">
                <a:tc>
                  <a:txBody>
                    <a:bodyPr/>
                    <a:lstStyle/>
                    <a:p>
                      <a:pPr algn="ctr"/>
                      <a:r>
                        <a:rPr sz="1725">
                          <a:solidFill>
                            <a:srgbClr val="000000"/>
                          </a:solidFill>
                          <a:latin typeface="Calibri"/>
                          <a:ea typeface="Calibri"/>
                          <a:cs typeface="Calibri"/>
                        </a:rPr>
                        <a:t>uid</a:t>
                      </a:r>
                    </a:p>
                  </a:txBody>
                  <a:tcPr marL="47625" marR="47625" marT="28575" marB="28575" anchor="ctr">
                    <a:solidFill>
                      <a:srgbClr val="D9D9D9"/>
                    </a:solidFill>
                  </a:tcPr>
                </a:tc>
                <a:tc>
                  <a:txBody>
                    <a:bodyPr/>
                    <a:lstStyle/>
                    <a:p>
                      <a:pPr algn="ctr"/>
                      <a:r>
                        <a:rPr sz="1725">
                          <a:solidFill>
                            <a:srgbClr val="000000"/>
                          </a:solidFill>
                          <a:latin typeface="Calibri"/>
                          <a:ea typeface="Calibri"/>
                          <a:cs typeface="Calibri"/>
                        </a:rPr>
                        <a:t>uname</a:t>
                      </a:r>
                    </a:p>
                  </a:txBody>
                  <a:tcPr marL="47625" marR="47625" marT="28575" marB="28575" anchor="ctr">
                    <a:solidFill>
                      <a:srgbClr val="D9D9D9"/>
                    </a:solidFill>
                  </a:tcPr>
                </a:tc>
                <a:tc>
                  <a:txBody>
                    <a:bodyPr/>
                    <a:lstStyle/>
                    <a:p>
                      <a:pPr algn="ctr"/>
                      <a:r>
                        <a:rPr sz="1725">
                          <a:solidFill>
                            <a:srgbClr val="000000"/>
                          </a:solidFill>
                          <a:latin typeface="Calibri"/>
                          <a:ea typeface="Calibri"/>
                          <a:cs typeface="Calibri"/>
                        </a:rPr>
                        <a:t>major</a:t>
                      </a:r>
                    </a:p>
                  </a:txBody>
                  <a:tcPr marL="47625" marR="47625" marT="28575" marB="28575" anchor="ctr">
                    <a:solidFill>
                      <a:srgbClr val="D9D9D9"/>
                    </a:solidFill>
                  </a:tcPr>
                </a:tc>
                <a:tc>
                  <a:txBody>
                    <a:bodyPr/>
                    <a:lstStyle/>
                    <a:p>
                      <a:pPr algn="ctr"/>
                      <a:r>
                        <a:rPr sz="1725">
                          <a:solidFill>
                            <a:srgbClr val="000000"/>
                          </a:solidFill>
                          <a:latin typeface="Calibri"/>
                          <a:ea typeface="Calibri"/>
                          <a:cs typeface="Calibri"/>
                        </a:rPr>
                        <a:t>year</a:t>
                      </a:r>
                    </a:p>
                  </a:txBody>
                  <a:tcPr marL="47625" marR="47625" marT="28575" marB="28575" anchor="ctr">
                    <a:solidFill>
                      <a:srgbClr val="D9D9D9"/>
                    </a:solidFill>
                  </a:tcPr>
                </a:tc>
                <a:tc>
                  <a:txBody>
                    <a:bodyPr/>
                    <a:lstStyle/>
                    <a:p>
                      <a:pPr algn="ctr"/>
                      <a:r>
                        <a:rPr sz="1725">
                          <a:solidFill>
                            <a:srgbClr val="000000"/>
                          </a:solidFill>
                          <a:latin typeface="Calibri"/>
                          <a:ea typeface="Calibri"/>
                          <a:cs typeface="Calibri"/>
                        </a:rPr>
                        <a:t>score</a:t>
                      </a:r>
                    </a:p>
                  </a:txBody>
                  <a:tcPr marL="47625" marR="47625" marT="28575" marB="28575" anchor="ctr">
                    <a:solidFill>
                      <a:srgbClr val="D9D9D9"/>
                    </a:solidFill>
                  </a:tcPr>
                </a:tc>
                <a:extLst>
                  <a:ext uri="{0D108BD9-81ED-4DB2-BD59-A6C34878D82A}">
                    <a16:rowId xmlns:a16="http://schemas.microsoft.com/office/drawing/2014/main" val="10000"/>
                  </a:ext>
                </a:extLst>
              </a:tr>
              <a:tr h="323850">
                <a:tc>
                  <a:txBody>
                    <a:bodyPr/>
                    <a:lstStyle/>
                    <a:p>
                      <a:pPr algn="ctr"/>
                      <a:r>
                        <a:rPr sz="1725">
                          <a:solidFill>
                            <a:srgbClr val="000000"/>
                          </a:solidFill>
                          <a:latin typeface="Calibri"/>
                          <a:ea typeface="Calibri"/>
                          <a:cs typeface="Calibri"/>
                        </a:rPr>
                        <a:t>101</a:t>
                      </a:r>
                    </a:p>
                  </a:txBody>
                  <a:tcPr marL="47625" marR="47625" marT="28575" marB="28575" anchor="ctr">
                    <a:solidFill>
                      <a:srgbClr val="FFFFFF"/>
                    </a:solidFill>
                  </a:tcPr>
                </a:tc>
                <a:tc>
                  <a:txBody>
                    <a:bodyPr/>
                    <a:lstStyle/>
                    <a:p>
                      <a:pPr algn="ctr"/>
                      <a:r>
                        <a:rPr sz="1725">
                          <a:solidFill>
                            <a:srgbClr val="000000"/>
                          </a:solidFill>
                          <a:latin typeface="Calibri"/>
                          <a:ea typeface="Calibri"/>
                          <a:cs typeface="Calibri"/>
                        </a:rPr>
                        <a:t>Ada</a:t>
                      </a:r>
                    </a:p>
                  </a:txBody>
                  <a:tcPr marL="47625" marR="47625" marT="28575" marB="28575" anchor="ctr">
                    <a:solidFill>
                      <a:srgbClr val="FFFFFF"/>
                    </a:solidFill>
                  </a:tcPr>
                </a:tc>
                <a:tc>
                  <a:txBody>
                    <a:bodyPr/>
                    <a:lstStyle/>
                    <a:p>
                      <a:pPr algn="ctr"/>
                      <a:r>
                        <a:rPr sz="1725">
                          <a:solidFill>
                            <a:srgbClr val="000000"/>
                          </a:solidFill>
                          <a:latin typeface="Calibri"/>
                          <a:ea typeface="Calibri"/>
                          <a:cs typeface="Calibri"/>
                        </a:rPr>
                        <a:t>CS</a:t>
                      </a:r>
                    </a:p>
                  </a:txBody>
                  <a:tcPr marL="47625" marR="47625" marT="28575" marB="28575" anchor="ctr">
                    <a:solidFill>
                      <a:srgbClr val="FFFFFF"/>
                    </a:solidFill>
                  </a:tcPr>
                </a:tc>
                <a:tc>
                  <a:txBody>
                    <a:bodyPr/>
                    <a:lstStyle/>
                    <a:p>
                      <a:pPr algn="ctr"/>
                      <a:r>
                        <a:rPr sz="1725">
                          <a:solidFill>
                            <a:srgbClr val="000000"/>
                          </a:solidFill>
                          <a:latin typeface="Calibri"/>
                          <a:ea typeface="Calibri"/>
                          <a:cs typeface="Calibri"/>
                        </a:rPr>
                        <a:t>3</a:t>
                      </a:r>
                    </a:p>
                  </a:txBody>
                  <a:tcPr marL="47625" marR="47625" marT="28575" marB="28575" anchor="ctr">
                    <a:solidFill>
                      <a:srgbClr val="FFFFFF"/>
                    </a:solidFill>
                  </a:tcPr>
                </a:tc>
                <a:tc>
                  <a:txBody>
                    <a:bodyPr/>
                    <a:lstStyle/>
                    <a:p>
                      <a:pPr algn="ctr"/>
                      <a:r>
                        <a:rPr sz="1725">
                          <a:solidFill>
                            <a:srgbClr val="000000"/>
                          </a:solidFill>
                          <a:latin typeface="Calibri"/>
                          <a:ea typeface="Calibri"/>
                          <a:cs typeface="Calibri"/>
                        </a:rPr>
                        <a:t>86</a:t>
                      </a:r>
                    </a:p>
                  </a:txBody>
                  <a:tcPr marL="47625" marR="47625" marT="28575" marB="28575" anchor="ctr">
                    <a:solidFill>
                      <a:srgbClr val="FFFFFF"/>
                    </a:solidFill>
                  </a:tcPr>
                </a:tc>
                <a:extLst>
                  <a:ext uri="{0D108BD9-81ED-4DB2-BD59-A6C34878D82A}">
                    <a16:rowId xmlns:a16="http://schemas.microsoft.com/office/drawing/2014/main" val="10001"/>
                  </a:ext>
                </a:extLst>
              </a:tr>
              <a:tr h="323850">
                <a:tc>
                  <a:txBody>
                    <a:bodyPr/>
                    <a:lstStyle/>
                    <a:p>
                      <a:pPr algn="ctr"/>
                      <a:r>
                        <a:rPr sz="1725">
                          <a:solidFill>
                            <a:srgbClr val="000000"/>
                          </a:solidFill>
                          <a:latin typeface="Calibri"/>
                          <a:ea typeface="Calibri"/>
                          <a:cs typeface="Calibri"/>
                        </a:rPr>
                        <a:t>102</a:t>
                      </a:r>
                    </a:p>
                  </a:txBody>
                  <a:tcPr marL="47625" marR="47625" marT="28575" marB="28575" anchor="ctr">
                    <a:solidFill>
                      <a:srgbClr val="FFFFFF"/>
                    </a:solidFill>
                  </a:tcPr>
                </a:tc>
                <a:tc>
                  <a:txBody>
                    <a:bodyPr/>
                    <a:lstStyle/>
                    <a:p>
                      <a:pPr algn="ctr"/>
                      <a:r>
                        <a:rPr sz="1725">
                          <a:solidFill>
                            <a:srgbClr val="000000"/>
                          </a:solidFill>
                          <a:latin typeface="Calibri"/>
                          <a:ea typeface="Calibri"/>
                          <a:cs typeface="Calibri"/>
                        </a:rPr>
                        <a:t>Ben</a:t>
                      </a:r>
                    </a:p>
                  </a:txBody>
                  <a:tcPr marL="47625" marR="47625" marT="28575" marB="28575" anchor="ctr">
                    <a:solidFill>
                      <a:srgbClr val="FFFFFF"/>
                    </a:solidFill>
                  </a:tcPr>
                </a:tc>
                <a:tc>
                  <a:txBody>
                    <a:bodyPr/>
                    <a:lstStyle/>
                    <a:p>
                      <a:pPr algn="ctr"/>
                      <a:r>
                        <a:rPr sz="1725">
                          <a:solidFill>
                            <a:srgbClr val="000000"/>
                          </a:solidFill>
                          <a:latin typeface="Calibri"/>
                          <a:ea typeface="Calibri"/>
                          <a:cs typeface="Calibri"/>
                        </a:rPr>
                        <a:t>EE</a:t>
                      </a:r>
                    </a:p>
                  </a:txBody>
                  <a:tcPr marL="47625" marR="47625" marT="28575" marB="28575" anchor="ctr">
                    <a:solidFill>
                      <a:srgbClr val="FFFFFF"/>
                    </a:solidFill>
                  </a:tcPr>
                </a:tc>
                <a:tc>
                  <a:txBody>
                    <a:bodyPr/>
                    <a:lstStyle/>
                    <a:p>
                      <a:pPr algn="ctr"/>
                      <a:r>
                        <a:rPr sz="1725">
                          <a:solidFill>
                            <a:srgbClr val="000000"/>
                          </a:solidFill>
                          <a:latin typeface="Calibri"/>
                          <a:ea typeface="Calibri"/>
                          <a:cs typeface="Calibri"/>
                        </a:rPr>
                        <a:t>3</a:t>
                      </a:r>
                    </a:p>
                  </a:txBody>
                  <a:tcPr marL="47625" marR="47625" marT="28575" marB="28575" anchor="ctr">
                    <a:solidFill>
                      <a:srgbClr val="FFFFFF"/>
                    </a:solidFill>
                  </a:tcPr>
                </a:tc>
                <a:tc>
                  <a:txBody>
                    <a:bodyPr/>
                    <a:lstStyle/>
                    <a:p>
                      <a:pPr algn="ctr"/>
                      <a:r>
                        <a:rPr sz="1725">
                          <a:solidFill>
                            <a:srgbClr val="000000"/>
                          </a:solidFill>
                          <a:latin typeface="Calibri"/>
                          <a:ea typeface="Calibri"/>
                          <a:cs typeface="Calibri"/>
                        </a:rPr>
                        <a:t>80</a:t>
                      </a:r>
                    </a:p>
                  </a:txBody>
                  <a:tcPr marL="47625" marR="47625" marT="28575" marB="28575" anchor="ctr">
                    <a:solidFill>
                      <a:srgbClr val="FFFFFF"/>
                    </a:solidFill>
                  </a:tcPr>
                </a:tc>
                <a:extLst>
                  <a:ext uri="{0D108BD9-81ED-4DB2-BD59-A6C34878D82A}">
                    <a16:rowId xmlns:a16="http://schemas.microsoft.com/office/drawing/2014/main" val="10002"/>
                  </a:ext>
                </a:extLst>
              </a:tr>
              <a:tr h="323850">
                <a:tc>
                  <a:txBody>
                    <a:bodyPr/>
                    <a:lstStyle/>
                    <a:p>
                      <a:pPr algn="ctr"/>
                      <a:r>
                        <a:rPr sz="1725">
                          <a:solidFill>
                            <a:srgbClr val="000000"/>
                          </a:solidFill>
                          <a:latin typeface="Calibri"/>
                          <a:ea typeface="Calibri"/>
                          <a:cs typeface="Calibri"/>
                        </a:rPr>
                        <a:t>103</a:t>
                      </a:r>
                    </a:p>
                  </a:txBody>
                  <a:tcPr marL="47625" marR="47625" marT="28575" marB="28575" anchor="ctr">
                    <a:solidFill>
                      <a:srgbClr val="FFFFFF"/>
                    </a:solidFill>
                  </a:tcPr>
                </a:tc>
                <a:tc>
                  <a:txBody>
                    <a:bodyPr/>
                    <a:lstStyle/>
                    <a:p>
                      <a:pPr algn="ctr"/>
                      <a:r>
                        <a:rPr sz="1725">
                          <a:solidFill>
                            <a:srgbClr val="000000"/>
                          </a:solidFill>
                          <a:latin typeface="Calibri"/>
                          <a:ea typeface="Calibri"/>
                          <a:cs typeface="Calibri"/>
                        </a:rPr>
                        <a:t>Cara</a:t>
                      </a:r>
                    </a:p>
                  </a:txBody>
                  <a:tcPr marL="47625" marR="47625" marT="28575" marB="28575" anchor="ctr">
                    <a:solidFill>
                      <a:srgbClr val="FFFFFF"/>
                    </a:solidFill>
                  </a:tcPr>
                </a:tc>
                <a:tc>
                  <a:txBody>
                    <a:bodyPr/>
                    <a:lstStyle/>
                    <a:p>
                      <a:pPr algn="ctr"/>
                      <a:r>
                        <a:rPr sz="1725">
                          <a:solidFill>
                            <a:srgbClr val="000000"/>
                          </a:solidFill>
                          <a:latin typeface="Calibri"/>
                          <a:ea typeface="Calibri"/>
                          <a:cs typeface="Calibri"/>
                        </a:rPr>
                        <a:t>CS</a:t>
                      </a:r>
                    </a:p>
                  </a:txBody>
                  <a:tcPr marL="47625" marR="47625" marT="28575" marB="28575" anchor="ctr">
                    <a:solidFill>
                      <a:srgbClr val="FFFFFF"/>
                    </a:solidFill>
                  </a:tcPr>
                </a:tc>
                <a:tc>
                  <a:txBody>
                    <a:bodyPr/>
                    <a:lstStyle/>
                    <a:p>
                      <a:pPr algn="ctr"/>
                      <a:r>
                        <a:rPr sz="1725">
                          <a:solidFill>
                            <a:srgbClr val="000000"/>
                          </a:solidFill>
                          <a:latin typeface="Calibri"/>
                          <a:ea typeface="Calibri"/>
                          <a:cs typeface="Calibri"/>
                        </a:rPr>
                        <a:t>3</a:t>
                      </a:r>
                    </a:p>
                  </a:txBody>
                  <a:tcPr marL="47625" marR="47625" marT="28575" marB="28575" anchor="ctr">
                    <a:solidFill>
                      <a:srgbClr val="FFFFFF"/>
                    </a:solidFill>
                  </a:tcPr>
                </a:tc>
                <a:tc>
                  <a:txBody>
                    <a:bodyPr/>
                    <a:lstStyle/>
                    <a:p>
                      <a:pPr algn="ctr"/>
                      <a:r>
                        <a:rPr sz="1725">
                          <a:solidFill>
                            <a:srgbClr val="000000"/>
                          </a:solidFill>
                          <a:latin typeface="Calibri"/>
                          <a:ea typeface="Calibri"/>
                          <a:cs typeface="Calibri"/>
                        </a:rPr>
                        <a:t>80</a:t>
                      </a:r>
                    </a:p>
                  </a:txBody>
                  <a:tcPr marL="47625" marR="47625" marT="28575" marB="28575" anchor="ctr">
                    <a:solidFill>
                      <a:srgbClr val="FFFFFF"/>
                    </a:solidFill>
                  </a:tcPr>
                </a:tc>
                <a:extLst>
                  <a:ext uri="{0D108BD9-81ED-4DB2-BD59-A6C34878D82A}">
                    <a16:rowId xmlns:a16="http://schemas.microsoft.com/office/drawing/2014/main" val="10003"/>
                  </a:ext>
                </a:extLst>
              </a:tr>
              <a:tr h="323850">
                <a:tc>
                  <a:txBody>
                    <a:bodyPr/>
                    <a:lstStyle/>
                    <a:p>
                      <a:pPr algn="ctr"/>
                      <a:r>
                        <a:rPr sz="1725">
                          <a:solidFill>
                            <a:srgbClr val="000000"/>
                          </a:solidFill>
                          <a:latin typeface="Calibri"/>
                          <a:ea typeface="Calibri"/>
                          <a:cs typeface="Calibri"/>
                        </a:rPr>
                        <a:t>104</a:t>
                      </a:r>
                    </a:p>
                  </a:txBody>
                  <a:tcPr marL="47625" marR="47625" marT="28575" marB="28575" anchor="ctr">
                    <a:solidFill>
                      <a:srgbClr val="FFFFFF"/>
                    </a:solidFill>
                  </a:tcPr>
                </a:tc>
                <a:tc>
                  <a:txBody>
                    <a:bodyPr/>
                    <a:lstStyle/>
                    <a:p>
                      <a:pPr algn="ctr"/>
                      <a:r>
                        <a:rPr sz="1725">
                          <a:solidFill>
                            <a:srgbClr val="000000"/>
                          </a:solidFill>
                          <a:latin typeface="Calibri"/>
                          <a:ea typeface="Calibri"/>
                          <a:cs typeface="Calibri"/>
                        </a:rPr>
                        <a:t>Dev</a:t>
                      </a:r>
                    </a:p>
                  </a:txBody>
                  <a:tcPr marL="47625" marR="47625" marT="28575" marB="28575" anchor="ctr">
                    <a:solidFill>
                      <a:srgbClr val="FFFFFF"/>
                    </a:solidFill>
                  </a:tcPr>
                </a:tc>
                <a:tc>
                  <a:txBody>
                    <a:bodyPr/>
                    <a:lstStyle/>
                    <a:p>
                      <a:pPr algn="ctr"/>
                      <a:r>
                        <a:rPr sz="1725">
                          <a:solidFill>
                            <a:srgbClr val="000000"/>
                          </a:solidFill>
                          <a:latin typeface="Calibri"/>
                          <a:ea typeface="Calibri"/>
                          <a:cs typeface="Calibri"/>
                        </a:rPr>
                        <a:t>DS</a:t>
                      </a:r>
                    </a:p>
                  </a:txBody>
                  <a:tcPr marL="47625" marR="47625" marT="28575" marB="28575" anchor="ctr">
                    <a:solidFill>
                      <a:srgbClr val="FFFFFF"/>
                    </a:solidFill>
                  </a:tcPr>
                </a:tc>
                <a:tc>
                  <a:txBody>
                    <a:bodyPr/>
                    <a:lstStyle/>
                    <a:p>
                      <a:pPr algn="ctr"/>
                      <a:r>
                        <a:rPr sz="1725">
                          <a:solidFill>
                            <a:srgbClr val="000000"/>
                          </a:solidFill>
                          <a:latin typeface="Calibri"/>
                          <a:ea typeface="Calibri"/>
                          <a:cs typeface="Calibri"/>
                        </a:rPr>
                        <a:t>2</a:t>
                      </a:r>
                    </a:p>
                  </a:txBody>
                  <a:tcPr marL="47625" marR="47625" marT="28575" marB="28575" anchor="ctr">
                    <a:solidFill>
                      <a:srgbClr val="FFFFFF"/>
                    </a:solidFill>
                  </a:tcPr>
                </a:tc>
                <a:tc>
                  <a:txBody>
                    <a:bodyPr/>
                    <a:lstStyle/>
                    <a:p>
                      <a:pPr algn="ctr"/>
                      <a:r>
                        <a:rPr sz="1725">
                          <a:solidFill>
                            <a:srgbClr val="000000"/>
                          </a:solidFill>
                          <a:latin typeface="Calibri"/>
                          <a:ea typeface="Calibri"/>
                          <a:cs typeface="Calibri"/>
                        </a:rPr>
                        <a:t>74</a:t>
                      </a:r>
                    </a:p>
                  </a:txBody>
                  <a:tcPr marL="47625" marR="47625" marT="28575" marB="28575" anchor="ctr">
                    <a:solidFill>
                      <a:srgbClr val="FFFFFF"/>
                    </a:solidFill>
                  </a:tcPr>
                </a:tc>
                <a:extLst>
                  <a:ext uri="{0D108BD9-81ED-4DB2-BD59-A6C34878D82A}">
                    <a16:rowId xmlns:a16="http://schemas.microsoft.com/office/drawing/2014/main" val="10004"/>
                  </a:ext>
                </a:extLst>
              </a:tr>
              <a:tr h="323850">
                <a:tc>
                  <a:txBody>
                    <a:bodyPr/>
                    <a:lstStyle/>
                    <a:p>
                      <a:pPr algn="ctr"/>
                      <a:r>
                        <a:rPr sz="1725">
                          <a:solidFill>
                            <a:srgbClr val="000000"/>
                          </a:solidFill>
                          <a:latin typeface="Calibri"/>
                          <a:ea typeface="Calibri"/>
                          <a:cs typeface="Calibri"/>
                        </a:rPr>
                        <a:t>105</a:t>
                      </a:r>
                    </a:p>
                  </a:txBody>
                  <a:tcPr marL="47625" marR="47625" marT="28575" marB="28575" anchor="ctr">
                    <a:solidFill>
                      <a:srgbClr val="FFFFFF"/>
                    </a:solidFill>
                  </a:tcPr>
                </a:tc>
                <a:tc>
                  <a:txBody>
                    <a:bodyPr/>
                    <a:lstStyle/>
                    <a:p>
                      <a:pPr algn="ctr"/>
                      <a:r>
                        <a:rPr sz="1725">
                          <a:solidFill>
                            <a:srgbClr val="000000"/>
                          </a:solidFill>
                          <a:latin typeface="Calibri"/>
                          <a:ea typeface="Calibri"/>
                          <a:cs typeface="Calibri"/>
                        </a:rPr>
                        <a:t>Eli</a:t>
                      </a:r>
                    </a:p>
                  </a:txBody>
                  <a:tcPr marL="47625" marR="47625" marT="28575" marB="28575" anchor="ctr">
                    <a:solidFill>
                      <a:srgbClr val="FFFFFF"/>
                    </a:solidFill>
                  </a:tcPr>
                </a:tc>
                <a:tc>
                  <a:txBody>
                    <a:bodyPr/>
                    <a:lstStyle/>
                    <a:p>
                      <a:pPr algn="ctr"/>
                      <a:r>
                        <a:rPr sz="1725">
                          <a:solidFill>
                            <a:srgbClr val="000000"/>
                          </a:solidFill>
                          <a:latin typeface="Calibri"/>
                          <a:ea typeface="Calibri"/>
                          <a:cs typeface="Calibri"/>
                        </a:rPr>
                        <a:t>CS</a:t>
                      </a:r>
                    </a:p>
                  </a:txBody>
                  <a:tcPr marL="47625" marR="47625" marT="28575" marB="28575" anchor="ctr">
                    <a:solidFill>
                      <a:srgbClr val="FFFFFF"/>
                    </a:solidFill>
                  </a:tcPr>
                </a:tc>
                <a:tc>
                  <a:txBody>
                    <a:bodyPr/>
                    <a:lstStyle/>
                    <a:p>
                      <a:pPr algn="ctr"/>
                      <a:r>
                        <a:rPr sz="1725">
                          <a:solidFill>
                            <a:srgbClr val="000000"/>
                          </a:solidFill>
                          <a:latin typeface="Calibri"/>
                          <a:ea typeface="Calibri"/>
                          <a:cs typeface="Calibri"/>
                        </a:rPr>
                        <a:t>3</a:t>
                      </a:r>
                    </a:p>
                  </a:txBody>
                  <a:tcPr marL="47625" marR="47625" marT="28575" marB="28575" anchor="ctr">
                    <a:solidFill>
                      <a:srgbClr val="FFFFFF"/>
                    </a:solidFill>
                  </a:tcPr>
                </a:tc>
                <a:tc>
                  <a:txBody>
                    <a:bodyPr/>
                    <a:lstStyle/>
                    <a:p>
                      <a:pPr algn="ctr"/>
                      <a:r>
                        <a:rPr sz="1725">
                          <a:solidFill>
                            <a:srgbClr val="000000"/>
                          </a:solidFill>
                          <a:latin typeface="Calibri"/>
                          <a:ea typeface="Calibri"/>
                          <a:cs typeface="Calibri"/>
                        </a:rPr>
                        <a:t>91</a:t>
                      </a:r>
                    </a:p>
                  </a:txBody>
                  <a:tcPr marL="47625" marR="47625" marT="28575" marB="28575" anchor="ctr">
                    <a:solidFill>
                      <a:srgbClr val="FFFFFF"/>
                    </a:solidFill>
                  </a:tcPr>
                </a:tc>
                <a:extLst>
                  <a:ext uri="{0D108BD9-81ED-4DB2-BD59-A6C34878D82A}">
                    <a16:rowId xmlns:a16="http://schemas.microsoft.com/office/drawing/2014/main" val="10005"/>
                  </a:ext>
                </a:extLst>
              </a:tr>
            </a:tbl>
          </a:graphicData>
        </a:graphic>
      </p:graphicFrame>
      <p:sp>
        <p:nvSpPr>
          <p:cNvPr id="6" name="body">
            <a:extLst>
              <a:ext uri="{FF2B5EF4-FFF2-40B4-BE49-F238E27FC236}">
                <a16:creationId xmlns:a16="http://schemas.microsoft.com/office/drawing/2014/main" id="{D59E77D6-7AC0-48EE-A748-7E485DA4FDD8}"/>
              </a:ext>
            </a:extLst>
          </p:cNvPr>
          <p:cNvSpPr>
            <a:spLocks noGrp="1"/>
          </p:cNvSpPr>
          <p:nvPr/>
        </p:nvSpPr>
        <p:spPr>
          <a:xfrm>
            <a:off x="781050" y="3876675"/>
            <a:ext cx="7600950" cy="952500"/>
          </a:xfrm>
          <a:prstGeom prst="rect">
            <a:avLst/>
          </a:prstGeom>
          <a:noFill/>
          <a:ln w="0">
            <a:noFill/>
          </a:ln>
        </p:spPr>
        <p:txBody>
          <a:bodyPr wrap="square" lIns="0" tIns="0" rIns="0" bIns="0">
            <a:noAutofit/>
          </a:bodyPr>
          <a:lstStyle/>
          <a:p>
            <a:pPr>
              <a:defRPr sz="2175" b="0">
                <a:solidFill>
                  <a:srgbClr val="FF0000"/>
                </a:solidFill>
                <a:latin typeface="Calibri"/>
                <a:ea typeface="Calibri"/>
                <a:cs typeface="Calibri"/>
              </a:defRPr>
            </a:pPr>
            <a:r>
              <a:rPr sz="2175" b="0" dirty="0">
                <a:solidFill>
                  <a:srgbClr val="FF0000"/>
                </a:solidFill>
                <a:latin typeface="Calibri"/>
                <a:ea typeface="Calibri"/>
                <a:cs typeface="Calibri"/>
              </a:rPr>
              <a:t>(a) Project Applicant onto major.</a:t>
            </a:r>
          </a:p>
        </p:txBody>
      </p:sp>
      <p:sp>
        <p:nvSpPr>
          <p:cNvPr id="7" name="body">
            <a:extLst>
              <a:ext uri="{FF2B5EF4-FFF2-40B4-BE49-F238E27FC236}">
                <a16:creationId xmlns:a16="http://schemas.microsoft.com/office/drawing/2014/main" id="{43EBE610-C01E-4144-B4CD-037AC66BFAC2}"/>
              </a:ext>
            </a:extLst>
          </p:cNvPr>
          <p:cNvSpPr>
            <a:spLocks noGrp="1"/>
          </p:cNvSpPr>
          <p:nvPr/>
        </p:nvSpPr>
        <p:spPr>
          <a:xfrm>
            <a:off x="781050" y="4610100"/>
            <a:ext cx="7600950" cy="952500"/>
          </a:xfrm>
          <a:prstGeom prst="rect">
            <a:avLst/>
          </a:prstGeom>
          <a:noFill/>
          <a:ln w="0">
            <a:noFill/>
          </a:ln>
        </p:spPr>
        <p:txBody>
          <a:bodyPr wrap="square" lIns="0" tIns="0" rIns="0" bIns="0">
            <a:noAutofit/>
          </a:bodyPr>
          <a:lstStyle/>
          <a:p>
            <a:pPr>
              <a:defRPr sz="2175" b="0">
                <a:solidFill>
                  <a:srgbClr val="FF0000"/>
                </a:solidFill>
                <a:latin typeface="Calibri"/>
                <a:ea typeface="Calibri"/>
                <a:cs typeface="Calibri"/>
              </a:defRPr>
            </a:pPr>
            <a:r>
              <a:rPr sz="2175" b="0">
                <a:solidFill>
                  <a:srgbClr val="FF0000"/>
                </a:solidFill>
                <a:latin typeface="Calibri"/>
                <a:ea typeface="Calibri"/>
                <a:cs typeface="Calibri"/>
              </a:rPr>
              <a:t>(b) Project onto uid and major. How many tuples remain?</a:t>
            </a:r>
          </a:p>
        </p:txBody>
      </p:sp>
      <p:sp>
        <p:nvSpPr>
          <p:cNvPr id="8" name="body">
            <a:extLst>
              <a:ext uri="{FF2B5EF4-FFF2-40B4-BE49-F238E27FC236}">
                <a16:creationId xmlns:a16="http://schemas.microsoft.com/office/drawing/2014/main" id="{D9865A5F-61A2-49F7-BE71-7D5A989348DD}"/>
              </a:ext>
            </a:extLst>
          </p:cNvPr>
          <p:cNvSpPr>
            <a:spLocks noGrp="1"/>
          </p:cNvSpPr>
          <p:nvPr/>
        </p:nvSpPr>
        <p:spPr>
          <a:xfrm>
            <a:off x="781050" y="5295900"/>
            <a:ext cx="7600950" cy="952500"/>
          </a:xfrm>
          <a:prstGeom prst="rect">
            <a:avLst/>
          </a:prstGeom>
          <a:noFill/>
          <a:ln w="0">
            <a:noFill/>
          </a:ln>
        </p:spPr>
        <p:txBody>
          <a:bodyPr wrap="square" lIns="0" tIns="0" rIns="0" bIns="0">
            <a:noAutofit/>
          </a:bodyPr>
          <a:lstStyle/>
          <a:p>
            <a:pPr>
              <a:defRPr sz="2025" b="0">
                <a:solidFill>
                  <a:srgbClr val="000000"/>
                </a:solidFill>
                <a:latin typeface="Calibri"/>
                <a:ea typeface="Calibri"/>
                <a:cs typeface="Calibri"/>
              </a:defRPr>
            </a:pPr>
            <a:r>
              <a:rPr sz="2025" b="0">
                <a:solidFill>
                  <a:srgbClr val="000000"/>
                </a:solidFill>
                <a:latin typeface="Calibri"/>
                <a:ea typeface="Calibri"/>
                <a:cs typeface="Calibri"/>
              </a:rPr>
              <a:t>Explain why the two projections have different sizes.</a:t>
            </a:r>
          </a:p>
        </p:txBody>
      </p:sp>
      <p:sp>
        <p:nvSpPr>
          <p:cNvPr id="9001" name="Title 1">
            <a:extLst>
              <a:ext uri="{FF2B5EF4-FFF2-40B4-BE49-F238E27FC236}">
                <a16:creationId xmlns:a16="http://schemas.microsoft.com/office/drawing/2014/main" id="{4EF27E5C-9C4D-BDBE-7667-D0B141BCC8F5}"/>
              </a:ext>
            </a:extLst>
          </p:cNvPr>
          <p:cNvSpPr>
            <a:spLocks noGrp="1"/>
          </p:cNvSpPr>
          <p:nvPr>
            <p:ph type="title"/>
          </p:nvPr>
        </p:nvSpPr>
        <p:spPr/>
        <p:txBody>
          <a:bodyPr/>
          <a:lstStyle/>
          <a:p>
            <a:r>
              <a:rPr lang="en-US">
                <a:solidFill>
                  <a:srgbClr val="FF0000"/>
                </a:solidFill>
              </a:rPr>
              <a:t>Practice: </a:t>
            </a:r>
            <a:r>
              <a:rPr lang="en-US">
                <a:solidFill>
                  <a:srgbClr val="3333CC"/>
                </a:solidFill>
              </a:rPr>
              <a:t>Q5</a:t>
            </a:r>
          </a:p>
        </p:txBody>
      </p:sp>
      <p:sp>
        <p:nvSpPr>
          <p:cNvPr id="9002" name="Slide Number Placeholder 1">
            <a:extLst>
              <a:ext uri="{FF2B5EF4-FFF2-40B4-BE49-F238E27FC236}">
                <a16:creationId xmlns:a16="http://schemas.microsoft.com/office/drawing/2014/main" id="{B90139AC-3BDA-723A-097A-000DA0A784C1}"/>
              </a:ext>
            </a:extLst>
          </p:cNvPr>
          <p:cNvSpPr>
            <a:spLocks noGrp="1"/>
          </p:cNvSpPr>
          <p:nvPr>
            <p:ph type="sldNum" sz="quarter" idx="12"/>
          </p:nvPr>
        </p:nvSpPr>
        <p:spPr/>
        <p:txBody>
          <a:bodyPr/>
          <a:lstStyle/>
          <a:p>
            <a:pPr>
              <a:defRPr/>
            </a:pPr>
            <a:fld id="{43CA101F-9E5F-9249-9862-3CE55B3BB777}" type="slidenum">
              <a:rPr lang="en-US" altLang="zh-TW" smtClean="0"/>
              <a:pPr>
                <a:defRPr/>
              </a:pPr>
              <a:t>14</a:t>
            </a:fld>
            <a:endParaRPr lang="en-US" altLang="zh-TW"/>
          </a:p>
        </p:txBody>
      </p:sp>
    </p:spTree>
    <p:extLst>
      <p:ext uri="{BB962C8B-B14F-4D97-AF65-F5344CB8AC3E}">
        <p14:creationId xmlns:p14="http://schemas.microsoft.com/office/powerpoint/2010/main" val="134306896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formula">
            <a:extLst>
              <a:ext uri="{FF2B5EF4-FFF2-40B4-BE49-F238E27FC236}">
                <a16:creationId xmlns:a16="http://schemas.microsoft.com/office/drawing/2014/main" id="{83A0A624-2FED-49B8-99D2-D2B28C7F0CC7}"/>
              </a:ext>
            </a:extLst>
          </p:cNvPr>
          <p:cNvSpPr>
            <a:spLocks noGrp="1"/>
          </p:cNvSpPr>
          <p:nvPr/>
        </p:nvSpPr>
        <p:spPr>
          <a:xfrm>
            <a:off x="790575" y="1076325"/>
            <a:ext cx="3619500" cy="523875"/>
          </a:xfrm>
          <a:prstGeom prst="rect">
            <a:avLst/>
          </a:prstGeom>
          <a:noFill/>
          <a:ln w="0">
            <a:noFill/>
          </a:ln>
        </p:spPr>
        <p:txBody>
          <a:bodyPr wrap="square" lIns="0" tIns="0" rIns="0" bIns="0">
            <a:noAutofit/>
          </a:bodyPr>
          <a:lstStyle/>
          <a:p>
            <a:pPr>
              <a:defRPr sz="2250" b="0">
                <a:solidFill>
                  <a:srgbClr val="000000"/>
                </a:solidFill>
                <a:latin typeface="Cambria Math"/>
                <a:ea typeface="Cambria Math"/>
                <a:cs typeface="Cambria Math"/>
              </a:defRPr>
            </a:pPr>
            <a:r>
              <a:rPr sz="2250" b="0">
                <a:solidFill>
                  <a:srgbClr val="000000"/>
                </a:solidFill>
                <a:latin typeface="Cambria Math"/>
                <a:ea typeface="Cambria Math"/>
                <a:cs typeface="Cambria Math"/>
              </a:rPr>
              <a:t>(a) π</a:t>
            </a:r>
            <a:r>
              <a:rPr sz="1598" b="0" baseline="-25000">
                <a:solidFill>
                  <a:srgbClr val="000000"/>
                </a:solidFill>
                <a:latin typeface="Cambria Math"/>
                <a:ea typeface="Cambria Math"/>
                <a:cs typeface="Cambria Math"/>
              </a:rPr>
              <a:t>major</a:t>
            </a:r>
            <a:r>
              <a:rPr sz="2250" b="0">
                <a:solidFill>
                  <a:srgbClr val="000000"/>
                </a:solidFill>
                <a:latin typeface="Cambria Math"/>
                <a:ea typeface="Cambria Math"/>
                <a:cs typeface="Cambria Math"/>
              </a:rPr>
              <a:t>(Applicant)</a:t>
            </a:r>
          </a:p>
        </p:txBody>
      </p:sp>
      <p:sp>
        <p:nvSpPr>
          <p:cNvPr id="4" name="formula">
            <a:extLst>
              <a:ext uri="{FF2B5EF4-FFF2-40B4-BE49-F238E27FC236}">
                <a16:creationId xmlns:a16="http://schemas.microsoft.com/office/drawing/2014/main" id="{E8AC7F2F-A94D-4E6F-9F6F-38E924F14652}"/>
              </a:ext>
            </a:extLst>
          </p:cNvPr>
          <p:cNvSpPr>
            <a:spLocks noGrp="1"/>
          </p:cNvSpPr>
          <p:nvPr/>
        </p:nvSpPr>
        <p:spPr>
          <a:xfrm>
            <a:off x="4533900" y="1076325"/>
            <a:ext cx="3810000" cy="523875"/>
          </a:xfrm>
          <a:prstGeom prst="rect">
            <a:avLst/>
          </a:prstGeom>
          <a:noFill/>
          <a:ln w="0">
            <a:noFill/>
          </a:ln>
        </p:spPr>
        <p:txBody>
          <a:bodyPr wrap="square" lIns="0" tIns="0" rIns="0" bIns="0">
            <a:noAutofit/>
          </a:bodyPr>
          <a:lstStyle/>
          <a:p>
            <a:pPr>
              <a:defRPr sz="2025" b="0">
                <a:solidFill>
                  <a:srgbClr val="000000"/>
                </a:solidFill>
                <a:latin typeface="Cambria Math"/>
                <a:ea typeface="Cambria Math"/>
                <a:cs typeface="Cambria Math"/>
              </a:defRPr>
            </a:pPr>
            <a:r>
              <a:rPr sz="2025" b="0">
                <a:solidFill>
                  <a:srgbClr val="000000"/>
                </a:solidFill>
                <a:latin typeface="Cambria Math"/>
                <a:ea typeface="Cambria Math"/>
                <a:cs typeface="Cambria Math"/>
              </a:rPr>
              <a:t>(b) π</a:t>
            </a:r>
            <a:r>
              <a:rPr sz="1438" b="0" baseline="-25000">
                <a:solidFill>
                  <a:srgbClr val="000000"/>
                </a:solidFill>
                <a:latin typeface="Cambria Math"/>
                <a:ea typeface="Cambria Math"/>
                <a:cs typeface="Cambria Math"/>
              </a:rPr>
              <a:t>uid,major</a:t>
            </a:r>
            <a:r>
              <a:rPr sz="2025" b="0">
                <a:solidFill>
                  <a:srgbClr val="000000"/>
                </a:solidFill>
                <a:latin typeface="Cambria Math"/>
                <a:ea typeface="Cambria Math"/>
                <a:cs typeface="Cambria Math"/>
              </a:rPr>
              <a:t>(Applicant)</a:t>
            </a:r>
          </a:p>
        </p:txBody>
      </p:sp>
      <p:graphicFrame>
        <p:nvGraphicFramePr>
          <p:cNvPr id="13" name="表格 12"/>
          <p:cNvGraphicFramePr/>
          <p:nvPr/>
        </p:nvGraphicFramePr>
        <p:xfrm>
          <a:off x="1047750" y="1914525"/>
          <a:ext cx="1905000" cy="1600200"/>
        </p:xfrm>
        <a:graphic>
          <a:graphicData uri="http://schemas.openxmlformats.org/drawingml/2006/table">
            <a:tbl>
              <a:tblPr/>
              <a:tblGrid>
                <a:gridCol w="1905000">
                  <a:extLst>
                    <a:ext uri="{9D8B030D-6E8A-4147-A177-3AD203B41FA5}">
                      <a16:colId xmlns:a16="http://schemas.microsoft.com/office/drawing/2014/main" val="20000"/>
                    </a:ext>
                  </a:extLst>
                </a:gridCol>
              </a:tblGrid>
              <a:tr h="400050">
                <a:tc>
                  <a:txBody>
                    <a:bodyPr/>
                    <a:lstStyle/>
                    <a:p>
                      <a:pPr algn="ctr"/>
                      <a:r>
                        <a:rPr sz="2025">
                          <a:solidFill>
                            <a:srgbClr val="000000"/>
                          </a:solidFill>
                          <a:latin typeface="Calibri"/>
                          <a:ea typeface="Calibri"/>
                          <a:cs typeface="Calibri"/>
                        </a:rPr>
                        <a:t>major</a:t>
                      </a:r>
                    </a:p>
                  </a:txBody>
                  <a:tcPr marL="47625" marR="47625" marT="28575" marB="28575" anchor="ctr">
                    <a:solidFill>
                      <a:srgbClr val="D9D9D9"/>
                    </a:solidFill>
                  </a:tcPr>
                </a:tc>
                <a:extLst>
                  <a:ext uri="{0D108BD9-81ED-4DB2-BD59-A6C34878D82A}">
                    <a16:rowId xmlns:a16="http://schemas.microsoft.com/office/drawing/2014/main" val="10000"/>
                  </a:ext>
                </a:extLst>
              </a:tr>
              <a:tr h="400050">
                <a:tc>
                  <a:txBody>
                    <a:bodyPr/>
                    <a:lstStyle/>
                    <a:p>
                      <a:pPr algn="ctr"/>
                      <a:r>
                        <a:rPr sz="2025">
                          <a:solidFill>
                            <a:srgbClr val="000000"/>
                          </a:solidFill>
                          <a:latin typeface="Calibri"/>
                          <a:ea typeface="Calibri"/>
                          <a:cs typeface="Calibri"/>
                        </a:rPr>
                        <a:t>CS</a:t>
                      </a:r>
                    </a:p>
                  </a:txBody>
                  <a:tcPr marL="47625" marR="47625" marT="28575" marB="28575" anchor="ctr">
                    <a:solidFill>
                      <a:srgbClr val="FFFFFF"/>
                    </a:solidFill>
                  </a:tcPr>
                </a:tc>
                <a:extLst>
                  <a:ext uri="{0D108BD9-81ED-4DB2-BD59-A6C34878D82A}">
                    <a16:rowId xmlns:a16="http://schemas.microsoft.com/office/drawing/2014/main" val="10001"/>
                  </a:ext>
                </a:extLst>
              </a:tr>
              <a:tr h="400050">
                <a:tc>
                  <a:txBody>
                    <a:bodyPr/>
                    <a:lstStyle/>
                    <a:p>
                      <a:pPr algn="ctr"/>
                      <a:r>
                        <a:rPr sz="2025">
                          <a:solidFill>
                            <a:srgbClr val="000000"/>
                          </a:solidFill>
                          <a:latin typeface="Calibri"/>
                          <a:ea typeface="Calibri"/>
                          <a:cs typeface="Calibri"/>
                        </a:rPr>
                        <a:t>EE</a:t>
                      </a:r>
                    </a:p>
                  </a:txBody>
                  <a:tcPr marL="47625" marR="47625" marT="28575" marB="28575" anchor="ctr">
                    <a:solidFill>
                      <a:srgbClr val="FFFFFF"/>
                    </a:solidFill>
                  </a:tcPr>
                </a:tc>
                <a:extLst>
                  <a:ext uri="{0D108BD9-81ED-4DB2-BD59-A6C34878D82A}">
                    <a16:rowId xmlns:a16="http://schemas.microsoft.com/office/drawing/2014/main" val="10002"/>
                  </a:ext>
                </a:extLst>
              </a:tr>
              <a:tr h="400050">
                <a:tc>
                  <a:txBody>
                    <a:bodyPr/>
                    <a:lstStyle/>
                    <a:p>
                      <a:pPr algn="ctr"/>
                      <a:r>
                        <a:rPr sz="2025">
                          <a:solidFill>
                            <a:srgbClr val="000000"/>
                          </a:solidFill>
                          <a:latin typeface="Calibri"/>
                          <a:ea typeface="Calibri"/>
                          <a:cs typeface="Calibri"/>
                        </a:rPr>
                        <a:t>DS</a:t>
                      </a:r>
                    </a:p>
                  </a:txBody>
                  <a:tcPr marL="47625" marR="47625" marT="28575" marB="28575" anchor="ctr">
                    <a:solidFill>
                      <a:srgbClr val="FFFFFF"/>
                    </a:solidFill>
                  </a:tcPr>
                </a:tc>
                <a:extLst>
                  <a:ext uri="{0D108BD9-81ED-4DB2-BD59-A6C34878D82A}">
                    <a16:rowId xmlns:a16="http://schemas.microsoft.com/office/drawing/2014/main" val="10003"/>
                  </a:ext>
                </a:extLst>
              </a:tr>
            </a:tbl>
          </a:graphicData>
        </a:graphic>
      </p:graphicFrame>
      <p:graphicFrame>
        <p:nvGraphicFramePr>
          <p:cNvPr id="14" name="表格 13"/>
          <p:cNvGraphicFramePr/>
          <p:nvPr/>
        </p:nvGraphicFramePr>
        <p:xfrm>
          <a:off x="4533900" y="1914525"/>
          <a:ext cx="3429000" cy="2171700"/>
        </p:xfrm>
        <a:graphic>
          <a:graphicData uri="http://schemas.openxmlformats.org/drawingml/2006/table">
            <a:tbl>
              <a:tblPr/>
              <a:tblGrid>
                <a:gridCol w="1714500">
                  <a:extLst>
                    <a:ext uri="{9D8B030D-6E8A-4147-A177-3AD203B41FA5}">
                      <a16:colId xmlns:a16="http://schemas.microsoft.com/office/drawing/2014/main" val="20000"/>
                    </a:ext>
                  </a:extLst>
                </a:gridCol>
                <a:gridCol w="1714500">
                  <a:extLst>
                    <a:ext uri="{9D8B030D-6E8A-4147-A177-3AD203B41FA5}">
                      <a16:colId xmlns:a16="http://schemas.microsoft.com/office/drawing/2014/main" val="20001"/>
                    </a:ext>
                  </a:extLst>
                </a:gridCol>
              </a:tblGrid>
              <a:tr h="361950">
                <a:tc>
                  <a:txBody>
                    <a:bodyPr/>
                    <a:lstStyle/>
                    <a:p>
                      <a:pPr algn="ctr"/>
                      <a:r>
                        <a:rPr sz="1875">
                          <a:solidFill>
                            <a:srgbClr val="000000"/>
                          </a:solidFill>
                          <a:latin typeface="Calibri"/>
                          <a:ea typeface="Calibri"/>
                          <a:cs typeface="Calibri"/>
                        </a:rPr>
                        <a:t>uid</a:t>
                      </a:r>
                    </a:p>
                  </a:txBody>
                  <a:tcPr marL="47625" marR="47625" marT="28575" marB="28575" anchor="ctr">
                    <a:solidFill>
                      <a:srgbClr val="D9D9D9"/>
                    </a:solidFill>
                  </a:tcPr>
                </a:tc>
                <a:tc>
                  <a:txBody>
                    <a:bodyPr/>
                    <a:lstStyle/>
                    <a:p>
                      <a:pPr algn="ctr"/>
                      <a:r>
                        <a:rPr sz="1875">
                          <a:solidFill>
                            <a:srgbClr val="000000"/>
                          </a:solidFill>
                          <a:latin typeface="Calibri"/>
                          <a:ea typeface="Calibri"/>
                          <a:cs typeface="Calibri"/>
                        </a:rPr>
                        <a:t>major</a:t>
                      </a:r>
                    </a:p>
                  </a:txBody>
                  <a:tcPr marL="47625" marR="47625" marT="28575" marB="28575" anchor="ctr">
                    <a:solidFill>
                      <a:srgbClr val="D9D9D9"/>
                    </a:solidFill>
                  </a:tcPr>
                </a:tc>
                <a:extLst>
                  <a:ext uri="{0D108BD9-81ED-4DB2-BD59-A6C34878D82A}">
                    <a16:rowId xmlns:a16="http://schemas.microsoft.com/office/drawing/2014/main" val="10000"/>
                  </a:ext>
                </a:extLst>
              </a:tr>
              <a:tr h="361950">
                <a:tc>
                  <a:txBody>
                    <a:bodyPr/>
                    <a:lstStyle/>
                    <a:p>
                      <a:pPr algn="ctr"/>
                      <a:r>
                        <a:rPr sz="1875">
                          <a:solidFill>
                            <a:srgbClr val="000000"/>
                          </a:solidFill>
                          <a:latin typeface="Calibri"/>
                          <a:ea typeface="Calibri"/>
                          <a:cs typeface="Calibri"/>
                        </a:rPr>
                        <a:t>101</a:t>
                      </a:r>
                    </a:p>
                  </a:txBody>
                  <a:tcPr marL="47625" marR="47625" marT="28575" marB="28575" anchor="ctr">
                    <a:solidFill>
                      <a:srgbClr val="FFFFFF"/>
                    </a:solidFill>
                  </a:tcPr>
                </a:tc>
                <a:tc>
                  <a:txBody>
                    <a:bodyPr/>
                    <a:lstStyle/>
                    <a:p>
                      <a:pPr algn="ctr"/>
                      <a:r>
                        <a:rPr sz="1875">
                          <a:solidFill>
                            <a:srgbClr val="000000"/>
                          </a:solidFill>
                          <a:latin typeface="Calibri"/>
                          <a:ea typeface="Calibri"/>
                          <a:cs typeface="Calibri"/>
                        </a:rPr>
                        <a:t>CS</a:t>
                      </a:r>
                    </a:p>
                  </a:txBody>
                  <a:tcPr marL="47625" marR="47625" marT="28575" marB="28575" anchor="ctr">
                    <a:solidFill>
                      <a:srgbClr val="FFFFFF"/>
                    </a:solidFill>
                  </a:tcPr>
                </a:tc>
                <a:extLst>
                  <a:ext uri="{0D108BD9-81ED-4DB2-BD59-A6C34878D82A}">
                    <a16:rowId xmlns:a16="http://schemas.microsoft.com/office/drawing/2014/main" val="10001"/>
                  </a:ext>
                </a:extLst>
              </a:tr>
              <a:tr h="361950">
                <a:tc>
                  <a:txBody>
                    <a:bodyPr/>
                    <a:lstStyle/>
                    <a:p>
                      <a:pPr algn="ctr"/>
                      <a:r>
                        <a:rPr sz="1875">
                          <a:solidFill>
                            <a:srgbClr val="000000"/>
                          </a:solidFill>
                          <a:latin typeface="Calibri"/>
                          <a:ea typeface="Calibri"/>
                          <a:cs typeface="Calibri"/>
                        </a:rPr>
                        <a:t>102</a:t>
                      </a:r>
                    </a:p>
                  </a:txBody>
                  <a:tcPr marL="47625" marR="47625" marT="28575" marB="28575" anchor="ctr">
                    <a:solidFill>
                      <a:srgbClr val="FFFFFF"/>
                    </a:solidFill>
                  </a:tcPr>
                </a:tc>
                <a:tc>
                  <a:txBody>
                    <a:bodyPr/>
                    <a:lstStyle/>
                    <a:p>
                      <a:pPr algn="ctr"/>
                      <a:r>
                        <a:rPr sz="1875">
                          <a:solidFill>
                            <a:srgbClr val="000000"/>
                          </a:solidFill>
                          <a:latin typeface="Calibri"/>
                          <a:ea typeface="Calibri"/>
                          <a:cs typeface="Calibri"/>
                        </a:rPr>
                        <a:t>EE</a:t>
                      </a:r>
                    </a:p>
                  </a:txBody>
                  <a:tcPr marL="47625" marR="47625" marT="28575" marB="28575" anchor="ctr">
                    <a:solidFill>
                      <a:srgbClr val="FFFFFF"/>
                    </a:solidFill>
                  </a:tcPr>
                </a:tc>
                <a:extLst>
                  <a:ext uri="{0D108BD9-81ED-4DB2-BD59-A6C34878D82A}">
                    <a16:rowId xmlns:a16="http://schemas.microsoft.com/office/drawing/2014/main" val="10002"/>
                  </a:ext>
                </a:extLst>
              </a:tr>
              <a:tr h="361950">
                <a:tc>
                  <a:txBody>
                    <a:bodyPr/>
                    <a:lstStyle/>
                    <a:p>
                      <a:pPr algn="ctr"/>
                      <a:r>
                        <a:rPr sz="1875">
                          <a:solidFill>
                            <a:srgbClr val="000000"/>
                          </a:solidFill>
                          <a:latin typeface="Calibri"/>
                          <a:ea typeface="Calibri"/>
                          <a:cs typeface="Calibri"/>
                        </a:rPr>
                        <a:t>103</a:t>
                      </a:r>
                    </a:p>
                  </a:txBody>
                  <a:tcPr marL="47625" marR="47625" marT="28575" marB="28575" anchor="ctr">
                    <a:solidFill>
                      <a:srgbClr val="FFFFFF"/>
                    </a:solidFill>
                  </a:tcPr>
                </a:tc>
                <a:tc>
                  <a:txBody>
                    <a:bodyPr/>
                    <a:lstStyle/>
                    <a:p>
                      <a:pPr algn="ctr"/>
                      <a:r>
                        <a:rPr sz="1875">
                          <a:solidFill>
                            <a:srgbClr val="000000"/>
                          </a:solidFill>
                          <a:latin typeface="Calibri"/>
                          <a:ea typeface="Calibri"/>
                          <a:cs typeface="Calibri"/>
                        </a:rPr>
                        <a:t>CS</a:t>
                      </a:r>
                    </a:p>
                  </a:txBody>
                  <a:tcPr marL="47625" marR="47625" marT="28575" marB="28575" anchor="ctr">
                    <a:solidFill>
                      <a:srgbClr val="FFFFFF"/>
                    </a:solidFill>
                  </a:tcPr>
                </a:tc>
                <a:extLst>
                  <a:ext uri="{0D108BD9-81ED-4DB2-BD59-A6C34878D82A}">
                    <a16:rowId xmlns:a16="http://schemas.microsoft.com/office/drawing/2014/main" val="10003"/>
                  </a:ext>
                </a:extLst>
              </a:tr>
              <a:tr h="361950">
                <a:tc>
                  <a:txBody>
                    <a:bodyPr/>
                    <a:lstStyle/>
                    <a:p>
                      <a:pPr algn="ctr"/>
                      <a:r>
                        <a:rPr sz="1875">
                          <a:solidFill>
                            <a:srgbClr val="000000"/>
                          </a:solidFill>
                          <a:latin typeface="Calibri"/>
                          <a:ea typeface="Calibri"/>
                          <a:cs typeface="Calibri"/>
                        </a:rPr>
                        <a:t>104</a:t>
                      </a:r>
                    </a:p>
                  </a:txBody>
                  <a:tcPr marL="47625" marR="47625" marT="28575" marB="28575" anchor="ctr">
                    <a:solidFill>
                      <a:srgbClr val="FFFFFF"/>
                    </a:solidFill>
                  </a:tcPr>
                </a:tc>
                <a:tc>
                  <a:txBody>
                    <a:bodyPr/>
                    <a:lstStyle/>
                    <a:p>
                      <a:pPr algn="ctr"/>
                      <a:r>
                        <a:rPr sz="1875">
                          <a:solidFill>
                            <a:srgbClr val="000000"/>
                          </a:solidFill>
                          <a:latin typeface="Calibri"/>
                          <a:ea typeface="Calibri"/>
                          <a:cs typeface="Calibri"/>
                        </a:rPr>
                        <a:t>DS</a:t>
                      </a:r>
                    </a:p>
                  </a:txBody>
                  <a:tcPr marL="47625" marR="47625" marT="28575" marB="28575" anchor="ctr">
                    <a:solidFill>
                      <a:srgbClr val="FFFFFF"/>
                    </a:solidFill>
                  </a:tcPr>
                </a:tc>
                <a:extLst>
                  <a:ext uri="{0D108BD9-81ED-4DB2-BD59-A6C34878D82A}">
                    <a16:rowId xmlns:a16="http://schemas.microsoft.com/office/drawing/2014/main" val="10004"/>
                  </a:ext>
                </a:extLst>
              </a:tr>
              <a:tr h="361950">
                <a:tc>
                  <a:txBody>
                    <a:bodyPr/>
                    <a:lstStyle/>
                    <a:p>
                      <a:pPr algn="ctr"/>
                      <a:r>
                        <a:rPr sz="1875">
                          <a:solidFill>
                            <a:srgbClr val="000000"/>
                          </a:solidFill>
                          <a:latin typeface="Calibri"/>
                          <a:ea typeface="Calibri"/>
                          <a:cs typeface="Calibri"/>
                        </a:rPr>
                        <a:t>105</a:t>
                      </a:r>
                    </a:p>
                  </a:txBody>
                  <a:tcPr marL="47625" marR="47625" marT="28575" marB="28575" anchor="ctr">
                    <a:solidFill>
                      <a:srgbClr val="FFFFFF"/>
                    </a:solidFill>
                  </a:tcPr>
                </a:tc>
                <a:tc>
                  <a:txBody>
                    <a:bodyPr/>
                    <a:lstStyle/>
                    <a:p>
                      <a:pPr algn="ctr"/>
                      <a:r>
                        <a:rPr sz="1875">
                          <a:solidFill>
                            <a:srgbClr val="000000"/>
                          </a:solidFill>
                          <a:latin typeface="Calibri"/>
                          <a:ea typeface="Calibri"/>
                          <a:cs typeface="Calibri"/>
                        </a:rPr>
                        <a:t>CS</a:t>
                      </a:r>
                    </a:p>
                  </a:txBody>
                  <a:tcPr marL="47625" marR="47625" marT="28575" marB="28575" anchor="ctr">
                    <a:solidFill>
                      <a:srgbClr val="FFFFFF"/>
                    </a:solidFill>
                  </a:tcPr>
                </a:tc>
                <a:extLst>
                  <a:ext uri="{0D108BD9-81ED-4DB2-BD59-A6C34878D82A}">
                    <a16:rowId xmlns:a16="http://schemas.microsoft.com/office/drawing/2014/main" val="10005"/>
                  </a:ext>
                </a:extLst>
              </a:tr>
            </a:tbl>
          </a:graphicData>
        </a:graphic>
      </p:graphicFrame>
      <p:sp>
        <p:nvSpPr>
          <p:cNvPr id="7" name="body">
            <a:extLst>
              <a:ext uri="{FF2B5EF4-FFF2-40B4-BE49-F238E27FC236}">
                <a16:creationId xmlns:a16="http://schemas.microsoft.com/office/drawing/2014/main" id="{61D2A6D5-5C11-4FCB-AE54-2AB51C8A0086}"/>
              </a:ext>
            </a:extLst>
          </p:cNvPr>
          <p:cNvSpPr>
            <a:spLocks noGrp="1"/>
          </p:cNvSpPr>
          <p:nvPr/>
        </p:nvSpPr>
        <p:spPr>
          <a:xfrm>
            <a:off x="781050" y="4552950"/>
            <a:ext cx="7600950" cy="952500"/>
          </a:xfrm>
          <a:prstGeom prst="rect">
            <a:avLst/>
          </a:prstGeom>
          <a:noFill/>
          <a:ln w="0">
            <a:noFill/>
          </a:ln>
        </p:spPr>
        <p:txBody>
          <a:bodyPr wrap="square" lIns="0" tIns="0" rIns="0" bIns="0">
            <a:noAutofit/>
          </a:bodyPr>
          <a:lstStyle/>
          <a:p>
            <a:pPr>
              <a:defRPr sz="2175" b="0">
                <a:solidFill>
                  <a:srgbClr val="FF0000"/>
                </a:solidFill>
                <a:latin typeface="Calibri"/>
                <a:ea typeface="Calibri"/>
                <a:cs typeface="Calibri"/>
              </a:defRPr>
            </a:pPr>
            <a:r>
              <a:rPr sz="2175" b="0">
                <a:solidFill>
                  <a:srgbClr val="FF0000"/>
                </a:solidFill>
                <a:latin typeface="Calibri"/>
                <a:ea typeface="Calibri"/>
                <a:cs typeface="Calibri"/>
              </a:rPr>
              <a:t>(a) has 3 tuples. (b) has 5 because every uid is distinct.</a:t>
            </a:r>
          </a:p>
        </p:txBody>
      </p:sp>
      <p:sp>
        <p:nvSpPr>
          <p:cNvPr id="8" name="body">
            <a:extLst>
              <a:ext uri="{FF2B5EF4-FFF2-40B4-BE49-F238E27FC236}">
                <a16:creationId xmlns:a16="http://schemas.microsoft.com/office/drawing/2014/main" id="{4BC8FD15-8CE2-49A3-A6C9-0A715D7C7833}"/>
              </a:ext>
            </a:extLst>
          </p:cNvPr>
          <p:cNvSpPr>
            <a:spLocks noGrp="1"/>
          </p:cNvSpPr>
          <p:nvPr/>
        </p:nvSpPr>
        <p:spPr>
          <a:xfrm>
            <a:off x="781050" y="5343525"/>
            <a:ext cx="7600950" cy="952500"/>
          </a:xfrm>
          <a:prstGeom prst="rect">
            <a:avLst/>
          </a:prstGeom>
          <a:noFill/>
          <a:ln w="0">
            <a:noFill/>
          </a:ln>
        </p:spPr>
        <p:txBody>
          <a:bodyPr wrap="square" lIns="0" tIns="0" rIns="0" bIns="0">
            <a:noAutofit/>
          </a:bodyPr>
          <a:lstStyle/>
          <a:p>
            <a:pPr>
              <a:defRPr sz="2100" b="0">
                <a:solidFill>
                  <a:srgbClr val="000000"/>
                </a:solidFill>
                <a:latin typeface="Calibri"/>
                <a:ea typeface="Calibri"/>
                <a:cs typeface="Calibri"/>
              </a:defRPr>
            </a:pPr>
            <a:r>
              <a:rPr sz="2100" b="0">
                <a:solidFill>
                  <a:srgbClr val="000000"/>
                </a:solidFill>
                <a:latin typeface="Calibri"/>
                <a:ea typeface="Calibri"/>
                <a:cs typeface="Calibri"/>
              </a:rPr>
              <a:t>Projection removes duplicate tuples, not repeated cell values.</a:t>
            </a:r>
          </a:p>
        </p:txBody>
      </p:sp>
      <p:sp>
        <p:nvSpPr>
          <p:cNvPr id="9001" name="Title 1">
            <a:extLst>
              <a:ext uri="{FF2B5EF4-FFF2-40B4-BE49-F238E27FC236}">
                <a16:creationId xmlns:a16="http://schemas.microsoft.com/office/drawing/2014/main" id="{4EF27E5C-9C4D-BDBE-7667-D0B141BCC8F5}"/>
              </a:ext>
            </a:extLst>
          </p:cNvPr>
          <p:cNvSpPr>
            <a:spLocks noGrp="1"/>
          </p:cNvSpPr>
          <p:nvPr>
            <p:ph type="title"/>
          </p:nvPr>
        </p:nvSpPr>
        <p:spPr/>
        <p:txBody>
          <a:bodyPr/>
          <a:lstStyle/>
          <a:p>
            <a:r>
              <a:rPr lang="en-US">
                <a:solidFill>
                  <a:srgbClr val="FF0000"/>
                </a:solidFill>
              </a:rPr>
              <a:t>Solutions: </a:t>
            </a:r>
            <a:r>
              <a:rPr lang="en-US">
                <a:solidFill>
                  <a:srgbClr val="3333CC"/>
                </a:solidFill>
              </a:rPr>
              <a:t>Q5</a:t>
            </a:r>
          </a:p>
        </p:txBody>
      </p:sp>
      <p:sp>
        <p:nvSpPr>
          <p:cNvPr id="9002" name="Slide Number Placeholder 1">
            <a:extLst>
              <a:ext uri="{FF2B5EF4-FFF2-40B4-BE49-F238E27FC236}">
                <a16:creationId xmlns:a16="http://schemas.microsoft.com/office/drawing/2014/main" id="{B90139AC-3BDA-723A-097A-000DA0A784C1}"/>
              </a:ext>
            </a:extLst>
          </p:cNvPr>
          <p:cNvSpPr>
            <a:spLocks noGrp="1"/>
          </p:cNvSpPr>
          <p:nvPr>
            <p:ph type="sldNum" sz="quarter" idx="12"/>
          </p:nvPr>
        </p:nvSpPr>
        <p:spPr/>
        <p:txBody>
          <a:bodyPr/>
          <a:lstStyle/>
          <a:p>
            <a:pPr>
              <a:defRPr/>
            </a:pPr>
            <a:fld id="{43CA101F-9E5F-9249-9862-3CE55B3BB777}" type="slidenum">
              <a:rPr lang="en-US" altLang="zh-TW" smtClean="0"/>
              <a:pPr>
                <a:defRPr/>
              </a:pPr>
              <a:t>15</a:t>
            </a:fld>
            <a:endParaRPr lang="en-US" altLang="zh-TW"/>
          </a:p>
        </p:txBody>
      </p:sp>
    </p:spTree>
    <p:extLst>
      <p:ext uri="{BB962C8B-B14F-4D97-AF65-F5344CB8AC3E}">
        <p14:creationId xmlns:p14="http://schemas.microsoft.com/office/powerpoint/2010/main" val="149804528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矩形 2">
            <a:extLst>
              <a:ext uri="{FF2B5EF4-FFF2-40B4-BE49-F238E27FC236}">
                <a16:creationId xmlns:a16="http://schemas.microsoft.com/office/drawing/2014/main" id="{1151B473-3818-4E2C-BA0E-FD0C71E55224}"/>
              </a:ext>
            </a:extLst>
          </p:cNvPr>
          <p:cNvSpPr>
            <a:spLocks noGrp="1"/>
          </p:cNvSpPr>
          <p:nvPr/>
        </p:nvSpPr>
        <p:spPr>
          <a:xfrm>
            <a:off x="5962650" y="962025"/>
            <a:ext cx="2428875" cy="647700"/>
          </a:xfrm>
          <a:prstGeom prst="rect">
            <a:avLst/>
          </a:prstGeom>
          <a:solidFill>
            <a:srgbClr val="BFE7EF"/>
          </a:solidFill>
          <a:ln w="0">
            <a:noFill/>
          </a:ln>
        </p:spPr>
      </p:sp>
      <p:sp>
        <p:nvSpPr>
          <p:cNvPr id="4" name="formula">
            <a:extLst>
              <a:ext uri="{FF2B5EF4-FFF2-40B4-BE49-F238E27FC236}">
                <a16:creationId xmlns:a16="http://schemas.microsoft.com/office/drawing/2014/main" id="{5DD427A1-8AE0-49F3-A7AE-B16E55100A82}"/>
              </a:ext>
            </a:extLst>
          </p:cNvPr>
          <p:cNvSpPr>
            <a:spLocks noGrp="1"/>
          </p:cNvSpPr>
          <p:nvPr/>
        </p:nvSpPr>
        <p:spPr>
          <a:xfrm>
            <a:off x="6096000" y="1095375"/>
            <a:ext cx="2152650" cy="419100"/>
          </a:xfrm>
          <a:prstGeom prst="rect">
            <a:avLst/>
          </a:prstGeom>
          <a:noFill/>
          <a:ln w="0">
            <a:noFill/>
          </a:ln>
        </p:spPr>
        <p:txBody>
          <a:bodyPr wrap="square" lIns="0" tIns="0" rIns="0" bIns="0">
            <a:noAutofit/>
          </a:bodyPr>
          <a:lstStyle/>
          <a:p>
            <a:pPr>
              <a:defRPr sz="2100" b="0">
                <a:solidFill>
                  <a:srgbClr val="000000"/>
                </a:solidFill>
                <a:latin typeface="Cambria Math"/>
                <a:ea typeface="Cambria Math"/>
                <a:cs typeface="Cambria Math"/>
              </a:defRPr>
            </a:pPr>
            <a:r>
              <a:rPr sz="2100" b="0">
                <a:solidFill>
                  <a:srgbClr val="000000"/>
                </a:solidFill>
                <a:latin typeface="Cambria Math"/>
                <a:ea typeface="Cambria Math"/>
                <a:cs typeface="Cambria Math"/>
              </a:rPr>
              <a:t>T ← expression</a:t>
            </a:r>
          </a:p>
        </p:txBody>
      </p:sp>
      <p:sp>
        <p:nvSpPr>
          <p:cNvPr id="5" name="body">
            <a:extLst>
              <a:ext uri="{FF2B5EF4-FFF2-40B4-BE49-F238E27FC236}">
                <a16:creationId xmlns:a16="http://schemas.microsoft.com/office/drawing/2014/main" id="{D74C20BC-0DD9-4DA8-8D81-F2D92F0EF237}"/>
              </a:ext>
            </a:extLst>
          </p:cNvPr>
          <p:cNvSpPr>
            <a:spLocks noGrp="1"/>
          </p:cNvSpPr>
          <p:nvPr/>
        </p:nvSpPr>
        <p:spPr>
          <a:xfrm>
            <a:off x="781050" y="1809750"/>
            <a:ext cx="219075" cy="400050"/>
          </a:xfrm>
          <a:prstGeom prst="rect">
            <a:avLst/>
          </a:prstGeom>
          <a:noFill/>
          <a:ln w="0">
            <a:noFill/>
          </a:ln>
        </p:spPr>
        <p:txBody>
          <a:bodyPr wrap="square" lIns="0" tIns="0" rIns="0" bIns="0">
            <a:noAutofit/>
          </a:bodyPr>
          <a:lstStyle/>
          <a:p>
            <a:pPr>
              <a:defRPr sz="2250" b="0">
                <a:solidFill>
                  <a:srgbClr val="000000"/>
                </a:solidFill>
                <a:latin typeface="Calibri"/>
                <a:ea typeface="Calibri"/>
                <a:cs typeface="Calibri"/>
              </a:defRPr>
            </a:pPr>
            <a:r>
              <a:rPr sz="2250" b="0">
                <a:solidFill>
                  <a:srgbClr val="000000"/>
                </a:solidFill>
                <a:latin typeface="Calibri"/>
                <a:ea typeface="Calibri"/>
                <a:cs typeface="Calibri"/>
              </a:rPr>
              <a:t>•</a:t>
            </a:r>
          </a:p>
        </p:txBody>
      </p:sp>
      <p:sp>
        <p:nvSpPr>
          <p:cNvPr id="6" name="body">
            <a:extLst>
              <a:ext uri="{FF2B5EF4-FFF2-40B4-BE49-F238E27FC236}">
                <a16:creationId xmlns:a16="http://schemas.microsoft.com/office/drawing/2014/main" id="{87C4A244-AFF0-4C44-800F-C39C19977033}"/>
              </a:ext>
            </a:extLst>
          </p:cNvPr>
          <p:cNvSpPr>
            <a:spLocks noGrp="1"/>
          </p:cNvSpPr>
          <p:nvPr/>
        </p:nvSpPr>
        <p:spPr>
          <a:xfrm>
            <a:off x="1104900" y="1809750"/>
            <a:ext cx="7239000" cy="952500"/>
          </a:xfrm>
          <a:prstGeom prst="rect">
            <a:avLst/>
          </a:prstGeom>
          <a:noFill/>
          <a:ln w="0">
            <a:noFill/>
          </a:ln>
        </p:spPr>
        <p:txBody>
          <a:bodyPr wrap="square" lIns="0" tIns="0" rIns="0" bIns="0">
            <a:noAutofit/>
          </a:bodyPr>
          <a:lstStyle/>
          <a:p>
            <a:pPr>
              <a:defRPr sz="2250" b="0">
                <a:solidFill>
                  <a:srgbClr val="000000"/>
                </a:solidFill>
                <a:latin typeface="Calibri"/>
                <a:ea typeface="Calibri"/>
                <a:cs typeface="Calibri"/>
              </a:defRPr>
            </a:pPr>
            <a:r>
              <a:rPr sz="2250" b="0">
                <a:solidFill>
                  <a:srgbClr val="000000"/>
                </a:solidFill>
                <a:latin typeface="Calibri"/>
                <a:ea typeface="Calibri"/>
                <a:cs typeface="Calibri"/>
              </a:rPr>
              <a:t>The output of one operation can be the input of another.</a:t>
            </a:r>
          </a:p>
        </p:txBody>
      </p:sp>
      <p:sp>
        <p:nvSpPr>
          <p:cNvPr id="7" name="formula">
            <a:extLst>
              <a:ext uri="{FF2B5EF4-FFF2-40B4-BE49-F238E27FC236}">
                <a16:creationId xmlns:a16="http://schemas.microsoft.com/office/drawing/2014/main" id="{1012D38C-42C4-4DA3-BF71-AD2D521342B2}"/>
              </a:ext>
            </a:extLst>
          </p:cNvPr>
          <p:cNvSpPr>
            <a:spLocks noGrp="1"/>
          </p:cNvSpPr>
          <p:nvPr/>
        </p:nvSpPr>
        <p:spPr>
          <a:xfrm>
            <a:off x="781050" y="2695575"/>
            <a:ext cx="7600950" cy="523875"/>
          </a:xfrm>
          <a:prstGeom prst="rect">
            <a:avLst/>
          </a:prstGeom>
          <a:noFill/>
          <a:ln w="0">
            <a:noFill/>
          </a:ln>
        </p:spPr>
        <p:txBody>
          <a:bodyPr wrap="square" lIns="0" tIns="0" rIns="0" bIns="0">
            <a:noAutofit/>
          </a:bodyPr>
          <a:lstStyle/>
          <a:p>
            <a:pPr>
              <a:defRPr sz="2175" b="0">
                <a:solidFill>
                  <a:srgbClr val="000000"/>
                </a:solidFill>
                <a:latin typeface="Cambria Math"/>
                <a:ea typeface="Cambria Math"/>
                <a:cs typeface="Cambria Math"/>
              </a:defRPr>
            </a:pPr>
            <a:r>
              <a:rPr sz="2175" b="0">
                <a:solidFill>
                  <a:srgbClr val="000000"/>
                </a:solidFill>
                <a:latin typeface="Cambria Math"/>
                <a:ea typeface="Cambria Math"/>
                <a:cs typeface="Cambria Math"/>
              </a:rPr>
              <a:t>T ← σ</a:t>
            </a:r>
            <a:r>
              <a:rPr sz="1544" b="0" baseline="-25000">
                <a:solidFill>
                  <a:srgbClr val="000000"/>
                </a:solidFill>
                <a:latin typeface="Cambria Math"/>
                <a:ea typeface="Cambria Math"/>
                <a:cs typeface="Cambria Math"/>
              </a:rPr>
              <a:t>major='CS'</a:t>
            </a:r>
            <a:r>
              <a:rPr sz="2175" b="0">
                <a:solidFill>
                  <a:srgbClr val="000000"/>
                </a:solidFill>
                <a:latin typeface="Cambria Math"/>
                <a:ea typeface="Cambria Math"/>
                <a:cs typeface="Cambria Math"/>
              </a:rPr>
              <a:t>(Applicant)</a:t>
            </a:r>
          </a:p>
        </p:txBody>
      </p:sp>
      <p:sp>
        <p:nvSpPr>
          <p:cNvPr id="8" name="formula">
            <a:extLst>
              <a:ext uri="{FF2B5EF4-FFF2-40B4-BE49-F238E27FC236}">
                <a16:creationId xmlns:a16="http://schemas.microsoft.com/office/drawing/2014/main" id="{8E7473B4-B3A4-4F62-B2C8-F2ACED67C9F9}"/>
              </a:ext>
            </a:extLst>
          </p:cNvPr>
          <p:cNvSpPr>
            <a:spLocks noGrp="1"/>
          </p:cNvSpPr>
          <p:nvPr/>
        </p:nvSpPr>
        <p:spPr>
          <a:xfrm>
            <a:off x="781050" y="3419475"/>
            <a:ext cx="7600950" cy="523875"/>
          </a:xfrm>
          <a:prstGeom prst="rect">
            <a:avLst/>
          </a:prstGeom>
          <a:noFill/>
          <a:ln w="0">
            <a:noFill/>
          </a:ln>
        </p:spPr>
        <p:txBody>
          <a:bodyPr wrap="square" lIns="0" tIns="0" rIns="0" bIns="0">
            <a:noAutofit/>
          </a:bodyPr>
          <a:lstStyle/>
          <a:p>
            <a:pPr>
              <a:defRPr sz="2175" b="0">
                <a:solidFill>
                  <a:srgbClr val="000000"/>
                </a:solidFill>
                <a:latin typeface="Cambria Math"/>
                <a:ea typeface="Cambria Math"/>
                <a:cs typeface="Cambria Math"/>
              </a:defRPr>
            </a:pPr>
            <a:r>
              <a:rPr sz="2175" b="0">
                <a:solidFill>
                  <a:srgbClr val="000000"/>
                </a:solidFill>
                <a:latin typeface="Cambria Math"/>
                <a:ea typeface="Cambria Math"/>
                <a:cs typeface="Cambria Math"/>
              </a:rPr>
              <a:t>π</a:t>
            </a:r>
            <a:r>
              <a:rPr sz="1544" b="0" baseline="-25000">
                <a:solidFill>
                  <a:srgbClr val="000000"/>
                </a:solidFill>
                <a:latin typeface="Cambria Math"/>
                <a:ea typeface="Cambria Math"/>
                <a:cs typeface="Cambria Math"/>
              </a:rPr>
              <a:t>uname</a:t>
            </a:r>
            <a:r>
              <a:rPr sz="2175" b="0">
                <a:solidFill>
                  <a:srgbClr val="000000"/>
                </a:solidFill>
                <a:latin typeface="Cambria Math"/>
                <a:ea typeface="Cambria Math"/>
                <a:cs typeface="Cambria Math"/>
              </a:rPr>
              <a:t>(T)</a:t>
            </a:r>
          </a:p>
        </p:txBody>
      </p:sp>
      <p:sp>
        <p:nvSpPr>
          <p:cNvPr id="9" name="body">
            <a:extLst>
              <a:ext uri="{FF2B5EF4-FFF2-40B4-BE49-F238E27FC236}">
                <a16:creationId xmlns:a16="http://schemas.microsoft.com/office/drawing/2014/main" id="{B437ED78-DD49-4A07-9635-74E98B18F874}"/>
              </a:ext>
            </a:extLst>
          </p:cNvPr>
          <p:cNvSpPr>
            <a:spLocks noGrp="1"/>
          </p:cNvSpPr>
          <p:nvPr/>
        </p:nvSpPr>
        <p:spPr>
          <a:xfrm>
            <a:off x="781050" y="4191000"/>
            <a:ext cx="219075" cy="400050"/>
          </a:xfrm>
          <a:prstGeom prst="rect">
            <a:avLst/>
          </a:prstGeom>
          <a:noFill/>
          <a:ln w="0">
            <a:noFill/>
          </a:ln>
        </p:spPr>
        <p:txBody>
          <a:bodyPr wrap="square" lIns="0" tIns="0" rIns="0" bIns="0">
            <a:noAutofit/>
          </a:bodyPr>
          <a:lstStyle/>
          <a:p>
            <a:pPr>
              <a:defRPr sz="2250" b="0">
                <a:solidFill>
                  <a:srgbClr val="000000"/>
                </a:solidFill>
                <a:latin typeface="Calibri"/>
                <a:ea typeface="Calibri"/>
                <a:cs typeface="Calibri"/>
              </a:defRPr>
            </a:pPr>
            <a:r>
              <a:rPr sz="2250" b="0">
                <a:solidFill>
                  <a:srgbClr val="000000"/>
                </a:solidFill>
                <a:latin typeface="Calibri"/>
                <a:ea typeface="Calibri"/>
                <a:cs typeface="Calibri"/>
              </a:rPr>
              <a:t>•</a:t>
            </a:r>
          </a:p>
        </p:txBody>
      </p:sp>
      <p:sp>
        <p:nvSpPr>
          <p:cNvPr id="10" name="body">
            <a:extLst>
              <a:ext uri="{FF2B5EF4-FFF2-40B4-BE49-F238E27FC236}">
                <a16:creationId xmlns:a16="http://schemas.microsoft.com/office/drawing/2014/main" id="{CBF48B70-5433-4A53-8778-56FEABCAAD82}"/>
              </a:ext>
            </a:extLst>
          </p:cNvPr>
          <p:cNvSpPr>
            <a:spLocks noGrp="1"/>
          </p:cNvSpPr>
          <p:nvPr/>
        </p:nvSpPr>
        <p:spPr>
          <a:xfrm>
            <a:off x="1104900" y="4191000"/>
            <a:ext cx="7239000" cy="952500"/>
          </a:xfrm>
          <a:prstGeom prst="rect">
            <a:avLst/>
          </a:prstGeom>
          <a:noFill/>
          <a:ln w="0">
            <a:noFill/>
          </a:ln>
        </p:spPr>
        <p:txBody>
          <a:bodyPr wrap="square" lIns="0" tIns="0" rIns="0" bIns="0">
            <a:noAutofit/>
          </a:bodyPr>
          <a:lstStyle/>
          <a:p>
            <a:pPr>
              <a:defRPr sz="2250" b="0">
                <a:solidFill>
                  <a:srgbClr val="000000"/>
                </a:solidFill>
                <a:latin typeface="Calibri"/>
                <a:ea typeface="Calibri"/>
                <a:cs typeface="Calibri"/>
              </a:defRPr>
            </a:pPr>
            <a:r>
              <a:rPr sz="2250" b="0">
                <a:solidFill>
                  <a:srgbClr val="000000"/>
                </a:solidFill>
                <a:latin typeface="Calibri"/>
                <a:ea typeface="Calibri"/>
                <a:cs typeface="Calibri"/>
              </a:rPr>
              <a:t>Assignment stores a result in a temporary relation.</a:t>
            </a:r>
          </a:p>
        </p:txBody>
      </p:sp>
      <p:sp>
        <p:nvSpPr>
          <p:cNvPr id="11" name="body">
            <a:extLst>
              <a:ext uri="{FF2B5EF4-FFF2-40B4-BE49-F238E27FC236}">
                <a16:creationId xmlns:a16="http://schemas.microsoft.com/office/drawing/2014/main" id="{0E4EA891-E5E0-48D8-9486-45D034599292}"/>
              </a:ext>
            </a:extLst>
          </p:cNvPr>
          <p:cNvSpPr>
            <a:spLocks noGrp="1"/>
          </p:cNvSpPr>
          <p:nvPr/>
        </p:nvSpPr>
        <p:spPr>
          <a:xfrm>
            <a:off x="781050" y="5133975"/>
            <a:ext cx="7600950" cy="952500"/>
          </a:xfrm>
          <a:prstGeom prst="rect">
            <a:avLst/>
          </a:prstGeom>
          <a:noFill/>
          <a:ln w="0">
            <a:noFill/>
          </a:ln>
        </p:spPr>
        <p:txBody>
          <a:bodyPr wrap="square" lIns="0" tIns="0" rIns="0" bIns="0">
            <a:noAutofit/>
          </a:bodyPr>
          <a:lstStyle/>
          <a:p>
            <a:pPr>
              <a:defRPr sz="2100" b="0">
                <a:solidFill>
                  <a:srgbClr val="FF0000"/>
                </a:solidFill>
                <a:latin typeface="Calibri"/>
                <a:ea typeface="Calibri"/>
                <a:cs typeface="Calibri"/>
              </a:defRPr>
            </a:pPr>
            <a:r>
              <a:rPr sz="2100" b="0">
                <a:solidFill>
                  <a:srgbClr val="FF0000"/>
                </a:solidFill>
                <a:latin typeface="Calibri"/>
                <a:ea typeface="Calibri"/>
                <a:cs typeface="Calibri"/>
              </a:rPr>
              <a:t>Keep each attribute until every operation that needs it is complete.</a:t>
            </a:r>
          </a:p>
        </p:txBody>
      </p:sp>
      <p:sp>
        <p:nvSpPr>
          <p:cNvPr id="9001" name="Title 1">
            <a:extLst>
              <a:ext uri="{FF2B5EF4-FFF2-40B4-BE49-F238E27FC236}">
                <a16:creationId xmlns:a16="http://schemas.microsoft.com/office/drawing/2014/main" id="{4EF27E5C-9C4D-BDBE-7667-D0B141BCC8F5}"/>
              </a:ext>
            </a:extLst>
          </p:cNvPr>
          <p:cNvSpPr>
            <a:spLocks noGrp="1"/>
          </p:cNvSpPr>
          <p:nvPr>
            <p:ph type="title"/>
          </p:nvPr>
        </p:nvSpPr>
        <p:spPr/>
        <p:txBody>
          <a:bodyPr/>
          <a:lstStyle/>
          <a:p>
            <a:r>
              <a:rPr lang="en-US">
                <a:solidFill>
                  <a:srgbClr val="3333CC"/>
                </a:solidFill>
              </a:rPr>
              <a:t>Composition and Assignment</a:t>
            </a:r>
          </a:p>
        </p:txBody>
      </p:sp>
      <p:sp>
        <p:nvSpPr>
          <p:cNvPr id="9002" name="Slide Number Placeholder 1">
            <a:extLst>
              <a:ext uri="{FF2B5EF4-FFF2-40B4-BE49-F238E27FC236}">
                <a16:creationId xmlns:a16="http://schemas.microsoft.com/office/drawing/2014/main" id="{B90139AC-3BDA-723A-097A-000DA0A784C1}"/>
              </a:ext>
            </a:extLst>
          </p:cNvPr>
          <p:cNvSpPr>
            <a:spLocks noGrp="1"/>
          </p:cNvSpPr>
          <p:nvPr>
            <p:ph type="sldNum" sz="quarter" idx="12"/>
          </p:nvPr>
        </p:nvSpPr>
        <p:spPr/>
        <p:txBody>
          <a:bodyPr/>
          <a:lstStyle/>
          <a:p>
            <a:pPr>
              <a:defRPr/>
            </a:pPr>
            <a:fld id="{43CA101F-9E5F-9249-9862-3CE55B3BB777}" type="slidenum">
              <a:rPr lang="en-US" altLang="zh-TW" smtClean="0"/>
              <a:pPr>
                <a:defRPr/>
              </a:pPr>
              <a:t>16</a:t>
            </a:fld>
            <a:endParaRPr lang="en-US" altLang="zh-TW"/>
          </a:p>
        </p:txBody>
      </p:sp>
    </p:spTree>
    <p:extLst>
      <p:ext uri="{BB962C8B-B14F-4D97-AF65-F5344CB8AC3E}">
        <p14:creationId xmlns:p14="http://schemas.microsoft.com/office/powerpoint/2010/main" val="464018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body">
            <a:extLst>
              <a:ext uri="{FF2B5EF4-FFF2-40B4-BE49-F238E27FC236}">
                <a16:creationId xmlns:a16="http://schemas.microsoft.com/office/drawing/2014/main" id="{38607463-82E9-40FE-A77E-89A3B031C28B}"/>
              </a:ext>
            </a:extLst>
          </p:cNvPr>
          <p:cNvSpPr>
            <a:spLocks noGrp="1"/>
          </p:cNvSpPr>
          <p:nvPr/>
        </p:nvSpPr>
        <p:spPr>
          <a:xfrm>
            <a:off x="781050" y="5876925"/>
            <a:ext cx="7620000" cy="285750"/>
          </a:xfrm>
          <a:prstGeom prst="rect">
            <a:avLst/>
          </a:prstGeom>
          <a:noFill/>
          <a:ln w="0">
            <a:noFill/>
          </a:ln>
        </p:spPr>
        <p:txBody>
          <a:bodyPr wrap="square" lIns="0" tIns="0" rIns="0" bIns="0">
            <a:noAutofit/>
          </a:bodyPr>
          <a:lstStyle/>
          <a:p>
            <a:pPr>
              <a:defRPr sz="1725" b="0">
                <a:solidFill>
                  <a:srgbClr val="3333CC"/>
                </a:solidFill>
                <a:latin typeface="Calibri"/>
                <a:ea typeface="Calibri"/>
                <a:cs typeface="Calibri"/>
              </a:defRPr>
            </a:pPr>
            <a:r>
              <a:rPr sz="1725" b="0">
                <a:solidFill>
                  <a:srgbClr val="3333CC"/>
                </a:solidFill>
                <a:latin typeface="Calibri"/>
                <a:ea typeface="Calibri"/>
                <a:cs typeface="Calibri"/>
              </a:rPr>
              <a:t>Think: 30 s</a:t>
            </a:r>
          </a:p>
        </p:txBody>
      </p:sp>
      <p:sp>
        <p:nvSpPr>
          <p:cNvPr id="4" name="body">
            <a:extLst>
              <a:ext uri="{FF2B5EF4-FFF2-40B4-BE49-F238E27FC236}">
                <a16:creationId xmlns:a16="http://schemas.microsoft.com/office/drawing/2014/main" id="{56151ADB-240C-48F6-BC99-B2FC490A8267}"/>
              </a:ext>
            </a:extLst>
          </p:cNvPr>
          <p:cNvSpPr>
            <a:spLocks noGrp="1"/>
          </p:cNvSpPr>
          <p:nvPr/>
        </p:nvSpPr>
        <p:spPr>
          <a:xfrm>
            <a:off x="952500" y="1104900"/>
            <a:ext cx="7048500" cy="361950"/>
          </a:xfrm>
          <a:prstGeom prst="rect">
            <a:avLst/>
          </a:prstGeom>
          <a:noFill/>
          <a:ln w="0">
            <a:noFill/>
          </a:ln>
        </p:spPr>
        <p:txBody>
          <a:bodyPr wrap="square" lIns="0" tIns="0" rIns="0" bIns="0">
            <a:noAutofit/>
          </a:bodyPr>
          <a:lstStyle/>
          <a:p>
            <a:pPr>
              <a:defRPr sz="2250" b="0">
                <a:solidFill>
                  <a:srgbClr val="000000"/>
                </a:solidFill>
                <a:latin typeface="Calibri"/>
                <a:ea typeface="Calibri"/>
                <a:cs typeface="Calibri"/>
              </a:defRPr>
            </a:pPr>
            <a:r>
              <a:rPr sz="2250" b="0">
                <a:solidFill>
                  <a:srgbClr val="000000"/>
                </a:solidFill>
                <a:latin typeface="Calibri"/>
                <a:ea typeface="Calibri"/>
                <a:cs typeface="Calibri"/>
              </a:rPr>
              <a:t>Applicant</a:t>
            </a:r>
          </a:p>
        </p:txBody>
      </p:sp>
      <p:graphicFrame>
        <p:nvGraphicFramePr>
          <p:cNvPr id="13" name="表格 12"/>
          <p:cNvGraphicFramePr/>
          <p:nvPr/>
        </p:nvGraphicFramePr>
        <p:xfrm>
          <a:off x="1028700" y="1524000"/>
          <a:ext cx="7048500" cy="1885950"/>
        </p:xfrm>
        <a:graphic>
          <a:graphicData uri="http://schemas.openxmlformats.org/drawingml/2006/table">
            <a:tbl>
              <a:tblPr/>
              <a:tblGrid>
                <a:gridCol w="1409700">
                  <a:extLst>
                    <a:ext uri="{9D8B030D-6E8A-4147-A177-3AD203B41FA5}">
                      <a16:colId xmlns:a16="http://schemas.microsoft.com/office/drawing/2014/main" val="20000"/>
                    </a:ext>
                  </a:extLst>
                </a:gridCol>
                <a:gridCol w="1409700">
                  <a:extLst>
                    <a:ext uri="{9D8B030D-6E8A-4147-A177-3AD203B41FA5}">
                      <a16:colId xmlns:a16="http://schemas.microsoft.com/office/drawing/2014/main" val="20001"/>
                    </a:ext>
                  </a:extLst>
                </a:gridCol>
                <a:gridCol w="1409700">
                  <a:extLst>
                    <a:ext uri="{9D8B030D-6E8A-4147-A177-3AD203B41FA5}">
                      <a16:colId xmlns:a16="http://schemas.microsoft.com/office/drawing/2014/main" val="20002"/>
                    </a:ext>
                  </a:extLst>
                </a:gridCol>
                <a:gridCol w="1409700">
                  <a:extLst>
                    <a:ext uri="{9D8B030D-6E8A-4147-A177-3AD203B41FA5}">
                      <a16:colId xmlns:a16="http://schemas.microsoft.com/office/drawing/2014/main" val="20003"/>
                    </a:ext>
                  </a:extLst>
                </a:gridCol>
                <a:gridCol w="1409700">
                  <a:extLst>
                    <a:ext uri="{9D8B030D-6E8A-4147-A177-3AD203B41FA5}">
                      <a16:colId xmlns:a16="http://schemas.microsoft.com/office/drawing/2014/main" val="20004"/>
                    </a:ext>
                  </a:extLst>
                </a:gridCol>
              </a:tblGrid>
              <a:tr h="314325">
                <a:tc>
                  <a:txBody>
                    <a:bodyPr/>
                    <a:lstStyle/>
                    <a:p>
                      <a:pPr algn="ctr"/>
                      <a:r>
                        <a:rPr sz="1650">
                          <a:solidFill>
                            <a:srgbClr val="000000"/>
                          </a:solidFill>
                          <a:latin typeface="Calibri"/>
                          <a:ea typeface="Calibri"/>
                          <a:cs typeface="Calibri"/>
                        </a:rPr>
                        <a:t>uid</a:t>
                      </a:r>
                    </a:p>
                  </a:txBody>
                  <a:tcPr marL="47625" marR="47625" marT="28575" marB="28575" anchor="ctr">
                    <a:solidFill>
                      <a:srgbClr val="D9D9D9"/>
                    </a:solidFill>
                  </a:tcPr>
                </a:tc>
                <a:tc>
                  <a:txBody>
                    <a:bodyPr/>
                    <a:lstStyle/>
                    <a:p>
                      <a:pPr algn="ctr"/>
                      <a:r>
                        <a:rPr sz="1650">
                          <a:solidFill>
                            <a:srgbClr val="000000"/>
                          </a:solidFill>
                          <a:latin typeface="Calibri"/>
                          <a:ea typeface="Calibri"/>
                          <a:cs typeface="Calibri"/>
                        </a:rPr>
                        <a:t>uname</a:t>
                      </a:r>
                    </a:p>
                  </a:txBody>
                  <a:tcPr marL="47625" marR="47625" marT="28575" marB="28575" anchor="ctr">
                    <a:solidFill>
                      <a:srgbClr val="D9D9D9"/>
                    </a:solidFill>
                  </a:tcPr>
                </a:tc>
                <a:tc>
                  <a:txBody>
                    <a:bodyPr/>
                    <a:lstStyle/>
                    <a:p>
                      <a:pPr algn="ctr"/>
                      <a:r>
                        <a:rPr sz="1650">
                          <a:solidFill>
                            <a:srgbClr val="000000"/>
                          </a:solidFill>
                          <a:latin typeface="Calibri"/>
                          <a:ea typeface="Calibri"/>
                          <a:cs typeface="Calibri"/>
                        </a:rPr>
                        <a:t>major</a:t>
                      </a:r>
                    </a:p>
                  </a:txBody>
                  <a:tcPr marL="47625" marR="47625" marT="28575" marB="28575" anchor="ctr">
                    <a:solidFill>
                      <a:srgbClr val="D9D9D9"/>
                    </a:solidFill>
                  </a:tcPr>
                </a:tc>
                <a:tc>
                  <a:txBody>
                    <a:bodyPr/>
                    <a:lstStyle/>
                    <a:p>
                      <a:pPr algn="ctr"/>
                      <a:r>
                        <a:rPr sz="1650">
                          <a:solidFill>
                            <a:srgbClr val="000000"/>
                          </a:solidFill>
                          <a:latin typeface="Calibri"/>
                          <a:ea typeface="Calibri"/>
                          <a:cs typeface="Calibri"/>
                        </a:rPr>
                        <a:t>year</a:t>
                      </a:r>
                    </a:p>
                  </a:txBody>
                  <a:tcPr marL="47625" marR="47625" marT="28575" marB="28575" anchor="ctr">
                    <a:solidFill>
                      <a:srgbClr val="D9D9D9"/>
                    </a:solidFill>
                  </a:tcPr>
                </a:tc>
                <a:tc>
                  <a:txBody>
                    <a:bodyPr/>
                    <a:lstStyle/>
                    <a:p>
                      <a:pPr algn="ctr"/>
                      <a:r>
                        <a:rPr sz="1650">
                          <a:solidFill>
                            <a:srgbClr val="000000"/>
                          </a:solidFill>
                          <a:latin typeface="Calibri"/>
                          <a:ea typeface="Calibri"/>
                          <a:cs typeface="Calibri"/>
                        </a:rPr>
                        <a:t>score</a:t>
                      </a:r>
                    </a:p>
                  </a:txBody>
                  <a:tcPr marL="47625" marR="47625" marT="28575" marB="28575" anchor="ctr">
                    <a:solidFill>
                      <a:srgbClr val="D9D9D9"/>
                    </a:solidFill>
                  </a:tcPr>
                </a:tc>
                <a:extLst>
                  <a:ext uri="{0D108BD9-81ED-4DB2-BD59-A6C34878D82A}">
                    <a16:rowId xmlns:a16="http://schemas.microsoft.com/office/drawing/2014/main" val="10000"/>
                  </a:ext>
                </a:extLst>
              </a:tr>
              <a:tr h="314325">
                <a:tc>
                  <a:txBody>
                    <a:bodyPr/>
                    <a:lstStyle/>
                    <a:p>
                      <a:pPr algn="ctr"/>
                      <a:r>
                        <a:rPr sz="1650">
                          <a:solidFill>
                            <a:srgbClr val="000000"/>
                          </a:solidFill>
                          <a:latin typeface="Calibri"/>
                          <a:ea typeface="Calibri"/>
                          <a:cs typeface="Calibri"/>
                        </a:rPr>
                        <a:t>101</a:t>
                      </a:r>
                    </a:p>
                  </a:txBody>
                  <a:tcPr marL="47625" marR="47625" marT="28575" marB="28575" anchor="ctr">
                    <a:solidFill>
                      <a:srgbClr val="FFFFFF"/>
                    </a:solidFill>
                  </a:tcPr>
                </a:tc>
                <a:tc>
                  <a:txBody>
                    <a:bodyPr/>
                    <a:lstStyle/>
                    <a:p>
                      <a:pPr algn="ctr"/>
                      <a:r>
                        <a:rPr sz="1650">
                          <a:solidFill>
                            <a:srgbClr val="000000"/>
                          </a:solidFill>
                          <a:latin typeface="Calibri"/>
                          <a:ea typeface="Calibri"/>
                          <a:cs typeface="Calibri"/>
                        </a:rPr>
                        <a:t>Ada</a:t>
                      </a:r>
                    </a:p>
                  </a:txBody>
                  <a:tcPr marL="47625" marR="47625" marT="28575" marB="28575" anchor="ctr">
                    <a:solidFill>
                      <a:srgbClr val="FFFFFF"/>
                    </a:solidFill>
                  </a:tcPr>
                </a:tc>
                <a:tc>
                  <a:txBody>
                    <a:bodyPr/>
                    <a:lstStyle/>
                    <a:p>
                      <a:pPr algn="ctr"/>
                      <a:r>
                        <a:rPr sz="1650">
                          <a:solidFill>
                            <a:srgbClr val="000000"/>
                          </a:solidFill>
                          <a:latin typeface="Calibri"/>
                          <a:ea typeface="Calibri"/>
                          <a:cs typeface="Calibri"/>
                        </a:rPr>
                        <a:t>CS</a:t>
                      </a:r>
                    </a:p>
                  </a:txBody>
                  <a:tcPr marL="47625" marR="47625" marT="28575" marB="28575" anchor="ctr">
                    <a:solidFill>
                      <a:srgbClr val="FFFFFF"/>
                    </a:solidFill>
                  </a:tcPr>
                </a:tc>
                <a:tc>
                  <a:txBody>
                    <a:bodyPr/>
                    <a:lstStyle/>
                    <a:p>
                      <a:pPr algn="ctr"/>
                      <a:r>
                        <a:rPr sz="1650">
                          <a:solidFill>
                            <a:srgbClr val="000000"/>
                          </a:solidFill>
                          <a:latin typeface="Calibri"/>
                          <a:ea typeface="Calibri"/>
                          <a:cs typeface="Calibri"/>
                        </a:rPr>
                        <a:t>3</a:t>
                      </a:r>
                    </a:p>
                  </a:txBody>
                  <a:tcPr marL="47625" marR="47625" marT="28575" marB="28575" anchor="ctr">
                    <a:solidFill>
                      <a:srgbClr val="FFFFFF"/>
                    </a:solidFill>
                  </a:tcPr>
                </a:tc>
                <a:tc>
                  <a:txBody>
                    <a:bodyPr/>
                    <a:lstStyle/>
                    <a:p>
                      <a:pPr algn="ctr"/>
                      <a:r>
                        <a:rPr sz="1650">
                          <a:solidFill>
                            <a:srgbClr val="000000"/>
                          </a:solidFill>
                          <a:latin typeface="Calibri"/>
                          <a:ea typeface="Calibri"/>
                          <a:cs typeface="Calibri"/>
                        </a:rPr>
                        <a:t>86</a:t>
                      </a:r>
                    </a:p>
                  </a:txBody>
                  <a:tcPr marL="47625" marR="47625" marT="28575" marB="28575" anchor="ctr">
                    <a:solidFill>
                      <a:srgbClr val="FFFFFF"/>
                    </a:solidFill>
                  </a:tcPr>
                </a:tc>
                <a:extLst>
                  <a:ext uri="{0D108BD9-81ED-4DB2-BD59-A6C34878D82A}">
                    <a16:rowId xmlns:a16="http://schemas.microsoft.com/office/drawing/2014/main" val="10001"/>
                  </a:ext>
                </a:extLst>
              </a:tr>
              <a:tr h="314325">
                <a:tc>
                  <a:txBody>
                    <a:bodyPr/>
                    <a:lstStyle/>
                    <a:p>
                      <a:pPr algn="ctr"/>
                      <a:r>
                        <a:rPr sz="1650">
                          <a:solidFill>
                            <a:srgbClr val="000000"/>
                          </a:solidFill>
                          <a:latin typeface="Calibri"/>
                          <a:ea typeface="Calibri"/>
                          <a:cs typeface="Calibri"/>
                        </a:rPr>
                        <a:t>102</a:t>
                      </a:r>
                    </a:p>
                  </a:txBody>
                  <a:tcPr marL="47625" marR="47625" marT="28575" marB="28575" anchor="ctr">
                    <a:solidFill>
                      <a:srgbClr val="FFFFFF"/>
                    </a:solidFill>
                  </a:tcPr>
                </a:tc>
                <a:tc>
                  <a:txBody>
                    <a:bodyPr/>
                    <a:lstStyle/>
                    <a:p>
                      <a:pPr algn="ctr"/>
                      <a:r>
                        <a:rPr sz="1650">
                          <a:solidFill>
                            <a:srgbClr val="000000"/>
                          </a:solidFill>
                          <a:latin typeface="Calibri"/>
                          <a:ea typeface="Calibri"/>
                          <a:cs typeface="Calibri"/>
                        </a:rPr>
                        <a:t>Ben</a:t>
                      </a:r>
                    </a:p>
                  </a:txBody>
                  <a:tcPr marL="47625" marR="47625" marT="28575" marB="28575" anchor="ctr">
                    <a:solidFill>
                      <a:srgbClr val="FFFFFF"/>
                    </a:solidFill>
                  </a:tcPr>
                </a:tc>
                <a:tc>
                  <a:txBody>
                    <a:bodyPr/>
                    <a:lstStyle/>
                    <a:p>
                      <a:pPr algn="ctr"/>
                      <a:r>
                        <a:rPr sz="1650">
                          <a:solidFill>
                            <a:srgbClr val="000000"/>
                          </a:solidFill>
                          <a:latin typeface="Calibri"/>
                          <a:ea typeface="Calibri"/>
                          <a:cs typeface="Calibri"/>
                        </a:rPr>
                        <a:t>EE</a:t>
                      </a:r>
                    </a:p>
                  </a:txBody>
                  <a:tcPr marL="47625" marR="47625" marT="28575" marB="28575" anchor="ctr">
                    <a:solidFill>
                      <a:srgbClr val="FFFFFF"/>
                    </a:solidFill>
                  </a:tcPr>
                </a:tc>
                <a:tc>
                  <a:txBody>
                    <a:bodyPr/>
                    <a:lstStyle/>
                    <a:p>
                      <a:pPr algn="ctr"/>
                      <a:r>
                        <a:rPr sz="1650">
                          <a:solidFill>
                            <a:srgbClr val="000000"/>
                          </a:solidFill>
                          <a:latin typeface="Calibri"/>
                          <a:ea typeface="Calibri"/>
                          <a:cs typeface="Calibri"/>
                        </a:rPr>
                        <a:t>3</a:t>
                      </a:r>
                    </a:p>
                  </a:txBody>
                  <a:tcPr marL="47625" marR="47625" marT="28575" marB="28575" anchor="ctr">
                    <a:solidFill>
                      <a:srgbClr val="FFFFFF"/>
                    </a:solidFill>
                  </a:tcPr>
                </a:tc>
                <a:tc>
                  <a:txBody>
                    <a:bodyPr/>
                    <a:lstStyle/>
                    <a:p>
                      <a:pPr algn="ctr"/>
                      <a:r>
                        <a:rPr sz="1650">
                          <a:solidFill>
                            <a:srgbClr val="000000"/>
                          </a:solidFill>
                          <a:latin typeface="Calibri"/>
                          <a:ea typeface="Calibri"/>
                          <a:cs typeface="Calibri"/>
                        </a:rPr>
                        <a:t>80</a:t>
                      </a:r>
                    </a:p>
                  </a:txBody>
                  <a:tcPr marL="47625" marR="47625" marT="28575" marB="28575" anchor="ctr">
                    <a:solidFill>
                      <a:srgbClr val="FFFFFF"/>
                    </a:solidFill>
                  </a:tcPr>
                </a:tc>
                <a:extLst>
                  <a:ext uri="{0D108BD9-81ED-4DB2-BD59-A6C34878D82A}">
                    <a16:rowId xmlns:a16="http://schemas.microsoft.com/office/drawing/2014/main" val="10002"/>
                  </a:ext>
                </a:extLst>
              </a:tr>
              <a:tr h="314325">
                <a:tc>
                  <a:txBody>
                    <a:bodyPr/>
                    <a:lstStyle/>
                    <a:p>
                      <a:pPr algn="ctr"/>
                      <a:r>
                        <a:rPr sz="1650">
                          <a:solidFill>
                            <a:srgbClr val="000000"/>
                          </a:solidFill>
                          <a:latin typeface="Calibri"/>
                          <a:ea typeface="Calibri"/>
                          <a:cs typeface="Calibri"/>
                        </a:rPr>
                        <a:t>103</a:t>
                      </a:r>
                    </a:p>
                  </a:txBody>
                  <a:tcPr marL="47625" marR="47625" marT="28575" marB="28575" anchor="ctr">
                    <a:solidFill>
                      <a:srgbClr val="FFFFFF"/>
                    </a:solidFill>
                  </a:tcPr>
                </a:tc>
                <a:tc>
                  <a:txBody>
                    <a:bodyPr/>
                    <a:lstStyle/>
                    <a:p>
                      <a:pPr algn="ctr"/>
                      <a:r>
                        <a:rPr sz="1650">
                          <a:solidFill>
                            <a:srgbClr val="000000"/>
                          </a:solidFill>
                          <a:latin typeface="Calibri"/>
                          <a:ea typeface="Calibri"/>
                          <a:cs typeface="Calibri"/>
                        </a:rPr>
                        <a:t>Cara</a:t>
                      </a:r>
                    </a:p>
                  </a:txBody>
                  <a:tcPr marL="47625" marR="47625" marT="28575" marB="28575" anchor="ctr">
                    <a:solidFill>
                      <a:srgbClr val="FFFFFF"/>
                    </a:solidFill>
                  </a:tcPr>
                </a:tc>
                <a:tc>
                  <a:txBody>
                    <a:bodyPr/>
                    <a:lstStyle/>
                    <a:p>
                      <a:pPr algn="ctr"/>
                      <a:r>
                        <a:rPr sz="1650">
                          <a:solidFill>
                            <a:srgbClr val="000000"/>
                          </a:solidFill>
                          <a:latin typeface="Calibri"/>
                          <a:ea typeface="Calibri"/>
                          <a:cs typeface="Calibri"/>
                        </a:rPr>
                        <a:t>CS</a:t>
                      </a:r>
                    </a:p>
                  </a:txBody>
                  <a:tcPr marL="47625" marR="47625" marT="28575" marB="28575" anchor="ctr">
                    <a:solidFill>
                      <a:srgbClr val="FFFFFF"/>
                    </a:solidFill>
                  </a:tcPr>
                </a:tc>
                <a:tc>
                  <a:txBody>
                    <a:bodyPr/>
                    <a:lstStyle/>
                    <a:p>
                      <a:pPr algn="ctr"/>
                      <a:r>
                        <a:rPr sz="1650">
                          <a:solidFill>
                            <a:srgbClr val="000000"/>
                          </a:solidFill>
                          <a:latin typeface="Calibri"/>
                          <a:ea typeface="Calibri"/>
                          <a:cs typeface="Calibri"/>
                        </a:rPr>
                        <a:t>3</a:t>
                      </a:r>
                    </a:p>
                  </a:txBody>
                  <a:tcPr marL="47625" marR="47625" marT="28575" marB="28575" anchor="ctr">
                    <a:solidFill>
                      <a:srgbClr val="FFFFFF"/>
                    </a:solidFill>
                  </a:tcPr>
                </a:tc>
                <a:tc>
                  <a:txBody>
                    <a:bodyPr/>
                    <a:lstStyle/>
                    <a:p>
                      <a:pPr algn="ctr"/>
                      <a:r>
                        <a:rPr sz="1650">
                          <a:solidFill>
                            <a:srgbClr val="000000"/>
                          </a:solidFill>
                          <a:latin typeface="Calibri"/>
                          <a:ea typeface="Calibri"/>
                          <a:cs typeface="Calibri"/>
                        </a:rPr>
                        <a:t>80</a:t>
                      </a:r>
                    </a:p>
                  </a:txBody>
                  <a:tcPr marL="47625" marR="47625" marT="28575" marB="28575" anchor="ctr">
                    <a:solidFill>
                      <a:srgbClr val="FFFFFF"/>
                    </a:solidFill>
                  </a:tcPr>
                </a:tc>
                <a:extLst>
                  <a:ext uri="{0D108BD9-81ED-4DB2-BD59-A6C34878D82A}">
                    <a16:rowId xmlns:a16="http://schemas.microsoft.com/office/drawing/2014/main" val="10003"/>
                  </a:ext>
                </a:extLst>
              </a:tr>
              <a:tr h="314325">
                <a:tc>
                  <a:txBody>
                    <a:bodyPr/>
                    <a:lstStyle/>
                    <a:p>
                      <a:pPr algn="ctr"/>
                      <a:r>
                        <a:rPr sz="1650">
                          <a:solidFill>
                            <a:srgbClr val="000000"/>
                          </a:solidFill>
                          <a:latin typeface="Calibri"/>
                          <a:ea typeface="Calibri"/>
                          <a:cs typeface="Calibri"/>
                        </a:rPr>
                        <a:t>104</a:t>
                      </a:r>
                    </a:p>
                  </a:txBody>
                  <a:tcPr marL="47625" marR="47625" marT="28575" marB="28575" anchor="ctr">
                    <a:solidFill>
                      <a:srgbClr val="FFFFFF"/>
                    </a:solidFill>
                  </a:tcPr>
                </a:tc>
                <a:tc>
                  <a:txBody>
                    <a:bodyPr/>
                    <a:lstStyle/>
                    <a:p>
                      <a:pPr algn="ctr"/>
                      <a:r>
                        <a:rPr sz="1650">
                          <a:solidFill>
                            <a:srgbClr val="000000"/>
                          </a:solidFill>
                          <a:latin typeface="Calibri"/>
                          <a:ea typeface="Calibri"/>
                          <a:cs typeface="Calibri"/>
                        </a:rPr>
                        <a:t>Dev</a:t>
                      </a:r>
                    </a:p>
                  </a:txBody>
                  <a:tcPr marL="47625" marR="47625" marT="28575" marB="28575" anchor="ctr">
                    <a:solidFill>
                      <a:srgbClr val="FFFFFF"/>
                    </a:solidFill>
                  </a:tcPr>
                </a:tc>
                <a:tc>
                  <a:txBody>
                    <a:bodyPr/>
                    <a:lstStyle/>
                    <a:p>
                      <a:pPr algn="ctr"/>
                      <a:r>
                        <a:rPr sz="1650">
                          <a:solidFill>
                            <a:srgbClr val="000000"/>
                          </a:solidFill>
                          <a:latin typeface="Calibri"/>
                          <a:ea typeface="Calibri"/>
                          <a:cs typeface="Calibri"/>
                        </a:rPr>
                        <a:t>DS</a:t>
                      </a:r>
                    </a:p>
                  </a:txBody>
                  <a:tcPr marL="47625" marR="47625" marT="28575" marB="28575" anchor="ctr">
                    <a:solidFill>
                      <a:srgbClr val="FFFFFF"/>
                    </a:solidFill>
                  </a:tcPr>
                </a:tc>
                <a:tc>
                  <a:txBody>
                    <a:bodyPr/>
                    <a:lstStyle/>
                    <a:p>
                      <a:pPr algn="ctr"/>
                      <a:r>
                        <a:rPr sz="1650">
                          <a:solidFill>
                            <a:srgbClr val="000000"/>
                          </a:solidFill>
                          <a:latin typeface="Calibri"/>
                          <a:ea typeface="Calibri"/>
                          <a:cs typeface="Calibri"/>
                        </a:rPr>
                        <a:t>2</a:t>
                      </a:r>
                    </a:p>
                  </a:txBody>
                  <a:tcPr marL="47625" marR="47625" marT="28575" marB="28575" anchor="ctr">
                    <a:solidFill>
                      <a:srgbClr val="FFFFFF"/>
                    </a:solidFill>
                  </a:tcPr>
                </a:tc>
                <a:tc>
                  <a:txBody>
                    <a:bodyPr/>
                    <a:lstStyle/>
                    <a:p>
                      <a:pPr algn="ctr"/>
                      <a:r>
                        <a:rPr sz="1650">
                          <a:solidFill>
                            <a:srgbClr val="000000"/>
                          </a:solidFill>
                          <a:latin typeface="Calibri"/>
                          <a:ea typeface="Calibri"/>
                          <a:cs typeface="Calibri"/>
                        </a:rPr>
                        <a:t>74</a:t>
                      </a:r>
                    </a:p>
                  </a:txBody>
                  <a:tcPr marL="47625" marR="47625" marT="28575" marB="28575" anchor="ctr">
                    <a:solidFill>
                      <a:srgbClr val="FFFFFF"/>
                    </a:solidFill>
                  </a:tcPr>
                </a:tc>
                <a:extLst>
                  <a:ext uri="{0D108BD9-81ED-4DB2-BD59-A6C34878D82A}">
                    <a16:rowId xmlns:a16="http://schemas.microsoft.com/office/drawing/2014/main" val="10004"/>
                  </a:ext>
                </a:extLst>
              </a:tr>
              <a:tr h="314325">
                <a:tc>
                  <a:txBody>
                    <a:bodyPr/>
                    <a:lstStyle/>
                    <a:p>
                      <a:pPr algn="ctr"/>
                      <a:r>
                        <a:rPr sz="1650">
                          <a:solidFill>
                            <a:srgbClr val="000000"/>
                          </a:solidFill>
                          <a:latin typeface="Calibri"/>
                          <a:ea typeface="Calibri"/>
                          <a:cs typeface="Calibri"/>
                        </a:rPr>
                        <a:t>105</a:t>
                      </a:r>
                    </a:p>
                  </a:txBody>
                  <a:tcPr marL="47625" marR="47625" marT="28575" marB="28575" anchor="ctr">
                    <a:solidFill>
                      <a:srgbClr val="FFFFFF"/>
                    </a:solidFill>
                  </a:tcPr>
                </a:tc>
                <a:tc>
                  <a:txBody>
                    <a:bodyPr/>
                    <a:lstStyle/>
                    <a:p>
                      <a:pPr algn="ctr"/>
                      <a:r>
                        <a:rPr sz="1650">
                          <a:solidFill>
                            <a:srgbClr val="000000"/>
                          </a:solidFill>
                          <a:latin typeface="Calibri"/>
                          <a:ea typeface="Calibri"/>
                          <a:cs typeface="Calibri"/>
                        </a:rPr>
                        <a:t>Eli</a:t>
                      </a:r>
                    </a:p>
                  </a:txBody>
                  <a:tcPr marL="47625" marR="47625" marT="28575" marB="28575" anchor="ctr">
                    <a:solidFill>
                      <a:srgbClr val="FFFFFF"/>
                    </a:solidFill>
                  </a:tcPr>
                </a:tc>
                <a:tc>
                  <a:txBody>
                    <a:bodyPr/>
                    <a:lstStyle/>
                    <a:p>
                      <a:pPr algn="ctr"/>
                      <a:r>
                        <a:rPr sz="1650">
                          <a:solidFill>
                            <a:srgbClr val="000000"/>
                          </a:solidFill>
                          <a:latin typeface="Calibri"/>
                          <a:ea typeface="Calibri"/>
                          <a:cs typeface="Calibri"/>
                        </a:rPr>
                        <a:t>CS</a:t>
                      </a:r>
                    </a:p>
                  </a:txBody>
                  <a:tcPr marL="47625" marR="47625" marT="28575" marB="28575" anchor="ctr">
                    <a:solidFill>
                      <a:srgbClr val="FFFFFF"/>
                    </a:solidFill>
                  </a:tcPr>
                </a:tc>
                <a:tc>
                  <a:txBody>
                    <a:bodyPr/>
                    <a:lstStyle/>
                    <a:p>
                      <a:pPr algn="ctr"/>
                      <a:r>
                        <a:rPr sz="1650">
                          <a:solidFill>
                            <a:srgbClr val="000000"/>
                          </a:solidFill>
                          <a:latin typeface="Calibri"/>
                          <a:ea typeface="Calibri"/>
                          <a:cs typeface="Calibri"/>
                        </a:rPr>
                        <a:t>3</a:t>
                      </a:r>
                    </a:p>
                  </a:txBody>
                  <a:tcPr marL="47625" marR="47625" marT="28575" marB="28575" anchor="ctr">
                    <a:solidFill>
                      <a:srgbClr val="FFFFFF"/>
                    </a:solidFill>
                  </a:tcPr>
                </a:tc>
                <a:tc>
                  <a:txBody>
                    <a:bodyPr/>
                    <a:lstStyle/>
                    <a:p>
                      <a:pPr algn="ctr"/>
                      <a:r>
                        <a:rPr sz="1650">
                          <a:solidFill>
                            <a:srgbClr val="000000"/>
                          </a:solidFill>
                          <a:latin typeface="Calibri"/>
                          <a:ea typeface="Calibri"/>
                          <a:cs typeface="Calibri"/>
                        </a:rPr>
                        <a:t>91</a:t>
                      </a:r>
                    </a:p>
                  </a:txBody>
                  <a:tcPr marL="47625" marR="47625" marT="28575" marB="28575" anchor="ctr">
                    <a:solidFill>
                      <a:srgbClr val="FFFFFF"/>
                    </a:solidFill>
                  </a:tcPr>
                </a:tc>
                <a:extLst>
                  <a:ext uri="{0D108BD9-81ED-4DB2-BD59-A6C34878D82A}">
                    <a16:rowId xmlns:a16="http://schemas.microsoft.com/office/drawing/2014/main" val="10005"/>
                  </a:ext>
                </a:extLst>
              </a:tr>
            </a:tbl>
          </a:graphicData>
        </a:graphic>
      </p:graphicFrame>
      <p:sp>
        <p:nvSpPr>
          <p:cNvPr id="6" name="body">
            <a:extLst>
              <a:ext uri="{FF2B5EF4-FFF2-40B4-BE49-F238E27FC236}">
                <a16:creationId xmlns:a16="http://schemas.microsoft.com/office/drawing/2014/main" id="{199E165F-E8F1-466A-BA56-BBDE6E831899}"/>
              </a:ext>
            </a:extLst>
          </p:cNvPr>
          <p:cNvSpPr>
            <a:spLocks noGrp="1"/>
          </p:cNvSpPr>
          <p:nvPr/>
        </p:nvSpPr>
        <p:spPr>
          <a:xfrm>
            <a:off x="781050" y="3619500"/>
            <a:ext cx="7600950" cy="952500"/>
          </a:xfrm>
          <a:prstGeom prst="rect">
            <a:avLst/>
          </a:prstGeom>
          <a:noFill/>
          <a:ln w="0">
            <a:noFill/>
          </a:ln>
        </p:spPr>
        <p:txBody>
          <a:bodyPr wrap="square" lIns="0" tIns="0" rIns="0" bIns="0">
            <a:noAutofit/>
          </a:bodyPr>
          <a:lstStyle/>
          <a:p>
            <a:pPr>
              <a:defRPr sz="2175" b="0">
                <a:solidFill>
                  <a:srgbClr val="FF0000"/>
                </a:solidFill>
                <a:latin typeface="Calibri"/>
                <a:ea typeface="Calibri"/>
                <a:cs typeface="Calibri"/>
              </a:defRPr>
            </a:pPr>
            <a:r>
              <a:rPr sz="2175" b="0">
                <a:solidFill>
                  <a:srgbClr val="FF0000"/>
                </a:solidFill>
                <a:latin typeface="Calibri"/>
                <a:ea typeface="Calibri"/>
                <a:cs typeface="Calibri"/>
              </a:rPr>
              <a:t>Find names and majors of CS applicants with score ≥ 80.</a:t>
            </a:r>
          </a:p>
        </p:txBody>
      </p:sp>
      <p:sp>
        <p:nvSpPr>
          <p:cNvPr id="9001" name="Title 1">
            <a:extLst>
              <a:ext uri="{FF2B5EF4-FFF2-40B4-BE49-F238E27FC236}">
                <a16:creationId xmlns:a16="http://schemas.microsoft.com/office/drawing/2014/main" id="{4EF27E5C-9C4D-BDBE-7667-D0B141BCC8F5}"/>
              </a:ext>
            </a:extLst>
          </p:cNvPr>
          <p:cNvSpPr>
            <a:spLocks noGrp="1"/>
          </p:cNvSpPr>
          <p:nvPr>
            <p:ph type="title"/>
          </p:nvPr>
        </p:nvSpPr>
        <p:spPr/>
        <p:txBody>
          <a:bodyPr/>
          <a:lstStyle/>
          <a:p>
            <a:r>
              <a:rPr lang="en-US">
                <a:solidFill>
                  <a:srgbClr val="FF0000"/>
                </a:solidFill>
              </a:rPr>
              <a:t>Practice: </a:t>
            </a:r>
            <a:r>
              <a:rPr lang="en-US">
                <a:solidFill>
                  <a:srgbClr val="3333CC"/>
                </a:solidFill>
              </a:rPr>
              <a:t>Q6</a:t>
            </a:r>
          </a:p>
        </p:txBody>
      </p:sp>
      <p:sp>
        <p:nvSpPr>
          <p:cNvPr id="9002" name="Slide Number Placeholder 1">
            <a:extLst>
              <a:ext uri="{FF2B5EF4-FFF2-40B4-BE49-F238E27FC236}">
                <a16:creationId xmlns:a16="http://schemas.microsoft.com/office/drawing/2014/main" id="{B90139AC-3BDA-723A-097A-000DA0A784C1}"/>
              </a:ext>
            </a:extLst>
          </p:cNvPr>
          <p:cNvSpPr>
            <a:spLocks noGrp="1"/>
          </p:cNvSpPr>
          <p:nvPr>
            <p:ph type="sldNum" sz="quarter" idx="12"/>
          </p:nvPr>
        </p:nvSpPr>
        <p:spPr/>
        <p:txBody>
          <a:bodyPr/>
          <a:lstStyle/>
          <a:p>
            <a:pPr>
              <a:defRPr/>
            </a:pPr>
            <a:fld id="{43CA101F-9E5F-9249-9862-3CE55B3BB777}" type="slidenum">
              <a:rPr lang="en-US" altLang="zh-TW" smtClean="0"/>
              <a:pPr>
                <a:defRPr/>
              </a:pPr>
              <a:t>17</a:t>
            </a:fld>
            <a:endParaRPr lang="en-US" altLang="zh-TW"/>
          </a:p>
        </p:txBody>
      </p:sp>
    </p:spTree>
    <p:extLst>
      <p:ext uri="{BB962C8B-B14F-4D97-AF65-F5344CB8AC3E}">
        <p14:creationId xmlns:p14="http://schemas.microsoft.com/office/powerpoint/2010/main" val="67974980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formula">
            <a:extLst>
              <a:ext uri="{FF2B5EF4-FFF2-40B4-BE49-F238E27FC236}">
                <a16:creationId xmlns:a16="http://schemas.microsoft.com/office/drawing/2014/main" id="{DA16D6E4-3992-46F9-A70E-B7C49A34DAD6}"/>
              </a:ext>
            </a:extLst>
          </p:cNvPr>
          <p:cNvSpPr>
            <a:spLocks noGrp="1"/>
          </p:cNvSpPr>
          <p:nvPr/>
        </p:nvSpPr>
        <p:spPr>
          <a:xfrm>
            <a:off x="781050" y="1800225"/>
            <a:ext cx="7600950" cy="523875"/>
          </a:xfrm>
          <a:prstGeom prst="rect">
            <a:avLst/>
          </a:prstGeom>
          <a:noFill/>
          <a:ln w="0">
            <a:noFill/>
          </a:ln>
        </p:spPr>
        <p:txBody>
          <a:bodyPr wrap="square" lIns="0" tIns="0" rIns="0" bIns="0">
            <a:noAutofit/>
          </a:bodyPr>
          <a:lstStyle/>
          <a:p>
            <a:pPr>
              <a:defRPr sz="2175" b="0">
                <a:solidFill>
                  <a:srgbClr val="000000"/>
                </a:solidFill>
                <a:latin typeface="Cambria Math"/>
                <a:ea typeface="Cambria Math"/>
                <a:cs typeface="Cambria Math"/>
              </a:defRPr>
            </a:pPr>
            <a:r>
              <a:rPr sz="2175" b="0">
                <a:solidFill>
                  <a:srgbClr val="000000"/>
                </a:solidFill>
                <a:latin typeface="Cambria Math"/>
                <a:ea typeface="Cambria Math"/>
                <a:cs typeface="Cambria Math"/>
              </a:rPr>
              <a:t>T ← σ</a:t>
            </a:r>
            <a:r>
              <a:rPr sz="1544" b="0" baseline="-25000">
                <a:solidFill>
                  <a:srgbClr val="000000"/>
                </a:solidFill>
                <a:latin typeface="Cambria Math"/>
                <a:ea typeface="Cambria Math"/>
                <a:cs typeface="Cambria Math"/>
              </a:rPr>
              <a:t>major='CS' ∧ score≥80</a:t>
            </a:r>
            <a:r>
              <a:rPr sz="2175" b="0">
                <a:solidFill>
                  <a:srgbClr val="000000"/>
                </a:solidFill>
                <a:latin typeface="Cambria Math"/>
                <a:ea typeface="Cambria Math"/>
                <a:cs typeface="Cambria Math"/>
              </a:rPr>
              <a:t>(Applicant)</a:t>
            </a:r>
          </a:p>
        </p:txBody>
      </p:sp>
      <p:sp>
        <p:nvSpPr>
          <p:cNvPr id="5" name="formula">
            <a:extLst>
              <a:ext uri="{FF2B5EF4-FFF2-40B4-BE49-F238E27FC236}">
                <a16:creationId xmlns:a16="http://schemas.microsoft.com/office/drawing/2014/main" id="{4FC9A8E5-705F-46EB-9F1E-5E42AE17B57E}"/>
              </a:ext>
            </a:extLst>
          </p:cNvPr>
          <p:cNvSpPr>
            <a:spLocks noGrp="1"/>
          </p:cNvSpPr>
          <p:nvPr/>
        </p:nvSpPr>
        <p:spPr>
          <a:xfrm>
            <a:off x="781050" y="2428875"/>
            <a:ext cx="7600950" cy="523875"/>
          </a:xfrm>
          <a:prstGeom prst="rect">
            <a:avLst/>
          </a:prstGeom>
          <a:noFill/>
          <a:ln w="0">
            <a:noFill/>
          </a:ln>
        </p:spPr>
        <p:txBody>
          <a:bodyPr wrap="square" lIns="0" tIns="0" rIns="0" bIns="0">
            <a:noAutofit/>
          </a:bodyPr>
          <a:lstStyle/>
          <a:p>
            <a:pPr>
              <a:defRPr sz="2175" b="0">
                <a:solidFill>
                  <a:srgbClr val="000000"/>
                </a:solidFill>
                <a:latin typeface="Cambria Math"/>
                <a:ea typeface="Cambria Math"/>
                <a:cs typeface="Cambria Math"/>
              </a:defRPr>
            </a:pPr>
            <a:r>
              <a:rPr sz="2175" b="0">
                <a:solidFill>
                  <a:srgbClr val="000000"/>
                </a:solidFill>
                <a:latin typeface="Cambria Math"/>
                <a:ea typeface="Cambria Math"/>
                <a:cs typeface="Cambria Math"/>
              </a:rPr>
              <a:t>Answer ← π</a:t>
            </a:r>
            <a:r>
              <a:rPr sz="1544" b="0" baseline="-25000">
                <a:solidFill>
                  <a:srgbClr val="000000"/>
                </a:solidFill>
                <a:latin typeface="Cambria Math"/>
                <a:ea typeface="Cambria Math"/>
                <a:cs typeface="Cambria Math"/>
              </a:rPr>
              <a:t>uname,major</a:t>
            </a:r>
            <a:r>
              <a:rPr sz="2175" b="0">
                <a:solidFill>
                  <a:srgbClr val="000000"/>
                </a:solidFill>
                <a:latin typeface="Cambria Math"/>
                <a:ea typeface="Cambria Math"/>
                <a:cs typeface="Cambria Math"/>
              </a:rPr>
              <a:t>(T)</a:t>
            </a:r>
          </a:p>
        </p:txBody>
      </p:sp>
      <p:sp>
        <p:nvSpPr>
          <p:cNvPr id="6" name="body">
            <a:extLst>
              <a:ext uri="{FF2B5EF4-FFF2-40B4-BE49-F238E27FC236}">
                <a16:creationId xmlns:a16="http://schemas.microsoft.com/office/drawing/2014/main" id="{D5973D10-CFBC-4F55-89F8-74276F6A8B63}"/>
              </a:ext>
            </a:extLst>
          </p:cNvPr>
          <p:cNvSpPr>
            <a:spLocks noGrp="1"/>
          </p:cNvSpPr>
          <p:nvPr/>
        </p:nvSpPr>
        <p:spPr>
          <a:xfrm>
            <a:off x="2066925" y="3105150"/>
            <a:ext cx="4762500" cy="361950"/>
          </a:xfrm>
          <a:prstGeom prst="rect">
            <a:avLst/>
          </a:prstGeom>
          <a:noFill/>
          <a:ln w="0">
            <a:noFill/>
          </a:ln>
        </p:spPr>
        <p:txBody>
          <a:bodyPr wrap="square" lIns="0" tIns="0" rIns="0" bIns="0">
            <a:noAutofit/>
          </a:bodyPr>
          <a:lstStyle/>
          <a:p>
            <a:pPr>
              <a:defRPr sz="2250" b="0">
                <a:solidFill>
                  <a:srgbClr val="000000"/>
                </a:solidFill>
                <a:latin typeface="Calibri"/>
                <a:ea typeface="Calibri"/>
                <a:cs typeface="Calibri"/>
              </a:defRPr>
            </a:pPr>
            <a:r>
              <a:rPr sz="2250" b="0">
                <a:solidFill>
                  <a:srgbClr val="000000"/>
                </a:solidFill>
                <a:latin typeface="Calibri"/>
                <a:ea typeface="Calibri"/>
                <a:cs typeface="Calibri"/>
              </a:rPr>
              <a:t>Answer</a:t>
            </a:r>
          </a:p>
        </p:txBody>
      </p:sp>
      <p:graphicFrame>
        <p:nvGraphicFramePr>
          <p:cNvPr id="16" name="表格 15"/>
          <p:cNvGraphicFramePr/>
          <p:nvPr/>
        </p:nvGraphicFramePr>
        <p:xfrm>
          <a:off x="2143125" y="3524250"/>
          <a:ext cx="4762500" cy="1485900"/>
        </p:xfrm>
        <a:graphic>
          <a:graphicData uri="http://schemas.openxmlformats.org/drawingml/2006/table">
            <a:tbl>
              <a:tblPr/>
              <a:tblGrid>
                <a:gridCol w="2381250">
                  <a:extLst>
                    <a:ext uri="{9D8B030D-6E8A-4147-A177-3AD203B41FA5}">
                      <a16:colId xmlns:a16="http://schemas.microsoft.com/office/drawing/2014/main" val="20000"/>
                    </a:ext>
                  </a:extLst>
                </a:gridCol>
                <a:gridCol w="2381250">
                  <a:extLst>
                    <a:ext uri="{9D8B030D-6E8A-4147-A177-3AD203B41FA5}">
                      <a16:colId xmlns:a16="http://schemas.microsoft.com/office/drawing/2014/main" val="20001"/>
                    </a:ext>
                  </a:extLst>
                </a:gridCol>
              </a:tblGrid>
              <a:tr h="371475">
                <a:tc>
                  <a:txBody>
                    <a:bodyPr/>
                    <a:lstStyle/>
                    <a:p>
                      <a:pPr algn="ctr"/>
                      <a:r>
                        <a:rPr sz="1950">
                          <a:solidFill>
                            <a:srgbClr val="000000"/>
                          </a:solidFill>
                          <a:latin typeface="Calibri"/>
                          <a:ea typeface="Calibri"/>
                          <a:cs typeface="Calibri"/>
                        </a:rPr>
                        <a:t>uname</a:t>
                      </a:r>
                    </a:p>
                  </a:txBody>
                  <a:tcPr marL="47625" marR="47625" marT="28575" marB="28575" anchor="ctr">
                    <a:solidFill>
                      <a:srgbClr val="D9D9D9"/>
                    </a:solidFill>
                  </a:tcPr>
                </a:tc>
                <a:tc>
                  <a:txBody>
                    <a:bodyPr/>
                    <a:lstStyle/>
                    <a:p>
                      <a:pPr algn="ctr"/>
                      <a:r>
                        <a:rPr sz="1950">
                          <a:solidFill>
                            <a:srgbClr val="000000"/>
                          </a:solidFill>
                          <a:latin typeface="Calibri"/>
                          <a:ea typeface="Calibri"/>
                          <a:cs typeface="Calibri"/>
                        </a:rPr>
                        <a:t>major</a:t>
                      </a:r>
                    </a:p>
                  </a:txBody>
                  <a:tcPr marL="47625" marR="47625" marT="28575" marB="28575" anchor="ctr">
                    <a:solidFill>
                      <a:srgbClr val="D9D9D9"/>
                    </a:solidFill>
                  </a:tcPr>
                </a:tc>
                <a:extLst>
                  <a:ext uri="{0D108BD9-81ED-4DB2-BD59-A6C34878D82A}">
                    <a16:rowId xmlns:a16="http://schemas.microsoft.com/office/drawing/2014/main" val="10000"/>
                  </a:ext>
                </a:extLst>
              </a:tr>
              <a:tr h="371475">
                <a:tc>
                  <a:txBody>
                    <a:bodyPr/>
                    <a:lstStyle/>
                    <a:p>
                      <a:pPr algn="ctr"/>
                      <a:r>
                        <a:rPr sz="1950">
                          <a:solidFill>
                            <a:srgbClr val="000000"/>
                          </a:solidFill>
                          <a:latin typeface="Calibri"/>
                          <a:ea typeface="Calibri"/>
                          <a:cs typeface="Calibri"/>
                        </a:rPr>
                        <a:t>Ada</a:t>
                      </a:r>
                    </a:p>
                  </a:txBody>
                  <a:tcPr marL="47625" marR="47625" marT="28575" marB="28575" anchor="ctr">
                    <a:solidFill>
                      <a:srgbClr val="FFFFFF"/>
                    </a:solidFill>
                  </a:tcPr>
                </a:tc>
                <a:tc>
                  <a:txBody>
                    <a:bodyPr/>
                    <a:lstStyle/>
                    <a:p>
                      <a:pPr algn="ctr"/>
                      <a:r>
                        <a:rPr sz="1950">
                          <a:solidFill>
                            <a:srgbClr val="000000"/>
                          </a:solidFill>
                          <a:latin typeface="Calibri"/>
                          <a:ea typeface="Calibri"/>
                          <a:cs typeface="Calibri"/>
                        </a:rPr>
                        <a:t>CS</a:t>
                      </a:r>
                    </a:p>
                  </a:txBody>
                  <a:tcPr marL="47625" marR="47625" marT="28575" marB="28575" anchor="ctr">
                    <a:solidFill>
                      <a:srgbClr val="FFFFFF"/>
                    </a:solidFill>
                  </a:tcPr>
                </a:tc>
                <a:extLst>
                  <a:ext uri="{0D108BD9-81ED-4DB2-BD59-A6C34878D82A}">
                    <a16:rowId xmlns:a16="http://schemas.microsoft.com/office/drawing/2014/main" val="10001"/>
                  </a:ext>
                </a:extLst>
              </a:tr>
              <a:tr h="371475">
                <a:tc>
                  <a:txBody>
                    <a:bodyPr/>
                    <a:lstStyle/>
                    <a:p>
                      <a:pPr algn="ctr"/>
                      <a:r>
                        <a:rPr sz="1950">
                          <a:solidFill>
                            <a:srgbClr val="000000"/>
                          </a:solidFill>
                          <a:latin typeface="Calibri"/>
                          <a:ea typeface="Calibri"/>
                          <a:cs typeface="Calibri"/>
                        </a:rPr>
                        <a:t>Cara</a:t>
                      </a:r>
                    </a:p>
                  </a:txBody>
                  <a:tcPr marL="47625" marR="47625" marT="28575" marB="28575" anchor="ctr">
                    <a:solidFill>
                      <a:srgbClr val="FFFFFF"/>
                    </a:solidFill>
                  </a:tcPr>
                </a:tc>
                <a:tc>
                  <a:txBody>
                    <a:bodyPr/>
                    <a:lstStyle/>
                    <a:p>
                      <a:pPr algn="ctr"/>
                      <a:r>
                        <a:rPr sz="1950">
                          <a:solidFill>
                            <a:srgbClr val="000000"/>
                          </a:solidFill>
                          <a:latin typeface="Calibri"/>
                          <a:ea typeface="Calibri"/>
                          <a:cs typeface="Calibri"/>
                        </a:rPr>
                        <a:t>CS</a:t>
                      </a:r>
                    </a:p>
                  </a:txBody>
                  <a:tcPr marL="47625" marR="47625" marT="28575" marB="28575" anchor="ctr">
                    <a:solidFill>
                      <a:srgbClr val="FFFFFF"/>
                    </a:solidFill>
                  </a:tcPr>
                </a:tc>
                <a:extLst>
                  <a:ext uri="{0D108BD9-81ED-4DB2-BD59-A6C34878D82A}">
                    <a16:rowId xmlns:a16="http://schemas.microsoft.com/office/drawing/2014/main" val="10002"/>
                  </a:ext>
                </a:extLst>
              </a:tr>
              <a:tr h="371475">
                <a:tc>
                  <a:txBody>
                    <a:bodyPr/>
                    <a:lstStyle/>
                    <a:p>
                      <a:pPr algn="ctr"/>
                      <a:r>
                        <a:rPr sz="1950">
                          <a:solidFill>
                            <a:srgbClr val="000000"/>
                          </a:solidFill>
                          <a:latin typeface="Calibri"/>
                          <a:ea typeface="Calibri"/>
                          <a:cs typeface="Calibri"/>
                        </a:rPr>
                        <a:t>Eli</a:t>
                      </a:r>
                    </a:p>
                  </a:txBody>
                  <a:tcPr marL="47625" marR="47625" marT="28575" marB="28575" anchor="ctr">
                    <a:solidFill>
                      <a:srgbClr val="FFFFFF"/>
                    </a:solidFill>
                  </a:tcPr>
                </a:tc>
                <a:tc>
                  <a:txBody>
                    <a:bodyPr/>
                    <a:lstStyle/>
                    <a:p>
                      <a:pPr algn="ctr"/>
                      <a:r>
                        <a:rPr sz="1950">
                          <a:solidFill>
                            <a:srgbClr val="000000"/>
                          </a:solidFill>
                          <a:latin typeface="Calibri"/>
                          <a:ea typeface="Calibri"/>
                          <a:cs typeface="Calibri"/>
                        </a:rPr>
                        <a:t>CS</a:t>
                      </a:r>
                    </a:p>
                  </a:txBody>
                  <a:tcPr marL="47625" marR="47625" marT="28575" marB="28575" anchor="ctr">
                    <a:solidFill>
                      <a:srgbClr val="FFFFFF"/>
                    </a:solidFill>
                  </a:tcPr>
                </a:tc>
                <a:extLst>
                  <a:ext uri="{0D108BD9-81ED-4DB2-BD59-A6C34878D82A}">
                    <a16:rowId xmlns:a16="http://schemas.microsoft.com/office/drawing/2014/main" val="10003"/>
                  </a:ext>
                </a:extLst>
              </a:tr>
            </a:tbl>
          </a:graphicData>
        </a:graphic>
      </p:graphicFrame>
      <p:sp>
        <p:nvSpPr>
          <p:cNvPr id="8" name="body">
            <a:extLst>
              <a:ext uri="{FF2B5EF4-FFF2-40B4-BE49-F238E27FC236}">
                <a16:creationId xmlns:a16="http://schemas.microsoft.com/office/drawing/2014/main" id="{67CCA8E8-B72A-4D9B-861C-78EA2FEE0B9E}"/>
              </a:ext>
            </a:extLst>
          </p:cNvPr>
          <p:cNvSpPr>
            <a:spLocks noGrp="1"/>
          </p:cNvSpPr>
          <p:nvPr/>
        </p:nvSpPr>
        <p:spPr>
          <a:xfrm>
            <a:off x="781050" y="5172075"/>
            <a:ext cx="7600950" cy="952500"/>
          </a:xfrm>
          <a:prstGeom prst="rect">
            <a:avLst/>
          </a:prstGeom>
          <a:noFill/>
          <a:ln w="0">
            <a:noFill/>
          </a:ln>
        </p:spPr>
        <p:txBody>
          <a:bodyPr wrap="square" lIns="0" tIns="0" rIns="0" bIns="0">
            <a:noAutofit/>
          </a:bodyPr>
          <a:lstStyle/>
          <a:p>
            <a:pPr>
              <a:defRPr sz="1875" b="0">
                <a:solidFill>
                  <a:srgbClr val="000000"/>
                </a:solidFill>
                <a:latin typeface="Calibri"/>
                <a:ea typeface="Calibri"/>
                <a:cs typeface="Calibri"/>
              </a:defRPr>
            </a:pPr>
            <a:r>
              <a:rPr sz="1875" b="0">
                <a:solidFill>
                  <a:srgbClr val="000000"/>
                </a:solidFill>
                <a:latin typeface="Calibri"/>
                <a:ea typeface="Calibri"/>
                <a:cs typeface="Calibri"/>
              </a:rPr>
              <a:t>Equivalent nested expression:</a:t>
            </a:r>
          </a:p>
        </p:txBody>
      </p:sp>
      <p:sp>
        <p:nvSpPr>
          <p:cNvPr id="9" name="formula">
            <a:extLst>
              <a:ext uri="{FF2B5EF4-FFF2-40B4-BE49-F238E27FC236}">
                <a16:creationId xmlns:a16="http://schemas.microsoft.com/office/drawing/2014/main" id="{977E2846-4A43-4FD2-BC87-4F128532479C}"/>
              </a:ext>
            </a:extLst>
          </p:cNvPr>
          <p:cNvSpPr>
            <a:spLocks noGrp="1"/>
          </p:cNvSpPr>
          <p:nvPr/>
        </p:nvSpPr>
        <p:spPr>
          <a:xfrm>
            <a:off x="781050" y="5505450"/>
            <a:ext cx="7620000" cy="523875"/>
          </a:xfrm>
          <a:prstGeom prst="rect">
            <a:avLst/>
          </a:prstGeom>
          <a:noFill/>
          <a:ln w="0">
            <a:noFill/>
          </a:ln>
        </p:spPr>
        <p:txBody>
          <a:bodyPr wrap="square" lIns="0" tIns="0" rIns="0" bIns="0">
            <a:noAutofit/>
          </a:bodyPr>
          <a:lstStyle/>
          <a:p>
            <a:pPr>
              <a:defRPr sz="1950" b="0">
                <a:solidFill>
                  <a:srgbClr val="000000"/>
                </a:solidFill>
                <a:latin typeface="Cambria Math"/>
                <a:ea typeface="Cambria Math"/>
                <a:cs typeface="Cambria Math"/>
              </a:defRPr>
            </a:pPr>
            <a:r>
              <a:rPr sz="1950" b="0">
                <a:solidFill>
                  <a:srgbClr val="000000"/>
                </a:solidFill>
                <a:latin typeface="Cambria Math"/>
                <a:ea typeface="Cambria Math"/>
                <a:cs typeface="Cambria Math"/>
              </a:rPr>
              <a:t>π</a:t>
            </a:r>
            <a:r>
              <a:rPr sz="1384" b="0" baseline="-25000">
                <a:solidFill>
                  <a:srgbClr val="000000"/>
                </a:solidFill>
                <a:latin typeface="Cambria Math"/>
                <a:ea typeface="Cambria Math"/>
                <a:cs typeface="Cambria Math"/>
              </a:rPr>
              <a:t>uname,major</a:t>
            </a:r>
            <a:r>
              <a:rPr sz="1950" b="0">
                <a:solidFill>
                  <a:srgbClr val="000000"/>
                </a:solidFill>
                <a:latin typeface="Cambria Math"/>
                <a:ea typeface="Cambria Math"/>
                <a:cs typeface="Cambria Math"/>
              </a:rPr>
              <a:t>(σ</a:t>
            </a:r>
            <a:r>
              <a:rPr sz="1384" b="0" baseline="-25000">
                <a:solidFill>
                  <a:srgbClr val="000000"/>
                </a:solidFill>
                <a:latin typeface="Cambria Math"/>
                <a:ea typeface="Cambria Math"/>
                <a:cs typeface="Cambria Math"/>
              </a:rPr>
              <a:t>major='CS' ∧ score≥80</a:t>
            </a:r>
            <a:r>
              <a:rPr sz="1950" b="0">
                <a:solidFill>
                  <a:srgbClr val="000000"/>
                </a:solidFill>
                <a:latin typeface="Cambria Math"/>
                <a:ea typeface="Cambria Math"/>
                <a:cs typeface="Cambria Math"/>
              </a:rPr>
              <a:t>(Applicant))</a:t>
            </a:r>
          </a:p>
        </p:txBody>
      </p:sp>
      <p:sp>
        <p:nvSpPr>
          <p:cNvPr id="9001" name="Title 1">
            <a:extLst>
              <a:ext uri="{FF2B5EF4-FFF2-40B4-BE49-F238E27FC236}">
                <a16:creationId xmlns:a16="http://schemas.microsoft.com/office/drawing/2014/main" id="{4EF27E5C-9C4D-BDBE-7667-D0B141BCC8F5}"/>
              </a:ext>
            </a:extLst>
          </p:cNvPr>
          <p:cNvSpPr>
            <a:spLocks noGrp="1"/>
          </p:cNvSpPr>
          <p:nvPr>
            <p:ph type="title"/>
          </p:nvPr>
        </p:nvSpPr>
        <p:spPr/>
        <p:txBody>
          <a:bodyPr/>
          <a:lstStyle/>
          <a:p>
            <a:r>
              <a:rPr lang="en-US">
                <a:solidFill>
                  <a:srgbClr val="FF0000"/>
                </a:solidFill>
              </a:rPr>
              <a:t>Solutions: </a:t>
            </a:r>
            <a:r>
              <a:rPr lang="en-US">
                <a:solidFill>
                  <a:srgbClr val="3333CC"/>
                </a:solidFill>
              </a:rPr>
              <a:t>Q6</a:t>
            </a:r>
          </a:p>
        </p:txBody>
      </p:sp>
      <p:sp>
        <p:nvSpPr>
          <p:cNvPr id="9002" name="Slide Number Placeholder 1">
            <a:extLst>
              <a:ext uri="{FF2B5EF4-FFF2-40B4-BE49-F238E27FC236}">
                <a16:creationId xmlns:a16="http://schemas.microsoft.com/office/drawing/2014/main" id="{B90139AC-3BDA-723A-097A-000DA0A784C1}"/>
              </a:ext>
            </a:extLst>
          </p:cNvPr>
          <p:cNvSpPr>
            <a:spLocks noGrp="1"/>
          </p:cNvSpPr>
          <p:nvPr>
            <p:ph type="sldNum" sz="quarter" idx="12"/>
          </p:nvPr>
        </p:nvSpPr>
        <p:spPr/>
        <p:txBody>
          <a:bodyPr/>
          <a:lstStyle/>
          <a:p>
            <a:pPr>
              <a:defRPr/>
            </a:pPr>
            <a:fld id="{43CA101F-9E5F-9249-9862-3CE55B3BB777}" type="slidenum">
              <a:rPr lang="en-US" altLang="zh-TW" smtClean="0"/>
              <a:pPr>
                <a:defRPr/>
              </a:pPr>
              <a:t>18</a:t>
            </a:fld>
            <a:endParaRPr lang="en-US" altLang="zh-TW"/>
          </a:p>
        </p:txBody>
      </p:sp>
    </p:spTree>
    <p:extLst>
      <p:ext uri="{BB962C8B-B14F-4D97-AF65-F5344CB8AC3E}">
        <p14:creationId xmlns:p14="http://schemas.microsoft.com/office/powerpoint/2010/main" val="22548999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formula">
            <a:extLst>
              <a:ext uri="{FF2B5EF4-FFF2-40B4-BE49-F238E27FC236}">
                <a16:creationId xmlns:a16="http://schemas.microsoft.com/office/drawing/2014/main" id="{192BF88D-EC5F-4AED-8334-A443A1397A61}"/>
              </a:ext>
            </a:extLst>
          </p:cNvPr>
          <p:cNvSpPr>
            <a:spLocks noGrp="1"/>
          </p:cNvSpPr>
          <p:nvPr/>
        </p:nvSpPr>
        <p:spPr>
          <a:xfrm>
            <a:off x="1095375" y="1114425"/>
            <a:ext cx="6858000" cy="523875"/>
          </a:xfrm>
          <a:prstGeom prst="rect">
            <a:avLst/>
          </a:prstGeom>
          <a:noFill/>
          <a:ln w="0">
            <a:noFill/>
          </a:ln>
        </p:spPr>
        <p:txBody>
          <a:bodyPr wrap="square" lIns="0" tIns="0" rIns="0" bIns="0">
            <a:noAutofit/>
          </a:bodyPr>
          <a:lstStyle/>
          <a:p>
            <a:pPr>
              <a:defRPr sz="2850" b="0">
                <a:solidFill>
                  <a:srgbClr val="000000"/>
                </a:solidFill>
                <a:latin typeface="Cambria Math"/>
                <a:ea typeface="Cambria Math"/>
                <a:cs typeface="Cambria Math"/>
              </a:defRPr>
            </a:pPr>
            <a:r>
              <a:rPr sz="2850" b="0">
                <a:solidFill>
                  <a:srgbClr val="000000"/>
                </a:solidFill>
                <a:latin typeface="Cambria Math"/>
                <a:ea typeface="Cambria Math"/>
                <a:cs typeface="Cambria Math"/>
              </a:rPr>
              <a:t>R ∪ S</a:t>
            </a:r>
          </a:p>
        </p:txBody>
      </p:sp>
      <p:sp>
        <p:nvSpPr>
          <p:cNvPr id="4" name="body">
            <a:extLst>
              <a:ext uri="{FF2B5EF4-FFF2-40B4-BE49-F238E27FC236}">
                <a16:creationId xmlns:a16="http://schemas.microsoft.com/office/drawing/2014/main" id="{557B4327-5D5D-4DDF-934C-D3195D885B63}"/>
              </a:ext>
            </a:extLst>
          </p:cNvPr>
          <p:cNvSpPr>
            <a:spLocks noGrp="1"/>
          </p:cNvSpPr>
          <p:nvPr/>
        </p:nvSpPr>
        <p:spPr>
          <a:xfrm>
            <a:off x="781050" y="2009775"/>
            <a:ext cx="219075" cy="400050"/>
          </a:xfrm>
          <a:prstGeom prst="rect">
            <a:avLst/>
          </a:prstGeom>
          <a:noFill/>
          <a:ln w="0">
            <a:noFill/>
          </a:ln>
        </p:spPr>
        <p:txBody>
          <a:bodyPr wrap="square" lIns="0" tIns="0" rIns="0" bIns="0">
            <a:noAutofit/>
          </a:bodyPr>
          <a:lstStyle/>
          <a:p>
            <a:pPr>
              <a:defRPr sz="2250" b="0">
                <a:solidFill>
                  <a:srgbClr val="000000"/>
                </a:solidFill>
                <a:latin typeface="Calibri"/>
                <a:ea typeface="Calibri"/>
                <a:cs typeface="Calibri"/>
              </a:defRPr>
            </a:pPr>
            <a:r>
              <a:rPr sz="2250" b="0">
                <a:solidFill>
                  <a:srgbClr val="000000"/>
                </a:solidFill>
                <a:latin typeface="Calibri"/>
                <a:ea typeface="Calibri"/>
                <a:cs typeface="Calibri"/>
              </a:rPr>
              <a:t>•</a:t>
            </a:r>
          </a:p>
        </p:txBody>
      </p:sp>
      <p:sp>
        <p:nvSpPr>
          <p:cNvPr id="5" name="body">
            <a:extLst>
              <a:ext uri="{FF2B5EF4-FFF2-40B4-BE49-F238E27FC236}">
                <a16:creationId xmlns:a16="http://schemas.microsoft.com/office/drawing/2014/main" id="{8B5DDEAF-9D84-4FD8-9687-91A9A516939C}"/>
              </a:ext>
            </a:extLst>
          </p:cNvPr>
          <p:cNvSpPr>
            <a:spLocks noGrp="1"/>
          </p:cNvSpPr>
          <p:nvPr/>
        </p:nvSpPr>
        <p:spPr>
          <a:xfrm>
            <a:off x="1104900" y="2009775"/>
            <a:ext cx="7239000" cy="952500"/>
          </a:xfrm>
          <a:prstGeom prst="rect">
            <a:avLst/>
          </a:prstGeom>
          <a:noFill/>
          <a:ln w="0">
            <a:noFill/>
          </a:ln>
        </p:spPr>
        <p:txBody>
          <a:bodyPr wrap="square" lIns="0" tIns="0" rIns="0" bIns="0">
            <a:noAutofit/>
          </a:bodyPr>
          <a:lstStyle/>
          <a:p>
            <a:pPr>
              <a:defRPr sz="2250" b="0">
                <a:solidFill>
                  <a:srgbClr val="000000"/>
                </a:solidFill>
                <a:latin typeface="Calibri"/>
                <a:ea typeface="Calibri"/>
                <a:cs typeface="Calibri"/>
              </a:defRPr>
            </a:pPr>
            <a:r>
              <a:rPr sz="2250" b="0">
                <a:solidFill>
                  <a:srgbClr val="000000"/>
                </a:solidFill>
                <a:latin typeface="Calibri"/>
                <a:ea typeface="Calibri"/>
                <a:cs typeface="Calibri"/>
              </a:rPr>
              <a:t>Keep every tuple that occurs in either relation.</a:t>
            </a:r>
          </a:p>
        </p:txBody>
      </p:sp>
      <p:sp>
        <p:nvSpPr>
          <p:cNvPr id="6" name="body">
            <a:extLst>
              <a:ext uri="{FF2B5EF4-FFF2-40B4-BE49-F238E27FC236}">
                <a16:creationId xmlns:a16="http://schemas.microsoft.com/office/drawing/2014/main" id="{DFB38622-40EC-4DEB-B7B6-04EC23EA1E1B}"/>
              </a:ext>
            </a:extLst>
          </p:cNvPr>
          <p:cNvSpPr>
            <a:spLocks noGrp="1"/>
          </p:cNvSpPr>
          <p:nvPr/>
        </p:nvSpPr>
        <p:spPr>
          <a:xfrm>
            <a:off x="781050" y="2847975"/>
            <a:ext cx="219075" cy="400050"/>
          </a:xfrm>
          <a:prstGeom prst="rect">
            <a:avLst/>
          </a:prstGeom>
          <a:noFill/>
          <a:ln w="0">
            <a:noFill/>
          </a:ln>
        </p:spPr>
        <p:txBody>
          <a:bodyPr wrap="square" lIns="0" tIns="0" rIns="0" bIns="0">
            <a:noAutofit/>
          </a:bodyPr>
          <a:lstStyle/>
          <a:p>
            <a:pPr>
              <a:defRPr sz="2250" b="0">
                <a:solidFill>
                  <a:srgbClr val="000000"/>
                </a:solidFill>
                <a:latin typeface="Calibri"/>
                <a:ea typeface="Calibri"/>
                <a:cs typeface="Calibri"/>
              </a:defRPr>
            </a:pPr>
            <a:r>
              <a:rPr sz="2250" b="0">
                <a:solidFill>
                  <a:srgbClr val="000000"/>
                </a:solidFill>
                <a:latin typeface="Calibri"/>
                <a:ea typeface="Calibri"/>
                <a:cs typeface="Calibri"/>
              </a:rPr>
              <a:t>•</a:t>
            </a:r>
          </a:p>
        </p:txBody>
      </p:sp>
      <p:sp>
        <p:nvSpPr>
          <p:cNvPr id="7" name="body">
            <a:extLst>
              <a:ext uri="{FF2B5EF4-FFF2-40B4-BE49-F238E27FC236}">
                <a16:creationId xmlns:a16="http://schemas.microsoft.com/office/drawing/2014/main" id="{8E7635D4-F80B-4B40-B01A-CE341414C2D5}"/>
              </a:ext>
            </a:extLst>
          </p:cNvPr>
          <p:cNvSpPr>
            <a:spLocks noGrp="1"/>
          </p:cNvSpPr>
          <p:nvPr/>
        </p:nvSpPr>
        <p:spPr>
          <a:xfrm>
            <a:off x="1104900" y="2847975"/>
            <a:ext cx="7239000" cy="952500"/>
          </a:xfrm>
          <a:prstGeom prst="rect">
            <a:avLst/>
          </a:prstGeom>
          <a:noFill/>
          <a:ln w="0">
            <a:noFill/>
          </a:ln>
        </p:spPr>
        <p:txBody>
          <a:bodyPr wrap="square" lIns="0" tIns="0" rIns="0" bIns="0">
            <a:noAutofit/>
          </a:bodyPr>
          <a:lstStyle/>
          <a:p>
            <a:pPr>
              <a:defRPr sz="2250" b="0">
                <a:solidFill>
                  <a:srgbClr val="000000"/>
                </a:solidFill>
                <a:latin typeface="Calibri"/>
                <a:ea typeface="Calibri"/>
                <a:cs typeface="Calibri"/>
              </a:defRPr>
            </a:pPr>
            <a:r>
              <a:rPr sz="2250" b="0">
                <a:solidFill>
                  <a:srgbClr val="000000"/>
                </a:solidFill>
                <a:latin typeface="Calibri"/>
                <a:ea typeface="Calibri"/>
                <a:cs typeface="Calibri"/>
              </a:rPr>
              <a:t>Both inputs must be union-compatible: the same arity and matching corresponding domains.</a:t>
            </a:r>
          </a:p>
        </p:txBody>
      </p:sp>
      <p:sp>
        <p:nvSpPr>
          <p:cNvPr id="8" name="body">
            <a:extLst>
              <a:ext uri="{FF2B5EF4-FFF2-40B4-BE49-F238E27FC236}">
                <a16:creationId xmlns:a16="http://schemas.microsoft.com/office/drawing/2014/main" id="{79235FF8-2971-45A7-95AE-4C1389D74DF9}"/>
              </a:ext>
            </a:extLst>
          </p:cNvPr>
          <p:cNvSpPr>
            <a:spLocks noGrp="1"/>
          </p:cNvSpPr>
          <p:nvPr/>
        </p:nvSpPr>
        <p:spPr>
          <a:xfrm>
            <a:off x="781050" y="3990975"/>
            <a:ext cx="219075" cy="400050"/>
          </a:xfrm>
          <a:prstGeom prst="rect">
            <a:avLst/>
          </a:prstGeom>
          <a:noFill/>
          <a:ln w="0">
            <a:noFill/>
          </a:ln>
        </p:spPr>
        <p:txBody>
          <a:bodyPr wrap="square" lIns="0" tIns="0" rIns="0" bIns="0">
            <a:noAutofit/>
          </a:bodyPr>
          <a:lstStyle/>
          <a:p>
            <a:pPr>
              <a:defRPr sz="2250" b="0">
                <a:solidFill>
                  <a:srgbClr val="000000"/>
                </a:solidFill>
                <a:latin typeface="Calibri"/>
                <a:ea typeface="Calibri"/>
                <a:cs typeface="Calibri"/>
              </a:defRPr>
            </a:pPr>
            <a:r>
              <a:rPr sz="2250" b="0">
                <a:solidFill>
                  <a:srgbClr val="000000"/>
                </a:solidFill>
                <a:latin typeface="Calibri"/>
                <a:ea typeface="Calibri"/>
                <a:cs typeface="Calibri"/>
              </a:rPr>
              <a:t>•</a:t>
            </a:r>
          </a:p>
        </p:txBody>
      </p:sp>
      <p:sp>
        <p:nvSpPr>
          <p:cNvPr id="9" name="body">
            <a:extLst>
              <a:ext uri="{FF2B5EF4-FFF2-40B4-BE49-F238E27FC236}">
                <a16:creationId xmlns:a16="http://schemas.microsoft.com/office/drawing/2014/main" id="{74E60DF8-CBAE-44F1-8E54-434A6545F603}"/>
              </a:ext>
            </a:extLst>
          </p:cNvPr>
          <p:cNvSpPr>
            <a:spLocks noGrp="1"/>
          </p:cNvSpPr>
          <p:nvPr/>
        </p:nvSpPr>
        <p:spPr>
          <a:xfrm>
            <a:off x="1104900" y="3990975"/>
            <a:ext cx="7239000" cy="952500"/>
          </a:xfrm>
          <a:prstGeom prst="rect">
            <a:avLst/>
          </a:prstGeom>
          <a:noFill/>
          <a:ln w="0">
            <a:noFill/>
          </a:ln>
        </p:spPr>
        <p:txBody>
          <a:bodyPr wrap="square" lIns="0" tIns="0" rIns="0" bIns="0">
            <a:noAutofit/>
          </a:bodyPr>
          <a:lstStyle/>
          <a:p>
            <a:pPr>
              <a:defRPr sz="2250" b="0">
                <a:solidFill>
                  <a:srgbClr val="000000"/>
                </a:solidFill>
                <a:latin typeface="Calibri"/>
                <a:ea typeface="Calibri"/>
                <a:cs typeface="Calibri"/>
              </a:defRPr>
            </a:pPr>
            <a:r>
              <a:rPr sz="2250" b="0">
                <a:solidFill>
                  <a:srgbClr val="000000"/>
                </a:solidFill>
                <a:latin typeface="Calibri"/>
                <a:ea typeface="Calibri"/>
                <a:cs typeface="Calibri"/>
              </a:rPr>
              <a:t>Repeated tuples appear once. R ∪ S = S ∪ R as sets.</a:t>
            </a:r>
          </a:p>
        </p:txBody>
      </p:sp>
      <p:sp>
        <p:nvSpPr>
          <p:cNvPr id="10" name="body">
            <a:extLst>
              <a:ext uri="{FF2B5EF4-FFF2-40B4-BE49-F238E27FC236}">
                <a16:creationId xmlns:a16="http://schemas.microsoft.com/office/drawing/2014/main" id="{DB89F94B-81CD-4357-A450-69EF13EFCC9D}"/>
              </a:ext>
            </a:extLst>
          </p:cNvPr>
          <p:cNvSpPr>
            <a:spLocks noGrp="1"/>
          </p:cNvSpPr>
          <p:nvPr/>
        </p:nvSpPr>
        <p:spPr>
          <a:xfrm>
            <a:off x="781050" y="5162550"/>
            <a:ext cx="7600950" cy="952500"/>
          </a:xfrm>
          <a:prstGeom prst="rect">
            <a:avLst/>
          </a:prstGeom>
          <a:noFill/>
          <a:ln w="0">
            <a:noFill/>
          </a:ln>
        </p:spPr>
        <p:txBody>
          <a:bodyPr wrap="square" lIns="0" tIns="0" rIns="0" bIns="0">
            <a:noAutofit/>
          </a:bodyPr>
          <a:lstStyle/>
          <a:p>
            <a:pPr>
              <a:defRPr sz="2175" b="0">
                <a:solidFill>
                  <a:srgbClr val="FF0000"/>
                </a:solidFill>
                <a:latin typeface="Calibri"/>
                <a:ea typeface="Calibri"/>
                <a:cs typeface="Calibri"/>
              </a:defRPr>
            </a:pPr>
            <a:r>
              <a:rPr sz="2175" b="0">
                <a:solidFill>
                  <a:srgbClr val="FF0000"/>
                </a:solidFill>
                <a:latin typeface="Calibri"/>
                <a:ea typeface="Calibri"/>
                <a:cs typeface="Calibri"/>
              </a:rPr>
              <a:t>Compare whole tuples, not individual attribute values.</a:t>
            </a:r>
          </a:p>
        </p:txBody>
      </p:sp>
      <p:sp>
        <p:nvSpPr>
          <p:cNvPr id="9001" name="Title 1">
            <a:extLst>
              <a:ext uri="{FF2B5EF4-FFF2-40B4-BE49-F238E27FC236}">
                <a16:creationId xmlns:a16="http://schemas.microsoft.com/office/drawing/2014/main" id="{4EF27E5C-9C4D-BDBE-7667-D0B141BCC8F5}"/>
              </a:ext>
            </a:extLst>
          </p:cNvPr>
          <p:cNvSpPr>
            <a:spLocks noGrp="1"/>
          </p:cNvSpPr>
          <p:nvPr>
            <p:ph type="title"/>
          </p:nvPr>
        </p:nvSpPr>
        <p:spPr/>
        <p:txBody>
          <a:bodyPr/>
          <a:lstStyle/>
          <a:p>
            <a:r>
              <a:rPr lang="en-US">
                <a:solidFill>
                  <a:srgbClr val="3333CC"/>
                </a:solidFill>
              </a:rPr>
              <a:t>Union Operation</a:t>
            </a:r>
          </a:p>
        </p:txBody>
      </p:sp>
      <p:sp>
        <p:nvSpPr>
          <p:cNvPr id="9002" name="Slide Number Placeholder 1">
            <a:extLst>
              <a:ext uri="{FF2B5EF4-FFF2-40B4-BE49-F238E27FC236}">
                <a16:creationId xmlns:a16="http://schemas.microsoft.com/office/drawing/2014/main" id="{B90139AC-3BDA-723A-097A-000DA0A784C1}"/>
              </a:ext>
            </a:extLst>
          </p:cNvPr>
          <p:cNvSpPr>
            <a:spLocks noGrp="1"/>
          </p:cNvSpPr>
          <p:nvPr>
            <p:ph type="sldNum" sz="quarter" idx="12"/>
          </p:nvPr>
        </p:nvSpPr>
        <p:spPr/>
        <p:txBody>
          <a:bodyPr/>
          <a:lstStyle/>
          <a:p>
            <a:pPr>
              <a:defRPr/>
            </a:pPr>
            <a:fld id="{43CA101F-9E5F-9249-9862-3CE55B3BB777}" type="slidenum">
              <a:rPr lang="en-US" altLang="zh-TW" smtClean="0"/>
              <a:pPr>
                <a:defRPr/>
              </a:pPr>
              <a:t>19</a:t>
            </a:fld>
            <a:endParaRPr lang="en-US" altLang="zh-TW"/>
          </a:p>
        </p:txBody>
      </p:sp>
    </p:spTree>
    <p:extLst>
      <p:ext uri="{BB962C8B-B14F-4D97-AF65-F5344CB8AC3E}">
        <p14:creationId xmlns:p14="http://schemas.microsoft.com/office/powerpoint/2010/main" val="200286787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body">
            <a:extLst>
              <a:ext uri="{FF2B5EF4-FFF2-40B4-BE49-F238E27FC236}">
                <a16:creationId xmlns:a16="http://schemas.microsoft.com/office/drawing/2014/main" id="{3633F696-41E7-4E6F-86A0-456C8DBA40AC}"/>
              </a:ext>
            </a:extLst>
          </p:cNvPr>
          <p:cNvSpPr>
            <a:spLocks noGrp="1"/>
          </p:cNvSpPr>
          <p:nvPr/>
        </p:nvSpPr>
        <p:spPr>
          <a:xfrm>
            <a:off x="781050" y="5876925"/>
            <a:ext cx="7620000" cy="285750"/>
          </a:xfrm>
          <a:prstGeom prst="rect">
            <a:avLst/>
          </a:prstGeom>
          <a:noFill/>
          <a:ln w="0">
            <a:noFill/>
          </a:ln>
        </p:spPr>
        <p:txBody>
          <a:bodyPr wrap="square" lIns="0" tIns="0" rIns="0" bIns="0">
            <a:noAutofit/>
          </a:bodyPr>
          <a:lstStyle/>
          <a:p>
            <a:pPr>
              <a:defRPr sz="1725" b="0">
                <a:solidFill>
                  <a:srgbClr val="3333CC"/>
                </a:solidFill>
                <a:latin typeface="Calibri"/>
                <a:ea typeface="Calibri"/>
                <a:cs typeface="Calibri"/>
              </a:defRPr>
            </a:pPr>
            <a:r>
              <a:rPr sz="1725" b="0">
                <a:solidFill>
                  <a:srgbClr val="3333CC"/>
                </a:solidFill>
                <a:latin typeface="Calibri"/>
                <a:ea typeface="Calibri"/>
                <a:cs typeface="Calibri"/>
              </a:rPr>
              <a:t>Think: 30 s</a:t>
            </a:r>
          </a:p>
        </p:txBody>
      </p:sp>
      <p:sp>
        <p:nvSpPr>
          <p:cNvPr id="4" name="矩形 3">
            <a:extLst>
              <a:ext uri="{FF2B5EF4-FFF2-40B4-BE49-F238E27FC236}">
                <a16:creationId xmlns:a16="http://schemas.microsoft.com/office/drawing/2014/main" id="{379CACD6-1CB7-44F1-A745-E05587C2A006}"/>
              </a:ext>
            </a:extLst>
          </p:cNvPr>
          <p:cNvSpPr>
            <a:spLocks noGrp="1"/>
          </p:cNvSpPr>
          <p:nvPr/>
        </p:nvSpPr>
        <p:spPr>
          <a:xfrm>
            <a:off x="5962650" y="962025"/>
            <a:ext cx="2428875" cy="647700"/>
          </a:xfrm>
          <a:prstGeom prst="rect">
            <a:avLst/>
          </a:prstGeom>
          <a:solidFill>
            <a:srgbClr val="BFE7EF"/>
          </a:solidFill>
          <a:ln w="0">
            <a:noFill/>
          </a:ln>
        </p:spPr>
      </p:sp>
      <p:sp>
        <p:nvSpPr>
          <p:cNvPr id="5" name="formula">
            <a:extLst>
              <a:ext uri="{FF2B5EF4-FFF2-40B4-BE49-F238E27FC236}">
                <a16:creationId xmlns:a16="http://schemas.microsoft.com/office/drawing/2014/main" id="{E4E67B28-D839-4D3C-BEAA-59CE253AF62C}"/>
              </a:ext>
            </a:extLst>
          </p:cNvPr>
          <p:cNvSpPr>
            <a:spLocks noGrp="1"/>
          </p:cNvSpPr>
          <p:nvPr/>
        </p:nvSpPr>
        <p:spPr>
          <a:xfrm>
            <a:off x="6096000" y="1095375"/>
            <a:ext cx="2152650" cy="419100"/>
          </a:xfrm>
          <a:prstGeom prst="rect">
            <a:avLst/>
          </a:prstGeom>
          <a:noFill/>
          <a:ln w="0">
            <a:noFill/>
          </a:ln>
        </p:spPr>
        <p:txBody>
          <a:bodyPr wrap="square" lIns="0" tIns="0" rIns="0" bIns="0">
            <a:noAutofit/>
          </a:bodyPr>
          <a:lstStyle/>
          <a:p>
            <a:pPr>
              <a:defRPr sz="2100" b="0">
                <a:solidFill>
                  <a:srgbClr val="000000"/>
                </a:solidFill>
                <a:latin typeface="Cambria Math"/>
                <a:ea typeface="Cambria Math"/>
                <a:cs typeface="Cambria Math"/>
              </a:defRPr>
            </a:pPr>
            <a:r>
              <a:rPr sz="2100" b="0">
                <a:solidFill>
                  <a:srgbClr val="000000"/>
                </a:solidFill>
                <a:latin typeface="Cambria Math"/>
                <a:ea typeface="Cambria Math"/>
                <a:cs typeface="Cambria Math"/>
              </a:rPr>
              <a:t>R ∪ S</a:t>
            </a:r>
          </a:p>
        </p:txBody>
      </p:sp>
      <p:sp>
        <p:nvSpPr>
          <p:cNvPr id="6" name="body">
            <a:extLst>
              <a:ext uri="{FF2B5EF4-FFF2-40B4-BE49-F238E27FC236}">
                <a16:creationId xmlns:a16="http://schemas.microsoft.com/office/drawing/2014/main" id="{E7DBA460-16F7-4202-9CD3-9BA9DEFED2E0}"/>
              </a:ext>
            </a:extLst>
          </p:cNvPr>
          <p:cNvSpPr>
            <a:spLocks noGrp="1"/>
          </p:cNvSpPr>
          <p:nvPr/>
        </p:nvSpPr>
        <p:spPr>
          <a:xfrm>
            <a:off x="1733550" y="1752600"/>
            <a:ext cx="2000250" cy="361950"/>
          </a:xfrm>
          <a:prstGeom prst="rect">
            <a:avLst/>
          </a:prstGeom>
          <a:noFill/>
          <a:ln w="0">
            <a:noFill/>
          </a:ln>
        </p:spPr>
        <p:txBody>
          <a:bodyPr wrap="square" lIns="0" tIns="0" rIns="0" bIns="0">
            <a:noAutofit/>
          </a:bodyPr>
          <a:lstStyle/>
          <a:p>
            <a:pPr>
              <a:defRPr sz="2250" b="0">
                <a:solidFill>
                  <a:srgbClr val="000000"/>
                </a:solidFill>
                <a:latin typeface="Calibri"/>
                <a:ea typeface="Calibri"/>
                <a:cs typeface="Calibri"/>
              </a:defRPr>
            </a:pPr>
            <a:r>
              <a:rPr sz="2250" b="0">
                <a:solidFill>
                  <a:srgbClr val="000000"/>
                </a:solidFill>
                <a:latin typeface="Calibri"/>
                <a:ea typeface="Calibri"/>
                <a:cs typeface="Calibri"/>
              </a:rPr>
              <a:t>Hack(mid)</a:t>
            </a:r>
          </a:p>
        </p:txBody>
      </p:sp>
      <p:graphicFrame>
        <p:nvGraphicFramePr>
          <p:cNvPr id="18" name="表格 17"/>
          <p:cNvGraphicFramePr/>
          <p:nvPr/>
        </p:nvGraphicFramePr>
        <p:xfrm>
          <a:off x="1809750" y="2171700"/>
          <a:ext cx="2000250" cy="1752600"/>
        </p:xfrm>
        <a:graphic>
          <a:graphicData uri="http://schemas.openxmlformats.org/drawingml/2006/table">
            <a:tbl>
              <a:tblPr/>
              <a:tblGrid>
                <a:gridCol w="2000250">
                  <a:extLst>
                    <a:ext uri="{9D8B030D-6E8A-4147-A177-3AD203B41FA5}">
                      <a16:colId xmlns:a16="http://schemas.microsoft.com/office/drawing/2014/main" val="20000"/>
                    </a:ext>
                  </a:extLst>
                </a:gridCol>
              </a:tblGrid>
              <a:tr h="438150">
                <a:tc>
                  <a:txBody>
                    <a:bodyPr/>
                    <a:lstStyle/>
                    <a:p>
                      <a:pPr algn="ctr"/>
                      <a:r>
                        <a:rPr sz="2100">
                          <a:solidFill>
                            <a:srgbClr val="000000"/>
                          </a:solidFill>
                          <a:latin typeface="Calibri"/>
                          <a:ea typeface="Calibri"/>
                          <a:cs typeface="Calibri"/>
                        </a:rPr>
                        <a:t>mid</a:t>
                      </a:r>
                    </a:p>
                  </a:txBody>
                  <a:tcPr marL="47625" marR="47625" marT="28575" marB="28575" anchor="ctr">
                    <a:solidFill>
                      <a:srgbClr val="D9D9D9"/>
                    </a:solidFill>
                  </a:tcPr>
                </a:tc>
                <a:extLst>
                  <a:ext uri="{0D108BD9-81ED-4DB2-BD59-A6C34878D82A}">
                    <a16:rowId xmlns:a16="http://schemas.microsoft.com/office/drawing/2014/main" val="10000"/>
                  </a:ext>
                </a:extLst>
              </a:tr>
              <a:tr h="438150">
                <a:tc>
                  <a:txBody>
                    <a:bodyPr/>
                    <a:lstStyle/>
                    <a:p>
                      <a:pPr algn="ctr"/>
                      <a:r>
                        <a:rPr sz="2100">
                          <a:solidFill>
                            <a:srgbClr val="000000"/>
                          </a:solidFill>
                          <a:latin typeface="Calibri"/>
                          <a:ea typeface="Calibri"/>
                          <a:cs typeface="Calibri"/>
                        </a:rPr>
                        <a:t>1</a:t>
                      </a:r>
                    </a:p>
                  </a:txBody>
                  <a:tcPr marL="47625" marR="47625" marT="28575" marB="28575" anchor="ctr">
                    <a:solidFill>
                      <a:srgbClr val="FFFFFF"/>
                    </a:solidFill>
                  </a:tcPr>
                </a:tc>
                <a:extLst>
                  <a:ext uri="{0D108BD9-81ED-4DB2-BD59-A6C34878D82A}">
                    <a16:rowId xmlns:a16="http://schemas.microsoft.com/office/drawing/2014/main" val="10001"/>
                  </a:ext>
                </a:extLst>
              </a:tr>
              <a:tr h="438150">
                <a:tc>
                  <a:txBody>
                    <a:bodyPr/>
                    <a:lstStyle/>
                    <a:p>
                      <a:pPr algn="ctr"/>
                      <a:r>
                        <a:rPr sz="2100">
                          <a:solidFill>
                            <a:srgbClr val="000000"/>
                          </a:solidFill>
                          <a:latin typeface="Calibri"/>
                          <a:ea typeface="Calibri"/>
                          <a:cs typeface="Calibri"/>
                        </a:rPr>
                        <a:t>2</a:t>
                      </a:r>
                    </a:p>
                  </a:txBody>
                  <a:tcPr marL="47625" marR="47625" marT="28575" marB="28575" anchor="ctr">
                    <a:solidFill>
                      <a:srgbClr val="FFFFFF"/>
                    </a:solidFill>
                  </a:tcPr>
                </a:tc>
                <a:extLst>
                  <a:ext uri="{0D108BD9-81ED-4DB2-BD59-A6C34878D82A}">
                    <a16:rowId xmlns:a16="http://schemas.microsoft.com/office/drawing/2014/main" val="10002"/>
                  </a:ext>
                </a:extLst>
              </a:tr>
              <a:tr h="438150">
                <a:tc>
                  <a:txBody>
                    <a:bodyPr/>
                    <a:lstStyle/>
                    <a:p>
                      <a:pPr algn="ctr"/>
                      <a:r>
                        <a:rPr sz="2100">
                          <a:solidFill>
                            <a:srgbClr val="000000"/>
                          </a:solidFill>
                          <a:latin typeface="Calibri"/>
                          <a:ea typeface="Calibri"/>
                          <a:cs typeface="Calibri"/>
                        </a:rPr>
                        <a:t>4</a:t>
                      </a:r>
                    </a:p>
                  </a:txBody>
                  <a:tcPr marL="47625" marR="47625" marT="28575" marB="28575" anchor="ctr">
                    <a:solidFill>
                      <a:srgbClr val="FFFFFF"/>
                    </a:solidFill>
                  </a:tcPr>
                </a:tc>
                <a:extLst>
                  <a:ext uri="{0D108BD9-81ED-4DB2-BD59-A6C34878D82A}">
                    <a16:rowId xmlns:a16="http://schemas.microsoft.com/office/drawing/2014/main" val="10003"/>
                  </a:ext>
                </a:extLst>
              </a:tr>
            </a:tbl>
          </a:graphicData>
        </a:graphic>
      </p:graphicFrame>
      <p:sp>
        <p:nvSpPr>
          <p:cNvPr id="8" name="body">
            <a:extLst>
              <a:ext uri="{FF2B5EF4-FFF2-40B4-BE49-F238E27FC236}">
                <a16:creationId xmlns:a16="http://schemas.microsoft.com/office/drawing/2014/main" id="{704AC475-DB7F-43CB-B021-BDFB7B1F39CE}"/>
              </a:ext>
            </a:extLst>
          </p:cNvPr>
          <p:cNvSpPr>
            <a:spLocks noGrp="1"/>
          </p:cNvSpPr>
          <p:nvPr/>
        </p:nvSpPr>
        <p:spPr>
          <a:xfrm>
            <a:off x="5210175" y="1752600"/>
            <a:ext cx="2000250" cy="361950"/>
          </a:xfrm>
          <a:prstGeom prst="rect">
            <a:avLst/>
          </a:prstGeom>
          <a:noFill/>
          <a:ln w="0">
            <a:noFill/>
          </a:ln>
        </p:spPr>
        <p:txBody>
          <a:bodyPr wrap="square" lIns="0" tIns="0" rIns="0" bIns="0">
            <a:noAutofit/>
          </a:bodyPr>
          <a:lstStyle/>
          <a:p>
            <a:pPr>
              <a:defRPr sz="2250" b="0">
                <a:solidFill>
                  <a:srgbClr val="000000"/>
                </a:solidFill>
                <a:latin typeface="Calibri"/>
                <a:ea typeface="Calibri"/>
                <a:cs typeface="Calibri"/>
              </a:defRPr>
            </a:pPr>
            <a:r>
              <a:rPr sz="2250" b="0">
                <a:solidFill>
                  <a:srgbClr val="000000"/>
                </a:solidFill>
                <a:latin typeface="Calibri"/>
                <a:ea typeface="Calibri"/>
                <a:cs typeface="Calibri"/>
              </a:rPr>
              <a:t>Design(mid)</a:t>
            </a:r>
          </a:p>
        </p:txBody>
      </p:sp>
      <p:graphicFrame>
        <p:nvGraphicFramePr>
          <p:cNvPr id="20" name="表格 19"/>
          <p:cNvGraphicFramePr/>
          <p:nvPr/>
        </p:nvGraphicFramePr>
        <p:xfrm>
          <a:off x="5286375" y="2171700"/>
          <a:ext cx="2000250" cy="1752600"/>
        </p:xfrm>
        <a:graphic>
          <a:graphicData uri="http://schemas.openxmlformats.org/drawingml/2006/table">
            <a:tbl>
              <a:tblPr/>
              <a:tblGrid>
                <a:gridCol w="2000250">
                  <a:extLst>
                    <a:ext uri="{9D8B030D-6E8A-4147-A177-3AD203B41FA5}">
                      <a16:colId xmlns:a16="http://schemas.microsoft.com/office/drawing/2014/main" val="20000"/>
                    </a:ext>
                  </a:extLst>
                </a:gridCol>
              </a:tblGrid>
              <a:tr h="438150">
                <a:tc>
                  <a:txBody>
                    <a:bodyPr/>
                    <a:lstStyle/>
                    <a:p>
                      <a:pPr algn="ctr"/>
                      <a:r>
                        <a:rPr sz="2100">
                          <a:solidFill>
                            <a:srgbClr val="000000"/>
                          </a:solidFill>
                          <a:latin typeface="Calibri"/>
                          <a:ea typeface="Calibri"/>
                          <a:cs typeface="Calibri"/>
                        </a:rPr>
                        <a:t>mid</a:t>
                      </a:r>
                    </a:p>
                  </a:txBody>
                  <a:tcPr marL="47625" marR="47625" marT="28575" marB="28575" anchor="ctr">
                    <a:solidFill>
                      <a:srgbClr val="D9D9D9"/>
                    </a:solidFill>
                  </a:tcPr>
                </a:tc>
                <a:extLst>
                  <a:ext uri="{0D108BD9-81ED-4DB2-BD59-A6C34878D82A}">
                    <a16:rowId xmlns:a16="http://schemas.microsoft.com/office/drawing/2014/main" val="10000"/>
                  </a:ext>
                </a:extLst>
              </a:tr>
              <a:tr h="438150">
                <a:tc>
                  <a:txBody>
                    <a:bodyPr/>
                    <a:lstStyle/>
                    <a:p>
                      <a:pPr algn="ctr"/>
                      <a:r>
                        <a:rPr sz="2100">
                          <a:solidFill>
                            <a:srgbClr val="000000"/>
                          </a:solidFill>
                          <a:latin typeface="Calibri"/>
                          <a:ea typeface="Calibri"/>
                          <a:cs typeface="Calibri"/>
                        </a:rPr>
                        <a:t>2</a:t>
                      </a:r>
                    </a:p>
                  </a:txBody>
                  <a:tcPr marL="47625" marR="47625" marT="28575" marB="28575" anchor="ctr">
                    <a:solidFill>
                      <a:srgbClr val="FFFFFF"/>
                    </a:solidFill>
                  </a:tcPr>
                </a:tc>
                <a:extLst>
                  <a:ext uri="{0D108BD9-81ED-4DB2-BD59-A6C34878D82A}">
                    <a16:rowId xmlns:a16="http://schemas.microsoft.com/office/drawing/2014/main" val="10001"/>
                  </a:ext>
                </a:extLst>
              </a:tr>
              <a:tr h="438150">
                <a:tc>
                  <a:txBody>
                    <a:bodyPr/>
                    <a:lstStyle/>
                    <a:p>
                      <a:pPr algn="ctr"/>
                      <a:r>
                        <a:rPr sz="2100">
                          <a:solidFill>
                            <a:srgbClr val="000000"/>
                          </a:solidFill>
                          <a:latin typeface="Calibri"/>
                          <a:ea typeface="Calibri"/>
                          <a:cs typeface="Calibri"/>
                        </a:rPr>
                        <a:t>3</a:t>
                      </a:r>
                    </a:p>
                  </a:txBody>
                  <a:tcPr marL="47625" marR="47625" marT="28575" marB="28575" anchor="ctr">
                    <a:solidFill>
                      <a:srgbClr val="FFFFFF"/>
                    </a:solidFill>
                  </a:tcPr>
                </a:tc>
                <a:extLst>
                  <a:ext uri="{0D108BD9-81ED-4DB2-BD59-A6C34878D82A}">
                    <a16:rowId xmlns:a16="http://schemas.microsoft.com/office/drawing/2014/main" val="10002"/>
                  </a:ext>
                </a:extLst>
              </a:tr>
              <a:tr h="438150">
                <a:tc>
                  <a:txBody>
                    <a:bodyPr/>
                    <a:lstStyle/>
                    <a:p>
                      <a:pPr algn="ctr"/>
                      <a:r>
                        <a:rPr sz="2100">
                          <a:solidFill>
                            <a:srgbClr val="000000"/>
                          </a:solidFill>
                          <a:latin typeface="Calibri"/>
                          <a:ea typeface="Calibri"/>
                          <a:cs typeface="Calibri"/>
                        </a:rPr>
                        <a:t>4</a:t>
                      </a:r>
                    </a:p>
                  </a:txBody>
                  <a:tcPr marL="47625" marR="47625" marT="28575" marB="28575" anchor="ctr">
                    <a:solidFill>
                      <a:srgbClr val="FFFFFF"/>
                    </a:solidFill>
                  </a:tcPr>
                </a:tc>
                <a:extLst>
                  <a:ext uri="{0D108BD9-81ED-4DB2-BD59-A6C34878D82A}">
                    <a16:rowId xmlns:a16="http://schemas.microsoft.com/office/drawing/2014/main" val="10003"/>
                  </a:ext>
                </a:extLst>
              </a:tr>
            </a:tbl>
          </a:graphicData>
        </a:graphic>
      </p:graphicFrame>
      <p:sp>
        <p:nvSpPr>
          <p:cNvPr id="10" name="body">
            <a:extLst>
              <a:ext uri="{FF2B5EF4-FFF2-40B4-BE49-F238E27FC236}">
                <a16:creationId xmlns:a16="http://schemas.microsoft.com/office/drawing/2014/main" id="{B9023268-C274-4A51-9A95-2E67653FE894}"/>
              </a:ext>
            </a:extLst>
          </p:cNvPr>
          <p:cNvSpPr>
            <a:spLocks noGrp="1"/>
          </p:cNvSpPr>
          <p:nvPr/>
        </p:nvSpPr>
        <p:spPr>
          <a:xfrm>
            <a:off x="781050" y="4391025"/>
            <a:ext cx="7600950" cy="952500"/>
          </a:xfrm>
          <a:prstGeom prst="rect">
            <a:avLst/>
          </a:prstGeom>
          <a:noFill/>
          <a:ln w="0">
            <a:noFill/>
          </a:ln>
        </p:spPr>
        <p:txBody>
          <a:bodyPr wrap="square" lIns="0" tIns="0" rIns="0" bIns="0">
            <a:noAutofit/>
          </a:bodyPr>
          <a:lstStyle/>
          <a:p>
            <a:pPr>
              <a:defRPr sz="2250" b="0">
                <a:solidFill>
                  <a:srgbClr val="FF0000"/>
                </a:solidFill>
                <a:latin typeface="Calibri"/>
                <a:ea typeface="Calibri"/>
                <a:cs typeface="Calibri"/>
              </a:defRPr>
            </a:pPr>
            <a:r>
              <a:rPr sz="2250" b="0">
                <a:solidFill>
                  <a:srgbClr val="FF0000"/>
                </a:solidFill>
                <a:latin typeface="Calibri"/>
                <a:ea typeface="Calibri"/>
                <a:cs typeface="Calibri"/>
              </a:rPr>
              <a:t>Find member IDs who attended either workshop.</a:t>
            </a:r>
          </a:p>
        </p:txBody>
      </p:sp>
      <p:sp>
        <p:nvSpPr>
          <p:cNvPr id="11" name="body">
            <a:extLst>
              <a:ext uri="{FF2B5EF4-FFF2-40B4-BE49-F238E27FC236}">
                <a16:creationId xmlns:a16="http://schemas.microsoft.com/office/drawing/2014/main" id="{FB12D6C2-AB5C-4DF3-85E8-754705E157FD}"/>
              </a:ext>
            </a:extLst>
          </p:cNvPr>
          <p:cNvSpPr>
            <a:spLocks noGrp="1"/>
          </p:cNvSpPr>
          <p:nvPr/>
        </p:nvSpPr>
        <p:spPr>
          <a:xfrm>
            <a:off x="781050" y="5067300"/>
            <a:ext cx="7600950" cy="952500"/>
          </a:xfrm>
          <a:prstGeom prst="rect">
            <a:avLst/>
          </a:prstGeom>
          <a:noFill/>
          <a:ln w="0">
            <a:noFill/>
          </a:ln>
        </p:spPr>
        <p:txBody>
          <a:bodyPr wrap="square" lIns="0" tIns="0" rIns="0" bIns="0">
            <a:noAutofit/>
          </a:bodyPr>
          <a:lstStyle/>
          <a:p>
            <a:pPr>
              <a:defRPr sz="2100" b="0">
                <a:solidFill>
                  <a:srgbClr val="000000"/>
                </a:solidFill>
                <a:latin typeface="Calibri"/>
                <a:ea typeface="Calibri"/>
                <a:cs typeface="Calibri"/>
              </a:defRPr>
            </a:pPr>
            <a:r>
              <a:rPr sz="2100" b="0">
                <a:solidFill>
                  <a:srgbClr val="000000"/>
                </a:solidFill>
                <a:latin typeface="Calibri"/>
                <a:ea typeface="Calibri"/>
                <a:cs typeface="Calibri"/>
              </a:rPr>
              <a:t>How many times should IDs 2 and 4 appear?</a:t>
            </a:r>
          </a:p>
        </p:txBody>
      </p:sp>
      <p:sp>
        <p:nvSpPr>
          <p:cNvPr id="9001" name="Title 1">
            <a:extLst>
              <a:ext uri="{FF2B5EF4-FFF2-40B4-BE49-F238E27FC236}">
                <a16:creationId xmlns:a16="http://schemas.microsoft.com/office/drawing/2014/main" id="{4EF27E5C-9C4D-BDBE-7667-D0B141BCC8F5}"/>
              </a:ext>
            </a:extLst>
          </p:cNvPr>
          <p:cNvSpPr>
            <a:spLocks noGrp="1"/>
          </p:cNvSpPr>
          <p:nvPr>
            <p:ph type="title"/>
          </p:nvPr>
        </p:nvSpPr>
        <p:spPr/>
        <p:txBody>
          <a:bodyPr/>
          <a:lstStyle/>
          <a:p>
            <a:r>
              <a:rPr lang="en-US">
                <a:solidFill>
                  <a:srgbClr val="FF0000"/>
                </a:solidFill>
              </a:rPr>
              <a:t>Practice: </a:t>
            </a:r>
            <a:r>
              <a:rPr lang="en-US">
                <a:solidFill>
                  <a:srgbClr val="3333CC"/>
                </a:solidFill>
              </a:rPr>
              <a:t>Q7</a:t>
            </a:r>
          </a:p>
        </p:txBody>
      </p:sp>
      <p:sp>
        <p:nvSpPr>
          <p:cNvPr id="9002" name="Slide Number Placeholder 1">
            <a:extLst>
              <a:ext uri="{FF2B5EF4-FFF2-40B4-BE49-F238E27FC236}">
                <a16:creationId xmlns:a16="http://schemas.microsoft.com/office/drawing/2014/main" id="{B90139AC-3BDA-723A-097A-000DA0A784C1}"/>
              </a:ext>
            </a:extLst>
          </p:cNvPr>
          <p:cNvSpPr>
            <a:spLocks noGrp="1"/>
          </p:cNvSpPr>
          <p:nvPr>
            <p:ph type="sldNum" sz="quarter" idx="12"/>
          </p:nvPr>
        </p:nvSpPr>
        <p:spPr/>
        <p:txBody>
          <a:bodyPr/>
          <a:lstStyle/>
          <a:p>
            <a:pPr>
              <a:defRPr/>
            </a:pPr>
            <a:fld id="{43CA101F-9E5F-9249-9862-3CE55B3BB777}" type="slidenum">
              <a:rPr lang="en-US" altLang="zh-TW" smtClean="0"/>
              <a:pPr>
                <a:defRPr/>
              </a:pPr>
              <a:t>20</a:t>
            </a:fld>
            <a:endParaRPr lang="en-US" altLang="zh-TW"/>
          </a:p>
        </p:txBody>
      </p:sp>
    </p:spTree>
    <p:extLst>
      <p:ext uri="{BB962C8B-B14F-4D97-AF65-F5344CB8AC3E}">
        <p14:creationId xmlns:p14="http://schemas.microsoft.com/office/powerpoint/2010/main" val="119380133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formula">
            <a:extLst>
              <a:ext uri="{FF2B5EF4-FFF2-40B4-BE49-F238E27FC236}">
                <a16:creationId xmlns:a16="http://schemas.microsoft.com/office/drawing/2014/main" id="{2E5E7D54-1F81-4FBA-82DC-DC0998441BDD}"/>
              </a:ext>
            </a:extLst>
          </p:cNvPr>
          <p:cNvSpPr>
            <a:spLocks noGrp="1"/>
          </p:cNvSpPr>
          <p:nvPr/>
        </p:nvSpPr>
        <p:spPr>
          <a:xfrm>
            <a:off x="781050" y="1171575"/>
            <a:ext cx="7600950" cy="523875"/>
          </a:xfrm>
          <a:prstGeom prst="rect">
            <a:avLst/>
          </a:prstGeom>
          <a:noFill/>
          <a:ln w="0">
            <a:noFill/>
          </a:ln>
        </p:spPr>
        <p:txBody>
          <a:bodyPr wrap="square" lIns="0" tIns="0" rIns="0" bIns="0">
            <a:noAutofit/>
          </a:bodyPr>
          <a:lstStyle/>
          <a:p>
            <a:pPr>
              <a:defRPr sz="2175" b="0">
                <a:solidFill>
                  <a:srgbClr val="000000"/>
                </a:solidFill>
                <a:latin typeface="Cambria Math"/>
                <a:ea typeface="Cambria Math"/>
                <a:cs typeface="Cambria Math"/>
              </a:defRPr>
            </a:pPr>
            <a:r>
              <a:rPr sz="2175" b="0">
                <a:solidFill>
                  <a:srgbClr val="000000"/>
                </a:solidFill>
                <a:latin typeface="Cambria Math"/>
                <a:ea typeface="Cambria Math"/>
                <a:cs typeface="Cambria Math"/>
              </a:rPr>
              <a:t>Hack ∪ Design</a:t>
            </a:r>
          </a:p>
        </p:txBody>
      </p:sp>
      <p:sp>
        <p:nvSpPr>
          <p:cNvPr id="4" name="body">
            <a:extLst>
              <a:ext uri="{FF2B5EF4-FFF2-40B4-BE49-F238E27FC236}">
                <a16:creationId xmlns:a16="http://schemas.microsoft.com/office/drawing/2014/main" id="{978865C5-540A-40F7-81FC-3E587F2E364E}"/>
              </a:ext>
            </a:extLst>
          </p:cNvPr>
          <p:cNvSpPr>
            <a:spLocks noGrp="1"/>
          </p:cNvSpPr>
          <p:nvPr/>
        </p:nvSpPr>
        <p:spPr>
          <a:xfrm>
            <a:off x="3067050" y="1943100"/>
            <a:ext cx="2857500" cy="361950"/>
          </a:xfrm>
          <a:prstGeom prst="rect">
            <a:avLst/>
          </a:prstGeom>
          <a:noFill/>
          <a:ln w="0">
            <a:noFill/>
          </a:ln>
        </p:spPr>
        <p:txBody>
          <a:bodyPr wrap="square" lIns="0" tIns="0" rIns="0" bIns="0">
            <a:noAutofit/>
          </a:bodyPr>
          <a:lstStyle/>
          <a:p>
            <a:pPr>
              <a:defRPr sz="2250" b="0">
                <a:solidFill>
                  <a:srgbClr val="000000"/>
                </a:solidFill>
                <a:latin typeface="Calibri"/>
                <a:ea typeface="Calibri"/>
                <a:cs typeface="Calibri"/>
              </a:defRPr>
            </a:pPr>
            <a:r>
              <a:rPr sz="2250" b="0">
                <a:solidFill>
                  <a:srgbClr val="000000"/>
                </a:solidFill>
                <a:latin typeface="Calibri"/>
                <a:ea typeface="Calibri"/>
                <a:cs typeface="Calibri"/>
              </a:rPr>
              <a:t>Result</a:t>
            </a:r>
          </a:p>
        </p:txBody>
      </p:sp>
      <p:graphicFrame>
        <p:nvGraphicFramePr>
          <p:cNvPr id="11" name="表格 10"/>
          <p:cNvGraphicFramePr/>
          <p:nvPr/>
        </p:nvGraphicFramePr>
        <p:xfrm>
          <a:off x="3143250" y="2362200"/>
          <a:ext cx="2857500" cy="2095500"/>
        </p:xfrm>
        <a:graphic>
          <a:graphicData uri="http://schemas.openxmlformats.org/drawingml/2006/table">
            <a:tbl>
              <a:tblPr/>
              <a:tblGrid>
                <a:gridCol w="2857500">
                  <a:extLst>
                    <a:ext uri="{9D8B030D-6E8A-4147-A177-3AD203B41FA5}">
                      <a16:colId xmlns:a16="http://schemas.microsoft.com/office/drawing/2014/main" val="20000"/>
                    </a:ext>
                  </a:extLst>
                </a:gridCol>
              </a:tblGrid>
              <a:tr h="419100">
                <a:tc>
                  <a:txBody>
                    <a:bodyPr/>
                    <a:lstStyle/>
                    <a:p>
                      <a:pPr algn="ctr"/>
                      <a:r>
                        <a:rPr sz="2100">
                          <a:solidFill>
                            <a:srgbClr val="000000"/>
                          </a:solidFill>
                          <a:latin typeface="Calibri"/>
                          <a:ea typeface="Calibri"/>
                          <a:cs typeface="Calibri"/>
                        </a:rPr>
                        <a:t>mid</a:t>
                      </a:r>
                    </a:p>
                  </a:txBody>
                  <a:tcPr marL="47625" marR="47625" marT="28575" marB="28575" anchor="ctr">
                    <a:solidFill>
                      <a:srgbClr val="D9D9D9"/>
                    </a:solidFill>
                  </a:tcPr>
                </a:tc>
                <a:extLst>
                  <a:ext uri="{0D108BD9-81ED-4DB2-BD59-A6C34878D82A}">
                    <a16:rowId xmlns:a16="http://schemas.microsoft.com/office/drawing/2014/main" val="10000"/>
                  </a:ext>
                </a:extLst>
              </a:tr>
              <a:tr h="419100">
                <a:tc>
                  <a:txBody>
                    <a:bodyPr/>
                    <a:lstStyle/>
                    <a:p>
                      <a:pPr algn="ctr"/>
                      <a:r>
                        <a:rPr sz="2100">
                          <a:solidFill>
                            <a:srgbClr val="000000"/>
                          </a:solidFill>
                          <a:latin typeface="Calibri"/>
                          <a:ea typeface="Calibri"/>
                          <a:cs typeface="Calibri"/>
                        </a:rPr>
                        <a:t>1</a:t>
                      </a:r>
                    </a:p>
                  </a:txBody>
                  <a:tcPr marL="47625" marR="47625" marT="28575" marB="28575" anchor="ctr">
                    <a:solidFill>
                      <a:srgbClr val="FFFFFF"/>
                    </a:solidFill>
                  </a:tcPr>
                </a:tc>
                <a:extLst>
                  <a:ext uri="{0D108BD9-81ED-4DB2-BD59-A6C34878D82A}">
                    <a16:rowId xmlns:a16="http://schemas.microsoft.com/office/drawing/2014/main" val="10001"/>
                  </a:ext>
                </a:extLst>
              </a:tr>
              <a:tr h="419100">
                <a:tc>
                  <a:txBody>
                    <a:bodyPr/>
                    <a:lstStyle/>
                    <a:p>
                      <a:pPr algn="ctr"/>
                      <a:r>
                        <a:rPr sz="2100">
                          <a:solidFill>
                            <a:srgbClr val="000000"/>
                          </a:solidFill>
                          <a:latin typeface="Calibri"/>
                          <a:ea typeface="Calibri"/>
                          <a:cs typeface="Calibri"/>
                        </a:rPr>
                        <a:t>2</a:t>
                      </a:r>
                    </a:p>
                  </a:txBody>
                  <a:tcPr marL="47625" marR="47625" marT="28575" marB="28575" anchor="ctr">
                    <a:solidFill>
                      <a:srgbClr val="FFFFFF"/>
                    </a:solidFill>
                  </a:tcPr>
                </a:tc>
                <a:extLst>
                  <a:ext uri="{0D108BD9-81ED-4DB2-BD59-A6C34878D82A}">
                    <a16:rowId xmlns:a16="http://schemas.microsoft.com/office/drawing/2014/main" val="10002"/>
                  </a:ext>
                </a:extLst>
              </a:tr>
              <a:tr h="419100">
                <a:tc>
                  <a:txBody>
                    <a:bodyPr/>
                    <a:lstStyle/>
                    <a:p>
                      <a:pPr algn="ctr"/>
                      <a:r>
                        <a:rPr sz="2100">
                          <a:solidFill>
                            <a:srgbClr val="000000"/>
                          </a:solidFill>
                          <a:latin typeface="Calibri"/>
                          <a:ea typeface="Calibri"/>
                          <a:cs typeface="Calibri"/>
                        </a:rPr>
                        <a:t>3</a:t>
                      </a:r>
                    </a:p>
                  </a:txBody>
                  <a:tcPr marL="47625" marR="47625" marT="28575" marB="28575" anchor="ctr">
                    <a:solidFill>
                      <a:srgbClr val="FFFFFF"/>
                    </a:solidFill>
                  </a:tcPr>
                </a:tc>
                <a:extLst>
                  <a:ext uri="{0D108BD9-81ED-4DB2-BD59-A6C34878D82A}">
                    <a16:rowId xmlns:a16="http://schemas.microsoft.com/office/drawing/2014/main" val="10003"/>
                  </a:ext>
                </a:extLst>
              </a:tr>
              <a:tr h="419100">
                <a:tc>
                  <a:txBody>
                    <a:bodyPr/>
                    <a:lstStyle/>
                    <a:p>
                      <a:pPr algn="ctr"/>
                      <a:r>
                        <a:rPr sz="2100">
                          <a:solidFill>
                            <a:srgbClr val="000000"/>
                          </a:solidFill>
                          <a:latin typeface="Calibri"/>
                          <a:ea typeface="Calibri"/>
                          <a:cs typeface="Calibri"/>
                        </a:rPr>
                        <a:t>4</a:t>
                      </a:r>
                    </a:p>
                  </a:txBody>
                  <a:tcPr marL="47625" marR="47625" marT="28575" marB="28575" anchor="ctr">
                    <a:solidFill>
                      <a:srgbClr val="FFFFFF"/>
                    </a:solidFill>
                  </a:tcPr>
                </a:tc>
                <a:extLst>
                  <a:ext uri="{0D108BD9-81ED-4DB2-BD59-A6C34878D82A}">
                    <a16:rowId xmlns:a16="http://schemas.microsoft.com/office/drawing/2014/main" val="10004"/>
                  </a:ext>
                </a:extLst>
              </a:tr>
            </a:tbl>
          </a:graphicData>
        </a:graphic>
      </p:graphicFrame>
      <p:sp>
        <p:nvSpPr>
          <p:cNvPr id="6" name="body">
            <a:extLst>
              <a:ext uri="{FF2B5EF4-FFF2-40B4-BE49-F238E27FC236}">
                <a16:creationId xmlns:a16="http://schemas.microsoft.com/office/drawing/2014/main" id="{A1BFE1ED-8D1B-45F2-BE22-5AEE554848D5}"/>
              </a:ext>
            </a:extLst>
          </p:cNvPr>
          <p:cNvSpPr>
            <a:spLocks noGrp="1"/>
          </p:cNvSpPr>
          <p:nvPr/>
        </p:nvSpPr>
        <p:spPr>
          <a:xfrm>
            <a:off x="781050" y="4876800"/>
            <a:ext cx="7600950" cy="952500"/>
          </a:xfrm>
          <a:prstGeom prst="rect">
            <a:avLst/>
          </a:prstGeom>
          <a:noFill/>
          <a:ln w="0">
            <a:noFill/>
          </a:ln>
        </p:spPr>
        <p:txBody>
          <a:bodyPr wrap="square" lIns="0" tIns="0" rIns="0" bIns="0">
            <a:noAutofit/>
          </a:bodyPr>
          <a:lstStyle/>
          <a:p>
            <a:pPr>
              <a:defRPr sz="2250" b="0">
                <a:solidFill>
                  <a:srgbClr val="FF0000"/>
                </a:solidFill>
                <a:latin typeface="Calibri"/>
                <a:ea typeface="Calibri"/>
                <a:cs typeface="Calibri"/>
              </a:defRPr>
            </a:pPr>
            <a:r>
              <a:rPr sz="2250" b="0">
                <a:solidFill>
                  <a:srgbClr val="FF0000"/>
                </a:solidFill>
                <a:latin typeface="Calibri"/>
                <a:ea typeface="Calibri"/>
                <a:cs typeface="Calibri"/>
              </a:rPr>
              <a:t>IDs 2 and 4 each appear once. The result has 4 tuples.</a:t>
            </a:r>
          </a:p>
        </p:txBody>
      </p:sp>
      <p:sp>
        <p:nvSpPr>
          <p:cNvPr id="9001" name="Title 1">
            <a:extLst>
              <a:ext uri="{FF2B5EF4-FFF2-40B4-BE49-F238E27FC236}">
                <a16:creationId xmlns:a16="http://schemas.microsoft.com/office/drawing/2014/main" id="{4EF27E5C-9C4D-BDBE-7667-D0B141BCC8F5}"/>
              </a:ext>
            </a:extLst>
          </p:cNvPr>
          <p:cNvSpPr>
            <a:spLocks noGrp="1"/>
          </p:cNvSpPr>
          <p:nvPr>
            <p:ph type="title"/>
          </p:nvPr>
        </p:nvSpPr>
        <p:spPr/>
        <p:txBody>
          <a:bodyPr/>
          <a:lstStyle/>
          <a:p>
            <a:r>
              <a:rPr lang="en-US">
                <a:solidFill>
                  <a:srgbClr val="FF0000"/>
                </a:solidFill>
              </a:rPr>
              <a:t>Solutions: </a:t>
            </a:r>
            <a:r>
              <a:rPr lang="en-US">
                <a:solidFill>
                  <a:srgbClr val="3333CC"/>
                </a:solidFill>
              </a:rPr>
              <a:t>Q7</a:t>
            </a:r>
          </a:p>
        </p:txBody>
      </p:sp>
      <p:sp>
        <p:nvSpPr>
          <p:cNvPr id="9002" name="Slide Number Placeholder 1">
            <a:extLst>
              <a:ext uri="{FF2B5EF4-FFF2-40B4-BE49-F238E27FC236}">
                <a16:creationId xmlns:a16="http://schemas.microsoft.com/office/drawing/2014/main" id="{B90139AC-3BDA-723A-097A-000DA0A784C1}"/>
              </a:ext>
            </a:extLst>
          </p:cNvPr>
          <p:cNvSpPr>
            <a:spLocks noGrp="1"/>
          </p:cNvSpPr>
          <p:nvPr>
            <p:ph type="sldNum" sz="quarter" idx="12"/>
          </p:nvPr>
        </p:nvSpPr>
        <p:spPr/>
        <p:txBody>
          <a:bodyPr/>
          <a:lstStyle/>
          <a:p>
            <a:pPr>
              <a:defRPr/>
            </a:pPr>
            <a:fld id="{43CA101F-9E5F-9249-9862-3CE55B3BB777}" type="slidenum">
              <a:rPr lang="en-US" altLang="zh-TW" smtClean="0"/>
              <a:pPr>
                <a:defRPr/>
              </a:pPr>
              <a:t>21</a:t>
            </a:fld>
            <a:endParaRPr lang="en-US" altLang="zh-TW"/>
          </a:p>
        </p:txBody>
      </p:sp>
    </p:spTree>
    <p:extLst>
      <p:ext uri="{BB962C8B-B14F-4D97-AF65-F5344CB8AC3E}">
        <p14:creationId xmlns:p14="http://schemas.microsoft.com/office/powerpoint/2010/main" val="14201150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body">
            <a:extLst>
              <a:ext uri="{FF2B5EF4-FFF2-40B4-BE49-F238E27FC236}">
                <a16:creationId xmlns:a16="http://schemas.microsoft.com/office/drawing/2014/main" id="{2943780E-33E8-4768-A6AB-D9175A59EA45}"/>
              </a:ext>
            </a:extLst>
          </p:cNvPr>
          <p:cNvSpPr>
            <a:spLocks noGrp="1"/>
          </p:cNvSpPr>
          <p:nvPr/>
        </p:nvSpPr>
        <p:spPr>
          <a:xfrm>
            <a:off x="781050" y="5876925"/>
            <a:ext cx="7620000" cy="285750"/>
          </a:xfrm>
          <a:prstGeom prst="rect">
            <a:avLst/>
          </a:prstGeom>
          <a:noFill/>
          <a:ln w="0">
            <a:noFill/>
          </a:ln>
        </p:spPr>
        <p:txBody>
          <a:bodyPr wrap="square" lIns="0" tIns="0" rIns="0" bIns="0">
            <a:noAutofit/>
          </a:bodyPr>
          <a:lstStyle/>
          <a:p>
            <a:pPr>
              <a:defRPr sz="1725" b="0">
                <a:solidFill>
                  <a:srgbClr val="3333CC"/>
                </a:solidFill>
                <a:latin typeface="Calibri"/>
                <a:ea typeface="Calibri"/>
                <a:cs typeface="Calibri"/>
              </a:defRPr>
            </a:pPr>
            <a:r>
              <a:rPr sz="1725" b="0">
                <a:solidFill>
                  <a:srgbClr val="3333CC"/>
                </a:solidFill>
                <a:latin typeface="Calibri"/>
                <a:ea typeface="Calibri"/>
                <a:cs typeface="Calibri"/>
              </a:rPr>
              <a:t>Think: 30 s</a:t>
            </a:r>
          </a:p>
        </p:txBody>
      </p:sp>
      <p:sp>
        <p:nvSpPr>
          <p:cNvPr id="4" name="body">
            <a:extLst>
              <a:ext uri="{FF2B5EF4-FFF2-40B4-BE49-F238E27FC236}">
                <a16:creationId xmlns:a16="http://schemas.microsoft.com/office/drawing/2014/main" id="{848B77DF-0490-4102-99BF-C4C46D0A4581}"/>
              </a:ext>
            </a:extLst>
          </p:cNvPr>
          <p:cNvSpPr>
            <a:spLocks noGrp="1"/>
          </p:cNvSpPr>
          <p:nvPr/>
        </p:nvSpPr>
        <p:spPr>
          <a:xfrm>
            <a:off x="895350" y="1371600"/>
            <a:ext cx="3286125" cy="361950"/>
          </a:xfrm>
          <a:prstGeom prst="rect">
            <a:avLst/>
          </a:prstGeom>
          <a:noFill/>
          <a:ln w="0">
            <a:noFill/>
          </a:ln>
        </p:spPr>
        <p:txBody>
          <a:bodyPr wrap="square" lIns="0" tIns="0" rIns="0" bIns="0">
            <a:noAutofit/>
          </a:bodyPr>
          <a:lstStyle/>
          <a:p>
            <a:pPr>
              <a:defRPr sz="2250" b="0">
                <a:solidFill>
                  <a:srgbClr val="000000"/>
                </a:solidFill>
                <a:latin typeface="Calibri"/>
                <a:ea typeface="Calibri"/>
                <a:cs typeface="Calibri"/>
              </a:defRPr>
            </a:pPr>
            <a:r>
              <a:rPr sz="2250" b="0">
                <a:solidFill>
                  <a:srgbClr val="000000"/>
                </a:solidFill>
                <a:latin typeface="Calibri"/>
                <a:ea typeface="Calibri"/>
                <a:cs typeface="Calibri"/>
              </a:rPr>
              <a:t>Morning</a:t>
            </a:r>
          </a:p>
        </p:txBody>
      </p:sp>
      <p:graphicFrame>
        <p:nvGraphicFramePr>
          <p:cNvPr id="14" name="表格 13"/>
          <p:cNvGraphicFramePr/>
          <p:nvPr/>
        </p:nvGraphicFramePr>
        <p:xfrm>
          <a:off x="971550" y="1790700"/>
          <a:ext cx="3286126" cy="1343025"/>
        </p:xfrm>
        <a:graphic>
          <a:graphicData uri="http://schemas.openxmlformats.org/drawingml/2006/table">
            <a:tbl>
              <a:tblPr/>
              <a:tblGrid>
                <a:gridCol w="1643063">
                  <a:extLst>
                    <a:ext uri="{9D8B030D-6E8A-4147-A177-3AD203B41FA5}">
                      <a16:colId xmlns:a16="http://schemas.microsoft.com/office/drawing/2014/main" val="20000"/>
                    </a:ext>
                  </a:extLst>
                </a:gridCol>
                <a:gridCol w="1643063">
                  <a:extLst>
                    <a:ext uri="{9D8B030D-6E8A-4147-A177-3AD203B41FA5}">
                      <a16:colId xmlns:a16="http://schemas.microsoft.com/office/drawing/2014/main" val="20001"/>
                    </a:ext>
                  </a:extLst>
                </a:gridCol>
              </a:tblGrid>
              <a:tr h="447675">
                <a:tc>
                  <a:txBody>
                    <a:bodyPr/>
                    <a:lstStyle/>
                    <a:p>
                      <a:pPr algn="ctr"/>
                      <a:r>
                        <a:rPr sz="2025">
                          <a:solidFill>
                            <a:srgbClr val="000000"/>
                          </a:solidFill>
                          <a:latin typeface="Calibri"/>
                          <a:ea typeface="Calibri"/>
                          <a:cs typeface="Calibri"/>
                        </a:rPr>
                        <a:t>sid</a:t>
                      </a:r>
                    </a:p>
                  </a:txBody>
                  <a:tcPr marL="47625" marR="47625" marT="28575" marB="28575" anchor="ctr">
                    <a:solidFill>
                      <a:srgbClr val="D9D9D9"/>
                    </a:solidFill>
                  </a:tcPr>
                </a:tc>
                <a:tc>
                  <a:txBody>
                    <a:bodyPr/>
                    <a:lstStyle/>
                    <a:p>
                      <a:pPr algn="ctr"/>
                      <a:r>
                        <a:rPr sz="2025">
                          <a:solidFill>
                            <a:srgbClr val="000000"/>
                          </a:solidFill>
                          <a:latin typeface="Calibri"/>
                          <a:ea typeface="Calibri"/>
                          <a:cs typeface="Calibri"/>
                        </a:rPr>
                        <a:t>club</a:t>
                      </a:r>
                    </a:p>
                  </a:txBody>
                  <a:tcPr marL="47625" marR="47625" marT="28575" marB="28575" anchor="ctr">
                    <a:solidFill>
                      <a:srgbClr val="D9D9D9"/>
                    </a:solidFill>
                  </a:tcPr>
                </a:tc>
                <a:extLst>
                  <a:ext uri="{0D108BD9-81ED-4DB2-BD59-A6C34878D82A}">
                    <a16:rowId xmlns:a16="http://schemas.microsoft.com/office/drawing/2014/main" val="10000"/>
                  </a:ext>
                </a:extLst>
              </a:tr>
              <a:tr h="447675">
                <a:tc>
                  <a:txBody>
                    <a:bodyPr/>
                    <a:lstStyle/>
                    <a:p>
                      <a:pPr algn="ctr"/>
                      <a:r>
                        <a:rPr sz="2025">
                          <a:solidFill>
                            <a:srgbClr val="000000"/>
                          </a:solidFill>
                          <a:latin typeface="Calibri"/>
                          <a:ea typeface="Calibri"/>
                          <a:cs typeface="Calibri"/>
                        </a:rPr>
                        <a:t>1</a:t>
                      </a:r>
                    </a:p>
                  </a:txBody>
                  <a:tcPr marL="47625" marR="47625" marT="28575" marB="28575" anchor="ctr">
                    <a:solidFill>
                      <a:srgbClr val="FFFFFF"/>
                    </a:solidFill>
                  </a:tcPr>
                </a:tc>
                <a:tc>
                  <a:txBody>
                    <a:bodyPr/>
                    <a:lstStyle/>
                    <a:p>
                      <a:pPr algn="ctr"/>
                      <a:r>
                        <a:rPr sz="2025">
                          <a:solidFill>
                            <a:srgbClr val="000000"/>
                          </a:solidFill>
                          <a:latin typeface="Calibri"/>
                          <a:ea typeface="Calibri"/>
                          <a:cs typeface="Calibri"/>
                        </a:rPr>
                        <a:t>Art</a:t>
                      </a:r>
                    </a:p>
                  </a:txBody>
                  <a:tcPr marL="47625" marR="47625" marT="28575" marB="28575" anchor="ctr">
                    <a:solidFill>
                      <a:srgbClr val="FFFFFF"/>
                    </a:solidFill>
                  </a:tcPr>
                </a:tc>
                <a:extLst>
                  <a:ext uri="{0D108BD9-81ED-4DB2-BD59-A6C34878D82A}">
                    <a16:rowId xmlns:a16="http://schemas.microsoft.com/office/drawing/2014/main" val="10001"/>
                  </a:ext>
                </a:extLst>
              </a:tr>
              <a:tr h="447675">
                <a:tc>
                  <a:txBody>
                    <a:bodyPr/>
                    <a:lstStyle/>
                    <a:p>
                      <a:pPr algn="ctr"/>
                      <a:r>
                        <a:rPr sz="2025">
                          <a:solidFill>
                            <a:srgbClr val="000000"/>
                          </a:solidFill>
                          <a:latin typeface="Calibri"/>
                          <a:ea typeface="Calibri"/>
                          <a:cs typeface="Calibri"/>
                        </a:rPr>
                        <a:t>2</a:t>
                      </a:r>
                    </a:p>
                  </a:txBody>
                  <a:tcPr marL="47625" marR="47625" marT="28575" marB="28575" anchor="ctr">
                    <a:solidFill>
                      <a:srgbClr val="FFFFFF"/>
                    </a:solidFill>
                  </a:tcPr>
                </a:tc>
                <a:tc>
                  <a:txBody>
                    <a:bodyPr/>
                    <a:lstStyle/>
                    <a:p>
                      <a:pPr algn="ctr"/>
                      <a:r>
                        <a:rPr sz="2025">
                          <a:solidFill>
                            <a:srgbClr val="000000"/>
                          </a:solidFill>
                          <a:latin typeface="Calibri"/>
                          <a:ea typeface="Calibri"/>
                          <a:cs typeface="Calibri"/>
                        </a:rPr>
                        <a:t>Music</a:t>
                      </a:r>
                    </a:p>
                  </a:txBody>
                  <a:tcPr marL="47625" marR="47625" marT="28575" marB="28575" anchor="ctr">
                    <a:solidFill>
                      <a:srgbClr val="FFFFFF"/>
                    </a:solidFill>
                  </a:tcPr>
                </a:tc>
                <a:extLst>
                  <a:ext uri="{0D108BD9-81ED-4DB2-BD59-A6C34878D82A}">
                    <a16:rowId xmlns:a16="http://schemas.microsoft.com/office/drawing/2014/main" val="10002"/>
                  </a:ext>
                </a:extLst>
              </a:tr>
            </a:tbl>
          </a:graphicData>
        </a:graphic>
      </p:graphicFrame>
      <p:sp>
        <p:nvSpPr>
          <p:cNvPr id="6" name="body">
            <a:extLst>
              <a:ext uri="{FF2B5EF4-FFF2-40B4-BE49-F238E27FC236}">
                <a16:creationId xmlns:a16="http://schemas.microsoft.com/office/drawing/2014/main" id="{ACC38680-7356-4E32-9F3A-9320458D85D3}"/>
              </a:ext>
            </a:extLst>
          </p:cNvPr>
          <p:cNvSpPr>
            <a:spLocks noGrp="1"/>
          </p:cNvSpPr>
          <p:nvPr/>
        </p:nvSpPr>
        <p:spPr>
          <a:xfrm>
            <a:off x="4895850" y="1371600"/>
            <a:ext cx="3143250" cy="361950"/>
          </a:xfrm>
          <a:prstGeom prst="rect">
            <a:avLst/>
          </a:prstGeom>
          <a:noFill/>
          <a:ln w="0">
            <a:noFill/>
          </a:ln>
        </p:spPr>
        <p:txBody>
          <a:bodyPr wrap="square" lIns="0" tIns="0" rIns="0" bIns="0">
            <a:noAutofit/>
          </a:bodyPr>
          <a:lstStyle/>
          <a:p>
            <a:pPr>
              <a:defRPr sz="2250" b="0">
                <a:solidFill>
                  <a:srgbClr val="000000"/>
                </a:solidFill>
                <a:latin typeface="Calibri"/>
                <a:ea typeface="Calibri"/>
                <a:cs typeface="Calibri"/>
              </a:defRPr>
            </a:pPr>
            <a:r>
              <a:rPr sz="2250" b="0">
                <a:solidFill>
                  <a:srgbClr val="000000"/>
                </a:solidFill>
                <a:latin typeface="Calibri"/>
                <a:ea typeface="Calibri"/>
                <a:cs typeface="Calibri"/>
              </a:rPr>
              <a:t>Evening</a:t>
            </a:r>
          </a:p>
        </p:txBody>
      </p:sp>
      <p:graphicFrame>
        <p:nvGraphicFramePr>
          <p:cNvPr id="16" name="表格 15"/>
          <p:cNvGraphicFramePr/>
          <p:nvPr/>
        </p:nvGraphicFramePr>
        <p:xfrm>
          <a:off x="4972050" y="1790700"/>
          <a:ext cx="3143250" cy="1790700"/>
        </p:xfrm>
        <a:graphic>
          <a:graphicData uri="http://schemas.openxmlformats.org/drawingml/2006/table">
            <a:tbl>
              <a:tblPr/>
              <a:tblGrid>
                <a:gridCol w="1571625">
                  <a:extLst>
                    <a:ext uri="{9D8B030D-6E8A-4147-A177-3AD203B41FA5}">
                      <a16:colId xmlns:a16="http://schemas.microsoft.com/office/drawing/2014/main" val="20000"/>
                    </a:ext>
                  </a:extLst>
                </a:gridCol>
                <a:gridCol w="1571625">
                  <a:extLst>
                    <a:ext uri="{9D8B030D-6E8A-4147-A177-3AD203B41FA5}">
                      <a16:colId xmlns:a16="http://schemas.microsoft.com/office/drawing/2014/main" val="20001"/>
                    </a:ext>
                  </a:extLst>
                </a:gridCol>
              </a:tblGrid>
              <a:tr h="447675">
                <a:tc>
                  <a:txBody>
                    <a:bodyPr/>
                    <a:lstStyle/>
                    <a:p>
                      <a:pPr algn="ctr"/>
                      <a:r>
                        <a:rPr sz="2025">
                          <a:solidFill>
                            <a:srgbClr val="000000"/>
                          </a:solidFill>
                          <a:latin typeface="Calibri"/>
                          <a:ea typeface="Calibri"/>
                          <a:cs typeface="Calibri"/>
                        </a:rPr>
                        <a:t>sid</a:t>
                      </a:r>
                    </a:p>
                  </a:txBody>
                  <a:tcPr marL="47625" marR="47625" marT="28575" marB="28575" anchor="ctr">
                    <a:solidFill>
                      <a:srgbClr val="D9D9D9"/>
                    </a:solidFill>
                  </a:tcPr>
                </a:tc>
                <a:tc>
                  <a:txBody>
                    <a:bodyPr/>
                    <a:lstStyle/>
                    <a:p>
                      <a:pPr algn="ctr"/>
                      <a:r>
                        <a:rPr sz="2025">
                          <a:solidFill>
                            <a:srgbClr val="000000"/>
                          </a:solidFill>
                          <a:latin typeface="Calibri"/>
                          <a:ea typeface="Calibri"/>
                          <a:cs typeface="Calibri"/>
                        </a:rPr>
                        <a:t>club</a:t>
                      </a:r>
                    </a:p>
                  </a:txBody>
                  <a:tcPr marL="47625" marR="47625" marT="28575" marB="28575" anchor="ctr">
                    <a:solidFill>
                      <a:srgbClr val="D9D9D9"/>
                    </a:solidFill>
                  </a:tcPr>
                </a:tc>
                <a:extLst>
                  <a:ext uri="{0D108BD9-81ED-4DB2-BD59-A6C34878D82A}">
                    <a16:rowId xmlns:a16="http://schemas.microsoft.com/office/drawing/2014/main" val="10000"/>
                  </a:ext>
                </a:extLst>
              </a:tr>
              <a:tr h="447675">
                <a:tc>
                  <a:txBody>
                    <a:bodyPr/>
                    <a:lstStyle/>
                    <a:p>
                      <a:pPr algn="ctr"/>
                      <a:r>
                        <a:rPr sz="2025">
                          <a:solidFill>
                            <a:srgbClr val="000000"/>
                          </a:solidFill>
                          <a:latin typeface="Calibri"/>
                          <a:ea typeface="Calibri"/>
                          <a:cs typeface="Calibri"/>
                        </a:rPr>
                        <a:t>1</a:t>
                      </a:r>
                    </a:p>
                  </a:txBody>
                  <a:tcPr marL="47625" marR="47625" marT="28575" marB="28575" anchor="ctr">
                    <a:solidFill>
                      <a:srgbClr val="FFFFFF"/>
                    </a:solidFill>
                  </a:tcPr>
                </a:tc>
                <a:tc>
                  <a:txBody>
                    <a:bodyPr/>
                    <a:lstStyle/>
                    <a:p>
                      <a:pPr algn="ctr"/>
                      <a:r>
                        <a:rPr sz="2025">
                          <a:solidFill>
                            <a:srgbClr val="000000"/>
                          </a:solidFill>
                          <a:latin typeface="Calibri"/>
                          <a:ea typeface="Calibri"/>
                          <a:cs typeface="Calibri"/>
                        </a:rPr>
                        <a:t>Music</a:t>
                      </a:r>
                    </a:p>
                  </a:txBody>
                  <a:tcPr marL="47625" marR="47625" marT="28575" marB="28575" anchor="ctr">
                    <a:solidFill>
                      <a:srgbClr val="FFFFFF"/>
                    </a:solidFill>
                  </a:tcPr>
                </a:tc>
                <a:extLst>
                  <a:ext uri="{0D108BD9-81ED-4DB2-BD59-A6C34878D82A}">
                    <a16:rowId xmlns:a16="http://schemas.microsoft.com/office/drawing/2014/main" val="10001"/>
                  </a:ext>
                </a:extLst>
              </a:tr>
              <a:tr h="447675">
                <a:tc>
                  <a:txBody>
                    <a:bodyPr/>
                    <a:lstStyle/>
                    <a:p>
                      <a:pPr algn="ctr"/>
                      <a:r>
                        <a:rPr sz="2025">
                          <a:solidFill>
                            <a:srgbClr val="000000"/>
                          </a:solidFill>
                          <a:latin typeface="Calibri"/>
                          <a:ea typeface="Calibri"/>
                          <a:cs typeface="Calibri"/>
                        </a:rPr>
                        <a:t>2</a:t>
                      </a:r>
                    </a:p>
                  </a:txBody>
                  <a:tcPr marL="47625" marR="47625" marT="28575" marB="28575" anchor="ctr">
                    <a:solidFill>
                      <a:srgbClr val="FFFFFF"/>
                    </a:solidFill>
                  </a:tcPr>
                </a:tc>
                <a:tc>
                  <a:txBody>
                    <a:bodyPr/>
                    <a:lstStyle/>
                    <a:p>
                      <a:pPr algn="ctr"/>
                      <a:r>
                        <a:rPr sz="2025">
                          <a:solidFill>
                            <a:srgbClr val="000000"/>
                          </a:solidFill>
                          <a:latin typeface="Calibri"/>
                          <a:ea typeface="Calibri"/>
                          <a:cs typeface="Calibri"/>
                        </a:rPr>
                        <a:t>Music</a:t>
                      </a:r>
                    </a:p>
                  </a:txBody>
                  <a:tcPr marL="47625" marR="47625" marT="28575" marB="28575" anchor="ctr">
                    <a:solidFill>
                      <a:srgbClr val="FFFFFF"/>
                    </a:solidFill>
                  </a:tcPr>
                </a:tc>
                <a:extLst>
                  <a:ext uri="{0D108BD9-81ED-4DB2-BD59-A6C34878D82A}">
                    <a16:rowId xmlns:a16="http://schemas.microsoft.com/office/drawing/2014/main" val="10002"/>
                  </a:ext>
                </a:extLst>
              </a:tr>
              <a:tr h="447675">
                <a:tc>
                  <a:txBody>
                    <a:bodyPr/>
                    <a:lstStyle/>
                    <a:p>
                      <a:pPr algn="ctr"/>
                      <a:r>
                        <a:rPr sz="2025">
                          <a:solidFill>
                            <a:srgbClr val="000000"/>
                          </a:solidFill>
                          <a:latin typeface="Calibri"/>
                          <a:ea typeface="Calibri"/>
                          <a:cs typeface="Calibri"/>
                        </a:rPr>
                        <a:t>3</a:t>
                      </a:r>
                    </a:p>
                  </a:txBody>
                  <a:tcPr marL="47625" marR="47625" marT="28575" marB="28575" anchor="ctr">
                    <a:solidFill>
                      <a:srgbClr val="FFFFFF"/>
                    </a:solidFill>
                  </a:tcPr>
                </a:tc>
                <a:tc>
                  <a:txBody>
                    <a:bodyPr/>
                    <a:lstStyle/>
                    <a:p>
                      <a:pPr algn="ctr"/>
                      <a:r>
                        <a:rPr sz="2025">
                          <a:solidFill>
                            <a:srgbClr val="000000"/>
                          </a:solidFill>
                          <a:latin typeface="Calibri"/>
                          <a:ea typeface="Calibri"/>
                          <a:cs typeface="Calibri"/>
                        </a:rPr>
                        <a:t>Art</a:t>
                      </a:r>
                    </a:p>
                  </a:txBody>
                  <a:tcPr marL="47625" marR="47625" marT="28575" marB="28575" anchor="ctr">
                    <a:solidFill>
                      <a:srgbClr val="FFFFFF"/>
                    </a:solidFill>
                  </a:tcPr>
                </a:tc>
                <a:extLst>
                  <a:ext uri="{0D108BD9-81ED-4DB2-BD59-A6C34878D82A}">
                    <a16:rowId xmlns:a16="http://schemas.microsoft.com/office/drawing/2014/main" val="10003"/>
                  </a:ext>
                </a:extLst>
              </a:tr>
            </a:tbl>
          </a:graphicData>
        </a:graphic>
      </p:graphicFrame>
      <p:sp>
        <p:nvSpPr>
          <p:cNvPr id="8" name="body">
            <a:extLst>
              <a:ext uri="{FF2B5EF4-FFF2-40B4-BE49-F238E27FC236}">
                <a16:creationId xmlns:a16="http://schemas.microsoft.com/office/drawing/2014/main" id="{F37781E6-26C0-42BD-8590-3DCC4FA0DC67}"/>
              </a:ext>
            </a:extLst>
          </p:cNvPr>
          <p:cNvSpPr>
            <a:spLocks noGrp="1"/>
          </p:cNvSpPr>
          <p:nvPr/>
        </p:nvSpPr>
        <p:spPr>
          <a:xfrm>
            <a:off x="781050" y="4257675"/>
            <a:ext cx="7600950" cy="952500"/>
          </a:xfrm>
          <a:prstGeom prst="rect">
            <a:avLst/>
          </a:prstGeom>
          <a:noFill/>
          <a:ln w="0">
            <a:noFill/>
          </a:ln>
        </p:spPr>
        <p:txBody>
          <a:bodyPr wrap="square" lIns="0" tIns="0" rIns="0" bIns="0">
            <a:noAutofit/>
          </a:bodyPr>
          <a:lstStyle/>
          <a:p>
            <a:pPr>
              <a:defRPr sz="2325" b="0">
                <a:solidFill>
                  <a:srgbClr val="FF0000"/>
                </a:solidFill>
                <a:latin typeface="Calibri"/>
                <a:ea typeface="Calibri"/>
                <a:cs typeface="Calibri"/>
              </a:defRPr>
            </a:pPr>
            <a:r>
              <a:rPr sz="2325" b="0">
                <a:solidFill>
                  <a:srgbClr val="FF0000"/>
                </a:solidFill>
                <a:latin typeface="Calibri"/>
                <a:ea typeface="Calibri"/>
                <a:cs typeface="Calibri"/>
              </a:rPr>
              <a:t>Compute Morning ∪ Evening.</a:t>
            </a:r>
          </a:p>
        </p:txBody>
      </p:sp>
      <p:sp>
        <p:nvSpPr>
          <p:cNvPr id="9" name="body">
            <a:extLst>
              <a:ext uri="{FF2B5EF4-FFF2-40B4-BE49-F238E27FC236}">
                <a16:creationId xmlns:a16="http://schemas.microsoft.com/office/drawing/2014/main" id="{DF13F026-FCBC-42DA-B9D9-7F9AAF6E42B3}"/>
              </a:ext>
            </a:extLst>
          </p:cNvPr>
          <p:cNvSpPr>
            <a:spLocks noGrp="1"/>
          </p:cNvSpPr>
          <p:nvPr/>
        </p:nvSpPr>
        <p:spPr>
          <a:xfrm>
            <a:off x="781050" y="5057775"/>
            <a:ext cx="7600950" cy="952500"/>
          </a:xfrm>
          <a:prstGeom prst="rect">
            <a:avLst/>
          </a:prstGeom>
          <a:noFill/>
          <a:ln w="0">
            <a:noFill/>
          </a:ln>
        </p:spPr>
        <p:txBody>
          <a:bodyPr wrap="square" lIns="0" tIns="0" rIns="0" bIns="0">
            <a:noAutofit/>
          </a:bodyPr>
          <a:lstStyle/>
          <a:p>
            <a:pPr>
              <a:defRPr sz="2100" b="0">
                <a:solidFill>
                  <a:srgbClr val="000000"/>
                </a:solidFill>
                <a:latin typeface="Calibri"/>
                <a:ea typeface="Calibri"/>
                <a:cs typeface="Calibri"/>
              </a:defRPr>
            </a:pPr>
            <a:r>
              <a:rPr sz="2100" b="0">
                <a:solidFill>
                  <a:srgbClr val="000000"/>
                </a:solidFill>
                <a:latin typeface="Calibri"/>
                <a:ea typeface="Calibri"/>
                <a:cs typeface="Calibri"/>
              </a:rPr>
              <a:t>Does sid = 1 appear once or twice? Explain.</a:t>
            </a:r>
          </a:p>
        </p:txBody>
      </p:sp>
      <p:sp>
        <p:nvSpPr>
          <p:cNvPr id="9001" name="Title 1">
            <a:extLst>
              <a:ext uri="{FF2B5EF4-FFF2-40B4-BE49-F238E27FC236}">
                <a16:creationId xmlns:a16="http://schemas.microsoft.com/office/drawing/2014/main" id="{4EF27E5C-9C4D-BDBE-7667-D0B141BCC8F5}"/>
              </a:ext>
            </a:extLst>
          </p:cNvPr>
          <p:cNvSpPr>
            <a:spLocks noGrp="1"/>
          </p:cNvSpPr>
          <p:nvPr>
            <p:ph type="title"/>
          </p:nvPr>
        </p:nvSpPr>
        <p:spPr/>
        <p:txBody>
          <a:bodyPr/>
          <a:lstStyle/>
          <a:p>
            <a:r>
              <a:rPr lang="en-US">
                <a:solidFill>
                  <a:srgbClr val="FF0000"/>
                </a:solidFill>
              </a:rPr>
              <a:t>Practice: </a:t>
            </a:r>
            <a:r>
              <a:rPr lang="en-US">
                <a:solidFill>
                  <a:srgbClr val="3333CC"/>
                </a:solidFill>
              </a:rPr>
              <a:t>Q8</a:t>
            </a:r>
          </a:p>
        </p:txBody>
      </p:sp>
      <p:sp>
        <p:nvSpPr>
          <p:cNvPr id="9002" name="Slide Number Placeholder 1">
            <a:extLst>
              <a:ext uri="{FF2B5EF4-FFF2-40B4-BE49-F238E27FC236}">
                <a16:creationId xmlns:a16="http://schemas.microsoft.com/office/drawing/2014/main" id="{B90139AC-3BDA-723A-097A-000DA0A784C1}"/>
              </a:ext>
            </a:extLst>
          </p:cNvPr>
          <p:cNvSpPr>
            <a:spLocks noGrp="1"/>
          </p:cNvSpPr>
          <p:nvPr>
            <p:ph type="sldNum" sz="quarter" idx="12"/>
          </p:nvPr>
        </p:nvSpPr>
        <p:spPr/>
        <p:txBody>
          <a:bodyPr/>
          <a:lstStyle/>
          <a:p>
            <a:pPr>
              <a:defRPr/>
            </a:pPr>
            <a:fld id="{43CA101F-9E5F-9249-9862-3CE55B3BB777}" type="slidenum">
              <a:rPr lang="en-US" altLang="zh-TW" smtClean="0"/>
              <a:pPr>
                <a:defRPr/>
              </a:pPr>
              <a:t>22</a:t>
            </a:fld>
            <a:endParaRPr lang="en-US" altLang="zh-TW"/>
          </a:p>
        </p:txBody>
      </p:sp>
    </p:spTree>
    <p:extLst>
      <p:ext uri="{BB962C8B-B14F-4D97-AF65-F5344CB8AC3E}">
        <p14:creationId xmlns:p14="http://schemas.microsoft.com/office/powerpoint/2010/main" val="120283675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formula">
            <a:extLst>
              <a:ext uri="{FF2B5EF4-FFF2-40B4-BE49-F238E27FC236}">
                <a16:creationId xmlns:a16="http://schemas.microsoft.com/office/drawing/2014/main" id="{D59DA4EA-6905-4778-A80D-F4FC67FF57E7}"/>
              </a:ext>
            </a:extLst>
          </p:cNvPr>
          <p:cNvSpPr>
            <a:spLocks noGrp="1"/>
          </p:cNvSpPr>
          <p:nvPr/>
        </p:nvSpPr>
        <p:spPr>
          <a:xfrm>
            <a:off x="790575" y="1085850"/>
            <a:ext cx="7572375" cy="523875"/>
          </a:xfrm>
          <a:prstGeom prst="rect">
            <a:avLst/>
          </a:prstGeom>
          <a:noFill/>
          <a:ln w="0">
            <a:noFill/>
          </a:ln>
        </p:spPr>
        <p:txBody>
          <a:bodyPr wrap="square" lIns="0" tIns="0" rIns="0" bIns="0">
            <a:noAutofit/>
          </a:bodyPr>
          <a:lstStyle/>
          <a:p>
            <a:pPr>
              <a:defRPr sz="2475" b="0">
                <a:solidFill>
                  <a:srgbClr val="000000"/>
                </a:solidFill>
                <a:latin typeface="Cambria Math"/>
                <a:ea typeface="Cambria Math"/>
                <a:cs typeface="Cambria Math"/>
              </a:defRPr>
            </a:pPr>
            <a:r>
              <a:rPr sz="2475" b="0">
                <a:solidFill>
                  <a:srgbClr val="000000"/>
                </a:solidFill>
                <a:latin typeface="Cambria Math"/>
                <a:ea typeface="Cambria Math"/>
                <a:cs typeface="Cambria Math"/>
              </a:rPr>
              <a:t>Morning ∪ Evening</a:t>
            </a:r>
          </a:p>
        </p:txBody>
      </p:sp>
      <p:sp>
        <p:nvSpPr>
          <p:cNvPr id="4" name="body">
            <a:extLst>
              <a:ext uri="{FF2B5EF4-FFF2-40B4-BE49-F238E27FC236}">
                <a16:creationId xmlns:a16="http://schemas.microsoft.com/office/drawing/2014/main" id="{DCB07088-4B2B-46D4-AA8A-86E27718331A}"/>
              </a:ext>
            </a:extLst>
          </p:cNvPr>
          <p:cNvSpPr>
            <a:spLocks noGrp="1"/>
          </p:cNvSpPr>
          <p:nvPr/>
        </p:nvSpPr>
        <p:spPr>
          <a:xfrm>
            <a:off x="2000250" y="1800225"/>
            <a:ext cx="5000625" cy="361950"/>
          </a:xfrm>
          <a:prstGeom prst="rect">
            <a:avLst/>
          </a:prstGeom>
          <a:noFill/>
          <a:ln w="0">
            <a:noFill/>
          </a:ln>
        </p:spPr>
        <p:txBody>
          <a:bodyPr wrap="square" lIns="0" tIns="0" rIns="0" bIns="0">
            <a:noAutofit/>
          </a:bodyPr>
          <a:lstStyle/>
          <a:p>
            <a:pPr>
              <a:defRPr sz="2250" b="0">
                <a:solidFill>
                  <a:srgbClr val="000000"/>
                </a:solidFill>
                <a:latin typeface="Calibri"/>
                <a:ea typeface="Calibri"/>
                <a:cs typeface="Calibri"/>
              </a:defRPr>
            </a:pPr>
            <a:r>
              <a:rPr sz="2250" b="0">
                <a:solidFill>
                  <a:srgbClr val="000000"/>
                </a:solidFill>
                <a:latin typeface="Calibri"/>
                <a:ea typeface="Calibri"/>
                <a:cs typeface="Calibri"/>
              </a:rPr>
              <a:t>Result</a:t>
            </a:r>
          </a:p>
        </p:txBody>
      </p:sp>
      <p:graphicFrame>
        <p:nvGraphicFramePr>
          <p:cNvPr id="11" name="表格 10"/>
          <p:cNvGraphicFramePr/>
          <p:nvPr/>
        </p:nvGraphicFramePr>
        <p:xfrm>
          <a:off x="2076450" y="2219325"/>
          <a:ext cx="5000626" cy="2095500"/>
        </p:xfrm>
        <a:graphic>
          <a:graphicData uri="http://schemas.openxmlformats.org/drawingml/2006/table">
            <a:tbl>
              <a:tblPr/>
              <a:tblGrid>
                <a:gridCol w="2500313">
                  <a:extLst>
                    <a:ext uri="{9D8B030D-6E8A-4147-A177-3AD203B41FA5}">
                      <a16:colId xmlns:a16="http://schemas.microsoft.com/office/drawing/2014/main" val="20000"/>
                    </a:ext>
                  </a:extLst>
                </a:gridCol>
                <a:gridCol w="2500313">
                  <a:extLst>
                    <a:ext uri="{9D8B030D-6E8A-4147-A177-3AD203B41FA5}">
                      <a16:colId xmlns:a16="http://schemas.microsoft.com/office/drawing/2014/main" val="20001"/>
                    </a:ext>
                  </a:extLst>
                </a:gridCol>
              </a:tblGrid>
              <a:tr h="419100">
                <a:tc>
                  <a:txBody>
                    <a:bodyPr/>
                    <a:lstStyle/>
                    <a:p>
                      <a:pPr algn="ctr"/>
                      <a:r>
                        <a:rPr sz="2100">
                          <a:solidFill>
                            <a:srgbClr val="000000"/>
                          </a:solidFill>
                          <a:latin typeface="Calibri"/>
                          <a:ea typeface="Calibri"/>
                          <a:cs typeface="Calibri"/>
                        </a:rPr>
                        <a:t>sid</a:t>
                      </a:r>
                    </a:p>
                  </a:txBody>
                  <a:tcPr marL="47625" marR="47625" marT="28575" marB="28575" anchor="ctr">
                    <a:solidFill>
                      <a:srgbClr val="D9D9D9"/>
                    </a:solidFill>
                  </a:tcPr>
                </a:tc>
                <a:tc>
                  <a:txBody>
                    <a:bodyPr/>
                    <a:lstStyle/>
                    <a:p>
                      <a:pPr algn="ctr"/>
                      <a:r>
                        <a:rPr sz="2100">
                          <a:solidFill>
                            <a:srgbClr val="000000"/>
                          </a:solidFill>
                          <a:latin typeface="Calibri"/>
                          <a:ea typeface="Calibri"/>
                          <a:cs typeface="Calibri"/>
                        </a:rPr>
                        <a:t>club</a:t>
                      </a:r>
                    </a:p>
                  </a:txBody>
                  <a:tcPr marL="47625" marR="47625" marT="28575" marB="28575" anchor="ctr">
                    <a:solidFill>
                      <a:srgbClr val="D9D9D9"/>
                    </a:solidFill>
                  </a:tcPr>
                </a:tc>
                <a:extLst>
                  <a:ext uri="{0D108BD9-81ED-4DB2-BD59-A6C34878D82A}">
                    <a16:rowId xmlns:a16="http://schemas.microsoft.com/office/drawing/2014/main" val="10000"/>
                  </a:ext>
                </a:extLst>
              </a:tr>
              <a:tr h="419100">
                <a:tc>
                  <a:txBody>
                    <a:bodyPr/>
                    <a:lstStyle/>
                    <a:p>
                      <a:pPr algn="ctr"/>
                      <a:r>
                        <a:rPr sz="2100">
                          <a:solidFill>
                            <a:srgbClr val="000000"/>
                          </a:solidFill>
                          <a:latin typeface="Calibri"/>
                          <a:ea typeface="Calibri"/>
                          <a:cs typeface="Calibri"/>
                        </a:rPr>
                        <a:t>1</a:t>
                      </a:r>
                    </a:p>
                  </a:txBody>
                  <a:tcPr marL="47625" marR="47625" marT="28575" marB="28575" anchor="ctr">
                    <a:solidFill>
                      <a:srgbClr val="FFFFFF"/>
                    </a:solidFill>
                  </a:tcPr>
                </a:tc>
                <a:tc>
                  <a:txBody>
                    <a:bodyPr/>
                    <a:lstStyle/>
                    <a:p>
                      <a:pPr algn="ctr"/>
                      <a:r>
                        <a:rPr sz="2100">
                          <a:solidFill>
                            <a:srgbClr val="000000"/>
                          </a:solidFill>
                          <a:latin typeface="Calibri"/>
                          <a:ea typeface="Calibri"/>
                          <a:cs typeface="Calibri"/>
                        </a:rPr>
                        <a:t>Art</a:t>
                      </a:r>
                    </a:p>
                  </a:txBody>
                  <a:tcPr marL="47625" marR="47625" marT="28575" marB="28575" anchor="ctr">
                    <a:solidFill>
                      <a:srgbClr val="FFFFFF"/>
                    </a:solidFill>
                  </a:tcPr>
                </a:tc>
                <a:extLst>
                  <a:ext uri="{0D108BD9-81ED-4DB2-BD59-A6C34878D82A}">
                    <a16:rowId xmlns:a16="http://schemas.microsoft.com/office/drawing/2014/main" val="10001"/>
                  </a:ext>
                </a:extLst>
              </a:tr>
              <a:tr h="419100">
                <a:tc>
                  <a:txBody>
                    <a:bodyPr/>
                    <a:lstStyle/>
                    <a:p>
                      <a:pPr algn="ctr"/>
                      <a:r>
                        <a:rPr sz="2100">
                          <a:solidFill>
                            <a:srgbClr val="000000"/>
                          </a:solidFill>
                          <a:latin typeface="Calibri"/>
                          <a:ea typeface="Calibri"/>
                          <a:cs typeface="Calibri"/>
                        </a:rPr>
                        <a:t>1</a:t>
                      </a:r>
                    </a:p>
                  </a:txBody>
                  <a:tcPr marL="47625" marR="47625" marT="28575" marB="28575" anchor="ctr">
                    <a:solidFill>
                      <a:srgbClr val="FFFFFF"/>
                    </a:solidFill>
                  </a:tcPr>
                </a:tc>
                <a:tc>
                  <a:txBody>
                    <a:bodyPr/>
                    <a:lstStyle/>
                    <a:p>
                      <a:pPr algn="ctr"/>
                      <a:r>
                        <a:rPr sz="2100">
                          <a:solidFill>
                            <a:srgbClr val="000000"/>
                          </a:solidFill>
                          <a:latin typeface="Calibri"/>
                          <a:ea typeface="Calibri"/>
                          <a:cs typeface="Calibri"/>
                        </a:rPr>
                        <a:t>Music</a:t>
                      </a:r>
                    </a:p>
                  </a:txBody>
                  <a:tcPr marL="47625" marR="47625" marT="28575" marB="28575" anchor="ctr">
                    <a:solidFill>
                      <a:srgbClr val="FFFFFF"/>
                    </a:solidFill>
                  </a:tcPr>
                </a:tc>
                <a:extLst>
                  <a:ext uri="{0D108BD9-81ED-4DB2-BD59-A6C34878D82A}">
                    <a16:rowId xmlns:a16="http://schemas.microsoft.com/office/drawing/2014/main" val="10002"/>
                  </a:ext>
                </a:extLst>
              </a:tr>
              <a:tr h="419100">
                <a:tc>
                  <a:txBody>
                    <a:bodyPr/>
                    <a:lstStyle/>
                    <a:p>
                      <a:pPr algn="ctr"/>
                      <a:r>
                        <a:rPr sz="2100">
                          <a:solidFill>
                            <a:srgbClr val="000000"/>
                          </a:solidFill>
                          <a:latin typeface="Calibri"/>
                          <a:ea typeface="Calibri"/>
                          <a:cs typeface="Calibri"/>
                        </a:rPr>
                        <a:t>2</a:t>
                      </a:r>
                    </a:p>
                  </a:txBody>
                  <a:tcPr marL="47625" marR="47625" marT="28575" marB="28575" anchor="ctr">
                    <a:solidFill>
                      <a:srgbClr val="FFFFFF"/>
                    </a:solidFill>
                  </a:tcPr>
                </a:tc>
                <a:tc>
                  <a:txBody>
                    <a:bodyPr/>
                    <a:lstStyle/>
                    <a:p>
                      <a:pPr algn="ctr"/>
                      <a:r>
                        <a:rPr sz="2100">
                          <a:solidFill>
                            <a:srgbClr val="000000"/>
                          </a:solidFill>
                          <a:latin typeface="Calibri"/>
                          <a:ea typeface="Calibri"/>
                          <a:cs typeface="Calibri"/>
                        </a:rPr>
                        <a:t>Music</a:t>
                      </a:r>
                    </a:p>
                  </a:txBody>
                  <a:tcPr marL="47625" marR="47625" marT="28575" marB="28575" anchor="ctr">
                    <a:solidFill>
                      <a:srgbClr val="FFFFFF"/>
                    </a:solidFill>
                  </a:tcPr>
                </a:tc>
                <a:extLst>
                  <a:ext uri="{0D108BD9-81ED-4DB2-BD59-A6C34878D82A}">
                    <a16:rowId xmlns:a16="http://schemas.microsoft.com/office/drawing/2014/main" val="10003"/>
                  </a:ext>
                </a:extLst>
              </a:tr>
              <a:tr h="419100">
                <a:tc>
                  <a:txBody>
                    <a:bodyPr/>
                    <a:lstStyle/>
                    <a:p>
                      <a:pPr algn="ctr"/>
                      <a:r>
                        <a:rPr sz="2100">
                          <a:solidFill>
                            <a:srgbClr val="000000"/>
                          </a:solidFill>
                          <a:latin typeface="Calibri"/>
                          <a:ea typeface="Calibri"/>
                          <a:cs typeface="Calibri"/>
                        </a:rPr>
                        <a:t>3</a:t>
                      </a:r>
                    </a:p>
                  </a:txBody>
                  <a:tcPr marL="47625" marR="47625" marT="28575" marB="28575" anchor="ctr">
                    <a:solidFill>
                      <a:srgbClr val="FFFFFF"/>
                    </a:solidFill>
                  </a:tcPr>
                </a:tc>
                <a:tc>
                  <a:txBody>
                    <a:bodyPr/>
                    <a:lstStyle/>
                    <a:p>
                      <a:pPr algn="ctr"/>
                      <a:r>
                        <a:rPr sz="2100">
                          <a:solidFill>
                            <a:srgbClr val="000000"/>
                          </a:solidFill>
                          <a:latin typeface="Calibri"/>
                          <a:ea typeface="Calibri"/>
                          <a:cs typeface="Calibri"/>
                        </a:rPr>
                        <a:t>Art</a:t>
                      </a:r>
                    </a:p>
                  </a:txBody>
                  <a:tcPr marL="47625" marR="47625" marT="28575" marB="28575" anchor="ctr">
                    <a:solidFill>
                      <a:srgbClr val="FFFFFF"/>
                    </a:solidFill>
                  </a:tcPr>
                </a:tc>
                <a:extLst>
                  <a:ext uri="{0D108BD9-81ED-4DB2-BD59-A6C34878D82A}">
                    <a16:rowId xmlns:a16="http://schemas.microsoft.com/office/drawing/2014/main" val="10004"/>
                  </a:ext>
                </a:extLst>
              </a:tr>
            </a:tbl>
          </a:graphicData>
        </a:graphic>
      </p:graphicFrame>
      <p:sp>
        <p:nvSpPr>
          <p:cNvPr id="6" name="body">
            <a:extLst>
              <a:ext uri="{FF2B5EF4-FFF2-40B4-BE49-F238E27FC236}">
                <a16:creationId xmlns:a16="http://schemas.microsoft.com/office/drawing/2014/main" id="{321B3230-5470-4E56-B3B0-21A5B2AB0FDB}"/>
              </a:ext>
            </a:extLst>
          </p:cNvPr>
          <p:cNvSpPr>
            <a:spLocks noGrp="1"/>
          </p:cNvSpPr>
          <p:nvPr/>
        </p:nvSpPr>
        <p:spPr>
          <a:xfrm>
            <a:off x="781050" y="4953000"/>
            <a:ext cx="7600950" cy="952500"/>
          </a:xfrm>
          <a:prstGeom prst="rect">
            <a:avLst/>
          </a:prstGeom>
          <a:noFill/>
          <a:ln w="0">
            <a:noFill/>
          </a:ln>
        </p:spPr>
        <p:txBody>
          <a:bodyPr wrap="square" lIns="0" tIns="0" rIns="0" bIns="0">
            <a:noAutofit/>
          </a:bodyPr>
          <a:lstStyle/>
          <a:p>
            <a:pPr>
              <a:defRPr sz="2250" b="0">
                <a:solidFill>
                  <a:srgbClr val="FF0000"/>
                </a:solidFill>
                <a:latin typeface="Calibri"/>
                <a:ea typeface="Calibri"/>
                <a:cs typeface="Calibri"/>
              </a:defRPr>
            </a:pPr>
            <a:r>
              <a:rPr sz="2250" b="0">
                <a:solidFill>
                  <a:srgbClr val="FF0000"/>
                </a:solidFill>
                <a:latin typeface="Calibri"/>
                <a:ea typeface="Calibri"/>
                <a:cs typeface="Calibri"/>
              </a:rPr>
              <a:t>sid = 1 appears in two different tuples. Only the duplicate (2, Music) collapses.</a:t>
            </a:r>
          </a:p>
        </p:txBody>
      </p:sp>
      <p:sp>
        <p:nvSpPr>
          <p:cNvPr id="9001" name="Title 1">
            <a:extLst>
              <a:ext uri="{FF2B5EF4-FFF2-40B4-BE49-F238E27FC236}">
                <a16:creationId xmlns:a16="http://schemas.microsoft.com/office/drawing/2014/main" id="{4EF27E5C-9C4D-BDBE-7667-D0B141BCC8F5}"/>
              </a:ext>
            </a:extLst>
          </p:cNvPr>
          <p:cNvSpPr>
            <a:spLocks noGrp="1"/>
          </p:cNvSpPr>
          <p:nvPr>
            <p:ph type="title"/>
          </p:nvPr>
        </p:nvSpPr>
        <p:spPr/>
        <p:txBody>
          <a:bodyPr/>
          <a:lstStyle/>
          <a:p>
            <a:r>
              <a:rPr lang="en-US">
                <a:solidFill>
                  <a:srgbClr val="FF0000"/>
                </a:solidFill>
              </a:rPr>
              <a:t>Solutions: </a:t>
            </a:r>
            <a:r>
              <a:rPr lang="en-US">
                <a:solidFill>
                  <a:srgbClr val="3333CC"/>
                </a:solidFill>
              </a:rPr>
              <a:t>Q8</a:t>
            </a:r>
          </a:p>
        </p:txBody>
      </p:sp>
      <p:sp>
        <p:nvSpPr>
          <p:cNvPr id="9002" name="Slide Number Placeholder 1">
            <a:extLst>
              <a:ext uri="{FF2B5EF4-FFF2-40B4-BE49-F238E27FC236}">
                <a16:creationId xmlns:a16="http://schemas.microsoft.com/office/drawing/2014/main" id="{B90139AC-3BDA-723A-097A-000DA0A784C1}"/>
              </a:ext>
            </a:extLst>
          </p:cNvPr>
          <p:cNvSpPr>
            <a:spLocks noGrp="1"/>
          </p:cNvSpPr>
          <p:nvPr>
            <p:ph type="sldNum" sz="quarter" idx="12"/>
          </p:nvPr>
        </p:nvSpPr>
        <p:spPr/>
        <p:txBody>
          <a:bodyPr/>
          <a:lstStyle/>
          <a:p>
            <a:pPr>
              <a:defRPr/>
            </a:pPr>
            <a:fld id="{43CA101F-9E5F-9249-9862-3CE55B3BB777}" type="slidenum">
              <a:rPr lang="en-US" altLang="zh-TW" smtClean="0"/>
              <a:pPr>
                <a:defRPr/>
              </a:pPr>
              <a:t>23</a:t>
            </a:fld>
            <a:endParaRPr lang="en-US" altLang="zh-TW"/>
          </a:p>
        </p:txBody>
      </p:sp>
    </p:spTree>
    <p:extLst>
      <p:ext uri="{BB962C8B-B14F-4D97-AF65-F5344CB8AC3E}">
        <p14:creationId xmlns:p14="http://schemas.microsoft.com/office/powerpoint/2010/main" val="95715249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formula">
            <a:extLst>
              <a:ext uri="{FF2B5EF4-FFF2-40B4-BE49-F238E27FC236}">
                <a16:creationId xmlns:a16="http://schemas.microsoft.com/office/drawing/2014/main" id="{EA46D09E-3FF0-4347-8CAB-7D0016E639E5}"/>
              </a:ext>
            </a:extLst>
          </p:cNvPr>
          <p:cNvSpPr>
            <a:spLocks noGrp="1"/>
          </p:cNvSpPr>
          <p:nvPr/>
        </p:nvSpPr>
        <p:spPr>
          <a:xfrm>
            <a:off x="1104900" y="1133475"/>
            <a:ext cx="6953250" cy="523875"/>
          </a:xfrm>
          <a:prstGeom prst="rect">
            <a:avLst/>
          </a:prstGeom>
          <a:noFill/>
          <a:ln w="0">
            <a:noFill/>
          </a:ln>
        </p:spPr>
        <p:txBody>
          <a:bodyPr wrap="square" lIns="0" tIns="0" rIns="0" bIns="0">
            <a:noAutofit/>
          </a:bodyPr>
          <a:lstStyle/>
          <a:p>
            <a:pPr>
              <a:defRPr sz="2850" b="0">
                <a:solidFill>
                  <a:srgbClr val="000000"/>
                </a:solidFill>
                <a:latin typeface="Cambria Math"/>
                <a:ea typeface="Cambria Math"/>
                <a:cs typeface="Cambria Math"/>
              </a:defRPr>
            </a:pPr>
            <a:r>
              <a:rPr sz="2850" b="0">
                <a:solidFill>
                  <a:srgbClr val="000000"/>
                </a:solidFill>
                <a:latin typeface="Cambria Math"/>
                <a:ea typeface="Cambria Math"/>
                <a:cs typeface="Cambria Math"/>
              </a:rPr>
              <a:t>R − S</a:t>
            </a:r>
          </a:p>
        </p:txBody>
      </p:sp>
      <p:sp>
        <p:nvSpPr>
          <p:cNvPr id="4" name="body">
            <a:extLst>
              <a:ext uri="{FF2B5EF4-FFF2-40B4-BE49-F238E27FC236}">
                <a16:creationId xmlns:a16="http://schemas.microsoft.com/office/drawing/2014/main" id="{31082FF8-456F-4745-980F-5FA380B124FF}"/>
              </a:ext>
            </a:extLst>
          </p:cNvPr>
          <p:cNvSpPr>
            <a:spLocks noGrp="1"/>
          </p:cNvSpPr>
          <p:nvPr/>
        </p:nvSpPr>
        <p:spPr>
          <a:xfrm>
            <a:off x="781050" y="2076450"/>
            <a:ext cx="219075" cy="400050"/>
          </a:xfrm>
          <a:prstGeom prst="rect">
            <a:avLst/>
          </a:prstGeom>
          <a:noFill/>
          <a:ln w="0">
            <a:noFill/>
          </a:ln>
        </p:spPr>
        <p:txBody>
          <a:bodyPr wrap="square" lIns="0" tIns="0" rIns="0" bIns="0">
            <a:noAutofit/>
          </a:bodyPr>
          <a:lstStyle/>
          <a:p>
            <a:pPr>
              <a:defRPr sz="2250" b="0">
                <a:solidFill>
                  <a:srgbClr val="000000"/>
                </a:solidFill>
                <a:latin typeface="Calibri"/>
                <a:ea typeface="Calibri"/>
                <a:cs typeface="Calibri"/>
              </a:defRPr>
            </a:pPr>
            <a:r>
              <a:rPr sz="2250" b="0">
                <a:solidFill>
                  <a:srgbClr val="000000"/>
                </a:solidFill>
                <a:latin typeface="Calibri"/>
                <a:ea typeface="Calibri"/>
                <a:cs typeface="Calibri"/>
              </a:rPr>
              <a:t>•</a:t>
            </a:r>
          </a:p>
        </p:txBody>
      </p:sp>
      <p:sp>
        <p:nvSpPr>
          <p:cNvPr id="5" name="body">
            <a:extLst>
              <a:ext uri="{FF2B5EF4-FFF2-40B4-BE49-F238E27FC236}">
                <a16:creationId xmlns:a16="http://schemas.microsoft.com/office/drawing/2014/main" id="{3F974764-0075-480C-AEFF-BDB52F6AB550}"/>
              </a:ext>
            </a:extLst>
          </p:cNvPr>
          <p:cNvSpPr>
            <a:spLocks noGrp="1"/>
          </p:cNvSpPr>
          <p:nvPr/>
        </p:nvSpPr>
        <p:spPr>
          <a:xfrm>
            <a:off x="1104900" y="2076450"/>
            <a:ext cx="7239000" cy="952500"/>
          </a:xfrm>
          <a:prstGeom prst="rect">
            <a:avLst/>
          </a:prstGeom>
          <a:noFill/>
          <a:ln w="0">
            <a:noFill/>
          </a:ln>
        </p:spPr>
        <p:txBody>
          <a:bodyPr wrap="square" lIns="0" tIns="0" rIns="0" bIns="0">
            <a:noAutofit/>
          </a:bodyPr>
          <a:lstStyle/>
          <a:p>
            <a:pPr>
              <a:defRPr sz="2250" b="0">
                <a:solidFill>
                  <a:srgbClr val="000000"/>
                </a:solidFill>
                <a:latin typeface="Calibri"/>
                <a:ea typeface="Calibri"/>
                <a:cs typeface="Calibri"/>
              </a:defRPr>
            </a:pPr>
            <a:r>
              <a:rPr sz="2250" b="0">
                <a:solidFill>
                  <a:srgbClr val="000000"/>
                </a:solidFill>
                <a:latin typeface="Calibri"/>
                <a:ea typeface="Calibri"/>
                <a:cs typeface="Calibri"/>
              </a:rPr>
              <a:t>Keep tuples that occur in R and do not occur in S.</a:t>
            </a:r>
          </a:p>
        </p:txBody>
      </p:sp>
      <p:sp>
        <p:nvSpPr>
          <p:cNvPr id="6" name="body">
            <a:extLst>
              <a:ext uri="{FF2B5EF4-FFF2-40B4-BE49-F238E27FC236}">
                <a16:creationId xmlns:a16="http://schemas.microsoft.com/office/drawing/2014/main" id="{C66B37B1-120F-4652-9E8F-83C84ECE717C}"/>
              </a:ext>
            </a:extLst>
          </p:cNvPr>
          <p:cNvSpPr>
            <a:spLocks noGrp="1"/>
          </p:cNvSpPr>
          <p:nvPr/>
        </p:nvSpPr>
        <p:spPr>
          <a:xfrm>
            <a:off x="781050" y="2981325"/>
            <a:ext cx="219075" cy="400050"/>
          </a:xfrm>
          <a:prstGeom prst="rect">
            <a:avLst/>
          </a:prstGeom>
          <a:noFill/>
          <a:ln w="0">
            <a:noFill/>
          </a:ln>
        </p:spPr>
        <p:txBody>
          <a:bodyPr wrap="square" lIns="0" tIns="0" rIns="0" bIns="0">
            <a:noAutofit/>
          </a:bodyPr>
          <a:lstStyle/>
          <a:p>
            <a:pPr>
              <a:defRPr sz="2250" b="0">
                <a:solidFill>
                  <a:srgbClr val="000000"/>
                </a:solidFill>
                <a:latin typeface="Calibri"/>
                <a:ea typeface="Calibri"/>
                <a:cs typeface="Calibri"/>
              </a:defRPr>
            </a:pPr>
            <a:r>
              <a:rPr sz="2250" b="0">
                <a:solidFill>
                  <a:srgbClr val="000000"/>
                </a:solidFill>
                <a:latin typeface="Calibri"/>
                <a:ea typeface="Calibri"/>
                <a:cs typeface="Calibri"/>
              </a:rPr>
              <a:t>•</a:t>
            </a:r>
          </a:p>
        </p:txBody>
      </p:sp>
      <p:sp>
        <p:nvSpPr>
          <p:cNvPr id="7" name="body">
            <a:extLst>
              <a:ext uri="{FF2B5EF4-FFF2-40B4-BE49-F238E27FC236}">
                <a16:creationId xmlns:a16="http://schemas.microsoft.com/office/drawing/2014/main" id="{2A9F8130-831C-4192-AA41-B5A8837E0426}"/>
              </a:ext>
            </a:extLst>
          </p:cNvPr>
          <p:cNvSpPr>
            <a:spLocks noGrp="1"/>
          </p:cNvSpPr>
          <p:nvPr/>
        </p:nvSpPr>
        <p:spPr>
          <a:xfrm>
            <a:off x="1104900" y="2981325"/>
            <a:ext cx="7239000" cy="952500"/>
          </a:xfrm>
          <a:prstGeom prst="rect">
            <a:avLst/>
          </a:prstGeom>
          <a:noFill/>
          <a:ln w="0">
            <a:noFill/>
          </a:ln>
        </p:spPr>
        <p:txBody>
          <a:bodyPr wrap="square" lIns="0" tIns="0" rIns="0" bIns="0">
            <a:noAutofit/>
          </a:bodyPr>
          <a:lstStyle/>
          <a:p>
            <a:pPr>
              <a:defRPr sz="2250" b="0">
                <a:solidFill>
                  <a:srgbClr val="000000"/>
                </a:solidFill>
                <a:latin typeface="Calibri"/>
                <a:ea typeface="Calibri"/>
                <a:cs typeface="Calibri"/>
              </a:defRPr>
            </a:pPr>
            <a:r>
              <a:rPr sz="2250" b="0">
                <a:solidFill>
                  <a:srgbClr val="000000"/>
                </a:solidFill>
                <a:latin typeface="Calibri"/>
                <a:ea typeface="Calibri"/>
                <a:cs typeface="Calibri"/>
              </a:rPr>
              <a:t>R and S must be union-compatible.</a:t>
            </a:r>
          </a:p>
        </p:txBody>
      </p:sp>
      <p:sp>
        <p:nvSpPr>
          <p:cNvPr id="8" name="body">
            <a:extLst>
              <a:ext uri="{FF2B5EF4-FFF2-40B4-BE49-F238E27FC236}">
                <a16:creationId xmlns:a16="http://schemas.microsoft.com/office/drawing/2014/main" id="{D052C1E6-078B-4D1E-80BD-AB8C146A8EAA}"/>
              </a:ext>
            </a:extLst>
          </p:cNvPr>
          <p:cNvSpPr>
            <a:spLocks noGrp="1"/>
          </p:cNvSpPr>
          <p:nvPr/>
        </p:nvSpPr>
        <p:spPr>
          <a:xfrm>
            <a:off x="781050" y="3829050"/>
            <a:ext cx="219075" cy="400050"/>
          </a:xfrm>
          <a:prstGeom prst="rect">
            <a:avLst/>
          </a:prstGeom>
          <a:noFill/>
          <a:ln w="0">
            <a:noFill/>
          </a:ln>
        </p:spPr>
        <p:txBody>
          <a:bodyPr wrap="square" lIns="0" tIns="0" rIns="0" bIns="0">
            <a:noAutofit/>
          </a:bodyPr>
          <a:lstStyle/>
          <a:p>
            <a:pPr>
              <a:defRPr sz="2250" b="0">
                <a:solidFill>
                  <a:srgbClr val="000000"/>
                </a:solidFill>
                <a:latin typeface="Calibri"/>
                <a:ea typeface="Calibri"/>
                <a:cs typeface="Calibri"/>
              </a:defRPr>
            </a:pPr>
            <a:r>
              <a:rPr sz="2250" b="0">
                <a:solidFill>
                  <a:srgbClr val="000000"/>
                </a:solidFill>
                <a:latin typeface="Calibri"/>
                <a:ea typeface="Calibri"/>
                <a:cs typeface="Calibri"/>
              </a:rPr>
              <a:t>•</a:t>
            </a:r>
          </a:p>
        </p:txBody>
      </p:sp>
      <p:sp>
        <p:nvSpPr>
          <p:cNvPr id="9" name="body">
            <a:extLst>
              <a:ext uri="{FF2B5EF4-FFF2-40B4-BE49-F238E27FC236}">
                <a16:creationId xmlns:a16="http://schemas.microsoft.com/office/drawing/2014/main" id="{CB8C0540-7B03-45B3-9C66-D3F4D5B1595A}"/>
              </a:ext>
            </a:extLst>
          </p:cNvPr>
          <p:cNvSpPr>
            <a:spLocks noGrp="1"/>
          </p:cNvSpPr>
          <p:nvPr/>
        </p:nvSpPr>
        <p:spPr>
          <a:xfrm>
            <a:off x="1104900" y="3829050"/>
            <a:ext cx="7239000" cy="952500"/>
          </a:xfrm>
          <a:prstGeom prst="rect">
            <a:avLst/>
          </a:prstGeom>
          <a:noFill/>
          <a:ln w="0">
            <a:noFill/>
          </a:ln>
        </p:spPr>
        <p:txBody>
          <a:bodyPr wrap="square" lIns="0" tIns="0" rIns="0" bIns="0">
            <a:noAutofit/>
          </a:bodyPr>
          <a:lstStyle/>
          <a:p>
            <a:pPr>
              <a:defRPr sz="2250" b="0">
                <a:solidFill>
                  <a:srgbClr val="000000"/>
                </a:solidFill>
                <a:latin typeface="Calibri"/>
                <a:ea typeface="Calibri"/>
                <a:cs typeface="Calibri"/>
              </a:defRPr>
            </a:pPr>
            <a:r>
              <a:rPr sz="2250" b="0">
                <a:solidFill>
                  <a:srgbClr val="000000"/>
                </a:solidFill>
                <a:latin typeface="Calibri"/>
                <a:ea typeface="Calibri"/>
                <a:cs typeface="Calibri"/>
              </a:rPr>
              <a:t>The result uses the schema of R.</a:t>
            </a:r>
          </a:p>
        </p:txBody>
      </p:sp>
      <p:sp>
        <p:nvSpPr>
          <p:cNvPr id="10" name="body">
            <a:extLst>
              <a:ext uri="{FF2B5EF4-FFF2-40B4-BE49-F238E27FC236}">
                <a16:creationId xmlns:a16="http://schemas.microsoft.com/office/drawing/2014/main" id="{5E50AE03-0DB2-4C13-B2FE-3BEBC06843AD}"/>
              </a:ext>
            </a:extLst>
          </p:cNvPr>
          <p:cNvSpPr>
            <a:spLocks noGrp="1"/>
          </p:cNvSpPr>
          <p:nvPr/>
        </p:nvSpPr>
        <p:spPr>
          <a:xfrm>
            <a:off x="781050" y="4905375"/>
            <a:ext cx="7600950" cy="952500"/>
          </a:xfrm>
          <a:prstGeom prst="rect">
            <a:avLst/>
          </a:prstGeom>
          <a:noFill/>
          <a:ln w="0">
            <a:noFill/>
          </a:ln>
        </p:spPr>
        <p:txBody>
          <a:bodyPr wrap="square" lIns="0" tIns="0" rIns="0" bIns="0">
            <a:noAutofit/>
          </a:bodyPr>
          <a:lstStyle/>
          <a:p>
            <a:pPr>
              <a:defRPr sz="2475" b="0">
                <a:solidFill>
                  <a:srgbClr val="FF0000"/>
                </a:solidFill>
                <a:latin typeface="Calibri"/>
                <a:ea typeface="Calibri"/>
                <a:cs typeface="Calibri"/>
              </a:defRPr>
            </a:pPr>
            <a:r>
              <a:rPr sz="2475" b="0">
                <a:solidFill>
                  <a:srgbClr val="FF0000"/>
                </a:solidFill>
                <a:latin typeface="Calibri"/>
                <a:ea typeface="Calibri"/>
                <a:cs typeface="Calibri"/>
              </a:rPr>
              <a:t>In general, R − S ≠ S − R.</a:t>
            </a:r>
          </a:p>
        </p:txBody>
      </p:sp>
      <p:sp>
        <p:nvSpPr>
          <p:cNvPr id="9001" name="Title 1">
            <a:extLst>
              <a:ext uri="{FF2B5EF4-FFF2-40B4-BE49-F238E27FC236}">
                <a16:creationId xmlns:a16="http://schemas.microsoft.com/office/drawing/2014/main" id="{4EF27E5C-9C4D-BDBE-7667-D0B141BCC8F5}"/>
              </a:ext>
            </a:extLst>
          </p:cNvPr>
          <p:cNvSpPr>
            <a:spLocks noGrp="1"/>
          </p:cNvSpPr>
          <p:nvPr>
            <p:ph type="title"/>
          </p:nvPr>
        </p:nvSpPr>
        <p:spPr/>
        <p:txBody>
          <a:bodyPr/>
          <a:lstStyle/>
          <a:p>
            <a:r>
              <a:rPr lang="en-US">
                <a:solidFill>
                  <a:srgbClr val="3333CC"/>
                </a:solidFill>
              </a:rPr>
              <a:t>Set Difference Operation</a:t>
            </a:r>
          </a:p>
        </p:txBody>
      </p:sp>
      <p:sp>
        <p:nvSpPr>
          <p:cNvPr id="9002" name="Slide Number Placeholder 1">
            <a:extLst>
              <a:ext uri="{FF2B5EF4-FFF2-40B4-BE49-F238E27FC236}">
                <a16:creationId xmlns:a16="http://schemas.microsoft.com/office/drawing/2014/main" id="{B90139AC-3BDA-723A-097A-000DA0A784C1}"/>
              </a:ext>
            </a:extLst>
          </p:cNvPr>
          <p:cNvSpPr>
            <a:spLocks noGrp="1"/>
          </p:cNvSpPr>
          <p:nvPr>
            <p:ph type="sldNum" sz="quarter" idx="12"/>
          </p:nvPr>
        </p:nvSpPr>
        <p:spPr/>
        <p:txBody>
          <a:bodyPr/>
          <a:lstStyle/>
          <a:p>
            <a:pPr>
              <a:defRPr/>
            </a:pPr>
            <a:fld id="{43CA101F-9E5F-9249-9862-3CE55B3BB777}" type="slidenum">
              <a:rPr lang="en-US" altLang="zh-TW" smtClean="0"/>
              <a:pPr>
                <a:defRPr/>
              </a:pPr>
              <a:t>24</a:t>
            </a:fld>
            <a:endParaRPr lang="en-US" altLang="zh-TW"/>
          </a:p>
        </p:txBody>
      </p:sp>
    </p:spTree>
    <p:extLst>
      <p:ext uri="{BB962C8B-B14F-4D97-AF65-F5344CB8AC3E}">
        <p14:creationId xmlns:p14="http://schemas.microsoft.com/office/powerpoint/2010/main" val="30888162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body">
            <a:extLst>
              <a:ext uri="{FF2B5EF4-FFF2-40B4-BE49-F238E27FC236}">
                <a16:creationId xmlns:a16="http://schemas.microsoft.com/office/drawing/2014/main" id="{B21AE8E6-69A1-4710-9E97-AD3006723614}"/>
              </a:ext>
            </a:extLst>
          </p:cNvPr>
          <p:cNvSpPr>
            <a:spLocks noGrp="1"/>
          </p:cNvSpPr>
          <p:nvPr/>
        </p:nvSpPr>
        <p:spPr>
          <a:xfrm>
            <a:off x="781050" y="5876925"/>
            <a:ext cx="7620000" cy="285750"/>
          </a:xfrm>
          <a:prstGeom prst="rect">
            <a:avLst/>
          </a:prstGeom>
          <a:noFill/>
          <a:ln w="0">
            <a:noFill/>
          </a:ln>
        </p:spPr>
        <p:txBody>
          <a:bodyPr wrap="square" lIns="0" tIns="0" rIns="0" bIns="0">
            <a:noAutofit/>
          </a:bodyPr>
          <a:lstStyle/>
          <a:p>
            <a:pPr>
              <a:defRPr sz="1725" b="0">
                <a:solidFill>
                  <a:srgbClr val="3333CC"/>
                </a:solidFill>
                <a:latin typeface="Calibri"/>
                <a:ea typeface="Calibri"/>
                <a:cs typeface="Calibri"/>
              </a:defRPr>
            </a:pPr>
            <a:r>
              <a:rPr sz="1725" b="0">
                <a:solidFill>
                  <a:srgbClr val="3333CC"/>
                </a:solidFill>
                <a:latin typeface="Calibri"/>
                <a:ea typeface="Calibri"/>
                <a:cs typeface="Calibri"/>
              </a:rPr>
              <a:t>Think: 30 s</a:t>
            </a:r>
          </a:p>
        </p:txBody>
      </p:sp>
      <p:sp>
        <p:nvSpPr>
          <p:cNvPr id="4" name="矩形 3">
            <a:extLst>
              <a:ext uri="{FF2B5EF4-FFF2-40B4-BE49-F238E27FC236}">
                <a16:creationId xmlns:a16="http://schemas.microsoft.com/office/drawing/2014/main" id="{1A26F4A9-6FCD-46A9-9C5F-E790C5227CCA}"/>
              </a:ext>
            </a:extLst>
          </p:cNvPr>
          <p:cNvSpPr>
            <a:spLocks noGrp="1"/>
          </p:cNvSpPr>
          <p:nvPr/>
        </p:nvSpPr>
        <p:spPr>
          <a:xfrm>
            <a:off x="5962650" y="962025"/>
            <a:ext cx="2428875" cy="647700"/>
          </a:xfrm>
          <a:prstGeom prst="rect">
            <a:avLst/>
          </a:prstGeom>
          <a:solidFill>
            <a:srgbClr val="BFE7EF"/>
          </a:solidFill>
          <a:ln w="0">
            <a:noFill/>
          </a:ln>
        </p:spPr>
      </p:sp>
      <p:sp>
        <p:nvSpPr>
          <p:cNvPr id="5" name="formula">
            <a:extLst>
              <a:ext uri="{FF2B5EF4-FFF2-40B4-BE49-F238E27FC236}">
                <a16:creationId xmlns:a16="http://schemas.microsoft.com/office/drawing/2014/main" id="{28E06C11-7937-4DA2-8DF9-4538D4683239}"/>
              </a:ext>
            </a:extLst>
          </p:cNvPr>
          <p:cNvSpPr>
            <a:spLocks noGrp="1"/>
          </p:cNvSpPr>
          <p:nvPr/>
        </p:nvSpPr>
        <p:spPr>
          <a:xfrm>
            <a:off x="6096000" y="1095375"/>
            <a:ext cx="2152650" cy="419100"/>
          </a:xfrm>
          <a:prstGeom prst="rect">
            <a:avLst/>
          </a:prstGeom>
          <a:noFill/>
          <a:ln w="0">
            <a:noFill/>
          </a:ln>
        </p:spPr>
        <p:txBody>
          <a:bodyPr wrap="square" lIns="0" tIns="0" rIns="0" bIns="0">
            <a:noAutofit/>
          </a:bodyPr>
          <a:lstStyle/>
          <a:p>
            <a:pPr>
              <a:defRPr sz="2100" b="0">
                <a:solidFill>
                  <a:srgbClr val="000000"/>
                </a:solidFill>
                <a:latin typeface="Cambria Math"/>
                <a:ea typeface="Cambria Math"/>
                <a:cs typeface="Cambria Math"/>
              </a:defRPr>
            </a:pPr>
            <a:r>
              <a:rPr sz="2100" b="0">
                <a:solidFill>
                  <a:srgbClr val="000000"/>
                </a:solidFill>
                <a:latin typeface="Cambria Math"/>
                <a:ea typeface="Cambria Math"/>
                <a:cs typeface="Cambria Math"/>
              </a:rPr>
              <a:t>R − S</a:t>
            </a:r>
          </a:p>
        </p:txBody>
      </p:sp>
      <p:sp>
        <p:nvSpPr>
          <p:cNvPr id="6" name="body">
            <a:extLst>
              <a:ext uri="{FF2B5EF4-FFF2-40B4-BE49-F238E27FC236}">
                <a16:creationId xmlns:a16="http://schemas.microsoft.com/office/drawing/2014/main" id="{CF62BF09-8D87-4DC7-8F97-AFEB32BE1411}"/>
              </a:ext>
            </a:extLst>
          </p:cNvPr>
          <p:cNvSpPr>
            <a:spLocks noGrp="1"/>
          </p:cNvSpPr>
          <p:nvPr/>
        </p:nvSpPr>
        <p:spPr>
          <a:xfrm>
            <a:off x="1733550" y="1752600"/>
            <a:ext cx="2000250" cy="361950"/>
          </a:xfrm>
          <a:prstGeom prst="rect">
            <a:avLst/>
          </a:prstGeom>
          <a:noFill/>
          <a:ln w="0">
            <a:noFill/>
          </a:ln>
        </p:spPr>
        <p:txBody>
          <a:bodyPr wrap="square" lIns="0" tIns="0" rIns="0" bIns="0">
            <a:noAutofit/>
          </a:bodyPr>
          <a:lstStyle/>
          <a:p>
            <a:pPr>
              <a:defRPr sz="2250" b="0">
                <a:solidFill>
                  <a:srgbClr val="000000"/>
                </a:solidFill>
                <a:latin typeface="Calibri"/>
                <a:ea typeface="Calibri"/>
                <a:cs typeface="Calibri"/>
              </a:defRPr>
            </a:pPr>
            <a:r>
              <a:rPr sz="2250" b="0">
                <a:solidFill>
                  <a:srgbClr val="000000"/>
                </a:solidFill>
                <a:latin typeface="Calibri"/>
                <a:ea typeface="Calibri"/>
                <a:cs typeface="Calibri"/>
              </a:rPr>
              <a:t>Hack(mid)</a:t>
            </a:r>
          </a:p>
        </p:txBody>
      </p:sp>
      <p:graphicFrame>
        <p:nvGraphicFramePr>
          <p:cNvPr id="18" name="表格 17"/>
          <p:cNvGraphicFramePr/>
          <p:nvPr/>
        </p:nvGraphicFramePr>
        <p:xfrm>
          <a:off x="1809750" y="2171700"/>
          <a:ext cx="2000250" cy="1752600"/>
        </p:xfrm>
        <a:graphic>
          <a:graphicData uri="http://schemas.openxmlformats.org/drawingml/2006/table">
            <a:tbl>
              <a:tblPr/>
              <a:tblGrid>
                <a:gridCol w="2000250">
                  <a:extLst>
                    <a:ext uri="{9D8B030D-6E8A-4147-A177-3AD203B41FA5}">
                      <a16:colId xmlns:a16="http://schemas.microsoft.com/office/drawing/2014/main" val="20000"/>
                    </a:ext>
                  </a:extLst>
                </a:gridCol>
              </a:tblGrid>
              <a:tr h="438150">
                <a:tc>
                  <a:txBody>
                    <a:bodyPr/>
                    <a:lstStyle/>
                    <a:p>
                      <a:pPr algn="ctr"/>
                      <a:r>
                        <a:rPr sz="2100">
                          <a:solidFill>
                            <a:srgbClr val="000000"/>
                          </a:solidFill>
                          <a:latin typeface="Calibri"/>
                          <a:ea typeface="Calibri"/>
                          <a:cs typeface="Calibri"/>
                        </a:rPr>
                        <a:t>mid</a:t>
                      </a:r>
                    </a:p>
                  </a:txBody>
                  <a:tcPr marL="47625" marR="47625" marT="28575" marB="28575" anchor="ctr">
                    <a:solidFill>
                      <a:srgbClr val="D9D9D9"/>
                    </a:solidFill>
                  </a:tcPr>
                </a:tc>
                <a:extLst>
                  <a:ext uri="{0D108BD9-81ED-4DB2-BD59-A6C34878D82A}">
                    <a16:rowId xmlns:a16="http://schemas.microsoft.com/office/drawing/2014/main" val="10000"/>
                  </a:ext>
                </a:extLst>
              </a:tr>
              <a:tr h="438150">
                <a:tc>
                  <a:txBody>
                    <a:bodyPr/>
                    <a:lstStyle/>
                    <a:p>
                      <a:pPr algn="ctr"/>
                      <a:r>
                        <a:rPr sz="2100">
                          <a:solidFill>
                            <a:srgbClr val="000000"/>
                          </a:solidFill>
                          <a:latin typeface="Calibri"/>
                          <a:ea typeface="Calibri"/>
                          <a:cs typeface="Calibri"/>
                        </a:rPr>
                        <a:t>1</a:t>
                      </a:r>
                    </a:p>
                  </a:txBody>
                  <a:tcPr marL="47625" marR="47625" marT="28575" marB="28575" anchor="ctr">
                    <a:solidFill>
                      <a:srgbClr val="FFFFFF"/>
                    </a:solidFill>
                  </a:tcPr>
                </a:tc>
                <a:extLst>
                  <a:ext uri="{0D108BD9-81ED-4DB2-BD59-A6C34878D82A}">
                    <a16:rowId xmlns:a16="http://schemas.microsoft.com/office/drawing/2014/main" val="10001"/>
                  </a:ext>
                </a:extLst>
              </a:tr>
              <a:tr h="438150">
                <a:tc>
                  <a:txBody>
                    <a:bodyPr/>
                    <a:lstStyle/>
                    <a:p>
                      <a:pPr algn="ctr"/>
                      <a:r>
                        <a:rPr sz="2100">
                          <a:solidFill>
                            <a:srgbClr val="000000"/>
                          </a:solidFill>
                          <a:latin typeface="Calibri"/>
                          <a:ea typeface="Calibri"/>
                          <a:cs typeface="Calibri"/>
                        </a:rPr>
                        <a:t>2</a:t>
                      </a:r>
                    </a:p>
                  </a:txBody>
                  <a:tcPr marL="47625" marR="47625" marT="28575" marB="28575" anchor="ctr">
                    <a:solidFill>
                      <a:srgbClr val="FFFFFF"/>
                    </a:solidFill>
                  </a:tcPr>
                </a:tc>
                <a:extLst>
                  <a:ext uri="{0D108BD9-81ED-4DB2-BD59-A6C34878D82A}">
                    <a16:rowId xmlns:a16="http://schemas.microsoft.com/office/drawing/2014/main" val="10002"/>
                  </a:ext>
                </a:extLst>
              </a:tr>
              <a:tr h="438150">
                <a:tc>
                  <a:txBody>
                    <a:bodyPr/>
                    <a:lstStyle/>
                    <a:p>
                      <a:pPr algn="ctr"/>
                      <a:r>
                        <a:rPr sz="2100">
                          <a:solidFill>
                            <a:srgbClr val="000000"/>
                          </a:solidFill>
                          <a:latin typeface="Calibri"/>
                          <a:ea typeface="Calibri"/>
                          <a:cs typeface="Calibri"/>
                        </a:rPr>
                        <a:t>4</a:t>
                      </a:r>
                    </a:p>
                  </a:txBody>
                  <a:tcPr marL="47625" marR="47625" marT="28575" marB="28575" anchor="ctr">
                    <a:solidFill>
                      <a:srgbClr val="FFFFFF"/>
                    </a:solidFill>
                  </a:tcPr>
                </a:tc>
                <a:extLst>
                  <a:ext uri="{0D108BD9-81ED-4DB2-BD59-A6C34878D82A}">
                    <a16:rowId xmlns:a16="http://schemas.microsoft.com/office/drawing/2014/main" val="10003"/>
                  </a:ext>
                </a:extLst>
              </a:tr>
            </a:tbl>
          </a:graphicData>
        </a:graphic>
      </p:graphicFrame>
      <p:sp>
        <p:nvSpPr>
          <p:cNvPr id="8" name="body">
            <a:extLst>
              <a:ext uri="{FF2B5EF4-FFF2-40B4-BE49-F238E27FC236}">
                <a16:creationId xmlns:a16="http://schemas.microsoft.com/office/drawing/2014/main" id="{5C130B7B-9EA8-44D8-B44B-8325C3782B2F}"/>
              </a:ext>
            </a:extLst>
          </p:cNvPr>
          <p:cNvSpPr>
            <a:spLocks noGrp="1"/>
          </p:cNvSpPr>
          <p:nvPr/>
        </p:nvSpPr>
        <p:spPr>
          <a:xfrm>
            <a:off x="5210175" y="1752600"/>
            <a:ext cx="2000250" cy="361950"/>
          </a:xfrm>
          <a:prstGeom prst="rect">
            <a:avLst/>
          </a:prstGeom>
          <a:noFill/>
          <a:ln w="0">
            <a:noFill/>
          </a:ln>
        </p:spPr>
        <p:txBody>
          <a:bodyPr wrap="square" lIns="0" tIns="0" rIns="0" bIns="0">
            <a:noAutofit/>
          </a:bodyPr>
          <a:lstStyle/>
          <a:p>
            <a:pPr>
              <a:defRPr sz="2250" b="0">
                <a:solidFill>
                  <a:srgbClr val="000000"/>
                </a:solidFill>
                <a:latin typeface="Calibri"/>
                <a:ea typeface="Calibri"/>
                <a:cs typeface="Calibri"/>
              </a:defRPr>
            </a:pPr>
            <a:r>
              <a:rPr sz="2250" b="0">
                <a:solidFill>
                  <a:srgbClr val="000000"/>
                </a:solidFill>
                <a:latin typeface="Calibri"/>
                <a:ea typeface="Calibri"/>
                <a:cs typeface="Calibri"/>
              </a:rPr>
              <a:t>Design(mid)</a:t>
            </a:r>
          </a:p>
        </p:txBody>
      </p:sp>
      <p:graphicFrame>
        <p:nvGraphicFramePr>
          <p:cNvPr id="20" name="表格 19"/>
          <p:cNvGraphicFramePr/>
          <p:nvPr/>
        </p:nvGraphicFramePr>
        <p:xfrm>
          <a:off x="5286375" y="2171700"/>
          <a:ext cx="2000250" cy="1752600"/>
        </p:xfrm>
        <a:graphic>
          <a:graphicData uri="http://schemas.openxmlformats.org/drawingml/2006/table">
            <a:tbl>
              <a:tblPr/>
              <a:tblGrid>
                <a:gridCol w="2000250">
                  <a:extLst>
                    <a:ext uri="{9D8B030D-6E8A-4147-A177-3AD203B41FA5}">
                      <a16:colId xmlns:a16="http://schemas.microsoft.com/office/drawing/2014/main" val="20000"/>
                    </a:ext>
                  </a:extLst>
                </a:gridCol>
              </a:tblGrid>
              <a:tr h="438150">
                <a:tc>
                  <a:txBody>
                    <a:bodyPr/>
                    <a:lstStyle/>
                    <a:p>
                      <a:pPr algn="ctr"/>
                      <a:r>
                        <a:rPr sz="2100">
                          <a:solidFill>
                            <a:srgbClr val="000000"/>
                          </a:solidFill>
                          <a:latin typeface="Calibri"/>
                          <a:ea typeface="Calibri"/>
                          <a:cs typeface="Calibri"/>
                        </a:rPr>
                        <a:t>mid</a:t>
                      </a:r>
                    </a:p>
                  </a:txBody>
                  <a:tcPr marL="47625" marR="47625" marT="28575" marB="28575" anchor="ctr">
                    <a:solidFill>
                      <a:srgbClr val="D9D9D9"/>
                    </a:solidFill>
                  </a:tcPr>
                </a:tc>
                <a:extLst>
                  <a:ext uri="{0D108BD9-81ED-4DB2-BD59-A6C34878D82A}">
                    <a16:rowId xmlns:a16="http://schemas.microsoft.com/office/drawing/2014/main" val="10000"/>
                  </a:ext>
                </a:extLst>
              </a:tr>
              <a:tr h="438150">
                <a:tc>
                  <a:txBody>
                    <a:bodyPr/>
                    <a:lstStyle/>
                    <a:p>
                      <a:pPr algn="ctr"/>
                      <a:r>
                        <a:rPr sz="2100">
                          <a:solidFill>
                            <a:srgbClr val="000000"/>
                          </a:solidFill>
                          <a:latin typeface="Calibri"/>
                          <a:ea typeface="Calibri"/>
                          <a:cs typeface="Calibri"/>
                        </a:rPr>
                        <a:t>2</a:t>
                      </a:r>
                    </a:p>
                  </a:txBody>
                  <a:tcPr marL="47625" marR="47625" marT="28575" marB="28575" anchor="ctr">
                    <a:solidFill>
                      <a:srgbClr val="FFFFFF"/>
                    </a:solidFill>
                  </a:tcPr>
                </a:tc>
                <a:extLst>
                  <a:ext uri="{0D108BD9-81ED-4DB2-BD59-A6C34878D82A}">
                    <a16:rowId xmlns:a16="http://schemas.microsoft.com/office/drawing/2014/main" val="10001"/>
                  </a:ext>
                </a:extLst>
              </a:tr>
              <a:tr h="438150">
                <a:tc>
                  <a:txBody>
                    <a:bodyPr/>
                    <a:lstStyle/>
                    <a:p>
                      <a:pPr algn="ctr"/>
                      <a:r>
                        <a:rPr sz="2100">
                          <a:solidFill>
                            <a:srgbClr val="000000"/>
                          </a:solidFill>
                          <a:latin typeface="Calibri"/>
                          <a:ea typeface="Calibri"/>
                          <a:cs typeface="Calibri"/>
                        </a:rPr>
                        <a:t>3</a:t>
                      </a:r>
                    </a:p>
                  </a:txBody>
                  <a:tcPr marL="47625" marR="47625" marT="28575" marB="28575" anchor="ctr">
                    <a:solidFill>
                      <a:srgbClr val="FFFFFF"/>
                    </a:solidFill>
                  </a:tcPr>
                </a:tc>
                <a:extLst>
                  <a:ext uri="{0D108BD9-81ED-4DB2-BD59-A6C34878D82A}">
                    <a16:rowId xmlns:a16="http://schemas.microsoft.com/office/drawing/2014/main" val="10002"/>
                  </a:ext>
                </a:extLst>
              </a:tr>
              <a:tr h="438150">
                <a:tc>
                  <a:txBody>
                    <a:bodyPr/>
                    <a:lstStyle/>
                    <a:p>
                      <a:pPr algn="ctr"/>
                      <a:r>
                        <a:rPr sz="2100">
                          <a:solidFill>
                            <a:srgbClr val="000000"/>
                          </a:solidFill>
                          <a:latin typeface="Calibri"/>
                          <a:ea typeface="Calibri"/>
                          <a:cs typeface="Calibri"/>
                        </a:rPr>
                        <a:t>4</a:t>
                      </a:r>
                    </a:p>
                  </a:txBody>
                  <a:tcPr marL="47625" marR="47625" marT="28575" marB="28575" anchor="ctr">
                    <a:solidFill>
                      <a:srgbClr val="FFFFFF"/>
                    </a:solidFill>
                  </a:tcPr>
                </a:tc>
                <a:extLst>
                  <a:ext uri="{0D108BD9-81ED-4DB2-BD59-A6C34878D82A}">
                    <a16:rowId xmlns:a16="http://schemas.microsoft.com/office/drawing/2014/main" val="10003"/>
                  </a:ext>
                </a:extLst>
              </a:tr>
            </a:tbl>
          </a:graphicData>
        </a:graphic>
      </p:graphicFrame>
      <p:sp>
        <p:nvSpPr>
          <p:cNvPr id="10" name="body">
            <a:extLst>
              <a:ext uri="{FF2B5EF4-FFF2-40B4-BE49-F238E27FC236}">
                <a16:creationId xmlns:a16="http://schemas.microsoft.com/office/drawing/2014/main" id="{21309A66-524F-4C60-AC92-5973CB188BE2}"/>
              </a:ext>
            </a:extLst>
          </p:cNvPr>
          <p:cNvSpPr>
            <a:spLocks noGrp="1"/>
          </p:cNvSpPr>
          <p:nvPr/>
        </p:nvSpPr>
        <p:spPr>
          <a:xfrm>
            <a:off x="781050" y="4391025"/>
            <a:ext cx="7600950" cy="952500"/>
          </a:xfrm>
          <a:prstGeom prst="rect">
            <a:avLst/>
          </a:prstGeom>
          <a:noFill/>
          <a:ln w="0">
            <a:noFill/>
          </a:ln>
        </p:spPr>
        <p:txBody>
          <a:bodyPr wrap="square" lIns="0" tIns="0" rIns="0" bIns="0">
            <a:noAutofit/>
          </a:bodyPr>
          <a:lstStyle/>
          <a:p>
            <a:pPr>
              <a:defRPr sz="2175" b="0">
                <a:solidFill>
                  <a:srgbClr val="FF0000"/>
                </a:solidFill>
                <a:latin typeface="Calibri"/>
                <a:ea typeface="Calibri"/>
                <a:cs typeface="Calibri"/>
              </a:defRPr>
            </a:pPr>
            <a:r>
              <a:rPr sz="2175" b="0">
                <a:solidFill>
                  <a:srgbClr val="FF0000"/>
                </a:solidFill>
                <a:latin typeface="Calibri"/>
                <a:ea typeface="Calibri"/>
                <a:cs typeface="Calibri"/>
              </a:rPr>
              <a:t>(a) Find members who attended Hack but not Design.</a:t>
            </a:r>
          </a:p>
        </p:txBody>
      </p:sp>
      <p:sp>
        <p:nvSpPr>
          <p:cNvPr id="11" name="body">
            <a:extLst>
              <a:ext uri="{FF2B5EF4-FFF2-40B4-BE49-F238E27FC236}">
                <a16:creationId xmlns:a16="http://schemas.microsoft.com/office/drawing/2014/main" id="{1C3A9B4B-17D8-4D24-B113-6B18933A2532}"/>
              </a:ext>
            </a:extLst>
          </p:cNvPr>
          <p:cNvSpPr>
            <a:spLocks noGrp="1"/>
          </p:cNvSpPr>
          <p:nvPr/>
        </p:nvSpPr>
        <p:spPr>
          <a:xfrm>
            <a:off x="781050" y="5086350"/>
            <a:ext cx="7600950" cy="952500"/>
          </a:xfrm>
          <a:prstGeom prst="rect">
            <a:avLst/>
          </a:prstGeom>
          <a:noFill/>
          <a:ln w="0">
            <a:noFill/>
          </a:ln>
        </p:spPr>
        <p:txBody>
          <a:bodyPr wrap="square" lIns="0" tIns="0" rIns="0" bIns="0">
            <a:noAutofit/>
          </a:bodyPr>
          <a:lstStyle/>
          <a:p>
            <a:pPr>
              <a:defRPr sz="2175" b="0">
                <a:solidFill>
                  <a:srgbClr val="FF0000"/>
                </a:solidFill>
                <a:latin typeface="Calibri"/>
                <a:ea typeface="Calibri"/>
                <a:cs typeface="Calibri"/>
              </a:defRPr>
            </a:pPr>
            <a:r>
              <a:rPr sz="2175" b="0">
                <a:solidFill>
                  <a:srgbClr val="FF0000"/>
                </a:solidFill>
                <a:latin typeface="Calibri"/>
                <a:ea typeface="Calibri"/>
                <a:cs typeface="Calibri"/>
              </a:rPr>
              <a:t>(b) Find members who attended Design but not Hack.</a:t>
            </a:r>
          </a:p>
        </p:txBody>
      </p:sp>
      <p:sp>
        <p:nvSpPr>
          <p:cNvPr id="9001" name="Title 1">
            <a:extLst>
              <a:ext uri="{FF2B5EF4-FFF2-40B4-BE49-F238E27FC236}">
                <a16:creationId xmlns:a16="http://schemas.microsoft.com/office/drawing/2014/main" id="{4EF27E5C-9C4D-BDBE-7667-D0B141BCC8F5}"/>
              </a:ext>
            </a:extLst>
          </p:cNvPr>
          <p:cNvSpPr>
            <a:spLocks noGrp="1"/>
          </p:cNvSpPr>
          <p:nvPr>
            <p:ph type="title"/>
          </p:nvPr>
        </p:nvSpPr>
        <p:spPr/>
        <p:txBody>
          <a:bodyPr/>
          <a:lstStyle/>
          <a:p>
            <a:r>
              <a:rPr lang="en-US">
                <a:solidFill>
                  <a:srgbClr val="FF0000"/>
                </a:solidFill>
              </a:rPr>
              <a:t>Practice: </a:t>
            </a:r>
            <a:r>
              <a:rPr lang="en-US">
                <a:solidFill>
                  <a:srgbClr val="3333CC"/>
                </a:solidFill>
              </a:rPr>
              <a:t>Q9</a:t>
            </a:r>
          </a:p>
        </p:txBody>
      </p:sp>
      <p:sp>
        <p:nvSpPr>
          <p:cNvPr id="9002" name="Slide Number Placeholder 1">
            <a:extLst>
              <a:ext uri="{FF2B5EF4-FFF2-40B4-BE49-F238E27FC236}">
                <a16:creationId xmlns:a16="http://schemas.microsoft.com/office/drawing/2014/main" id="{B90139AC-3BDA-723A-097A-000DA0A784C1}"/>
              </a:ext>
            </a:extLst>
          </p:cNvPr>
          <p:cNvSpPr>
            <a:spLocks noGrp="1"/>
          </p:cNvSpPr>
          <p:nvPr>
            <p:ph type="sldNum" sz="quarter" idx="12"/>
          </p:nvPr>
        </p:nvSpPr>
        <p:spPr/>
        <p:txBody>
          <a:bodyPr/>
          <a:lstStyle/>
          <a:p>
            <a:pPr>
              <a:defRPr/>
            </a:pPr>
            <a:fld id="{43CA101F-9E5F-9249-9862-3CE55B3BB777}" type="slidenum">
              <a:rPr lang="en-US" altLang="zh-TW" smtClean="0"/>
              <a:pPr>
                <a:defRPr/>
              </a:pPr>
              <a:t>25</a:t>
            </a:fld>
            <a:endParaRPr lang="en-US" altLang="zh-TW"/>
          </a:p>
        </p:txBody>
      </p:sp>
    </p:spTree>
    <p:extLst>
      <p:ext uri="{BB962C8B-B14F-4D97-AF65-F5344CB8AC3E}">
        <p14:creationId xmlns:p14="http://schemas.microsoft.com/office/powerpoint/2010/main" val="71791206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formula">
            <a:extLst>
              <a:ext uri="{FF2B5EF4-FFF2-40B4-BE49-F238E27FC236}">
                <a16:creationId xmlns:a16="http://schemas.microsoft.com/office/drawing/2014/main" id="{4DF7C845-E9C7-47FE-A380-C785835AA8C4}"/>
              </a:ext>
            </a:extLst>
          </p:cNvPr>
          <p:cNvSpPr>
            <a:spLocks noGrp="1"/>
          </p:cNvSpPr>
          <p:nvPr/>
        </p:nvSpPr>
        <p:spPr>
          <a:xfrm>
            <a:off x="1219200" y="1257300"/>
            <a:ext cx="3048000" cy="523875"/>
          </a:xfrm>
          <a:prstGeom prst="rect">
            <a:avLst/>
          </a:prstGeom>
          <a:noFill/>
          <a:ln w="0">
            <a:noFill/>
          </a:ln>
        </p:spPr>
        <p:txBody>
          <a:bodyPr wrap="square" lIns="0" tIns="0" rIns="0" bIns="0">
            <a:noAutofit/>
          </a:bodyPr>
          <a:lstStyle/>
          <a:p>
            <a:pPr>
              <a:defRPr sz="2400" b="0">
                <a:solidFill>
                  <a:srgbClr val="000000"/>
                </a:solidFill>
                <a:latin typeface="Cambria Math"/>
                <a:ea typeface="Cambria Math"/>
                <a:cs typeface="Cambria Math"/>
              </a:defRPr>
            </a:pPr>
            <a:r>
              <a:rPr sz="2400" b="0">
                <a:solidFill>
                  <a:srgbClr val="000000"/>
                </a:solidFill>
                <a:latin typeface="Cambria Math"/>
                <a:ea typeface="Cambria Math"/>
                <a:cs typeface="Cambria Math"/>
              </a:rPr>
              <a:t>Hack − Design</a:t>
            </a:r>
          </a:p>
        </p:txBody>
      </p:sp>
      <p:sp>
        <p:nvSpPr>
          <p:cNvPr id="4" name="formula">
            <a:extLst>
              <a:ext uri="{FF2B5EF4-FFF2-40B4-BE49-F238E27FC236}">
                <a16:creationId xmlns:a16="http://schemas.microsoft.com/office/drawing/2014/main" id="{988CC2DF-75AE-48CD-9CFA-A3C9F249EB32}"/>
              </a:ext>
            </a:extLst>
          </p:cNvPr>
          <p:cNvSpPr>
            <a:spLocks noGrp="1"/>
          </p:cNvSpPr>
          <p:nvPr/>
        </p:nvSpPr>
        <p:spPr>
          <a:xfrm>
            <a:off x="5000625" y="1257300"/>
            <a:ext cx="3238500" cy="523875"/>
          </a:xfrm>
          <a:prstGeom prst="rect">
            <a:avLst/>
          </a:prstGeom>
          <a:noFill/>
          <a:ln w="0">
            <a:noFill/>
          </a:ln>
        </p:spPr>
        <p:txBody>
          <a:bodyPr wrap="square" lIns="0" tIns="0" rIns="0" bIns="0">
            <a:noAutofit/>
          </a:bodyPr>
          <a:lstStyle/>
          <a:p>
            <a:pPr>
              <a:defRPr sz="2400" b="0">
                <a:solidFill>
                  <a:srgbClr val="000000"/>
                </a:solidFill>
                <a:latin typeface="Cambria Math"/>
                <a:ea typeface="Cambria Math"/>
                <a:cs typeface="Cambria Math"/>
              </a:defRPr>
            </a:pPr>
            <a:r>
              <a:rPr sz="2400" b="0">
                <a:solidFill>
                  <a:srgbClr val="000000"/>
                </a:solidFill>
                <a:latin typeface="Cambria Math"/>
                <a:ea typeface="Cambria Math"/>
                <a:cs typeface="Cambria Math"/>
              </a:rPr>
              <a:t>Design − Hack</a:t>
            </a:r>
          </a:p>
        </p:txBody>
      </p:sp>
      <p:graphicFrame>
        <p:nvGraphicFramePr>
          <p:cNvPr id="13" name="表格 12"/>
          <p:cNvGraphicFramePr/>
          <p:nvPr/>
        </p:nvGraphicFramePr>
        <p:xfrm>
          <a:off x="1571625" y="2095500"/>
          <a:ext cx="2381250" cy="1066800"/>
        </p:xfrm>
        <a:graphic>
          <a:graphicData uri="http://schemas.openxmlformats.org/drawingml/2006/table">
            <a:tbl>
              <a:tblPr/>
              <a:tblGrid>
                <a:gridCol w="2381250">
                  <a:extLst>
                    <a:ext uri="{9D8B030D-6E8A-4147-A177-3AD203B41FA5}">
                      <a16:colId xmlns:a16="http://schemas.microsoft.com/office/drawing/2014/main" val="20000"/>
                    </a:ext>
                  </a:extLst>
                </a:gridCol>
              </a:tblGrid>
              <a:tr h="533400">
                <a:tc>
                  <a:txBody>
                    <a:bodyPr/>
                    <a:lstStyle/>
                    <a:p>
                      <a:pPr algn="ctr"/>
                      <a:r>
                        <a:rPr sz="2250">
                          <a:solidFill>
                            <a:srgbClr val="000000"/>
                          </a:solidFill>
                          <a:latin typeface="Calibri"/>
                          <a:ea typeface="Calibri"/>
                          <a:cs typeface="Calibri"/>
                        </a:rPr>
                        <a:t>mid</a:t>
                      </a:r>
                    </a:p>
                  </a:txBody>
                  <a:tcPr marL="47625" marR="47625" marT="28575" marB="28575" anchor="ctr">
                    <a:solidFill>
                      <a:srgbClr val="D9D9D9"/>
                    </a:solidFill>
                  </a:tcPr>
                </a:tc>
                <a:extLst>
                  <a:ext uri="{0D108BD9-81ED-4DB2-BD59-A6C34878D82A}">
                    <a16:rowId xmlns:a16="http://schemas.microsoft.com/office/drawing/2014/main" val="10000"/>
                  </a:ext>
                </a:extLst>
              </a:tr>
              <a:tr h="533400">
                <a:tc>
                  <a:txBody>
                    <a:bodyPr/>
                    <a:lstStyle/>
                    <a:p>
                      <a:pPr algn="ctr"/>
                      <a:r>
                        <a:rPr sz="2250">
                          <a:solidFill>
                            <a:srgbClr val="000000"/>
                          </a:solidFill>
                          <a:latin typeface="Calibri"/>
                          <a:ea typeface="Calibri"/>
                          <a:cs typeface="Calibri"/>
                        </a:rPr>
                        <a:t>1</a:t>
                      </a:r>
                    </a:p>
                  </a:txBody>
                  <a:tcPr marL="47625" marR="47625" marT="28575" marB="28575" anchor="ctr">
                    <a:solidFill>
                      <a:srgbClr val="FFFFFF"/>
                    </a:solidFill>
                  </a:tcPr>
                </a:tc>
                <a:extLst>
                  <a:ext uri="{0D108BD9-81ED-4DB2-BD59-A6C34878D82A}">
                    <a16:rowId xmlns:a16="http://schemas.microsoft.com/office/drawing/2014/main" val="10001"/>
                  </a:ext>
                </a:extLst>
              </a:tr>
            </a:tbl>
          </a:graphicData>
        </a:graphic>
      </p:graphicFrame>
      <p:graphicFrame>
        <p:nvGraphicFramePr>
          <p:cNvPr id="14" name="表格 13"/>
          <p:cNvGraphicFramePr/>
          <p:nvPr/>
        </p:nvGraphicFramePr>
        <p:xfrm>
          <a:off x="5191125" y="2095500"/>
          <a:ext cx="2381250" cy="1066800"/>
        </p:xfrm>
        <a:graphic>
          <a:graphicData uri="http://schemas.openxmlformats.org/drawingml/2006/table">
            <a:tbl>
              <a:tblPr/>
              <a:tblGrid>
                <a:gridCol w="2381250">
                  <a:extLst>
                    <a:ext uri="{9D8B030D-6E8A-4147-A177-3AD203B41FA5}">
                      <a16:colId xmlns:a16="http://schemas.microsoft.com/office/drawing/2014/main" val="20000"/>
                    </a:ext>
                  </a:extLst>
                </a:gridCol>
              </a:tblGrid>
              <a:tr h="533400">
                <a:tc>
                  <a:txBody>
                    <a:bodyPr/>
                    <a:lstStyle/>
                    <a:p>
                      <a:pPr algn="ctr"/>
                      <a:r>
                        <a:rPr sz="2250">
                          <a:solidFill>
                            <a:srgbClr val="000000"/>
                          </a:solidFill>
                          <a:latin typeface="Calibri"/>
                          <a:ea typeface="Calibri"/>
                          <a:cs typeface="Calibri"/>
                        </a:rPr>
                        <a:t>mid</a:t>
                      </a:r>
                    </a:p>
                  </a:txBody>
                  <a:tcPr marL="47625" marR="47625" marT="28575" marB="28575" anchor="ctr">
                    <a:solidFill>
                      <a:srgbClr val="D9D9D9"/>
                    </a:solidFill>
                  </a:tcPr>
                </a:tc>
                <a:extLst>
                  <a:ext uri="{0D108BD9-81ED-4DB2-BD59-A6C34878D82A}">
                    <a16:rowId xmlns:a16="http://schemas.microsoft.com/office/drawing/2014/main" val="10000"/>
                  </a:ext>
                </a:extLst>
              </a:tr>
              <a:tr h="533400">
                <a:tc>
                  <a:txBody>
                    <a:bodyPr/>
                    <a:lstStyle/>
                    <a:p>
                      <a:pPr algn="ctr"/>
                      <a:r>
                        <a:rPr sz="2250">
                          <a:solidFill>
                            <a:srgbClr val="000000"/>
                          </a:solidFill>
                          <a:latin typeface="Calibri"/>
                          <a:ea typeface="Calibri"/>
                          <a:cs typeface="Calibri"/>
                        </a:rPr>
                        <a:t>3</a:t>
                      </a:r>
                    </a:p>
                  </a:txBody>
                  <a:tcPr marL="47625" marR="47625" marT="28575" marB="28575" anchor="ctr">
                    <a:solidFill>
                      <a:srgbClr val="FFFFFF"/>
                    </a:solidFill>
                  </a:tcPr>
                </a:tc>
                <a:extLst>
                  <a:ext uri="{0D108BD9-81ED-4DB2-BD59-A6C34878D82A}">
                    <a16:rowId xmlns:a16="http://schemas.microsoft.com/office/drawing/2014/main" val="10001"/>
                  </a:ext>
                </a:extLst>
              </a:tr>
            </a:tbl>
          </a:graphicData>
        </a:graphic>
      </p:graphicFrame>
      <p:sp>
        <p:nvSpPr>
          <p:cNvPr id="7" name="body">
            <a:extLst>
              <a:ext uri="{FF2B5EF4-FFF2-40B4-BE49-F238E27FC236}">
                <a16:creationId xmlns:a16="http://schemas.microsoft.com/office/drawing/2014/main" id="{E0FF6AFA-4160-44B0-BAC3-79E6BC960D11}"/>
              </a:ext>
            </a:extLst>
          </p:cNvPr>
          <p:cNvSpPr>
            <a:spLocks noGrp="1"/>
          </p:cNvSpPr>
          <p:nvPr/>
        </p:nvSpPr>
        <p:spPr>
          <a:xfrm>
            <a:off x="781050" y="3867150"/>
            <a:ext cx="7600950" cy="952500"/>
          </a:xfrm>
          <a:prstGeom prst="rect">
            <a:avLst/>
          </a:prstGeom>
          <a:noFill/>
          <a:ln w="0">
            <a:noFill/>
          </a:ln>
        </p:spPr>
        <p:txBody>
          <a:bodyPr wrap="square" lIns="0" tIns="0" rIns="0" bIns="0">
            <a:noAutofit/>
          </a:bodyPr>
          <a:lstStyle/>
          <a:p>
            <a:pPr>
              <a:defRPr sz="2250" b="0">
                <a:solidFill>
                  <a:srgbClr val="000000"/>
                </a:solidFill>
                <a:latin typeface="Calibri"/>
                <a:ea typeface="Calibri"/>
                <a:cs typeface="Calibri"/>
              </a:defRPr>
            </a:pPr>
            <a:r>
              <a:rPr sz="2250" b="0">
                <a:solidFill>
                  <a:srgbClr val="000000"/>
                </a:solidFill>
                <a:latin typeface="Calibri"/>
                <a:ea typeface="Calibri"/>
                <a:cs typeface="Calibri"/>
              </a:rPr>
              <a:t>Member 1 attended only Hack.</a:t>
            </a:r>
          </a:p>
        </p:txBody>
      </p:sp>
      <p:sp>
        <p:nvSpPr>
          <p:cNvPr id="8" name="body">
            <a:extLst>
              <a:ext uri="{FF2B5EF4-FFF2-40B4-BE49-F238E27FC236}">
                <a16:creationId xmlns:a16="http://schemas.microsoft.com/office/drawing/2014/main" id="{15763D07-6C6D-4256-908B-85F2AB5634DF}"/>
              </a:ext>
            </a:extLst>
          </p:cNvPr>
          <p:cNvSpPr>
            <a:spLocks noGrp="1"/>
          </p:cNvSpPr>
          <p:nvPr/>
        </p:nvSpPr>
        <p:spPr>
          <a:xfrm>
            <a:off x="781050" y="4543425"/>
            <a:ext cx="7600950" cy="952500"/>
          </a:xfrm>
          <a:prstGeom prst="rect">
            <a:avLst/>
          </a:prstGeom>
          <a:noFill/>
          <a:ln w="0">
            <a:noFill/>
          </a:ln>
        </p:spPr>
        <p:txBody>
          <a:bodyPr wrap="square" lIns="0" tIns="0" rIns="0" bIns="0">
            <a:noAutofit/>
          </a:bodyPr>
          <a:lstStyle/>
          <a:p>
            <a:pPr>
              <a:defRPr sz="2250" b="0">
                <a:solidFill>
                  <a:srgbClr val="000000"/>
                </a:solidFill>
                <a:latin typeface="Calibri"/>
                <a:ea typeface="Calibri"/>
                <a:cs typeface="Calibri"/>
              </a:defRPr>
            </a:pPr>
            <a:r>
              <a:rPr sz="2250" b="0">
                <a:solidFill>
                  <a:srgbClr val="000000"/>
                </a:solidFill>
                <a:latin typeface="Calibri"/>
                <a:ea typeface="Calibri"/>
                <a:cs typeface="Calibri"/>
              </a:rPr>
              <a:t>Member 3 attended only Design.</a:t>
            </a:r>
          </a:p>
        </p:txBody>
      </p:sp>
      <p:sp>
        <p:nvSpPr>
          <p:cNvPr id="9001" name="Title 1">
            <a:extLst>
              <a:ext uri="{FF2B5EF4-FFF2-40B4-BE49-F238E27FC236}">
                <a16:creationId xmlns:a16="http://schemas.microsoft.com/office/drawing/2014/main" id="{4EF27E5C-9C4D-BDBE-7667-D0B141BCC8F5}"/>
              </a:ext>
            </a:extLst>
          </p:cNvPr>
          <p:cNvSpPr>
            <a:spLocks noGrp="1"/>
          </p:cNvSpPr>
          <p:nvPr>
            <p:ph type="title"/>
          </p:nvPr>
        </p:nvSpPr>
        <p:spPr/>
        <p:txBody>
          <a:bodyPr/>
          <a:lstStyle/>
          <a:p>
            <a:r>
              <a:rPr lang="en-US">
                <a:solidFill>
                  <a:srgbClr val="FF0000"/>
                </a:solidFill>
              </a:rPr>
              <a:t>Solutions: </a:t>
            </a:r>
            <a:r>
              <a:rPr lang="en-US">
                <a:solidFill>
                  <a:srgbClr val="3333CC"/>
                </a:solidFill>
              </a:rPr>
              <a:t>Q9</a:t>
            </a:r>
          </a:p>
        </p:txBody>
      </p:sp>
      <p:sp>
        <p:nvSpPr>
          <p:cNvPr id="9002" name="Slide Number Placeholder 1">
            <a:extLst>
              <a:ext uri="{FF2B5EF4-FFF2-40B4-BE49-F238E27FC236}">
                <a16:creationId xmlns:a16="http://schemas.microsoft.com/office/drawing/2014/main" id="{B90139AC-3BDA-723A-097A-000DA0A784C1}"/>
              </a:ext>
            </a:extLst>
          </p:cNvPr>
          <p:cNvSpPr>
            <a:spLocks noGrp="1"/>
          </p:cNvSpPr>
          <p:nvPr>
            <p:ph type="sldNum" sz="quarter" idx="12"/>
          </p:nvPr>
        </p:nvSpPr>
        <p:spPr/>
        <p:txBody>
          <a:bodyPr/>
          <a:lstStyle/>
          <a:p>
            <a:pPr>
              <a:defRPr/>
            </a:pPr>
            <a:fld id="{43CA101F-9E5F-9249-9862-3CE55B3BB777}" type="slidenum">
              <a:rPr lang="en-US" altLang="zh-TW" smtClean="0"/>
              <a:pPr>
                <a:defRPr/>
              </a:pPr>
              <a:t>26</a:t>
            </a:fld>
            <a:endParaRPr lang="en-US" altLang="zh-TW"/>
          </a:p>
        </p:txBody>
      </p:sp>
    </p:spTree>
    <p:extLst>
      <p:ext uri="{BB962C8B-B14F-4D97-AF65-F5344CB8AC3E}">
        <p14:creationId xmlns:p14="http://schemas.microsoft.com/office/powerpoint/2010/main" val="104092570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body">
            <a:extLst>
              <a:ext uri="{FF2B5EF4-FFF2-40B4-BE49-F238E27FC236}">
                <a16:creationId xmlns:a16="http://schemas.microsoft.com/office/drawing/2014/main" id="{6249312C-40C5-436B-B3B6-F8C1C35EF48B}"/>
              </a:ext>
            </a:extLst>
          </p:cNvPr>
          <p:cNvSpPr>
            <a:spLocks noGrp="1"/>
          </p:cNvSpPr>
          <p:nvPr/>
        </p:nvSpPr>
        <p:spPr>
          <a:xfrm>
            <a:off x="781050" y="5876925"/>
            <a:ext cx="7620000" cy="285750"/>
          </a:xfrm>
          <a:prstGeom prst="rect">
            <a:avLst/>
          </a:prstGeom>
          <a:noFill/>
          <a:ln w="0">
            <a:noFill/>
          </a:ln>
        </p:spPr>
        <p:txBody>
          <a:bodyPr wrap="square" lIns="0" tIns="0" rIns="0" bIns="0">
            <a:noAutofit/>
          </a:bodyPr>
          <a:lstStyle/>
          <a:p>
            <a:pPr>
              <a:defRPr sz="1725" b="0">
                <a:solidFill>
                  <a:srgbClr val="3333CC"/>
                </a:solidFill>
                <a:latin typeface="Calibri"/>
                <a:ea typeface="Calibri"/>
                <a:cs typeface="Calibri"/>
              </a:defRPr>
            </a:pPr>
            <a:r>
              <a:rPr sz="1725" b="0">
                <a:solidFill>
                  <a:srgbClr val="3333CC"/>
                </a:solidFill>
                <a:latin typeface="Calibri"/>
                <a:ea typeface="Calibri"/>
                <a:cs typeface="Calibri"/>
              </a:rPr>
              <a:t>Think: 30 s</a:t>
            </a:r>
          </a:p>
        </p:txBody>
      </p:sp>
      <p:sp>
        <p:nvSpPr>
          <p:cNvPr id="4" name="body">
            <a:extLst>
              <a:ext uri="{FF2B5EF4-FFF2-40B4-BE49-F238E27FC236}">
                <a16:creationId xmlns:a16="http://schemas.microsoft.com/office/drawing/2014/main" id="{B3B726B4-4629-41D0-A6D4-36BBC16837DE}"/>
              </a:ext>
            </a:extLst>
          </p:cNvPr>
          <p:cNvSpPr>
            <a:spLocks noGrp="1"/>
          </p:cNvSpPr>
          <p:nvPr/>
        </p:nvSpPr>
        <p:spPr>
          <a:xfrm>
            <a:off x="904875" y="1276350"/>
            <a:ext cx="3476625" cy="361950"/>
          </a:xfrm>
          <a:prstGeom prst="rect">
            <a:avLst/>
          </a:prstGeom>
          <a:noFill/>
          <a:ln w="0">
            <a:noFill/>
          </a:ln>
        </p:spPr>
        <p:txBody>
          <a:bodyPr wrap="square" lIns="0" tIns="0" rIns="0" bIns="0">
            <a:noAutofit/>
          </a:bodyPr>
          <a:lstStyle/>
          <a:p>
            <a:pPr>
              <a:defRPr sz="2250" b="0">
                <a:solidFill>
                  <a:srgbClr val="000000"/>
                </a:solidFill>
                <a:latin typeface="Calibri"/>
                <a:ea typeface="Calibri"/>
                <a:cs typeface="Calibri"/>
              </a:defRPr>
            </a:pPr>
            <a:r>
              <a:rPr sz="2250" b="0">
                <a:solidFill>
                  <a:srgbClr val="000000"/>
                </a:solidFill>
                <a:latin typeface="Calibri"/>
                <a:ea typeface="Calibri"/>
                <a:cs typeface="Calibri"/>
              </a:rPr>
              <a:t>Roster</a:t>
            </a:r>
          </a:p>
        </p:txBody>
      </p:sp>
      <p:graphicFrame>
        <p:nvGraphicFramePr>
          <p:cNvPr id="14" name="表格 13"/>
          <p:cNvGraphicFramePr/>
          <p:nvPr/>
        </p:nvGraphicFramePr>
        <p:xfrm>
          <a:off x="981075" y="1695450"/>
          <a:ext cx="3476626" cy="2114550"/>
        </p:xfrm>
        <a:graphic>
          <a:graphicData uri="http://schemas.openxmlformats.org/drawingml/2006/table">
            <a:tbl>
              <a:tblPr/>
              <a:tblGrid>
                <a:gridCol w="1738313">
                  <a:extLst>
                    <a:ext uri="{9D8B030D-6E8A-4147-A177-3AD203B41FA5}">
                      <a16:colId xmlns:a16="http://schemas.microsoft.com/office/drawing/2014/main" val="20000"/>
                    </a:ext>
                  </a:extLst>
                </a:gridCol>
                <a:gridCol w="1738313">
                  <a:extLst>
                    <a:ext uri="{9D8B030D-6E8A-4147-A177-3AD203B41FA5}">
                      <a16:colId xmlns:a16="http://schemas.microsoft.com/office/drawing/2014/main" val="20001"/>
                    </a:ext>
                  </a:extLst>
                </a:gridCol>
              </a:tblGrid>
              <a:tr h="352425">
                <a:tc>
                  <a:txBody>
                    <a:bodyPr/>
                    <a:lstStyle/>
                    <a:p>
                      <a:pPr algn="ctr"/>
                      <a:r>
                        <a:rPr sz="1875">
                          <a:solidFill>
                            <a:srgbClr val="000000"/>
                          </a:solidFill>
                          <a:latin typeface="Calibri"/>
                          <a:ea typeface="Calibri"/>
                          <a:cs typeface="Calibri"/>
                        </a:rPr>
                        <a:t>sid</a:t>
                      </a:r>
                    </a:p>
                  </a:txBody>
                  <a:tcPr marL="47625" marR="47625" marT="28575" marB="28575" anchor="ctr">
                    <a:solidFill>
                      <a:srgbClr val="D9D9D9"/>
                    </a:solidFill>
                  </a:tcPr>
                </a:tc>
                <a:tc>
                  <a:txBody>
                    <a:bodyPr/>
                    <a:lstStyle/>
                    <a:p>
                      <a:pPr algn="ctr"/>
                      <a:r>
                        <a:rPr sz="1875">
                          <a:solidFill>
                            <a:srgbClr val="000000"/>
                          </a:solidFill>
                          <a:latin typeface="Calibri"/>
                          <a:ea typeface="Calibri"/>
                          <a:cs typeface="Calibri"/>
                        </a:rPr>
                        <a:t>sname</a:t>
                      </a:r>
                    </a:p>
                  </a:txBody>
                  <a:tcPr marL="47625" marR="47625" marT="28575" marB="28575" anchor="ctr">
                    <a:solidFill>
                      <a:srgbClr val="D9D9D9"/>
                    </a:solidFill>
                  </a:tcPr>
                </a:tc>
                <a:extLst>
                  <a:ext uri="{0D108BD9-81ED-4DB2-BD59-A6C34878D82A}">
                    <a16:rowId xmlns:a16="http://schemas.microsoft.com/office/drawing/2014/main" val="10000"/>
                  </a:ext>
                </a:extLst>
              </a:tr>
              <a:tr h="352425">
                <a:tc>
                  <a:txBody>
                    <a:bodyPr/>
                    <a:lstStyle/>
                    <a:p>
                      <a:pPr algn="ctr"/>
                      <a:r>
                        <a:rPr sz="1875">
                          <a:solidFill>
                            <a:srgbClr val="000000"/>
                          </a:solidFill>
                          <a:latin typeface="Calibri"/>
                          <a:ea typeface="Calibri"/>
                          <a:cs typeface="Calibri"/>
                        </a:rPr>
                        <a:t>1</a:t>
                      </a:r>
                    </a:p>
                  </a:txBody>
                  <a:tcPr marL="47625" marR="47625" marT="28575" marB="28575" anchor="ctr">
                    <a:solidFill>
                      <a:srgbClr val="FFFFFF"/>
                    </a:solidFill>
                  </a:tcPr>
                </a:tc>
                <a:tc>
                  <a:txBody>
                    <a:bodyPr/>
                    <a:lstStyle/>
                    <a:p>
                      <a:pPr algn="ctr"/>
                      <a:r>
                        <a:rPr sz="1875">
                          <a:solidFill>
                            <a:srgbClr val="000000"/>
                          </a:solidFill>
                          <a:latin typeface="Calibri"/>
                          <a:ea typeface="Calibri"/>
                          <a:cs typeface="Calibri"/>
                        </a:rPr>
                        <a:t>Ada</a:t>
                      </a:r>
                    </a:p>
                  </a:txBody>
                  <a:tcPr marL="47625" marR="47625" marT="28575" marB="28575" anchor="ctr">
                    <a:solidFill>
                      <a:srgbClr val="FFFFFF"/>
                    </a:solidFill>
                  </a:tcPr>
                </a:tc>
                <a:extLst>
                  <a:ext uri="{0D108BD9-81ED-4DB2-BD59-A6C34878D82A}">
                    <a16:rowId xmlns:a16="http://schemas.microsoft.com/office/drawing/2014/main" val="10001"/>
                  </a:ext>
                </a:extLst>
              </a:tr>
              <a:tr h="352425">
                <a:tc>
                  <a:txBody>
                    <a:bodyPr/>
                    <a:lstStyle/>
                    <a:p>
                      <a:pPr algn="ctr"/>
                      <a:r>
                        <a:rPr sz="1875">
                          <a:solidFill>
                            <a:srgbClr val="000000"/>
                          </a:solidFill>
                          <a:latin typeface="Calibri"/>
                          <a:ea typeface="Calibri"/>
                          <a:cs typeface="Calibri"/>
                        </a:rPr>
                        <a:t>2</a:t>
                      </a:r>
                    </a:p>
                  </a:txBody>
                  <a:tcPr marL="47625" marR="47625" marT="28575" marB="28575" anchor="ctr">
                    <a:solidFill>
                      <a:srgbClr val="FFFFFF"/>
                    </a:solidFill>
                  </a:tcPr>
                </a:tc>
                <a:tc>
                  <a:txBody>
                    <a:bodyPr/>
                    <a:lstStyle/>
                    <a:p>
                      <a:pPr algn="ctr"/>
                      <a:r>
                        <a:rPr sz="1875">
                          <a:solidFill>
                            <a:srgbClr val="000000"/>
                          </a:solidFill>
                          <a:latin typeface="Calibri"/>
                          <a:ea typeface="Calibri"/>
                          <a:cs typeface="Calibri"/>
                        </a:rPr>
                        <a:t>Ben</a:t>
                      </a:r>
                    </a:p>
                  </a:txBody>
                  <a:tcPr marL="47625" marR="47625" marT="28575" marB="28575" anchor="ctr">
                    <a:solidFill>
                      <a:srgbClr val="FFFFFF"/>
                    </a:solidFill>
                  </a:tcPr>
                </a:tc>
                <a:extLst>
                  <a:ext uri="{0D108BD9-81ED-4DB2-BD59-A6C34878D82A}">
                    <a16:rowId xmlns:a16="http://schemas.microsoft.com/office/drawing/2014/main" val="10002"/>
                  </a:ext>
                </a:extLst>
              </a:tr>
              <a:tr h="352425">
                <a:tc>
                  <a:txBody>
                    <a:bodyPr/>
                    <a:lstStyle/>
                    <a:p>
                      <a:pPr algn="ctr"/>
                      <a:r>
                        <a:rPr sz="1875">
                          <a:solidFill>
                            <a:srgbClr val="000000"/>
                          </a:solidFill>
                          <a:latin typeface="Calibri"/>
                          <a:ea typeface="Calibri"/>
                          <a:cs typeface="Calibri"/>
                        </a:rPr>
                        <a:t>3</a:t>
                      </a:r>
                    </a:p>
                  </a:txBody>
                  <a:tcPr marL="47625" marR="47625" marT="28575" marB="28575" anchor="ctr">
                    <a:solidFill>
                      <a:srgbClr val="FFFFFF"/>
                    </a:solidFill>
                  </a:tcPr>
                </a:tc>
                <a:tc>
                  <a:txBody>
                    <a:bodyPr/>
                    <a:lstStyle/>
                    <a:p>
                      <a:pPr algn="ctr"/>
                      <a:r>
                        <a:rPr sz="1875">
                          <a:solidFill>
                            <a:srgbClr val="000000"/>
                          </a:solidFill>
                          <a:latin typeface="Calibri"/>
                          <a:ea typeface="Calibri"/>
                          <a:cs typeface="Calibri"/>
                        </a:rPr>
                        <a:t>Cara</a:t>
                      </a:r>
                    </a:p>
                  </a:txBody>
                  <a:tcPr marL="47625" marR="47625" marT="28575" marB="28575" anchor="ctr">
                    <a:solidFill>
                      <a:srgbClr val="FFFFFF"/>
                    </a:solidFill>
                  </a:tcPr>
                </a:tc>
                <a:extLst>
                  <a:ext uri="{0D108BD9-81ED-4DB2-BD59-A6C34878D82A}">
                    <a16:rowId xmlns:a16="http://schemas.microsoft.com/office/drawing/2014/main" val="10003"/>
                  </a:ext>
                </a:extLst>
              </a:tr>
              <a:tr h="352425">
                <a:tc>
                  <a:txBody>
                    <a:bodyPr/>
                    <a:lstStyle/>
                    <a:p>
                      <a:pPr algn="ctr"/>
                      <a:r>
                        <a:rPr sz="1875">
                          <a:solidFill>
                            <a:srgbClr val="000000"/>
                          </a:solidFill>
                          <a:latin typeface="Calibri"/>
                          <a:ea typeface="Calibri"/>
                          <a:cs typeface="Calibri"/>
                        </a:rPr>
                        <a:t>4</a:t>
                      </a:r>
                    </a:p>
                  </a:txBody>
                  <a:tcPr marL="47625" marR="47625" marT="28575" marB="28575" anchor="ctr">
                    <a:solidFill>
                      <a:srgbClr val="FFFFFF"/>
                    </a:solidFill>
                  </a:tcPr>
                </a:tc>
                <a:tc>
                  <a:txBody>
                    <a:bodyPr/>
                    <a:lstStyle/>
                    <a:p>
                      <a:pPr algn="ctr"/>
                      <a:r>
                        <a:rPr sz="1875">
                          <a:solidFill>
                            <a:srgbClr val="000000"/>
                          </a:solidFill>
                          <a:latin typeface="Calibri"/>
                          <a:ea typeface="Calibri"/>
                          <a:cs typeface="Calibri"/>
                        </a:rPr>
                        <a:t>Dev</a:t>
                      </a:r>
                    </a:p>
                  </a:txBody>
                  <a:tcPr marL="47625" marR="47625" marT="28575" marB="28575" anchor="ctr">
                    <a:solidFill>
                      <a:srgbClr val="FFFFFF"/>
                    </a:solidFill>
                  </a:tcPr>
                </a:tc>
                <a:extLst>
                  <a:ext uri="{0D108BD9-81ED-4DB2-BD59-A6C34878D82A}">
                    <a16:rowId xmlns:a16="http://schemas.microsoft.com/office/drawing/2014/main" val="10004"/>
                  </a:ext>
                </a:extLst>
              </a:tr>
              <a:tr h="352425">
                <a:tc>
                  <a:txBody>
                    <a:bodyPr/>
                    <a:lstStyle/>
                    <a:p>
                      <a:pPr algn="ctr"/>
                      <a:r>
                        <a:rPr sz="1875">
                          <a:solidFill>
                            <a:srgbClr val="000000"/>
                          </a:solidFill>
                          <a:latin typeface="Calibri"/>
                          <a:ea typeface="Calibri"/>
                          <a:cs typeface="Calibri"/>
                        </a:rPr>
                        <a:t>5</a:t>
                      </a:r>
                    </a:p>
                  </a:txBody>
                  <a:tcPr marL="47625" marR="47625" marT="28575" marB="28575" anchor="ctr">
                    <a:solidFill>
                      <a:srgbClr val="FFFFFF"/>
                    </a:solidFill>
                  </a:tcPr>
                </a:tc>
                <a:tc>
                  <a:txBody>
                    <a:bodyPr/>
                    <a:lstStyle/>
                    <a:p>
                      <a:pPr algn="ctr"/>
                      <a:r>
                        <a:rPr sz="1875">
                          <a:solidFill>
                            <a:srgbClr val="000000"/>
                          </a:solidFill>
                          <a:latin typeface="Calibri"/>
                          <a:ea typeface="Calibri"/>
                          <a:cs typeface="Calibri"/>
                        </a:rPr>
                        <a:t>Eli</a:t>
                      </a:r>
                    </a:p>
                  </a:txBody>
                  <a:tcPr marL="47625" marR="47625" marT="28575" marB="28575" anchor="ctr">
                    <a:solidFill>
                      <a:srgbClr val="FFFFFF"/>
                    </a:solidFill>
                  </a:tcPr>
                </a:tc>
                <a:extLst>
                  <a:ext uri="{0D108BD9-81ED-4DB2-BD59-A6C34878D82A}">
                    <a16:rowId xmlns:a16="http://schemas.microsoft.com/office/drawing/2014/main" val="10005"/>
                  </a:ext>
                </a:extLst>
              </a:tr>
            </a:tbl>
          </a:graphicData>
        </a:graphic>
      </p:graphicFrame>
      <p:sp>
        <p:nvSpPr>
          <p:cNvPr id="6" name="body">
            <a:extLst>
              <a:ext uri="{FF2B5EF4-FFF2-40B4-BE49-F238E27FC236}">
                <a16:creationId xmlns:a16="http://schemas.microsoft.com/office/drawing/2014/main" id="{29C796BD-162C-4CC6-A7EE-CB73A10CFC0C}"/>
              </a:ext>
            </a:extLst>
          </p:cNvPr>
          <p:cNvSpPr>
            <a:spLocks noGrp="1"/>
          </p:cNvSpPr>
          <p:nvPr/>
        </p:nvSpPr>
        <p:spPr>
          <a:xfrm>
            <a:off x="5353050" y="1276350"/>
            <a:ext cx="2428875" cy="361950"/>
          </a:xfrm>
          <a:prstGeom prst="rect">
            <a:avLst/>
          </a:prstGeom>
          <a:noFill/>
          <a:ln w="0">
            <a:noFill/>
          </a:ln>
        </p:spPr>
        <p:txBody>
          <a:bodyPr wrap="square" lIns="0" tIns="0" rIns="0" bIns="0">
            <a:noAutofit/>
          </a:bodyPr>
          <a:lstStyle/>
          <a:p>
            <a:pPr>
              <a:defRPr sz="2250" b="0">
                <a:solidFill>
                  <a:srgbClr val="000000"/>
                </a:solidFill>
                <a:latin typeface="Calibri"/>
                <a:ea typeface="Calibri"/>
                <a:cs typeface="Calibri"/>
              </a:defRPr>
            </a:pPr>
            <a:r>
              <a:rPr sz="2250" b="0">
                <a:solidFill>
                  <a:srgbClr val="000000"/>
                </a:solidFill>
                <a:latin typeface="Calibri"/>
                <a:ea typeface="Calibri"/>
                <a:cs typeface="Calibri"/>
              </a:rPr>
              <a:t>Attended</a:t>
            </a:r>
          </a:p>
        </p:txBody>
      </p:sp>
      <p:graphicFrame>
        <p:nvGraphicFramePr>
          <p:cNvPr id="16" name="表格 15"/>
          <p:cNvGraphicFramePr/>
          <p:nvPr/>
        </p:nvGraphicFramePr>
        <p:xfrm>
          <a:off x="5429250" y="1695450"/>
          <a:ext cx="2428875" cy="1562100"/>
        </p:xfrm>
        <a:graphic>
          <a:graphicData uri="http://schemas.openxmlformats.org/drawingml/2006/table">
            <a:tbl>
              <a:tblPr/>
              <a:tblGrid>
                <a:gridCol w="2428875">
                  <a:extLst>
                    <a:ext uri="{9D8B030D-6E8A-4147-A177-3AD203B41FA5}">
                      <a16:colId xmlns:a16="http://schemas.microsoft.com/office/drawing/2014/main" val="20000"/>
                    </a:ext>
                  </a:extLst>
                </a:gridCol>
              </a:tblGrid>
              <a:tr h="390525">
                <a:tc>
                  <a:txBody>
                    <a:bodyPr/>
                    <a:lstStyle/>
                    <a:p>
                      <a:pPr algn="ctr"/>
                      <a:r>
                        <a:rPr sz="2025">
                          <a:solidFill>
                            <a:srgbClr val="000000"/>
                          </a:solidFill>
                          <a:latin typeface="Calibri"/>
                          <a:ea typeface="Calibri"/>
                          <a:cs typeface="Calibri"/>
                        </a:rPr>
                        <a:t>sid</a:t>
                      </a:r>
                    </a:p>
                  </a:txBody>
                  <a:tcPr marL="47625" marR="47625" marT="28575" marB="28575" anchor="ctr">
                    <a:solidFill>
                      <a:srgbClr val="D9D9D9"/>
                    </a:solidFill>
                  </a:tcPr>
                </a:tc>
                <a:extLst>
                  <a:ext uri="{0D108BD9-81ED-4DB2-BD59-A6C34878D82A}">
                    <a16:rowId xmlns:a16="http://schemas.microsoft.com/office/drawing/2014/main" val="10000"/>
                  </a:ext>
                </a:extLst>
              </a:tr>
              <a:tr h="390525">
                <a:tc>
                  <a:txBody>
                    <a:bodyPr/>
                    <a:lstStyle/>
                    <a:p>
                      <a:pPr algn="ctr"/>
                      <a:r>
                        <a:rPr sz="2025">
                          <a:solidFill>
                            <a:srgbClr val="000000"/>
                          </a:solidFill>
                          <a:latin typeface="Calibri"/>
                          <a:ea typeface="Calibri"/>
                          <a:cs typeface="Calibri"/>
                        </a:rPr>
                        <a:t>1</a:t>
                      </a:r>
                    </a:p>
                  </a:txBody>
                  <a:tcPr marL="47625" marR="47625" marT="28575" marB="28575" anchor="ctr">
                    <a:solidFill>
                      <a:srgbClr val="FFFFFF"/>
                    </a:solidFill>
                  </a:tcPr>
                </a:tc>
                <a:extLst>
                  <a:ext uri="{0D108BD9-81ED-4DB2-BD59-A6C34878D82A}">
                    <a16:rowId xmlns:a16="http://schemas.microsoft.com/office/drawing/2014/main" val="10001"/>
                  </a:ext>
                </a:extLst>
              </a:tr>
              <a:tr h="390525">
                <a:tc>
                  <a:txBody>
                    <a:bodyPr/>
                    <a:lstStyle/>
                    <a:p>
                      <a:pPr algn="ctr"/>
                      <a:r>
                        <a:rPr sz="2025">
                          <a:solidFill>
                            <a:srgbClr val="000000"/>
                          </a:solidFill>
                          <a:latin typeface="Calibri"/>
                          <a:ea typeface="Calibri"/>
                          <a:cs typeface="Calibri"/>
                        </a:rPr>
                        <a:t>2</a:t>
                      </a:r>
                    </a:p>
                  </a:txBody>
                  <a:tcPr marL="47625" marR="47625" marT="28575" marB="28575" anchor="ctr">
                    <a:solidFill>
                      <a:srgbClr val="FFFFFF"/>
                    </a:solidFill>
                  </a:tcPr>
                </a:tc>
                <a:extLst>
                  <a:ext uri="{0D108BD9-81ED-4DB2-BD59-A6C34878D82A}">
                    <a16:rowId xmlns:a16="http://schemas.microsoft.com/office/drawing/2014/main" val="10002"/>
                  </a:ext>
                </a:extLst>
              </a:tr>
              <a:tr h="390525">
                <a:tc>
                  <a:txBody>
                    <a:bodyPr/>
                    <a:lstStyle/>
                    <a:p>
                      <a:pPr algn="ctr"/>
                      <a:r>
                        <a:rPr sz="2025">
                          <a:solidFill>
                            <a:srgbClr val="000000"/>
                          </a:solidFill>
                          <a:latin typeface="Calibri"/>
                          <a:ea typeface="Calibri"/>
                          <a:cs typeface="Calibri"/>
                        </a:rPr>
                        <a:t>4</a:t>
                      </a:r>
                    </a:p>
                  </a:txBody>
                  <a:tcPr marL="47625" marR="47625" marT="28575" marB="28575" anchor="ctr">
                    <a:solidFill>
                      <a:srgbClr val="FFFFFF"/>
                    </a:solidFill>
                  </a:tcPr>
                </a:tc>
                <a:extLst>
                  <a:ext uri="{0D108BD9-81ED-4DB2-BD59-A6C34878D82A}">
                    <a16:rowId xmlns:a16="http://schemas.microsoft.com/office/drawing/2014/main" val="10003"/>
                  </a:ext>
                </a:extLst>
              </a:tr>
            </a:tbl>
          </a:graphicData>
        </a:graphic>
      </p:graphicFrame>
      <p:sp>
        <p:nvSpPr>
          <p:cNvPr id="8" name="body">
            <a:extLst>
              <a:ext uri="{FF2B5EF4-FFF2-40B4-BE49-F238E27FC236}">
                <a16:creationId xmlns:a16="http://schemas.microsoft.com/office/drawing/2014/main" id="{A69C4AC4-5A27-4D63-973D-306D174EDA66}"/>
              </a:ext>
            </a:extLst>
          </p:cNvPr>
          <p:cNvSpPr>
            <a:spLocks noGrp="1"/>
          </p:cNvSpPr>
          <p:nvPr/>
        </p:nvSpPr>
        <p:spPr>
          <a:xfrm>
            <a:off x="781050" y="4248150"/>
            <a:ext cx="7600950" cy="952500"/>
          </a:xfrm>
          <a:prstGeom prst="rect">
            <a:avLst/>
          </a:prstGeom>
          <a:noFill/>
          <a:ln w="0">
            <a:noFill/>
          </a:ln>
        </p:spPr>
        <p:txBody>
          <a:bodyPr wrap="square" lIns="0" tIns="0" rIns="0" bIns="0">
            <a:noAutofit/>
          </a:bodyPr>
          <a:lstStyle/>
          <a:p>
            <a:pPr>
              <a:defRPr sz="2250" b="0">
                <a:solidFill>
                  <a:srgbClr val="FF0000"/>
                </a:solidFill>
                <a:latin typeface="Calibri"/>
                <a:ea typeface="Calibri"/>
                <a:cs typeface="Calibri"/>
              </a:defRPr>
            </a:pPr>
            <a:r>
              <a:rPr sz="2250" b="0">
                <a:solidFill>
                  <a:srgbClr val="FF0000"/>
                </a:solidFill>
                <a:latin typeface="Calibri"/>
                <a:ea typeface="Calibri"/>
                <a:cs typeface="Calibri"/>
              </a:rPr>
              <a:t>Find IDs of students who attended no workshop.</a:t>
            </a:r>
          </a:p>
        </p:txBody>
      </p:sp>
      <p:sp>
        <p:nvSpPr>
          <p:cNvPr id="9" name="body">
            <a:extLst>
              <a:ext uri="{FF2B5EF4-FFF2-40B4-BE49-F238E27FC236}">
                <a16:creationId xmlns:a16="http://schemas.microsoft.com/office/drawing/2014/main" id="{22BC4E67-9DF7-4328-AB51-16B9FAD32159}"/>
              </a:ext>
            </a:extLst>
          </p:cNvPr>
          <p:cNvSpPr>
            <a:spLocks noGrp="1"/>
          </p:cNvSpPr>
          <p:nvPr/>
        </p:nvSpPr>
        <p:spPr>
          <a:xfrm>
            <a:off x="781050" y="5038725"/>
            <a:ext cx="7600950" cy="952500"/>
          </a:xfrm>
          <a:prstGeom prst="rect">
            <a:avLst/>
          </a:prstGeom>
          <a:noFill/>
          <a:ln w="0">
            <a:noFill/>
          </a:ln>
        </p:spPr>
        <p:txBody>
          <a:bodyPr wrap="square" lIns="0" tIns="0" rIns="0" bIns="0">
            <a:noAutofit/>
          </a:bodyPr>
          <a:lstStyle/>
          <a:p>
            <a:pPr>
              <a:defRPr sz="2100" b="0">
                <a:solidFill>
                  <a:srgbClr val="000000"/>
                </a:solidFill>
                <a:latin typeface="Calibri"/>
                <a:ea typeface="Calibri"/>
                <a:cs typeface="Calibri"/>
              </a:defRPr>
            </a:pPr>
            <a:r>
              <a:rPr sz="2100" b="0">
                <a:solidFill>
                  <a:srgbClr val="000000"/>
                </a:solidFill>
                <a:latin typeface="Calibri"/>
                <a:ea typeface="Calibri"/>
                <a:cs typeface="Calibri"/>
              </a:rPr>
              <a:t>Is Roster − Attended a valid expression?</a:t>
            </a:r>
          </a:p>
        </p:txBody>
      </p:sp>
      <p:sp>
        <p:nvSpPr>
          <p:cNvPr id="9001" name="Title 1">
            <a:extLst>
              <a:ext uri="{FF2B5EF4-FFF2-40B4-BE49-F238E27FC236}">
                <a16:creationId xmlns:a16="http://schemas.microsoft.com/office/drawing/2014/main" id="{4EF27E5C-9C4D-BDBE-7667-D0B141BCC8F5}"/>
              </a:ext>
            </a:extLst>
          </p:cNvPr>
          <p:cNvSpPr>
            <a:spLocks noGrp="1"/>
          </p:cNvSpPr>
          <p:nvPr>
            <p:ph type="title"/>
          </p:nvPr>
        </p:nvSpPr>
        <p:spPr/>
        <p:txBody>
          <a:bodyPr/>
          <a:lstStyle/>
          <a:p>
            <a:r>
              <a:rPr lang="en-US">
                <a:solidFill>
                  <a:srgbClr val="FF0000"/>
                </a:solidFill>
              </a:rPr>
              <a:t>Practice: </a:t>
            </a:r>
            <a:r>
              <a:rPr lang="en-US">
                <a:solidFill>
                  <a:srgbClr val="3333CC"/>
                </a:solidFill>
              </a:rPr>
              <a:t>Q10</a:t>
            </a:r>
          </a:p>
        </p:txBody>
      </p:sp>
      <p:sp>
        <p:nvSpPr>
          <p:cNvPr id="9002" name="Slide Number Placeholder 1">
            <a:extLst>
              <a:ext uri="{FF2B5EF4-FFF2-40B4-BE49-F238E27FC236}">
                <a16:creationId xmlns:a16="http://schemas.microsoft.com/office/drawing/2014/main" id="{B90139AC-3BDA-723A-097A-000DA0A784C1}"/>
              </a:ext>
            </a:extLst>
          </p:cNvPr>
          <p:cNvSpPr>
            <a:spLocks noGrp="1"/>
          </p:cNvSpPr>
          <p:nvPr>
            <p:ph type="sldNum" sz="quarter" idx="12"/>
          </p:nvPr>
        </p:nvSpPr>
        <p:spPr/>
        <p:txBody>
          <a:bodyPr/>
          <a:lstStyle/>
          <a:p>
            <a:pPr>
              <a:defRPr/>
            </a:pPr>
            <a:fld id="{43CA101F-9E5F-9249-9862-3CE55B3BB777}" type="slidenum">
              <a:rPr lang="en-US" altLang="zh-TW" smtClean="0"/>
              <a:pPr>
                <a:defRPr/>
              </a:pPr>
              <a:t>27</a:t>
            </a:fld>
            <a:endParaRPr lang="en-US" altLang="zh-TW"/>
          </a:p>
        </p:txBody>
      </p:sp>
    </p:spTree>
    <p:extLst>
      <p:ext uri="{BB962C8B-B14F-4D97-AF65-F5344CB8AC3E}">
        <p14:creationId xmlns:p14="http://schemas.microsoft.com/office/powerpoint/2010/main" val="108395511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body">
            <a:extLst>
              <a:ext uri="{FF2B5EF4-FFF2-40B4-BE49-F238E27FC236}">
                <a16:creationId xmlns:a16="http://schemas.microsoft.com/office/drawing/2014/main" id="{221B2C84-D340-4CD3-A5D4-EE9481869E73}"/>
              </a:ext>
            </a:extLst>
          </p:cNvPr>
          <p:cNvSpPr>
            <a:spLocks noGrp="1"/>
          </p:cNvSpPr>
          <p:nvPr/>
        </p:nvSpPr>
        <p:spPr>
          <a:xfrm>
            <a:off x="781050" y="1076325"/>
            <a:ext cx="7600950" cy="952500"/>
          </a:xfrm>
          <a:prstGeom prst="rect">
            <a:avLst/>
          </a:prstGeom>
          <a:noFill/>
          <a:ln w="0">
            <a:noFill/>
          </a:ln>
        </p:spPr>
        <p:txBody>
          <a:bodyPr wrap="square" lIns="0" tIns="0" rIns="0" bIns="0">
            <a:noAutofit/>
          </a:bodyPr>
          <a:lstStyle/>
          <a:p>
            <a:pPr>
              <a:defRPr sz="2250" b="0">
                <a:solidFill>
                  <a:srgbClr val="000000"/>
                </a:solidFill>
                <a:latin typeface="Calibri"/>
                <a:ea typeface="Calibri"/>
                <a:cs typeface="Calibri"/>
              </a:defRPr>
            </a:pPr>
            <a:r>
              <a:rPr sz="2250" b="0">
                <a:solidFill>
                  <a:srgbClr val="000000"/>
                </a:solidFill>
                <a:latin typeface="Calibri"/>
                <a:ea typeface="Calibri"/>
                <a:cs typeface="Calibri"/>
              </a:rPr>
              <a:t>Step 1: align the schemas to (sid).</a:t>
            </a:r>
          </a:p>
        </p:txBody>
      </p:sp>
      <p:sp>
        <p:nvSpPr>
          <p:cNvPr id="4" name="formula">
            <a:extLst>
              <a:ext uri="{FF2B5EF4-FFF2-40B4-BE49-F238E27FC236}">
                <a16:creationId xmlns:a16="http://schemas.microsoft.com/office/drawing/2014/main" id="{EF194CA8-9ADF-4A4E-90E1-08AE07C231B2}"/>
              </a:ext>
            </a:extLst>
          </p:cNvPr>
          <p:cNvSpPr>
            <a:spLocks noGrp="1"/>
          </p:cNvSpPr>
          <p:nvPr/>
        </p:nvSpPr>
        <p:spPr>
          <a:xfrm>
            <a:off x="781050" y="1762125"/>
            <a:ext cx="7600950" cy="523875"/>
          </a:xfrm>
          <a:prstGeom prst="rect">
            <a:avLst/>
          </a:prstGeom>
          <a:noFill/>
          <a:ln w="0">
            <a:noFill/>
          </a:ln>
        </p:spPr>
        <p:txBody>
          <a:bodyPr wrap="square" lIns="0" tIns="0" rIns="0" bIns="0">
            <a:noAutofit/>
          </a:bodyPr>
          <a:lstStyle/>
          <a:p>
            <a:pPr>
              <a:defRPr sz="2175" b="0">
                <a:solidFill>
                  <a:srgbClr val="000000"/>
                </a:solidFill>
                <a:latin typeface="Cambria Math"/>
                <a:ea typeface="Cambria Math"/>
                <a:cs typeface="Cambria Math"/>
              </a:defRPr>
            </a:pPr>
            <a:r>
              <a:rPr sz="2175" b="0">
                <a:solidFill>
                  <a:srgbClr val="000000"/>
                </a:solidFill>
                <a:latin typeface="Cambria Math"/>
                <a:ea typeface="Cambria Math"/>
                <a:cs typeface="Cambria Math"/>
              </a:rPr>
              <a:t>AllIDs ← π</a:t>
            </a:r>
            <a:r>
              <a:rPr sz="1544" b="0" baseline="-25000">
                <a:solidFill>
                  <a:srgbClr val="000000"/>
                </a:solidFill>
                <a:latin typeface="Cambria Math"/>
                <a:ea typeface="Cambria Math"/>
                <a:cs typeface="Cambria Math"/>
              </a:rPr>
              <a:t>sid</a:t>
            </a:r>
            <a:r>
              <a:rPr sz="2175" b="0">
                <a:solidFill>
                  <a:srgbClr val="000000"/>
                </a:solidFill>
                <a:latin typeface="Cambria Math"/>
                <a:ea typeface="Cambria Math"/>
                <a:cs typeface="Cambria Math"/>
              </a:rPr>
              <a:t>(Roster)</a:t>
            </a:r>
          </a:p>
        </p:txBody>
      </p:sp>
      <p:sp>
        <p:nvSpPr>
          <p:cNvPr id="5" name="body">
            <a:extLst>
              <a:ext uri="{FF2B5EF4-FFF2-40B4-BE49-F238E27FC236}">
                <a16:creationId xmlns:a16="http://schemas.microsoft.com/office/drawing/2014/main" id="{8B9C0872-C700-4866-8F39-03F7F73E5A64}"/>
              </a:ext>
            </a:extLst>
          </p:cNvPr>
          <p:cNvSpPr>
            <a:spLocks noGrp="1"/>
          </p:cNvSpPr>
          <p:nvPr/>
        </p:nvSpPr>
        <p:spPr>
          <a:xfrm>
            <a:off x="781050" y="2543175"/>
            <a:ext cx="7600950" cy="952500"/>
          </a:xfrm>
          <a:prstGeom prst="rect">
            <a:avLst/>
          </a:prstGeom>
          <a:noFill/>
          <a:ln w="0">
            <a:noFill/>
          </a:ln>
        </p:spPr>
        <p:txBody>
          <a:bodyPr wrap="square" lIns="0" tIns="0" rIns="0" bIns="0">
            <a:noAutofit/>
          </a:bodyPr>
          <a:lstStyle/>
          <a:p>
            <a:pPr>
              <a:defRPr sz="2175" b="0">
                <a:solidFill>
                  <a:srgbClr val="000000"/>
                </a:solidFill>
                <a:latin typeface="Calibri"/>
                <a:ea typeface="Calibri"/>
                <a:cs typeface="Calibri"/>
              </a:defRPr>
            </a:pPr>
            <a:r>
              <a:rPr sz="2175" b="0">
                <a:solidFill>
                  <a:srgbClr val="000000"/>
                </a:solidFill>
                <a:latin typeface="Calibri"/>
                <a:ea typeface="Calibri"/>
                <a:cs typeface="Calibri"/>
              </a:rPr>
              <a:t>Step 2: remove every ID with an attendance record.</a:t>
            </a:r>
          </a:p>
        </p:txBody>
      </p:sp>
      <p:sp>
        <p:nvSpPr>
          <p:cNvPr id="6" name="formula">
            <a:extLst>
              <a:ext uri="{FF2B5EF4-FFF2-40B4-BE49-F238E27FC236}">
                <a16:creationId xmlns:a16="http://schemas.microsoft.com/office/drawing/2014/main" id="{8454CB83-5485-46F2-B783-DC513FCB3679}"/>
              </a:ext>
            </a:extLst>
          </p:cNvPr>
          <p:cNvSpPr>
            <a:spLocks noGrp="1"/>
          </p:cNvSpPr>
          <p:nvPr/>
        </p:nvSpPr>
        <p:spPr>
          <a:xfrm>
            <a:off x="781050" y="3209925"/>
            <a:ext cx="7600950" cy="523875"/>
          </a:xfrm>
          <a:prstGeom prst="rect">
            <a:avLst/>
          </a:prstGeom>
          <a:noFill/>
          <a:ln w="0">
            <a:noFill/>
          </a:ln>
        </p:spPr>
        <p:txBody>
          <a:bodyPr wrap="square" lIns="0" tIns="0" rIns="0" bIns="0">
            <a:noAutofit/>
          </a:bodyPr>
          <a:lstStyle/>
          <a:p>
            <a:pPr>
              <a:defRPr sz="2175" b="0">
                <a:solidFill>
                  <a:srgbClr val="000000"/>
                </a:solidFill>
                <a:latin typeface="Cambria Math"/>
                <a:ea typeface="Cambria Math"/>
                <a:cs typeface="Cambria Math"/>
              </a:defRPr>
            </a:pPr>
            <a:r>
              <a:rPr sz="2175" b="0">
                <a:solidFill>
                  <a:srgbClr val="000000"/>
                </a:solidFill>
                <a:latin typeface="Cambria Math"/>
                <a:ea typeface="Cambria Math"/>
                <a:cs typeface="Cambria Math"/>
              </a:rPr>
              <a:t>Answer ← AllIDs − Attended</a:t>
            </a:r>
          </a:p>
        </p:txBody>
      </p:sp>
      <p:sp>
        <p:nvSpPr>
          <p:cNvPr id="7" name="body">
            <a:extLst>
              <a:ext uri="{FF2B5EF4-FFF2-40B4-BE49-F238E27FC236}">
                <a16:creationId xmlns:a16="http://schemas.microsoft.com/office/drawing/2014/main" id="{9B617B80-B53B-42FC-BBB3-D44372538632}"/>
              </a:ext>
            </a:extLst>
          </p:cNvPr>
          <p:cNvSpPr>
            <a:spLocks noGrp="1"/>
          </p:cNvSpPr>
          <p:nvPr/>
        </p:nvSpPr>
        <p:spPr>
          <a:xfrm>
            <a:off x="3067050" y="3762375"/>
            <a:ext cx="2667000" cy="361950"/>
          </a:xfrm>
          <a:prstGeom prst="rect">
            <a:avLst/>
          </a:prstGeom>
          <a:noFill/>
          <a:ln w="0">
            <a:noFill/>
          </a:ln>
        </p:spPr>
        <p:txBody>
          <a:bodyPr wrap="square" lIns="0" tIns="0" rIns="0" bIns="0">
            <a:noAutofit/>
          </a:bodyPr>
          <a:lstStyle/>
          <a:p>
            <a:pPr>
              <a:defRPr sz="2250" b="0">
                <a:solidFill>
                  <a:srgbClr val="000000"/>
                </a:solidFill>
                <a:latin typeface="Calibri"/>
                <a:ea typeface="Calibri"/>
                <a:cs typeface="Calibri"/>
              </a:defRPr>
            </a:pPr>
            <a:r>
              <a:rPr sz="2250" b="0">
                <a:solidFill>
                  <a:srgbClr val="000000"/>
                </a:solidFill>
                <a:latin typeface="Calibri"/>
                <a:ea typeface="Calibri"/>
                <a:cs typeface="Calibri"/>
              </a:rPr>
              <a:t>Answer</a:t>
            </a:r>
          </a:p>
        </p:txBody>
      </p:sp>
      <p:graphicFrame>
        <p:nvGraphicFramePr>
          <p:cNvPr id="17" name="表格 16"/>
          <p:cNvGraphicFramePr/>
          <p:nvPr/>
        </p:nvGraphicFramePr>
        <p:xfrm>
          <a:off x="3143250" y="4181475"/>
          <a:ext cx="2667000" cy="1200150"/>
        </p:xfrm>
        <a:graphic>
          <a:graphicData uri="http://schemas.openxmlformats.org/drawingml/2006/table">
            <a:tbl>
              <a:tblPr/>
              <a:tblGrid>
                <a:gridCol w="2667000">
                  <a:extLst>
                    <a:ext uri="{9D8B030D-6E8A-4147-A177-3AD203B41FA5}">
                      <a16:colId xmlns:a16="http://schemas.microsoft.com/office/drawing/2014/main" val="20000"/>
                    </a:ext>
                  </a:extLst>
                </a:gridCol>
              </a:tblGrid>
              <a:tr h="400050">
                <a:tc>
                  <a:txBody>
                    <a:bodyPr/>
                    <a:lstStyle/>
                    <a:p>
                      <a:pPr algn="ctr"/>
                      <a:r>
                        <a:rPr sz="2025">
                          <a:solidFill>
                            <a:srgbClr val="000000"/>
                          </a:solidFill>
                          <a:latin typeface="Calibri"/>
                          <a:ea typeface="Calibri"/>
                          <a:cs typeface="Calibri"/>
                        </a:rPr>
                        <a:t>sid</a:t>
                      </a:r>
                    </a:p>
                  </a:txBody>
                  <a:tcPr marL="47625" marR="47625" marT="28575" marB="28575" anchor="ctr">
                    <a:solidFill>
                      <a:srgbClr val="D9D9D9"/>
                    </a:solidFill>
                  </a:tcPr>
                </a:tc>
                <a:extLst>
                  <a:ext uri="{0D108BD9-81ED-4DB2-BD59-A6C34878D82A}">
                    <a16:rowId xmlns:a16="http://schemas.microsoft.com/office/drawing/2014/main" val="10000"/>
                  </a:ext>
                </a:extLst>
              </a:tr>
              <a:tr h="400050">
                <a:tc>
                  <a:txBody>
                    <a:bodyPr/>
                    <a:lstStyle/>
                    <a:p>
                      <a:pPr algn="ctr"/>
                      <a:r>
                        <a:rPr sz="2025">
                          <a:solidFill>
                            <a:srgbClr val="000000"/>
                          </a:solidFill>
                          <a:latin typeface="Calibri"/>
                          <a:ea typeface="Calibri"/>
                          <a:cs typeface="Calibri"/>
                        </a:rPr>
                        <a:t>3</a:t>
                      </a:r>
                    </a:p>
                  </a:txBody>
                  <a:tcPr marL="47625" marR="47625" marT="28575" marB="28575" anchor="ctr">
                    <a:solidFill>
                      <a:srgbClr val="FFFFFF"/>
                    </a:solidFill>
                  </a:tcPr>
                </a:tc>
                <a:extLst>
                  <a:ext uri="{0D108BD9-81ED-4DB2-BD59-A6C34878D82A}">
                    <a16:rowId xmlns:a16="http://schemas.microsoft.com/office/drawing/2014/main" val="10001"/>
                  </a:ext>
                </a:extLst>
              </a:tr>
              <a:tr h="400050">
                <a:tc>
                  <a:txBody>
                    <a:bodyPr/>
                    <a:lstStyle/>
                    <a:p>
                      <a:pPr algn="ctr"/>
                      <a:r>
                        <a:rPr sz="2025">
                          <a:solidFill>
                            <a:srgbClr val="000000"/>
                          </a:solidFill>
                          <a:latin typeface="Calibri"/>
                          <a:ea typeface="Calibri"/>
                          <a:cs typeface="Calibri"/>
                        </a:rPr>
                        <a:t>5</a:t>
                      </a:r>
                    </a:p>
                  </a:txBody>
                  <a:tcPr marL="47625" marR="47625" marT="28575" marB="28575" anchor="ctr">
                    <a:solidFill>
                      <a:srgbClr val="FFFFFF"/>
                    </a:solidFill>
                  </a:tcPr>
                </a:tc>
                <a:extLst>
                  <a:ext uri="{0D108BD9-81ED-4DB2-BD59-A6C34878D82A}">
                    <a16:rowId xmlns:a16="http://schemas.microsoft.com/office/drawing/2014/main" val="10002"/>
                  </a:ext>
                </a:extLst>
              </a:tr>
            </a:tbl>
          </a:graphicData>
        </a:graphic>
      </p:graphicFrame>
      <p:sp>
        <p:nvSpPr>
          <p:cNvPr id="9" name="body">
            <a:extLst>
              <a:ext uri="{FF2B5EF4-FFF2-40B4-BE49-F238E27FC236}">
                <a16:creationId xmlns:a16="http://schemas.microsoft.com/office/drawing/2014/main" id="{48754CB0-3F31-434D-B3B1-0977B8BF4A75}"/>
              </a:ext>
            </a:extLst>
          </p:cNvPr>
          <p:cNvSpPr>
            <a:spLocks noGrp="1"/>
          </p:cNvSpPr>
          <p:nvPr/>
        </p:nvSpPr>
        <p:spPr>
          <a:xfrm>
            <a:off x="781050" y="5524500"/>
            <a:ext cx="7600950" cy="952500"/>
          </a:xfrm>
          <a:prstGeom prst="rect">
            <a:avLst/>
          </a:prstGeom>
          <a:noFill/>
          <a:ln w="0">
            <a:noFill/>
          </a:ln>
        </p:spPr>
        <p:txBody>
          <a:bodyPr wrap="square" lIns="0" tIns="0" rIns="0" bIns="0">
            <a:noAutofit/>
          </a:bodyPr>
          <a:lstStyle/>
          <a:p>
            <a:pPr>
              <a:defRPr sz="2025" b="0">
                <a:solidFill>
                  <a:srgbClr val="FF0000"/>
                </a:solidFill>
                <a:latin typeface="Calibri"/>
                <a:ea typeface="Calibri"/>
                <a:cs typeface="Calibri"/>
              </a:defRPr>
            </a:pPr>
            <a:r>
              <a:rPr sz="2025" b="0">
                <a:solidFill>
                  <a:srgbClr val="FF0000"/>
                </a:solidFill>
                <a:latin typeface="Calibri"/>
                <a:ea typeface="Calibri"/>
                <a:cs typeface="Calibri"/>
              </a:rPr>
              <a:t>Roster − Attended is invalid: the input arities differ.</a:t>
            </a:r>
          </a:p>
        </p:txBody>
      </p:sp>
      <p:sp>
        <p:nvSpPr>
          <p:cNvPr id="9001" name="Title 1">
            <a:extLst>
              <a:ext uri="{FF2B5EF4-FFF2-40B4-BE49-F238E27FC236}">
                <a16:creationId xmlns:a16="http://schemas.microsoft.com/office/drawing/2014/main" id="{4EF27E5C-9C4D-BDBE-7667-D0B141BCC8F5}"/>
              </a:ext>
            </a:extLst>
          </p:cNvPr>
          <p:cNvSpPr>
            <a:spLocks noGrp="1"/>
          </p:cNvSpPr>
          <p:nvPr>
            <p:ph type="title"/>
          </p:nvPr>
        </p:nvSpPr>
        <p:spPr/>
        <p:txBody>
          <a:bodyPr/>
          <a:lstStyle/>
          <a:p>
            <a:r>
              <a:rPr lang="en-US">
                <a:solidFill>
                  <a:srgbClr val="FF0000"/>
                </a:solidFill>
              </a:rPr>
              <a:t>Solutions: </a:t>
            </a:r>
            <a:r>
              <a:rPr lang="en-US">
                <a:solidFill>
                  <a:srgbClr val="3333CC"/>
                </a:solidFill>
              </a:rPr>
              <a:t>Q10</a:t>
            </a:r>
          </a:p>
        </p:txBody>
      </p:sp>
      <p:sp>
        <p:nvSpPr>
          <p:cNvPr id="9002" name="Slide Number Placeholder 1">
            <a:extLst>
              <a:ext uri="{FF2B5EF4-FFF2-40B4-BE49-F238E27FC236}">
                <a16:creationId xmlns:a16="http://schemas.microsoft.com/office/drawing/2014/main" id="{B90139AC-3BDA-723A-097A-000DA0A784C1}"/>
              </a:ext>
            </a:extLst>
          </p:cNvPr>
          <p:cNvSpPr>
            <a:spLocks noGrp="1"/>
          </p:cNvSpPr>
          <p:nvPr>
            <p:ph type="sldNum" sz="quarter" idx="12"/>
          </p:nvPr>
        </p:nvSpPr>
        <p:spPr/>
        <p:txBody>
          <a:bodyPr/>
          <a:lstStyle/>
          <a:p>
            <a:pPr>
              <a:defRPr/>
            </a:pPr>
            <a:fld id="{43CA101F-9E5F-9249-9862-3CE55B3BB777}" type="slidenum">
              <a:rPr lang="en-US" altLang="zh-TW" smtClean="0"/>
              <a:pPr>
                <a:defRPr/>
              </a:pPr>
              <a:t>28</a:t>
            </a:fld>
            <a:endParaRPr lang="en-US" altLang="zh-TW"/>
          </a:p>
        </p:txBody>
      </p:sp>
    </p:spTree>
    <p:extLst>
      <p:ext uri="{BB962C8B-B14F-4D97-AF65-F5344CB8AC3E}">
        <p14:creationId xmlns:p14="http://schemas.microsoft.com/office/powerpoint/2010/main" val="179425283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formula">
            <a:extLst>
              <a:ext uri="{FF2B5EF4-FFF2-40B4-BE49-F238E27FC236}">
                <a16:creationId xmlns:a16="http://schemas.microsoft.com/office/drawing/2014/main" id="{E8CA6DDA-0D70-4983-B1CD-35AEBC01BF9F}"/>
              </a:ext>
            </a:extLst>
          </p:cNvPr>
          <p:cNvSpPr>
            <a:spLocks noGrp="1"/>
          </p:cNvSpPr>
          <p:nvPr/>
        </p:nvSpPr>
        <p:spPr>
          <a:xfrm>
            <a:off x="1085850" y="1162050"/>
            <a:ext cx="6953250" cy="523875"/>
          </a:xfrm>
          <a:prstGeom prst="rect">
            <a:avLst/>
          </a:prstGeom>
          <a:noFill/>
          <a:ln w="0">
            <a:noFill/>
          </a:ln>
        </p:spPr>
        <p:txBody>
          <a:bodyPr wrap="square" lIns="0" tIns="0" rIns="0" bIns="0">
            <a:noAutofit/>
          </a:bodyPr>
          <a:lstStyle/>
          <a:p>
            <a:pPr>
              <a:defRPr sz="2850" b="0">
                <a:solidFill>
                  <a:srgbClr val="000000"/>
                </a:solidFill>
                <a:latin typeface="Cambria Math"/>
                <a:ea typeface="Cambria Math"/>
                <a:cs typeface="Cambria Math"/>
              </a:defRPr>
            </a:pPr>
            <a:r>
              <a:rPr sz="2850" b="0">
                <a:solidFill>
                  <a:srgbClr val="000000"/>
                </a:solidFill>
                <a:latin typeface="Cambria Math"/>
                <a:ea typeface="Cambria Math"/>
                <a:cs typeface="Cambria Math"/>
              </a:rPr>
              <a:t>R ∩ S</a:t>
            </a:r>
          </a:p>
        </p:txBody>
      </p:sp>
      <p:sp>
        <p:nvSpPr>
          <p:cNvPr id="4" name="body">
            <a:extLst>
              <a:ext uri="{FF2B5EF4-FFF2-40B4-BE49-F238E27FC236}">
                <a16:creationId xmlns:a16="http://schemas.microsoft.com/office/drawing/2014/main" id="{BA7D79B7-F369-4CE3-9ADC-2EB84C9AE701}"/>
              </a:ext>
            </a:extLst>
          </p:cNvPr>
          <p:cNvSpPr>
            <a:spLocks noGrp="1"/>
          </p:cNvSpPr>
          <p:nvPr/>
        </p:nvSpPr>
        <p:spPr>
          <a:xfrm>
            <a:off x="781050" y="2105025"/>
            <a:ext cx="219075" cy="400050"/>
          </a:xfrm>
          <a:prstGeom prst="rect">
            <a:avLst/>
          </a:prstGeom>
          <a:noFill/>
          <a:ln w="0">
            <a:noFill/>
          </a:ln>
        </p:spPr>
        <p:txBody>
          <a:bodyPr wrap="square" lIns="0" tIns="0" rIns="0" bIns="0">
            <a:noAutofit/>
          </a:bodyPr>
          <a:lstStyle/>
          <a:p>
            <a:pPr>
              <a:defRPr sz="2250" b="0">
                <a:solidFill>
                  <a:srgbClr val="000000"/>
                </a:solidFill>
                <a:latin typeface="Calibri"/>
                <a:ea typeface="Calibri"/>
                <a:cs typeface="Calibri"/>
              </a:defRPr>
            </a:pPr>
            <a:r>
              <a:rPr sz="2250" b="0">
                <a:solidFill>
                  <a:srgbClr val="000000"/>
                </a:solidFill>
                <a:latin typeface="Calibri"/>
                <a:ea typeface="Calibri"/>
                <a:cs typeface="Calibri"/>
              </a:rPr>
              <a:t>•</a:t>
            </a:r>
          </a:p>
        </p:txBody>
      </p:sp>
      <p:sp>
        <p:nvSpPr>
          <p:cNvPr id="5" name="body">
            <a:extLst>
              <a:ext uri="{FF2B5EF4-FFF2-40B4-BE49-F238E27FC236}">
                <a16:creationId xmlns:a16="http://schemas.microsoft.com/office/drawing/2014/main" id="{2B707D24-180D-4501-8044-284B8155355F}"/>
              </a:ext>
            </a:extLst>
          </p:cNvPr>
          <p:cNvSpPr>
            <a:spLocks noGrp="1"/>
          </p:cNvSpPr>
          <p:nvPr/>
        </p:nvSpPr>
        <p:spPr>
          <a:xfrm>
            <a:off x="1104900" y="2105025"/>
            <a:ext cx="7239000" cy="952500"/>
          </a:xfrm>
          <a:prstGeom prst="rect">
            <a:avLst/>
          </a:prstGeom>
          <a:noFill/>
          <a:ln w="0">
            <a:noFill/>
          </a:ln>
        </p:spPr>
        <p:txBody>
          <a:bodyPr wrap="square" lIns="0" tIns="0" rIns="0" bIns="0">
            <a:noAutofit/>
          </a:bodyPr>
          <a:lstStyle/>
          <a:p>
            <a:pPr>
              <a:defRPr sz="2250" b="0">
                <a:solidFill>
                  <a:srgbClr val="000000"/>
                </a:solidFill>
                <a:latin typeface="Calibri"/>
                <a:ea typeface="Calibri"/>
                <a:cs typeface="Calibri"/>
              </a:defRPr>
            </a:pPr>
            <a:r>
              <a:rPr sz="2250" b="0">
                <a:solidFill>
                  <a:srgbClr val="000000"/>
                </a:solidFill>
                <a:latin typeface="Calibri"/>
                <a:ea typeface="Calibri"/>
                <a:cs typeface="Calibri"/>
              </a:rPr>
              <a:t>Keep tuples that occur in both relations.</a:t>
            </a:r>
          </a:p>
        </p:txBody>
      </p:sp>
      <p:sp>
        <p:nvSpPr>
          <p:cNvPr id="6" name="body">
            <a:extLst>
              <a:ext uri="{FF2B5EF4-FFF2-40B4-BE49-F238E27FC236}">
                <a16:creationId xmlns:a16="http://schemas.microsoft.com/office/drawing/2014/main" id="{282C17BB-1D4C-4550-AACF-A257CE976960}"/>
              </a:ext>
            </a:extLst>
          </p:cNvPr>
          <p:cNvSpPr>
            <a:spLocks noGrp="1"/>
          </p:cNvSpPr>
          <p:nvPr/>
        </p:nvSpPr>
        <p:spPr>
          <a:xfrm>
            <a:off x="781050" y="2981325"/>
            <a:ext cx="219075" cy="400050"/>
          </a:xfrm>
          <a:prstGeom prst="rect">
            <a:avLst/>
          </a:prstGeom>
          <a:noFill/>
          <a:ln w="0">
            <a:noFill/>
          </a:ln>
        </p:spPr>
        <p:txBody>
          <a:bodyPr wrap="square" lIns="0" tIns="0" rIns="0" bIns="0">
            <a:noAutofit/>
          </a:bodyPr>
          <a:lstStyle/>
          <a:p>
            <a:pPr>
              <a:defRPr sz="2250" b="0">
                <a:solidFill>
                  <a:srgbClr val="000000"/>
                </a:solidFill>
                <a:latin typeface="Calibri"/>
                <a:ea typeface="Calibri"/>
                <a:cs typeface="Calibri"/>
              </a:defRPr>
            </a:pPr>
            <a:r>
              <a:rPr sz="2250" b="0">
                <a:solidFill>
                  <a:srgbClr val="000000"/>
                </a:solidFill>
                <a:latin typeface="Calibri"/>
                <a:ea typeface="Calibri"/>
                <a:cs typeface="Calibri"/>
              </a:rPr>
              <a:t>•</a:t>
            </a:r>
          </a:p>
        </p:txBody>
      </p:sp>
      <p:sp>
        <p:nvSpPr>
          <p:cNvPr id="7" name="body">
            <a:extLst>
              <a:ext uri="{FF2B5EF4-FFF2-40B4-BE49-F238E27FC236}">
                <a16:creationId xmlns:a16="http://schemas.microsoft.com/office/drawing/2014/main" id="{86DB1A9F-8AD8-4D3B-8BAB-041BFCE6EB66}"/>
              </a:ext>
            </a:extLst>
          </p:cNvPr>
          <p:cNvSpPr>
            <a:spLocks noGrp="1"/>
          </p:cNvSpPr>
          <p:nvPr/>
        </p:nvSpPr>
        <p:spPr>
          <a:xfrm>
            <a:off x="1104900" y="2981325"/>
            <a:ext cx="7239000" cy="952500"/>
          </a:xfrm>
          <a:prstGeom prst="rect">
            <a:avLst/>
          </a:prstGeom>
          <a:noFill/>
          <a:ln w="0">
            <a:noFill/>
          </a:ln>
        </p:spPr>
        <p:txBody>
          <a:bodyPr wrap="square" lIns="0" tIns="0" rIns="0" bIns="0">
            <a:noAutofit/>
          </a:bodyPr>
          <a:lstStyle/>
          <a:p>
            <a:pPr>
              <a:defRPr sz="2250" b="0">
                <a:solidFill>
                  <a:srgbClr val="000000"/>
                </a:solidFill>
                <a:latin typeface="Calibri"/>
                <a:ea typeface="Calibri"/>
                <a:cs typeface="Calibri"/>
              </a:defRPr>
            </a:pPr>
            <a:r>
              <a:rPr sz="2250" b="0">
                <a:solidFill>
                  <a:srgbClr val="000000"/>
                </a:solidFill>
                <a:latin typeface="Calibri"/>
                <a:ea typeface="Calibri"/>
                <a:cs typeface="Calibri"/>
              </a:rPr>
              <a:t>Both inputs must be union-compatible.</a:t>
            </a:r>
          </a:p>
        </p:txBody>
      </p:sp>
      <p:sp>
        <p:nvSpPr>
          <p:cNvPr id="8" name="formula">
            <a:extLst>
              <a:ext uri="{FF2B5EF4-FFF2-40B4-BE49-F238E27FC236}">
                <a16:creationId xmlns:a16="http://schemas.microsoft.com/office/drawing/2014/main" id="{B859E12A-20EA-4CB3-968F-B1962C1AE827}"/>
              </a:ext>
            </a:extLst>
          </p:cNvPr>
          <p:cNvSpPr>
            <a:spLocks noGrp="1"/>
          </p:cNvSpPr>
          <p:nvPr/>
        </p:nvSpPr>
        <p:spPr>
          <a:xfrm>
            <a:off x="1095375" y="3857625"/>
            <a:ext cx="7143750" cy="523875"/>
          </a:xfrm>
          <a:prstGeom prst="rect">
            <a:avLst/>
          </a:prstGeom>
          <a:noFill/>
          <a:ln w="0">
            <a:noFill/>
          </a:ln>
        </p:spPr>
        <p:txBody>
          <a:bodyPr wrap="square" lIns="0" tIns="0" rIns="0" bIns="0">
            <a:noAutofit/>
          </a:bodyPr>
          <a:lstStyle/>
          <a:p>
            <a:pPr>
              <a:defRPr sz="2625" b="0">
                <a:solidFill>
                  <a:srgbClr val="000000"/>
                </a:solidFill>
                <a:latin typeface="Cambria Math"/>
                <a:ea typeface="Cambria Math"/>
                <a:cs typeface="Cambria Math"/>
              </a:defRPr>
            </a:pPr>
            <a:r>
              <a:rPr sz="2625" b="0">
                <a:solidFill>
                  <a:srgbClr val="000000"/>
                </a:solidFill>
                <a:latin typeface="Cambria Math"/>
                <a:ea typeface="Cambria Math"/>
                <a:cs typeface="Cambria Math"/>
              </a:rPr>
              <a:t>R ∩ S = R − (R − S)</a:t>
            </a:r>
          </a:p>
        </p:txBody>
      </p:sp>
      <p:sp>
        <p:nvSpPr>
          <p:cNvPr id="9" name="body">
            <a:extLst>
              <a:ext uri="{FF2B5EF4-FFF2-40B4-BE49-F238E27FC236}">
                <a16:creationId xmlns:a16="http://schemas.microsoft.com/office/drawing/2014/main" id="{05AD78B5-6FEF-49C1-AF16-548E65708790}"/>
              </a:ext>
            </a:extLst>
          </p:cNvPr>
          <p:cNvSpPr>
            <a:spLocks noGrp="1"/>
          </p:cNvSpPr>
          <p:nvPr/>
        </p:nvSpPr>
        <p:spPr>
          <a:xfrm>
            <a:off x="781050" y="4962525"/>
            <a:ext cx="7600950" cy="952500"/>
          </a:xfrm>
          <a:prstGeom prst="rect">
            <a:avLst/>
          </a:prstGeom>
          <a:noFill/>
          <a:ln w="0">
            <a:noFill/>
          </a:ln>
        </p:spPr>
        <p:txBody>
          <a:bodyPr wrap="square" lIns="0" tIns="0" rIns="0" bIns="0">
            <a:noAutofit/>
          </a:bodyPr>
          <a:lstStyle/>
          <a:p>
            <a:pPr>
              <a:defRPr sz="2175" b="0">
                <a:solidFill>
                  <a:srgbClr val="FF0000"/>
                </a:solidFill>
                <a:latin typeface="Calibri"/>
                <a:ea typeface="Calibri"/>
                <a:cs typeface="Calibri"/>
              </a:defRPr>
            </a:pPr>
            <a:r>
              <a:rPr sz="2175" b="0">
                <a:solidFill>
                  <a:srgbClr val="FF0000"/>
                </a:solidFill>
                <a:latin typeface="Calibri"/>
                <a:ea typeface="Calibri"/>
                <a:cs typeface="Calibri"/>
              </a:rPr>
              <a:t>The identity removes the tuples of R that are outside S.</a:t>
            </a:r>
          </a:p>
        </p:txBody>
      </p:sp>
      <p:sp>
        <p:nvSpPr>
          <p:cNvPr id="9001" name="Title 1">
            <a:extLst>
              <a:ext uri="{FF2B5EF4-FFF2-40B4-BE49-F238E27FC236}">
                <a16:creationId xmlns:a16="http://schemas.microsoft.com/office/drawing/2014/main" id="{4EF27E5C-9C4D-BDBE-7667-D0B141BCC8F5}"/>
              </a:ext>
            </a:extLst>
          </p:cNvPr>
          <p:cNvSpPr>
            <a:spLocks noGrp="1"/>
          </p:cNvSpPr>
          <p:nvPr>
            <p:ph type="title"/>
          </p:nvPr>
        </p:nvSpPr>
        <p:spPr/>
        <p:txBody>
          <a:bodyPr/>
          <a:lstStyle/>
          <a:p>
            <a:r>
              <a:rPr lang="en-US">
                <a:solidFill>
                  <a:srgbClr val="3333CC"/>
                </a:solidFill>
              </a:rPr>
              <a:t>Set-Intersection Operation</a:t>
            </a:r>
          </a:p>
        </p:txBody>
      </p:sp>
      <p:sp>
        <p:nvSpPr>
          <p:cNvPr id="9002" name="Slide Number Placeholder 1">
            <a:extLst>
              <a:ext uri="{FF2B5EF4-FFF2-40B4-BE49-F238E27FC236}">
                <a16:creationId xmlns:a16="http://schemas.microsoft.com/office/drawing/2014/main" id="{B90139AC-3BDA-723A-097A-000DA0A784C1}"/>
              </a:ext>
            </a:extLst>
          </p:cNvPr>
          <p:cNvSpPr>
            <a:spLocks noGrp="1"/>
          </p:cNvSpPr>
          <p:nvPr>
            <p:ph type="sldNum" sz="quarter" idx="12"/>
          </p:nvPr>
        </p:nvSpPr>
        <p:spPr/>
        <p:txBody>
          <a:bodyPr/>
          <a:lstStyle/>
          <a:p>
            <a:pPr>
              <a:defRPr/>
            </a:pPr>
            <a:fld id="{43CA101F-9E5F-9249-9862-3CE55B3BB777}" type="slidenum">
              <a:rPr lang="en-US" altLang="zh-TW" smtClean="0"/>
              <a:pPr>
                <a:defRPr/>
              </a:pPr>
              <a:t>29</a:t>
            </a:fld>
            <a:endParaRPr lang="en-US" altLang="zh-TW"/>
          </a:p>
        </p:txBody>
      </p:sp>
    </p:spTree>
    <p:extLst>
      <p:ext uri="{BB962C8B-B14F-4D97-AF65-F5344CB8AC3E}">
        <p14:creationId xmlns:p14="http://schemas.microsoft.com/office/powerpoint/2010/main" val="90819794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body">
            <a:extLst>
              <a:ext uri="{FF2B5EF4-FFF2-40B4-BE49-F238E27FC236}">
                <a16:creationId xmlns:a16="http://schemas.microsoft.com/office/drawing/2014/main" id="{CD9B6F45-7F3D-45FC-BD2F-0AB192FAD0D7}"/>
              </a:ext>
            </a:extLst>
          </p:cNvPr>
          <p:cNvSpPr>
            <a:spLocks noGrp="1"/>
          </p:cNvSpPr>
          <p:nvPr/>
        </p:nvSpPr>
        <p:spPr>
          <a:xfrm>
            <a:off x="781050" y="5876925"/>
            <a:ext cx="7620000" cy="285750"/>
          </a:xfrm>
          <a:prstGeom prst="rect">
            <a:avLst/>
          </a:prstGeom>
          <a:noFill/>
          <a:ln w="0">
            <a:noFill/>
          </a:ln>
        </p:spPr>
        <p:txBody>
          <a:bodyPr wrap="square" lIns="0" tIns="0" rIns="0" bIns="0">
            <a:noAutofit/>
          </a:bodyPr>
          <a:lstStyle/>
          <a:p>
            <a:pPr>
              <a:defRPr sz="1725" b="0">
                <a:solidFill>
                  <a:srgbClr val="3333CC"/>
                </a:solidFill>
                <a:latin typeface="Calibri"/>
                <a:ea typeface="Calibri"/>
                <a:cs typeface="Calibri"/>
              </a:defRPr>
            </a:pPr>
            <a:r>
              <a:rPr sz="1725" b="0">
                <a:solidFill>
                  <a:srgbClr val="3333CC"/>
                </a:solidFill>
                <a:latin typeface="Calibri"/>
                <a:ea typeface="Calibri"/>
                <a:cs typeface="Calibri"/>
              </a:rPr>
              <a:t>Think: 30 s</a:t>
            </a:r>
          </a:p>
        </p:txBody>
      </p:sp>
      <p:sp>
        <p:nvSpPr>
          <p:cNvPr id="6" name="body">
            <a:extLst>
              <a:ext uri="{FF2B5EF4-FFF2-40B4-BE49-F238E27FC236}">
                <a16:creationId xmlns:a16="http://schemas.microsoft.com/office/drawing/2014/main" id="{3F269097-2609-4977-BD81-006549FF8328}"/>
              </a:ext>
            </a:extLst>
          </p:cNvPr>
          <p:cNvSpPr>
            <a:spLocks noGrp="1"/>
          </p:cNvSpPr>
          <p:nvPr/>
        </p:nvSpPr>
        <p:spPr>
          <a:xfrm>
            <a:off x="1000125" y="1724025"/>
            <a:ext cx="1809750" cy="361950"/>
          </a:xfrm>
          <a:prstGeom prst="rect">
            <a:avLst/>
          </a:prstGeom>
          <a:noFill/>
          <a:ln w="0">
            <a:noFill/>
          </a:ln>
        </p:spPr>
        <p:txBody>
          <a:bodyPr wrap="square" lIns="0" tIns="0" rIns="0" bIns="0">
            <a:noAutofit/>
          </a:bodyPr>
          <a:lstStyle/>
          <a:p>
            <a:pPr>
              <a:defRPr sz="2250" b="0">
                <a:solidFill>
                  <a:srgbClr val="000000"/>
                </a:solidFill>
                <a:latin typeface="Calibri"/>
                <a:ea typeface="Calibri"/>
                <a:cs typeface="Calibri"/>
              </a:defRPr>
            </a:pPr>
            <a:r>
              <a:rPr sz="2250" b="0">
                <a:solidFill>
                  <a:srgbClr val="000000"/>
                </a:solidFill>
                <a:latin typeface="Calibri"/>
                <a:ea typeface="Calibri"/>
                <a:cs typeface="Calibri"/>
              </a:rPr>
              <a:t>Hack</a:t>
            </a:r>
          </a:p>
        </p:txBody>
      </p:sp>
      <p:graphicFrame>
        <p:nvGraphicFramePr>
          <p:cNvPr id="20" name="表格 19"/>
          <p:cNvGraphicFramePr/>
          <p:nvPr/>
        </p:nvGraphicFramePr>
        <p:xfrm>
          <a:off x="1076325" y="2143125"/>
          <a:ext cx="1809750" cy="1638300"/>
        </p:xfrm>
        <a:graphic>
          <a:graphicData uri="http://schemas.openxmlformats.org/drawingml/2006/table">
            <a:tbl>
              <a:tblPr/>
              <a:tblGrid>
                <a:gridCol w="1809750">
                  <a:extLst>
                    <a:ext uri="{9D8B030D-6E8A-4147-A177-3AD203B41FA5}">
                      <a16:colId xmlns:a16="http://schemas.microsoft.com/office/drawing/2014/main" val="20000"/>
                    </a:ext>
                  </a:extLst>
                </a:gridCol>
              </a:tblGrid>
              <a:tr h="409575">
                <a:tc>
                  <a:txBody>
                    <a:bodyPr/>
                    <a:lstStyle/>
                    <a:p>
                      <a:pPr algn="ctr"/>
                      <a:r>
                        <a:rPr sz="2025">
                          <a:solidFill>
                            <a:srgbClr val="000000"/>
                          </a:solidFill>
                          <a:latin typeface="Calibri"/>
                          <a:ea typeface="Calibri"/>
                          <a:cs typeface="Calibri"/>
                        </a:rPr>
                        <a:t>mid</a:t>
                      </a:r>
                    </a:p>
                  </a:txBody>
                  <a:tcPr marL="47625" marR="47625" marT="28575" marB="28575" anchor="ctr">
                    <a:solidFill>
                      <a:srgbClr val="D9D9D9"/>
                    </a:solidFill>
                  </a:tcPr>
                </a:tc>
                <a:extLst>
                  <a:ext uri="{0D108BD9-81ED-4DB2-BD59-A6C34878D82A}">
                    <a16:rowId xmlns:a16="http://schemas.microsoft.com/office/drawing/2014/main" val="10000"/>
                  </a:ext>
                </a:extLst>
              </a:tr>
              <a:tr h="409575">
                <a:tc>
                  <a:txBody>
                    <a:bodyPr/>
                    <a:lstStyle/>
                    <a:p>
                      <a:pPr algn="ctr"/>
                      <a:r>
                        <a:rPr sz="2025">
                          <a:solidFill>
                            <a:srgbClr val="000000"/>
                          </a:solidFill>
                          <a:latin typeface="Calibri"/>
                          <a:ea typeface="Calibri"/>
                          <a:cs typeface="Calibri"/>
                        </a:rPr>
                        <a:t>1</a:t>
                      </a:r>
                    </a:p>
                  </a:txBody>
                  <a:tcPr marL="47625" marR="47625" marT="28575" marB="28575" anchor="ctr">
                    <a:solidFill>
                      <a:srgbClr val="FFFFFF"/>
                    </a:solidFill>
                  </a:tcPr>
                </a:tc>
                <a:extLst>
                  <a:ext uri="{0D108BD9-81ED-4DB2-BD59-A6C34878D82A}">
                    <a16:rowId xmlns:a16="http://schemas.microsoft.com/office/drawing/2014/main" val="10001"/>
                  </a:ext>
                </a:extLst>
              </a:tr>
              <a:tr h="409575">
                <a:tc>
                  <a:txBody>
                    <a:bodyPr/>
                    <a:lstStyle/>
                    <a:p>
                      <a:pPr algn="ctr"/>
                      <a:r>
                        <a:rPr sz="2025">
                          <a:solidFill>
                            <a:srgbClr val="000000"/>
                          </a:solidFill>
                          <a:latin typeface="Calibri"/>
                          <a:ea typeface="Calibri"/>
                          <a:cs typeface="Calibri"/>
                        </a:rPr>
                        <a:t>2</a:t>
                      </a:r>
                    </a:p>
                  </a:txBody>
                  <a:tcPr marL="47625" marR="47625" marT="28575" marB="28575" anchor="ctr">
                    <a:solidFill>
                      <a:srgbClr val="FFFFFF"/>
                    </a:solidFill>
                  </a:tcPr>
                </a:tc>
                <a:extLst>
                  <a:ext uri="{0D108BD9-81ED-4DB2-BD59-A6C34878D82A}">
                    <a16:rowId xmlns:a16="http://schemas.microsoft.com/office/drawing/2014/main" val="10002"/>
                  </a:ext>
                </a:extLst>
              </a:tr>
              <a:tr h="409575">
                <a:tc>
                  <a:txBody>
                    <a:bodyPr/>
                    <a:lstStyle/>
                    <a:p>
                      <a:pPr algn="ctr"/>
                      <a:r>
                        <a:rPr sz="2025">
                          <a:solidFill>
                            <a:srgbClr val="000000"/>
                          </a:solidFill>
                          <a:latin typeface="Calibri"/>
                          <a:ea typeface="Calibri"/>
                          <a:cs typeface="Calibri"/>
                        </a:rPr>
                        <a:t>4</a:t>
                      </a:r>
                    </a:p>
                  </a:txBody>
                  <a:tcPr marL="47625" marR="47625" marT="28575" marB="28575" anchor="ctr">
                    <a:solidFill>
                      <a:srgbClr val="FFFFFF"/>
                    </a:solidFill>
                  </a:tcPr>
                </a:tc>
                <a:extLst>
                  <a:ext uri="{0D108BD9-81ED-4DB2-BD59-A6C34878D82A}">
                    <a16:rowId xmlns:a16="http://schemas.microsoft.com/office/drawing/2014/main" val="10003"/>
                  </a:ext>
                </a:extLst>
              </a:tr>
            </a:tbl>
          </a:graphicData>
        </a:graphic>
      </p:graphicFrame>
      <p:sp>
        <p:nvSpPr>
          <p:cNvPr id="8" name="body">
            <a:extLst>
              <a:ext uri="{FF2B5EF4-FFF2-40B4-BE49-F238E27FC236}">
                <a16:creationId xmlns:a16="http://schemas.microsoft.com/office/drawing/2014/main" id="{F8370E3B-AE6E-48A5-98CC-17B1A0A6A43A}"/>
              </a:ext>
            </a:extLst>
          </p:cNvPr>
          <p:cNvSpPr>
            <a:spLocks noGrp="1"/>
          </p:cNvSpPr>
          <p:nvPr/>
        </p:nvSpPr>
        <p:spPr>
          <a:xfrm>
            <a:off x="3590925" y="1724025"/>
            <a:ext cx="1809750" cy="361950"/>
          </a:xfrm>
          <a:prstGeom prst="rect">
            <a:avLst/>
          </a:prstGeom>
          <a:noFill/>
          <a:ln w="0">
            <a:noFill/>
          </a:ln>
        </p:spPr>
        <p:txBody>
          <a:bodyPr wrap="square" lIns="0" tIns="0" rIns="0" bIns="0">
            <a:noAutofit/>
          </a:bodyPr>
          <a:lstStyle/>
          <a:p>
            <a:pPr>
              <a:defRPr sz="2250" b="0">
                <a:solidFill>
                  <a:srgbClr val="000000"/>
                </a:solidFill>
                <a:latin typeface="Calibri"/>
                <a:ea typeface="Calibri"/>
                <a:cs typeface="Calibri"/>
              </a:defRPr>
            </a:pPr>
            <a:r>
              <a:rPr sz="2250" b="0">
                <a:solidFill>
                  <a:srgbClr val="000000"/>
                </a:solidFill>
                <a:latin typeface="Calibri"/>
                <a:ea typeface="Calibri"/>
                <a:cs typeface="Calibri"/>
              </a:rPr>
              <a:t>Design</a:t>
            </a:r>
          </a:p>
        </p:txBody>
      </p:sp>
      <p:graphicFrame>
        <p:nvGraphicFramePr>
          <p:cNvPr id="22" name="表格 21"/>
          <p:cNvGraphicFramePr/>
          <p:nvPr/>
        </p:nvGraphicFramePr>
        <p:xfrm>
          <a:off x="3667125" y="2143125"/>
          <a:ext cx="1809750" cy="1638300"/>
        </p:xfrm>
        <a:graphic>
          <a:graphicData uri="http://schemas.openxmlformats.org/drawingml/2006/table">
            <a:tbl>
              <a:tblPr/>
              <a:tblGrid>
                <a:gridCol w="1809750">
                  <a:extLst>
                    <a:ext uri="{9D8B030D-6E8A-4147-A177-3AD203B41FA5}">
                      <a16:colId xmlns:a16="http://schemas.microsoft.com/office/drawing/2014/main" val="20000"/>
                    </a:ext>
                  </a:extLst>
                </a:gridCol>
              </a:tblGrid>
              <a:tr h="409575">
                <a:tc>
                  <a:txBody>
                    <a:bodyPr/>
                    <a:lstStyle/>
                    <a:p>
                      <a:pPr algn="ctr"/>
                      <a:r>
                        <a:rPr sz="2025">
                          <a:solidFill>
                            <a:srgbClr val="000000"/>
                          </a:solidFill>
                          <a:latin typeface="Calibri"/>
                          <a:ea typeface="Calibri"/>
                          <a:cs typeface="Calibri"/>
                        </a:rPr>
                        <a:t>mid</a:t>
                      </a:r>
                    </a:p>
                  </a:txBody>
                  <a:tcPr marL="47625" marR="47625" marT="28575" marB="28575" anchor="ctr">
                    <a:solidFill>
                      <a:srgbClr val="D9D9D9"/>
                    </a:solidFill>
                  </a:tcPr>
                </a:tc>
                <a:extLst>
                  <a:ext uri="{0D108BD9-81ED-4DB2-BD59-A6C34878D82A}">
                    <a16:rowId xmlns:a16="http://schemas.microsoft.com/office/drawing/2014/main" val="10000"/>
                  </a:ext>
                </a:extLst>
              </a:tr>
              <a:tr h="409575">
                <a:tc>
                  <a:txBody>
                    <a:bodyPr/>
                    <a:lstStyle/>
                    <a:p>
                      <a:pPr algn="ctr"/>
                      <a:r>
                        <a:rPr sz="2025">
                          <a:solidFill>
                            <a:srgbClr val="000000"/>
                          </a:solidFill>
                          <a:latin typeface="Calibri"/>
                          <a:ea typeface="Calibri"/>
                          <a:cs typeface="Calibri"/>
                        </a:rPr>
                        <a:t>2</a:t>
                      </a:r>
                    </a:p>
                  </a:txBody>
                  <a:tcPr marL="47625" marR="47625" marT="28575" marB="28575" anchor="ctr">
                    <a:solidFill>
                      <a:srgbClr val="FFFFFF"/>
                    </a:solidFill>
                  </a:tcPr>
                </a:tc>
                <a:extLst>
                  <a:ext uri="{0D108BD9-81ED-4DB2-BD59-A6C34878D82A}">
                    <a16:rowId xmlns:a16="http://schemas.microsoft.com/office/drawing/2014/main" val="10001"/>
                  </a:ext>
                </a:extLst>
              </a:tr>
              <a:tr h="409575">
                <a:tc>
                  <a:txBody>
                    <a:bodyPr/>
                    <a:lstStyle/>
                    <a:p>
                      <a:pPr algn="ctr"/>
                      <a:r>
                        <a:rPr sz="2025">
                          <a:solidFill>
                            <a:srgbClr val="000000"/>
                          </a:solidFill>
                          <a:latin typeface="Calibri"/>
                          <a:ea typeface="Calibri"/>
                          <a:cs typeface="Calibri"/>
                        </a:rPr>
                        <a:t>3</a:t>
                      </a:r>
                    </a:p>
                  </a:txBody>
                  <a:tcPr marL="47625" marR="47625" marT="28575" marB="28575" anchor="ctr">
                    <a:solidFill>
                      <a:srgbClr val="FFFFFF"/>
                    </a:solidFill>
                  </a:tcPr>
                </a:tc>
                <a:extLst>
                  <a:ext uri="{0D108BD9-81ED-4DB2-BD59-A6C34878D82A}">
                    <a16:rowId xmlns:a16="http://schemas.microsoft.com/office/drawing/2014/main" val="10002"/>
                  </a:ext>
                </a:extLst>
              </a:tr>
              <a:tr h="409575">
                <a:tc>
                  <a:txBody>
                    <a:bodyPr/>
                    <a:lstStyle/>
                    <a:p>
                      <a:pPr algn="ctr"/>
                      <a:r>
                        <a:rPr sz="2025">
                          <a:solidFill>
                            <a:srgbClr val="000000"/>
                          </a:solidFill>
                          <a:latin typeface="Calibri"/>
                          <a:ea typeface="Calibri"/>
                          <a:cs typeface="Calibri"/>
                        </a:rPr>
                        <a:t>4</a:t>
                      </a:r>
                    </a:p>
                  </a:txBody>
                  <a:tcPr marL="47625" marR="47625" marT="28575" marB="28575" anchor="ctr">
                    <a:solidFill>
                      <a:srgbClr val="FFFFFF"/>
                    </a:solidFill>
                  </a:tcPr>
                </a:tc>
                <a:extLst>
                  <a:ext uri="{0D108BD9-81ED-4DB2-BD59-A6C34878D82A}">
                    <a16:rowId xmlns:a16="http://schemas.microsoft.com/office/drawing/2014/main" val="10003"/>
                  </a:ext>
                </a:extLst>
              </a:tr>
            </a:tbl>
          </a:graphicData>
        </a:graphic>
      </p:graphicFrame>
      <p:sp>
        <p:nvSpPr>
          <p:cNvPr id="10" name="body">
            <a:extLst>
              <a:ext uri="{FF2B5EF4-FFF2-40B4-BE49-F238E27FC236}">
                <a16:creationId xmlns:a16="http://schemas.microsoft.com/office/drawing/2014/main" id="{28A49695-ABAB-448E-89C4-E4C3276AFFB1}"/>
              </a:ext>
            </a:extLst>
          </p:cNvPr>
          <p:cNvSpPr>
            <a:spLocks noGrp="1"/>
          </p:cNvSpPr>
          <p:nvPr/>
        </p:nvSpPr>
        <p:spPr>
          <a:xfrm>
            <a:off x="6210300" y="1724025"/>
            <a:ext cx="1809750" cy="361950"/>
          </a:xfrm>
          <a:prstGeom prst="rect">
            <a:avLst/>
          </a:prstGeom>
          <a:noFill/>
          <a:ln w="0">
            <a:noFill/>
          </a:ln>
        </p:spPr>
        <p:txBody>
          <a:bodyPr wrap="square" lIns="0" tIns="0" rIns="0" bIns="0">
            <a:noAutofit/>
          </a:bodyPr>
          <a:lstStyle/>
          <a:p>
            <a:pPr>
              <a:defRPr sz="2250" b="0">
                <a:solidFill>
                  <a:srgbClr val="000000"/>
                </a:solidFill>
                <a:latin typeface="Calibri"/>
                <a:ea typeface="Calibri"/>
                <a:cs typeface="Calibri"/>
              </a:defRPr>
            </a:pPr>
            <a:r>
              <a:rPr sz="2250" b="0">
                <a:solidFill>
                  <a:srgbClr val="000000"/>
                </a:solidFill>
                <a:latin typeface="Calibri"/>
                <a:ea typeface="Calibri"/>
                <a:cs typeface="Calibri"/>
              </a:rPr>
              <a:t>Venue</a:t>
            </a:r>
          </a:p>
        </p:txBody>
      </p:sp>
      <p:graphicFrame>
        <p:nvGraphicFramePr>
          <p:cNvPr id="24" name="表格 23"/>
          <p:cNvGraphicFramePr/>
          <p:nvPr/>
        </p:nvGraphicFramePr>
        <p:xfrm>
          <a:off x="6286500" y="2143125"/>
          <a:ext cx="1809750" cy="1228725"/>
        </p:xfrm>
        <a:graphic>
          <a:graphicData uri="http://schemas.openxmlformats.org/drawingml/2006/table">
            <a:tbl>
              <a:tblPr/>
              <a:tblGrid>
                <a:gridCol w="1809750">
                  <a:extLst>
                    <a:ext uri="{9D8B030D-6E8A-4147-A177-3AD203B41FA5}">
                      <a16:colId xmlns:a16="http://schemas.microsoft.com/office/drawing/2014/main" val="20000"/>
                    </a:ext>
                  </a:extLst>
                </a:gridCol>
              </a:tblGrid>
              <a:tr h="409575">
                <a:tc>
                  <a:txBody>
                    <a:bodyPr/>
                    <a:lstStyle/>
                    <a:p>
                      <a:pPr algn="ctr"/>
                      <a:r>
                        <a:rPr sz="1875">
                          <a:solidFill>
                            <a:srgbClr val="000000"/>
                          </a:solidFill>
                          <a:latin typeface="Calibri"/>
                          <a:ea typeface="Calibri"/>
                          <a:cs typeface="Calibri"/>
                        </a:rPr>
                        <a:t>code</a:t>
                      </a:r>
                    </a:p>
                  </a:txBody>
                  <a:tcPr marL="47625" marR="47625" marT="28575" marB="28575" anchor="ctr">
                    <a:solidFill>
                      <a:srgbClr val="D9D9D9"/>
                    </a:solidFill>
                  </a:tcPr>
                </a:tc>
                <a:extLst>
                  <a:ext uri="{0D108BD9-81ED-4DB2-BD59-A6C34878D82A}">
                    <a16:rowId xmlns:a16="http://schemas.microsoft.com/office/drawing/2014/main" val="10000"/>
                  </a:ext>
                </a:extLst>
              </a:tr>
              <a:tr h="409575">
                <a:tc>
                  <a:txBody>
                    <a:bodyPr/>
                    <a:lstStyle/>
                    <a:p>
                      <a:pPr algn="ctr"/>
                      <a:r>
                        <a:rPr sz="1875">
                          <a:solidFill>
                            <a:srgbClr val="000000"/>
                          </a:solidFill>
                          <a:latin typeface="Calibri"/>
                          <a:ea typeface="Calibri"/>
                          <a:cs typeface="Calibri"/>
                        </a:rPr>
                        <a:t>North</a:t>
                      </a:r>
                    </a:p>
                  </a:txBody>
                  <a:tcPr marL="47625" marR="47625" marT="28575" marB="28575" anchor="ctr">
                    <a:solidFill>
                      <a:srgbClr val="FFFFFF"/>
                    </a:solidFill>
                  </a:tcPr>
                </a:tc>
                <a:extLst>
                  <a:ext uri="{0D108BD9-81ED-4DB2-BD59-A6C34878D82A}">
                    <a16:rowId xmlns:a16="http://schemas.microsoft.com/office/drawing/2014/main" val="10001"/>
                  </a:ext>
                </a:extLst>
              </a:tr>
              <a:tr h="409575">
                <a:tc>
                  <a:txBody>
                    <a:bodyPr/>
                    <a:lstStyle/>
                    <a:p>
                      <a:pPr algn="ctr"/>
                      <a:r>
                        <a:rPr sz="1875">
                          <a:solidFill>
                            <a:srgbClr val="000000"/>
                          </a:solidFill>
                          <a:latin typeface="Calibri"/>
                          <a:ea typeface="Calibri"/>
                          <a:cs typeface="Calibri"/>
                        </a:rPr>
                        <a:t>South</a:t>
                      </a:r>
                    </a:p>
                  </a:txBody>
                  <a:tcPr marL="47625" marR="47625" marT="28575" marB="28575" anchor="ctr">
                    <a:solidFill>
                      <a:srgbClr val="FFFFFF"/>
                    </a:solidFill>
                  </a:tcPr>
                </a:tc>
                <a:extLst>
                  <a:ext uri="{0D108BD9-81ED-4DB2-BD59-A6C34878D82A}">
                    <a16:rowId xmlns:a16="http://schemas.microsoft.com/office/drawing/2014/main" val="10002"/>
                  </a:ext>
                </a:extLst>
              </a:tr>
            </a:tbl>
          </a:graphicData>
        </a:graphic>
      </p:graphicFrame>
      <p:sp>
        <p:nvSpPr>
          <p:cNvPr id="12" name="body">
            <a:extLst>
              <a:ext uri="{FF2B5EF4-FFF2-40B4-BE49-F238E27FC236}">
                <a16:creationId xmlns:a16="http://schemas.microsoft.com/office/drawing/2014/main" id="{3EA942D6-CD9D-4DEA-B239-97E1C3F133D3}"/>
              </a:ext>
            </a:extLst>
          </p:cNvPr>
          <p:cNvSpPr>
            <a:spLocks noGrp="1"/>
          </p:cNvSpPr>
          <p:nvPr/>
        </p:nvSpPr>
        <p:spPr>
          <a:xfrm>
            <a:off x="781050" y="4162425"/>
            <a:ext cx="7600950" cy="952500"/>
          </a:xfrm>
          <a:prstGeom prst="rect">
            <a:avLst/>
          </a:prstGeom>
          <a:noFill/>
          <a:ln w="0">
            <a:noFill/>
          </a:ln>
        </p:spPr>
        <p:txBody>
          <a:bodyPr wrap="square" lIns="0" tIns="0" rIns="0" bIns="0">
            <a:noAutofit/>
          </a:bodyPr>
          <a:lstStyle/>
          <a:p>
            <a:pPr>
              <a:defRPr sz="2175" b="0">
                <a:solidFill>
                  <a:srgbClr val="FF0000"/>
                </a:solidFill>
                <a:latin typeface="Calibri"/>
                <a:ea typeface="Calibri"/>
                <a:cs typeface="Calibri"/>
              </a:defRPr>
            </a:pPr>
            <a:r>
              <a:rPr sz="2175" b="0" dirty="0">
                <a:solidFill>
                  <a:srgbClr val="FF0000"/>
                </a:solidFill>
                <a:latin typeface="Calibri"/>
                <a:ea typeface="Calibri"/>
                <a:cs typeface="Calibri"/>
              </a:rPr>
              <a:t>(a) Find IDs in both Hack and Design. </a:t>
            </a:r>
          </a:p>
        </p:txBody>
      </p:sp>
      <p:sp>
        <p:nvSpPr>
          <p:cNvPr id="13" name="body">
            <a:extLst>
              <a:ext uri="{FF2B5EF4-FFF2-40B4-BE49-F238E27FC236}">
                <a16:creationId xmlns:a16="http://schemas.microsoft.com/office/drawing/2014/main" id="{737436D3-9C34-494C-90EC-504DF611EFD9}"/>
              </a:ext>
            </a:extLst>
          </p:cNvPr>
          <p:cNvSpPr>
            <a:spLocks noGrp="1"/>
          </p:cNvSpPr>
          <p:nvPr/>
        </p:nvSpPr>
        <p:spPr>
          <a:xfrm>
            <a:off x="781050" y="5000625"/>
            <a:ext cx="7600950" cy="952500"/>
          </a:xfrm>
          <a:prstGeom prst="rect">
            <a:avLst/>
          </a:prstGeom>
          <a:noFill/>
          <a:ln w="0">
            <a:noFill/>
          </a:ln>
        </p:spPr>
        <p:txBody>
          <a:bodyPr wrap="square" lIns="0" tIns="0" rIns="0" bIns="0">
            <a:noAutofit/>
          </a:bodyPr>
          <a:lstStyle/>
          <a:p>
            <a:pPr>
              <a:defRPr sz="2100" b="0">
                <a:solidFill>
                  <a:srgbClr val="FF0000"/>
                </a:solidFill>
                <a:latin typeface="Calibri"/>
                <a:ea typeface="Calibri"/>
                <a:cs typeface="Calibri"/>
              </a:defRPr>
            </a:pPr>
            <a:r>
              <a:rPr sz="2100" b="0">
                <a:solidFill>
                  <a:srgbClr val="FF0000"/>
                </a:solidFill>
                <a:latin typeface="Calibri"/>
                <a:ea typeface="Calibri"/>
                <a:cs typeface="Calibri"/>
              </a:rPr>
              <a:t>(b) Is Hack ∪ Venue valid? mid is integer, code is text.</a:t>
            </a:r>
          </a:p>
        </p:txBody>
      </p:sp>
      <p:sp>
        <p:nvSpPr>
          <p:cNvPr id="9001" name="Title 1">
            <a:extLst>
              <a:ext uri="{FF2B5EF4-FFF2-40B4-BE49-F238E27FC236}">
                <a16:creationId xmlns:a16="http://schemas.microsoft.com/office/drawing/2014/main" id="{4EF27E5C-9C4D-BDBE-7667-D0B141BCC8F5}"/>
              </a:ext>
            </a:extLst>
          </p:cNvPr>
          <p:cNvSpPr>
            <a:spLocks noGrp="1"/>
          </p:cNvSpPr>
          <p:nvPr>
            <p:ph type="title"/>
          </p:nvPr>
        </p:nvSpPr>
        <p:spPr/>
        <p:txBody>
          <a:bodyPr/>
          <a:lstStyle/>
          <a:p>
            <a:r>
              <a:rPr lang="en-US">
                <a:solidFill>
                  <a:srgbClr val="FF0000"/>
                </a:solidFill>
              </a:rPr>
              <a:t>Practice: </a:t>
            </a:r>
            <a:r>
              <a:rPr lang="en-US">
                <a:solidFill>
                  <a:srgbClr val="3333CC"/>
                </a:solidFill>
              </a:rPr>
              <a:t>Q11</a:t>
            </a:r>
          </a:p>
        </p:txBody>
      </p:sp>
      <p:sp>
        <p:nvSpPr>
          <p:cNvPr id="9002" name="Slide Number Placeholder 1">
            <a:extLst>
              <a:ext uri="{FF2B5EF4-FFF2-40B4-BE49-F238E27FC236}">
                <a16:creationId xmlns:a16="http://schemas.microsoft.com/office/drawing/2014/main" id="{B90139AC-3BDA-723A-097A-000DA0A784C1}"/>
              </a:ext>
            </a:extLst>
          </p:cNvPr>
          <p:cNvSpPr>
            <a:spLocks noGrp="1"/>
          </p:cNvSpPr>
          <p:nvPr>
            <p:ph type="sldNum" sz="quarter" idx="12"/>
          </p:nvPr>
        </p:nvSpPr>
        <p:spPr/>
        <p:txBody>
          <a:bodyPr/>
          <a:lstStyle/>
          <a:p>
            <a:pPr>
              <a:defRPr/>
            </a:pPr>
            <a:fld id="{43CA101F-9E5F-9249-9862-3CE55B3BB777}" type="slidenum">
              <a:rPr lang="en-US" altLang="zh-TW" smtClean="0"/>
              <a:pPr>
                <a:defRPr/>
              </a:pPr>
              <a:t>30</a:t>
            </a:fld>
            <a:endParaRPr lang="en-US" altLang="zh-TW"/>
          </a:p>
        </p:txBody>
      </p:sp>
    </p:spTree>
    <p:extLst>
      <p:ext uri="{BB962C8B-B14F-4D97-AF65-F5344CB8AC3E}">
        <p14:creationId xmlns:p14="http://schemas.microsoft.com/office/powerpoint/2010/main" val="214580358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formula">
            <a:extLst>
              <a:ext uri="{FF2B5EF4-FFF2-40B4-BE49-F238E27FC236}">
                <a16:creationId xmlns:a16="http://schemas.microsoft.com/office/drawing/2014/main" id="{148485F1-CC57-4582-8AB7-D90A49016B7B}"/>
              </a:ext>
            </a:extLst>
          </p:cNvPr>
          <p:cNvSpPr>
            <a:spLocks noGrp="1"/>
          </p:cNvSpPr>
          <p:nvPr/>
        </p:nvSpPr>
        <p:spPr>
          <a:xfrm>
            <a:off x="781050" y="1133475"/>
            <a:ext cx="7715250" cy="523875"/>
          </a:xfrm>
          <a:prstGeom prst="rect">
            <a:avLst/>
          </a:prstGeom>
          <a:noFill/>
          <a:ln w="0">
            <a:noFill/>
          </a:ln>
        </p:spPr>
        <p:txBody>
          <a:bodyPr wrap="square" lIns="0" tIns="0" rIns="0" bIns="0">
            <a:noAutofit/>
          </a:bodyPr>
          <a:lstStyle/>
          <a:p>
            <a:pPr>
              <a:defRPr sz="2175" b="0">
                <a:solidFill>
                  <a:srgbClr val="000000"/>
                </a:solidFill>
                <a:latin typeface="Cambria Math"/>
                <a:ea typeface="Cambria Math"/>
                <a:cs typeface="Cambria Math"/>
              </a:defRPr>
            </a:pPr>
            <a:r>
              <a:rPr sz="2175" b="0">
                <a:solidFill>
                  <a:srgbClr val="000000"/>
                </a:solidFill>
                <a:latin typeface="Cambria Math"/>
                <a:ea typeface="Cambria Math"/>
                <a:cs typeface="Cambria Math"/>
              </a:rPr>
              <a:t>Hack ∩ Design = Hack − (Hack − Design)</a:t>
            </a:r>
          </a:p>
        </p:txBody>
      </p:sp>
      <p:sp>
        <p:nvSpPr>
          <p:cNvPr id="4" name="body">
            <a:extLst>
              <a:ext uri="{FF2B5EF4-FFF2-40B4-BE49-F238E27FC236}">
                <a16:creationId xmlns:a16="http://schemas.microsoft.com/office/drawing/2014/main" id="{C88081FC-0C4E-4E03-87A9-6A4F8F02D33C}"/>
              </a:ext>
            </a:extLst>
          </p:cNvPr>
          <p:cNvSpPr>
            <a:spLocks noGrp="1"/>
          </p:cNvSpPr>
          <p:nvPr/>
        </p:nvSpPr>
        <p:spPr>
          <a:xfrm>
            <a:off x="3019425" y="1924050"/>
            <a:ext cx="2952750" cy="361950"/>
          </a:xfrm>
          <a:prstGeom prst="rect">
            <a:avLst/>
          </a:prstGeom>
          <a:noFill/>
          <a:ln w="0">
            <a:noFill/>
          </a:ln>
        </p:spPr>
        <p:txBody>
          <a:bodyPr wrap="square" lIns="0" tIns="0" rIns="0" bIns="0">
            <a:noAutofit/>
          </a:bodyPr>
          <a:lstStyle/>
          <a:p>
            <a:pPr>
              <a:defRPr sz="2250" b="0">
                <a:solidFill>
                  <a:srgbClr val="000000"/>
                </a:solidFill>
                <a:latin typeface="Calibri"/>
                <a:ea typeface="Calibri"/>
                <a:cs typeface="Calibri"/>
              </a:defRPr>
            </a:pPr>
            <a:r>
              <a:rPr sz="2250" b="0">
                <a:solidFill>
                  <a:srgbClr val="000000"/>
                </a:solidFill>
                <a:latin typeface="Calibri"/>
                <a:ea typeface="Calibri"/>
                <a:cs typeface="Calibri"/>
              </a:rPr>
              <a:t>Result</a:t>
            </a:r>
          </a:p>
        </p:txBody>
      </p:sp>
      <p:graphicFrame>
        <p:nvGraphicFramePr>
          <p:cNvPr id="12" name="表格 11"/>
          <p:cNvGraphicFramePr/>
          <p:nvPr/>
        </p:nvGraphicFramePr>
        <p:xfrm>
          <a:off x="3095625" y="2343150"/>
          <a:ext cx="2952750" cy="1343025"/>
        </p:xfrm>
        <a:graphic>
          <a:graphicData uri="http://schemas.openxmlformats.org/drawingml/2006/table">
            <a:tbl>
              <a:tblPr/>
              <a:tblGrid>
                <a:gridCol w="2952750">
                  <a:extLst>
                    <a:ext uri="{9D8B030D-6E8A-4147-A177-3AD203B41FA5}">
                      <a16:colId xmlns:a16="http://schemas.microsoft.com/office/drawing/2014/main" val="20000"/>
                    </a:ext>
                  </a:extLst>
                </a:gridCol>
              </a:tblGrid>
              <a:tr h="447675">
                <a:tc>
                  <a:txBody>
                    <a:bodyPr/>
                    <a:lstStyle/>
                    <a:p>
                      <a:pPr algn="ctr"/>
                      <a:r>
                        <a:rPr sz="2175">
                          <a:solidFill>
                            <a:srgbClr val="000000"/>
                          </a:solidFill>
                          <a:latin typeface="Calibri"/>
                          <a:ea typeface="Calibri"/>
                          <a:cs typeface="Calibri"/>
                        </a:rPr>
                        <a:t>mid</a:t>
                      </a:r>
                    </a:p>
                  </a:txBody>
                  <a:tcPr marL="47625" marR="47625" marT="28575" marB="28575" anchor="ctr">
                    <a:solidFill>
                      <a:srgbClr val="D9D9D9"/>
                    </a:solidFill>
                  </a:tcPr>
                </a:tc>
                <a:extLst>
                  <a:ext uri="{0D108BD9-81ED-4DB2-BD59-A6C34878D82A}">
                    <a16:rowId xmlns:a16="http://schemas.microsoft.com/office/drawing/2014/main" val="10000"/>
                  </a:ext>
                </a:extLst>
              </a:tr>
              <a:tr h="447675">
                <a:tc>
                  <a:txBody>
                    <a:bodyPr/>
                    <a:lstStyle/>
                    <a:p>
                      <a:pPr algn="ctr"/>
                      <a:r>
                        <a:rPr sz="2175">
                          <a:solidFill>
                            <a:srgbClr val="000000"/>
                          </a:solidFill>
                          <a:latin typeface="Calibri"/>
                          <a:ea typeface="Calibri"/>
                          <a:cs typeface="Calibri"/>
                        </a:rPr>
                        <a:t>2</a:t>
                      </a:r>
                    </a:p>
                  </a:txBody>
                  <a:tcPr marL="47625" marR="47625" marT="28575" marB="28575" anchor="ctr">
                    <a:solidFill>
                      <a:srgbClr val="FFFFFF"/>
                    </a:solidFill>
                  </a:tcPr>
                </a:tc>
                <a:extLst>
                  <a:ext uri="{0D108BD9-81ED-4DB2-BD59-A6C34878D82A}">
                    <a16:rowId xmlns:a16="http://schemas.microsoft.com/office/drawing/2014/main" val="10001"/>
                  </a:ext>
                </a:extLst>
              </a:tr>
              <a:tr h="447675">
                <a:tc>
                  <a:txBody>
                    <a:bodyPr/>
                    <a:lstStyle/>
                    <a:p>
                      <a:pPr algn="ctr"/>
                      <a:r>
                        <a:rPr sz="2175">
                          <a:solidFill>
                            <a:srgbClr val="000000"/>
                          </a:solidFill>
                          <a:latin typeface="Calibri"/>
                          <a:ea typeface="Calibri"/>
                          <a:cs typeface="Calibri"/>
                        </a:rPr>
                        <a:t>4</a:t>
                      </a:r>
                    </a:p>
                  </a:txBody>
                  <a:tcPr marL="47625" marR="47625" marT="28575" marB="28575" anchor="ctr">
                    <a:solidFill>
                      <a:srgbClr val="FFFFFF"/>
                    </a:solidFill>
                  </a:tcPr>
                </a:tc>
                <a:extLst>
                  <a:ext uri="{0D108BD9-81ED-4DB2-BD59-A6C34878D82A}">
                    <a16:rowId xmlns:a16="http://schemas.microsoft.com/office/drawing/2014/main" val="10002"/>
                  </a:ext>
                </a:extLst>
              </a:tr>
            </a:tbl>
          </a:graphicData>
        </a:graphic>
      </p:graphicFrame>
      <p:sp>
        <p:nvSpPr>
          <p:cNvPr id="6" name="body">
            <a:extLst>
              <a:ext uri="{FF2B5EF4-FFF2-40B4-BE49-F238E27FC236}">
                <a16:creationId xmlns:a16="http://schemas.microsoft.com/office/drawing/2014/main" id="{49CCBCA4-2BA0-4A93-8042-302504D1E932}"/>
              </a:ext>
            </a:extLst>
          </p:cNvPr>
          <p:cNvSpPr>
            <a:spLocks noGrp="1"/>
          </p:cNvSpPr>
          <p:nvPr/>
        </p:nvSpPr>
        <p:spPr>
          <a:xfrm>
            <a:off x="781050" y="4105275"/>
            <a:ext cx="7600950" cy="952500"/>
          </a:xfrm>
          <a:prstGeom prst="rect">
            <a:avLst/>
          </a:prstGeom>
          <a:noFill/>
          <a:ln w="0">
            <a:noFill/>
          </a:ln>
        </p:spPr>
        <p:txBody>
          <a:bodyPr wrap="square" lIns="0" tIns="0" rIns="0" bIns="0">
            <a:noAutofit/>
          </a:bodyPr>
          <a:lstStyle/>
          <a:p>
            <a:pPr>
              <a:defRPr sz="2250" b="0">
                <a:solidFill>
                  <a:srgbClr val="FF0000"/>
                </a:solidFill>
                <a:latin typeface="Calibri"/>
                <a:ea typeface="Calibri"/>
                <a:cs typeface="Calibri"/>
              </a:defRPr>
            </a:pPr>
            <a:r>
              <a:rPr sz="2250" b="0">
                <a:solidFill>
                  <a:srgbClr val="FF0000"/>
                </a:solidFill>
                <a:latin typeface="Calibri"/>
                <a:ea typeface="Calibri"/>
                <a:cs typeface="Calibri"/>
              </a:rPr>
              <a:t>Hack ∪ Venue is invalid: integer IDs and text venue codes have different domains.</a:t>
            </a:r>
          </a:p>
        </p:txBody>
      </p:sp>
      <p:sp>
        <p:nvSpPr>
          <p:cNvPr id="7" name="body">
            <a:extLst>
              <a:ext uri="{FF2B5EF4-FFF2-40B4-BE49-F238E27FC236}">
                <a16:creationId xmlns:a16="http://schemas.microsoft.com/office/drawing/2014/main" id="{118ABC9B-1952-42EC-AB8F-389E3C69B31A}"/>
              </a:ext>
            </a:extLst>
          </p:cNvPr>
          <p:cNvSpPr>
            <a:spLocks noGrp="1"/>
          </p:cNvSpPr>
          <p:nvPr/>
        </p:nvSpPr>
        <p:spPr>
          <a:xfrm>
            <a:off x="781050" y="5143500"/>
            <a:ext cx="7600950" cy="952500"/>
          </a:xfrm>
          <a:prstGeom prst="rect">
            <a:avLst/>
          </a:prstGeom>
          <a:noFill/>
          <a:ln w="0">
            <a:noFill/>
          </a:ln>
        </p:spPr>
        <p:txBody>
          <a:bodyPr wrap="square" lIns="0" tIns="0" rIns="0" bIns="0">
            <a:noAutofit/>
          </a:bodyPr>
          <a:lstStyle/>
          <a:p>
            <a:pPr>
              <a:defRPr sz="2100" b="0">
                <a:solidFill>
                  <a:srgbClr val="000000"/>
                </a:solidFill>
                <a:latin typeface="Calibri"/>
                <a:ea typeface="Calibri"/>
                <a:cs typeface="Calibri"/>
              </a:defRPr>
            </a:pPr>
            <a:r>
              <a:rPr sz="2100" b="0">
                <a:solidFill>
                  <a:srgbClr val="000000"/>
                </a:solidFill>
                <a:latin typeface="Calibri"/>
                <a:ea typeface="Calibri"/>
                <a:cs typeface="Calibri"/>
              </a:rPr>
              <a:t>Renaming code to mid would not change its domain.</a:t>
            </a:r>
          </a:p>
        </p:txBody>
      </p:sp>
      <p:sp>
        <p:nvSpPr>
          <p:cNvPr id="9001" name="Title 1">
            <a:extLst>
              <a:ext uri="{FF2B5EF4-FFF2-40B4-BE49-F238E27FC236}">
                <a16:creationId xmlns:a16="http://schemas.microsoft.com/office/drawing/2014/main" id="{4EF27E5C-9C4D-BDBE-7667-D0B141BCC8F5}"/>
              </a:ext>
            </a:extLst>
          </p:cNvPr>
          <p:cNvSpPr>
            <a:spLocks noGrp="1"/>
          </p:cNvSpPr>
          <p:nvPr>
            <p:ph type="title"/>
          </p:nvPr>
        </p:nvSpPr>
        <p:spPr/>
        <p:txBody>
          <a:bodyPr/>
          <a:lstStyle/>
          <a:p>
            <a:r>
              <a:rPr lang="en-US">
                <a:solidFill>
                  <a:srgbClr val="FF0000"/>
                </a:solidFill>
              </a:rPr>
              <a:t>Solutions: </a:t>
            </a:r>
            <a:r>
              <a:rPr lang="en-US">
                <a:solidFill>
                  <a:srgbClr val="3333CC"/>
                </a:solidFill>
              </a:rPr>
              <a:t>Q11</a:t>
            </a:r>
          </a:p>
        </p:txBody>
      </p:sp>
      <p:sp>
        <p:nvSpPr>
          <p:cNvPr id="9002" name="Slide Number Placeholder 1">
            <a:extLst>
              <a:ext uri="{FF2B5EF4-FFF2-40B4-BE49-F238E27FC236}">
                <a16:creationId xmlns:a16="http://schemas.microsoft.com/office/drawing/2014/main" id="{B90139AC-3BDA-723A-097A-000DA0A784C1}"/>
              </a:ext>
            </a:extLst>
          </p:cNvPr>
          <p:cNvSpPr>
            <a:spLocks noGrp="1"/>
          </p:cNvSpPr>
          <p:nvPr>
            <p:ph type="sldNum" sz="quarter" idx="12"/>
          </p:nvPr>
        </p:nvSpPr>
        <p:spPr/>
        <p:txBody>
          <a:bodyPr/>
          <a:lstStyle/>
          <a:p>
            <a:pPr>
              <a:defRPr/>
            </a:pPr>
            <a:fld id="{43CA101F-9E5F-9249-9862-3CE55B3BB777}" type="slidenum">
              <a:rPr lang="en-US" altLang="zh-TW" smtClean="0"/>
              <a:pPr>
                <a:defRPr/>
              </a:pPr>
              <a:t>31</a:t>
            </a:fld>
            <a:endParaRPr lang="en-US" altLang="zh-TW"/>
          </a:p>
        </p:txBody>
      </p:sp>
    </p:spTree>
    <p:extLst>
      <p:ext uri="{BB962C8B-B14F-4D97-AF65-F5344CB8AC3E}">
        <p14:creationId xmlns:p14="http://schemas.microsoft.com/office/powerpoint/2010/main" val="176937452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body">
            <a:extLst>
              <a:ext uri="{FF2B5EF4-FFF2-40B4-BE49-F238E27FC236}">
                <a16:creationId xmlns:a16="http://schemas.microsoft.com/office/drawing/2014/main" id="{DDB71158-25C0-4F6D-B66B-25F5FAB0F786}"/>
              </a:ext>
            </a:extLst>
          </p:cNvPr>
          <p:cNvSpPr>
            <a:spLocks noGrp="1"/>
          </p:cNvSpPr>
          <p:nvPr/>
        </p:nvSpPr>
        <p:spPr>
          <a:xfrm>
            <a:off x="781050" y="5876925"/>
            <a:ext cx="7620000" cy="285750"/>
          </a:xfrm>
          <a:prstGeom prst="rect">
            <a:avLst/>
          </a:prstGeom>
          <a:noFill/>
          <a:ln w="0">
            <a:noFill/>
          </a:ln>
        </p:spPr>
        <p:txBody>
          <a:bodyPr wrap="square" lIns="0" tIns="0" rIns="0" bIns="0">
            <a:noAutofit/>
          </a:bodyPr>
          <a:lstStyle/>
          <a:p>
            <a:pPr>
              <a:defRPr sz="1725" b="0">
                <a:solidFill>
                  <a:srgbClr val="3333CC"/>
                </a:solidFill>
                <a:latin typeface="Calibri"/>
                <a:ea typeface="Calibri"/>
                <a:cs typeface="Calibri"/>
              </a:defRPr>
            </a:pPr>
            <a:r>
              <a:rPr sz="1725" b="0">
                <a:solidFill>
                  <a:srgbClr val="3333CC"/>
                </a:solidFill>
                <a:latin typeface="Calibri"/>
                <a:ea typeface="Calibri"/>
                <a:cs typeface="Calibri"/>
              </a:rPr>
              <a:t>Think: 30 s</a:t>
            </a:r>
          </a:p>
        </p:txBody>
      </p:sp>
      <p:sp>
        <p:nvSpPr>
          <p:cNvPr id="4" name="body">
            <a:extLst>
              <a:ext uri="{FF2B5EF4-FFF2-40B4-BE49-F238E27FC236}">
                <a16:creationId xmlns:a16="http://schemas.microsoft.com/office/drawing/2014/main" id="{980271E8-44A8-4259-A208-EA3810609E3E}"/>
              </a:ext>
            </a:extLst>
          </p:cNvPr>
          <p:cNvSpPr>
            <a:spLocks noGrp="1"/>
          </p:cNvSpPr>
          <p:nvPr/>
        </p:nvSpPr>
        <p:spPr>
          <a:xfrm>
            <a:off x="1638300" y="1381125"/>
            <a:ext cx="2095500" cy="361950"/>
          </a:xfrm>
          <a:prstGeom prst="rect">
            <a:avLst/>
          </a:prstGeom>
          <a:noFill/>
          <a:ln w="0">
            <a:noFill/>
          </a:ln>
        </p:spPr>
        <p:txBody>
          <a:bodyPr wrap="square" lIns="0" tIns="0" rIns="0" bIns="0">
            <a:noAutofit/>
          </a:bodyPr>
          <a:lstStyle/>
          <a:p>
            <a:pPr>
              <a:defRPr sz="2250" b="0">
                <a:solidFill>
                  <a:srgbClr val="000000"/>
                </a:solidFill>
                <a:latin typeface="Calibri"/>
                <a:ea typeface="Calibri"/>
                <a:cs typeface="Calibri"/>
              </a:defRPr>
            </a:pPr>
            <a:r>
              <a:rPr sz="2250" b="0">
                <a:solidFill>
                  <a:srgbClr val="000000"/>
                </a:solidFill>
                <a:latin typeface="Calibri"/>
                <a:ea typeface="Calibri"/>
                <a:cs typeface="Calibri"/>
              </a:rPr>
              <a:t>Hack</a:t>
            </a:r>
          </a:p>
        </p:txBody>
      </p:sp>
      <p:graphicFrame>
        <p:nvGraphicFramePr>
          <p:cNvPr id="14" name="表格 13"/>
          <p:cNvGraphicFramePr/>
          <p:nvPr/>
        </p:nvGraphicFramePr>
        <p:xfrm>
          <a:off x="1714500" y="1800225"/>
          <a:ext cx="2095500" cy="1676400"/>
        </p:xfrm>
        <a:graphic>
          <a:graphicData uri="http://schemas.openxmlformats.org/drawingml/2006/table">
            <a:tbl>
              <a:tblPr/>
              <a:tblGrid>
                <a:gridCol w="2095500">
                  <a:extLst>
                    <a:ext uri="{9D8B030D-6E8A-4147-A177-3AD203B41FA5}">
                      <a16:colId xmlns:a16="http://schemas.microsoft.com/office/drawing/2014/main" val="20000"/>
                    </a:ext>
                  </a:extLst>
                </a:gridCol>
              </a:tblGrid>
              <a:tr h="419100">
                <a:tc>
                  <a:txBody>
                    <a:bodyPr/>
                    <a:lstStyle/>
                    <a:p>
                      <a:pPr algn="ctr"/>
                      <a:r>
                        <a:rPr sz="2100">
                          <a:solidFill>
                            <a:srgbClr val="000000"/>
                          </a:solidFill>
                          <a:latin typeface="Calibri"/>
                          <a:ea typeface="Calibri"/>
                          <a:cs typeface="Calibri"/>
                        </a:rPr>
                        <a:t>mid</a:t>
                      </a:r>
                    </a:p>
                  </a:txBody>
                  <a:tcPr marL="47625" marR="47625" marT="28575" marB="28575" anchor="ctr">
                    <a:solidFill>
                      <a:srgbClr val="D9D9D9"/>
                    </a:solidFill>
                  </a:tcPr>
                </a:tc>
                <a:extLst>
                  <a:ext uri="{0D108BD9-81ED-4DB2-BD59-A6C34878D82A}">
                    <a16:rowId xmlns:a16="http://schemas.microsoft.com/office/drawing/2014/main" val="10000"/>
                  </a:ext>
                </a:extLst>
              </a:tr>
              <a:tr h="419100">
                <a:tc>
                  <a:txBody>
                    <a:bodyPr/>
                    <a:lstStyle/>
                    <a:p>
                      <a:pPr algn="ctr"/>
                      <a:r>
                        <a:rPr sz="2100">
                          <a:solidFill>
                            <a:srgbClr val="000000"/>
                          </a:solidFill>
                          <a:latin typeface="Calibri"/>
                          <a:ea typeface="Calibri"/>
                          <a:cs typeface="Calibri"/>
                        </a:rPr>
                        <a:t>1</a:t>
                      </a:r>
                    </a:p>
                  </a:txBody>
                  <a:tcPr marL="47625" marR="47625" marT="28575" marB="28575" anchor="ctr">
                    <a:solidFill>
                      <a:srgbClr val="FFFFFF"/>
                    </a:solidFill>
                  </a:tcPr>
                </a:tc>
                <a:extLst>
                  <a:ext uri="{0D108BD9-81ED-4DB2-BD59-A6C34878D82A}">
                    <a16:rowId xmlns:a16="http://schemas.microsoft.com/office/drawing/2014/main" val="10001"/>
                  </a:ext>
                </a:extLst>
              </a:tr>
              <a:tr h="419100">
                <a:tc>
                  <a:txBody>
                    <a:bodyPr/>
                    <a:lstStyle/>
                    <a:p>
                      <a:pPr algn="ctr"/>
                      <a:r>
                        <a:rPr sz="2100">
                          <a:solidFill>
                            <a:srgbClr val="000000"/>
                          </a:solidFill>
                          <a:latin typeface="Calibri"/>
                          <a:ea typeface="Calibri"/>
                          <a:cs typeface="Calibri"/>
                        </a:rPr>
                        <a:t>2</a:t>
                      </a:r>
                    </a:p>
                  </a:txBody>
                  <a:tcPr marL="47625" marR="47625" marT="28575" marB="28575" anchor="ctr">
                    <a:solidFill>
                      <a:srgbClr val="FFFFFF"/>
                    </a:solidFill>
                  </a:tcPr>
                </a:tc>
                <a:extLst>
                  <a:ext uri="{0D108BD9-81ED-4DB2-BD59-A6C34878D82A}">
                    <a16:rowId xmlns:a16="http://schemas.microsoft.com/office/drawing/2014/main" val="10002"/>
                  </a:ext>
                </a:extLst>
              </a:tr>
              <a:tr h="419100">
                <a:tc>
                  <a:txBody>
                    <a:bodyPr/>
                    <a:lstStyle/>
                    <a:p>
                      <a:pPr algn="ctr"/>
                      <a:r>
                        <a:rPr sz="2100">
                          <a:solidFill>
                            <a:srgbClr val="000000"/>
                          </a:solidFill>
                          <a:latin typeface="Calibri"/>
                          <a:ea typeface="Calibri"/>
                          <a:cs typeface="Calibri"/>
                        </a:rPr>
                        <a:t>4</a:t>
                      </a:r>
                    </a:p>
                  </a:txBody>
                  <a:tcPr marL="47625" marR="47625" marT="28575" marB="28575" anchor="ctr">
                    <a:solidFill>
                      <a:srgbClr val="FFFFFF"/>
                    </a:solidFill>
                  </a:tcPr>
                </a:tc>
                <a:extLst>
                  <a:ext uri="{0D108BD9-81ED-4DB2-BD59-A6C34878D82A}">
                    <a16:rowId xmlns:a16="http://schemas.microsoft.com/office/drawing/2014/main" val="10003"/>
                  </a:ext>
                </a:extLst>
              </a:tr>
            </a:tbl>
          </a:graphicData>
        </a:graphic>
      </p:graphicFrame>
      <p:sp>
        <p:nvSpPr>
          <p:cNvPr id="6" name="body">
            <a:extLst>
              <a:ext uri="{FF2B5EF4-FFF2-40B4-BE49-F238E27FC236}">
                <a16:creationId xmlns:a16="http://schemas.microsoft.com/office/drawing/2014/main" id="{5209F0DB-4D2F-45F4-BB41-D034E941F5F1}"/>
              </a:ext>
            </a:extLst>
          </p:cNvPr>
          <p:cNvSpPr>
            <a:spLocks noGrp="1"/>
          </p:cNvSpPr>
          <p:nvPr/>
        </p:nvSpPr>
        <p:spPr>
          <a:xfrm>
            <a:off x="5219700" y="1381125"/>
            <a:ext cx="2095500" cy="361950"/>
          </a:xfrm>
          <a:prstGeom prst="rect">
            <a:avLst/>
          </a:prstGeom>
          <a:noFill/>
          <a:ln w="0">
            <a:noFill/>
          </a:ln>
        </p:spPr>
        <p:txBody>
          <a:bodyPr wrap="square" lIns="0" tIns="0" rIns="0" bIns="0">
            <a:noAutofit/>
          </a:bodyPr>
          <a:lstStyle/>
          <a:p>
            <a:pPr>
              <a:defRPr sz="2250" b="0">
                <a:solidFill>
                  <a:srgbClr val="000000"/>
                </a:solidFill>
                <a:latin typeface="Calibri"/>
                <a:ea typeface="Calibri"/>
                <a:cs typeface="Calibri"/>
              </a:defRPr>
            </a:pPr>
            <a:r>
              <a:rPr sz="2250" b="0">
                <a:solidFill>
                  <a:srgbClr val="000000"/>
                </a:solidFill>
                <a:latin typeface="Calibri"/>
                <a:ea typeface="Calibri"/>
                <a:cs typeface="Calibri"/>
              </a:rPr>
              <a:t>Design</a:t>
            </a:r>
          </a:p>
        </p:txBody>
      </p:sp>
      <p:graphicFrame>
        <p:nvGraphicFramePr>
          <p:cNvPr id="16" name="表格 15"/>
          <p:cNvGraphicFramePr/>
          <p:nvPr/>
        </p:nvGraphicFramePr>
        <p:xfrm>
          <a:off x="5295900" y="1800225"/>
          <a:ext cx="2095500" cy="1676400"/>
        </p:xfrm>
        <a:graphic>
          <a:graphicData uri="http://schemas.openxmlformats.org/drawingml/2006/table">
            <a:tbl>
              <a:tblPr/>
              <a:tblGrid>
                <a:gridCol w="2095500">
                  <a:extLst>
                    <a:ext uri="{9D8B030D-6E8A-4147-A177-3AD203B41FA5}">
                      <a16:colId xmlns:a16="http://schemas.microsoft.com/office/drawing/2014/main" val="20000"/>
                    </a:ext>
                  </a:extLst>
                </a:gridCol>
              </a:tblGrid>
              <a:tr h="419100">
                <a:tc>
                  <a:txBody>
                    <a:bodyPr/>
                    <a:lstStyle/>
                    <a:p>
                      <a:pPr algn="ctr"/>
                      <a:r>
                        <a:rPr sz="2100">
                          <a:solidFill>
                            <a:srgbClr val="000000"/>
                          </a:solidFill>
                          <a:latin typeface="Calibri"/>
                          <a:ea typeface="Calibri"/>
                          <a:cs typeface="Calibri"/>
                        </a:rPr>
                        <a:t>mid</a:t>
                      </a:r>
                    </a:p>
                  </a:txBody>
                  <a:tcPr marL="47625" marR="47625" marT="28575" marB="28575" anchor="ctr">
                    <a:solidFill>
                      <a:srgbClr val="D9D9D9"/>
                    </a:solidFill>
                  </a:tcPr>
                </a:tc>
                <a:extLst>
                  <a:ext uri="{0D108BD9-81ED-4DB2-BD59-A6C34878D82A}">
                    <a16:rowId xmlns:a16="http://schemas.microsoft.com/office/drawing/2014/main" val="10000"/>
                  </a:ext>
                </a:extLst>
              </a:tr>
              <a:tr h="419100">
                <a:tc>
                  <a:txBody>
                    <a:bodyPr/>
                    <a:lstStyle/>
                    <a:p>
                      <a:pPr algn="ctr"/>
                      <a:r>
                        <a:rPr sz="2100">
                          <a:solidFill>
                            <a:srgbClr val="000000"/>
                          </a:solidFill>
                          <a:latin typeface="Calibri"/>
                          <a:ea typeface="Calibri"/>
                          <a:cs typeface="Calibri"/>
                        </a:rPr>
                        <a:t>2</a:t>
                      </a:r>
                    </a:p>
                  </a:txBody>
                  <a:tcPr marL="47625" marR="47625" marT="28575" marB="28575" anchor="ctr">
                    <a:solidFill>
                      <a:srgbClr val="FFFFFF"/>
                    </a:solidFill>
                  </a:tcPr>
                </a:tc>
                <a:extLst>
                  <a:ext uri="{0D108BD9-81ED-4DB2-BD59-A6C34878D82A}">
                    <a16:rowId xmlns:a16="http://schemas.microsoft.com/office/drawing/2014/main" val="10001"/>
                  </a:ext>
                </a:extLst>
              </a:tr>
              <a:tr h="419100">
                <a:tc>
                  <a:txBody>
                    <a:bodyPr/>
                    <a:lstStyle/>
                    <a:p>
                      <a:pPr algn="ctr"/>
                      <a:r>
                        <a:rPr sz="2100">
                          <a:solidFill>
                            <a:srgbClr val="000000"/>
                          </a:solidFill>
                          <a:latin typeface="Calibri"/>
                          <a:ea typeface="Calibri"/>
                          <a:cs typeface="Calibri"/>
                        </a:rPr>
                        <a:t>3</a:t>
                      </a:r>
                    </a:p>
                  </a:txBody>
                  <a:tcPr marL="47625" marR="47625" marT="28575" marB="28575" anchor="ctr">
                    <a:solidFill>
                      <a:srgbClr val="FFFFFF"/>
                    </a:solidFill>
                  </a:tcPr>
                </a:tc>
                <a:extLst>
                  <a:ext uri="{0D108BD9-81ED-4DB2-BD59-A6C34878D82A}">
                    <a16:rowId xmlns:a16="http://schemas.microsoft.com/office/drawing/2014/main" val="10002"/>
                  </a:ext>
                </a:extLst>
              </a:tr>
              <a:tr h="419100">
                <a:tc>
                  <a:txBody>
                    <a:bodyPr/>
                    <a:lstStyle/>
                    <a:p>
                      <a:pPr algn="ctr"/>
                      <a:r>
                        <a:rPr sz="2100">
                          <a:solidFill>
                            <a:srgbClr val="000000"/>
                          </a:solidFill>
                          <a:latin typeface="Calibri"/>
                          <a:ea typeface="Calibri"/>
                          <a:cs typeface="Calibri"/>
                        </a:rPr>
                        <a:t>4</a:t>
                      </a:r>
                    </a:p>
                  </a:txBody>
                  <a:tcPr marL="47625" marR="47625" marT="28575" marB="28575" anchor="ctr">
                    <a:solidFill>
                      <a:srgbClr val="FFFFFF"/>
                    </a:solidFill>
                  </a:tcPr>
                </a:tc>
                <a:extLst>
                  <a:ext uri="{0D108BD9-81ED-4DB2-BD59-A6C34878D82A}">
                    <a16:rowId xmlns:a16="http://schemas.microsoft.com/office/drawing/2014/main" val="10003"/>
                  </a:ext>
                </a:extLst>
              </a:tr>
            </a:tbl>
          </a:graphicData>
        </a:graphic>
      </p:graphicFrame>
      <p:sp>
        <p:nvSpPr>
          <p:cNvPr id="8" name="body">
            <a:extLst>
              <a:ext uri="{FF2B5EF4-FFF2-40B4-BE49-F238E27FC236}">
                <a16:creationId xmlns:a16="http://schemas.microsoft.com/office/drawing/2014/main" id="{77535DA3-B467-4B32-9777-4FF54B42BD51}"/>
              </a:ext>
            </a:extLst>
          </p:cNvPr>
          <p:cNvSpPr>
            <a:spLocks noGrp="1"/>
          </p:cNvSpPr>
          <p:nvPr/>
        </p:nvSpPr>
        <p:spPr>
          <a:xfrm>
            <a:off x="781050" y="4048125"/>
            <a:ext cx="7600950" cy="952500"/>
          </a:xfrm>
          <a:prstGeom prst="rect">
            <a:avLst/>
          </a:prstGeom>
          <a:noFill/>
          <a:ln w="0">
            <a:noFill/>
          </a:ln>
        </p:spPr>
        <p:txBody>
          <a:bodyPr wrap="square" lIns="0" tIns="0" rIns="0" bIns="0">
            <a:noAutofit/>
          </a:bodyPr>
          <a:lstStyle/>
          <a:p>
            <a:pPr>
              <a:defRPr sz="2250" b="0">
                <a:solidFill>
                  <a:srgbClr val="FF0000"/>
                </a:solidFill>
                <a:latin typeface="Calibri"/>
                <a:ea typeface="Calibri"/>
                <a:cs typeface="Calibri"/>
              </a:defRPr>
            </a:pPr>
            <a:r>
              <a:rPr sz="2250" b="0">
                <a:solidFill>
                  <a:srgbClr val="FF0000"/>
                </a:solidFill>
                <a:latin typeface="Calibri"/>
                <a:ea typeface="Calibri"/>
                <a:cs typeface="Calibri"/>
              </a:rPr>
              <a:t>Find IDs of members who attended exactly one workshop.</a:t>
            </a:r>
          </a:p>
        </p:txBody>
      </p:sp>
      <p:sp>
        <p:nvSpPr>
          <p:cNvPr id="9001" name="Title 1">
            <a:extLst>
              <a:ext uri="{FF2B5EF4-FFF2-40B4-BE49-F238E27FC236}">
                <a16:creationId xmlns:a16="http://schemas.microsoft.com/office/drawing/2014/main" id="{4EF27E5C-9C4D-BDBE-7667-D0B141BCC8F5}"/>
              </a:ext>
            </a:extLst>
          </p:cNvPr>
          <p:cNvSpPr>
            <a:spLocks noGrp="1"/>
          </p:cNvSpPr>
          <p:nvPr>
            <p:ph type="title"/>
          </p:nvPr>
        </p:nvSpPr>
        <p:spPr/>
        <p:txBody>
          <a:bodyPr/>
          <a:lstStyle/>
          <a:p>
            <a:r>
              <a:rPr lang="en-US">
                <a:solidFill>
                  <a:srgbClr val="FF0000"/>
                </a:solidFill>
              </a:rPr>
              <a:t>Practice: </a:t>
            </a:r>
            <a:r>
              <a:rPr lang="en-US">
                <a:solidFill>
                  <a:srgbClr val="3333CC"/>
                </a:solidFill>
              </a:rPr>
              <a:t>Q12</a:t>
            </a:r>
          </a:p>
        </p:txBody>
      </p:sp>
      <p:sp>
        <p:nvSpPr>
          <p:cNvPr id="9002" name="Slide Number Placeholder 1">
            <a:extLst>
              <a:ext uri="{FF2B5EF4-FFF2-40B4-BE49-F238E27FC236}">
                <a16:creationId xmlns:a16="http://schemas.microsoft.com/office/drawing/2014/main" id="{B90139AC-3BDA-723A-097A-000DA0A784C1}"/>
              </a:ext>
            </a:extLst>
          </p:cNvPr>
          <p:cNvSpPr>
            <a:spLocks noGrp="1"/>
          </p:cNvSpPr>
          <p:nvPr>
            <p:ph type="sldNum" sz="quarter" idx="12"/>
          </p:nvPr>
        </p:nvSpPr>
        <p:spPr/>
        <p:txBody>
          <a:bodyPr/>
          <a:lstStyle/>
          <a:p>
            <a:pPr>
              <a:defRPr/>
            </a:pPr>
            <a:fld id="{43CA101F-9E5F-9249-9862-3CE55B3BB777}" type="slidenum">
              <a:rPr lang="en-US" altLang="zh-TW" smtClean="0"/>
              <a:pPr>
                <a:defRPr/>
              </a:pPr>
              <a:t>32</a:t>
            </a:fld>
            <a:endParaRPr lang="en-US" altLang="zh-TW"/>
          </a:p>
        </p:txBody>
      </p:sp>
    </p:spTree>
    <p:extLst>
      <p:ext uri="{BB962C8B-B14F-4D97-AF65-F5344CB8AC3E}">
        <p14:creationId xmlns:p14="http://schemas.microsoft.com/office/powerpoint/2010/main" val="146221299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formula">
            <a:extLst>
              <a:ext uri="{FF2B5EF4-FFF2-40B4-BE49-F238E27FC236}">
                <a16:creationId xmlns:a16="http://schemas.microsoft.com/office/drawing/2014/main" id="{0F447931-29F2-4C04-A0B0-6E91BC856BC4}"/>
              </a:ext>
            </a:extLst>
          </p:cNvPr>
          <p:cNvSpPr>
            <a:spLocks noGrp="1"/>
          </p:cNvSpPr>
          <p:nvPr/>
        </p:nvSpPr>
        <p:spPr>
          <a:xfrm>
            <a:off x="781050" y="1076325"/>
            <a:ext cx="7620000" cy="523875"/>
          </a:xfrm>
          <a:prstGeom prst="rect">
            <a:avLst/>
          </a:prstGeom>
          <a:noFill/>
          <a:ln w="0">
            <a:noFill/>
          </a:ln>
        </p:spPr>
        <p:txBody>
          <a:bodyPr wrap="square" lIns="0" tIns="0" rIns="0" bIns="0">
            <a:noAutofit/>
          </a:bodyPr>
          <a:lstStyle/>
          <a:p>
            <a:pPr>
              <a:defRPr sz="2325" b="0">
                <a:solidFill>
                  <a:srgbClr val="000000"/>
                </a:solidFill>
                <a:latin typeface="Cambria Math"/>
                <a:ea typeface="Cambria Math"/>
                <a:cs typeface="Cambria Math"/>
              </a:defRPr>
            </a:pPr>
            <a:r>
              <a:rPr sz="2325" b="0">
                <a:solidFill>
                  <a:srgbClr val="000000"/>
                </a:solidFill>
                <a:latin typeface="Cambria Math"/>
                <a:ea typeface="Cambria Math"/>
                <a:cs typeface="Cambria Math"/>
              </a:rPr>
              <a:t>H_only ← Hack − Design</a:t>
            </a:r>
          </a:p>
        </p:txBody>
      </p:sp>
      <p:sp>
        <p:nvSpPr>
          <p:cNvPr id="4" name="formula">
            <a:extLst>
              <a:ext uri="{FF2B5EF4-FFF2-40B4-BE49-F238E27FC236}">
                <a16:creationId xmlns:a16="http://schemas.microsoft.com/office/drawing/2014/main" id="{9D647804-591D-4DF5-8327-33388A59781A}"/>
              </a:ext>
            </a:extLst>
          </p:cNvPr>
          <p:cNvSpPr>
            <a:spLocks noGrp="1"/>
          </p:cNvSpPr>
          <p:nvPr/>
        </p:nvSpPr>
        <p:spPr>
          <a:xfrm>
            <a:off x="781050" y="1743075"/>
            <a:ext cx="7620000" cy="523875"/>
          </a:xfrm>
          <a:prstGeom prst="rect">
            <a:avLst/>
          </a:prstGeom>
          <a:noFill/>
          <a:ln w="0">
            <a:noFill/>
          </a:ln>
        </p:spPr>
        <p:txBody>
          <a:bodyPr wrap="square" lIns="0" tIns="0" rIns="0" bIns="0">
            <a:noAutofit/>
          </a:bodyPr>
          <a:lstStyle/>
          <a:p>
            <a:pPr>
              <a:defRPr sz="2325" b="0">
                <a:solidFill>
                  <a:srgbClr val="000000"/>
                </a:solidFill>
                <a:latin typeface="Cambria Math"/>
                <a:ea typeface="Cambria Math"/>
                <a:cs typeface="Cambria Math"/>
              </a:defRPr>
            </a:pPr>
            <a:r>
              <a:rPr sz="2325" b="0">
                <a:solidFill>
                  <a:srgbClr val="000000"/>
                </a:solidFill>
                <a:latin typeface="Cambria Math"/>
                <a:ea typeface="Cambria Math"/>
                <a:cs typeface="Cambria Math"/>
              </a:rPr>
              <a:t>D_only ← Design − Hack</a:t>
            </a:r>
          </a:p>
        </p:txBody>
      </p:sp>
      <p:sp>
        <p:nvSpPr>
          <p:cNvPr id="5" name="body">
            <a:extLst>
              <a:ext uri="{FF2B5EF4-FFF2-40B4-BE49-F238E27FC236}">
                <a16:creationId xmlns:a16="http://schemas.microsoft.com/office/drawing/2014/main" id="{BF806B4B-00C2-41E7-86C3-5A480180D122}"/>
              </a:ext>
            </a:extLst>
          </p:cNvPr>
          <p:cNvSpPr>
            <a:spLocks noGrp="1"/>
          </p:cNvSpPr>
          <p:nvPr/>
        </p:nvSpPr>
        <p:spPr>
          <a:xfrm>
            <a:off x="1457325" y="2628900"/>
            <a:ext cx="2428875" cy="361950"/>
          </a:xfrm>
          <a:prstGeom prst="rect">
            <a:avLst/>
          </a:prstGeom>
          <a:noFill/>
          <a:ln w="0">
            <a:noFill/>
          </a:ln>
        </p:spPr>
        <p:txBody>
          <a:bodyPr wrap="square" lIns="0" tIns="0" rIns="0" bIns="0">
            <a:noAutofit/>
          </a:bodyPr>
          <a:lstStyle/>
          <a:p>
            <a:pPr>
              <a:defRPr sz="2250" b="0">
                <a:solidFill>
                  <a:srgbClr val="000000"/>
                </a:solidFill>
                <a:latin typeface="Calibri"/>
                <a:ea typeface="Calibri"/>
                <a:cs typeface="Calibri"/>
              </a:defRPr>
            </a:pPr>
            <a:r>
              <a:rPr sz="2250" b="0">
                <a:solidFill>
                  <a:srgbClr val="000000"/>
                </a:solidFill>
                <a:latin typeface="Calibri"/>
                <a:ea typeface="Calibri"/>
                <a:cs typeface="Calibri"/>
              </a:rPr>
              <a:t>H_only</a:t>
            </a:r>
          </a:p>
        </p:txBody>
      </p:sp>
      <p:graphicFrame>
        <p:nvGraphicFramePr>
          <p:cNvPr id="16" name="表格 15"/>
          <p:cNvGraphicFramePr/>
          <p:nvPr/>
        </p:nvGraphicFramePr>
        <p:xfrm>
          <a:off x="1533525" y="3048000"/>
          <a:ext cx="2428875" cy="895350"/>
        </p:xfrm>
        <a:graphic>
          <a:graphicData uri="http://schemas.openxmlformats.org/drawingml/2006/table">
            <a:tbl>
              <a:tblPr/>
              <a:tblGrid>
                <a:gridCol w="2428875">
                  <a:extLst>
                    <a:ext uri="{9D8B030D-6E8A-4147-A177-3AD203B41FA5}">
                      <a16:colId xmlns:a16="http://schemas.microsoft.com/office/drawing/2014/main" val="20000"/>
                    </a:ext>
                  </a:extLst>
                </a:gridCol>
              </a:tblGrid>
              <a:tr h="447675">
                <a:tc>
                  <a:txBody>
                    <a:bodyPr/>
                    <a:lstStyle/>
                    <a:p>
                      <a:pPr algn="ctr"/>
                      <a:r>
                        <a:rPr sz="2100">
                          <a:solidFill>
                            <a:srgbClr val="000000"/>
                          </a:solidFill>
                          <a:latin typeface="Calibri"/>
                          <a:ea typeface="Calibri"/>
                          <a:cs typeface="Calibri"/>
                        </a:rPr>
                        <a:t>mid</a:t>
                      </a:r>
                    </a:p>
                  </a:txBody>
                  <a:tcPr marL="47625" marR="47625" marT="28575" marB="28575" anchor="ctr">
                    <a:solidFill>
                      <a:srgbClr val="D9D9D9"/>
                    </a:solidFill>
                  </a:tcPr>
                </a:tc>
                <a:extLst>
                  <a:ext uri="{0D108BD9-81ED-4DB2-BD59-A6C34878D82A}">
                    <a16:rowId xmlns:a16="http://schemas.microsoft.com/office/drawing/2014/main" val="10000"/>
                  </a:ext>
                </a:extLst>
              </a:tr>
              <a:tr h="447675">
                <a:tc>
                  <a:txBody>
                    <a:bodyPr/>
                    <a:lstStyle/>
                    <a:p>
                      <a:pPr algn="ctr"/>
                      <a:r>
                        <a:rPr sz="2100">
                          <a:solidFill>
                            <a:srgbClr val="000000"/>
                          </a:solidFill>
                          <a:latin typeface="Calibri"/>
                          <a:ea typeface="Calibri"/>
                          <a:cs typeface="Calibri"/>
                        </a:rPr>
                        <a:t>1</a:t>
                      </a:r>
                    </a:p>
                  </a:txBody>
                  <a:tcPr marL="47625" marR="47625" marT="28575" marB="28575" anchor="ctr">
                    <a:solidFill>
                      <a:srgbClr val="FFFFFF"/>
                    </a:solidFill>
                  </a:tcPr>
                </a:tc>
                <a:extLst>
                  <a:ext uri="{0D108BD9-81ED-4DB2-BD59-A6C34878D82A}">
                    <a16:rowId xmlns:a16="http://schemas.microsoft.com/office/drawing/2014/main" val="10001"/>
                  </a:ext>
                </a:extLst>
              </a:tr>
            </a:tbl>
          </a:graphicData>
        </a:graphic>
      </p:graphicFrame>
      <p:sp>
        <p:nvSpPr>
          <p:cNvPr id="7" name="body">
            <a:extLst>
              <a:ext uri="{FF2B5EF4-FFF2-40B4-BE49-F238E27FC236}">
                <a16:creationId xmlns:a16="http://schemas.microsoft.com/office/drawing/2014/main" id="{BE4E5286-6A38-4556-86C9-2BF6ED2A07C2}"/>
              </a:ext>
            </a:extLst>
          </p:cNvPr>
          <p:cNvSpPr>
            <a:spLocks noGrp="1"/>
          </p:cNvSpPr>
          <p:nvPr/>
        </p:nvSpPr>
        <p:spPr>
          <a:xfrm>
            <a:off x="5124450" y="2628900"/>
            <a:ext cx="2428875" cy="361950"/>
          </a:xfrm>
          <a:prstGeom prst="rect">
            <a:avLst/>
          </a:prstGeom>
          <a:noFill/>
          <a:ln w="0">
            <a:noFill/>
          </a:ln>
        </p:spPr>
        <p:txBody>
          <a:bodyPr wrap="square" lIns="0" tIns="0" rIns="0" bIns="0">
            <a:noAutofit/>
          </a:bodyPr>
          <a:lstStyle/>
          <a:p>
            <a:pPr>
              <a:defRPr sz="2250" b="0">
                <a:solidFill>
                  <a:srgbClr val="000000"/>
                </a:solidFill>
                <a:latin typeface="Calibri"/>
                <a:ea typeface="Calibri"/>
                <a:cs typeface="Calibri"/>
              </a:defRPr>
            </a:pPr>
            <a:r>
              <a:rPr sz="2250" b="0">
                <a:solidFill>
                  <a:srgbClr val="000000"/>
                </a:solidFill>
                <a:latin typeface="Calibri"/>
                <a:ea typeface="Calibri"/>
                <a:cs typeface="Calibri"/>
              </a:rPr>
              <a:t>D_only</a:t>
            </a:r>
          </a:p>
        </p:txBody>
      </p:sp>
      <p:graphicFrame>
        <p:nvGraphicFramePr>
          <p:cNvPr id="18" name="表格 17"/>
          <p:cNvGraphicFramePr/>
          <p:nvPr/>
        </p:nvGraphicFramePr>
        <p:xfrm>
          <a:off x="5200650" y="3048000"/>
          <a:ext cx="2428875" cy="895350"/>
        </p:xfrm>
        <a:graphic>
          <a:graphicData uri="http://schemas.openxmlformats.org/drawingml/2006/table">
            <a:tbl>
              <a:tblPr/>
              <a:tblGrid>
                <a:gridCol w="2428875">
                  <a:extLst>
                    <a:ext uri="{9D8B030D-6E8A-4147-A177-3AD203B41FA5}">
                      <a16:colId xmlns:a16="http://schemas.microsoft.com/office/drawing/2014/main" val="20000"/>
                    </a:ext>
                  </a:extLst>
                </a:gridCol>
              </a:tblGrid>
              <a:tr h="447675">
                <a:tc>
                  <a:txBody>
                    <a:bodyPr/>
                    <a:lstStyle/>
                    <a:p>
                      <a:pPr algn="ctr"/>
                      <a:r>
                        <a:rPr sz="2100">
                          <a:solidFill>
                            <a:srgbClr val="000000"/>
                          </a:solidFill>
                          <a:latin typeface="Calibri"/>
                          <a:ea typeface="Calibri"/>
                          <a:cs typeface="Calibri"/>
                        </a:rPr>
                        <a:t>mid</a:t>
                      </a:r>
                    </a:p>
                  </a:txBody>
                  <a:tcPr marL="47625" marR="47625" marT="28575" marB="28575" anchor="ctr">
                    <a:solidFill>
                      <a:srgbClr val="D9D9D9"/>
                    </a:solidFill>
                  </a:tcPr>
                </a:tc>
                <a:extLst>
                  <a:ext uri="{0D108BD9-81ED-4DB2-BD59-A6C34878D82A}">
                    <a16:rowId xmlns:a16="http://schemas.microsoft.com/office/drawing/2014/main" val="10000"/>
                  </a:ext>
                </a:extLst>
              </a:tr>
              <a:tr h="447675">
                <a:tc>
                  <a:txBody>
                    <a:bodyPr/>
                    <a:lstStyle/>
                    <a:p>
                      <a:pPr algn="ctr"/>
                      <a:r>
                        <a:rPr sz="2100">
                          <a:solidFill>
                            <a:srgbClr val="000000"/>
                          </a:solidFill>
                          <a:latin typeface="Calibri"/>
                          <a:ea typeface="Calibri"/>
                          <a:cs typeface="Calibri"/>
                        </a:rPr>
                        <a:t>3</a:t>
                      </a:r>
                    </a:p>
                  </a:txBody>
                  <a:tcPr marL="47625" marR="47625" marT="28575" marB="28575" anchor="ctr">
                    <a:solidFill>
                      <a:srgbClr val="FFFFFF"/>
                    </a:solidFill>
                  </a:tcPr>
                </a:tc>
                <a:extLst>
                  <a:ext uri="{0D108BD9-81ED-4DB2-BD59-A6C34878D82A}">
                    <a16:rowId xmlns:a16="http://schemas.microsoft.com/office/drawing/2014/main" val="10001"/>
                  </a:ext>
                </a:extLst>
              </a:tr>
            </a:tbl>
          </a:graphicData>
        </a:graphic>
      </p:graphicFrame>
      <p:sp>
        <p:nvSpPr>
          <p:cNvPr id="9" name="formula">
            <a:extLst>
              <a:ext uri="{FF2B5EF4-FFF2-40B4-BE49-F238E27FC236}">
                <a16:creationId xmlns:a16="http://schemas.microsoft.com/office/drawing/2014/main" id="{727F8887-D52E-4480-83F2-ACB6D40A6292}"/>
              </a:ext>
            </a:extLst>
          </p:cNvPr>
          <p:cNvSpPr>
            <a:spLocks noGrp="1"/>
          </p:cNvSpPr>
          <p:nvPr/>
        </p:nvSpPr>
        <p:spPr>
          <a:xfrm>
            <a:off x="781050" y="4743450"/>
            <a:ext cx="7620000" cy="523875"/>
          </a:xfrm>
          <a:prstGeom prst="rect">
            <a:avLst/>
          </a:prstGeom>
          <a:noFill/>
          <a:ln w="0">
            <a:noFill/>
          </a:ln>
        </p:spPr>
        <p:txBody>
          <a:bodyPr wrap="square" lIns="0" tIns="0" rIns="0" bIns="0">
            <a:noAutofit/>
          </a:bodyPr>
          <a:lstStyle/>
          <a:p>
            <a:pPr>
              <a:defRPr sz="2325" b="0">
                <a:solidFill>
                  <a:srgbClr val="000000"/>
                </a:solidFill>
                <a:latin typeface="Cambria Math"/>
                <a:ea typeface="Cambria Math"/>
                <a:cs typeface="Cambria Math"/>
              </a:defRPr>
            </a:pPr>
            <a:r>
              <a:rPr sz="2325" b="0">
                <a:solidFill>
                  <a:srgbClr val="000000"/>
                </a:solidFill>
                <a:latin typeface="Cambria Math"/>
                <a:ea typeface="Cambria Math"/>
                <a:cs typeface="Cambria Math"/>
              </a:rPr>
              <a:t>Answer ← H_only ∪ D_only</a:t>
            </a:r>
          </a:p>
        </p:txBody>
      </p:sp>
      <p:sp>
        <p:nvSpPr>
          <p:cNvPr id="10" name="body">
            <a:extLst>
              <a:ext uri="{FF2B5EF4-FFF2-40B4-BE49-F238E27FC236}">
                <a16:creationId xmlns:a16="http://schemas.microsoft.com/office/drawing/2014/main" id="{E700FCF7-CD3B-4991-BDF5-90019234BCC9}"/>
              </a:ext>
            </a:extLst>
          </p:cNvPr>
          <p:cNvSpPr>
            <a:spLocks noGrp="1"/>
          </p:cNvSpPr>
          <p:nvPr/>
        </p:nvSpPr>
        <p:spPr>
          <a:xfrm>
            <a:off x="781050" y="5514975"/>
            <a:ext cx="7600950" cy="952500"/>
          </a:xfrm>
          <a:prstGeom prst="rect">
            <a:avLst/>
          </a:prstGeom>
          <a:noFill/>
          <a:ln w="0">
            <a:noFill/>
          </a:ln>
        </p:spPr>
        <p:txBody>
          <a:bodyPr wrap="square" lIns="0" tIns="0" rIns="0" bIns="0">
            <a:noAutofit/>
          </a:bodyPr>
          <a:lstStyle/>
          <a:p>
            <a:pPr>
              <a:defRPr sz="2100" b="0">
                <a:solidFill>
                  <a:srgbClr val="FF0000"/>
                </a:solidFill>
                <a:latin typeface="Calibri"/>
                <a:ea typeface="Calibri"/>
                <a:cs typeface="Calibri"/>
              </a:defRPr>
            </a:pPr>
            <a:r>
              <a:rPr sz="2100" b="0">
                <a:solidFill>
                  <a:srgbClr val="FF0000"/>
                </a:solidFill>
                <a:latin typeface="Calibri"/>
                <a:ea typeface="Calibri"/>
                <a:cs typeface="Calibri"/>
              </a:rPr>
              <a:t>Union of the two one-workshop groups: { (1), (3) }.</a:t>
            </a:r>
          </a:p>
        </p:txBody>
      </p:sp>
      <p:sp>
        <p:nvSpPr>
          <p:cNvPr id="9001" name="Title 1">
            <a:extLst>
              <a:ext uri="{FF2B5EF4-FFF2-40B4-BE49-F238E27FC236}">
                <a16:creationId xmlns:a16="http://schemas.microsoft.com/office/drawing/2014/main" id="{4EF27E5C-9C4D-BDBE-7667-D0B141BCC8F5}"/>
              </a:ext>
            </a:extLst>
          </p:cNvPr>
          <p:cNvSpPr>
            <a:spLocks noGrp="1"/>
          </p:cNvSpPr>
          <p:nvPr>
            <p:ph type="title"/>
          </p:nvPr>
        </p:nvSpPr>
        <p:spPr/>
        <p:txBody>
          <a:bodyPr/>
          <a:lstStyle/>
          <a:p>
            <a:r>
              <a:rPr lang="en-US">
                <a:solidFill>
                  <a:srgbClr val="FF0000"/>
                </a:solidFill>
              </a:rPr>
              <a:t>Solutions: </a:t>
            </a:r>
            <a:r>
              <a:rPr lang="en-US">
                <a:solidFill>
                  <a:srgbClr val="3333CC"/>
                </a:solidFill>
              </a:rPr>
              <a:t>Q12 (1)</a:t>
            </a:r>
          </a:p>
        </p:txBody>
      </p:sp>
      <p:sp>
        <p:nvSpPr>
          <p:cNvPr id="9002" name="Slide Number Placeholder 1">
            <a:extLst>
              <a:ext uri="{FF2B5EF4-FFF2-40B4-BE49-F238E27FC236}">
                <a16:creationId xmlns:a16="http://schemas.microsoft.com/office/drawing/2014/main" id="{B90139AC-3BDA-723A-097A-000DA0A784C1}"/>
              </a:ext>
            </a:extLst>
          </p:cNvPr>
          <p:cNvSpPr>
            <a:spLocks noGrp="1"/>
          </p:cNvSpPr>
          <p:nvPr>
            <p:ph type="sldNum" sz="quarter" idx="12"/>
          </p:nvPr>
        </p:nvSpPr>
        <p:spPr/>
        <p:txBody>
          <a:bodyPr/>
          <a:lstStyle/>
          <a:p>
            <a:pPr>
              <a:defRPr/>
            </a:pPr>
            <a:fld id="{43CA101F-9E5F-9249-9862-3CE55B3BB777}" type="slidenum">
              <a:rPr lang="en-US" altLang="zh-TW" smtClean="0"/>
              <a:pPr>
                <a:defRPr/>
              </a:pPr>
              <a:t>33</a:t>
            </a:fld>
            <a:endParaRPr lang="en-US" altLang="zh-TW"/>
          </a:p>
        </p:txBody>
      </p:sp>
    </p:spTree>
    <p:extLst>
      <p:ext uri="{BB962C8B-B14F-4D97-AF65-F5344CB8AC3E}">
        <p14:creationId xmlns:p14="http://schemas.microsoft.com/office/powerpoint/2010/main" val="100329037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formula">
            <a:extLst>
              <a:ext uri="{FF2B5EF4-FFF2-40B4-BE49-F238E27FC236}">
                <a16:creationId xmlns:a16="http://schemas.microsoft.com/office/drawing/2014/main" id="{3A90D4A5-F35E-4BF5-B9CF-80A69E4A3ABF}"/>
              </a:ext>
            </a:extLst>
          </p:cNvPr>
          <p:cNvSpPr>
            <a:spLocks noGrp="1"/>
          </p:cNvSpPr>
          <p:nvPr/>
        </p:nvSpPr>
        <p:spPr>
          <a:xfrm>
            <a:off x="781050" y="1095375"/>
            <a:ext cx="7620000" cy="523875"/>
          </a:xfrm>
          <a:prstGeom prst="rect">
            <a:avLst/>
          </a:prstGeom>
          <a:noFill/>
          <a:ln w="0">
            <a:noFill/>
          </a:ln>
        </p:spPr>
        <p:txBody>
          <a:bodyPr wrap="square" lIns="0" tIns="0" rIns="0" bIns="0">
            <a:noAutofit/>
          </a:bodyPr>
          <a:lstStyle/>
          <a:p>
            <a:pPr>
              <a:defRPr sz="2100" b="0">
                <a:solidFill>
                  <a:srgbClr val="000000"/>
                </a:solidFill>
                <a:latin typeface="Cambria Math"/>
                <a:ea typeface="Cambria Math"/>
                <a:cs typeface="Cambria Math"/>
              </a:defRPr>
            </a:pPr>
            <a:r>
              <a:rPr sz="2100" b="0">
                <a:solidFill>
                  <a:srgbClr val="000000"/>
                </a:solidFill>
                <a:latin typeface="Cambria Math"/>
                <a:ea typeface="Cambria Math"/>
                <a:cs typeface="Cambria Math"/>
              </a:rPr>
              <a:t>Any ← Hack ∪ Design = { (1), (2), (3), (4) }</a:t>
            </a:r>
          </a:p>
        </p:txBody>
      </p:sp>
      <p:sp>
        <p:nvSpPr>
          <p:cNvPr id="4" name="formula">
            <a:extLst>
              <a:ext uri="{FF2B5EF4-FFF2-40B4-BE49-F238E27FC236}">
                <a16:creationId xmlns:a16="http://schemas.microsoft.com/office/drawing/2014/main" id="{4A8C1CB8-3AE0-4310-A602-C4919240E30D}"/>
              </a:ext>
            </a:extLst>
          </p:cNvPr>
          <p:cNvSpPr>
            <a:spLocks noGrp="1"/>
          </p:cNvSpPr>
          <p:nvPr/>
        </p:nvSpPr>
        <p:spPr>
          <a:xfrm>
            <a:off x="781050" y="1933575"/>
            <a:ext cx="7620000" cy="523875"/>
          </a:xfrm>
          <a:prstGeom prst="rect">
            <a:avLst/>
          </a:prstGeom>
          <a:noFill/>
          <a:ln w="0">
            <a:noFill/>
          </a:ln>
        </p:spPr>
        <p:txBody>
          <a:bodyPr wrap="square" lIns="0" tIns="0" rIns="0" bIns="0">
            <a:noAutofit/>
          </a:bodyPr>
          <a:lstStyle/>
          <a:p>
            <a:pPr>
              <a:defRPr sz="2100" b="0">
                <a:solidFill>
                  <a:srgbClr val="000000"/>
                </a:solidFill>
                <a:latin typeface="Cambria Math"/>
                <a:ea typeface="Cambria Math"/>
                <a:cs typeface="Cambria Math"/>
              </a:defRPr>
            </a:pPr>
            <a:r>
              <a:rPr sz="2100" b="0">
                <a:solidFill>
                  <a:srgbClr val="000000"/>
                </a:solidFill>
                <a:latin typeface="Cambria Math"/>
                <a:ea typeface="Cambria Math"/>
                <a:cs typeface="Cambria Math"/>
              </a:rPr>
              <a:t>Both ← Hack ∩ Design = { (2), (4) }</a:t>
            </a:r>
          </a:p>
        </p:txBody>
      </p:sp>
      <p:sp>
        <p:nvSpPr>
          <p:cNvPr id="5" name="formula">
            <a:extLst>
              <a:ext uri="{FF2B5EF4-FFF2-40B4-BE49-F238E27FC236}">
                <a16:creationId xmlns:a16="http://schemas.microsoft.com/office/drawing/2014/main" id="{A83160B7-FF70-499E-BF17-30A5779BF5F3}"/>
              </a:ext>
            </a:extLst>
          </p:cNvPr>
          <p:cNvSpPr>
            <a:spLocks noGrp="1"/>
          </p:cNvSpPr>
          <p:nvPr/>
        </p:nvSpPr>
        <p:spPr>
          <a:xfrm>
            <a:off x="781050" y="2771775"/>
            <a:ext cx="7620000" cy="523875"/>
          </a:xfrm>
          <a:prstGeom prst="rect">
            <a:avLst/>
          </a:prstGeom>
          <a:noFill/>
          <a:ln w="0">
            <a:noFill/>
          </a:ln>
        </p:spPr>
        <p:txBody>
          <a:bodyPr wrap="square" lIns="0" tIns="0" rIns="0" bIns="0">
            <a:noAutofit/>
          </a:bodyPr>
          <a:lstStyle/>
          <a:p>
            <a:pPr>
              <a:defRPr sz="2325" b="0">
                <a:solidFill>
                  <a:srgbClr val="000000"/>
                </a:solidFill>
                <a:latin typeface="Cambria Math"/>
                <a:ea typeface="Cambria Math"/>
                <a:cs typeface="Cambria Math"/>
              </a:defRPr>
            </a:pPr>
            <a:r>
              <a:rPr sz="2325" b="0">
                <a:solidFill>
                  <a:srgbClr val="000000"/>
                </a:solidFill>
                <a:latin typeface="Cambria Math"/>
                <a:ea typeface="Cambria Math"/>
                <a:cs typeface="Cambria Math"/>
              </a:rPr>
              <a:t>Answer ← Any − Both</a:t>
            </a:r>
          </a:p>
        </p:txBody>
      </p:sp>
      <p:sp>
        <p:nvSpPr>
          <p:cNvPr id="6" name="body">
            <a:extLst>
              <a:ext uri="{FF2B5EF4-FFF2-40B4-BE49-F238E27FC236}">
                <a16:creationId xmlns:a16="http://schemas.microsoft.com/office/drawing/2014/main" id="{15F1DA86-02FF-44AD-8358-5BBCDD0C919B}"/>
              </a:ext>
            </a:extLst>
          </p:cNvPr>
          <p:cNvSpPr>
            <a:spLocks noGrp="1"/>
          </p:cNvSpPr>
          <p:nvPr/>
        </p:nvSpPr>
        <p:spPr>
          <a:xfrm>
            <a:off x="3009900" y="3438525"/>
            <a:ext cx="2905125" cy="361950"/>
          </a:xfrm>
          <a:prstGeom prst="rect">
            <a:avLst/>
          </a:prstGeom>
          <a:noFill/>
          <a:ln w="0">
            <a:noFill/>
          </a:ln>
        </p:spPr>
        <p:txBody>
          <a:bodyPr wrap="square" lIns="0" tIns="0" rIns="0" bIns="0">
            <a:noAutofit/>
          </a:bodyPr>
          <a:lstStyle/>
          <a:p>
            <a:pPr>
              <a:defRPr sz="2250" b="0">
                <a:solidFill>
                  <a:srgbClr val="000000"/>
                </a:solidFill>
                <a:latin typeface="Calibri"/>
                <a:ea typeface="Calibri"/>
                <a:cs typeface="Calibri"/>
              </a:defRPr>
            </a:pPr>
            <a:r>
              <a:rPr sz="2250" b="0">
                <a:solidFill>
                  <a:srgbClr val="000000"/>
                </a:solidFill>
                <a:latin typeface="Calibri"/>
                <a:ea typeface="Calibri"/>
                <a:cs typeface="Calibri"/>
              </a:rPr>
              <a:t>Answer</a:t>
            </a:r>
          </a:p>
        </p:txBody>
      </p:sp>
      <p:graphicFrame>
        <p:nvGraphicFramePr>
          <p:cNvPr id="15" name="表格 14"/>
          <p:cNvGraphicFramePr/>
          <p:nvPr/>
        </p:nvGraphicFramePr>
        <p:xfrm>
          <a:off x="3086100" y="3857625"/>
          <a:ext cx="2905125" cy="1285875"/>
        </p:xfrm>
        <a:graphic>
          <a:graphicData uri="http://schemas.openxmlformats.org/drawingml/2006/table">
            <a:tbl>
              <a:tblPr/>
              <a:tblGrid>
                <a:gridCol w="2905125">
                  <a:extLst>
                    <a:ext uri="{9D8B030D-6E8A-4147-A177-3AD203B41FA5}">
                      <a16:colId xmlns:a16="http://schemas.microsoft.com/office/drawing/2014/main" val="20000"/>
                    </a:ext>
                  </a:extLst>
                </a:gridCol>
              </a:tblGrid>
              <a:tr h="428625">
                <a:tc>
                  <a:txBody>
                    <a:bodyPr/>
                    <a:lstStyle/>
                    <a:p>
                      <a:pPr algn="ctr"/>
                      <a:r>
                        <a:rPr sz="2100">
                          <a:solidFill>
                            <a:srgbClr val="000000"/>
                          </a:solidFill>
                          <a:latin typeface="Calibri"/>
                          <a:ea typeface="Calibri"/>
                          <a:cs typeface="Calibri"/>
                        </a:rPr>
                        <a:t>mid</a:t>
                      </a:r>
                    </a:p>
                  </a:txBody>
                  <a:tcPr marL="47625" marR="47625" marT="28575" marB="28575" anchor="ctr">
                    <a:solidFill>
                      <a:srgbClr val="D9D9D9"/>
                    </a:solidFill>
                  </a:tcPr>
                </a:tc>
                <a:extLst>
                  <a:ext uri="{0D108BD9-81ED-4DB2-BD59-A6C34878D82A}">
                    <a16:rowId xmlns:a16="http://schemas.microsoft.com/office/drawing/2014/main" val="10000"/>
                  </a:ext>
                </a:extLst>
              </a:tr>
              <a:tr h="428625">
                <a:tc>
                  <a:txBody>
                    <a:bodyPr/>
                    <a:lstStyle/>
                    <a:p>
                      <a:pPr algn="ctr"/>
                      <a:r>
                        <a:rPr sz="2100">
                          <a:solidFill>
                            <a:srgbClr val="000000"/>
                          </a:solidFill>
                          <a:latin typeface="Calibri"/>
                          <a:ea typeface="Calibri"/>
                          <a:cs typeface="Calibri"/>
                        </a:rPr>
                        <a:t>1</a:t>
                      </a:r>
                    </a:p>
                  </a:txBody>
                  <a:tcPr marL="47625" marR="47625" marT="28575" marB="28575" anchor="ctr">
                    <a:solidFill>
                      <a:srgbClr val="FFFFFF"/>
                    </a:solidFill>
                  </a:tcPr>
                </a:tc>
                <a:extLst>
                  <a:ext uri="{0D108BD9-81ED-4DB2-BD59-A6C34878D82A}">
                    <a16:rowId xmlns:a16="http://schemas.microsoft.com/office/drawing/2014/main" val="10001"/>
                  </a:ext>
                </a:extLst>
              </a:tr>
              <a:tr h="428625">
                <a:tc>
                  <a:txBody>
                    <a:bodyPr/>
                    <a:lstStyle/>
                    <a:p>
                      <a:pPr algn="ctr"/>
                      <a:r>
                        <a:rPr sz="2100">
                          <a:solidFill>
                            <a:srgbClr val="000000"/>
                          </a:solidFill>
                          <a:latin typeface="Calibri"/>
                          <a:ea typeface="Calibri"/>
                          <a:cs typeface="Calibri"/>
                        </a:rPr>
                        <a:t>3</a:t>
                      </a:r>
                    </a:p>
                  </a:txBody>
                  <a:tcPr marL="47625" marR="47625" marT="28575" marB="28575" anchor="ctr">
                    <a:solidFill>
                      <a:srgbClr val="FFFFFF"/>
                    </a:solidFill>
                  </a:tcPr>
                </a:tc>
                <a:extLst>
                  <a:ext uri="{0D108BD9-81ED-4DB2-BD59-A6C34878D82A}">
                    <a16:rowId xmlns:a16="http://schemas.microsoft.com/office/drawing/2014/main" val="10002"/>
                  </a:ext>
                </a:extLst>
              </a:tr>
            </a:tbl>
          </a:graphicData>
        </a:graphic>
      </p:graphicFrame>
      <p:sp>
        <p:nvSpPr>
          <p:cNvPr id="8" name="body">
            <a:extLst>
              <a:ext uri="{FF2B5EF4-FFF2-40B4-BE49-F238E27FC236}">
                <a16:creationId xmlns:a16="http://schemas.microsoft.com/office/drawing/2014/main" id="{A0433F08-36EE-40B4-B9FE-3EA675F325A0}"/>
              </a:ext>
            </a:extLst>
          </p:cNvPr>
          <p:cNvSpPr>
            <a:spLocks noGrp="1"/>
          </p:cNvSpPr>
          <p:nvPr/>
        </p:nvSpPr>
        <p:spPr>
          <a:xfrm>
            <a:off x="781050" y="5505450"/>
            <a:ext cx="7600950" cy="952500"/>
          </a:xfrm>
          <a:prstGeom prst="rect">
            <a:avLst/>
          </a:prstGeom>
          <a:noFill/>
          <a:ln w="0">
            <a:noFill/>
          </a:ln>
        </p:spPr>
        <p:txBody>
          <a:bodyPr wrap="square" lIns="0" tIns="0" rIns="0" bIns="0">
            <a:noAutofit/>
          </a:bodyPr>
          <a:lstStyle/>
          <a:p>
            <a:pPr>
              <a:defRPr sz="2100" b="0">
                <a:solidFill>
                  <a:srgbClr val="FF0000"/>
                </a:solidFill>
                <a:latin typeface="Calibri"/>
                <a:ea typeface="Calibri"/>
                <a:cs typeface="Calibri"/>
              </a:defRPr>
            </a:pPr>
            <a:r>
              <a:rPr sz="2100" b="0">
                <a:solidFill>
                  <a:srgbClr val="FF0000"/>
                </a:solidFill>
                <a:latin typeface="Calibri"/>
                <a:ea typeface="Calibri"/>
                <a:cs typeface="Calibri"/>
              </a:rPr>
              <a:t>A union alone would incorrectly include IDs 2 and 4.</a:t>
            </a:r>
          </a:p>
        </p:txBody>
      </p:sp>
      <p:sp>
        <p:nvSpPr>
          <p:cNvPr id="9001" name="Title 1">
            <a:extLst>
              <a:ext uri="{FF2B5EF4-FFF2-40B4-BE49-F238E27FC236}">
                <a16:creationId xmlns:a16="http://schemas.microsoft.com/office/drawing/2014/main" id="{4EF27E5C-9C4D-BDBE-7667-D0B141BCC8F5}"/>
              </a:ext>
            </a:extLst>
          </p:cNvPr>
          <p:cNvSpPr>
            <a:spLocks noGrp="1"/>
          </p:cNvSpPr>
          <p:nvPr>
            <p:ph type="title"/>
          </p:nvPr>
        </p:nvSpPr>
        <p:spPr/>
        <p:txBody>
          <a:bodyPr/>
          <a:lstStyle/>
          <a:p>
            <a:r>
              <a:rPr lang="en-US">
                <a:solidFill>
                  <a:srgbClr val="FF0000"/>
                </a:solidFill>
              </a:rPr>
              <a:t>Solutions: </a:t>
            </a:r>
            <a:r>
              <a:rPr lang="en-US">
                <a:solidFill>
                  <a:srgbClr val="3333CC"/>
                </a:solidFill>
              </a:rPr>
              <a:t>Q12 (2)</a:t>
            </a:r>
          </a:p>
        </p:txBody>
      </p:sp>
      <p:sp>
        <p:nvSpPr>
          <p:cNvPr id="9002" name="Slide Number Placeholder 1">
            <a:extLst>
              <a:ext uri="{FF2B5EF4-FFF2-40B4-BE49-F238E27FC236}">
                <a16:creationId xmlns:a16="http://schemas.microsoft.com/office/drawing/2014/main" id="{B90139AC-3BDA-723A-097A-000DA0A784C1}"/>
              </a:ext>
            </a:extLst>
          </p:cNvPr>
          <p:cNvSpPr>
            <a:spLocks noGrp="1"/>
          </p:cNvSpPr>
          <p:nvPr>
            <p:ph type="sldNum" sz="quarter" idx="12"/>
          </p:nvPr>
        </p:nvSpPr>
        <p:spPr/>
        <p:txBody>
          <a:bodyPr/>
          <a:lstStyle/>
          <a:p>
            <a:pPr>
              <a:defRPr/>
            </a:pPr>
            <a:fld id="{43CA101F-9E5F-9249-9862-3CE55B3BB777}" type="slidenum">
              <a:rPr lang="en-US" altLang="zh-TW" smtClean="0"/>
              <a:pPr>
                <a:defRPr/>
              </a:pPr>
              <a:t>34</a:t>
            </a:fld>
            <a:endParaRPr lang="en-US" altLang="zh-TW"/>
          </a:p>
        </p:txBody>
      </p:sp>
    </p:spTree>
    <p:extLst>
      <p:ext uri="{BB962C8B-B14F-4D97-AF65-F5344CB8AC3E}">
        <p14:creationId xmlns:p14="http://schemas.microsoft.com/office/powerpoint/2010/main" val="35330609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body">
            <a:extLst>
              <a:ext uri="{FF2B5EF4-FFF2-40B4-BE49-F238E27FC236}">
                <a16:creationId xmlns:a16="http://schemas.microsoft.com/office/drawing/2014/main" id="{77D39458-3435-449A-99B2-66BDE6E7252C}"/>
              </a:ext>
            </a:extLst>
          </p:cNvPr>
          <p:cNvSpPr>
            <a:spLocks noGrp="1"/>
          </p:cNvSpPr>
          <p:nvPr/>
        </p:nvSpPr>
        <p:spPr>
          <a:xfrm>
            <a:off x="781050" y="1085850"/>
            <a:ext cx="219075" cy="400050"/>
          </a:xfrm>
          <a:prstGeom prst="rect">
            <a:avLst/>
          </a:prstGeom>
          <a:noFill/>
          <a:ln w="0">
            <a:noFill/>
          </a:ln>
        </p:spPr>
        <p:txBody>
          <a:bodyPr wrap="square" lIns="0" tIns="0" rIns="0" bIns="0">
            <a:noAutofit/>
          </a:bodyPr>
          <a:lstStyle/>
          <a:p>
            <a:pPr>
              <a:defRPr sz="2250" b="0">
                <a:solidFill>
                  <a:srgbClr val="000000"/>
                </a:solidFill>
                <a:latin typeface="Calibri"/>
                <a:ea typeface="Calibri"/>
                <a:cs typeface="Calibri"/>
              </a:defRPr>
            </a:pPr>
            <a:r>
              <a:rPr sz="2250" b="0">
                <a:solidFill>
                  <a:srgbClr val="000000"/>
                </a:solidFill>
                <a:latin typeface="Calibri"/>
                <a:ea typeface="Calibri"/>
                <a:cs typeface="Calibri"/>
              </a:rPr>
              <a:t>•</a:t>
            </a:r>
          </a:p>
        </p:txBody>
      </p:sp>
      <p:sp>
        <p:nvSpPr>
          <p:cNvPr id="4" name="body">
            <a:extLst>
              <a:ext uri="{FF2B5EF4-FFF2-40B4-BE49-F238E27FC236}">
                <a16:creationId xmlns:a16="http://schemas.microsoft.com/office/drawing/2014/main" id="{DA9B44A5-4349-45E7-BF74-B66FB7CB8913}"/>
              </a:ext>
            </a:extLst>
          </p:cNvPr>
          <p:cNvSpPr>
            <a:spLocks noGrp="1"/>
          </p:cNvSpPr>
          <p:nvPr/>
        </p:nvSpPr>
        <p:spPr>
          <a:xfrm>
            <a:off x="1104900" y="1085850"/>
            <a:ext cx="7239000" cy="952500"/>
          </a:xfrm>
          <a:prstGeom prst="rect">
            <a:avLst/>
          </a:prstGeom>
          <a:noFill/>
          <a:ln w="0">
            <a:noFill/>
          </a:ln>
        </p:spPr>
        <p:txBody>
          <a:bodyPr wrap="square" lIns="0" tIns="0" rIns="0" bIns="0">
            <a:noAutofit/>
          </a:bodyPr>
          <a:lstStyle/>
          <a:p>
            <a:pPr>
              <a:defRPr sz="2250" b="0">
                <a:solidFill>
                  <a:srgbClr val="000000"/>
                </a:solidFill>
                <a:latin typeface="Calibri"/>
                <a:ea typeface="Calibri"/>
                <a:cs typeface="Calibri"/>
              </a:defRPr>
            </a:pPr>
            <a:r>
              <a:rPr sz="2250" b="0">
                <a:solidFill>
                  <a:srgbClr val="000000"/>
                </a:solidFill>
                <a:latin typeface="Calibri"/>
                <a:ea typeface="Calibri"/>
                <a:cs typeface="Calibri"/>
              </a:rPr>
              <a:t>Rename changes a relation name or attribute names.</a:t>
            </a:r>
          </a:p>
        </p:txBody>
      </p:sp>
      <p:sp>
        <p:nvSpPr>
          <p:cNvPr id="5" name="formula">
            <a:extLst>
              <a:ext uri="{FF2B5EF4-FFF2-40B4-BE49-F238E27FC236}">
                <a16:creationId xmlns:a16="http://schemas.microsoft.com/office/drawing/2014/main" id="{67546CBB-A598-4B86-BB0F-AAEFE626E17F}"/>
              </a:ext>
            </a:extLst>
          </p:cNvPr>
          <p:cNvSpPr>
            <a:spLocks noGrp="1"/>
          </p:cNvSpPr>
          <p:nvPr/>
        </p:nvSpPr>
        <p:spPr>
          <a:xfrm>
            <a:off x="781050" y="2009775"/>
            <a:ext cx="7600950" cy="523875"/>
          </a:xfrm>
          <a:prstGeom prst="rect">
            <a:avLst/>
          </a:prstGeom>
          <a:noFill/>
          <a:ln w="0">
            <a:noFill/>
          </a:ln>
        </p:spPr>
        <p:txBody>
          <a:bodyPr wrap="square" lIns="0" tIns="0" rIns="0" bIns="0">
            <a:noAutofit/>
          </a:bodyPr>
          <a:lstStyle/>
          <a:p>
            <a:pPr>
              <a:defRPr sz="2175" b="0">
                <a:solidFill>
                  <a:srgbClr val="000000"/>
                </a:solidFill>
                <a:latin typeface="Cambria Math"/>
                <a:ea typeface="Cambria Math"/>
                <a:cs typeface="Cambria Math"/>
              </a:defRPr>
            </a:pPr>
            <a:r>
              <a:rPr sz="2175" b="0">
                <a:solidFill>
                  <a:srgbClr val="000000"/>
                </a:solidFill>
                <a:latin typeface="Cambria Math"/>
                <a:ea typeface="Cambria Math"/>
                <a:cs typeface="Cambria Math"/>
              </a:rPr>
              <a:t>ρ (C, Club)</a:t>
            </a:r>
          </a:p>
        </p:txBody>
      </p:sp>
      <p:sp>
        <p:nvSpPr>
          <p:cNvPr id="6" name="formula">
            <a:extLst>
              <a:ext uri="{FF2B5EF4-FFF2-40B4-BE49-F238E27FC236}">
                <a16:creationId xmlns:a16="http://schemas.microsoft.com/office/drawing/2014/main" id="{192E1410-6E97-43C4-A976-0AF2937A2730}"/>
              </a:ext>
            </a:extLst>
          </p:cNvPr>
          <p:cNvSpPr>
            <a:spLocks noGrp="1"/>
          </p:cNvSpPr>
          <p:nvPr/>
        </p:nvSpPr>
        <p:spPr>
          <a:xfrm>
            <a:off x="781050" y="2724150"/>
            <a:ext cx="7600950" cy="523875"/>
          </a:xfrm>
          <a:prstGeom prst="rect">
            <a:avLst/>
          </a:prstGeom>
          <a:noFill/>
          <a:ln w="0">
            <a:noFill/>
          </a:ln>
        </p:spPr>
        <p:txBody>
          <a:bodyPr wrap="square" lIns="0" tIns="0" rIns="0" bIns="0">
            <a:noAutofit/>
          </a:bodyPr>
          <a:lstStyle/>
          <a:p>
            <a:pPr>
              <a:defRPr sz="2175" b="0">
                <a:solidFill>
                  <a:srgbClr val="000000"/>
                </a:solidFill>
                <a:latin typeface="Cambria Math"/>
                <a:ea typeface="Cambria Math"/>
                <a:cs typeface="Cambria Math"/>
              </a:defRPr>
            </a:pPr>
            <a:r>
              <a:rPr sz="2175" b="0">
                <a:solidFill>
                  <a:srgbClr val="000000"/>
                </a:solidFill>
                <a:latin typeface="Cambria Math"/>
                <a:ea typeface="Cambria Math"/>
                <a:cs typeface="Cambria Math"/>
              </a:rPr>
              <a:t>ρ (C(mid → member_id), Club)</a:t>
            </a:r>
          </a:p>
        </p:txBody>
      </p:sp>
      <p:sp>
        <p:nvSpPr>
          <p:cNvPr id="7" name="body">
            <a:extLst>
              <a:ext uri="{FF2B5EF4-FFF2-40B4-BE49-F238E27FC236}">
                <a16:creationId xmlns:a16="http://schemas.microsoft.com/office/drawing/2014/main" id="{3538009F-1DB9-47DB-9AC6-283DA5B83DB4}"/>
              </a:ext>
            </a:extLst>
          </p:cNvPr>
          <p:cNvSpPr>
            <a:spLocks noGrp="1"/>
          </p:cNvSpPr>
          <p:nvPr/>
        </p:nvSpPr>
        <p:spPr>
          <a:xfrm>
            <a:off x="781050" y="3686175"/>
            <a:ext cx="219075" cy="400050"/>
          </a:xfrm>
          <a:prstGeom prst="rect">
            <a:avLst/>
          </a:prstGeom>
          <a:noFill/>
          <a:ln w="0">
            <a:noFill/>
          </a:ln>
        </p:spPr>
        <p:txBody>
          <a:bodyPr wrap="square" lIns="0" tIns="0" rIns="0" bIns="0">
            <a:noAutofit/>
          </a:bodyPr>
          <a:lstStyle/>
          <a:p>
            <a:pPr>
              <a:defRPr sz="2250" b="0">
                <a:solidFill>
                  <a:srgbClr val="000000"/>
                </a:solidFill>
                <a:latin typeface="Calibri"/>
                <a:ea typeface="Calibri"/>
                <a:cs typeface="Calibri"/>
              </a:defRPr>
            </a:pPr>
            <a:r>
              <a:rPr sz="2250" b="0">
                <a:solidFill>
                  <a:srgbClr val="000000"/>
                </a:solidFill>
                <a:latin typeface="Calibri"/>
                <a:ea typeface="Calibri"/>
                <a:cs typeface="Calibri"/>
              </a:rPr>
              <a:t>•</a:t>
            </a:r>
          </a:p>
        </p:txBody>
      </p:sp>
      <p:sp>
        <p:nvSpPr>
          <p:cNvPr id="8" name="body">
            <a:extLst>
              <a:ext uri="{FF2B5EF4-FFF2-40B4-BE49-F238E27FC236}">
                <a16:creationId xmlns:a16="http://schemas.microsoft.com/office/drawing/2014/main" id="{6F315650-E709-4635-AFE8-B8C51E84F8EA}"/>
              </a:ext>
            </a:extLst>
          </p:cNvPr>
          <p:cNvSpPr>
            <a:spLocks noGrp="1"/>
          </p:cNvSpPr>
          <p:nvPr/>
        </p:nvSpPr>
        <p:spPr>
          <a:xfrm>
            <a:off x="1104900" y="3686175"/>
            <a:ext cx="7239000" cy="952500"/>
          </a:xfrm>
          <a:prstGeom prst="rect">
            <a:avLst/>
          </a:prstGeom>
          <a:noFill/>
          <a:ln w="0">
            <a:noFill/>
          </a:ln>
        </p:spPr>
        <p:txBody>
          <a:bodyPr wrap="square" lIns="0" tIns="0" rIns="0" bIns="0">
            <a:noAutofit/>
          </a:bodyPr>
          <a:lstStyle/>
          <a:p>
            <a:pPr>
              <a:defRPr sz="2250" b="0">
                <a:solidFill>
                  <a:srgbClr val="000000"/>
                </a:solidFill>
                <a:latin typeface="Calibri"/>
                <a:ea typeface="Calibri"/>
                <a:cs typeface="Calibri"/>
              </a:defRPr>
            </a:pPr>
            <a:r>
              <a:rPr sz="2250" b="0">
                <a:solidFill>
                  <a:srgbClr val="000000"/>
                </a:solidFill>
                <a:latin typeface="Calibri"/>
                <a:ea typeface="Calibri"/>
                <a:cs typeface="Calibri"/>
              </a:rPr>
              <a:t>Values and the number of tuples stay the same.</a:t>
            </a:r>
          </a:p>
        </p:txBody>
      </p:sp>
      <p:sp>
        <p:nvSpPr>
          <p:cNvPr id="9" name="body">
            <a:extLst>
              <a:ext uri="{FF2B5EF4-FFF2-40B4-BE49-F238E27FC236}">
                <a16:creationId xmlns:a16="http://schemas.microsoft.com/office/drawing/2014/main" id="{FB800D68-B255-44C4-8A40-118625FCCCAE}"/>
              </a:ext>
            </a:extLst>
          </p:cNvPr>
          <p:cNvSpPr>
            <a:spLocks noGrp="1"/>
          </p:cNvSpPr>
          <p:nvPr/>
        </p:nvSpPr>
        <p:spPr>
          <a:xfrm>
            <a:off x="781050" y="4733925"/>
            <a:ext cx="7600950" cy="952500"/>
          </a:xfrm>
          <a:prstGeom prst="rect">
            <a:avLst/>
          </a:prstGeom>
          <a:noFill/>
          <a:ln w="0">
            <a:noFill/>
          </a:ln>
        </p:spPr>
        <p:txBody>
          <a:bodyPr wrap="square" lIns="0" tIns="0" rIns="0" bIns="0">
            <a:noAutofit/>
          </a:bodyPr>
          <a:lstStyle/>
          <a:p>
            <a:pPr>
              <a:defRPr sz="2250" b="0">
                <a:solidFill>
                  <a:srgbClr val="FF0000"/>
                </a:solidFill>
                <a:latin typeface="Calibri"/>
                <a:ea typeface="Calibri"/>
                <a:cs typeface="Calibri"/>
              </a:defRPr>
            </a:pPr>
            <a:r>
              <a:rPr sz="2250" b="0">
                <a:solidFill>
                  <a:srgbClr val="FF0000"/>
                </a:solidFill>
                <a:latin typeface="Calibri"/>
                <a:ea typeface="Calibri"/>
                <a:cs typeface="Calibri"/>
              </a:rPr>
              <a:t>Aliases distinguish two copies of a relation in a self-join.</a:t>
            </a:r>
          </a:p>
        </p:txBody>
      </p:sp>
      <p:sp>
        <p:nvSpPr>
          <p:cNvPr id="9001" name="Title 1">
            <a:extLst>
              <a:ext uri="{FF2B5EF4-FFF2-40B4-BE49-F238E27FC236}">
                <a16:creationId xmlns:a16="http://schemas.microsoft.com/office/drawing/2014/main" id="{4EF27E5C-9C4D-BDBE-7667-D0B141BCC8F5}"/>
              </a:ext>
            </a:extLst>
          </p:cNvPr>
          <p:cNvSpPr>
            <a:spLocks noGrp="1"/>
          </p:cNvSpPr>
          <p:nvPr>
            <p:ph type="title"/>
          </p:nvPr>
        </p:nvSpPr>
        <p:spPr/>
        <p:txBody>
          <a:bodyPr/>
          <a:lstStyle/>
          <a:p>
            <a:r>
              <a:rPr lang="en-US">
                <a:solidFill>
                  <a:srgbClr val="3333CC"/>
                </a:solidFill>
              </a:rPr>
              <a:t>Rename Operation</a:t>
            </a:r>
          </a:p>
        </p:txBody>
      </p:sp>
      <p:sp>
        <p:nvSpPr>
          <p:cNvPr id="9002" name="Slide Number Placeholder 1">
            <a:extLst>
              <a:ext uri="{FF2B5EF4-FFF2-40B4-BE49-F238E27FC236}">
                <a16:creationId xmlns:a16="http://schemas.microsoft.com/office/drawing/2014/main" id="{B90139AC-3BDA-723A-097A-000DA0A784C1}"/>
              </a:ext>
            </a:extLst>
          </p:cNvPr>
          <p:cNvSpPr>
            <a:spLocks noGrp="1"/>
          </p:cNvSpPr>
          <p:nvPr>
            <p:ph type="sldNum" sz="quarter" idx="12"/>
          </p:nvPr>
        </p:nvSpPr>
        <p:spPr/>
        <p:txBody>
          <a:bodyPr/>
          <a:lstStyle/>
          <a:p>
            <a:pPr>
              <a:defRPr/>
            </a:pPr>
            <a:fld id="{43CA101F-9E5F-9249-9862-3CE55B3BB777}" type="slidenum">
              <a:rPr lang="en-US" altLang="zh-TW" smtClean="0"/>
              <a:pPr>
                <a:defRPr/>
              </a:pPr>
              <a:t>35</a:t>
            </a:fld>
            <a:endParaRPr lang="en-US" altLang="zh-TW"/>
          </a:p>
        </p:txBody>
      </p:sp>
    </p:spTree>
    <p:extLst>
      <p:ext uri="{BB962C8B-B14F-4D97-AF65-F5344CB8AC3E}">
        <p14:creationId xmlns:p14="http://schemas.microsoft.com/office/powerpoint/2010/main" val="129661485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body">
            <a:extLst>
              <a:ext uri="{FF2B5EF4-FFF2-40B4-BE49-F238E27FC236}">
                <a16:creationId xmlns:a16="http://schemas.microsoft.com/office/drawing/2014/main" id="{5C295AFF-8EB3-4C4F-BA3B-77A076CF398D}"/>
              </a:ext>
            </a:extLst>
          </p:cNvPr>
          <p:cNvSpPr>
            <a:spLocks noGrp="1"/>
          </p:cNvSpPr>
          <p:nvPr/>
        </p:nvSpPr>
        <p:spPr>
          <a:xfrm>
            <a:off x="781050" y="5876925"/>
            <a:ext cx="7620000" cy="285750"/>
          </a:xfrm>
          <a:prstGeom prst="rect">
            <a:avLst/>
          </a:prstGeom>
          <a:noFill/>
          <a:ln w="0">
            <a:noFill/>
          </a:ln>
        </p:spPr>
        <p:txBody>
          <a:bodyPr wrap="square" lIns="0" tIns="0" rIns="0" bIns="0">
            <a:noAutofit/>
          </a:bodyPr>
          <a:lstStyle/>
          <a:p>
            <a:pPr>
              <a:defRPr sz="1725" b="0">
                <a:solidFill>
                  <a:srgbClr val="3333CC"/>
                </a:solidFill>
                <a:latin typeface="Calibri"/>
                <a:ea typeface="Calibri"/>
                <a:cs typeface="Calibri"/>
              </a:defRPr>
            </a:pPr>
            <a:r>
              <a:rPr sz="1725" b="0">
                <a:solidFill>
                  <a:srgbClr val="3333CC"/>
                </a:solidFill>
                <a:latin typeface="Calibri"/>
                <a:ea typeface="Calibri"/>
                <a:cs typeface="Calibri"/>
              </a:rPr>
              <a:t>Think: 30 s</a:t>
            </a:r>
          </a:p>
        </p:txBody>
      </p:sp>
      <p:sp>
        <p:nvSpPr>
          <p:cNvPr id="4" name="body">
            <a:extLst>
              <a:ext uri="{FF2B5EF4-FFF2-40B4-BE49-F238E27FC236}">
                <a16:creationId xmlns:a16="http://schemas.microsoft.com/office/drawing/2014/main" id="{B69EB9E1-E742-44A5-B702-A3675F65D986}"/>
              </a:ext>
            </a:extLst>
          </p:cNvPr>
          <p:cNvSpPr>
            <a:spLocks noGrp="1"/>
          </p:cNvSpPr>
          <p:nvPr/>
        </p:nvSpPr>
        <p:spPr>
          <a:xfrm>
            <a:off x="1952625" y="1257300"/>
            <a:ext cx="5048250" cy="361950"/>
          </a:xfrm>
          <a:prstGeom prst="rect">
            <a:avLst/>
          </a:prstGeom>
          <a:noFill/>
          <a:ln w="0">
            <a:noFill/>
          </a:ln>
        </p:spPr>
        <p:txBody>
          <a:bodyPr wrap="square" lIns="0" tIns="0" rIns="0" bIns="0">
            <a:noAutofit/>
          </a:bodyPr>
          <a:lstStyle/>
          <a:p>
            <a:pPr>
              <a:defRPr sz="2250" b="0">
                <a:solidFill>
                  <a:srgbClr val="000000"/>
                </a:solidFill>
                <a:latin typeface="Calibri"/>
                <a:ea typeface="Calibri"/>
                <a:cs typeface="Calibri"/>
              </a:defRPr>
            </a:pPr>
            <a:r>
              <a:rPr sz="2250" b="0">
                <a:solidFill>
                  <a:srgbClr val="000000"/>
                </a:solidFill>
                <a:latin typeface="Calibri"/>
                <a:ea typeface="Calibri"/>
                <a:cs typeface="Calibri"/>
              </a:rPr>
              <a:t>Club</a:t>
            </a:r>
          </a:p>
        </p:txBody>
      </p:sp>
      <p:graphicFrame>
        <p:nvGraphicFramePr>
          <p:cNvPr id="12" name="表格 11"/>
          <p:cNvGraphicFramePr/>
          <p:nvPr/>
        </p:nvGraphicFramePr>
        <p:xfrm>
          <a:off x="2028825" y="1676400"/>
          <a:ext cx="5048250" cy="1638300"/>
        </p:xfrm>
        <a:graphic>
          <a:graphicData uri="http://schemas.openxmlformats.org/drawingml/2006/table">
            <a:tbl>
              <a:tblPr/>
              <a:tblGrid>
                <a:gridCol w="2524125">
                  <a:extLst>
                    <a:ext uri="{9D8B030D-6E8A-4147-A177-3AD203B41FA5}">
                      <a16:colId xmlns:a16="http://schemas.microsoft.com/office/drawing/2014/main" val="20000"/>
                    </a:ext>
                  </a:extLst>
                </a:gridCol>
                <a:gridCol w="2524125">
                  <a:extLst>
                    <a:ext uri="{9D8B030D-6E8A-4147-A177-3AD203B41FA5}">
                      <a16:colId xmlns:a16="http://schemas.microsoft.com/office/drawing/2014/main" val="20001"/>
                    </a:ext>
                  </a:extLst>
                </a:gridCol>
              </a:tblGrid>
              <a:tr h="409575">
                <a:tc>
                  <a:txBody>
                    <a:bodyPr/>
                    <a:lstStyle/>
                    <a:p>
                      <a:pPr algn="ctr"/>
                      <a:r>
                        <a:rPr sz="2025">
                          <a:solidFill>
                            <a:srgbClr val="000000"/>
                          </a:solidFill>
                          <a:latin typeface="Calibri"/>
                          <a:ea typeface="Calibri"/>
                          <a:cs typeface="Calibri"/>
                        </a:rPr>
                        <a:t>mid</a:t>
                      </a:r>
                    </a:p>
                  </a:txBody>
                  <a:tcPr marL="47625" marR="47625" marT="28575" marB="28575" anchor="ctr">
                    <a:solidFill>
                      <a:srgbClr val="D9D9D9"/>
                    </a:solidFill>
                  </a:tcPr>
                </a:tc>
                <a:tc>
                  <a:txBody>
                    <a:bodyPr/>
                    <a:lstStyle/>
                    <a:p>
                      <a:pPr algn="ctr"/>
                      <a:r>
                        <a:rPr sz="2025">
                          <a:solidFill>
                            <a:srgbClr val="000000"/>
                          </a:solidFill>
                          <a:latin typeface="Calibri"/>
                          <a:ea typeface="Calibri"/>
                          <a:cs typeface="Calibri"/>
                        </a:rPr>
                        <a:t>label</a:t>
                      </a:r>
                    </a:p>
                  </a:txBody>
                  <a:tcPr marL="47625" marR="47625" marT="28575" marB="28575" anchor="ctr">
                    <a:solidFill>
                      <a:srgbClr val="D9D9D9"/>
                    </a:solidFill>
                  </a:tcPr>
                </a:tc>
                <a:extLst>
                  <a:ext uri="{0D108BD9-81ED-4DB2-BD59-A6C34878D82A}">
                    <a16:rowId xmlns:a16="http://schemas.microsoft.com/office/drawing/2014/main" val="10000"/>
                  </a:ext>
                </a:extLst>
              </a:tr>
              <a:tr h="409575">
                <a:tc>
                  <a:txBody>
                    <a:bodyPr/>
                    <a:lstStyle/>
                    <a:p>
                      <a:pPr algn="ctr"/>
                      <a:r>
                        <a:rPr sz="2025">
                          <a:solidFill>
                            <a:srgbClr val="000000"/>
                          </a:solidFill>
                          <a:latin typeface="Calibri"/>
                          <a:ea typeface="Calibri"/>
                          <a:cs typeface="Calibri"/>
                        </a:rPr>
                        <a:t>1</a:t>
                      </a:r>
                    </a:p>
                  </a:txBody>
                  <a:tcPr marL="47625" marR="47625" marT="28575" marB="28575" anchor="ctr">
                    <a:solidFill>
                      <a:srgbClr val="FFFFFF"/>
                    </a:solidFill>
                  </a:tcPr>
                </a:tc>
                <a:tc>
                  <a:txBody>
                    <a:bodyPr/>
                    <a:lstStyle/>
                    <a:p>
                      <a:pPr algn="ctr"/>
                      <a:r>
                        <a:rPr sz="2025">
                          <a:solidFill>
                            <a:srgbClr val="000000"/>
                          </a:solidFill>
                          <a:latin typeface="Calibri"/>
                          <a:ea typeface="Calibri"/>
                          <a:cs typeface="Calibri"/>
                        </a:rPr>
                        <a:t>Music</a:t>
                      </a:r>
                    </a:p>
                  </a:txBody>
                  <a:tcPr marL="47625" marR="47625" marT="28575" marB="28575" anchor="ctr">
                    <a:solidFill>
                      <a:srgbClr val="FFFFFF"/>
                    </a:solidFill>
                  </a:tcPr>
                </a:tc>
                <a:extLst>
                  <a:ext uri="{0D108BD9-81ED-4DB2-BD59-A6C34878D82A}">
                    <a16:rowId xmlns:a16="http://schemas.microsoft.com/office/drawing/2014/main" val="10001"/>
                  </a:ext>
                </a:extLst>
              </a:tr>
              <a:tr h="409575">
                <a:tc>
                  <a:txBody>
                    <a:bodyPr/>
                    <a:lstStyle/>
                    <a:p>
                      <a:pPr algn="ctr"/>
                      <a:r>
                        <a:rPr sz="2025">
                          <a:solidFill>
                            <a:srgbClr val="000000"/>
                          </a:solidFill>
                          <a:latin typeface="Calibri"/>
                          <a:ea typeface="Calibri"/>
                          <a:cs typeface="Calibri"/>
                        </a:rPr>
                        <a:t>2</a:t>
                      </a:r>
                    </a:p>
                  </a:txBody>
                  <a:tcPr marL="47625" marR="47625" marT="28575" marB="28575" anchor="ctr">
                    <a:solidFill>
                      <a:srgbClr val="FFFFFF"/>
                    </a:solidFill>
                  </a:tcPr>
                </a:tc>
                <a:tc>
                  <a:txBody>
                    <a:bodyPr/>
                    <a:lstStyle/>
                    <a:p>
                      <a:pPr algn="ctr"/>
                      <a:r>
                        <a:rPr sz="2025">
                          <a:solidFill>
                            <a:srgbClr val="000000"/>
                          </a:solidFill>
                          <a:latin typeface="Calibri"/>
                          <a:ea typeface="Calibri"/>
                          <a:cs typeface="Calibri"/>
                        </a:rPr>
                        <a:t>Drama</a:t>
                      </a:r>
                    </a:p>
                  </a:txBody>
                  <a:tcPr marL="47625" marR="47625" marT="28575" marB="28575" anchor="ctr">
                    <a:solidFill>
                      <a:srgbClr val="FFFFFF"/>
                    </a:solidFill>
                  </a:tcPr>
                </a:tc>
                <a:extLst>
                  <a:ext uri="{0D108BD9-81ED-4DB2-BD59-A6C34878D82A}">
                    <a16:rowId xmlns:a16="http://schemas.microsoft.com/office/drawing/2014/main" val="10002"/>
                  </a:ext>
                </a:extLst>
              </a:tr>
              <a:tr h="409575">
                <a:tc>
                  <a:txBody>
                    <a:bodyPr/>
                    <a:lstStyle/>
                    <a:p>
                      <a:pPr algn="ctr"/>
                      <a:r>
                        <a:rPr sz="2025">
                          <a:solidFill>
                            <a:srgbClr val="000000"/>
                          </a:solidFill>
                          <a:latin typeface="Calibri"/>
                          <a:ea typeface="Calibri"/>
                          <a:cs typeface="Calibri"/>
                        </a:rPr>
                        <a:t>3</a:t>
                      </a:r>
                    </a:p>
                  </a:txBody>
                  <a:tcPr marL="47625" marR="47625" marT="28575" marB="28575" anchor="ctr">
                    <a:solidFill>
                      <a:srgbClr val="FFFFFF"/>
                    </a:solidFill>
                  </a:tcPr>
                </a:tc>
                <a:tc>
                  <a:txBody>
                    <a:bodyPr/>
                    <a:lstStyle/>
                    <a:p>
                      <a:pPr algn="ctr"/>
                      <a:r>
                        <a:rPr sz="2025">
                          <a:solidFill>
                            <a:srgbClr val="000000"/>
                          </a:solidFill>
                          <a:latin typeface="Calibri"/>
                          <a:ea typeface="Calibri"/>
                          <a:cs typeface="Calibri"/>
                        </a:rPr>
                        <a:t>Music</a:t>
                      </a:r>
                    </a:p>
                  </a:txBody>
                  <a:tcPr marL="47625" marR="47625" marT="28575" marB="28575" anchor="ctr">
                    <a:solidFill>
                      <a:srgbClr val="FFFFFF"/>
                    </a:solidFill>
                  </a:tcPr>
                </a:tc>
                <a:extLst>
                  <a:ext uri="{0D108BD9-81ED-4DB2-BD59-A6C34878D82A}">
                    <a16:rowId xmlns:a16="http://schemas.microsoft.com/office/drawing/2014/main" val="10003"/>
                  </a:ext>
                </a:extLst>
              </a:tr>
            </a:tbl>
          </a:graphicData>
        </a:graphic>
      </p:graphicFrame>
      <p:sp>
        <p:nvSpPr>
          <p:cNvPr id="6" name="body">
            <a:extLst>
              <a:ext uri="{FF2B5EF4-FFF2-40B4-BE49-F238E27FC236}">
                <a16:creationId xmlns:a16="http://schemas.microsoft.com/office/drawing/2014/main" id="{957C0A5E-CFDE-4023-ABEA-2BD7AFF40AC0}"/>
              </a:ext>
            </a:extLst>
          </p:cNvPr>
          <p:cNvSpPr>
            <a:spLocks noGrp="1"/>
          </p:cNvSpPr>
          <p:nvPr/>
        </p:nvSpPr>
        <p:spPr>
          <a:xfrm>
            <a:off x="781050" y="3876675"/>
            <a:ext cx="7600950" cy="952500"/>
          </a:xfrm>
          <a:prstGeom prst="rect">
            <a:avLst/>
          </a:prstGeom>
          <a:noFill/>
          <a:ln w="0">
            <a:noFill/>
          </a:ln>
        </p:spPr>
        <p:txBody>
          <a:bodyPr wrap="square" lIns="0" tIns="0" rIns="0" bIns="0">
            <a:noAutofit/>
          </a:bodyPr>
          <a:lstStyle/>
          <a:p>
            <a:pPr>
              <a:defRPr sz="2250" b="0">
                <a:solidFill>
                  <a:srgbClr val="FF0000"/>
                </a:solidFill>
                <a:latin typeface="Calibri"/>
                <a:ea typeface="Calibri"/>
                <a:cs typeface="Calibri"/>
              </a:defRPr>
            </a:pPr>
            <a:r>
              <a:rPr sz="2250" b="0">
                <a:solidFill>
                  <a:srgbClr val="FF0000"/>
                </a:solidFill>
                <a:latin typeface="Calibri"/>
                <a:ea typeface="Calibri"/>
                <a:cs typeface="Calibri"/>
              </a:rPr>
              <a:t>Rename Club to C, mid to member_id and label to club_name.</a:t>
            </a:r>
          </a:p>
        </p:txBody>
      </p:sp>
      <p:sp>
        <p:nvSpPr>
          <p:cNvPr id="9001" name="Title 1">
            <a:extLst>
              <a:ext uri="{FF2B5EF4-FFF2-40B4-BE49-F238E27FC236}">
                <a16:creationId xmlns:a16="http://schemas.microsoft.com/office/drawing/2014/main" id="{4EF27E5C-9C4D-BDBE-7667-D0B141BCC8F5}"/>
              </a:ext>
            </a:extLst>
          </p:cNvPr>
          <p:cNvSpPr>
            <a:spLocks noGrp="1"/>
          </p:cNvSpPr>
          <p:nvPr>
            <p:ph type="title"/>
          </p:nvPr>
        </p:nvSpPr>
        <p:spPr/>
        <p:txBody>
          <a:bodyPr/>
          <a:lstStyle/>
          <a:p>
            <a:r>
              <a:rPr lang="en-US">
                <a:solidFill>
                  <a:srgbClr val="FF0000"/>
                </a:solidFill>
              </a:rPr>
              <a:t>Practice: </a:t>
            </a:r>
            <a:r>
              <a:rPr lang="en-US">
                <a:solidFill>
                  <a:srgbClr val="3333CC"/>
                </a:solidFill>
              </a:rPr>
              <a:t>Q13</a:t>
            </a:r>
          </a:p>
        </p:txBody>
      </p:sp>
      <p:sp>
        <p:nvSpPr>
          <p:cNvPr id="9002" name="Slide Number Placeholder 1">
            <a:extLst>
              <a:ext uri="{FF2B5EF4-FFF2-40B4-BE49-F238E27FC236}">
                <a16:creationId xmlns:a16="http://schemas.microsoft.com/office/drawing/2014/main" id="{B90139AC-3BDA-723A-097A-000DA0A784C1}"/>
              </a:ext>
            </a:extLst>
          </p:cNvPr>
          <p:cNvSpPr>
            <a:spLocks noGrp="1"/>
          </p:cNvSpPr>
          <p:nvPr>
            <p:ph type="sldNum" sz="quarter" idx="12"/>
          </p:nvPr>
        </p:nvSpPr>
        <p:spPr/>
        <p:txBody>
          <a:bodyPr/>
          <a:lstStyle/>
          <a:p>
            <a:pPr>
              <a:defRPr/>
            </a:pPr>
            <a:fld id="{43CA101F-9E5F-9249-9862-3CE55B3BB777}" type="slidenum">
              <a:rPr lang="en-US" altLang="zh-TW" smtClean="0"/>
              <a:pPr>
                <a:defRPr/>
              </a:pPr>
              <a:t>36</a:t>
            </a:fld>
            <a:endParaRPr lang="en-US" altLang="zh-TW"/>
          </a:p>
        </p:txBody>
      </p:sp>
    </p:spTree>
    <p:extLst>
      <p:ext uri="{BB962C8B-B14F-4D97-AF65-F5344CB8AC3E}">
        <p14:creationId xmlns:p14="http://schemas.microsoft.com/office/powerpoint/2010/main" val="61404184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formula">
            <a:extLst>
              <a:ext uri="{FF2B5EF4-FFF2-40B4-BE49-F238E27FC236}">
                <a16:creationId xmlns:a16="http://schemas.microsoft.com/office/drawing/2014/main" id="{DF836A25-3CE1-49C3-B69E-7435D6201DEC}"/>
              </a:ext>
            </a:extLst>
          </p:cNvPr>
          <p:cNvSpPr>
            <a:spLocks noGrp="1"/>
          </p:cNvSpPr>
          <p:nvPr/>
        </p:nvSpPr>
        <p:spPr>
          <a:xfrm>
            <a:off x="781050" y="1095375"/>
            <a:ext cx="7715250" cy="523875"/>
          </a:xfrm>
          <a:prstGeom prst="rect">
            <a:avLst/>
          </a:prstGeom>
          <a:noFill/>
          <a:ln w="0">
            <a:noFill/>
          </a:ln>
        </p:spPr>
        <p:txBody>
          <a:bodyPr wrap="square" lIns="0" tIns="0" rIns="0" bIns="0">
            <a:noAutofit/>
          </a:bodyPr>
          <a:lstStyle/>
          <a:p>
            <a:pPr>
              <a:defRPr sz="2100" b="0">
                <a:solidFill>
                  <a:srgbClr val="000000"/>
                </a:solidFill>
                <a:latin typeface="Cambria Math"/>
                <a:ea typeface="Cambria Math"/>
                <a:cs typeface="Cambria Math"/>
              </a:defRPr>
            </a:pPr>
            <a:r>
              <a:rPr sz="2100" b="0">
                <a:solidFill>
                  <a:srgbClr val="000000"/>
                </a:solidFill>
                <a:latin typeface="Cambria Math"/>
                <a:ea typeface="Cambria Math"/>
                <a:cs typeface="Cambria Math"/>
              </a:rPr>
              <a:t>ρ (C(mid → member_id, label → club_name), Club)</a:t>
            </a:r>
          </a:p>
        </p:txBody>
      </p:sp>
      <p:sp>
        <p:nvSpPr>
          <p:cNvPr id="4" name="body">
            <a:extLst>
              <a:ext uri="{FF2B5EF4-FFF2-40B4-BE49-F238E27FC236}">
                <a16:creationId xmlns:a16="http://schemas.microsoft.com/office/drawing/2014/main" id="{E60D1F6B-1000-4827-AC73-B61B2D18DCAD}"/>
              </a:ext>
            </a:extLst>
          </p:cNvPr>
          <p:cNvSpPr>
            <a:spLocks noGrp="1"/>
          </p:cNvSpPr>
          <p:nvPr/>
        </p:nvSpPr>
        <p:spPr>
          <a:xfrm>
            <a:off x="1952625" y="2133600"/>
            <a:ext cx="5048250" cy="361950"/>
          </a:xfrm>
          <a:prstGeom prst="rect">
            <a:avLst/>
          </a:prstGeom>
          <a:noFill/>
          <a:ln w="0">
            <a:noFill/>
          </a:ln>
        </p:spPr>
        <p:txBody>
          <a:bodyPr wrap="square" lIns="0" tIns="0" rIns="0" bIns="0">
            <a:noAutofit/>
          </a:bodyPr>
          <a:lstStyle/>
          <a:p>
            <a:pPr>
              <a:defRPr sz="2250" b="0">
                <a:solidFill>
                  <a:srgbClr val="000000"/>
                </a:solidFill>
                <a:latin typeface="Calibri"/>
                <a:ea typeface="Calibri"/>
                <a:cs typeface="Calibri"/>
              </a:defRPr>
            </a:pPr>
            <a:r>
              <a:rPr sz="2250" b="0">
                <a:solidFill>
                  <a:srgbClr val="000000"/>
                </a:solidFill>
                <a:latin typeface="Calibri"/>
                <a:ea typeface="Calibri"/>
                <a:cs typeface="Calibri"/>
              </a:rPr>
              <a:t>C</a:t>
            </a:r>
          </a:p>
        </p:txBody>
      </p:sp>
      <p:graphicFrame>
        <p:nvGraphicFramePr>
          <p:cNvPr id="11" name="表格 10"/>
          <p:cNvGraphicFramePr/>
          <p:nvPr/>
        </p:nvGraphicFramePr>
        <p:xfrm>
          <a:off x="2028825" y="2552700"/>
          <a:ext cx="5048250" cy="1638300"/>
        </p:xfrm>
        <a:graphic>
          <a:graphicData uri="http://schemas.openxmlformats.org/drawingml/2006/table">
            <a:tbl>
              <a:tblPr/>
              <a:tblGrid>
                <a:gridCol w="2524125">
                  <a:extLst>
                    <a:ext uri="{9D8B030D-6E8A-4147-A177-3AD203B41FA5}">
                      <a16:colId xmlns:a16="http://schemas.microsoft.com/office/drawing/2014/main" val="20000"/>
                    </a:ext>
                  </a:extLst>
                </a:gridCol>
                <a:gridCol w="2524125">
                  <a:extLst>
                    <a:ext uri="{9D8B030D-6E8A-4147-A177-3AD203B41FA5}">
                      <a16:colId xmlns:a16="http://schemas.microsoft.com/office/drawing/2014/main" val="20001"/>
                    </a:ext>
                  </a:extLst>
                </a:gridCol>
              </a:tblGrid>
              <a:tr h="409575">
                <a:tc>
                  <a:txBody>
                    <a:bodyPr/>
                    <a:lstStyle/>
                    <a:p>
                      <a:pPr algn="ctr"/>
                      <a:r>
                        <a:rPr sz="2025">
                          <a:solidFill>
                            <a:srgbClr val="000000"/>
                          </a:solidFill>
                          <a:latin typeface="Calibri"/>
                          <a:ea typeface="Calibri"/>
                          <a:cs typeface="Calibri"/>
                        </a:rPr>
                        <a:t>member_id</a:t>
                      </a:r>
                    </a:p>
                  </a:txBody>
                  <a:tcPr marL="47625" marR="47625" marT="28575" marB="28575" anchor="ctr">
                    <a:solidFill>
                      <a:srgbClr val="D9D9D9"/>
                    </a:solidFill>
                  </a:tcPr>
                </a:tc>
                <a:tc>
                  <a:txBody>
                    <a:bodyPr/>
                    <a:lstStyle/>
                    <a:p>
                      <a:pPr algn="ctr"/>
                      <a:r>
                        <a:rPr sz="2025">
                          <a:solidFill>
                            <a:srgbClr val="000000"/>
                          </a:solidFill>
                          <a:latin typeface="Calibri"/>
                          <a:ea typeface="Calibri"/>
                          <a:cs typeface="Calibri"/>
                        </a:rPr>
                        <a:t>club_name</a:t>
                      </a:r>
                    </a:p>
                  </a:txBody>
                  <a:tcPr marL="47625" marR="47625" marT="28575" marB="28575" anchor="ctr">
                    <a:solidFill>
                      <a:srgbClr val="D9D9D9"/>
                    </a:solidFill>
                  </a:tcPr>
                </a:tc>
                <a:extLst>
                  <a:ext uri="{0D108BD9-81ED-4DB2-BD59-A6C34878D82A}">
                    <a16:rowId xmlns:a16="http://schemas.microsoft.com/office/drawing/2014/main" val="10000"/>
                  </a:ext>
                </a:extLst>
              </a:tr>
              <a:tr h="409575">
                <a:tc>
                  <a:txBody>
                    <a:bodyPr/>
                    <a:lstStyle/>
                    <a:p>
                      <a:pPr algn="ctr"/>
                      <a:r>
                        <a:rPr sz="2025">
                          <a:solidFill>
                            <a:srgbClr val="000000"/>
                          </a:solidFill>
                          <a:latin typeface="Calibri"/>
                          <a:ea typeface="Calibri"/>
                          <a:cs typeface="Calibri"/>
                        </a:rPr>
                        <a:t>1</a:t>
                      </a:r>
                    </a:p>
                  </a:txBody>
                  <a:tcPr marL="47625" marR="47625" marT="28575" marB="28575" anchor="ctr">
                    <a:solidFill>
                      <a:srgbClr val="FFFFFF"/>
                    </a:solidFill>
                  </a:tcPr>
                </a:tc>
                <a:tc>
                  <a:txBody>
                    <a:bodyPr/>
                    <a:lstStyle/>
                    <a:p>
                      <a:pPr algn="ctr"/>
                      <a:r>
                        <a:rPr sz="2025">
                          <a:solidFill>
                            <a:srgbClr val="000000"/>
                          </a:solidFill>
                          <a:latin typeface="Calibri"/>
                          <a:ea typeface="Calibri"/>
                          <a:cs typeface="Calibri"/>
                        </a:rPr>
                        <a:t>Music</a:t>
                      </a:r>
                    </a:p>
                  </a:txBody>
                  <a:tcPr marL="47625" marR="47625" marT="28575" marB="28575" anchor="ctr">
                    <a:solidFill>
                      <a:srgbClr val="FFFFFF"/>
                    </a:solidFill>
                  </a:tcPr>
                </a:tc>
                <a:extLst>
                  <a:ext uri="{0D108BD9-81ED-4DB2-BD59-A6C34878D82A}">
                    <a16:rowId xmlns:a16="http://schemas.microsoft.com/office/drawing/2014/main" val="10001"/>
                  </a:ext>
                </a:extLst>
              </a:tr>
              <a:tr h="409575">
                <a:tc>
                  <a:txBody>
                    <a:bodyPr/>
                    <a:lstStyle/>
                    <a:p>
                      <a:pPr algn="ctr"/>
                      <a:r>
                        <a:rPr sz="2025">
                          <a:solidFill>
                            <a:srgbClr val="000000"/>
                          </a:solidFill>
                          <a:latin typeface="Calibri"/>
                          <a:ea typeface="Calibri"/>
                          <a:cs typeface="Calibri"/>
                        </a:rPr>
                        <a:t>2</a:t>
                      </a:r>
                    </a:p>
                  </a:txBody>
                  <a:tcPr marL="47625" marR="47625" marT="28575" marB="28575" anchor="ctr">
                    <a:solidFill>
                      <a:srgbClr val="FFFFFF"/>
                    </a:solidFill>
                  </a:tcPr>
                </a:tc>
                <a:tc>
                  <a:txBody>
                    <a:bodyPr/>
                    <a:lstStyle/>
                    <a:p>
                      <a:pPr algn="ctr"/>
                      <a:r>
                        <a:rPr sz="2025">
                          <a:solidFill>
                            <a:srgbClr val="000000"/>
                          </a:solidFill>
                          <a:latin typeface="Calibri"/>
                          <a:ea typeface="Calibri"/>
                          <a:cs typeface="Calibri"/>
                        </a:rPr>
                        <a:t>Drama</a:t>
                      </a:r>
                    </a:p>
                  </a:txBody>
                  <a:tcPr marL="47625" marR="47625" marT="28575" marB="28575" anchor="ctr">
                    <a:solidFill>
                      <a:srgbClr val="FFFFFF"/>
                    </a:solidFill>
                  </a:tcPr>
                </a:tc>
                <a:extLst>
                  <a:ext uri="{0D108BD9-81ED-4DB2-BD59-A6C34878D82A}">
                    <a16:rowId xmlns:a16="http://schemas.microsoft.com/office/drawing/2014/main" val="10002"/>
                  </a:ext>
                </a:extLst>
              </a:tr>
              <a:tr h="409575">
                <a:tc>
                  <a:txBody>
                    <a:bodyPr/>
                    <a:lstStyle/>
                    <a:p>
                      <a:pPr algn="ctr"/>
                      <a:r>
                        <a:rPr sz="2025">
                          <a:solidFill>
                            <a:srgbClr val="000000"/>
                          </a:solidFill>
                          <a:latin typeface="Calibri"/>
                          <a:ea typeface="Calibri"/>
                          <a:cs typeface="Calibri"/>
                        </a:rPr>
                        <a:t>3</a:t>
                      </a:r>
                    </a:p>
                  </a:txBody>
                  <a:tcPr marL="47625" marR="47625" marT="28575" marB="28575" anchor="ctr">
                    <a:solidFill>
                      <a:srgbClr val="FFFFFF"/>
                    </a:solidFill>
                  </a:tcPr>
                </a:tc>
                <a:tc>
                  <a:txBody>
                    <a:bodyPr/>
                    <a:lstStyle/>
                    <a:p>
                      <a:pPr algn="ctr"/>
                      <a:r>
                        <a:rPr sz="2025">
                          <a:solidFill>
                            <a:srgbClr val="000000"/>
                          </a:solidFill>
                          <a:latin typeface="Calibri"/>
                          <a:ea typeface="Calibri"/>
                          <a:cs typeface="Calibri"/>
                        </a:rPr>
                        <a:t>Music</a:t>
                      </a:r>
                    </a:p>
                  </a:txBody>
                  <a:tcPr marL="47625" marR="47625" marT="28575" marB="28575" anchor="ctr">
                    <a:solidFill>
                      <a:srgbClr val="FFFFFF"/>
                    </a:solidFill>
                  </a:tcPr>
                </a:tc>
                <a:extLst>
                  <a:ext uri="{0D108BD9-81ED-4DB2-BD59-A6C34878D82A}">
                    <a16:rowId xmlns:a16="http://schemas.microsoft.com/office/drawing/2014/main" val="10003"/>
                  </a:ext>
                </a:extLst>
              </a:tr>
            </a:tbl>
          </a:graphicData>
        </a:graphic>
      </p:graphicFrame>
      <p:sp>
        <p:nvSpPr>
          <p:cNvPr id="6" name="body">
            <a:extLst>
              <a:ext uri="{FF2B5EF4-FFF2-40B4-BE49-F238E27FC236}">
                <a16:creationId xmlns:a16="http://schemas.microsoft.com/office/drawing/2014/main" id="{09E98184-7E74-4F97-9000-E40F812E7D45}"/>
              </a:ext>
            </a:extLst>
          </p:cNvPr>
          <p:cNvSpPr>
            <a:spLocks noGrp="1"/>
          </p:cNvSpPr>
          <p:nvPr/>
        </p:nvSpPr>
        <p:spPr>
          <a:xfrm>
            <a:off x="781050" y="4695825"/>
            <a:ext cx="7600950" cy="952500"/>
          </a:xfrm>
          <a:prstGeom prst="rect">
            <a:avLst/>
          </a:prstGeom>
          <a:noFill/>
          <a:ln w="0">
            <a:noFill/>
          </a:ln>
        </p:spPr>
        <p:txBody>
          <a:bodyPr wrap="square" lIns="0" tIns="0" rIns="0" bIns="0">
            <a:noAutofit/>
          </a:bodyPr>
          <a:lstStyle/>
          <a:p>
            <a:pPr>
              <a:defRPr sz="2250" b="0">
                <a:solidFill>
                  <a:srgbClr val="FF0000"/>
                </a:solidFill>
                <a:latin typeface="Calibri"/>
                <a:ea typeface="Calibri"/>
                <a:cs typeface="Calibri"/>
              </a:defRPr>
            </a:pPr>
            <a:r>
              <a:rPr sz="2250" b="0">
                <a:solidFill>
                  <a:srgbClr val="FF0000"/>
                </a:solidFill>
                <a:latin typeface="Calibri"/>
                <a:ea typeface="Calibri"/>
                <a:cs typeface="Calibri"/>
              </a:rPr>
              <a:t>T ← Club gives a temporary name T and keeps the attributes mid and label.</a:t>
            </a:r>
          </a:p>
        </p:txBody>
      </p:sp>
      <p:sp>
        <p:nvSpPr>
          <p:cNvPr id="9001" name="Title 1">
            <a:extLst>
              <a:ext uri="{FF2B5EF4-FFF2-40B4-BE49-F238E27FC236}">
                <a16:creationId xmlns:a16="http://schemas.microsoft.com/office/drawing/2014/main" id="{4EF27E5C-9C4D-BDBE-7667-D0B141BCC8F5}"/>
              </a:ext>
            </a:extLst>
          </p:cNvPr>
          <p:cNvSpPr>
            <a:spLocks noGrp="1"/>
          </p:cNvSpPr>
          <p:nvPr>
            <p:ph type="title"/>
          </p:nvPr>
        </p:nvSpPr>
        <p:spPr/>
        <p:txBody>
          <a:bodyPr/>
          <a:lstStyle/>
          <a:p>
            <a:r>
              <a:rPr lang="en-US">
                <a:solidFill>
                  <a:srgbClr val="FF0000"/>
                </a:solidFill>
              </a:rPr>
              <a:t>Solutions: </a:t>
            </a:r>
            <a:r>
              <a:rPr lang="en-US">
                <a:solidFill>
                  <a:srgbClr val="3333CC"/>
                </a:solidFill>
              </a:rPr>
              <a:t>Q13</a:t>
            </a:r>
          </a:p>
        </p:txBody>
      </p:sp>
      <p:sp>
        <p:nvSpPr>
          <p:cNvPr id="9002" name="Slide Number Placeholder 1">
            <a:extLst>
              <a:ext uri="{FF2B5EF4-FFF2-40B4-BE49-F238E27FC236}">
                <a16:creationId xmlns:a16="http://schemas.microsoft.com/office/drawing/2014/main" id="{B90139AC-3BDA-723A-097A-000DA0A784C1}"/>
              </a:ext>
            </a:extLst>
          </p:cNvPr>
          <p:cNvSpPr>
            <a:spLocks noGrp="1"/>
          </p:cNvSpPr>
          <p:nvPr>
            <p:ph type="sldNum" sz="quarter" idx="12"/>
          </p:nvPr>
        </p:nvSpPr>
        <p:spPr/>
        <p:txBody>
          <a:bodyPr/>
          <a:lstStyle/>
          <a:p>
            <a:pPr>
              <a:defRPr/>
            </a:pPr>
            <a:fld id="{43CA101F-9E5F-9249-9862-3CE55B3BB777}" type="slidenum">
              <a:rPr lang="en-US" altLang="zh-TW" smtClean="0"/>
              <a:pPr>
                <a:defRPr/>
              </a:pPr>
              <a:t>37</a:t>
            </a:fld>
            <a:endParaRPr lang="en-US" altLang="zh-TW"/>
          </a:p>
        </p:txBody>
      </p:sp>
    </p:spTree>
    <p:extLst>
      <p:ext uri="{BB962C8B-B14F-4D97-AF65-F5344CB8AC3E}">
        <p14:creationId xmlns:p14="http://schemas.microsoft.com/office/powerpoint/2010/main" val="101680426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body">
            <a:extLst>
              <a:ext uri="{FF2B5EF4-FFF2-40B4-BE49-F238E27FC236}">
                <a16:creationId xmlns:a16="http://schemas.microsoft.com/office/drawing/2014/main" id="{97B5A647-8504-4F15-A83F-5BB0257F933A}"/>
              </a:ext>
            </a:extLst>
          </p:cNvPr>
          <p:cNvSpPr>
            <a:spLocks noGrp="1"/>
          </p:cNvSpPr>
          <p:nvPr/>
        </p:nvSpPr>
        <p:spPr>
          <a:xfrm>
            <a:off x="781050" y="5876925"/>
            <a:ext cx="7620000" cy="285750"/>
          </a:xfrm>
          <a:prstGeom prst="rect">
            <a:avLst/>
          </a:prstGeom>
          <a:noFill/>
          <a:ln w="0">
            <a:noFill/>
          </a:ln>
        </p:spPr>
        <p:txBody>
          <a:bodyPr wrap="square" lIns="0" tIns="0" rIns="0" bIns="0">
            <a:noAutofit/>
          </a:bodyPr>
          <a:lstStyle/>
          <a:p>
            <a:pPr>
              <a:defRPr sz="1725" b="0">
                <a:solidFill>
                  <a:srgbClr val="3333CC"/>
                </a:solidFill>
                <a:latin typeface="Calibri"/>
                <a:ea typeface="Calibri"/>
                <a:cs typeface="Calibri"/>
              </a:defRPr>
            </a:pPr>
            <a:r>
              <a:rPr sz="1725" b="0">
                <a:solidFill>
                  <a:srgbClr val="3333CC"/>
                </a:solidFill>
                <a:latin typeface="Calibri"/>
                <a:ea typeface="Calibri"/>
                <a:cs typeface="Calibri"/>
              </a:rPr>
              <a:t>Think: 30 s</a:t>
            </a:r>
          </a:p>
        </p:txBody>
      </p:sp>
      <p:sp>
        <p:nvSpPr>
          <p:cNvPr id="4" name="body">
            <a:extLst>
              <a:ext uri="{FF2B5EF4-FFF2-40B4-BE49-F238E27FC236}">
                <a16:creationId xmlns:a16="http://schemas.microsoft.com/office/drawing/2014/main" id="{CE69DD8B-D1E7-4809-A03B-EB738B5210D9}"/>
              </a:ext>
            </a:extLst>
          </p:cNvPr>
          <p:cNvSpPr>
            <a:spLocks noGrp="1"/>
          </p:cNvSpPr>
          <p:nvPr/>
        </p:nvSpPr>
        <p:spPr>
          <a:xfrm>
            <a:off x="1838325" y="1171575"/>
            <a:ext cx="5324475" cy="361950"/>
          </a:xfrm>
          <a:prstGeom prst="rect">
            <a:avLst/>
          </a:prstGeom>
          <a:noFill/>
          <a:ln w="0">
            <a:noFill/>
          </a:ln>
        </p:spPr>
        <p:txBody>
          <a:bodyPr wrap="square" lIns="0" tIns="0" rIns="0" bIns="0">
            <a:noAutofit/>
          </a:bodyPr>
          <a:lstStyle/>
          <a:p>
            <a:pPr>
              <a:defRPr sz="2250" b="0">
                <a:solidFill>
                  <a:srgbClr val="000000"/>
                </a:solidFill>
                <a:latin typeface="Calibri"/>
                <a:ea typeface="Calibri"/>
                <a:cs typeface="Calibri"/>
              </a:defRPr>
            </a:pPr>
            <a:r>
              <a:rPr sz="2250" b="0">
                <a:solidFill>
                  <a:srgbClr val="000000"/>
                </a:solidFill>
                <a:latin typeface="Calibri"/>
                <a:ea typeface="Calibri"/>
                <a:cs typeface="Calibri"/>
              </a:rPr>
              <a:t>Club</a:t>
            </a:r>
          </a:p>
        </p:txBody>
      </p:sp>
      <p:graphicFrame>
        <p:nvGraphicFramePr>
          <p:cNvPr id="13" name="表格 12"/>
          <p:cNvGraphicFramePr/>
          <p:nvPr/>
        </p:nvGraphicFramePr>
        <p:xfrm>
          <a:off x="1914525" y="1590675"/>
          <a:ext cx="5324476" cy="1638300"/>
        </p:xfrm>
        <a:graphic>
          <a:graphicData uri="http://schemas.openxmlformats.org/drawingml/2006/table">
            <a:tbl>
              <a:tblPr/>
              <a:tblGrid>
                <a:gridCol w="2662238">
                  <a:extLst>
                    <a:ext uri="{9D8B030D-6E8A-4147-A177-3AD203B41FA5}">
                      <a16:colId xmlns:a16="http://schemas.microsoft.com/office/drawing/2014/main" val="20000"/>
                    </a:ext>
                  </a:extLst>
                </a:gridCol>
                <a:gridCol w="2662238">
                  <a:extLst>
                    <a:ext uri="{9D8B030D-6E8A-4147-A177-3AD203B41FA5}">
                      <a16:colId xmlns:a16="http://schemas.microsoft.com/office/drawing/2014/main" val="20001"/>
                    </a:ext>
                  </a:extLst>
                </a:gridCol>
              </a:tblGrid>
              <a:tr h="409575">
                <a:tc>
                  <a:txBody>
                    <a:bodyPr/>
                    <a:lstStyle/>
                    <a:p>
                      <a:pPr algn="ctr"/>
                      <a:r>
                        <a:rPr sz="2025">
                          <a:solidFill>
                            <a:srgbClr val="000000"/>
                          </a:solidFill>
                          <a:latin typeface="Calibri"/>
                          <a:ea typeface="Calibri"/>
                          <a:cs typeface="Calibri"/>
                        </a:rPr>
                        <a:t>mid</a:t>
                      </a:r>
                    </a:p>
                  </a:txBody>
                  <a:tcPr marL="47625" marR="47625" marT="28575" marB="28575" anchor="ctr">
                    <a:solidFill>
                      <a:srgbClr val="D9D9D9"/>
                    </a:solidFill>
                  </a:tcPr>
                </a:tc>
                <a:tc>
                  <a:txBody>
                    <a:bodyPr/>
                    <a:lstStyle/>
                    <a:p>
                      <a:pPr algn="ctr"/>
                      <a:r>
                        <a:rPr sz="2025">
                          <a:solidFill>
                            <a:srgbClr val="000000"/>
                          </a:solidFill>
                          <a:latin typeface="Calibri"/>
                          <a:ea typeface="Calibri"/>
                          <a:cs typeface="Calibri"/>
                        </a:rPr>
                        <a:t>label</a:t>
                      </a:r>
                    </a:p>
                  </a:txBody>
                  <a:tcPr marL="47625" marR="47625" marT="28575" marB="28575" anchor="ctr">
                    <a:solidFill>
                      <a:srgbClr val="D9D9D9"/>
                    </a:solidFill>
                  </a:tcPr>
                </a:tc>
                <a:extLst>
                  <a:ext uri="{0D108BD9-81ED-4DB2-BD59-A6C34878D82A}">
                    <a16:rowId xmlns:a16="http://schemas.microsoft.com/office/drawing/2014/main" val="10000"/>
                  </a:ext>
                </a:extLst>
              </a:tr>
              <a:tr h="409575">
                <a:tc>
                  <a:txBody>
                    <a:bodyPr/>
                    <a:lstStyle/>
                    <a:p>
                      <a:pPr algn="ctr"/>
                      <a:r>
                        <a:rPr sz="2025">
                          <a:solidFill>
                            <a:srgbClr val="000000"/>
                          </a:solidFill>
                          <a:latin typeface="Calibri"/>
                          <a:ea typeface="Calibri"/>
                          <a:cs typeface="Calibri"/>
                        </a:rPr>
                        <a:t>1</a:t>
                      </a:r>
                    </a:p>
                  </a:txBody>
                  <a:tcPr marL="47625" marR="47625" marT="28575" marB="28575" anchor="ctr">
                    <a:solidFill>
                      <a:srgbClr val="FFFFFF"/>
                    </a:solidFill>
                  </a:tcPr>
                </a:tc>
                <a:tc>
                  <a:txBody>
                    <a:bodyPr/>
                    <a:lstStyle/>
                    <a:p>
                      <a:pPr algn="ctr"/>
                      <a:r>
                        <a:rPr sz="2025">
                          <a:solidFill>
                            <a:srgbClr val="000000"/>
                          </a:solidFill>
                          <a:latin typeface="Calibri"/>
                          <a:ea typeface="Calibri"/>
                          <a:cs typeface="Calibri"/>
                        </a:rPr>
                        <a:t>Music</a:t>
                      </a:r>
                    </a:p>
                  </a:txBody>
                  <a:tcPr marL="47625" marR="47625" marT="28575" marB="28575" anchor="ctr">
                    <a:solidFill>
                      <a:srgbClr val="FFFFFF"/>
                    </a:solidFill>
                  </a:tcPr>
                </a:tc>
                <a:extLst>
                  <a:ext uri="{0D108BD9-81ED-4DB2-BD59-A6C34878D82A}">
                    <a16:rowId xmlns:a16="http://schemas.microsoft.com/office/drawing/2014/main" val="10001"/>
                  </a:ext>
                </a:extLst>
              </a:tr>
              <a:tr h="409575">
                <a:tc>
                  <a:txBody>
                    <a:bodyPr/>
                    <a:lstStyle/>
                    <a:p>
                      <a:pPr algn="ctr"/>
                      <a:r>
                        <a:rPr sz="2025">
                          <a:solidFill>
                            <a:srgbClr val="000000"/>
                          </a:solidFill>
                          <a:latin typeface="Calibri"/>
                          <a:ea typeface="Calibri"/>
                          <a:cs typeface="Calibri"/>
                        </a:rPr>
                        <a:t>2</a:t>
                      </a:r>
                    </a:p>
                  </a:txBody>
                  <a:tcPr marL="47625" marR="47625" marT="28575" marB="28575" anchor="ctr">
                    <a:solidFill>
                      <a:srgbClr val="FFFFFF"/>
                    </a:solidFill>
                  </a:tcPr>
                </a:tc>
                <a:tc>
                  <a:txBody>
                    <a:bodyPr/>
                    <a:lstStyle/>
                    <a:p>
                      <a:pPr algn="ctr"/>
                      <a:r>
                        <a:rPr sz="2025">
                          <a:solidFill>
                            <a:srgbClr val="000000"/>
                          </a:solidFill>
                          <a:latin typeface="Calibri"/>
                          <a:ea typeface="Calibri"/>
                          <a:cs typeface="Calibri"/>
                        </a:rPr>
                        <a:t>Drama</a:t>
                      </a:r>
                    </a:p>
                  </a:txBody>
                  <a:tcPr marL="47625" marR="47625" marT="28575" marB="28575" anchor="ctr">
                    <a:solidFill>
                      <a:srgbClr val="FFFFFF"/>
                    </a:solidFill>
                  </a:tcPr>
                </a:tc>
                <a:extLst>
                  <a:ext uri="{0D108BD9-81ED-4DB2-BD59-A6C34878D82A}">
                    <a16:rowId xmlns:a16="http://schemas.microsoft.com/office/drawing/2014/main" val="10002"/>
                  </a:ext>
                </a:extLst>
              </a:tr>
              <a:tr h="409575">
                <a:tc>
                  <a:txBody>
                    <a:bodyPr/>
                    <a:lstStyle/>
                    <a:p>
                      <a:pPr algn="ctr"/>
                      <a:r>
                        <a:rPr sz="2025">
                          <a:solidFill>
                            <a:srgbClr val="000000"/>
                          </a:solidFill>
                          <a:latin typeface="Calibri"/>
                          <a:ea typeface="Calibri"/>
                          <a:cs typeface="Calibri"/>
                        </a:rPr>
                        <a:t>3</a:t>
                      </a:r>
                    </a:p>
                  </a:txBody>
                  <a:tcPr marL="47625" marR="47625" marT="28575" marB="28575" anchor="ctr">
                    <a:solidFill>
                      <a:srgbClr val="FFFFFF"/>
                    </a:solidFill>
                  </a:tcPr>
                </a:tc>
                <a:tc>
                  <a:txBody>
                    <a:bodyPr/>
                    <a:lstStyle/>
                    <a:p>
                      <a:pPr algn="ctr"/>
                      <a:r>
                        <a:rPr sz="2025">
                          <a:solidFill>
                            <a:srgbClr val="000000"/>
                          </a:solidFill>
                          <a:latin typeface="Calibri"/>
                          <a:ea typeface="Calibri"/>
                          <a:cs typeface="Calibri"/>
                        </a:rPr>
                        <a:t>Music</a:t>
                      </a:r>
                    </a:p>
                  </a:txBody>
                  <a:tcPr marL="47625" marR="47625" marT="28575" marB="28575" anchor="ctr">
                    <a:solidFill>
                      <a:srgbClr val="FFFFFF"/>
                    </a:solidFill>
                  </a:tcPr>
                </a:tc>
                <a:extLst>
                  <a:ext uri="{0D108BD9-81ED-4DB2-BD59-A6C34878D82A}">
                    <a16:rowId xmlns:a16="http://schemas.microsoft.com/office/drawing/2014/main" val="10003"/>
                  </a:ext>
                </a:extLst>
              </a:tr>
            </a:tbl>
          </a:graphicData>
        </a:graphic>
      </p:graphicFrame>
      <p:sp>
        <p:nvSpPr>
          <p:cNvPr id="6" name="body">
            <a:extLst>
              <a:ext uri="{FF2B5EF4-FFF2-40B4-BE49-F238E27FC236}">
                <a16:creationId xmlns:a16="http://schemas.microsoft.com/office/drawing/2014/main" id="{F932665D-1450-4C00-BAF4-54C1782ED2B5}"/>
              </a:ext>
            </a:extLst>
          </p:cNvPr>
          <p:cNvSpPr>
            <a:spLocks noGrp="1"/>
          </p:cNvSpPr>
          <p:nvPr/>
        </p:nvSpPr>
        <p:spPr>
          <a:xfrm>
            <a:off x="781050" y="3829050"/>
            <a:ext cx="7600950" cy="952500"/>
          </a:xfrm>
          <a:prstGeom prst="rect">
            <a:avLst/>
          </a:prstGeom>
          <a:noFill/>
          <a:ln w="0">
            <a:noFill/>
          </a:ln>
        </p:spPr>
        <p:txBody>
          <a:bodyPr wrap="square" lIns="0" tIns="0" rIns="0" bIns="0">
            <a:noAutofit/>
          </a:bodyPr>
          <a:lstStyle/>
          <a:p>
            <a:pPr>
              <a:defRPr sz="2325" b="0">
                <a:solidFill>
                  <a:srgbClr val="FF0000"/>
                </a:solidFill>
                <a:latin typeface="Calibri"/>
                <a:ea typeface="Calibri"/>
                <a:cs typeface="Calibri"/>
              </a:defRPr>
            </a:pPr>
            <a:r>
              <a:rPr sz="2325" b="0">
                <a:solidFill>
                  <a:srgbClr val="FF0000"/>
                </a:solidFill>
                <a:latin typeface="Calibri"/>
                <a:ea typeface="Calibri"/>
                <a:cs typeface="Calibri"/>
              </a:rPr>
              <a:t>Create two aliases C and D for Club.</a:t>
            </a:r>
          </a:p>
        </p:txBody>
      </p:sp>
      <p:sp>
        <p:nvSpPr>
          <p:cNvPr id="7" name="body">
            <a:extLst>
              <a:ext uri="{FF2B5EF4-FFF2-40B4-BE49-F238E27FC236}">
                <a16:creationId xmlns:a16="http://schemas.microsoft.com/office/drawing/2014/main" id="{7CC3E53C-72FD-4CCC-8C8F-8C4231C0FA14}"/>
              </a:ext>
            </a:extLst>
          </p:cNvPr>
          <p:cNvSpPr>
            <a:spLocks noGrp="1"/>
          </p:cNvSpPr>
          <p:nvPr/>
        </p:nvSpPr>
        <p:spPr>
          <a:xfrm>
            <a:off x="781050" y="4581525"/>
            <a:ext cx="7600950" cy="952500"/>
          </a:xfrm>
          <a:prstGeom prst="rect">
            <a:avLst/>
          </a:prstGeom>
          <a:noFill/>
          <a:ln w="0">
            <a:noFill/>
          </a:ln>
        </p:spPr>
        <p:txBody>
          <a:bodyPr wrap="square" lIns="0" tIns="0" rIns="0" bIns="0">
            <a:noAutofit/>
          </a:bodyPr>
          <a:lstStyle/>
          <a:p>
            <a:pPr>
              <a:defRPr sz="2175" b="0">
                <a:solidFill>
                  <a:srgbClr val="FF0000"/>
                </a:solidFill>
                <a:latin typeface="Calibri"/>
                <a:ea typeface="Calibri"/>
                <a:cs typeface="Calibri"/>
              </a:defRPr>
            </a:pPr>
            <a:r>
              <a:rPr sz="2175" b="0">
                <a:solidFill>
                  <a:srgbClr val="FF0000"/>
                </a:solidFill>
                <a:latin typeface="Calibri"/>
                <a:ea typeface="Calibri"/>
                <a:cs typeface="Calibri"/>
              </a:rPr>
              <a:t>Write the qualified schema of C × D and its tuple count.</a:t>
            </a:r>
          </a:p>
        </p:txBody>
      </p:sp>
      <p:sp>
        <p:nvSpPr>
          <p:cNvPr id="8" name="body">
            <a:extLst>
              <a:ext uri="{FF2B5EF4-FFF2-40B4-BE49-F238E27FC236}">
                <a16:creationId xmlns:a16="http://schemas.microsoft.com/office/drawing/2014/main" id="{7B4242CB-5A7C-44E8-A260-81F6D99780B5}"/>
              </a:ext>
            </a:extLst>
          </p:cNvPr>
          <p:cNvSpPr>
            <a:spLocks noGrp="1"/>
          </p:cNvSpPr>
          <p:nvPr/>
        </p:nvSpPr>
        <p:spPr>
          <a:xfrm>
            <a:off x="781050" y="5295900"/>
            <a:ext cx="7600950" cy="952500"/>
          </a:xfrm>
          <a:prstGeom prst="rect">
            <a:avLst/>
          </a:prstGeom>
          <a:noFill/>
          <a:ln w="0">
            <a:noFill/>
          </a:ln>
        </p:spPr>
        <p:txBody>
          <a:bodyPr wrap="square" lIns="0" tIns="0" rIns="0" bIns="0">
            <a:noAutofit/>
          </a:bodyPr>
          <a:lstStyle/>
          <a:p>
            <a:pPr>
              <a:defRPr sz="2025" b="0">
                <a:solidFill>
                  <a:srgbClr val="000000"/>
                </a:solidFill>
                <a:latin typeface="Calibri"/>
                <a:ea typeface="Calibri"/>
                <a:cs typeface="Calibri"/>
              </a:defRPr>
            </a:pPr>
            <a:r>
              <a:rPr sz="2025" b="0">
                <a:solidFill>
                  <a:srgbClr val="000000"/>
                </a:solidFill>
                <a:latin typeface="Calibri"/>
                <a:ea typeface="Calibri"/>
                <a:cs typeface="Calibri"/>
              </a:rPr>
              <a:t>Why is an unqualified reference to mid ambiguous?</a:t>
            </a:r>
          </a:p>
        </p:txBody>
      </p:sp>
      <p:sp>
        <p:nvSpPr>
          <p:cNvPr id="9001" name="Title 1">
            <a:extLst>
              <a:ext uri="{FF2B5EF4-FFF2-40B4-BE49-F238E27FC236}">
                <a16:creationId xmlns:a16="http://schemas.microsoft.com/office/drawing/2014/main" id="{4EF27E5C-9C4D-BDBE-7667-D0B141BCC8F5}"/>
              </a:ext>
            </a:extLst>
          </p:cNvPr>
          <p:cNvSpPr>
            <a:spLocks noGrp="1"/>
          </p:cNvSpPr>
          <p:nvPr>
            <p:ph type="title"/>
          </p:nvPr>
        </p:nvSpPr>
        <p:spPr/>
        <p:txBody>
          <a:bodyPr/>
          <a:lstStyle/>
          <a:p>
            <a:r>
              <a:rPr lang="en-US">
                <a:solidFill>
                  <a:srgbClr val="FF0000"/>
                </a:solidFill>
              </a:rPr>
              <a:t>Practice: </a:t>
            </a:r>
            <a:r>
              <a:rPr lang="en-US">
                <a:solidFill>
                  <a:srgbClr val="3333CC"/>
                </a:solidFill>
              </a:rPr>
              <a:t>Q14</a:t>
            </a:r>
          </a:p>
        </p:txBody>
      </p:sp>
      <p:sp>
        <p:nvSpPr>
          <p:cNvPr id="9002" name="Slide Number Placeholder 1">
            <a:extLst>
              <a:ext uri="{FF2B5EF4-FFF2-40B4-BE49-F238E27FC236}">
                <a16:creationId xmlns:a16="http://schemas.microsoft.com/office/drawing/2014/main" id="{B90139AC-3BDA-723A-097A-000DA0A784C1}"/>
              </a:ext>
            </a:extLst>
          </p:cNvPr>
          <p:cNvSpPr>
            <a:spLocks noGrp="1"/>
          </p:cNvSpPr>
          <p:nvPr>
            <p:ph type="sldNum" sz="quarter" idx="12"/>
          </p:nvPr>
        </p:nvSpPr>
        <p:spPr/>
        <p:txBody>
          <a:bodyPr/>
          <a:lstStyle/>
          <a:p>
            <a:pPr>
              <a:defRPr/>
            </a:pPr>
            <a:fld id="{43CA101F-9E5F-9249-9862-3CE55B3BB777}" type="slidenum">
              <a:rPr lang="en-US" altLang="zh-TW" smtClean="0"/>
              <a:pPr>
                <a:defRPr/>
              </a:pPr>
              <a:t>38</a:t>
            </a:fld>
            <a:endParaRPr lang="en-US" altLang="zh-TW"/>
          </a:p>
        </p:txBody>
      </p:sp>
    </p:spTree>
    <p:extLst>
      <p:ext uri="{BB962C8B-B14F-4D97-AF65-F5344CB8AC3E}">
        <p14:creationId xmlns:p14="http://schemas.microsoft.com/office/powerpoint/2010/main" val="165411454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formula">
            <a:extLst>
              <a:ext uri="{FF2B5EF4-FFF2-40B4-BE49-F238E27FC236}">
                <a16:creationId xmlns:a16="http://schemas.microsoft.com/office/drawing/2014/main" id="{CA4E3A0D-02BE-43EB-AA8D-5492A3EAEA12}"/>
              </a:ext>
            </a:extLst>
          </p:cNvPr>
          <p:cNvSpPr>
            <a:spLocks noGrp="1"/>
          </p:cNvSpPr>
          <p:nvPr/>
        </p:nvSpPr>
        <p:spPr>
          <a:xfrm>
            <a:off x="781050" y="1085850"/>
            <a:ext cx="7620000" cy="523875"/>
          </a:xfrm>
          <a:prstGeom prst="rect">
            <a:avLst/>
          </a:prstGeom>
          <a:noFill/>
          <a:ln w="0">
            <a:noFill/>
          </a:ln>
        </p:spPr>
        <p:txBody>
          <a:bodyPr wrap="square" lIns="0" tIns="0" rIns="0" bIns="0">
            <a:noAutofit/>
          </a:bodyPr>
          <a:lstStyle/>
          <a:p>
            <a:pPr>
              <a:defRPr sz="2250" b="0">
                <a:solidFill>
                  <a:srgbClr val="000000"/>
                </a:solidFill>
                <a:latin typeface="Cambria Math"/>
                <a:ea typeface="Cambria Math"/>
                <a:cs typeface="Cambria Math"/>
              </a:defRPr>
            </a:pPr>
            <a:r>
              <a:rPr sz="2250" b="0">
                <a:solidFill>
                  <a:srgbClr val="000000"/>
                </a:solidFill>
                <a:latin typeface="Cambria Math"/>
                <a:ea typeface="Cambria Math"/>
                <a:cs typeface="Cambria Math"/>
              </a:rPr>
              <a:t>C ← ρ (C, Club)       D ← ρ (D, Club)</a:t>
            </a:r>
          </a:p>
        </p:txBody>
      </p:sp>
      <p:sp>
        <p:nvSpPr>
          <p:cNvPr id="4" name="body">
            <a:extLst>
              <a:ext uri="{FF2B5EF4-FFF2-40B4-BE49-F238E27FC236}">
                <a16:creationId xmlns:a16="http://schemas.microsoft.com/office/drawing/2014/main" id="{5752FB04-A131-415E-ACF2-F287361259A2}"/>
              </a:ext>
            </a:extLst>
          </p:cNvPr>
          <p:cNvSpPr>
            <a:spLocks noGrp="1"/>
          </p:cNvSpPr>
          <p:nvPr/>
        </p:nvSpPr>
        <p:spPr>
          <a:xfrm>
            <a:off x="781050" y="2152650"/>
            <a:ext cx="7600950" cy="952500"/>
          </a:xfrm>
          <a:prstGeom prst="rect">
            <a:avLst/>
          </a:prstGeom>
          <a:noFill/>
          <a:ln w="0">
            <a:noFill/>
          </a:ln>
        </p:spPr>
        <p:txBody>
          <a:bodyPr wrap="square" lIns="0" tIns="0" rIns="0" bIns="0">
            <a:noAutofit/>
          </a:bodyPr>
          <a:lstStyle/>
          <a:p>
            <a:pPr>
              <a:defRPr sz="2250" b="0">
                <a:solidFill>
                  <a:srgbClr val="000000"/>
                </a:solidFill>
                <a:latin typeface="Calibri"/>
                <a:ea typeface="Calibri"/>
                <a:cs typeface="Calibri"/>
              </a:defRPr>
            </a:pPr>
            <a:r>
              <a:rPr sz="2250" b="0">
                <a:solidFill>
                  <a:srgbClr val="000000"/>
                </a:solidFill>
                <a:latin typeface="Calibri"/>
                <a:ea typeface="Calibri"/>
                <a:cs typeface="Calibri"/>
              </a:rPr>
              <a:t>Schema of C × D:</a:t>
            </a:r>
          </a:p>
        </p:txBody>
      </p:sp>
      <p:sp>
        <p:nvSpPr>
          <p:cNvPr id="5" name="formula">
            <a:extLst>
              <a:ext uri="{FF2B5EF4-FFF2-40B4-BE49-F238E27FC236}">
                <a16:creationId xmlns:a16="http://schemas.microsoft.com/office/drawing/2014/main" id="{72A2DD56-D07E-4818-BD79-8FDFC7C2EFD7}"/>
              </a:ext>
            </a:extLst>
          </p:cNvPr>
          <p:cNvSpPr>
            <a:spLocks noGrp="1"/>
          </p:cNvSpPr>
          <p:nvPr/>
        </p:nvSpPr>
        <p:spPr>
          <a:xfrm>
            <a:off x="981075" y="2847975"/>
            <a:ext cx="7143750" cy="523875"/>
          </a:xfrm>
          <a:prstGeom prst="rect">
            <a:avLst/>
          </a:prstGeom>
          <a:noFill/>
          <a:ln w="0">
            <a:noFill/>
          </a:ln>
        </p:spPr>
        <p:txBody>
          <a:bodyPr wrap="square" lIns="0" tIns="0" rIns="0" bIns="0">
            <a:noAutofit/>
          </a:bodyPr>
          <a:lstStyle/>
          <a:p>
            <a:pPr>
              <a:defRPr sz="2400" b="0">
                <a:solidFill>
                  <a:srgbClr val="000000"/>
                </a:solidFill>
                <a:latin typeface="Cambria Math"/>
                <a:ea typeface="Cambria Math"/>
                <a:cs typeface="Cambria Math"/>
              </a:defRPr>
            </a:pPr>
            <a:r>
              <a:rPr sz="2400" b="0">
                <a:solidFill>
                  <a:srgbClr val="000000"/>
                </a:solidFill>
                <a:latin typeface="Cambria Math"/>
                <a:ea typeface="Cambria Math"/>
                <a:cs typeface="Cambria Math"/>
              </a:rPr>
              <a:t>(C.mid, C.label, D.mid, D.label)</a:t>
            </a:r>
          </a:p>
        </p:txBody>
      </p:sp>
      <p:sp>
        <p:nvSpPr>
          <p:cNvPr id="6" name="formula">
            <a:extLst>
              <a:ext uri="{FF2B5EF4-FFF2-40B4-BE49-F238E27FC236}">
                <a16:creationId xmlns:a16="http://schemas.microsoft.com/office/drawing/2014/main" id="{5727DE3F-E30C-4F48-B034-3958A0150F44}"/>
              </a:ext>
            </a:extLst>
          </p:cNvPr>
          <p:cNvSpPr>
            <a:spLocks noGrp="1"/>
          </p:cNvSpPr>
          <p:nvPr/>
        </p:nvSpPr>
        <p:spPr>
          <a:xfrm>
            <a:off x="971550" y="3781425"/>
            <a:ext cx="7143750" cy="523875"/>
          </a:xfrm>
          <a:prstGeom prst="rect">
            <a:avLst/>
          </a:prstGeom>
          <a:noFill/>
          <a:ln w="0">
            <a:noFill/>
          </a:ln>
        </p:spPr>
        <p:txBody>
          <a:bodyPr wrap="square" lIns="0" tIns="0" rIns="0" bIns="0">
            <a:noAutofit/>
          </a:bodyPr>
          <a:lstStyle/>
          <a:p>
            <a:pPr>
              <a:defRPr sz="2550" b="0">
                <a:solidFill>
                  <a:srgbClr val="000000"/>
                </a:solidFill>
                <a:latin typeface="Cambria Math"/>
                <a:ea typeface="Cambria Math"/>
                <a:cs typeface="Cambria Math"/>
              </a:defRPr>
            </a:pPr>
            <a:r>
              <a:rPr sz="2550" b="0">
                <a:solidFill>
                  <a:srgbClr val="000000"/>
                </a:solidFill>
                <a:latin typeface="Cambria Math"/>
                <a:ea typeface="Cambria Math"/>
                <a:cs typeface="Cambria Math"/>
              </a:rPr>
              <a:t>|C × D| = 3 × 3 = 9</a:t>
            </a:r>
          </a:p>
        </p:txBody>
      </p:sp>
      <p:sp>
        <p:nvSpPr>
          <p:cNvPr id="7" name="body">
            <a:extLst>
              <a:ext uri="{FF2B5EF4-FFF2-40B4-BE49-F238E27FC236}">
                <a16:creationId xmlns:a16="http://schemas.microsoft.com/office/drawing/2014/main" id="{19D626DB-426D-40CE-83CB-174C34EF7228}"/>
              </a:ext>
            </a:extLst>
          </p:cNvPr>
          <p:cNvSpPr>
            <a:spLocks noGrp="1"/>
          </p:cNvSpPr>
          <p:nvPr/>
        </p:nvSpPr>
        <p:spPr>
          <a:xfrm>
            <a:off x="781050" y="4848225"/>
            <a:ext cx="7600950" cy="952500"/>
          </a:xfrm>
          <a:prstGeom prst="rect">
            <a:avLst/>
          </a:prstGeom>
          <a:noFill/>
          <a:ln w="0">
            <a:noFill/>
          </a:ln>
        </p:spPr>
        <p:txBody>
          <a:bodyPr wrap="square" lIns="0" tIns="0" rIns="0" bIns="0">
            <a:noAutofit/>
          </a:bodyPr>
          <a:lstStyle/>
          <a:p>
            <a:pPr>
              <a:defRPr sz="2250" b="0">
                <a:solidFill>
                  <a:srgbClr val="FF0000"/>
                </a:solidFill>
                <a:latin typeface="Calibri"/>
                <a:ea typeface="Calibri"/>
                <a:cs typeface="Calibri"/>
              </a:defRPr>
            </a:pPr>
            <a:r>
              <a:rPr sz="2250" b="0">
                <a:solidFill>
                  <a:srgbClr val="FF0000"/>
                </a:solidFill>
                <a:latin typeface="Calibri"/>
                <a:ea typeface="Calibri"/>
                <a:cs typeface="Calibri"/>
              </a:rPr>
              <a:t>C.mid chooses the left copy. D.mid chooses the right copy.</a:t>
            </a:r>
          </a:p>
        </p:txBody>
      </p:sp>
      <p:sp>
        <p:nvSpPr>
          <p:cNvPr id="9001" name="Title 1">
            <a:extLst>
              <a:ext uri="{FF2B5EF4-FFF2-40B4-BE49-F238E27FC236}">
                <a16:creationId xmlns:a16="http://schemas.microsoft.com/office/drawing/2014/main" id="{4EF27E5C-9C4D-BDBE-7667-D0B141BCC8F5}"/>
              </a:ext>
            </a:extLst>
          </p:cNvPr>
          <p:cNvSpPr>
            <a:spLocks noGrp="1"/>
          </p:cNvSpPr>
          <p:nvPr>
            <p:ph type="title"/>
          </p:nvPr>
        </p:nvSpPr>
        <p:spPr/>
        <p:txBody>
          <a:bodyPr/>
          <a:lstStyle/>
          <a:p>
            <a:r>
              <a:rPr lang="en-US">
                <a:solidFill>
                  <a:srgbClr val="FF0000"/>
                </a:solidFill>
              </a:rPr>
              <a:t>Solutions: </a:t>
            </a:r>
            <a:r>
              <a:rPr lang="en-US">
                <a:solidFill>
                  <a:srgbClr val="3333CC"/>
                </a:solidFill>
              </a:rPr>
              <a:t>Q14</a:t>
            </a:r>
          </a:p>
        </p:txBody>
      </p:sp>
      <p:sp>
        <p:nvSpPr>
          <p:cNvPr id="9002" name="Slide Number Placeholder 1">
            <a:extLst>
              <a:ext uri="{FF2B5EF4-FFF2-40B4-BE49-F238E27FC236}">
                <a16:creationId xmlns:a16="http://schemas.microsoft.com/office/drawing/2014/main" id="{B90139AC-3BDA-723A-097A-000DA0A784C1}"/>
              </a:ext>
            </a:extLst>
          </p:cNvPr>
          <p:cNvSpPr>
            <a:spLocks noGrp="1"/>
          </p:cNvSpPr>
          <p:nvPr>
            <p:ph type="sldNum" sz="quarter" idx="12"/>
          </p:nvPr>
        </p:nvSpPr>
        <p:spPr/>
        <p:txBody>
          <a:bodyPr/>
          <a:lstStyle/>
          <a:p>
            <a:pPr>
              <a:defRPr/>
            </a:pPr>
            <a:fld id="{43CA101F-9E5F-9249-9862-3CE55B3BB777}" type="slidenum">
              <a:rPr lang="en-US" altLang="zh-TW" smtClean="0"/>
              <a:pPr>
                <a:defRPr/>
              </a:pPr>
              <a:t>39</a:t>
            </a:fld>
            <a:endParaRPr lang="en-US" altLang="zh-TW"/>
          </a:p>
        </p:txBody>
      </p:sp>
    </p:spTree>
    <p:extLst>
      <p:ext uri="{BB962C8B-B14F-4D97-AF65-F5344CB8AC3E}">
        <p14:creationId xmlns:p14="http://schemas.microsoft.com/office/powerpoint/2010/main" val="82602620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formula">
            <a:extLst>
              <a:ext uri="{FF2B5EF4-FFF2-40B4-BE49-F238E27FC236}">
                <a16:creationId xmlns:a16="http://schemas.microsoft.com/office/drawing/2014/main" id="{ABE8B9DC-700A-47AB-9798-7628B714D42D}"/>
              </a:ext>
            </a:extLst>
          </p:cNvPr>
          <p:cNvSpPr>
            <a:spLocks noGrp="1"/>
          </p:cNvSpPr>
          <p:nvPr/>
        </p:nvSpPr>
        <p:spPr>
          <a:xfrm>
            <a:off x="1114425" y="1095375"/>
            <a:ext cx="6858000" cy="523875"/>
          </a:xfrm>
          <a:prstGeom prst="rect">
            <a:avLst/>
          </a:prstGeom>
          <a:noFill/>
          <a:ln w="0">
            <a:noFill/>
          </a:ln>
        </p:spPr>
        <p:txBody>
          <a:bodyPr wrap="square" lIns="0" tIns="0" rIns="0" bIns="0">
            <a:noAutofit/>
          </a:bodyPr>
          <a:lstStyle/>
          <a:p>
            <a:pPr>
              <a:defRPr sz="2850" b="0">
                <a:solidFill>
                  <a:srgbClr val="000000"/>
                </a:solidFill>
                <a:latin typeface="Cambria Math"/>
                <a:ea typeface="Cambria Math"/>
                <a:cs typeface="Cambria Math"/>
              </a:defRPr>
            </a:pPr>
            <a:r>
              <a:rPr sz="2850" b="0">
                <a:solidFill>
                  <a:srgbClr val="000000"/>
                </a:solidFill>
                <a:latin typeface="Cambria Math"/>
                <a:ea typeface="Cambria Math"/>
                <a:cs typeface="Cambria Math"/>
              </a:rPr>
              <a:t>R × S</a:t>
            </a:r>
          </a:p>
        </p:txBody>
      </p:sp>
      <p:sp>
        <p:nvSpPr>
          <p:cNvPr id="4" name="body">
            <a:extLst>
              <a:ext uri="{FF2B5EF4-FFF2-40B4-BE49-F238E27FC236}">
                <a16:creationId xmlns:a16="http://schemas.microsoft.com/office/drawing/2014/main" id="{6E7819E2-488A-4587-9DF3-07CFC7172A03}"/>
              </a:ext>
            </a:extLst>
          </p:cNvPr>
          <p:cNvSpPr>
            <a:spLocks noGrp="1"/>
          </p:cNvSpPr>
          <p:nvPr/>
        </p:nvSpPr>
        <p:spPr>
          <a:xfrm>
            <a:off x="781050" y="2047875"/>
            <a:ext cx="219075" cy="400050"/>
          </a:xfrm>
          <a:prstGeom prst="rect">
            <a:avLst/>
          </a:prstGeom>
          <a:noFill/>
          <a:ln w="0">
            <a:noFill/>
          </a:ln>
        </p:spPr>
        <p:txBody>
          <a:bodyPr wrap="square" lIns="0" tIns="0" rIns="0" bIns="0">
            <a:noAutofit/>
          </a:bodyPr>
          <a:lstStyle/>
          <a:p>
            <a:pPr>
              <a:defRPr sz="2250" b="0">
                <a:solidFill>
                  <a:srgbClr val="000000"/>
                </a:solidFill>
                <a:latin typeface="Calibri"/>
                <a:ea typeface="Calibri"/>
                <a:cs typeface="Calibri"/>
              </a:defRPr>
            </a:pPr>
            <a:r>
              <a:rPr sz="2250" b="0">
                <a:solidFill>
                  <a:srgbClr val="000000"/>
                </a:solidFill>
                <a:latin typeface="Calibri"/>
                <a:ea typeface="Calibri"/>
                <a:cs typeface="Calibri"/>
              </a:rPr>
              <a:t>•</a:t>
            </a:r>
          </a:p>
        </p:txBody>
      </p:sp>
      <p:sp>
        <p:nvSpPr>
          <p:cNvPr id="5" name="body">
            <a:extLst>
              <a:ext uri="{FF2B5EF4-FFF2-40B4-BE49-F238E27FC236}">
                <a16:creationId xmlns:a16="http://schemas.microsoft.com/office/drawing/2014/main" id="{70E001B5-807A-498C-87D0-98146C2CAF95}"/>
              </a:ext>
            </a:extLst>
          </p:cNvPr>
          <p:cNvSpPr>
            <a:spLocks noGrp="1"/>
          </p:cNvSpPr>
          <p:nvPr/>
        </p:nvSpPr>
        <p:spPr>
          <a:xfrm>
            <a:off x="1104900" y="2047875"/>
            <a:ext cx="7239000" cy="952500"/>
          </a:xfrm>
          <a:prstGeom prst="rect">
            <a:avLst/>
          </a:prstGeom>
          <a:noFill/>
          <a:ln w="0">
            <a:noFill/>
          </a:ln>
        </p:spPr>
        <p:txBody>
          <a:bodyPr wrap="square" lIns="0" tIns="0" rIns="0" bIns="0">
            <a:noAutofit/>
          </a:bodyPr>
          <a:lstStyle/>
          <a:p>
            <a:pPr>
              <a:defRPr sz="2250" b="0">
                <a:solidFill>
                  <a:srgbClr val="000000"/>
                </a:solidFill>
                <a:latin typeface="Calibri"/>
                <a:ea typeface="Calibri"/>
                <a:cs typeface="Calibri"/>
              </a:defRPr>
            </a:pPr>
            <a:r>
              <a:rPr sz="2250" b="0">
                <a:solidFill>
                  <a:srgbClr val="000000"/>
                </a:solidFill>
                <a:latin typeface="Calibri"/>
                <a:ea typeface="Calibri"/>
                <a:cs typeface="Calibri"/>
              </a:rPr>
              <a:t>Pair each tuple of R with every tuple of S.</a:t>
            </a:r>
          </a:p>
        </p:txBody>
      </p:sp>
      <p:sp>
        <p:nvSpPr>
          <p:cNvPr id="6" name="body">
            <a:extLst>
              <a:ext uri="{FF2B5EF4-FFF2-40B4-BE49-F238E27FC236}">
                <a16:creationId xmlns:a16="http://schemas.microsoft.com/office/drawing/2014/main" id="{1DAD9951-1DA4-4732-9A8E-0538D0F3C640}"/>
              </a:ext>
            </a:extLst>
          </p:cNvPr>
          <p:cNvSpPr>
            <a:spLocks noGrp="1"/>
          </p:cNvSpPr>
          <p:nvPr/>
        </p:nvSpPr>
        <p:spPr>
          <a:xfrm>
            <a:off x="781050" y="2895600"/>
            <a:ext cx="219075" cy="400050"/>
          </a:xfrm>
          <a:prstGeom prst="rect">
            <a:avLst/>
          </a:prstGeom>
          <a:noFill/>
          <a:ln w="0">
            <a:noFill/>
          </a:ln>
        </p:spPr>
        <p:txBody>
          <a:bodyPr wrap="square" lIns="0" tIns="0" rIns="0" bIns="0">
            <a:noAutofit/>
          </a:bodyPr>
          <a:lstStyle/>
          <a:p>
            <a:pPr>
              <a:defRPr sz="2250" b="0">
                <a:solidFill>
                  <a:srgbClr val="000000"/>
                </a:solidFill>
                <a:latin typeface="Calibri"/>
                <a:ea typeface="Calibri"/>
                <a:cs typeface="Calibri"/>
              </a:defRPr>
            </a:pPr>
            <a:r>
              <a:rPr sz="2250" b="0">
                <a:solidFill>
                  <a:srgbClr val="000000"/>
                </a:solidFill>
                <a:latin typeface="Calibri"/>
                <a:ea typeface="Calibri"/>
                <a:cs typeface="Calibri"/>
              </a:rPr>
              <a:t>•</a:t>
            </a:r>
          </a:p>
        </p:txBody>
      </p:sp>
      <p:sp>
        <p:nvSpPr>
          <p:cNvPr id="7" name="body">
            <a:extLst>
              <a:ext uri="{FF2B5EF4-FFF2-40B4-BE49-F238E27FC236}">
                <a16:creationId xmlns:a16="http://schemas.microsoft.com/office/drawing/2014/main" id="{39D07565-5E52-4761-8449-E52566CD0CC7}"/>
              </a:ext>
            </a:extLst>
          </p:cNvPr>
          <p:cNvSpPr>
            <a:spLocks noGrp="1"/>
          </p:cNvSpPr>
          <p:nvPr/>
        </p:nvSpPr>
        <p:spPr>
          <a:xfrm>
            <a:off x="1104900" y="2895600"/>
            <a:ext cx="7239000" cy="952500"/>
          </a:xfrm>
          <a:prstGeom prst="rect">
            <a:avLst/>
          </a:prstGeom>
          <a:noFill/>
          <a:ln w="0">
            <a:noFill/>
          </a:ln>
        </p:spPr>
        <p:txBody>
          <a:bodyPr wrap="square" lIns="0" tIns="0" rIns="0" bIns="0">
            <a:noAutofit/>
          </a:bodyPr>
          <a:lstStyle/>
          <a:p>
            <a:pPr>
              <a:defRPr sz="2250" b="0">
                <a:solidFill>
                  <a:srgbClr val="000000"/>
                </a:solidFill>
                <a:latin typeface="Calibri"/>
                <a:ea typeface="Calibri"/>
                <a:cs typeface="Calibri"/>
              </a:defRPr>
            </a:pPr>
            <a:r>
              <a:rPr sz="2250" b="0">
                <a:solidFill>
                  <a:srgbClr val="000000"/>
                </a:solidFill>
                <a:latin typeface="Calibri"/>
                <a:ea typeface="Calibri"/>
                <a:cs typeface="Calibri"/>
              </a:rPr>
              <a:t>Concatenate the attributes of R and S.</a:t>
            </a:r>
          </a:p>
        </p:txBody>
      </p:sp>
      <p:sp>
        <p:nvSpPr>
          <p:cNvPr id="8" name="formula">
            <a:extLst>
              <a:ext uri="{FF2B5EF4-FFF2-40B4-BE49-F238E27FC236}">
                <a16:creationId xmlns:a16="http://schemas.microsoft.com/office/drawing/2014/main" id="{925ECFFE-476E-4979-8834-686B4429B339}"/>
              </a:ext>
            </a:extLst>
          </p:cNvPr>
          <p:cNvSpPr>
            <a:spLocks noGrp="1"/>
          </p:cNvSpPr>
          <p:nvPr/>
        </p:nvSpPr>
        <p:spPr>
          <a:xfrm>
            <a:off x="1114425" y="3810000"/>
            <a:ext cx="6858000" cy="523875"/>
          </a:xfrm>
          <a:prstGeom prst="rect">
            <a:avLst/>
          </a:prstGeom>
          <a:noFill/>
          <a:ln w="0">
            <a:noFill/>
          </a:ln>
        </p:spPr>
        <p:txBody>
          <a:bodyPr wrap="square" lIns="0" tIns="0" rIns="0" bIns="0">
            <a:noAutofit/>
          </a:bodyPr>
          <a:lstStyle/>
          <a:p>
            <a:pPr>
              <a:defRPr sz="2625" b="0">
                <a:solidFill>
                  <a:srgbClr val="000000"/>
                </a:solidFill>
                <a:latin typeface="Cambria Math"/>
                <a:ea typeface="Cambria Math"/>
                <a:cs typeface="Cambria Math"/>
              </a:defRPr>
            </a:pPr>
            <a:r>
              <a:rPr sz="2625" b="0">
                <a:solidFill>
                  <a:srgbClr val="000000"/>
                </a:solidFill>
                <a:latin typeface="Cambria Math"/>
                <a:ea typeface="Cambria Math"/>
                <a:cs typeface="Cambria Math"/>
              </a:rPr>
              <a:t>|R × S| = |R| × |S|</a:t>
            </a:r>
          </a:p>
        </p:txBody>
      </p:sp>
      <p:sp>
        <p:nvSpPr>
          <p:cNvPr id="9" name="body">
            <a:extLst>
              <a:ext uri="{FF2B5EF4-FFF2-40B4-BE49-F238E27FC236}">
                <a16:creationId xmlns:a16="http://schemas.microsoft.com/office/drawing/2014/main" id="{62A23171-B19A-4D77-8864-E75821776658}"/>
              </a:ext>
            </a:extLst>
          </p:cNvPr>
          <p:cNvSpPr>
            <a:spLocks noGrp="1"/>
          </p:cNvSpPr>
          <p:nvPr/>
        </p:nvSpPr>
        <p:spPr>
          <a:xfrm>
            <a:off x="781050" y="4819650"/>
            <a:ext cx="7600950" cy="952500"/>
          </a:xfrm>
          <a:prstGeom prst="rect">
            <a:avLst/>
          </a:prstGeom>
          <a:noFill/>
          <a:ln w="0">
            <a:noFill/>
          </a:ln>
        </p:spPr>
        <p:txBody>
          <a:bodyPr wrap="square" lIns="0" tIns="0" rIns="0" bIns="0">
            <a:noAutofit/>
          </a:bodyPr>
          <a:lstStyle/>
          <a:p>
            <a:pPr>
              <a:defRPr sz="2175" b="0">
                <a:solidFill>
                  <a:srgbClr val="FF0000"/>
                </a:solidFill>
                <a:latin typeface="Calibri"/>
                <a:ea typeface="Calibri"/>
                <a:cs typeface="Calibri"/>
              </a:defRPr>
            </a:pPr>
            <a:r>
              <a:rPr sz="2175" b="0">
                <a:solidFill>
                  <a:srgbClr val="FF0000"/>
                </a:solidFill>
                <a:latin typeface="Calibri"/>
                <a:ea typeface="Calibri"/>
                <a:cs typeface="Calibri"/>
              </a:rPr>
              <a:t>Use distinct attribute names or qualified names such as R.id and S.id.</a:t>
            </a:r>
          </a:p>
        </p:txBody>
      </p:sp>
      <p:sp>
        <p:nvSpPr>
          <p:cNvPr id="9001" name="Title 1">
            <a:extLst>
              <a:ext uri="{FF2B5EF4-FFF2-40B4-BE49-F238E27FC236}">
                <a16:creationId xmlns:a16="http://schemas.microsoft.com/office/drawing/2014/main" id="{4EF27E5C-9C4D-BDBE-7667-D0B141BCC8F5}"/>
              </a:ext>
            </a:extLst>
          </p:cNvPr>
          <p:cNvSpPr>
            <a:spLocks noGrp="1"/>
          </p:cNvSpPr>
          <p:nvPr>
            <p:ph type="title"/>
          </p:nvPr>
        </p:nvSpPr>
        <p:spPr/>
        <p:txBody>
          <a:bodyPr/>
          <a:lstStyle/>
          <a:p>
            <a:r>
              <a:rPr lang="en-US">
                <a:solidFill>
                  <a:srgbClr val="3333CC"/>
                </a:solidFill>
              </a:rPr>
              <a:t>Cartesian-Product Operation</a:t>
            </a:r>
          </a:p>
        </p:txBody>
      </p:sp>
      <p:sp>
        <p:nvSpPr>
          <p:cNvPr id="9002" name="Slide Number Placeholder 1">
            <a:extLst>
              <a:ext uri="{FF2B5EF4-FFF2-40B4-BE49-F238E27FC236}">
                <a16:creationId xmlns:a16="http://schemas.microsoft.com/office/drawing/2014/main" id="{B90139AC-3BDA-723A-097A-000DA0A784C1}"/>
              </a:ext>
            </a:extLst>
          </p:cNvPr>
          <p:cNvSpPr>
            <a:spLocks noGrp="1"/>
          </p:cNvSpPr>
          <p:nvPr>
            <p:ph type="sldNum" sz="quarter" idx="12"/>
          </p:nvPr>
        </p:nvSpPr>
        <p:spPr/>
        <p:txBody>
          <a:bodyPr/>
          <a:lstStyle/>
          <a:p>
            <a:pPr>
              <a:defRPr/>
            </a:pPr>
            <a:fld id="{43CA101F-9E5F-9249-9862-3CE55B3BB777}" type="slidenum">
              <a:rPr lang="en-US" altLang="zh-TW" smtClean="0"/>
              <a:pPr>
                <a:defRPr/>
              </a:pPr>
              <a:t>40</a:t>
            </a:fld>
            <a:endParaRPr lang="en-US" altLang="zh-TW"/>
          </a:p>
        </p:txBody>
      </p:sp>
    </p:spTree>
    <p:extLst>
      <p:ext uri="{BB962C8B-B14F-4D97-AF65-F5344CB8AC3E}">
        <p14:creationId xmlns:p14="http://schemas.microsoft.com/office/powerpoint/2010/main" val="162036618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body">
            <a:extLst>
              <a:ext uri="{FF2B5EF4-FFF2-40B4-BE49-F238E27FC236}">
                <a16:creationId xmlns:a16="http://schemas.microsoft.com/office/drawing/2014/main" id="{C2CB9ECB-84C8-4324-BA65-745F9CEF5061}"/>
              </a:ext>
            </a:extLst>
          </p:cNvPr>
          <p:cNvSpPr>
            <a:spLocks noGrp="1"/>
          </p:cNvSpPr>
          <p:nvPr/>
        </p:nvSpPr>
        <p:spPr>
          <a:xfrm>
            <a:off x="781050" y="5876925"/>
            <a:ext cx="7620000" cy="285750"/>
          </a:xfrm>
          <a:prstGeom prst="rect">
            <a:avLst/>
          </a:prstGeom>
          <a:noFill/>
          <a:ln w="0">
            <a:noFill/>
          </a:ln>
        </p:spPr>
        <p:txBody>
          <a:bodyPr wrap="square" lIns="0" tIns="0" rIns="0" bIns="0">
            <a:noAutofit/>
          </a:bodyPr>
          <a:lstStyle/>
          <a:p>
            <a:pPr>
              <a:defRPr sz="1725" b="0">
                <a:solidFill>
                  <a:srgbClr val="3333CC"/>
                </a:solidFill>
                <a:latin typeface="Calibri"/>
                <a:ea typeface="Calibri"/>
                <a:cs typeface="Calibri"/>
              </a:defRPr>
            </a:pPr>
            <a:r>
              <a:rPr sz="1725" b="0">
                <a:solidFill>
                  <a:srgbClr val="3333CC"/>
                </a:solidFill>
                <a:latin typeface="Calibri"/>
                <a:ea typeface="Calibri"/>
                <a:cs typeface="Calibri"/>
              </a:rPr>
              <a:t>Think: 30 s</a:t>
            </a:r>
          </a:p>
        </p:txBody>
      </p:sp>
      <p:sp>
        <p:nvSpPr>
          <p:cNvPr id="4" name="矩形 3">
            <a:extLst>
              <a:ext uri="{FF2B5EF4-FFF2-40B4-BE49-F238E27FC236}">
                <a16:creationId xmlns:a16="http://schemas.microsoft.com/office/drawing/2014/main" id="{3AB21325-E2F2-4B5C-99DD-C321E81C9BA9}"/>
              </a:ext>
            </a:extLst>
          </p:cNvPr>
          <p:cNvSpPr>
            <a:spLocks noGrp="1"/>
          </p:cNvSpPr>
          <p:nvPr/>
        </p:nvSpPr>
        <p:spPr>
          <a:xfrm>
            <a:off x="5962650" y="962025"/>
            <a:ext cx="2428875" cy="647700"/>
          </a:xfrm>
          <a:prstGeom prst="rect">
            <a:avLst/>
          </a:prstGeom>
          <a:solidFill>
            <a:srgbClr val="BFE7EF"/>
          </a:solidFill>
          <a:ln w="0">
            <a:noFill/>
          </a:ln>
        </p:spPr>
      </p:sp>
      <p:sp>
        <p:nvSpPr>
          <p:cNvPr id="5" name="formula">
            <a:extLst>
              <a:ext uri="{FF2B5EF4-FFF2-40B4-BE49-F238E27FC236}">
                <a16:creationId xmlns:a16="http://schemas.microsoft.com/office/drawing/2014/main" id="{3EE5E01D-1027-46F7-A62E-856320CB7424}"/>
              </a:ext>
            </a:extLst>
          </p:cNvPr>
          <p:cNvSpPr>
            <a:spLocks noGrp="1"/>
          </p:cNvSpPr>
          <p:nvPr/>
        </p:nvSpPr>
        <p:spPr>
          <a:xfrm>
            <a:off x="6096000" y="1095375"/>
            <a:ext cx="2152650" cy="419100"/>
          </a:xfrm>
          <a:prstGeom prst="rect">
            <a:avLst/>
          </a:prstGeom>
          <a:noFill/>
          <a:ln w="0">
            <a:noFill/>
          </a:ln>
        </p:spPr>
        <p:txBody>
          <a:bodyPr wrap="square" lIns="0" tIns="0" rIns="0" bIns="0">
            <a:noAutofit/>
          </a:bodyPr>
          <a:lstStyle/>
          <a:p>
            <a:pPr>
              <a:defRPr sz="2100" b="0">
                <a:solidFill>
                  <a:srgbClr val="000000"/>
                </a:solidFill>
                <a:latin typeface="Cambria Math"/>
                <a:ea typeface="Cambria Math"/>
                <a:cs typeface="Cambria Math"/>
              </a:defRPr>
            </a:pPr>
            <a:r>
              <a:rPr sz="2100" b="0">
                <a:solidFill>
                  <a:srgbClr val="000000"/>
                </a:solidFill>
                <a:latin typeface="Cambria Math"/>
                <a:ea typeface="Cambria Math"/>
                <a:cs typeface="Cambria Math"/>
              </a:rPr>
              <a:t>R × S</a:t>
            </a:r>
          </a:p>
        </p:txBody>
      </p:sp>
      <p:sp>
        <p:nvSpPr>
          <p:cNvPr id="6" name="body">
            <a:extLst>
              <a:ext uri="{FF2B5EF4-FFF2-40B4-BE49-F238E27FC236}">
                <a16:creationId xmlns:a16="http://schemas.microsoft.com/office/drawing/2014/main" id="{BE839A54-7022-4783-82EC-1A0A5C9AEA40}"/>
              </a:ext>
            </a:extLst>
          </p:cNvPr>
          <p:cNvSpPr>
            <a:spLocks noGrp="1"/>
          </p:cNvSpPr>
          <p:nvPr/>
        </p:nvSpPr>
        <p:spPr>
          <a:xfrm>
            <a:off x="895350" y="1819275"/>
            <a:ext cx="3286125" cy="361950"/>
          </a:xfrm>
          <a:prstGeom prst="rect">
            <a:avLst/>
          </a:prstGeom>
          <a:noFill/>
          <a:ln w="0">
            <a:noFill/>
          </a:ln>
        </p:spPr>
        <p:txBody>
          <a:bodyPr wrap="square" lIns="0" tIns="0" rIns="0" bIns="0">
            <a:noAutofit/>
          </a:bodyPr>
          <a:lstStyle/>
          <a:p>
            <a:pPr>
              <a:defRPr sz="2250" b="0">
                <a:solidFill>
                  <a:srgbClr val="000000"/>
                </a:solidFill>
                <a:latin typeface="Calibri"/>
                <a:ea typeface="Calibri"/>
                <a:cs typeface="Calibri"/>
              </a:defRPr>
            </a:pPr>
            <a:r>
              <a:rPr sz="2250" b="0">
                <a:solidFill>
                  <a:srgbClr val="000000"/>
                </a:solidFill>
                <a:latin typeface="Calibri"/>
                <a:ea typeface="Calibri"/>
                <a:cs typeface="Calibri"/>
              </a:rPr>
              <a:t>Student</a:t>
            </a:r>
          </a:p>
        </p:txBody>
      </p:sp>
      <p:graphicFrame>
        <p:nvGraphicFramePr>
          <p:cNvPr id="18" name="表格 17"/>
          <p:cNvGraphicFramePr/>
          <p:nvPr/>
        </p:nvGraphicFramePr>
        <p:xfrm>
          <a:off x="971550" y="2238375"/>
          <a:ext cx="3286126" cy="1371600"/>
        </p:xfrm>
        <a:graphic>
          <a:graphicData uri="http://schemas.openxmlformats.org/drawingml/2006/table">
            <a:tbl>
              <a:tblPr/>
              <a:tblGrid>
                <a:gridCol w="1643063">
                  <a:extLst>
                    <a:ext uri="{9D8B030D-6E8A-4147-A177-3AD203B41FA5}">
                      <a16:colId xmlns:a16="http://schemas.microsoft.com/office/drawing/2014/main" val="20000"/>
                    </a:ext>
                  </a:extLst>
                </a:gridCol>
                <a:gridCol w="1643063">
                  <a:extLst>
                    <a:ext uri="{9D8B030D-6E8A-4147-A177-3AD203B41FA5}">
                      <a16:colId xmlns:a16="http://schemas.microsoft.com/office/drawing/2014/main" val="20001"/>
                    </a:ext>
                  </a:extLst>
                </a:gridCol>
              </a:tblGrid>
              <a:tr h="457200">
                <a:tc>
                  <a:txBody>
                    <a:bodyPr/>
                    <a:lstStyle/>
                    <a:p>
                      <a:pPr algn="ctr"/>
                      <a:r>
                        <a:rPr sz="2025">
                          <a:solidFill>
                            <a:srgbClr val="000000"/>
                          </a:solidFill>
                          <a:latin typeface="Calibri"/>
                          <a:ea typeface="Calibri"/>
                          <a:cs typeface="Calibri"/>
                        </a:rPr>
                        <a:t>sid</a:t>
                      </a:r>
                    </a:p>
                  </a:txBody>
                  <a:tcPr marL="47625" marR="47625" marT="28575" marB="28575" anchor="ctr">
                    <a:solidFill>
                      <a:srgbClr val="D9D9D9"/>
                    </a:solidFill>
                  </a:tcPr>
                </a:tc>
                <a:tc>
                  <a:txBody>
                    <a:bodyPr/>
                    <a:lstStyle/>
                    <a:p>
                      <a:pPr algn="ctr"/>
                      <a:r>
                        <a:rPr sz="2025">
                          <a:solidFill>
                            <a:srgbClr val="000000"/>
                          </a:solidFill>
                          <a:latin typeface="Calibri"/>
                          <a:ea typeface="Calibri"/>
                          <a:cs typeface="Calibri"/>
                        </a:rPr>
                        <a:t>sname</a:t>
                      </a:r>
                    </a:p>
                  </a:txBody>
                  <a:tcPr marL="47625" marR="47625" marT="28575" marB="28575" anchor="ctr">
                    <a:solidFill>
                      <a:srgbClr val="D9D9D9"/>
                    </a:solidFill>
                  </a:tcPr>
                </a:tc>
                <a:extLst>
                  <a:ext uri="{0D108BD9-81ED-4DB2-BD59-A6C34878D82A}">
                    <a16:rowId xmlns:a16="http://schemas.microsoft.com/office/drawing/2014/main" val="10000"/>
                  </a:ext>
                </a:extLst>
              </a:tr>
              <a:tr h="457200">
                <a:tc>
                  <a:txBody>
                    <a:bodyPr/>
                    <a:lstStyle/>
                    <a:p>
                      <a:pPr algn="ctr"/>
                      <a:r>
                        <a:rPr sz="2025">
                          <a:solidFill>
                            <a:srgbClr val="000000"/>
                          </a:solidFill>
                          <a:latin typeface="Calibri"/>
                          <a:ea typeface="Calibri"/>
                          <a:cs typeface="Calibri"/>
                        </a:rPr>
                        <a:t>11</a:t>
                      </a:r>
                    </a:p>
                  </a:txBody>
                  <a:tcPr marL="47625" marR="47625" marT="28575" marB="28575" anchor="ctr">
                    <a:solidFill>
                      <a:srgbClr val="FFFFFF"/>
                    </a:solidFill>
                  </a:tcPr>
                </a:tc>
                <a:tc>
                  <a:txBody>
                    <a:bodyPr/>
                    <a:lstStyle/>
                    <a:p>
                      <a:pPr algn="ctr"/>
                      <a:r>
                        <a:rPr sz="2025">
                          <a:solidFill>
                            <a:srgbClr val="000000"/>
                          </a:solidFill>
                          <a:latin typeface="Calibri"/>
                          <a:ea typeface="Calibri"/>
                          <a:cs typeface="Calibri"/>
                        </a:rPr>
                        <a:t>Ava</a:t>
                      </a:r>
                    </a:p>
                  </a:txBody>
                  <a:tcPr marL="47625" marR="47625" marT="28575" marB="28575" anchor="ctr">
                    <a:solidFill>
                      <a:srgbClr val="FFFFFF"/>
                    </a:solidFill>
                  </a:tcPr>
                </a:tc>
                <a:extLst>
                  <a:ext uri="{0D108BD9-81ED-4DB2-BD59-A6C34878D82A}">
                    <a16:rowId xmlns:a16="http://schemas.microsoft.com/office/drawing/2014/main" val="10001"/>
                  </a:ext>
                </a:extLst>
              </a:tr>
              <a:tr h="457200">
                <a:tc>
                  <a:txBody>
                    <a:bodyPr/>
                    <a:lstStyle/>
                    <a:p>
                      <a:pPr algn="ctr"/>
                      <a:r>
                        <a:rPr sz="2025">
                          <a:solidFill>
                            <a:srgbClr val="000000"/>
                          </a:solidFill>
                          <a:latin typeface="Calibri"/>
                          <a:ea typeface="Calibri"/>
                          <a:cs typeface="Calibri"/>
                        </a:rPr>
                        <a:t>12</a:t>
                      </a:r>
                    </a:p>
                  </a:txBody>
                  <a:tcPr marL="47625" marR="47625" marT="28575" marB="28575" anchor="ctr">
                    <a:solidFill>
                      <a:srgbClr val="FFFFFF"/>
                    </a:solidFill>
                  </a:tcPr>
                </a:tc>
                <a:tc>
                  <a:txBody>
                    <a:bodyPr/>
                    <a:lstStyle/>
                    <a:p>
                      <a:pPr algn="ctr"/>
                      <a:r>
                        <a:rPr sz="2025">
                          <a:solidFill>
                            <a:srgbClr val="000000"/>
                          </a:solidFill>
                          <a:latin typeface="Calibri"/>
                          <a:ea typeface="Calibri"/>
                          <a:cs typeface="Calibri"/>
                        </a:rPr>
                        <a:t>Ben</a:t>
                      </a:r>
                    </a:p>
                  </a:txBody>
                  <a:tcPr marL="47625" marR="47625" marT="28575" marB="28575" anchor="ctr">
                    <a:solidFill>
                      <a:srgbClr val="FFFFFF"/>
                    </a:solidFill>
                  </a:tcPr>
                </a:tc>
                <a:extLst>
                  <a:ext uri="{0D108BD9-81ED-4DB2-BD59-A6C34878D82A}">
                    <a16:rowId xmlns:a16="http://schemas.microsoft.com/office/drawing/2014/main" val="10002"/>
                  </a:ext>
                </a:extLst>
              </a:tr>
            </a:tbl>
          </a:graphicData>
        </a:graphic>
      </p:graphicFrame>
      <p:sp>
        <p:nvSpPr>
          <p:cNvPr id="8" name="body">
            <a:extLst>
              <a:ext uri="{FF2B5EF4-FFF2-40B4-BE49-F238E27FC236}">
                <a16:creationId xmlns:a16="http://schemas.microsoft.com/office/drawing/2014/main" id="{4EEDE4C0-CE49-4A5E-98DD-F68DDA7DB5A0}"/>
              </a:ext>
            </a:extLst>
          </p:cNvPr>
          <p:cNvSpPr>
            <a:spLocks noGrp="1"/>
          </p:cNvSpPr>
          <p:nvPr/>
        </p:nvSpPr>
        <p:spPr>
          <a:xfrm>
            <a:off x="4905375" y="1819275"/>
            <a:ext cx="3143250" cy="361950"/>
          </a:xfrm>
          <a:prstGeom prst="rect">
            <a:avLst/>
          </a:prstGeom>
          <a:noFill/>
          <a:ln w="0">
            <a:noFill/>
          </a:ln>
        </p:spPr>
        <p:txBody>
          <a:bodyPr wrap="square" lIns="0" tIns="0" rIns="0" bIns="0">
            <a:noAutofit/>
          </a:bodyPr>
          <a:lstStyle/>
          <a:p>
            <a:pPr>
              <a:defRPr sz="2250" b="0">
                <a:solidFill>
                  <a:srgbClr val="000000"/>
                </a:solidFill>
                <a:latin typeface="Calibri"/>
                <a:ea typeface="Calibri"/>
                <a:cs typeface="Calibri"/>
              </a:defRPr>
            </a:pPr>
            <a:r>
              <a:rPr sz="2250" b="0">
                <a:solidFill>
                  <a:srgbClr val="000000"/>
                </a:solidFill>
                <a:latin typeface="Calibri"/>
                <a:ea typeface="Calibri"/>
                <a:cs typeface="Calibri"/>
              </a:rPr>
              <a:t>Slot</a:t>
            </a:r>
          </a:p>
        </p:txBody>
      </p:sp>
      <p:graphicFrame>
        <p:nvGraphicFramePr>
          <p:cNvPr id="20" name="表格 19"/>
          <p:cNvGraphicFramePr/>
          <p:nvPr/>
        </p:nvGraphicFramePr>
        <p:xfrm>
          <a:off x="4981575" y="2238375"/>
          <a:ext cx="3143250" cy="1371600"/>
        </p:xfrm>
        <a:graphic>
          <a:graphicData uri="http://schemas.openxmlformats.org/drawingml/2006/table">
            <a:tbl>
              <a:tblPr/>
              <a:tblGrid>
                <a:gridCol w="1571625">
                  <a:extLst>
                    <a:ext uri="{9D8B030D-6E8A-4147-A177-3AD203B41FA5}">
                      <a16:colId xmlns:a16="http://schemas.microsoft.com/office/drawing/2014/main" val="20000"/>
                    </a:ext>
                  </a:extLst>
                </a:gridCol>
                <a:gridCol w="1571625">
                  <a:extLst>
                    <a:ext uri="{9D8B030D-6E8A-4147-A177-3AD203B41FA5}">
                      <a16:colId xmlns:a16="http://schemas.microsoft.com/office/drawing/2014/main" val="20001"/>
                    </a:ext>
                  </a:extLst>
                </a:gridCol>
              </a:tblGrid>
              <a:tr h="457200">
                <a:tc>
                  <a:txBody>
                    <a:bodyPr/>
                    <a:lstStyle/>
                    <a:p>
                      <a:pPr algn="ctr"/>
                      <a:r>
                        <a:rPr sz="2025">
                          <a:solidFill>
                            <a:srgbClr val="000000"/>
                          </a:solidFill>
                          <a:latin typeface="Calibri"/>
                          <a:ea typeface="Calibri"/>
                          <a:cs typeface="Calibri"/>
                        </a:rPr>
                        <a:t>slot</a:t>
                      </a:r>
                    </a:p>
                  </a:txBody>
                  <a:tcPr marL="47625" marR="47625" marT="28575" marB="28575" anchor="ctr">
                    <a:solidFill>
                      <a:srgbClr val="D9D9D9"/>
                    </a:solidFill>
                  </a:tcPr>
                </a:tc>
                <a:tc>
                  <a:txBody>
                    <a:bodyPr/>
                    <a:lstStyle/>
                    <a:p>
                      <a:pPr algn="ctr"/>
                      <a:r>
                        <a:rPr sz="2025">
                          <a:solidFill>
                            <a:srgbClr val="000000"/>
                          </a:solidFill>
                          <a:latin typeface="Calibri"/>
                          <a:ea typeface="Calibri"/>
                          <a:cs typeface="Calibri"/>
                        </a:rPr>
                        <a:t>day</a:t>
                      </a:r>
                    </a:p>
                  </a:txBody>
                  <a:tcPr marL="47625" marR="47625" marT="28575" marB="28575" anchor="ctr">
                    <a:solidFill>
                      <a:srgbClr val="D9D9D9"/>
                    </a:solidFill>
                  </a:tcPr>
                </a:tc>
                <a:extLst>
                  <a:ext uri="{0D108BD9-81ED-4DB2-BD59-A6C34878D82A}">
                    <a16:rowId xmlns:a16="http://schemas.microsoft.com/office/drawing/2014/main" val="10000"/>
                  </a:ext>
                </a:extLst>
              </a:tr>
              <a:tr h="457200">
                <a:tc>
                  <a:txBody>
                    <a:bodyPr/>
                    <a:lstStyle/>
                    <a:p>
                      <a:pPr algn="ctr"/>
                      <a:r>
                        <a:rPr sz="2025">
                          <a:solidFill>
                            <a:srgbClr val="000000"/>
                          </a:solidFill>
                          <a:latin typeface="Calibri"/>
                          <a:ea typeface="Calibri"/>
                          <a:cs typeface="Calibri"/>
                        </a:rPr>
                        <a:t>A</a:t>
                      </a:r>
                    </a:p>
                  </a:txBody>
                  <a:tcPr marL="47625" marR="47625" marT="28575" marB="28575" anchor="ctr">
                    <a:solidFill>
                      <a:srgbClr val="FFFFFF"/>
                    </a:solidFill>
                  </a:tcPr>
                </a:tc>
                <a:tc>
                  <a:txBody>
                    <a:bodyPr/>
                    <a:lstStyle/>
                    <a:p>
                      <a:pPr algn="ctr"/>
                      <a:r>
                        <a:rPr sz="2025">
                          <a:solidFill>
                            <a:srgbClr val="000000"/>
                          </a:solidFill>
                          <a:latin typeface="Calibri"/>
                          <a:ea typeface="Calibri"/>
                          <a:cs typeface="Calibri"/>
                        </a:rPr>
                        <a:t>Mon</a:t>
                      </a:r>
                    </a:p>
                  </a:txBody>
                  <a:tcPr marL="47625" marR="47625" marT="28575" marB="28575" anchor="ctr">
                    <a:solidFill>
                      <a:srgbClr val="FFFFFF"/>
                    </a:solidFill>
                  </a:tcPr>
                </a:tc>
                <a:extLst>
                  <a:ext uri="{0D108BD9-81ED-4DB2-BD59-A6C34878D82A}">
                    <a16:rowId xmlns:a16="http://schemas.microsoft.com/office/drawing/2014/main" val="10001"/>
                  </a:ext>
                </a:extLst>
              </a:tr>
              <a:tr h="457200">
                <a:tc>
                  <a:txBody>
                    <a:bodyPr/>
                    <a:lstStyle/>
                    <a:p>
                      <a:pPr algn="ctr"/>
                      <a:r>
                        <a:rPr sz="2025">
                          <a:solidFill>
                            <a:srgbClr val="000000"/>
                          </a:solidFill>
                          <a:latin typeface="Calibri"/>
                          <a:ea typeface="Calibri"/>
                          <a:cs typeface="Calibri"/>
                        </a:rPr>
                        <a:t>B</a:t>
                      </a:r>
                    </a:p>
                  </a:txBody>
                  <a:tcPr marL="47625" marR="47625" marT="28575" marB="28575" anchor="ctr">
                    <a:solidFill>
                      <a:srgbClr val="FFFFFF"/>
                    </a:solidFill>
                  </a:tcPr>
                </a:tc>
                <a:tc>
                  <a:txBody>
                    <a:bodyPr/>
                    <a:lstStyle/>
                    <a:p>
                      <a:pPr algn="ctr"/>
                      <a:r>
                        <a:rPr sz="2025">
                          <a:solidFill>
                            <a:srgbClr val="000000"/>
                          </a:solidFill>
                          <a:latin typeface="Calibri"/>
                          <a:ea typeface="Calibri"/>
                          <a:cs typeface="Calibri"/>
                        </a:rPr>
                        <a:t>Wed</a:t>
                      </a:r>
                    </a:p>
                  </a:txBody>
                  <a:tcPr marL="47625" marR="47625" marT="28575" marB="28575" anchor="ctr">
                    <a:solidFill>
                      <a:srgbClr val="FFFFFF"/>
                    </a:solidFill>
                  </a:tcPr>
                </a:tc>
                <a:extLst>
                  <a:ext uri="{0D108BD9-81ED-4DB2-BD59-A6C34878D82A}">
                    <a16:rowId xmlns:a16="http://schemas.microsoft.com/office/drawing/2014/main" val="10002"/>
                  </a:ext>
                </a:extLst>
              </a:tr>
            </a:tbl>
          </a:graphicData>
        </a:graphic>
      </p:graphicFrame>
      <p:sp>
        <p:nvSpPr>
          <p:cNvPr id="10" name="body">
            <a:extLst>
              <a:ext uri="{FF2B5EF4-FFF2-40B4-BE49-F238E27FC236}">
                <a16:creationId xmlns:a16="http://schemas.microsoft.com/office/drawing/2014/main" id="{46565056-A3A0-47D1-BFA7-B6D1E8786BFB}"/>
              </a:ext>
            </a:extLst>
          </p:cNvPr>
          <p:cNvSpPr>
            <a:spLocks noGrp="1"/>
          </p:cNvSpPr>
          <p:nvPr/>
        </p:nvSpPr>
        <p:spPr>
          <a:xfrm>
            <a:off x="781050" y="4152900"/>
            <a:ext cx="7600950" cy="952500"/>
          </a:xfrm>
          <a:prstGeom prst="rect">
            <a:avLst/>
          </a:prstGeom>
          <a:noFill/>
          <a:ln w="0">
            <a:noFill/>
          </a:ln>
        </p:spPr>
        <p:txBody>
          <a:bodyPr wrap="square" lIns="0" tIns="0" rIns="0" bIns="0">
            <a:noAutofit/>
          </a:bodyPr>
          <a:lstStyle/>
          <a:p>
            <a:pPr>
              <a:defRPr sz="2250" b="0">
                <a:solidFill>
                  <a:srgbClr val="FF0000"/>
                </a:solidFill>
                <a:latin typeface="Calibri"/>
                <a:ea typeface="Calibri"/>
                <a:cs typeface="Calibri"/>
              </a:defRPr>
            </a:pPr>
            <a:r>
              <a:rPr sz="2250" b="0">
                <a:solidFill>
                  <a:srgbClr val="FF0000"/>
                </a:solidFill>
                <a:latin typeface="Calibri"/>
                <a:ea typeface="Calibri"/>
                <a:cs typeface="Calibri"/>
              </a:rPr>
              <a:t>List Student × Slot. Give its schema and tuple count.</a:t>
            </a:r>
          </a:p>
        </p:txBody>
      </p:sp>
      <p:sp>
        <p:nvSpPr>
          <p:cNvPr id="11" name="body">
            <a:extLst>
              <a:ext uri="{FF2B5EF4-FFF2-40B4-BE49-F238E27FC236}">
                <a16:creationId xmlns:a16="http://schemas.microsoft.com/office/drawing/2014/main" id="{0DBE9211-CCF3-422B-8A9C-9F2678098DCD}"/>
              </a:ext>
            </a:extLst>
          </p:cNvPr>
          <p:cNvSpPr>
            <a:spLocks noGrp="1"/>
          </p:cNvSpPr>
          <p:nvPr/>
        </p:nvSpPr>
        <p:spPr>
          <a:xfrm>
            <a:off x="781050" y="5038725"/>
            <a:ext cx="7600950" cy="952500"/>
          </a:xfrm>
          <a:prstGeom prst="rect">
            <a:avLst/>
          </a:prstGeom>
          <a:noFill/>
          <a:ln w="0">
            <a:noFill/>
          </a:ln>
        </p:spPr>
        <p:txBody>
          <a:bodyPr wrap="square" lIns="0" tIns="0" rIns="0" bIns="0">
            <a:noAutofit/>
          </a:bodyPr>
          <a:lstStyle/>
          <a:p>
            <a:pPr>
              <a:defRPr sz="2100" b="0">
                <a:solidFill>
                  <a:srgbClr val="000000"/>
                </a:solidFill>
                <a:latin typeface="Calibri"/>
                <a:ea typeface="Calibri"/>
                <a:cs typeface="Calibri"/>
              </a:defRPr>
            </a:pPr>
            <a:r>
              <a:rPr sz="2100" b="0">
                <a:solidFill>
                  <a:srgbClr val="000000"/>
                </a:solidFill>
                <a:latin typeface="Calibri"/>
                <a:ea typeface="Calibri"/>
                <a:cs typeface="Calibri"/>
              </a:rPr>
              <a:t>What happens if Slot contains no tuples?</a:t>
            </a:r>
          </a:p>
        </p:txBody>
      </p:sp>
      <p:sp>
        <p:nvSpPr>
          <p:cNvPr id="9001" name="Title 1">
            <a:extLst>
              <a:ext uri="{FF2B5EF4-FFF2-40B4-BE49-F238E27FC236}">
                <a16:creationId xmlns:a16="http://schemas.microsoft.com/office/drawing/2014/main" id="{4EF27E5C-9C4D-BDBE-7667-D0B141BCC8F5}"/>
              </a:ext>
            </a:extLst>
          </p:cNvPr>
          <p:cNvSpPr>
            <a:spLocks noGrp="1"/>
          </p:cNvSpPr>
          <p:nvPr>
            <p:ph type="title"/>
          </p:nvPr>
        </p:nvSpPr>
        <p:spPr/>
        <p:txBody>
          <a:bodyPr/>
          <a:lstStyle/>
          <a:p>
            <a:r>
              <a:rPr lang="en-US">
                <a:solidFill>
                  <a:srgbClr val="FF0000"/>
                </a:solidFill>
              </a:rPr>
              <a:t>Practice: </a:t>
            </a:r>
            <a:r>
              <a:rPr lang="en-US">
                <a:solidFill>
                  <a:srgbClr val="3333CC"/>
                </a:solidFill>
              </a:rPr>
              <a:t>Q15</a:t>
            </a:r>
          </a:p>
        </p:txBody>
      </p:sp>
      <p:sp>
        <p:nvSpPr>
          <p:cNvPr id="9002" name="Slide Number Placeholder 1">
            <a:extLst>
              <a:ext uri="{FF2B5EF4-FFF2-40B4-BE49-F238E27FC236}">
                <a16:creationId xmlns:a16="http://schemas.microsoft.com/office/drawing/2014/main" id="{B90139AC-3BDA-723A-097A-000DA0A784C1}"/>
              </a:ext>
            </a:extLst>
          </p:cNvPr>
          <p:cNvSpPr>
            <a:spLocks noGrp="1"/>
          </p:cNvSpPr>
          <p:nvPr>
            <p:ph type="sldNum" sz="quarter" idx="12"/>
          </p:nvPr>
        </p:nvSpPr>
        <p:spPr/>
        <p:txBody>
          <a:bodyPr/>
          <a:lstStyle/>
          <a:p>
            <a:pPr>
              <a:defRPr/>
            </a:pPr>
            <a:fld id="{43CA101F-9E5F-9249-9862-3CE55B3BB777}" type="slidenum">
              <a:rPr lang="en-US" altLang="zh-TW" smtClean="0"/>
              <a:pPr>
                <a:defRPr/>
              </a:pPr>
              <a:t>41</a:t>
            </a:fld>
            <a:endParaRPr lang="en-US" altLang="zh-TW"/>
          </a:p>
        </p:txBody>
      </p:sp>
    </p:spTree>
    <p:extLst>
      <p:ext uri="{BB962C8B-B14F-4D97-AF65-F5344CB8AC3E}">
        <p14:creationId xmlns:p14="http://schemas.microsoft.com/office/powerpoint/2010/main" val="138055322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body">
            <a:extLst>
              <a:ext uri="{FF2B5EF4-FFF2-40B4-BE49-F238E27FC236}">
                <a16:creationId xmlns:a16="http://schemas.microsoft.com/office/drawing/2014/main" id="{A7C3E967-40A1-42F0-A0ED-AAD3B769DBF7}"/>
              </a:ext>
            </a:extLst>
          </p:cNvPr>
          <p:cNvSpPr>
            <a:spLocks noGrp="1"/>
          </p:cNvSpPr>
          <p:nvPr/>
        </p:nvSpPr>
        <p:spPr>
          <a:xfrm>
            <a:off x="952500" y="1228725"/>
            <a:ext cx="7048500" cy="361950"/>
          </a:xfrm>
          <a:prstGeom prst="rect">
            <a:avLst/>
          </a:prstGeom>
          <a:noFill/>
          <a:ln w="0">
            <a:noFill/>
          </a:ln>
        </p:spPr>
        <p:txBody>
          <a:bodyPr wrap="square" lIns="0" tIns="0" rIns="0" bIns="0">
            <a:noAutofit/>
          </a:bodyPr>
          <a:lstStyle/>
          <a:p>
            <a:pPr>
              <a:defRPr sz="2250" b="0">
                <a:solidFill>
                  <a:srgbClr val="000000"/>
                </a:solidFill>
                <a:latin typeface="Calibri"/>
                <a:ea typeface="Calibri"/>
                <a:cs typeface="Calibri"/>
              </a:defRPr>
            </a:pPr>
            <a:r>
              <a:rPr sz="2250" b="0">
                <a:solidFill>
                  <a:srgbClr val="000000"/>
                </a:solidFill>
                <a:latin typeface="Calibri"/>
                <a:ea typeface="Calibri"/>
                <a:cs typeface="Calibri"/>
              </a:rPr>
              <a:t>Student × Slot</a:t>
            </a:r>
          </a:p>
        </p:txBody>
      </p:sp>
      <p:graphicFrame>
        <p:nvGraphicFramePr>
          <p:cNvPr id="10" name="表格 9"/>
          <p:cNvGraphicFramePr/>
          <p:nvPr/>
        </p:nvGraphicFramePr>
        <p:xfrm>
          <a:off x="1028700" y="1647825"/>
          <a:ext cx="7048500" cy="2047875"/>
        </p:xfrm>
        <a:graphic>
          <a:graphicData uri="http://schemas.openxmlformats.org/drawingml/2006/table">
            <a:tbl>
              <a:tblPr/>
              <a:tblGrid>
                <a:gridCol w="1762125">
                  <a:extLst>
                    <a:ext uri="{9D8B030D-6E8A-4147-A177-3AD203B41FA5}">
                      <a16:colId xmlns:a16="http://schemas.microsoft.com/office/drawing/2014/main" val="20000"/>
                    </a:ext>
                  </a:extLst>
                </a:gridCol>
                <a:gridCol w="1762125">
                  <a:extLst>
                    <a:ext uri="{9D8B030D-6E8A-4147-A177-3AD203B41FA5}">
                      <a16:colId xmlns:a16="http://schemas.microsoft.com/office/drawing/2014/main" val="20001"/>
                    </a:ext>
                  </a:extLst>
                </a:gridCol>
                <a:gridCol w="1762125">
                  <a:extLst>
                    <a:ext uri="{9D8B030D-6E8A-4147-A177-3AD203B41FA5}">
                      <a16:colId xmlns:a16="http://schemas.microsoft.com/office/drawing/2014/main" val="20002"/>
                    </a:ext>
                  </a:extLst>
                </a:gridCol>
                <a:gridCol w="1762125">
                  <a:extLst>
                    <a:ext uri="{9D8B030D-6E8A-4147-A177-3AD203B41FA5}">
                      <a16:colId xmlns:a16="http://schemas.microsoft.com/office/drawing/2014/main" val="20003"/>
                    </a:ext>
                  </a:extLst>
                </a:gridCol>
              </a:tblGrid>
              <a:tr h="409575">
                <a:tc>
                  <a:txBody>
                    <a:bodyPr/>
                    <a:lstStyle/>
                    <a:p>
                      <a:pPr algn="ctr"/>
                      <a:r>
                        <a:rPr sz="2025">
                          <a:solidFill>
                            <a:srgbClr val="000000"/>
                          </a:solidFill>
                          <a:latin typeface="Calibri"/>
                          <a:ea typeface="Calibri"/>
                          <a:cs typeface="Calibri"/>
                        </a:rPr>
                        <a:t>sid</a:t>
                      </a:r>
                    </a:p>
                  </a:txBody>
                  <a:tcPr marL="47625" marR="47625" marT="28575" marB="28575" anchor="ctr">
                    <a:solidFill>
                      <a:srgbClr val="D9D9D9"/>
                    </a:solidFill>
                  </a:tcPr>
                </a:tc>
                <a:tc>
                  <a:txBody>
                    <a:bodyPr/>
                    <a:lstStyle/>
                    <a:p>
                      <a:pPr algn="ctr"/>
                      <a:r>
                        <a:rPr sz="2025">
                          <a:solidFill>
                            <a:srgbClr val="000000"/>
                          </a:solidFill>
                          <a:latin typeface="Calibri"/>
                          <a:ea typeface="Calibri"/>
                          <a:cs typeface="Calibri"/>
                        </a:rPr>
                        <a:t>sname</a:t>
                      </a:r>
                    </a:p>
                  </a:txBody>
                  <a:tcPr marL="47625" marR="47625" marT="28575" marB="28575" anchor="ctr">
                    <a:solidFill>
                      <a:srgbClr val="D9D9D9"/>
                    </a:solidFill>
                  </a:tcPr>
                </a:tc>
                <a:tc>
                  <a:txBody>
                    <a:bodyPr/>
                    <a:lstStyle/>
                    <a:p>
                      <a:pPr algn="ctr"/>
                      <a:r>
                        <a:rPr sz="2025">
                          <a:solidFill>
                            <a:srgbClr val="000000"/>
                          </a:solidFill>
                          <a:latin typeface="Calibri"/>
                          <a:ea typeface="Calibri"/>
                          <a:cs typeface="Calibri"/>
                        </a:rPr>
                        <a:t>slot</a:t>
                      </a:r>
                    </a:p>
                  </a:txBody>
                  <a:tcPr marL="47625" marR="47625" marT="28575" marB="28575" anchor="ctr">
                    <a:solidFill>
                      <a:srgbClr val="D9D9D9"/>
                    </a:solidFill>
                  </a:tcPr>
                </a:tc>
                <a:tc>
                  <a:txBody>
                    <a:bodyPr/>
                    <a:lstStyle/>
                    <a:p>
                      <a:pPr algn="ctr"/>
                      <a:r>
                        <a:rPr sz="2025">
                          <a:solidFill>
                            <a:srgbClr val="000000"/>
                          </a:solidFill>
                          <a:latin typeface="Calibri"/>
                          <a:ea typeface="Calibri"/>
                          <a:cs typeface="Calibri"/>
                        </a:rPr>
                        <a:t>day</a:t>
                      </a:r>
                    </a:p>
                  </a:txBody>
                  <a:tcPr marL="47625" marR="47625" marT="28575" marB="28575" anchor="ctr">
                    <a:solidFill>
                      <a:srgbClr val="D9D9D9"/>
                    </a:solidFill>
                  </a:tcPr>
                </a:tc>
                <a:extLst>
                  <a:ext uri="{0D108BD9-81ED-4DB2-BD59-A6C34878D82A}">
                    <a16:rowId xmlns:a16="http://schemas.microsoft.com/office/drawing/2014/main" val="10000"/>
                  </a:ext>
                </a:extLst>
              </a:tr>
              <a:tr h="409575">
                <a:tc>
                  <a:txBody>
                    <a:bodyPr/>
                    <a:lstStyle/>
                    <a:p>
                      <a:pPr algn="ctr"/>
                      <a:r>
                        <a:rPr sz="2025">
                          <a:solidFill>
                            <a:srgbClr val="000000"/>
                          </a:solidFill>
                          <a:latin typeface="Calibri"/>
                          <a:ea typeface="Calibri"/>
                          <a:cs typeface="Calibri"/>
                        </a:rPr>
                        <a:t>11</a:t>
                      </a:r>
                    </a:p>
                  </a:txBody>
                  <a:tcPr marL="47625" marR="47625" marT="28575" marB="28575" anchor="ctr">
                    <a:solidFill>
                      <a:srgbClr val="FFFFFF"/>
                    </a:solidFill>
                  </a:tcPr>
                </a:tc>
                <a:tc>
                  <a:txBody>
                    <a:bodyPr/>
                    <a:lstStyle/>
                    <a:p>
                      <a:pPr algn="ctr"/>
                      <a:r>
                        <a:rPr sz="2025">
                          <a:solidFill>
                            <a:srgbClr val="000000"/>
                          </a:solidFill>
                          <a:latin typeface="Calibri"/>
                          <a:ea typeface="Calibri"/>
                          <a:cs typeface="Calibri"/>
                        </a:rPr>
                        <a:t>Ava</a:t>
                      </a:r>
                    </a:p>
                  </a:txBody>
                  <a:tcPr marL="47625" marR="47625" marT="28575" marB="28575" anchor="ctr">
                    <a:solidFill>
                      <a:srgbClr val="FFFFFF"/>
                    </a:solidFill>
                  </a:tcPr>
                </a:tc>
                <a:tc>
                  <a:txBody>
                    <a:bodyPr/>
                    <a:lstStyle/>
                    <a:p>
                      <a:pPr algn="ctr"/>
                      <a:r>
                        <a:rPr sz="2025">
                          <a:solidFill>
                            <a:srgbClr val="000000"/>
                          </a:solidFill>
                          <a:latin typeface="Calibri"/>
                          <a:ea typeface="Calibri"/>
                          <a:cs typeface="Calibri"/>
                        </a:rPr>
                        <a:t>A</a:t>
                      </a:r>
                    </a:p>
                  </a:txBody>
                  <a:tcPr marL="47625" marR="47625" marT="28575" marB="28575" anchor="ctr">
                    <a:solidFill>
                      <a:srgbClr val="FFFFFF"/>
                    </a:solidFill>
                  </a:tcPr>
                </a:tc>
                <a:tc>
                  <a:txBody>
                    <a:bodyPr/>
                    <a:lstStyle/>
                    <a:p>
                      <a:pPr algn="ctr"/>
                      <a:r>
                        <a:rPr sz="2025">
                          <a:solidFill>
                            <a:srgbClr val="000000"/>
                          </a:solidFill>
                          <a:latin typeface="Calibri"/>
                          <a:ea typeface="Calibri"/>
                          <a:cs typeface="Calibri"/>
                        </a:rPr>
                        <a:t>Mon</a:t>
                      </a:r>
                    </a:p>
                  </a:txBody>
                  <a:tcPr marL="47625" marR="47625" marT="28575" marB="28575" anchor="ctr">
                    <a:solidFill>
                      <a:srgbClr val="FFFFFF"/>
                    </a:solidFill>
                  </a:tcPr>
                </a:tc>
                <a:extLst>
                  <a:ext uri="{0D108BD9-81ED-4DB2-BD59-A6C34878D82A}">
                    <a16:rowId xmlns:a16="http://schemas.microsoft.com/office/drawing/2014/main" val="10001"/>
                  </a:ext>
                </a:extLst>
              </a:tr>
              <a:tr h="409575">
                <a:tc>
                  <a:txBody>
                    <a:bodyPr/>
                    <a:lstStyle/>
                    <a:p>
                      <a:pPr algn="ctr"/>
                      <a:r>
                        <a:rPr sz="2025">
                          <a:solidFill>
                            <a:srgbClr val="000000"/>
                          </a:solidFill>
                          <a:latin typeface="Calibri"/>
                          <a:ea typeface="Calibri"/>
                          <a:cs typeface="Calibri"/>
                        </a:rPr>
                        <a:t>11</a:t>
                      </a:r>
                    </a:p>
                  </a:txBody>
                  <a:tcPr marL="47625" marR="47625" marT="28575" marB="28575" anchor="ctr">
                    <a:solidFill>
                      <a:srgbClr val="FFFFFF"/>
                    </a:solidFill>
                  </a:tcPr>
                </a:tc>
                <a:tc>
                  <a:txBody>
                    <a:bodyPr/>
                    <a:lstStyle/>
                    <a:p>
                      <a:pPr algn="ctr"/>
                      <a:r>
                        <a:rPr sz="2025">
                          <a:solidFill>
                            <a:srgbClr val="000000"/>
                          </a:solidFill>
                          <a:latin typeface="Calibri"/>
                          <a:ea typeface="Calibri"/>
                          <a:cs typeface="Calibri"/>
                        </a:rPr>
                        <a:t>Ava</a:t>
                      </a:r>
                    </a:p>
                  </a:txBody>
                  <a:tcPr marL="47625" marR="47625" marT="28575" marB="28575" anchor="ctr">
                    <a:solidFill>
                      <a:srgbClr val="FFFFFF"/>
                    </a:solidFill>
                  </a:tcPr>
                </a:tc>
                <a:tc>
                  <a:txBody>
                    <a:bodyPr/>
                    <a:lstStyle/>
                    <a:p>
                      <a:pPr algn="ctr"/>
                      <a:r>
                        <a:rPr sz="2025">
                          <a:solidFill>
                            <a:srgbClr val="000000"/>
                          </a:solidFill>
                          <a:latin typeface="Calibri"/>
                          <a:ea typeface="Calibri"/>
                          <a:cs typeface="Calibri"/>
                        </a:rPr>
                        <a:t>B</a:t>
                      </a:r>
                    </a:p>
                  </a:txBody>
                  <a:tcPr marL="47625" marR="47625" marT="28575" marB="28575" anchor="ctr">
                    <a:solidFill>
                      <a:srgbClr val="FFFFFF"/>
                    </a:solidFill>
                  </a:tcPr>
                </a:tc>
                <a:tc>
                  <a:txBody>
                    <a:bodyPr/>
                    <a:lstStyle/>
                    <a:p>
                      <a:pPr algn="ctr"/>
                      <a:r>
                        <a:rPr sz="2025">
                          <a:solidFill>
                            <a:srgbClr val="000000"/>
                          </a:solidFill>
                          <a:latin typeface="Calibri"/>
                          <a:ea typeface="Calibri"/>
                          <a:cs typeface="Calibri"/>
                        </a:rPr>
                        <a:t>Wed</a:t>
                      </a:r>
                    </a:p>
                  </a:txBody>
                  <a:tcPr marL="47625" marR="47625" marT="28575" marB="28575" anchor="ctr">
                    <a:solidFill>
                      <a:srgbClr val="FFFFFF"/>
                    </a:solidFill>
                  </a:tcPr>
                </a:tc>
                <a:extLst>
                  <a:ext uri="{0D108BD9-81ED-4DB2-BD59-A6C34878D82A}">
                    <a16:rowId xmlns:a16="http://schemas.microsoft.com/office/drawing/2014/main" val="10002"/>
                  </a:ext>
                </a:extLst>
              </a:tr>
              <a:tr h="409575">
                <a:tc>
                  <a:txBody>
                    <a:bodyPr/>
                    <a:lstStyle/>
                    <a:p>
                      <a:pPr algn="ctr"/>
                      <a:r>
                        <a:rPr sz="2025">
                          <a:solidFill>
                            <a:srgbClr val="000000"/>
                          </a:solidFill>
                          <a:latin typeface="Calibri"/>
                          <a:ea typeface="Calibri"/>
                          <a:cs typeface="Calibri"/>
                        </a:rPr>
                        <a:t>12</a:t>
                      </a:r>
                    </a:p>
                  </a:txBody>
                  <a:tcPr marL="47625" marR="47625" marT="28575" marB="28575" anchor="ctr">
                    <a:solidFill>
                      <a:srgbClr val="FFFFFF"/>
                    </a:solidFill>
                  </a:tcPr>
                </a:tc>
                <a:tc>
                  <a:txBody>
                    <a:bodyPr/>
                    <a:lstStyle/>
                    <a:p>
                      <a:pPr algn="ctr"/>
                      <a:r>
                        <a:rPr sz="2025">
                          <a:solidFill>
                            <a:srgbClr val="000000"/>
                          </a:solidFill>
                          <a:latin typeface="Calibri"/>
                          <a:ea typeface="Calibri"/>
                          <a:cs typeface="Calibri"/>
                        </a:rPr>
                        <a:t>Ben</a:t>
                      </a:r>
                    </a:p>
                  </a:txBody>
                  <a:tcPr marL="47625" marR="47625" marT="28575" marB="28575" anchor="ctr">
                    <a:solidFill>
                      <a:srgbClr val="FFFFFF"/>
                    </a:solidFill>
                  </a:tcPr>
                </a:tc>
                <a:tc>
                  <a:txBody>
                    <a:bodyPr/>
                    <a:lstStyle/>
                    <a:p>
                      <a:pPr algn="ctr"/>
                      <a:r>
                        <a:rPr sz="2025">
                          <a:solidFill>
                            <a:srgbClr val="000000"/>
                          </a:solidFill>
                          <a:latin typeface="Calibri"/>
                          <a:ea typeface="Calibri"/>
                          <a:cs typeface="Calibri"/>
                        </a:rPr>
                        <a:t>A</a:t>
                      </a:r>
                    </a:p>
                  </a:txBody>
                  <a:tcPr marL="47625" marR="47625" marT="28575" marB="28575" anchor="ctr">
                    <a:solidFill>
                      <a:srgbClr val="FFFFFF"/>
                    </a:solidFill>
                  </a:tcPr>
                </a:tc>
                <a:tc>
                  <a:txBody>
                    <a:bodyPr/>
                    <a:lstStyle/>
                    <a:p>
                      <a:pPr algn="ctr"/>
                      <a:r>
                        <a:rPr sz="2025">
                          <a:solidFill>
                            <a:srgbClr val="000000"/>
                          </a:solidFill>
                          <a:latin typeface="Calibri"/>
                          <a:ea typeface="Calibri"/>
                          <a:cs typeface="Calibri"/>
                        </a:rPr>
                        <a:t>Mon</a:t>
                      </a:r>
                    </a:p>
                  </a:txBody>
                  <a:tcPr marL="47625" marR="47625" marT="28575" marB="28575" anchor="ctr">
                    <a:solidFill>
                      <a:srgbClr val="FFFFFF"/>
                    </a:solidFill>
                  </a:tcPr>
                </a:tc>
                <a:extLst>
                  <a:ext uri="{0D108BD9-81ED-4DB2-BD59-A6C34878D82A}">
                    <a16:rowId xmlns:a16="http://schemas.microsoft.com/office/drawing/2014/main" val="10003"/>
                  </a:ext>
                </a:extLst>
              </a:tr>
              <a:tr h="409575">
                <a:tc>
                  <a:txBody>
                    <a:bodyPr/>
                    <a:lstStyle/>
                    <a:p>
                      <a:pPr algn="ctr"/>
                      <a:r>
                        <a:rPr sz="2025">
                          <a:solidFill>
                            <a:srgbClr val="000000"/>
                          </a:solidFill>
                          <a:latin typeface="Calibri"/>
                          <a:ea typeface="Calibri"/>
                          <a:cs typeface="Calibri"/>
                        </a:rPr>
                        <a:t>12</a:t>
                      </a:r>
                    </a:p>
                  </a:txBody>
                  <a:tcPr marL="47625" marR="47625" marT="28575" marB="28575" anchor="ctr">
                    <a:solidFill>
                      <a:srgbClr val="FFFFFF"/>
                    </a:solidFill>
                  </a:tcPr>
                </a:tc>
                <a:tc>
                  <a:txBody>
                    <a:bodyPr/>
                    <a:lstStyle/>
                    <a:p>
                      <a:pPr algn="ctr"/>
                      <a:r>
                        <a:rPr sz="2025">
                          <a:solidFill>
                            <a:srgbClr val="000000"/>
                          </a:solidFill>
                          <a:latin typeface="Calibri"/>
                          <a:ea typeface="Calibri"/>
                          <a:cs typeface="Calibri"/>
                        </a:rPr>
                        <a:t>Ben</a:t>
                      </a:r>
                    </a:p>
                  </a:txBody>
                  <a:tcPr marL="47625" marR="47625" marT="28575" marB="28575" anchor="ctr">
                    <a:solidFill>
                      <a:srgbClr val="FFFFFF"/>
                    </a:solidFill>
                  </a:tcPr>
                </a:tc>
                <a:tc>
                  <a:txBody>
                    <a:bodyPr/>
                    <a:lstStyle/>
                    <a:p>
                      <a:pPr algn="ctr"/>
                      <a:r>
                        <a:rPr sz="2025">
                          <a:solidFill>
                            <a:srgbClr val="000000"/>
                          </a:solidFill>
                          <a:latin typeface="Calibri"/>
                          <a:ea typeface="Calibri"/>
                          <a:cs typeface="Calibri"/>
                        </a:rPr>
                        <a:t>B</a:t>
                      </a:r>
                    </a:p>
                  </a:txBody>
                  <a:tcPr marL="47625" marR="47625" marT="28575" marB="28575" anchor="ctr">
                    <a:solidFill>
                      <a:srgbClr val="FFFFFF"/>
                    </a:solidFill>
                  </a:tcPr>
                </a:tc>
                <a:tc>
                  <a:txBody>
                    <a:bodyPr/>
                    <a:lstStyle/>
                    <a:p>
                      <a:pPr algn="ctr"/>
                      <a:r>
                        <a:rPr sz="2025">
                          <a:solidFill>
                            <a:srgbClr val="000000"/>
                          </a:solidFill>
                          <a:latin typeface="Calibri"/>
                          <a:ea typeface="Calibri"/>
                          <a:cs typeface="Calibri"/>
                        </a:rPr>
                        <a:t>Wed</a:t>
                      </a:r>
                    </a:p>
                  </a:txBody>
                  <a:tcPr marL="47625" marR="47625" marT="28575" marB="28575" anchor="ctr">
                    <a:solidFill>
                      <a:srgbClr val="FFFFFF"/>
                    </a:solidFill>
                  </a:tcPr>
                </a:tc>
                <a:extLst>
                  <a:ext uri="{0D108BD9-81ED-4DB2-BD59-A6C34878D82A}">
                    <a16:rowId xmlns:a16="http://schemas.microsoft.com/office/drawing/2014/main" val="10004"/>
                  </a:ext>
                </a:extLst>
              </a:tr>
            </a:tbl>
          </a:graphicData>
        </a:graphic>
      </p:graphicFrame>
      <p:sp>
        <p:nvSpPr>
          <p:cNvPr id="5" name="formula">
            <a:extLst>
              <a:ext uri="{FF2B5EF4-FFF2-40B4-BE49-F238E27FC236}">
                <a16:creationId xmlns:a16="http://schemas.microsoft.com/office/drawing/2014/main" id="{8BFF4A6D-0D74-468F-A173-EC5AD2CD0818}"/>
              </a:ext>
            </a:extLst>
          </p:cNvPr>
          <p:cNvSpPr>
            <a:spLocks noGrp="1"/>
          </p:cNvSpPr>
          <p:nvPr/>
        </p:nvSpPr>
        <p:spPr>
          <a:xfrm>
            <a:off x="952500" y="4238625"/>
            <a:ext cx="7143750" cy="523875"/>
          </a:xfrm>
          <a:prstGeom prst="rect">
            <a:avLst/>
          </a:prstGeom>
          <a:noFill/>
          <a:ln w="0">
            <a:noFill/>
          </a:ln>
        </p:spPr>
        <p:txBody>
          <a:bodyPr wrap="square" lIns="0" tIns="0" rIns="0" bIns="0">
            <a:noAutofit/>
          </a:bodyPr>
          <a:lstStyle/>
          <a:p>
            <a:pPr>
              <a:defRPr sz="2475" b="0">
                <a:solidFill>
                  <a:srgbClr val="000000"/>
                </a:solidFill>
                <a:latin typeface="Cambria Math"/>
                <a:ea typeface="Cambria Math"/>
                <a:cs typeface="Cambria Math"/>
              </a:defRPr>
            </a:pPr>
            <a:r>
              <a:rPr sz="2475" b="0">
                <a:solidFill>
                  <a:srgbClr val="000000"/>
                </a:solidFill>
                <a:latin typeface="Cambria Math"/>
                <a:ea typeface="Cambria Math"/>
                <a:cs typeface="Cambria Math"/>
              </a:rPr>
              <a:t>|Student × Slot| = 2 × 2 = 4</a:t>
            </a:r>
          </a:p>
        </p:txBody>
      </p:sp>
      <p:sp>
        <p:nvSpPr>
          <p:cNvPr id="6" name="body">
            <a:extLst>
              <a:ext uri="{FF2B5EF4-FFF2-40B4-BE49-F238E27FC236}">
                <a16:creationId xmlns:a16="http://schemas.microsoft.com/office/drawing/2014/main" id="{A1D925FD-2379-41B1-AF6D-F7CB9188936C}"/>
              </a:ext>
            </a:extLst>
          </p:cNvPr>
          <p:cNvSpPr>
            <a:spLocks noGrp="1"/>
          </p:cNvSpPr>
          <p:nvPr/>
        </p:nvSpPr>
        <p:spPr>
          <a:xfrm>
            <a:off x="781050" y="5076825"/>
            <a:ext cx="7600950" cy="952500"/>
          </a:xfrm>
          <a:prstGeom prst="rect">
            <a:avLst/>
          </a:prstGeom>
          <a:noFill/>
          <a:ln w="0">
            <a:noFill/>
          </a:ln>
        </p:spPr>
        <p:txBody>
          <a:bodyPr wrap="square" lIns="0" tIns="0" rIns="0" bIns="0">
            <a:noAutofit/>
          </a:bodyPr>
          <a:lstStyle/>
          <a:p>
            <a:pPr>
              <a:defRPr sz="2175" b="0">
                <a:solidFill>
                  <a:srgbClr val="FF0000"/>
                </a:solidFill>
                <a:latin typeface="Calibri"/>
                <a:ea typeface="Calibri"/>
                <a:cs typeface="Calibri"/>
              </a:defRPr>
            </a:pPr>
            <a:r>
              <a:rPr sz="2175" b="0">
                <a:solidFill>
                  <a:srgbClr val="FF0000"/>
                </a:solidFill>
                <a:latin typeface="Calibri"/>
                <a:ea typeface="Calibri"/>
                <a:cs typeface="Calibri"/>
              </a:rPr>
              <a:t>If Slot = ∅, the product is empty with the same four attributes.</a:t>
            </a:r>
          </a:p>
        </p:txBody>
      </p:sp>
      <p:sp>
        <p:nvSpPr>
          <p:cNvPr id="9001" name="Title 1">
            <a:extLst>
              <a:ext uri="{FF2B5EF4-FFF2-40B4-BE49-F238E27FC236}">
                <a16:creationId xmlns:a16="http://schemas.microsoft.com/office/drawing/2014/main" id="{4EF27E5C-9C4D-BDBE-7667-D0B141BCC8F5}"/>
              </a:ext>
            </a:extLst>
          </p:cNvPr>
          <p:cNvSpPr>
            <a:spLocks noGrp="1"/>
          </p:cNvSpPr>
          <p:nvPr>
            <p:ph type="title"/>
          </p:nvPr>
        </p:nvSpPr>
        <p:spPr/>
        <p:txBody>
          <a:bodyPr/>
          <a:lstStyle/>
          <a:p>
            <a:r>
              <a:rPr lang="en-US">
                <a:solidFill>
                  <a:srgbClr val="FF0000"/>
                </a:solidFill>
              </a:rPr>
              <a:t>Solutions: </a:t>
            </a:r>
            <a:r>
              <a:rPr lang="en-US">
                <a:solidFill>
                  <a:srgbClr val="3333CC"/>
                </a:solidFill>
              </a:rPr>
              <a:t>Q15</a:t>
            </a:r>
          </a:p>
        </p:txBody>
      </p:sp>
      <p:sp>
        <p:nvSpPr>
          <p:cNvPr id="9002" name="Slide Number Placeholder 1">
            <a:extLst>
              <a:ext uri="{FF2B5EF4-FFF2-40B4-BE49-F238E27FC236}">
                <a16:creationId xmlns:a16="http://schemas.microsoft.com/office/drawing/2014/main" id="{B90139AC-3BDA-723A-097A-000DA0A784C1}"/>
              </a:ext>
            </a:extLst>
          </p:cNvPr>
          <p:cNvSpPr>
            <a:spLocks noGrp="1"/>
          </p:cNvSpPr>
          <p:nvPr>
            <p:ph type="sldNum" sz="quarter" idx="12"/>
          </p:nvPr>
        </p:nvSpPr>
        <p:spPr/>
        <p:txBody>
          <a:bodyPr/>
          <a:lstStyle/>
          <a:p>
            <a:pPr>
              <a:defRPr/>
            </a:pPr>
            <a:fld id="{43CA101F-9E5F-9249-9862-3CE55B3BB777}" type="slidenum">
              <a:rPr lang="en-US" altLang="zh-TW" smtClean="0"/>
              <a:pPr>
                <a:defRPr/>
              </a:pPr>
              <a:t>42</a:t>
            </a:fld>
            <a:endParaRPr lang="en-US" altLang="zh-TW"/>
          </a:p>
        </p:txBody>
      </p:sp>
    </p:spTree>
    <p:extLst>
      <p:ext uri="{BB962C8B-B14F-4D97-AF65-F5344CB8AC3E}">
        <p14:creationId xmlns:p14="http://schemas.microsoft.com/office/powerpoint/2010/main" val="48210518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body">
            <a:extLst>
              <a:ext uri="{FF2B5EF4-FFF2-40B4-BE49-F238E27FC236}">
                <a16:creationId xmlns:a16="http://schemas.microsoft.com/office/drawing/2014/main" id="{9425DAFB-9527-4A93-A0A8-A7A52005DC05}"/>
              </a:ext>
            </a:extLst>
          </p:cNvPr>
          <p:cNvSpPr>
            <a:spLocks noGrp="1"/>
          </p:cNvSpPr>
          <p:nvPr/>
        </p:nvSpPr>
        <p:spPr>
          <a:xfrm>
            <a:off x="781050" y="5876925"/>
            <a:ext cx="7620000" cy="285750"/>
          </a:xfrm>
          <a:prstGeom prst="rect">
            <a:avLst/>
          </a:prstGeom>
          <a:noFill/>
          <a:ln w="0">
            <a:noFill/>
          </a:ln>
        </p:spPr>
        <p:txBody>
          <a:bodyPr wrap="square" lIns="0" tIns="0" rIns="0" bIns="0">
            <a:noAutofit/>
          </a:bodyPr>
          <a:lstStyle/>
          <a:p>
            <a:pPr>
              <a:defRPr sz="1725" b="0">
                <a:solidFill>
                  <a:srgbClr val="3333CC"/>
                </a:solidFill>
                <a:latin typeface="Calibri"/>
                <a:ea typeface="Calibri"/>
                <a:cs typeface="Calibri"/>
              </a:defRPr>
            </a:pPr>
            <a:r>
              <a:rPr sz="1725" b="0">
                <a:solidFill>
                  <a:srgbClr val="3333CC"/>
                </a:solidFill>
                <a:latin typeface="Calibri"/>
                <a:ea typeface="Calibri"/>
                <a:cs typeface="Calibri"/>
              </a:rPr>
              <a:t>Think: 30 s</a:t>
            </a:r>
          </a:p>
        </p:txBody>
      </p:sp>
      <p:sp>
        <p:nvSpPr>
          <p:cNvPr id="4" name="body">
            <a:extLst>
              <a:ext uri="{FF2B5EF4-FFF2-40B4-BE49-F238E27FC236}">
                <a16:creationId xmlns:a16="http://schemas.microsoft.com/office/drawing/2014/main" id="{4ADAE2F6-93EA-4642-8D41-C6E7276A1322}"/>
              </a:ext>
            </a:extLst>
          </p:cNvPr>
          <p:cNvSpPr>
            <a:spLocks noGrp="1"/>
          </p:cNvSpPr>
          <p:nvPr/>
        </p:nvSpPr>
        <p:spPr>
          <a:xfrm>
            <a:off x="895350" y="1343025"/>
            <a:ext cx="3286125" cy="361950"/>
          </a:xfrm>
          <a:prstGeom prst="rect">
            <a:avLst/>
          </a:prstGeom>
          <a:noFill/>
          <a:ln w="0">
            <a:noFill/>
          </a:ln>
        </p:spPr>
        <p:txBody>
          <a:bodyPr wrap="square" lIns="0" tIns="0" rIns="0" bIns="0">
            <a:noAutofit/>
          </a:bodyPr>
          <a:lstStyle/>
          <a:p>
            <a:pPr>
              <a:defRPr sz="2250" b="0">
                <a:solidFill>
                  <a:srgbClr val="000000"/>
                </a:solidFill>
                <a:latin typeface="Calibri"/>
                <a:ea typeface="Calibri"/>
                <a:cs typeface="Calibri"/>
              </a:defRPr>
            </a:pPr>
            <a:r>
              <a:rPr sz="2250" b="0">
                <a:solidFill>
                  <a:srgbClr val="000000"/>
                </a:solidFill>
                <a:latin typeface="Calibri"/>
                <a:ea typeface="Calibri"/>
                <a:cs typeface="Calibri"/>
              </a:rPr>
              <a:t>Student</a:t>
            </a:r>
          </a:p>
        </p:txBody>
      </p:sp>
      <p:graphicFrame>
        <p:nvGraphicFramePr>
          <p:cNvPr id="14" name="表格 13"/>
          <p:cNvGraphicFramePr/>
          <p:nvPr/>
        </p:nvGraphicFramePr>
        <p:xfrm>
          <a:off x="971550" y="1762125"/>
          <a:ext cx="3286126" cy="1343025"/>
        </p:xfrm>
        <a:graphic>
          <a:graphicData uri="http://schemas.openxmlformats.org/drawingml/2006/table">
            <a:tbl>
              <a:tblPr/>
              <a:tblGrid>
                <a:gridCol w="1643063">
                  <a:extLst>
                    <a:ext uri="{9D8B030D-6E8A-4147-A177-3AD203B41FA5}">
                      <a16:colId xmlns:a16="http://schemas.microsoft.com/office/drawing/2014/main" val="20000"/>
                    </a:ext>
                  </a:extLst>
                </a:gridCol>
                <a:gridCol w="1643063">
                  <a:extLst>
                    <a:ext uri="{9D8B030D-6E8A-4147-A177-3AD203B41FA5}">
                      <a16:colId xmlns:a16="http://schemas.microsoft.com/office/drawing/2014/main" val="20001"/>
                    </a:ext>
                  </a:extLst>
                </a:gridCol>
              </a:tblGrid>
              <a:tr h="447675">
                <a:tc>
                  <a:txBody>
                    <a:bodyPr/>
                    <a:lstStyle/>
                    <a:p>
                      <a:pPr algn="ctr"/>
                      <a:r>
                        <a:rPr sz="2025">
                          <a:solidFill>
                            <a:srgbClr val="000000"/>
                          </a:solidFill>
                          <a:latin typeface="Calibri"/>
                          <a:ea typeface="Calibri"/>
                          <a:cs typeface="Calibri"/>
                        </a:rPr>
                        <a:t>sid</a:t>
                      </a:r>
                    </a:p>
                  </a:txBody>
                  <a:tcPr marL="47625" marR="47625" marT="28575" marB="28575" anchor="ctr">
                    <a:solidFill>
                      <a:srgbClr val="D9D9D9"/>
                    </a:solidFill>
                  </a:tcPr>
                </a:tc>
                <a:tc>
                  <a:txBody>
                    <a:bodyPr/>
                    <a:lstStyle/>
                    <a:p>
                      <a:pPr algn="ctr"/>
                      <a:r>
                        <a:rPr sz="2025">
                          <a:solidFill>
                            <a:srgbClr val="000000"/>
                          </a:solidFill>
                          <a:latin typeface="Calibri"/>
                          <a:ea typeface="Calibri"/>
                          <a:cs typeface="Calibri"/>
                        </a:rPr>
                        <a:t>sname</a:t>
                      </a:r>
                    </a:p>
                  </a:txBody>
                  <a:tcPr marL="47625" marR="47625" marT="28575" marB="28575" anchor="ctr">
                    <a:solidFill>
                      <a:srgbClr val="D9D9D9"/>
                    </a:solidFill>
                  </a:tcPr>
                </a:tc>
                <a:extLst>
                  <a:ext uri="{0D108BD9-81ED-4DB2-BD59-A6C34878D82A}">
                    <a16:rowId xmlns:a16="http://schemas.microsoft.com/office/drawing/2014/main" val="10000"/>
                  </a:ext>
                </a:extLst>
              </a:tr>
              <a:tr h="447675">
                <a:tc>
                  <a:txBody>
                    <a:bodyPr/>
                    <a:lstStyle/>
                    <a:p>
                      <a:pPr algn="ctr"/>
                      <a:r>
                        <a:rPr sz="2025">
                          <a:solidFill>
                            <a:srgbClr val="000000"/>
                          </a:solidFill>
                          <a:latin typeface="Calibri"/>
                          <a:ea typeface="Calibri"/>
                          <a:cs typeface="Calibri"/>
                        </a:rPr>
                        <a:t>11</a:t>
                      </a:r>
                    </a:p>
                  </a:txBody>
                  <a:tcPr marL="47625" marR="47625" marT="28575" marB="28575" anchor="ctr">
                    <a:solidFill>
                      <a:srgbClr val="FFFFFF"/>
                    </a:solidFill>
                  </a:tcPr>
                </a:tc>
                <a:tc>
                  <a:txBody>
                    <a:bodyPr/>
                    <a:lstStyle/>
                    <a:p>
                      <a:pPr algn="ctr"/>
                      <a:r>
                        <a:rPr sz="2025">
                          <a:solidFill>
                            <a:srgbClr val="000000"/>
                          </a:solidFill>
                          <a:latin typeface="Calibri"/>
                          <a:ea typeface="Calibri"/>
                          <a:cs typeface="Calibri"/>
                        </a:rPr>
                        <a:t>Ava</a:t>
                      </a:r>
                    </a:p>
                  </a:txBody>
                  <a:tcPr marL="47625" marR="47625" marT="28575" marB="28575" anchor="ctr">
                    <a:solidFill>
                      <a:srgbClr val="FFFFFF"/>
                    </a:solidFill>
                  </a:tcPr>
                </a:tc>
                <a:extLst>
                  <a:ext uri="{0D108BD9-81ED-4DB2-BD59-A6C34878D82A}">
                    <a16:rowId xmlns:a16="http://schemas.microsoft.com/office/drawing/2014/main" val="10001"/>
                  </a:ext>
                </a:extLst>
              </a:tr>
              <a:tr h="447675">
                <a:tc>
                  <a:txBody>
                    <a:bodyPr/>
                    <a:lstStyle/>
                    <a:p>
                      <a:pPr algn="ctr"/>
                      <a:r>
                        <a:rPr sz="2025">
                          <a:solidFill>
                            <a:srgbClr val="000000"/>
                          </a:solidFill>
                          <a:latin typeface="Calibri"/>
                          <a:ea typeface="Calibri"/>
                          <a:cs typeface="Calibri"/>
                        </a:rPr>
                        <a:t>12</a:t>
                      </a:r>
                    </a:p>
                  </a:txBody>
                  <a:tcPr marL="47625" marR="47625" marT="28575" marB="28575" anchor="ctr">
                    <a:solidFill>
                      <a:srgbClr val="FFFFFF"/>
                    </a:solidFill>
                  </a:tcPr>
                </a:tc>
                <a:tc>
                  <a:txBody>
                    <a:bodyPr/>
                    <a:lstStyle/>
                    <a:p>
                      <a:pPr algn="ctr"/>
                      <a:r>
                        <a:rPr sz="2025">
                          <a:solidFill>
                            <a:srgbClr val="000000"/>
                          </a:solidFill>
                          <a:latin typeface="Calibri"/>
                          <a:ea typeface="Calibri"/>
                          <a:cs typeface="Calibri"/>
                        </a:rPr>
                        <a:t>Ben</a:t>
                      </a:r>
                    </a:p>
                  </a:txBody>
                  <a:tcPr marL="47625" marR="47625" marT="28575" marB="28575" anchor="ctr">
                    <a:solidFill>
                      <a:srgbClr val="FFFFFF"/>
                    </a:solidFill>
                  </a:tcPr>
                </a:tc>
                <a:extLst>
                  <a:ext uri="{0D108BD9-81ED-4DB2-BD59-A6C34878D82A}">
                    <a16:rowId xmlns:a16="http://schemas.microsoft.com/office/drawing/2014/main" val="10002"/>
                  </a:ext>
                </a:extLst>
              </a:tr>
            </a:tbl>
          </a:graphicData>
        </a:graphic>
      </p:graphicFrame>
      <p:sp>
        <p:nvSpPr>
          <p:cNvPr id="6" name="body">
            <a:extLst>
              <a:ext uri="{FF2B5EF4-FFF2-40B4-BE49-F238E27FC236}">
                <a16:creationId xmlns:a16="http://schemas.microsoft.com/office/drawing/2014/main" id="{E1C4BFA2-4F2E-4145-8500-E172E2E882A2}"/>
              </a:ext>
            </a:extLst>
          </p:cNvPr>
          <p:cNvSpPr>
            <a:spLocks noGrp="1"/>
          </p:cNvSpPr>
          <p:nvPr/>
        </p:nvSpPr>
        <p:spPr>
          <a:xfrm>
            <a:off x="4905375" y="1343025"/>
            <a:ext cx="3143250" cy="361950"/>
          </a:xfrm>
          <a:prstGeom prst="rect">
            <a:avLst/>
          </a:prstGeom>
          <a:noFill/>
          <a:ln w="0">
            <a:noFill/>
          </a:ln>
        </p:spPr>
        <p:txBody>
          <a:bodyPr wrap="square" lIns="0" tIns="0" rIns="0" bIns="0">
            <a:noAutofit/>
          </a:bodyPr>
          <a:lstStyle/>
          <a:p>
            <a:pPr>
              <a:defRPr sz="2250" b="0">
                <a:solidFill>
                  <a:srgbClr val="000000"/>
                </a:solidFill>
                <a:latin typeface="Calibri"/>
                <a:ea typeface="Calibri"/>
                <a:cs typeface="Calibri"/>
              </a:defRPr>
            </a:pPr>
            <a:r>
              <a:rPr sz="2250" b="0">
                <a:solidFill>
                  <a:srgbClr val="000000"/>
                </a:solidFill>
                <a:latin typeface="Calibri"/>
                <a:ea typeface="Calibri"/>
                <a:cs typeface="Calibri"/>
              </a:rPr>
              <a:t>Slot</a:t>
            </a:r>
          </a:p>
        </p:txBody>
      </p:sp>
      <p:graphicFrame>
        <p:nvGraphicFramePr>
          <p:cNvPr id="16" name="表格 15"/>
          <p:cNvGraphicFramePr/>
          <p:nvPr/>
        </p:nvGraphicFramePr>
        <p:xfrm>
          <a:off x="4981575" y="1762125"/>
          <a:ext cx="3143250" cy="1343025"/>
        </p:xfrm>
        <a:graphic>
          <a:graphicData uri="http://schemas.openxmlformats.org/drawingml/2006/table">
            <a:tbl>
              <a:tblPr/>
              <a:tblGrid>
                <a:gridCol w="1571625">
                  <a:extLst>
                    <a:ext uri="{9D8B030D-6E8A-4147-A177-3AD203B41FA5}">
                      <a16:colId xmlns:a16="http://schemas.microsoft.com/office/drawing/2014/main" val="20000"/>
                    </a:ext>
                  </a:extLst>
                </a:gridCol>
                <a:gridCol w="1571625">
                  <a:extLst>
                    <a:ext uri="{9D8B030D-6E8A-4147-A177-3AD203B41FA5}">
                      <a16:colId xmlns:a16="http://schemas.microsoft.com/office/drawing/2014/main" val="20001"/>
                    </a:ext>
                  </a:extLst>
                </a:gridCol>
              </a:tblGrid>
              <a:tr h="447675">
                <a:tc>
                  <a:txBody>
                    <a:bodyPr/>
                    <a:lstStyle/>
                    <a:p>
                      <a:pPr algn="ctr"/>
                      <a:r>
                        <a:rPr sz="2025">
                          <a:solidFill>
                            <a:srgbClr val="000000"/>
                          </a:solidFill>
                          <a:latin typeface="Calibri"/>
                          <a:ea typeface="Calibri"/>
                          <a:cs typeface="Calibri"/>
                        </a:rPr>
                        <a:t>slot</a:t>
                      </a:r>
                    </a:p>
                  </a:txBody>
                  <a:tcPr marL="47625" marR="47625" marT="28575" marB="28575" anchor="ctr">
                    <a:solidFill>
                      <a:srgbClr val="D9D9D9"/>
                    </a:solidFill>
                  </a:tcPr>
                </a:tc>
                <a:tc>
                  <a:txBody>
                    <a:bodyPr/>
                    <a:lstStyle/>
                    <a:p>
                      <a:pPr algn="ctr"/>
                      <a:r>
                        <a:rPr sz="2025">
                          <a:solidFill>
                            <a:srgbClr val="000000"/>
                          </a:solidFill>
                          <a:latin typeface="Calibri"/>
                          <a:ea typeface="Calibri"/>
                          <a:cs typeface="Calibri"/>
                        </a:rPr>
                        <a:t>day</a:t>
                      </a:r>
                    </a:p>
                  </a:txBody>
                  <a:tcPr marL="47625" marR="47625" marT="28575" marB="28575" anchor="ctr">
                    <a:solidFill>
                      <a:srgbClr val="D9D9D9"/>
                    </a:solidFill>
                  </a:tcPr>
                </a:tc>
                <a:extLst>
                  <a:ext uri="{0D108BD9-81ED-4DB2-BD59-A6C34878D82A}">
                    <a16:rowId xmlns:a16="http://schemas.microsoft.com/office/drawing/2014/main" val="10000"/>
                  </a:ext>
                </a:extLst>
              </a:tr>
              <a:tr h="447675">
                <a:tc>
                  <a:txBody>
                    <a:bodyPr/>
                    <a:lstStyle/>
                    <a:p>
                      <a:pPr algn="ctr"/>
                      <a:r>
                        <a:rPr sz="2025">
                          <a:solidFill>
                            <a:srgbClr val="000000"/>
                          </a:solidFill>
                          <a:latin typeface="Calibri"/>
                          <a:ea typeface="Calibri"/>
                          <a:cs typeface="Calibri"/>
                        </a:rPr>
                        <a:t>A</a:t>
                      </a:r>
                    </a:p>
                  </a:txBody>
                  <a:tcPr marL="47625" marR="47625" marT="28575" marB="28575" anchor="ctr">
                    <a:solidFill>
                      <a:srgbClr val="FFFFFF"/>
                    </a:solidFill>
                  </a:tcPr>
                </a:tc>
                <a:tc>
                  <a:txBody>
                    <a:bodyPr/>
                    <a:lstStyle/>
                    <a:p>
                      <a:pPr algn="ctr"/>
                      <a:r>
                        <a:rPr sz="2025">
                          <a:solidFill>
                            <a:srgbClr val="000000"/>
                          </a:solidFill>
                          <a:latin typeface="Calibri"/>
                          <a:ea typeface="Calibri"/>
                          <a:cs typeface="Calibri"/>
                        </a:rPr>
                        <a:t>Mon</a:t>
                      </a:r>
                    </a:p>
                  </a:txBody>
                  <a:tcPr marL="47625" marR="47625" marT="28575" marB="28575" anchor="ctr">
                    <a:solidFill>
                      <a:srgbClr val="FFFFFF"/>
                    </a:solidFill>
                  </a:tcPr>
                </a:tc>
                <a:extLst>
                  <a:ext uri="{0D108BD9-81ED-4DB2-BD59-A6C34878D82A}">
                    <a16:rowId xmlns:a16="http://schemas.microsoft.com/office/drawing/2014/main" val="10001"/>
                  </a:ext>
                </a:extLst>
              </a:tr>
              <a:tr h="447675">
                <a:tc>
                  <a:txBody>
                    <a:bodyPr/>
                    <a:lstStyle/>
                    <a:p>
                      <a:pPr algn="ctr"/>
                      <a:r>
                        <a:rPr sz="2025">
                          <a:solidFill>
                            <a:srgbClr val="000000"/>
                          </a:solidFill>
                          <a:latin typeface="Calibri"/>
                          <a:ea typeface="Calibri"/>
                          <a:cs typeface="Calibri"/>
                        </a:rPr>
                        <a:t>B</a:t>
                      </a:r>
                    </a:p>
                  </a:txBody>
                  <a:tcPr marL="47625" marR="47625" marT="28575" marB="28575" anchor="ctr">
                    <a:solidFill>
                      <a:srgbClr val="FFFFFF"/>
                    </a:solidFill>
                  </a:tcPr>
                </a:tc>
                <a:tc>
                  <a:txBody>
                    <a:bodyPr/>
                    <a:lstStyle/>
                    <a:p>
                      <a:pPr algn="ctr"/>
                      <a:r>
                        <a:rPr sz="2025">
                          <a:solidFill>
                            <a:srgbClr val="000000"/>
                          </a:solidFill>
                          <a:latin typeface="Calibri"/>
                          <a:ea typeface="Calibri"/>
                          <a:cs typeface="Calibri"/>
                        </a:rPr>
                        <a:t>Wed</a:t>
                      </a:r>
                    </a:p>
                  </a:txBody>
                  <a:tcPr marL="47625" marR="47625" marT="28575" marB="28575" anchor="ctr">
                    <a:solidFill>
                      <a:srgbClr val="FFFFFF"/>
                    </a:solidFill>
                  </a:tcPr>
                </a:tc>
                <a:extLst>
                  <a:ext uri="{0D108BD9-81ED-4DB2-BD59-A6C34878D82A}">
                    <a16:rowId xmlns:a16="http://schemas.microsoft.com/office/drawing/2014/main" val="10002"/>
                  </a:ext>
                </a:extLst>
              </a:tr>
            </a:tbl>
          </a:graphicData>
        </a:graphic>
      </p:graphicFrame>
      <p:sp>
        <p:nvSpPr>
          <p:cNvPr id="8" name="formula">
            <a:extLst>
              <a:ext uri="{FF2B5EF4-FFF2-40B4-BE49-F238E27FC236}">
                <a16:creationId xmlns:a16="http://schemas.microsoft.com/office/drawing/2014/main" id="{9069BA68-205D-489E-9A9C-FEE2939D726E}"/>
              </a:ext>
            </a:extLst>
          </p:cNvPr>
          <p:cNvSpPr>
            <a:spLocks noGrp="1"/>
          </p:cNvSpPr>
          <p:nvPr/>
        </p:nvSpPr>
        <p:spPr>
          <a:xfrm>
            <a:off x="781050" y="3838575"/>
            <a:ext cx="7620000" cy="523875"/>
          </a:xfrm>
          <a:prstGeom prst="rect">
            <a:avLst/>
          </a:prstGeom>
          <a:noFill/>
          <a:ln w="0">
            <a:noFill/>
          </a:ln>
        </p:spPr>
        <p:txBody>
          <a:bodyPr wrap="square" lIns="0" tIns="0" rIns="0" bIns="0">
            <a:noAutofit/>
          </a:bodyPr>
          <a:lstStyle/>
          <a:p>
            <a:pPr>
              <a:defRPr sz="2475" b="0">
                <a:solidFill>
                  <a:srgbClr val="000000"/>
                </a:solidFill>
                <a:latin typeface="Cambria Math"/>
                <a:ea typeface="Cambria Math"/>
                <a:cs typeface="Cambria Math"/>
              </a:defRPr>
            </a:pPr>
            <a:r>
              <a:rPr sz="2475" b="0">
                <a:solidFill>
                  <a:srgbClr val="000000"/>
                </a:solidFill>
                <a:latin typeface="Cambria Math"/>
                <a:ea typeface="Cambria Math"/>
                <a:cs typeface="Cambria Math"/>
              </a:rPr>
              <a:t>π</a:t>
            </a:r>
            <a:r>
              <a:rPr sz="1757" b="0" baseline="-25000">
                <a:solidFill>
                  <a:srgbClr val="000000"/>
                </a:solidFill>
                <a:latin typeface="Cambria Math"/>
                <a:ea typeface="Cambria Math"/>
                <a:cs typeface="Cambria Math"/>
              </a:rPr>
              <a:t>sid</a:t>
            </a:r>
            <a:r>
              <a:rPr sz="2475" b="0">
                <a:solidFill>
                  <a:srgbClr val="000000"/>
                </a:solidFill>
                <a:latin typeface="Cambria Math"/>
                <a:ea typeface="Cambria Math"/>
                <a:cs typeface="Cambria Math"/>
              </a:rPr>
              <a:t>(Student × Slot)</a:t>
            </a:r>
          </a:p>
        </p:txBody>
      </p:sp>
      <p:sp>
        <p:nvSpPr>
          <p:cNvPr id="9" name="body">
            <a:extLst>
              <a:ext uri="{FF2B5EF4-FFF2-40B4-BE49-F238E27FC236}">
                <a16:creationId xmlns:a16="http://schemas.microsoft.com/office/drawing/2014/main" id="{D421DC5E-D017-41B9-A285-412A5FA2198F}"/>
              </a:ext>
            </a:extLst>
          </p:cNvPr>
          <p:cNvSpPr>
            <a:spLocks noGrp="1"/>
          </p:cNvSpPr>
          <p:nvPr/>
        </p:nvSpPr>
        <p:spPr>
          <a:xfrm>
            <a:off x="781050" y="4724400"/>
            <a:ext cx="7600950" cy="952500"/>
          </a:xfrm>
          <a:prstGeom prst="rect">
            <a:avLst/>
          </a:prstGeom>
          <a:noFill/>
          <a:ln w="0">
            <a:noFill/>
          </a:ln>
        </p:spPr>
        <p:txBody>
          <a:bodyPr wrap="square" lIns="0" tIns="0" rIns="0" bIns="0">
            <a:noAutofit/>
          </a:bodyPr>
          <a:lstStyle/>
          <a:p>
            <a:pPr>
              <a:defRPr sz="2175" b="0">
                <a:solidFill>
                  <a:srgbClr val="FF0000"/>
                </a:solidFill>
                <a:latin typeface="Calibri"/>
                <a:ea typeface="Calibri"/>
                <a:cs typeface="Calibri"/>
              </a:defRPr>
            </a:pPr>
            <a:r>
              <a:rPr sz="2175" b="0" dirty="0">
                <a:solidFill>
                  <a:srgbClr val="FF0000"/>
                </a:solidFill>
                <a:latin typeface="Calibri"/>
                <a:ea typeface="Calibri"/>
                <a:cs typeface="Calibri"/>
              </a:rPr>
              <a:t>Compute the result. Is it always the set of IDs in Student?</a:t>
            </a:r>
          </a:p>
        </p:txBody>
      </p:sp>
      <p:sp>
        <p:nvSpPr>
          <p:cNvPr id="9001" name="Title 1">
            <a:extLst>
              <a:ext uri="{FF2B5EF4-FFF2-40B4-BE49-F238E27FC236}">
                <a16:creationId xmlns:a16="http://schemas.microsoft.com/office/drawing/2014/main" id="{4EF27E5C-9C4D-BDBE-7667-D0B141BCC8F5}"/>
              </a:ext>
            </a:extLst>
          </p:cNvPr>
          <p:cNvSpPr>
            <a:spLocks noGrp="1"/>
          </p:cNvSpPr>
          <p:nvPr>
            <p:ph type="title"/>
          </p:nvPr>
        </p:nvSpPr>
        <p:spPr/>
        <p:txBody>
          <a:bodyPr/>
          <a:lstStyle/>
          <a:p>
            <a:r>
              <a:rPr lang="en-US">
                <a:solidFill>
                  <a:srgbClr val="FF0000"/>
                </a:solidFill>
              </a:rPr>
              <a:t>Practice: </a:t>
            </a:r>
            <a:r>
              <a:rPr lang="en-US">
                <a:solidFill>
                  <a:srgbClr val="3333CC"/>
                </a:solidFill>
              </a:rPr>
              <a:t>Q16</a:t>
            </a:r>
          </a:p>
        </p:txBody>
      </p:sp>
      <p:sp>
        <p:nvSpPr>
          <p:cNvPr id="9002" name="Slide Number Placeholder 1">
            <a:extLst>
              <a:ext uri="{FF2B5EF4-FFF2-40B4-BE49-F238E27FC236}">
                <a16:creationId xmlns:a16="http://schemas.microsoft.com/office/drawing/2014/main" id="{B90139AC-3BDA-723A-097A-000DA0A784C1}"/>
              </a:ext>
            </a:extLst>
          </p:cNvPr>
          <p:cNvSpPr>
            <a:spLocks noGrp="1"/>
          </p:cNvSpPr>
          <p:nvPr>
            <p:ph type="sldNum" sz="quarter" idx="12"/>
          </p:nvPr>
        </p:nvSpPr>
        <p:spPr/>
        <p:txBody>
          <a:bodyPr/>
          <a:lstStyle/>
          <a:p>
            <a:pPr>
              <a:defRPr/>
            </a:pPr>
            <a:fld id="{43CA101F-9E5F-9249-9862-3CE55B3BB777}" type="slidenum">
              <a:rPr lang="en-US" altLang="zh-TW" smtClean="0"/>
              <a:pPr>
                <a:defRPr/>
              </a:pPr>
              <a:t>43</a:t>
            </a:fld>
            <a:endParaRPr lang="en-US" altLang="zh-TW"/>
          </a:p>
        </p:txBody>
      </p:sp>
    </p:spTree>
    <p:extLst>
      <p:ext uri="{BB962C8B-B14F-4D97-AF65-F5344CB8AC3E}">
        <p14:creationId xmlns:p14="http://schemas.microsoft.com/office/powerpoint/2010/main" val="177716001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body">
            <a:extLst>
              <a:ext uri="{FF2B5EF4-FFF2-40B4-BE49-F238E27FC236}">
                <a16:creationId xmlns:a16="http://schemas.microsoft.com/office/drawing/2014/main" id="{8A6098B0-F33F-4678-B1E2-F52504332431}"/>
              </a:ext>
            </a:extLst>
          </p:cNvPr>
          <p:cNvSpPr>
            <a:spLocks noGrp="1"/>
          </p:cNvSpPr>
          <p:nvPr/>
        </p:nvSpPr>
        <p:spPr>
          <a:xfrm>
            <a:off x="742950" y="1295400"/>
            <a:ext cx="5019675" cy="361950"/>
          </a:xfrm>
          <a:prstGeom prst="rect">
            <a:avLst/>
          </a:prstGeom>
          <a:noFill/>
          <a:ln w="0">
            <a:noFill/>
          </a:ln>
        </p:spPr>
        <p:txBody>
          <a:bodyPr wrap="square" lIns="0" tIns="0" rIns="0" bIns="0">
            <a:noAutofit/>
          </a:bodyPr>
          <a:lstStyle/>
          <a:p>
            <a:pPr>
              <a:defRPr sz="2250" b="0">
                <a:solidFill>
                  <a:srgbClr val="000000"/>
                </a:solidFill>
                <a:latin typeface="Calibri"/>
                <a:ea typeface="Calibri"/>
                <a:cs typeface="Calibri"/>
              </a:defRPr>
            </a:pPr>
            <a:r>
              <a:rPr sz="2250" b="0">
                <a:solidFill>
                  <a:srgbClr val="000000"/>
                </a:solidFill>
                <a:latin typeface="Calibri"/>
                <a:ea typeface="Calibri"/>
                <a:cs typeface="Calibri"/>
              </a:rPr>
              <a:t>Student × Slot</a:t>
            </a:r>
          </a:p>
        </p:txBody>
      </p:sp>
      <p:graphicFrame>
        <p:nvGraphicFramePr>
          <p:cNvPr id="12" name="表格 11"/>
          <p:cNvGraphicFramePr/>
          <p:nvPr/>
        </p:nvGraphicFramePr>
        <p:xfrm>
          <a:off x="819150" y="1714500"/>
          <a:ext cx="5019676" cy="1905000"/>
        </p:xfrm>
        <a:graphic>
          <a:graphicData uri="http://schemas.openxmlformats.org/drawingml/2006/table">
            <a:tbl>
              <a:tblPr/>
              <a:tblGrid>
                <a:gridCol w="1254919">
                  <a:extLst>
                    <a:ext uri="{9D8B030D-6E8A-4147-A177-3AD203B41FA5}">
                      <a16:colId xmlns:a16="http://schemas.microsoft.com/office/drawing/2014/main" val="20000"/>
                    </a:ext>
                  </a:extLst>
                </a:gridCol>
                <a:gridCol w="1254919">
                  <a:extLst>
                    <a:ext uri="{9D8B030D-6E8A-4147-A177-3AD203B41FA5}">
                      <a16:colId xmlns:a16="http://schemas.microsoft.com/office/drawing/2014/main" val="20001"/>
                    </a:ext>
                  </a:extLst>
                </a:gridCol>
                <a:gridCol w="1254919">
                  <a:extLst>
                    <a:ext uri="{9D8B030D-6E8A-4147-A177-3AD203B41FA5}">
                      <a16:colId xmlns:a16="http://schemas.microsoft.com/office/drawing/2014/main" val="20002"/>
                    </a:ext>
                  </a:extLst>
                </a:gridCol>
                <a:gridCol w="1254919">
                  <a:extLst>
                    <a:ext uri="{9D8B030D-6E8A-4147-A177-3AD203B41FA5}">
                      <a16:colId xmlns:a16="http://schemas.microsoft.com/office/drawing/2014/main" val="20003"/>
                    </a:ext>
                  </a:extLst>
                </a:gridCol>
              </a:tblGrid>
              <a:tr h="381000">
                <a:tc>
                  <a:txBody>
                    <a:bodyPr/>
                    <a:lstStyle/>
                    <a:p>
                      <a:pPr algn="ctr"/>
                      <a:r>
                        <a:rPr sz="1800">
                          <a:solidFill>
                            <a:srgbClr val="000000"/>
                          </a:solidFill>
                          <a:latin typeface="Calibri"/>
                          <a:ea typeface="Calibri"/>
                          <a:cs typeface="Calibri"/>
                        </a:rPr>
                        <a:t>sid</a:t>
                      </a:r>
                    </a:p>
                  </a:txBody>
                  <a:tcPr marL="47625" marR="47625" marT="28575" marB="28575" anchor="ctr">
                    <a:solidFill>
                      <a:srgbClr val="D9D9D9"/>
                    </a:solidFill>
                  </a:tcPr>
                </a:tc>
                <a:tc>
                  <a:txBody>
                    <a:bodyPr/>
                    <a:lstStyle/>
                    <a:p>
                      <a:pPr algn="ctr"/>
                      <a:r>
                        <a:rPr sz="1800">
                          <a:solidFill>
                            <a:srgbClr val="000000"/>
                          </a:solidFill>
                          <a:latin typeface="Calibri"/>
                          <a:ea typeface="Calibri"/>
                          <a:cs typeface="Calibri"/>
                        </a:rPr>
                        <a:t>sname</a:t>
                      </a:r>
                    </a:p>
                  </a:txBody>
                  <a:tcPr marL="47625" marR="47625" marT="28575" marB="28575" anchor="ctr">
                    <a:solidFill>
                      <a:srgbClr val="D9D9D9"/>
                    </a:solidFill>
                  </a:tcPr>
                </a:tc>
                <a:tc>
                  <a:txBody>
                    <a:bodyPr/>
                    <a:lstStyle/>
                    <a:p>
                      <a:pPr algn="ctr"/>
                      <a:r>
                        <a:rPr sz="1800">
                          <a:solidFill>
                            <a:srgbClr val="000000"/>
                          </a:solidFill>
                          <a:latin typeface="Calibri"/>
                          <a:ea typeface="Calibri"/>
                          <a:cs typeface="Calibri"/>
                        </a:rPr>
                        <a:t>slot</a:t>
                      </a:r>
                    </a:p>
                  </a:txBody>
                  <a:tcPr marL="47625" marR="47625" marT="28575" marB="28575" anchor="ctr">
                    <a:solidFill>
                      <a:srgbClr val="D9D9D9"/>
                    </a:solidFill>
                  </a:tcPr>
                </a:tc>
                <a:tc>
                  <a:txBody>
                    <a:bodyPr/>
                    <a:lstStyle/>
                    <a:p>
                      <a:pPr algn="ctr"/>
                      <a:r>
                        <a:rPr sz="1800">
                          <a:solidFill>
                            <a:srgbClr val="000000"/>
                          </a:solidFill>
                          <a:latin typeface="Calibri"/>
                          <a:ea typeface="Calibri"/>
                          <a:cs typeface="Calibri"/>
                        </a:rPr>
                        <a:t>day</a:t>
                      </a:r>
                    </a:p>
                  </a:txBody>
                  <a:tcPr marL="47625" marR="47625" marT="28575" marB="28575" anchor="ctr">
                    <a:solidFill>
                      <a:srgbClr val="D9D9D9"/>
                    </a:solidFill>
                  </a:tcPr>
                </a:tc>
                <a:extLst>
                  <a:ext uri="{0D108BD9-81ED-4DB2-BD59-A6C34878D82A}">
                    <a16:rowId xmlns:a16="http://schemas.microsoft.com/office/drawing/2014/main" val="10000"/>
                  </a:ext>
                </a:extLst>
              </a:tr>
              <a:tr h="381000">
                <a:tc>
                  <a:txBody>
                    <a:bodyPr/>
                    <a:lstStyle/>
                    <a:p>
                      <a:pPr algn="ctr"/>
                      <a:r>
                        <a:rPr sz="1800">
                          <a:solidFill>
                            <a:srgbClr val="000000"/>
                          </a:solidFill>
                          <a:latin typeface="Calibri"/>
                          <a:ea typeface="Calibri"/>
                          <a:cs typeface="Calibri"/>
                        </a:rPr>
                        <a:t>11</a:t>
                      </a:r>
                    </a:p>
                  </a:txBody>
                  <a:tcPr marL="47625" marR="47625" marT="28575" marB="28575" anchor="ctr">
                    <a:solidFill>
                      <a:srgbClr val="FFFFFF"/>
                    </a:solidFill>
                  </a:tcPr>
                </a:tc>
                <a:tc>
                  <a:txBody>
                    <a:bodyPr/>
                    <a:lstStyle/>
                    <a:p>
                      <a:pPr algn="ctr"/>
                      <a:r>
                        <a:rPr sz="1800">
                          <a:solidFill>
                            <a:srgbClr val="000000"/>
                          </a:solidFill>
                          <a:latin typeface="Calibri"/>
                          <a:ea typeface="Calibri"/>
                          <a:cs typeface="Calibri"/>
                        </a:rPr>
                        <a:t>Ava</a:t>
                      </a:r>
                    </a:p>
                  </a:txBody>
                  <a:tcPr marL="47625" marR="47625" marT="28575" marB="28575" anchor="ctr">
                    <a:solidFill>
                      <a:srgbClr val="FFFFFF"/>
                    </a:solidFill>
                  </a:tcPr>
                </a:tc>
                <a:tc>
                  <a:txBody>
                    <a:bodyPr/>
                    <a:lstStyle/>
                    <a:p>
                      <a:pPr algn="ctr"/>
                      <a:r>
                        <a:rPr sz="1800">
                          <a:solidFill>
                            <a:srgbClr val="000000"/>
                          </a:solidFill>
                          <a:latin typeface="Calibri"/>
                          <a:ea typeface="Calibri"/>
                          <a:cs typeface="Calibri"/>
                        </a:rPr>
                        <a:t>A</a:t>
                      </a:r>
                    </a:p>
                  </a:txBody>
                  <a:tcPr marL="47625" marR="47625" marT="28575" marB="28575" anchor="ctr">
                    <a:solidFill>
                      <a:srgbClr val="FFFFFF"/>
                    </a:solidFill>
                  </a:tcPr>
                </a:tc>
                <a:tc>
                  <a:txBody>
                    <a:bodyPr/>
                    <a:lstStyle/>
                    <a:p>
                      <a:pPr algn="ctr"/>
                      <a:r>
                        <a:rPr sz="1800">
                          <a:solidFill>
                            <a:srgbClr val="000000"/>
                          </a:solidFill>
                          <a:latin typeface="Calibri"/>
                          <a:ea typeface="Calibri"/>
                          <a:cs typeface="Calibri"/>
                        </a:rPr>
                        <a:t>Mon</a:t>
                      </a:r>
                    </a:p>
                  </a:txBody>
                  <a:tcPr marL="47625" marR="47625" marT="28575" marB="28575" anchor="ctr">
                    <a:solidFill>
                      <a:srgbClr val="FFFFFF"/>
                    </a:solidFill>
                  </a:tcPr>
                </a:tc>
                <a:extLst>
                  <a:ext uri="{0D108BD9-81ED-4DB2-BD59-A6C34878D82A}">
                    <a16:rowId xmlns:a16="http://schemas.microsoft.com/office/drawing/2014/main" val="10001"/>
                  </a:ext>
                </a:extLst>
              </a:tr>
              <a:tr h="381000">
                <a:tc>
                  <a:txBody>
                    <a:bodyPr/>
                    <a:lstStyle/>
                    <a:p>
                      <a:pPr algn="ctr"/>
                      <a:r>
                        <a:rPr sz="1800">
                          <a:solidFill>
                            <a:srgbClr val="000000"/>
                          </a:solidFill>
                          <a:latin typeface="Calibri"/>
                          <a:ea typeface="Calibri"/>
                          <a:cs typeface="Calibri"/>
                        </a:rPr>
                        <a:t>11</a:t>
                      </a:r>
                    </a:p>
                  </a:txBody>
                  <a:tcPr marL="47625" marR="47625" marT="28575" marB="28575" anchor="ctr">
                    <a:solidFill>
                      <a:srgbClr val="FFFFFF"/>
                    </a:solidFill>
                  </a:tcPr>
                </a:tc>
                <a:tc>
                  <a:txBody>
                    <a:bodyPr/>
                    <a:lstStyle/>
                    <a:p>
                      <a:pPr algn="ctr"/>
                      <a:r>
                        <a:rPr sz="1800">
                          <a:solidFill>
                            <a:srgbClr val="000000"/>
                          </a:solidFill>
                          <a:latin typeface="Calibri"/>
                          <a:ea typeface="Calibri"/>
                          <a:cs typeface="Calibri"/>
                        </a:rPr>
                        <a:t>Ava</a:t>
                      </a:r>
                    </a:p>
                  </a:txBody>
                  <a:tcPr marL="47625" marR="47625" marT="28575" marB="28575" anchor="ctr">
                    <a:solidFill>
                      <a:srgbClr val="FFFFFF"/>
                    </a:solidFill>
                  </a:tcPr>
                </a:tc>
                <a:tc>
                  <a:txBody>
                    <a:bodyPr/>
                    <a:lstStyle/>
                    <a:p>
                      <a:pPr algn="ctr"/>
                      <a:r>
                        <a:rPr sz="1800">
                          <a:solidFill>
                            <a:srgbClr val="000000"/>
                          </a:solidFill>
                          <a:latin typeface="Calibri"/>
                          <a:ea typeface="Calibri"/>
                          <a:cs typeface="Calibri"/>
                        </a:rPr>
                        <a:t>B</a:t>
                      </a:r>
                    </a:p>
                  </a:txBody>
                  <a:tcPr marL="47625" marR="47625" marT="28575" marB="28575" anchor="ctr">
                    <a:solidFill>
                      <a:srgbClr val="FFFFFF"/>
                    </a:solidFill>
                  </a:tcPr>
                </a:tc>
                <a:tc>
                  <a:txBody>
                    <a:bodyPr/>
                    <a:lstStyle/>
                    <a:p>
                      <a:pPr algn="ctr"/>
                      <a:r>
                        <a:rPr sz="1800">
                          <a:solidFill>
                            <a:srgbClr val="000000"/>
                          </a:solidFill>
                          <a:latin typeface="Calibri"/>
                          <a:ea typeface="Calibri"/>
                          <a:cs typeface="Calibri"/>
                        </a:rPr>
                        <a:t>Wed</a:t>
                      </a:r>
                    </a:p>
                  </a:txBody>
                  <a:tcPr marL="47625" marR="47625" marT="28575" marB="28575" anchor="ctr">
                    <a:solidFill>
                      <a:srgbClr val="FFFFFF"/>
                    </a:solidFill>
                  </a:tcPr>
                </a:tc>
                <a:extLst>
                  <a:ext uri="{0D108BD9-81ED-4DB2-BD59-A6C34878D82A}">
                    <a16:rowId xmlns:a16="http://schemas.microsoft.com/office/drawing/2014/main" val="10002"/>
                  </a:ext>
                </a:extLst>
              </a:tr>
              <a:tr h="381000">
                <a:tc>
                  <a:txBody>
                    <a:bodyPr/>
                    <a:lstStyle/>
                    <a:p>
                      <a:pPr algn="ctr"/>
                      <a:r>
                        <a:rPr sz="1800">
                          <a:solidFill>
                            <a:srgbClr val="000000"/>
                          </a:solidFill>
                          <a:latin typeface="Calibri"/>
                          <a:ea typeface="Calibri"/>
                          <a:cs typeface="Calibri"/>
                        </a:rPr>
                        <a:t>12</a:t>
                      </a:r>
                    </a:p>
                  </a:txBody>
                  <a:tcPr marL="47625" marR="47625" marT="28575" marB="28575" anchor="ctr">
                    <a:solidFill>
                      <a:srgbClr val="FFFFFF"/>
                    </a:solidFill>
                  </a:tcPr>
                </a:tc>
                <a:tc>
                  <a:txBody>
                    <a:bodyPr/>
                    <a:lstStyle/>
                    <a:p>
                      <a:pPr algn="ctr"/>
                      <a:r>
                        <a:rPr sz="1800">
                          <a:solidFill>
                            <a:srgbClr val="000000"/>
                          </a:solidFill>
                          <a:latin typeface="Calibri"/>
                          <a:ea typeface="Calibri"/>
                          <a:cs typeface="Calibri"/>
                        </a:rPr>
                        <a:t>Ben</a:t>
                      </a:r>
                    </a:p>
                  </a:txBody>
                  <a:tcPr marL="47625" marR="47625" marT="28575" marB="28575" anchor="ctr">
                    <a:solidFill>
                      <a:srgbClr val="FFFFFF"/>
                    </a:solidFill>
                  </a:tcPr>
                </a:tc>
                <a:tc>
                  <a:txBody>
                    <a:bodyPr/>
                    <a:lstStyle/>
                    <a:p>
                      <a:pPr algn="ctr"/>
                      <a:r>
                        <a:rPr sz="1800">
                          <a:solidFill>
                            <a:srgbClr val="000000"/>
                          </a:solidFill>
                          <a:latin typeface="Calibri"/>
                          <a:ea typeface="Calibri"/>
                          <a:cs typeface="Calibri"/>
                        </a:rPr>
                        <a:t>A</a:t>
                      </a:r>
                    </a:p>
                  </a:txBody>
                  <a:tcPr marL="47625" marR="47625" marT="28575" marB="28575" anchor="ctr">
                    <a:solidFill>
                      <a:srgbClr val="FFFFFF"/>
                    </a:solidFill>
                  </a:tcPr>
                </a:tc>
                <a:tc>
                  <a:txBody>
                    <a:bodyPr/>
                    <a:lstStyle/>
                    <a:p>
                      <a:pPr algn="ctr"/>
                      <a:r>
                        <a:rPr sz="1800">
                          <a:solidFill>
                            <a:srgbClr val="000000"/>
                          </a:solidFill>
                          <a:latin typeface="Calibri"/>
                          <a:ea typeface="Calibri"/>
                          <a:cs typeface="Calibri"/>
                        </a:rPr>
                        <a:t>Mon</a:t>
                      </a:r>
                    </a:p>
                  </a:txBody>
                  <a:tcPr marL="47625" marR="47625" marT="28575" marB="28575" anchor="ctr">
                    <a:solidFill>
                      <a:srgbClr val="FFFFFF"/>
                    </a:solidFill>
                  </a:tcPr>
                </a:tc>
                <a:extLst>
                  <a:ext uri="{0D108BD9-81ED-4DB2-BD59-A6C34878D82A}">
                    <a16:rowId xmlns:a16="http://schemas.microsoft.com/office/drawing/2014/main" val="10003"/>
                  </a:ext>
                </a:extLst>
              </a:tr>
              <a:tr h="381000">
                <a:tc>
                  <a:txBody>
                    <a:bodyPr/>
                    <a:lstStyle/>
                    <a:p>
                      <a:pPr algn="ctr"/>
                      <a:r>
                        <a:rPr sz="1800">
                          <a:solidFill>
                            <a:srgbClr val="000000"/>
                          </a:solidFill>
                          <a:latin typeface="Calibri"/>
                          <a:ea typeface="Calibri"/>
                          <a:cs typeface="Calibri"/>
                        </a:rPr>
                        <a:t>12</a:t>
                      </a:r>
                    </a:p>
                  </a:txBody>
                  <a:tcPr marL="47625" marR="47625" marT="28575" marB="28575" anchor="ctr">
                    <a:solidFill>
                      <a:srgbClr val="FFFFFF"/>
                    </a:solidFill>
                  </a:tcPr>
                </a:tc>
                <a:tc>
                  <a:txBody>
                    <a:bodyPr/>
                    <a:lstStyle/>
                    <a:p>
                      <a:pPr algn="ctr"/>
                      <a:r>
                        <a:rPr sz="1800">
                          <a:solidFill>
                            <a:srgbClr val="000000"/>
                          </a:solidFill>
                          <a:latin typeface="Calibri"/>
                          <a:ea typeface="Calibri"/>
                          <a:cs typeface="Calibri"/>
                        </a:rPr>
                        <a:t>Ben</a:t>
                      </a:r>
                    </a:p>
                  </a:txBody>
                  <a:tcPr marL="47625" marR="47625" marT="28575" marB="28575" anchor="ctr">
                    <a:solidFill>
                      <a:srgbClr val="FFFFFF"/>
                    </a:solidFill>
                  </a:tcPr>
                </a:tc>
                <a:tc>
                  <a:txBody>
                    <a:bodyPr/>
                    <a:lstStyle/>
                    <a:p>
                      <a:pPr algn="ctr"/>
                      <a:r>
                        <a:rPr sz="1800">
                          <a:solidFill>
                            <a:srgbClr val="000000"/>
                          </a:solidFill>
                          <a:latin typeface="Calibri"/>
                          <a:ea typeface="Calibri"/>
                          <a:cs typeface="Calibri"/>
                        </a:rPr>
                        <a:t>B</a:t>
                      </a:r>
                    </a:p>
                  </a:txBody>
                  <a:tcPr marL="47625" marR="47625" marT="28575" marB="28575" anchor="ctr">
                    <a:solidFill>
                      <a:srgbClr val="FFFFFF"/>
                    </a:solidFill>
                  </a:tcPr>
                </a:tc>
                <a:tc>
                  <a:txBody>
                    <a:bodyPr/>
                    <a:lstStyle/>
                    <a:p>
                      <a:pPr algn="ctr"/>
                      <a:r>
                        <a:rPr sz="1800">
                          <a:solidFill>
                            <a:srgbClr val="000000"/>
                          </a:solidFill>
                          <a:latin typeface="Calibri"/>
                          <a:ea typeface="Calibri"/>
                          <a:cs typeface="Calibri"/>
                        </a:rPr>
                        <a:t>Wed</a:t>
                      </a:r>
                    </a:p>
                  </a:txBody>
                  <a:tcPr marL="47625" marR="47625" marT="28575" marB="28575" anchor="ctr">
                    <a:solidFill>
                      <a:srgbClr val="FFFFFF"/>
                    </a:solidFill>
                  </a:tcPr>
                </a:tc>
                <a:extLst>
                  <a:ext uri="{0D108BD9-81ED-4DB2-BD59-A6C34878D82A}">
                    <a16:rowId xmlns:a16="http://schemas.microsoft.com/office/drawing/2014/main" val="10004"/>
                  </a:ext>
                </a:extLst>
              </a:tr>
            </a:tbl>
          </a:graphicData>
        </a:graphic>
      </p:graphicFrame>
      <p:sp>
        <p:nvSpPr>
          <p:cNvPr id="5" name="body">
            <a:extLst>
              <a:ext uri="{FF2B5EF4-FFF2-40B4-BE49-F238E27FC236}">
                <a16:creationId xmlns:a16="http://schemas.microsoft.com/office/drawing/2014/main" id="{47DDC0C1-90E0-494E-AED3-E5313D0455DB}"/>
              </a:ext>
            </a:extLst>
          </p:cNvPr>
          <p:cNvSpPr>
            <a:spLocks noGrp="1"/>
          </p:cNvSpPr>
          <p:nvPr/>
        </p:nvSpPr>
        <p:spPr>
          <a:xfrm>
            <a:off x="6334125" y="1295400"/>
            <a:ext cx="1714500" cy="361950"/>
          </a:xfrm>
          <a:prstGeom prst="rect">
            <a:avLst/>
          </a:prstGeom>
          <a:noFill/>
          <a:ln w="0">
            <a:noFill/>
          </a:ln>
        </p:spPr>
        <p:txBody>
          <a:bodyPr wrap="square" lIns="0" tIns="0" rIns="0" bIns="0">
            <a:noAutofit/>
          </a:bodyPr>
          <a:lstStyle/>
          <a:p>
            <a:pPr>
              <a:defRPr sz="2250" b="0">
                <a:solidFill>
                  <a:srgbClr val="000000"/>
                </a:solidFill>
                <a:latin typeface="Calibri"/>
                <a:ea typeface="Calibri"/>
                <a:cs typeface="Calibri"/>
              </a:defRPr>
            </a:pPr>
            <a:r>
              <a:rPr sz="2250" b="0">
                <a:solidFill>
                  <a:srgbClr val="000000"/>
                </a:solidFill>
                <a:latin typeface="Calibri"/>
                <a:ea typeface="Calibri"/>
                <a:cs typeface="Calibri"/>
              </a:rPr>
              <a:t>Result</a:t>
            </a:r>
          </a:p>
        </p:txBody>
      </p:sp>
      <p:graphicFrame>
        <p:nvGraphicFramePr>
          <p:cNvPr id="14" name="表格 13"/>
          <p:cNvGraphicFramePr/>
          <p:nvPr/>
        </p:nvGraphicFramePr>
        <p:xfrm>
          <a:off x="6410325" y="1714500"/>
          <a:ext cx="1714500" cy="1285875"/>
        </p:xfrm>
        <a:graphic>
          <a:graphicData uri="http://schemas.openxmlformats.org/drawingml/2006/table">
            <a:tbl>
              <a:tblPr/>
              <a:tblGrid>
                <a:gridCol w="1714500">
                  <a:extLst>
                    <a:ext uri="{9D8B030D-6E8A-4147-A177-3AD203B41FA5}">
                      <a16:colId xmlns:a16="http://schemas.microsoft.com/office/drawing/2014/main" val="20000"/>
                    </a:ext>
                  </a:extLst>
                </a:gridCol>
              </a:tblGrid>
              <a:tr h="428625">
                <a:tc>
                  <a:txBody>
                    <a:bodyPr/>
                    <a:lstStyle/>
                    <a:p>
                      <a:pPr algn="ctr"/>
                      <a:r>
                        <a:rPr sz="2100">
                          <a:solidFill>
                            <a:srgbClr val="000000"/>
                          </a:solidFill>
                          <a:latin typeface="Calibri"/>
                          <a:ea typeface="Calibri"/>
                          <a:cs typeface="Calibri"/>
                        </a:rPr>
                        <a:t>sid</a:t>
                      </a:r>
                    </a:p>
                  </a:txBody>
                  <a:tcPr marL="47625" marR="47625" marT="28575" marB="28575" anchor="ctr">
                    <a:solidFill>
                      <a:srgbClr val="D9D9D9"/>
                    </a:solidFill>
                  </a:tcPr>
                </a:tc>
                <a:extLst>
                  <a:ext uri="{0D108BD9-81ED-4DB2-BD59-A6C34878D82A}">
                    <a16:rowId xmlns:a16="http://schemas.microsoft.com/office/drawing/2014/main" val="10000"/>
                  </a:ext>
                </a:extLst>
              </a:tr>
              <a:tr h="428625">
                <a:tc>
                  <a:txBody>
                    <a:bodyPr/>
                    <a:lstStyle/>
                    <a:p>
                      <a:pPr algn="ctr"/>
                      <a:r>
                        <a:rPr sz="2100">
                          <a:solidFill>
                            <a:srgbClr val="000000"/>
                          </a:solidFill>
                          <a:latin typeface="Calibri"/>
                          <a:ea typeface="Calibri"/>
                          <a:cs typeface="Calibri"/>
                        </a:rPr>
                        <a:t>11</a:t>
                      </a:r>
                    </a:p>
                  </a:txBody>
                  <a:tcPr marL="47625" marR="47625" marT="28575" marB="28575" anchor="ctr">
                    <a:solidFill>
                      <a:srgbClr val="FFFFFF"/>
                    </a:solidFill>
                  </a:tcPr>
                </a:tc>
                <a:extLst>
                  <a:ext uri="{0D108BD9-81ED-4DB2-BD59-A6C34878D82A}">
                    <a16:rowId xmlns:a16="http://schemas.microsoft.com/office/drawing/2014/main" val="10001"/>
                  </a:ext>
                </a:extLst>
              </a:tr>
              <a:tr h="428625">
                <a:tc>
                  <a:txBody>
                    <a:bodyPr/>
                    <a:lstStyle/>
                    <a:p>
                      <a:pPr algn="ctr"/>
                      <a:r>
                        <a:rPr sz="2100">
                          <a:solidFill>
                            <a:srgbClr val="000000"/>
                          </a:solidFill>
                          <a:latin typeface="Calibri"/>
                          <a:ea typeface="Calibri"/>
                          <a:cs typeface="Calibri"/>
                        </a:rPr>
                        <a:t>12</a:t>
                      </a:r>
                    </a:p>
                  </a:txBody>
                  <a:tcPr marL="47625" marR="47625" marT="28575" marB="28575" anchor="ctr">
                    <a:solidFill>
                      <a:srgbClr val="FFFFFF"/>
                    </a:solidFill>
                  </a:tcPr>
                </a:tc>
                <a:extLst>
                  <a:ext uri="{0D108BD9-81ED-4DB2-BD59-A6C34878D82A}">
                    <a16:rowId xmlns:a16="http://schemas.microsoft.com/office/drawing/2014/main" val="10002"/>
                  </a:ext>
                </a:extLst>
              </a:tr>
            </a:tbl>
          </a:graphicData>
        </a:graphic>
      </p:graphicFrame>
      <p:sp>
        <p:nvSpPr>
          <p:cNvPr id="7" name="body">
            <a:extLst>
              <a:ext uri="{FF2B5EF4-FFF2-40B4-BE49-F238E27FC236}">
                <a16:creationId xmlns:a16="http://schemas.microsoft.com/office/drawing/2014/main" id="{C55E9215-3305-494B-A24F-8A4F746D94CB}"/>
              </a:ext>
            </a:extLst>
          </p:cNvPr>
          <p:cNvSpPr>
            <a:spLocks noGrp="1"/>
          </p:cNvSpPr>
          <p:nvPr/>
        </p:nvSpPr>
        <p:spPr>
          <a:xfrm>
            <a:off x="781050" y="4181475"/>
            <a:ext cx="7600950" cy="952500"/>
          </a:xfrm>
          <a:prstGeom prst="rect">
            <a:avLst/>
          </a:prstGeom>
          <a:noFill/>
          <a:ln w="0">
            <a:noFill/>
          </a:ln>
        </p:spPr>
        <p:txBody>
          <a:bodyPr wrap="square" lIns="0" tIns="0" rIns="0" bIns="0">
            <a:noAutofit/>
          </a:bodyPr>
          <a:lstStyle/>
          <a:p>
            <a:pPr>
              <a:defRPr sz="2175" b="0">
                <a:solidFill>
                  <a:srgbClr val="000000"/>
                </a:solidFill>
                <a:latin typeface="Calibri"/>
                <a:ea typeface="Calibri"/>
                <a:cs typeface="Calibri"/>
              </a:defRPr>
            </a:pPr>
            <a:r>
              <a:rPr sz="2175" b="0">
                <a:solidFill>
                  <a:srgbClr val="000000"/>
                </a:solidFill>
                <a:latin typeface="Calibri"/>
                <a:ea typeface="Calibri"/>
                <a:cs typeface="Calibri"/>
              </a:rPr>
              <a:t>For these inputs, both expressions return { (11), (12) }.</a:t>
            </a:r>
          </a:p>
        </p:txBody>
      </p:sp>
      <p:sp>
        <p:nvSpPr>
          <p:cNvPr id="8" name="body">
            <a:extLst>
              <a:ext uri="{FF2B5EF4-FFF2-40B4-BE49-F238E27FC236}">
                <a16:creationId xmlns:a16="http://schemas.microsoft.com/office/drawing/2014/main" id="{8EA9F411-90CA-4940-96C7-BD863F35E91D}"/>
              </a:ext>
            </a:extLst>
          </p:cNvPr>
          <p:cNvSpPr>
            <a:spLocks noGrp="1"/>
          </p:cNvSpPr>
          <p:nvPr/>
        </p:nvSpPr>
        <p:spPr>
          <a:xfrm>
            <a:off x="781050" y="4991100"/>
            <a:ext cx="7600950" cy="952500"/>
          </a:xfrm>
          <a:prstGeom prst="rect">
            <a:avLst/>
          </a:prstGeom>
          <a:noFill/>
          <a:ln w="0">
            <a:noFill/>
          </a:ln>
        </p:spPr>
        <p:txBody>
          <a:bodyPr wrap="square" lIns="0" tIns="0" rIns="0" bIns="0">
            <a:noAutofit/>
          </a:bodyPr>
          <a:lstStyle/>
          <a:p>
            <a:pPr>
              <a:defRPr sz="2175" b="0">
                <a:solidFill>
                  <a:srgbClr val="FF0000"/>
                </a:solidFill>
                <a:latin typeface="Calibri"/>
                <a:ea typeface="Calibri"/>
                <a:cs typeface="Calibri"/>
              </a:defRPr>
            </a:pPr>
            <a:r>
              <a:rPr sz="2175" b="0" dirty="0">
                <a:solidFill>
                  <a:srgbClr val="FF0000"/>
                </a:solidFill>
                <a:latin typeface="Calibri"/>
                <a:ea typeface="Calibri"/>
                <a:cs typeface="Calibri"/>
              </a:rPr>
              <a:t>Counterexample: if Slot = ∅, Student × Slot = ∅. Its projection is empty even when Student is nonempty.</a:t>
            </a:r>
          </a:p>
        </p:txBody>
      </p:sp>
      <p:sp>
        <p:nvSpPr>
          <p:cNvPr id="9001" name="Title 1">
            <a:extLst>
              <a:ext uri="{FF2B5EF4-FFF2-40B4-BE49-F238E27FC236}">
                <a16:creationId xmlns:a16="http://schemas.microsoft.com/office/drawing/2014/main" id="{4EF27E5C-9C4D-BDBE-7667-D0B141BCC8F5}"/>
              </a:ext>
            </a:extLst>
          </p:cNvPr>
          <p:cNvSpPr>
            <a:spLocks noGrp="1"/>
          </p:cNvSpPr>
          <p:nvPr>
            <p:ph type="title"/>
          </p:nvPr>
        </p:nvSpPr>
        <p:spPr/>
        <p:txBody>
          <a:bodyPr/>
          <a:lstStyle/>
          <a:p>
            <a:r>
              <a:rPr lang="en-US">
                <a:solidFill>
                  <a:srgbClr val="FF0000"/>
                </a:solidFill>
              </a:rPr>
              <a:t>Solutions: </a:t>
            </a:r>
            <a:r>
              <a:rPr lang="en-US">
                <a:solidFill>
                  <a:srgbClr val="3333CC"/>
                </a:solidFill>
              </a:rPr>
              <a:t>Q16</a:t>
            </a:r>
          </a:p>
        </p:txBody>
      </p:sp>
      <p:sp>
        <p:nvSpPr>
          <p:cNvPr id="9002" name="Slide Number Placeholder 1">
            <a:extLst>
              <a:ext uri="{FF2B5EF4-FFF2-40B4-BE49-F238E27FC236}">
                <a16:creationId xmlns:a16="http://schemas.microsoft.com/office/drawing/2014/main" id="{B90139AC-3BDA-723A-097A-000DA0A784C1}"/>
              </a:ext>
            </a:extLst>
          </p:cNvPr>
          <p:cNvSpPr>
            <a:spLocks noGrp="1"/>
          </p:cNvSpPr>
          <p:nvPr>
            <p:ph type="sldNum" sz="quarter" idx="12"/>
          </p:nvPr>
        </p:nvSpPr>
        <p:spPr/>
        <p:txBody>
          <a:bodyPr/>
          <a:lstStyle/>
          <a:p>
            <a:pPr>
              <a:defRPr/>
            </a:pPr>
            <a:fld id="{43CA101F-9E5F-9249-9862-3CE55B3BB777}" type="slidenum">
              <a:rPr lang="en-US" altLang="zh-TW" smtClean="0"/>
              <a:pPr>
                <a:defRPr/>
              </a:pPr>
              <a:t>44</a:t>
            </a:fld>
            <a:endParaRPr lang="en-US" altLang="zh-TW"/>
          </a:p>
        </p:txBody>
      </p:sp>
    </p:spTree>
    <p:extLst>
      <p:ext uri="{BB962C8B-B14F-4D97-AF65-F5344CB8AC3E}">
        <p14:creationId xmlns:p14="http://schemas.microsoft.com/office/powerpoint/2010/main" val="116194543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formula">
            <a:extLst>
              <a:ext uri="{FF2B5EF4-FFF2-40B4-BE49-F238E27FC236}">
                <a16:creationId xmlns:a16="http://schemas.microsoft.com/office/drawing/2014/main" id="{0FCC6726-7F46-49EF-AF0D-C6BE3D73B18C}"/>
              </a:ext>
            </a:extLst>
          </p:cNvPr>
          <p:cNvSpPr>
            <a:spLocks noGrp="1"/>
          </p:cNvSpPr>
          <p:nvPr/>
        </p:nvSpPr>
        <p:spPr>
          <a:xfrm>
            <a:off x="1047750" y="1181100"/>
            <a:ext cx="7286625" cy="523875"/>
          </a:xfrm>
          <a:prstGeom prst="rect">
            <a:avLst/>
          </a:prstGeom>
          <a:noFill/>
          <a:ln w="0">
            <a:noFill/>
          </a:ln>
        </p:spPr>
        <p:txBody>
          <a:bodyPr wrap="square" lIns="0" tIns="0" rIns="0" bIns="0">
            <a:noAutofit/>
          </a:bodyPr>
          <a:lstStyle/>
          <a:p>
            <a:pPr>
              <a:defRPr sz="2625" b="0">
                <a:solidFill>
                  <a:srgbClr val="000000"/>
                </a:solidFill>
                <a:latin typeface="Cambria Math"/>
                <a:ea typeface="Cambria Math"/>
                <a:cs typeface="Cambria Math"/>
              </a:defRPr>
            </a:pPr>
            <a:r>
              <a:rPr sz="2625" b="0">
                <a:solidFill>
                  <a:srgbClr val="000000"/>
                </a:solidFill>
                <a:latin typeface="Cambria Math"/>
                <a:ea typeface="Cambria Math"/>
                <a:cs typeface="Cambria Math"/>
              </a:rPr>
              <a:t>R ⋈</a:t>
            </a:r>
            <a:r>
              <a:rPr sz="1864" b="0" baseline="-25000">
                <a:solidFill>
                  <a:srgbClr val="000000"/>
                </a:solidFill>
                <a:latin typeface="Cambria Math"/>
                <a:ea typeface="Cambria Math"/>
                <a:cs typeface="Cambria Math"/>
              </a:rPr>
              <a:t>c</a:t>
            </a:r>
            <a:r>
              <a:rPr sz="2625" b="0">
                <a:solidFill>
                  <a:srgbClr val="000000"/>
                </a:solidFill>
                <a:latin typeface="Cambria Math"/>
                <a:ea typeface="Cambria Math"/>
                <a:cs typeface="Cambria Math"/>
              </a:rPr>
              <a:t> S = σ</a:t>
            </a:r>
            <a:r>
              <a:rPr sz="1864" b="0" baseline="-25000">
                <a:solidFill>
                  <a:srgbClr val="000000"/>
                </a:solidFill>
                <a:latin typeface="Cambria Math"/>
                <a:ea typeface="Cambria Math"/>
                <a:cs typeface="Cambria Math"/>
              </a:rPr>
              <a:t>c</a:t>
            </a:r>
            <a:r>
              <a:rPr sz="2625" b="0">
                <a:solidFill>
                  <a:srgbClr val="000000"/>
                </a:solidFill>
                <a:latin typeface="Cambria Math"/>
                <a:ea typeface="Cambria Math"/>
                <a:cs typeface="Cambria Math"/>
              </a:rPr>
              <a:t>(R × S)</a:t>
            </a:r>
          </a:p>
        </p:txBody>
      </p:sp>
      <p:sp>
        <p:nvSpPr>
          <p:cNvPr id="4" name="body">
            <a:extLst>
              <a:ext uri="{FF2B5EF4-FFF2-40B4-BE49-F238E27FC236}">
                <a16:creationId xmlns:a16="http://schemas.microsoft.com/office/drawing/2014/main" id="{193E497C-0003-44AA-B8B5-823BCAFFCE8A}"/>
              </a:ext>
            </a:extLst>
          </p:cNvPr>
          <p:cNvSpPr>
            <a:spLocks noGrp="1"/>
          </p:cNvSpPr>
          <p:nvPr/>
        </p:nvSpPr>
        <p:spPr>
          <a:xfrm>
            <a:off x="781050" y="2276475"/>
            <a:ext cx="219075" cy="400050"/>
          </a:xfrm>
          <a:prstGeom prst="rect">
            <a:avLst/>
          </a:prstGeom>
          <a:noFill/>
          <a:ln w="0">
            <a:noFill/>
          </a:ln>
        </p:spPr>
        <p:txBody>
          <a:bodyPr wrap="square" lIns="0" tIns="0" rIns="0" bIns="0">
            <a:noAutofit/>
          </a:bodyPr>
          <a:lstStyle/>
          <a:p>
            <a:pPr>
              <a:defRPr sz="2250" b="0">
                <a:solidFill>
                  <a:srgbClr val="000000"/>
                </a:solidFill>
                <a:latin typeface="Calibri"/>
                <a:ea typeface="Calibri"/>
                <a:cs typeface="Calibri"/>
              </a:defRPr>
            </a:pPr>
            <a:r>
              <a:rPr sz="2250" b="0">
                <a:solidFill>
                  <a:srgbClr val="000000"/>
                </a:solidFill>
                <a:latin typeface="Calibri"/>
                <a:ea typeface="Calibri"/>
                <a:cs typeface="Calibri"/>
              </a:rPr>
              <a:t>•</a:t>
            </a:r>
          </a:p>
        </p:txBody>
      </p:sp>
      <p:sp>
        <p:nvSpPr>
          <p:cNvPr id="5" name="body">
            <a:extLst>
              <a:ext uri="{FF2B5EF4-FFF2-40B4-BE49-F238E27FC236}">
                <a16:creationId xmlns:a16="http://schemas.microsoft.com/office/drawing/2014/main" id="{A917435B-584F-4D8A-8107-9099F73A1126}"/>
              </a:ext>
            </a:extLst>
          </p:cNvPr>
          <p:cNvSpPr>
            <a:spLocks noGrp="1"/>
          </p:cNvSpPr>
          <p:nvPr/>
        </p:nvSpPr>
        <p:spPr>
          <a:xfrm>
            <a:off x="1104900" y="2276475"/>
            <a:ext cx="7239000" cy="952500"/>
          </a:xfrm>
          <a:prstGeom prst="rect">
            <a:avLst/>
          </a:prstGeom>
          <a:noFill/>
          <a:ln w="0">
            <a:noFill/>
          </a:ln>
        </p:spPr>
        <p:txBody>
          <a:bodyPr wrap="square" lIns="0" tIns="0" rIns="0" bIns="0">
            <a:noAutofit/>
          </a:bodyPr>
          <a:lstStyle/>
          <a:p>
            <a:pPr>
              <a:defRPr sz="2250" b="0">
                <a:solidFill>
                  <a:srgbClr val="000000"/>
                </a:solidFill>
                <a:latin typeface="Calibri"/>
                <a:ea typeface="Calibri"/>
                <a:cs typeface="Calibri"/>
              </a:defRPr>
            </a:pPr>
            <a:r>
              <a:rPr sz="2250" b="0">
                <a:solidFill>
                  <a:srgbClr val="000000"/>
                </a:solidFill>
                <a:latin typeface="Calibri"/>
                <a:ea typeface="Calibri"/>
                <a:cs typeface="Calibri"/>
              </a:rPr>
              <a:t>The condition c compares attributes and/or constants.</a:t>
            </a:r>
          </a:p>
        </p:txBody>
      </p:sp>
      <p:sp>
        <p:nvSpPr>
          <p:cNvPr id="6" name="body">
            <a:extLst>
              <a:ext uri="{FF2B5EF4-FFF2-40B4-BE49-F238E27FC236}">
                <a16:creationId xmlns:a16="http://schemas.microsoft.com/office/drawing/2014/main" id="{816EC697-F821-4E3F-B39C-8AEBC9DFBC88}"/>
              </a:ext>
            </a:extLst>
          </p:cNvPr>
          <p:cNvSpPr>
            <a:spLocks noGrp="1"/>
          </p:cNvSpPr>
          <p:nvPr/>
        </p:nvSpPr>
        <p:spPr>
          <a:xfrm>
            <a:off x="781050" y="3152775"/>
            <a:ext cx="219075" cy="400050"/>
          </a:xfrm>
          <a:prstGeom prst="rect">
            <a:avLst/>
          </a:prstGeom>
          <a:noFill/>
          <a:ln w="0">
            <a:noFill/>
          </a:ln>
        </p:spPr>
        <p:txBody>
          <a:bodyPr wrap="square" lIns="0" tIns="0" rIns="0" bIns="0">
            <a:noAutofit/>
          </a:bodyPr>
          <a:lstStyle/>
          <a:p>
            <a:pPr>
              <a:defRPr sz="2250" b="0">
                <a:solidFill>
                  <a:srgbClr val="000000"/>
                </a:solidFill>
                <a:latin typeface="Calibri"/>
                <a:ea typeface="Calibri"/>
                <a:cs typeface="Calibri"/>
              </a:defRPr>
            </a:pPr>
            <a:r>
              <a:rPr sz="2250" b="0">
                <a:solidFill>
                  <a:srgbClr val="000000"/>
                </a:solidFill>
                <a:latin typeface="Calibri"/>
                <a:ea typeface="Calibri"/>
                <a:cs typeface="Calibri"/>
              </a:rPr>
              <a:t>•</a:t>
            </a:r>
          </a:p>
        </p:txBody>
      </p:sp>
      <p:sp>
        <p:nvSpPr>
          <p:cNvPr id="7" name="body">
            <a:extLst>
              <a:ext uri="{FF2B5EF4-FFF2-40B4-BE49-F238E27FC236}">
                <a16:creationId xmlns:a16="http://schemas.microsoft.com/office/drawing/2014/main" id="{CEDF1EE6-3F00-4250-821F-41B6A12B88E1}"/>
              </a:ext>
            </a:extLst>
          </p:cNvPr>
          <p:cNvSpPr>
            <a:spLocks noGrp="1"/>
          </p:cNvSpPr>
          <p:nvPr/>
        </p:nvSpPr>
        <p:spPr>
          <a:xfrm>
            <a:off x="1104900" y="3152775"/>
            <a:ext cx="7239000" cy="952500"/>
          </a:xfrm>
          <a:prstGeom prst="rect">
            <a:avLst/>
          </a:prstGeom>
          <a:noFill/>
          <a:ln w="0">
            <a:noFill/>
          </a:ln>
        </p:spPr>
        <p:txBody>
          <a:bodyPr wrap="square" lIns="0" tIns="0" rIns="0" bIns="0">
            <a:noAutofit/>
          </a:bodyPr>
          <a:lstStyle/>
          <a:p>
            <a:pPr>
              <a:defRPr sz="2250" b="0">
                <a:solidFill>
                  <a:srgbClr val="000000"/>
                </a:solidFill>
                <a:latin typeface="Calibri"/>
                <a:ea typeface="Calibri"/>
                <a:cs typeface="Calibri"/>
              </a:defRPr>
            </a:pPr>
            <a:r>
              <a:rPr sz="2250" b="0">
                <a:solidFill>
                  <a:srgbClr val="000000"/>
                </a:solidFill>
                <a:latin typeface="Calibri"/>
                <a:ea typeface="Calibri"/>
                <a:cs typeface="Calibri"/>
              </a:rPr>
              <a:t>It can use =, ≠, &lt;, ≤, &gt; or ≥.</a:t>
            </a:r>
          </a:p>
        </p:txBody>
      </p:sp>
      <p:sp>
        <p:nvSpPr>
          <p:cNvPr id="8" name="body">
            <a:extLst>
              <a:ext uri="{FF2B5EF4-FFF2-40B4-BE49-F238E27FC236}">
                <a16:creationId xmlns:a16="http://schemas.microsoft.com/office/drawing/2014/main" id="{BBBDEC3C-322A-41E7-8A2B-303538E12CD6}"/>
              </a:ext>
            </a:extLst>
          </p:cNvPr>
          <p:cNvSpPr>
            <a:spLocks noGrp="1"/>
          </p:cNvSpPr>
          <p:nvPr/>
        </p:nvSpPr>
        <p:spPr>
          <a:xfrm>
            <a:off x="781050" y="4057650"/>
            <a:ext cx="219075" cy="400050"/>
          </a:xfrm>
          <a:prstGeom prst="rect">
            <a:avLst/>
          </a:prstGeom>
          <a:noFill/>
          <a:ln w="0">
            <a:noFill/>
          </a:ln>
        </p:spPr>
        <p:txBody>
          <a:bodyPr wrap="square" lIns="0" tIns="0" rIns="0" bIns="0">
            <a:noAutofit/>
          </a:bodyPr>
          <a:lstStyle/>
          <a:p>
            <a:pPr>
              <a:defRPr sz="2250" b="0">
                <a:solidFill>
                  <a:srgbClr val="000000"/>
                </a:solidFill>
                <a:latin typeface="Calibri"/>
                <a:ea typeface="Calibri"/>
                <a:cs typeface="Calibri"/>
              </a:defRPr>
            </a:pPr>
            <a:r>
              <a:rPr sz="2250" b="0">
                <a:solidFill>
                  <a:srgbClr val="000000"/>
                </a:solidFill>
                <a:latin typeface="Calibri"/>
                <a:ea typeface="Calibri"/>
                <a:cs typeface="Calibri"/>
              </a:rPr>
              <a:t>•</a:t>
            </a:r>
          </a:p>
        </p:txBody>
      </p:sp>
      <p:sp>
        <p:nvSpPr>
          <p:cNvPr id="9" name="body">
            <a:extLst>
              <a:ext uri="{FF2B5EF4-FFF2-40B4-BE49-F238E27FC236}">
                <a16:creationId xmlns:a16="http://schemas.microsoft.com/office/drawing/2014/main" id="{18A3D440-9843-4801-940E-BAF20C7961B1}"/>
              </a:ext>
            </a:extLst>
          </p:cNvPr>
          <p:cNvSpPr>
            <a:spLocks noGrp="1"/>
          </p:cNvSpPr>
          <p:nvPr/>
        </p:nvSpPr>
        <p:spPr>
          <a:xfrm>
            <a:off x="1104900" y="4057650"/>
            <a:ext cx="7239000" cy="952500"/>
          </a:xfrm>
          <a:prstGeom prst="rect">
            <a:avLst/>
          </a:prstGeom>
          <a:noFill/>
          <a:ln w="0">
            <a:noFill/>
          </a:ln>
        </p:spPr>
        <p:txBody>
          <a:bodyPr wrap="square" lIns="0" tIns="0" rIns="0" bIns="0">
            <a:noAutofit/>
          </a:bodyPr>
          <a:lstStyle/>
          <a:p>
            <a:pPr>
              <a:defRPr sz="2250" b="0">
                <a:solidFill>
                  <a:srgbClr val="000000"/>
                </a:solidFill>
                <a:latin typeface="Calibri"/>
                <a:ea typeface="Calibri"/>
                <a:cs typeface="Calibri"/>
              </a:defRPr>
            </a:pPr>
            <a:r>
              <a:rPr sz="2250" b="0" dirty="0">
                <a:solidFill>
                  <a:srgbClr val="000000"/>
                </a:solidFill>
                <a:latin typeface="Calibri"/>
                <a:ea typeface="Calibri"/>
                <a:cs typeface="Calibri"/>
              </a:rPr>
              <a:t>Only tuple pairs satisfying c appear in the result.</a:t>
            </a:r>
          </a:p>
        </p:txBody>
      </p:sp>
      <p:sp>
        <p:nvSpPr>
          <p:cNvPr id="10" name="body">
            <a:extLst>
              <a:ext uri="{FF2B5EF4-FFF2-40B4-BE49-F238E27FC236}">
                <a16:creationId xmlns:a16="http://schemas.microsoft.com/office/drawing/2014/main" id="{5D9EC50F-36FD-44B6-AFE1-6D5E0C32E30A}"/>
              </a:ext>
            </a:extLst>
          </p:cNvPr>
          <p:cNvSpPr>
            <a:spLocks noGrp="1"/>
          </p:cNvSpPr>
          <p:nvPr/>
        </p:nvSpPr>
        <p:spPr>
          <a:xfrm>
            <a:off x="781050" y="5191125"/>
            <a:ext cx="7600950" cy="952500"/>
          </a:xfrm>
          <a:prstGeom prst="rect">
            <a:avLst/>
          </a:prstGeom>
          <a:noFill/>
          <a:ln w="0">
            <a:noFill/>
          </a:ln>
        </p:spPr>
        <p:txBody>
          <a:bodyPr wrap="square" lIns="0" tIns="0" rIns="0" bIns="0">
            <a:noAutofit/>
          </a:bodyPr>
          <a:lstStyle/>
          <a:p>
            <a:pPr>
              <a:defRPr sz="2100" b="0">
                <a:solidFill>
                  <a:srgbClr val="FF0000"/>
                </a:solidFill>
                <a:latin typeface="Calibri"/>
                <a:ea typeface="Calibri"/>
                <a:cs typeface="Calibri"/>
              </a:defRPr>
            </a:pPr>
            <a:r>
              <a:rPr sz="2100" b="0" dirty="0">
                <a:solidFill>
                  <a:srgbClr val="FF0000"/>
                </a:solidFill>
                <a:latin typeface="Calibri"/>
                <a:ea typeface="Calibri"/>
                <a:cs typeface="Calibri"/>
              </a:rPr>
              <a:t>Check boundary values when the condition includes equality.</a:t>
            </a:r>
          </a:p>
        </p:txBody>
      </p:sp>
      <p:sp>
        <p:nvSpPr>
          <p:cNvPr id="9001" name="Title 1">
            <a:extLst>
              <a:ext uri="{FF2B5EF4-FFF2-40B4-BE49-F238E27FC236}">
                <a16:creationId xmlns:a16="http://schemas.microsoft.com/office/drawing/2014/main" id="{4EF27E5C-9C4D-BDBE-7667-D0B141BCC8F5}"/>
              </a:ext>
            </a:extLst>
          </p:cNvPr>
          <p:cNvSpPr>
            <a:spLocks noGrp="1"/>
          </p:cNvSpPr>
          <p:nvPr>
            <p:ph type="title"/>
          </p:nvPr>
        </p:nvSpPr>
        <p:spPr/>
        <p:txBody>
          <a:bodyPr/>
          <a:lstStyle/>
          <a:p>
            <a:r>
              <a:rPr lang="en-US">
                <a:solidFill>
                  <a:srgbClr val="3333CC"/>
                </a:solidFill>
              </a:rPr>
              <a:t>Theta Join</a:t>
            </a:r>
          </a:p>
        </p:txBody>
      </p:sp>
      <p:sp>
        <p:nvSpPr>
          <p:cNvPr id="9002" name="Slide Number Placeholder 1">
            <a:extLst>
              <a:ext uri="{FF2B5EF4-FFF2-40B4-BE49-F238E27FC236}">
                <a16:creationId xmlns:a16="http://schemas.microsoft.com/office/drawing/2014/main" id="{B90139AC-3BDA-723A-097A-000DA0A784C1}"/>
              </a:ext>
            </a:extLst>
          </p:cNvPr>
          <p:cNvSpPr>
            <a:spLocks noGrp="1"/>
          </p:cNvSpPr>
          <p:nvPr>
            <p:ph type="sldNum" sz="quarter" idx="12"/>
          </p:nvPr>
        </p:nvSpPr>
        <p:spPr/>
        <p:txBody>
          <a:bodyPr/>
          <a:lstStyle/>
          <a:p>
            <a:pPr>
              <a:defRPr/>
            </a:pPr>
            <a:fld id="{43CA101F-9E5F-9249-9862-3CE55B3BB777}" type="slidenum">
              <a:rPr lang="en-US" altLang="zh-TW" smtClean="0"/>
              <a:pPr>
                <a:defRPr/>
              </a:pPr>
              <a:t>45</a:t>
            </a:fld>
            <a:endParaRPr lang="en-US" altLang="zh-TW"/>
          </a:p>
        </p:txBody>
      </p:sp>
    </p:spTree>
    <p:extLst>
      <p:ext uri="{BB962C8B-B14F-4D97-AF65-F5344CB8AC3E}">
        <p14:creationId xmlns:p14="http://schemas.microsoft.com/office/powerpoint/2010/main" val="204428509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body">
            <a:extLst>
              <a:ext uri="{FF2B5EF4-FFF2-40B4-BE49-F238E27FC236}">
                <a16:creationId xmlns:a16="http://schemas.microsoft.com/office/drawing/2014/main" id="{041E700E-EB60-4FAC-9283-9341A5C3349E}"/>
              </a:ext>
            </a:extLst>
          </p:cNvPr>
          <p:cNvSpPr>
            <a:spLocks noGrp="1"/>
          </p:cNvSpPr>
          <p:nvPr/>
        </p:nvSpPr>
        <p:spPr>
          <a:xfrm>
            <a:off x="781050" y="5876925"/>
            <a:ext cx="7620000" cy="285750"/>
          </a:xfrm>
          <a:prstGeom prst="rect">
            <a:avLst/>
          </a:prstGeom>
          <a:noFill/>
          <a:ln w="0">
            <a:noFill/>
          </a:ln>
        </p:spPr>
        <p:txBody>
          <a:bodyPr wrap="square" lIns="0" tIns="0" rIns="0" bIns="0">
            <a:noAutofit/>
          </a:bodyPr>
          <a:lstStyle/>
          <a:p>
            <a:pPr>
              <a:defRPr sz="1725" b="0">
                <a:solidFill>
                  <a:srgbClr val="3333CC"/>
                </a:solidFill>
                <a:latin typeface="Calibri"/>
                <a:ea typeface="Calibri"/>
                <a:cs typeface="Calibri"/>
              </a:defRPr>
            </a:pPr>
            <a:r>
              <a:rPr sz="1725" b="0">
                <a:solidFill>
                  <a:srgbClr val="3333CC"/>
                </a:solidFill>
                <a:latin typeface="Calibri"/>
                <a:ea typeface="Calibri"/>
                <a:cs typeface="Calibri"/>
              </a:rPr>
              <a:t>Think: 30 s</a:t>
            </a:r>
          </a:p>
        </p:txBody>
      </p:sp>
      <p:sp>
        <p:nvSpPr>
          <p:cNvPr id="4" name="body">
            <a:extLst>
              <a:ext uri="{FF2B5EF4-FFF2-40B4-BE49-F238E27FC236}">
                <a16:creationId xmlns:a16="http://schemas.microsoft.com/office/drawing/2014/main" id="{0524E6B8-9AA7-4283-B10D-23150790778F}"/>
              </a:ext>
            </a:extLst>
          </p:cNvPr>
          <p:cNvSpPr>
            <a:spLocks noGrp="1"/>
          </p:cNvSpPr>
          <p:nvPr/>
        </p:nvSpPr>
        <p:spPr>
          <a:xfrm>
            <a:off x="933450" y="1304925"/>
            <a:ext cx="3143250" cy="361950"/>
          </a:xfrm>
          <a:prstGeom prst="rect">
            <a:avLst/>
          </a:prstGeom>
          <a:noFill/>
          <a:ln w="0">
            <a:noFill/>
          </a:ln>
        </p:spPr>
        <p:txBody>
          <a:bodyPr wrap="square" lIns="0" tIns="0" rIns="0" bIns="0">
            <a:noAutofit/>
          </a:bodyPr>
          <a:lstStyle/>
          <a:p>
            <a:pPr>
              <a:defRPr sz="2250" b="0">
                <a:solidFill>
                  <a:srgbClr val="000000"/>
                </a:solidFill>
                <a:latin typeface="Calibri"/>
                <a:ea typeface="Calibri"/>
                <a:cs typeface="Calibri"/>
              </a:defRPr>
            </a:pPr>
            <a:r>
              <a:rPr sz="2250" b="0">
                <a:solidFill>
                  <a:srgbClr val="000000"/>
                </a:solidFill>
                <a:latin typeface="Calibri"/>
                <a:ea typeface="Calibri"/>
                <a:cs typeface="Calibri"/>
              </a:rPr>
              <a:t>Meeting</a:t>
            </a:r>
          </a:p>
        </p:txBody>
      </p:sp>
      <p:graphicFrame>
        <p:nvGraphicFramePr>
          <p:cNvPr id="15" name="表格 14"/>
          <p:cNvGraphicFramePr/>
          <p:nvPr/>
        </p:nvGraphicFramePr>
        <p:xfrm>
          <a:off x="1009650" y="1724025"/>
          <a:ext cx="3143250" cy="1285875"/>
        </p:xfrm>
        <a:graphic>
          <a:graphicData uri="http://schemas.openxmlformats.org/drawingml/2006/table">
            <a:tbl>
              <a:tblPr/>
              <a:tblGrid>
                <a:gridCol w="1571625">
                  <a:extLst>
                    <a:ext uri="{9D8B030D-6E8A-4147-A177-3AD203B41FA5}">
                      <a16:colId xmlns:a16="http://schemas.microsoft.com/office/drawing/2014/main" val="20000"/>
                    </a:ext>
                  </a:extLst>
                </a:gridCol>
                <a:gridCol w="1571625">
                  <a:extLst>
                    <a:ext uri="{9D8B030D-6E8A-4147-A177-3AD203B41FA5}">
                      <a16:colId xmlns:a16="http://schemas.microsoft.com/office/drawing/2014/main" val="20001"/>
                    </a:ext>
                  </a:extLst>
                </a:gridCol>
              </a:tblGrid>
              <a:tr h="428625">
                <a:tc>
                  <a:txBody>
                    <a:bodyPr/>
                    <a:lstStyle/>
                    <a:p>
                      <a:pPr algn="ctr"/>
                      <a:r>
                        <a:rPr sz="2025">
                          <a:solidFill>
                            <a:srgbClr val="000000"/>
                          </a:solidFill>
                          <a:latin typeface="Calibri"/>
                          <a:ea typeface="Calibri"/>
                          <a:cs typeface="Calibri"/>
                        </a:rPr>
                        <a:t>gid</a:t>
                      </a:r>
                    </a:p>
                  </a:txBody>
                  <a:tcPr marL="47625" marR="47625" marT="28575" marB="28575" anchor="ctr">
                    <a:solidFill>
                      <a:srgbClr val="D9D9D9"/>
                    </a:solidFill>
                  </a:tcPr>
                </a:tc>
                <a:tc>
                  <a:txBody>
                    <a:bodyPr/>
                    <a:lstStyle/>
                    <a:p>
                      <a:pPr algn="ctr"/>
                      <a:r>
                        <a:rPr sz="2025">
                          <a:solidFill>
                            <a:srgbClr val="000000"/>
                          </a:solidFill>
                          <a:latin typeface="Calibri"/>
                          <a:ea typeface="Calibri"/>
                          <a:cs typeface="Calibri"/>
                        </a:rPr>
                        <a:t>size</a:t>
                      </a:r>
                    </a:p>
                  </a:txBody>
                  <a:tcPr marL="47625" marR="47625" marT="28575" marB="28575" anchor="ctr">
                    <a:solidFill>
                      <a:srgbClr val="D9D9D9"/>
                    </a:solidFill>
                  </a:tcPr>
                </a:tc>
                <a:extLst>
                  <a:ext uri="{0D108BD9-81ED-4DB2-BD59-A6C34878D82A}">
                    <a16:rowId xmlns:a16="http://schemas.microsoft.com/office/drawing/2014/main" val="10000"/>
                  </a:ext>
                </a:extLst>
              </a:tr>
              <a:tr h="428625">
                <a:tc>
                  <a:txBody>
                    <a:bodyPr/>
                    <a:lstStyle/>
                    <a:p>
                      <a:pPr algn="ctr"/>
                      <a:r>
                        <a:rPr sz="2025">
                          <a:solidFill>
                            <a:srgbClr val="000000"/>
                          </a:solidFill>
                          <a:latin typeface="Calibri"/>
                          <a:ea typeface="Calibri"/>
                          <a:cs typeface="Calibri"/>
                        </a:rPr>
                        <a:t>G1</a:t>
                      </a:r>
                    </a:p>
                  </a:txBody>
                  <a:tcPr marL="47625" marR="47625" marT="28575" marB="28575" anchor="ctr">
                    <a:solidFill>
                      <a:srgbClr val="FFFFFF"/>
                    </a:solidFill>
                  </a:tcPr>
                </a:tc>
                <a:tc>
                  <a:txBody>
                    <a:bodyPr/>
                    <a:lstStyle/>
                    <a:p>
                      <a:pPr algn="ctr"/>
                      <a:r>
                        <a:rPr sz="2025">
                          <a:solidFill>
                            <a:srgbClr val="000000"/>
                          </a:solidFill>
                          <a:latin typeface="Calibri"/>
                          <a:ea typeface="Calibri"/>
                          <a:cs typeface="Calibri"/>
                        </a:rPr>
                        <a:t>12</a:t>
                      </a:r>
                    </a:p>
                  </a:txBody>
                  <a:tcPr marL="47625" marR="47625" marT="28575" marB="28575" anchor="ctr">
                    <a:solidFill>
                      <a:srgbClr val="FFFFFF"/>
                    </a:solidFill>
                  </a:tcPr>
                </a:tc>
                <a:extLst>
                  <a:ext uri="{0D108BD9-81ED-4DB2-BD59-A6C34878D82A}">
                    <a16:rowId xmlns:a16="http://schemas.microsoft.com/office/drawing/2014/main" val="10001"/>
                  </a:ext>
                </a:extLst>
              </a:tr>
              <a:tr h="428625">
                <a:tc>
                  <a:txBody>
                    <a:bodyPr/>
                    <a:lstStyle/>
                    <a:p>
                      <a:pPr algn="ctr"/>
                      <a:r>
                        <a:rPr sz="2025">
                          <a:solidFill>
                            <a:srgbClr val="000000"/>
                          </a:solidFill>
                          <a:latin typeface="Calibri"/>
                          <a:ea typeface="Calibri"/>
                          <a:cs typeface="Calibri"/>
                        </a:rPr>
                        <a:t>G2</a:t>
                      </a:r>
                    </a:p>
                  </a:txBody>
                  <a:tcPr marL="47625" marR="47625" marT="28575" marB="28575" anchor="ctr">
                    <a:solidFill>
                      <a:srgbClr val="FFFFFF"/>
                    </a:solidFill>
                  </a:tcPr>
                </a:tc>
                <a:tc>
                  <a:txBody>
                    <a:bodyPr/>
                    <a:lstStyle/>
                    <a:p>
                      <a:pPr algn="ctr"/>
                      <a:r>
                        <a:rPr sz="2025">
                          <a:solidFill>
                            <a:srgbClr val="000000"/>
                          </a:solidFill>
                          <a:latin typeface="Calibri"/>
                          <a:ea typeface="Calibri"/>
                          <a:cs typeface="Calibri"/>
                        </a:rPr>
                        <a:t>20</a:t>
                      </a:r>
                    </a:p>
                  </a:txBody>
                  <a:tcPr marL="47625" marR="47625" marT="28575" marB="28575" anchor="ctr">
                    <a:solidFill>
                      <a:srgbClr val="FFFFFF"/>
                    </a:solidFill>
                  </a:tcPr>
                </a:tc>
                <a:extLst>
                  <a:ext uri="{0D108BD9-81ED-4DB2-BD59-A6C34878D82A}">
                    <a16:rowId xmlns:a16="http://schemas.microsoft.com/office/drawing/2014/main" val="10002"/>
                  </a:ext>
                </a:extLst>
              </a:tr>
            </a:tbl>
          </a:graphicData>
        </a:graphic>
      </p:graphicFrame>
      <p:sp>
        <p:nvSpPr>
          <p:cNvPr id="6" name="body">
            <a:extLst>
              <a:ext uri="{FF2B5EF4-FFF2-40B4-BE49-F238E27FC236}">
                <a16:creationId xmlns:a16="http://schemas.microsoft.com/office/drawing/2014/main" id="{0F7DB193-668B-4554-8517-597B6C14842E}"/>
              </a:ext>
            </a:extLst>
          </p:cNvPr>
          <p:cNvSpPr>
            <a:spLocks noGrp="1"/>
          </p:cNvSpPr>
          <p:nvPr/>
        </p:nvSpPr>
        <p:spPr>
          <a:xfrm>
            <a:off x="4924425" y="1304925"/>
            <a:ext cx="3143250" cy="361950"/>
          </a:xfrm>
          <a:prstGeom prst="rect">
            <a:avLst/>
          </a:prstGeom>
          <a:noFill/>
          <a:ln w="0">
            <a:noFill/>
          </a:ln>
        </p:spPr>
        <p:txBody>
          <a:bodyPr wrap="square" lIns="0" tIns="0" rIns="0" bIns="0">
            <a:noAutofit/>
          </a:bodyPr>
          <a:lstStyle/>
          <a:p>
            <a:pPr>
              <a:defRPr sz="2250" b="0">
                <a:solidFill>
                  <a:srgbClr val="000000"/>
                </a:solidFill>
                <a:latin typeface="Calibri"/>
                <a:ea typeface="Calibri"/>
                <a:cs typeface="Calibri"/>
              </a:defRPr>
            </a:pPr>
            <a:r>
              <a:rPr sz="2250" b="0">
                <a:solidFill>
                  <a:srgbClr val="000000"/>
                </a:solidFill>
                <a:latin typeface="Calibri"/>
                <a:ea typeface="Calibri"/>
                <a:cs typeface="Calibri"/>
              </a:rPr>
              <a:t>Room</a:t>
            </a:r>
          </a:p>
        </p:txBody>
      </p:sp>
      <p:graphicFrame>
        <p:nvGraphicFramePr>
          <p:cNvPr id="17" name="表格 16"/>
          <p:cNvGraphicFramePr/>
          <p:nvPr/>
        </p:nvGraphicFramePr>
        <p:xfrm>
          <a:off x="5000625" y="1724025"/>
          <a:ext cx="3143250" cy="1714500"/>
        </p:xfrm>
        <a:graphic>
          <a:graphicData uri="http://schemas.openxmlformats.org/drawingml/2006/table">
            <a:tbl>
              <a:tblPr/>
              <a:tblGrid>
                <a:gridCol w="1571625">
                  <a:extLst>
                    <a:ext uri="{9D8B030D-6E8A-4147-A177-3AD203B41FA5}">
                      <a16:colId xmlns:a16="http://schemas.microsoft.com/office/drawing/2014/main" val="20000"/>
                    </a:ext>
                  </a:extLst>
                </a:gridCol>
                <a:gridCol w="1571625">
                  <a:extLst>
                    <a:ext uri="{9D8B030D-6E8A-4147-A177-3AD203B41FA5}">
                      <a16:colId xmlns:a16="http://schemas.microsoft.com/office/drawing/2014/main" val="20001"/>
                    </a:ext>
                  </a:extLst>
                </a:gridCol>
              </a:tblGrid>
              <a:tr h="428625">
                <a:tc>
                  <a:txBody>
                    <a:bodyPr/>
                    <a:lstStyle/>
                    <a:p>
                      <a:pPr algn="ctr"/>
                      <a:r>
                        <a:rPr sz="2025">
                          <a:solidFill>
                            <a:srgbClr val="000000"/>
                          </a:solidFill>
                          <a:latin typeface="Calibri"/>
                          <a:ea typeface="Calibri"/>
                          <a:cs typeface="Calibri"/>
                        </a:rPr>
                        <a:t>rid</a:t>
                      </a:r>
                    </a:p>
                  </a:txBody>
                  <a:tcPr marL="47625" marR="47625" marT="28575" marB="28575" anchor="ctr">
                    <a:solidFill>
                      <a:srgbClr val="D9D9D9"/>
                    </a:solidFill>
                  </a:tcPr>
                </a:tc>
                <a:tc>
                  <a:txBody>
                    <a:bodyPr/>
                    <a:lstStyle/>
                    <a:p>
                      <a:pPr algn="ctr"/>
                      <a:r>
                        <a:rPr sz="2025">
                          <a:solidFill>
                            <a:srgbClr val="000000"/>
                          </a:solidFill>
                          <a:latin typeface="Calibri"/>
                          <a:ea typeface="Calibri"/>
                          <a:cs typeface="Calibri"/>
                        </a:rPr>
                        <a:t>capacity</a:t>
                      </a:r>
                    </a:p>
                  </a:txBody>
                  <a:tcPr marL="47625" marR="47625" marT="28575" marB="28575" anchor="ctr">
                    <a:solidFill>
                      <a:srgbClr val="D9D9D9"/>
                    </a:solidFill>
                  </a:tcPr>
                </a:tc>
                <a:extLst>
                  <a:ext uri="{0D108BD9-81ED-4DB2-BD59-A6C34878D82A}">
                    <a16:rowId xmlns:a16="http://schemas.microsoft.com/office/drawing/2014/main" val="10000"/>
                  </a:ext>
                </a:extLst>
              </a:tr>
              <a:tr h="428625">
                <a:tc>
                  <a:txBody>
                    <a:bodyPr/>
                    <a:lstStyle/>
                    <a:p>
                      <a:pPr algn="ctr"/>
                      <a:r>
                        <a:rPr sz="2025">
                          <a:solidFill>
                            <a:srgbClr val="000000"/>
                          </a:solidFill>
                          <a:latin typeface="Calibri"/>
                          <a:ea typeface="Calibri"/>
                          <a:cs typeface="Calibri"/>
                        </a:rPr>
                        <a:t>R1</a:t>
                      </a:r>
                    </a:p>
                  </a:txBody>
                  <a:tcPr marL="47625" marR="47625" marT="28575" marB="28575" anchor="ctr">
                    <a:solidFill>
                      <a:srgbClr val="FFFFFF"/>
                    </a:solidFill>
                  </a:tcPr>
                </a:tc>
                <a:tc>
                  <a:txBody>
                    <a:bodyPr/>
                    <a:lstStyle/>
                    <a:p>
                      <a:pPr algn="ctr"/>
                      <a:r>
                        <a:rPr sz="2025">
                          <a:solidFill>
                            <a:srgbClr val="000000"/>
                          </a:solidFill>
                          <a:latin typeface="Calibri"/>
                          <a:ea typeface="Calibri"/>
                          <a:cs typeface="Calibri"/>
                        </a:rPr>
                        <a:t>16</a:t>
                      </a:r>
                    </a:p>
                  </a:txBody>
                  <a:tcPr marL="47625" marR="47625" marT="28575" marB="28575" anchor="ctr">
                    <a:solidFill>
                      <a:srgbClr val="FFFFFF"/>
                    </a:solidFill>
                  </a:tcPr>
                </a:tc>
                <a:extLst>
                  <a:ext uri="{0D108BD9-81ED-4DB2-BD59-A6C34878D82A}">
                    <a16:rowId xmlns:a16="http://schemas.microsoft.com/office/drawing/2014/main" val="10001"/>
                  </a:ext>
                </a:extLst>
              </a:tr>
              <a:tr h="428625">
                <a:tc>
                  <a:txBody>
                    <a:bodyPr/>
                    <a:lstStyle/>
                    <a:p>
                      <a:pPr algn="ctr"/>
                      <a:r>
                        <a:rPr sz="2025">
                          <a:solidFill>
                            <a:srgbClr val="000000"/>
                          </a:solidFill>
                          <a:latin typeface="Calibri"/>
                          <a:ea typeface="Calibri"/>
                          <a:cs typeface="Calibri"/>
                        </a:rPr>
                        <a:t>R2</a:t>
                      </a:r>
                    </a:p>
                  </a:txBody>
                  <a:tcPr marL="47625" marR="47625" marT="28575" marB="28575" anchor="ctr">
                    <a:solidFill>
                      <a:srgbClr val="FFFFFF"/>
                    </a:solidFill>
                  </a:tcPr>
                </a:tc>
                <a:tc>
                  <a:txBody>
                    <a:bodyPr/>
                    <a:lstStyle/>
                    <a:p>
                      <a:pPr algn="ctr"/>
                      <a:r>
                        <a:rPr sz="2025">
                          <a:solidFill>
                            <a:srgbClr val="000000"/>
                          </a:solidFill>
                          <a:latin typeface="Calibri"/>
                          <a:ea typeface="Calibri"/>
                          <a:cs typeface="Calibri"/>
                        </a:rPr>
                        <a:t>20</a:t>
                      </a:r>
                    </a:p>
                  </a:txBody>
                  <a:tcPr marL="47625" marR="47625" marT="28575" marB="28575" anchor="ctr">
                    <a:solidFill>
                      <a:srgbClr val="FFFFFF"/>
                    </a:solidFill>
                  </a:tcPr>
                </a:tc>
                <a:extLst>
                  <a:ext uri="{0D108BD9-81ED-4DB2-BD59-A6C34878D82A}">
                    <a16:rowId xmlns:a16="http://schemas.microsoft.com/office/drawing/2014/main" val="10002"/>
                  </a:ext>
                </a:extLst>
              </a:tr>
              <a:tr h="428625">
                <a:tc>
                  <a:txBody>
                    <a:bodyPr/>
                    <a:lstStyle/>
                    <a:p>
                      <a:pPr algn="ctr"/>
                      <a:r>
                        <a:rPr sz="2025">
                          <a:solidFill>
                            <a:srgbClr val="000000"/>
                          </a:solidFill>
                          <a:latin typeface="Calibri"/>
                          <a:ea typeface="Calibri"/>
                          <a:cs typeface="Calibri"/>
                        </a:rPr>
                        <a:t>R3</a:t>
                      </a:r>
                    </a:p>
                  </a:txBody>
                  <a:tcPr marL="47625" marR="47625" marT="28575" marB="28575" anchor="ctr">
                    <a:solidFill>
                      <a:srgbClr val="FFFFFF"/>
                    </a:solidFill>
                  </a:tcPr>
                </a:tc>
                <a:tc>
                  <a:txBody>
                    <a:bodyPr/>
                    <a:lstStyle/>
                    <a:p>
                      <a:pPr algn="ctr"/>
                      <a:r>
                        <a:rPr sz="2025">
                          <a:solidFill>
                            <a:srgbClr val="000000"/>
                          </a:solidFill>
                          <a:latin typeface="Calibri"/>
                          <a:ea typeface="Calibri"/>
                          <a:cs typeface="Calibri"/>
                        </a:rPr>
                        <a:t>30</a:t>
                      </a:r>
                    </a:p>
                  </a:txBody>
                  <a:tcPr marL="47625" marR="47625" marT="28575" marB="28575" anchor="ctr">
                    <a:solidFill>
                      <a:srgbClr val="FFFFFF"/>
                    </a:solidFill>
                  </a:tcPr>
                </a:tc>
                <a:extLst>
                  <a:ext uri="{0D108BD9-81ED-4DB2-BD59-A6C34878D82A}">
                    <a16:rowId xmlns:a16="http://schemas.microsoft.com/office/drawing/2014/main" val="10003"/>
                  </a:ext>
                </a:extLst>
              </a:tr>
            </a:tbl>
          </a:graphicData>
        </a:graphic>
      </p:graphicFrame>
      <p:sp>
        <p:nvSpPr>
          <p:cNvPr id="8" name="body">
            <a:extLst>
              <a:ext uri="{FF2B5EF4-FFF2-40B4-BE49-F238E27FC236}">
                <a16:creationId xmlns:a16="http://schemas.microsoft.com/office/drawing/2014/main" id="{4E3AA76A-1776-4504-8C6D-D86F894869B1}"/>
              </a:ext>
            </a:extLst>
          </p:cNvPr>
          <p:cNvSpPr>
            <a:spLocks noGrp="1"/>
          </p:cNvSpPr>
          <p:nvPr/>
        </p:nvSpPr>
        <p:spPr>
          <a:xfrm>
            <a:off x="781050" y="3838575"/>
            <a:ext cx="7600950" cy="952500"/>
          </a:xfrm>
          <a:prstGeom prst="rect">
            <a:avLst/>
          </a:prstGeom>
          <a:noFill/>
          <a:ln w="0">
            <a:noFill/>
          </a:ln>
        </p:spPr>
        <p:txBody>
          <a:bodyPr wrap="square" lIns="0" tIns="0" rIns="0" bIns="0">
            <a:noAutofit/>
          </a:bodyPr>
          <a:lstStyle/>
          <a:p>
            <a:pPr>
              <a:defRPr sz="2250" b="0">
                <a:solidFill>
                  <a:srgbClr val="FF0000"/>
                </a:solidFill>
                <a:latin typeface="Calibri"/>
                <a:ea typeface="Calibri"/>
                <a:cs typeface="Calibri"/>
              </a:defRPr>
            </a:pPr>
            <a:r>
              <a:rPr sz="2250" b="0">
                <a:solidFill>
                  <a:srgbClr val="FF0000"/>
                </a:solidFill>
                <a:latin typeface="Calibri"/>
                <a:ea typeface="Calibri"/>
                <a:cs typeface="Calibri"/>
              </a:rPr>
              <a:t>Find every group–room pair for which size ≤ capacity.</a:t>
            </a:r>
          </a:p>
        </p:txBody>
      </p:sp>
      <p:sp>
        <p:nvSpPr>
          <p:cNvPr id="9" name="body">
            <a:extLst>
              <a:ext uri="{FF2B5EF4-FFF2-40B4-BE49-F238E27FC236}">
                <a16:creationId xmlns:a16="http://schemas.microsoft.com/office/drawing/2014/main" id="{3361A11E-C48A-4EC2-B58C-0E4A53803177}"/>
              </a:ext>
            </a:extLst>
          </p:cNvPr>
          <p:cNvSpPr>
            <a:spLocks noGrp="1"/>
          </p:cNvSpPr>
          <p:nvPr/>
        </p:nvSpPr>
        <p:spPr>
          <a:xfrm>
            <a:off x="781050" y="4686300"/>
            <a:ext cx="7600950" cy="952500"/>
          </a:xfrm>
          <a:prstGeom prst="rect">
            <a:avLst/>
          </a:prstGeom>
          <a:noFill/>
          <a:ln w="0">
            <a:noFill/>
          </a:ln>
        </p:spPr>
        <p:txBody>
          <a:bodyPr wrap="square" lIns="0" tIns="0" rIns="0" bIns="0">
            <a:noAutofit/>
          </a:bodyPr>
          <a:lstStyle/>
          <a:p>
            <a:pPr>
              <a:defRPr sz="2175" b="0">
                <a:solidFill>
                  <a:srgbClr val="000000"/>
                </a:solidFill>
                <a:latin typeface="Calibri"/>
                <a:ea typeface="Calibri"/>
                <a:cs typeface="Calibri"/>
              </a:defRPr>
            </a:pPr>
            <a:r>
              <a:rPr sz="2175" b="0">
                <a:solidFill>
                  <a:srgbClr val="000000"/>
                </a:solidFill>
                <a:latin typeface="Calibri"/>
                <a:ea typeface="Calibri"/>
                <a:cs typeface="Calibri"/>
              </a:rPr>
              <a:t>Write a theta-join expression and list the result.</a:t>
            </a:r>
          </a:p>
        </p:txBody>
      </p:sp>
      <p:sp>
        <p:nvSpPr>
          <p:cNvPr id="10" name="body">
            <a:extLst>
              <a:ext uri="{FF2B5EF4-FFF2-40B4-BE49-F238E27FC236}">
                <a16:creationId xmlns:a16="http://schemas.microsoft.com/office/drawing/2014/main" id="{17370480-7B28-4A52-A485-F48508B55F2F}"/>
              </a:ext>
            </a:extLst>
          </p:cNvPr>
          <p:cNvSpPr>
            <a:spLocks noGrp="1"/>
          </p:cNvSpPr>
          <p:nvPr/>
        </p:nvSpPr>
        <p:spPr>
          <a:xfrm>
            <a:off x="781050" y="5248275"/>
            <a:ext cx="7600950" cy="952500"/>
          </a:xfrm>
          <a:prstGeom prst="rect">
            <a:avLst/>
          </a:prstGeom>
          <a:noFill/>
          <a:ln w="0">
            <a:noFill/>
          </a:ln>
        </p:spPr>
        <p:txBody>
          <a:bodyPr wrap="square" lIns="0" tIns="0" rIns="0" bIns="0">
            <a:noAutofit/>
          </a:bodyPr>
          <a:lstStyle/>
          <a:p>
            <a:pPr>
              <a:defRPr sz="1950" b="0">
                <a:solidFill>
                  <a:srgbClr val="000000"/>
                </a:solidFill>
                <a:latin typeface="Calibri"/>
                <a:ea typeface="Calibri"/>
                <a:cs typeface="Calibri"/>
              </a:defRPr>
            </a:pPr>
            <a:r>
              <a:rPr sz="1950" b="0">
                <a:solidFill>
                  <a:srgbClr val="000000"/>
                </a:solidFill>
                <a:latin typeface="Calibri"/>
                <a:ea typeface="Calibri"/>
                <a:cs typeface="Calibri"/>
              </a:rPr>
              <a:t>How many pairs does the product contain before filtering?</a:t>
            </a:r>
          </a:p>
        </p:txBody>
      </p:sp>
      <p:sp>
        <p:nvSpPr>
          <p:cNvPr id="9001" name="Title 1">
            <a:extLst>
              <a:ext uri="{FF2B5EF4-FFF2-40B4-BE49-F238E27FC236}">
                <a16:creationId xmlns:a16="http://schemas.microsoft.com/office/drawing/2014/main" id="{4EF27E5C-9C4D-BDBE-7667-D0B141BCC8F5}"/>
              </a:ext>
            </a:extLst>
          </p:cNvPr>
          <p:cNvSpPr>
            <a:spLocks noGrp="1"/>
          </p:cNvSpPr>
          <p:nvPr>
            <p:ph type="title"/>
          </p:nvPr>
        </p:nvSpPr>
        <p:spPr/>
        <p:txBody>
          <a:bodyPr/>
          <a:lstStyle/>
          <a:p>
            <a:r>
              <a:rPr lang="en-US">
                <a:solidFill>
                  <a:srgbClr val="FF0000"/>
                </a:solidFill>
              </a:rPr>
              <a:t>Practice: </a:t>
            </a:r>
            <a:r>
              <a:rPr lang="en-US">
                <a:solidFill>
                  <a:srgbClr val="3333CC"/>
                </a:solidFill>
              </a:rPr>
              <a:t>Q17</a:t>
            </a:r>
          </a:p>
        </p:txBody>
      </p:sp>
      <p:sp>
        <p:nvSpPr>
          <p:cNvPr id="9002" name="Slide Number Placeholder 1">
            <a:extLst>
              <a:ext uri="{FF2B5EF4-FFF2-40B4-BE49-F238E27FC236}">
                <a16:creationId xmlns:a16="http://schemas.microsoft.com/office/drawing/2014/main" id="{B90139AC-3BDA-723A-097A-000DA0A784C1}"/>
              </a:ext>
            </a:extLst>
          </p:cNvPr>
          <p:cNvSpPr>
            <a:spLocks noGrp="1"/>
          </p:cNvSpPr>
          <p:nvPr>
            <p:ph type="sldNum" sz="quarter" idx="12"/>
          </p:nvPr>
        </p:nvSpPr>
        <p:spPr/>
        <p:txBody>
          <a:bodyPr/>
          <a:lstStyle/>
          <a:p>
            <a:pPr>
              <a:defRPr/>
            </a:pPr>
            <a:fld id="{43CA101F-9E5F-9249-9862-3CE55B3BB777}" type="slidenum">
              <a:rPr lang="en-US" altLang="zh-TW" smtClean="0"/>
              <a:pPr>
                <a:defRPr/>
              </a:pPr>
              <a:t>46</a:t>
            </a:fld>
            <a:endParaRPr lang="en-US" altLang="zh-TW"/>
          </a:p>
        </p:txBody>
      </p:sp>
    </p:spTree>
    <p:extLst>
      <p:ext uri="{BB962C8B-B14F-4D97-AF65-F5344CB8AC3E}">
        <p14:creationId xmlns:p14="http://schemas.microsoft.com/office/powerpoint/2010/main" val="172581905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formula">
            <a:extLst>
              <a:ext uri="{FF2B5EF4-FFF2-40B4-BE49-F238E27FC236}">
                <a16:creationId xmlns:a16="http://schemas.microsoft.com/office/drawing/2014/main" id="{67C08642-6E10-4A42-BE5D-9303EDCD2C61}"/>
              </a:ext>
            </a:extLst>
          </p:cNvPr>
          <p:cNvSpPr>
            <a:spLocks noGrp="1"/>
          </p:cNvSpPr>
          <p:nvPr/>
        </p:nvSpPr>
        <p:spPr>
          <a:xfrm>
            <a:off x="857250" y="1095375"/>
            <a:ext cx="7524750" cy="523875"/>
          </a:xfrm>
          <a:prstGeom prst="rect">
            <a:avLst/>
          </a:prstGeom>
          <a:noFill/>
          <a:ln w="0">
            <a:noFill/>
          </a:ln>
        </p:spPr>
        <p:txBody>
          <a:bodyPr wrap="square" lIns="0" tIns="0" rIns="0" bIns="0">
            <a:noAutofit/>
          </a:bodyPr>
          <a:lstStyle/>
          <a:p>
            <a:pPr>
              <a:defRPr sz="2400" b="0">
                <a:solidFill>
                  <a:srgbClr val="000000"/>
                </a:solidFill>
                <a:latin typeface="Cambria Math"/>
                <a:ea typeface="Cambria Math"/>
                <a:cs typeface="Cambria Math"/>
              </a:defRPr>
            </a:pPr>
            <a:r>
              <a:rPr sz="2400" b="0" dirty="0">
                <a:solidFill>
                  <a:srgbClr val="000000"/>
                </a:solidFill>
                <a:latin typeface="Cambria Math"/>
                <a:ea typeface="Cambria Math"/>
                <a:cs typeface="Cambria Math"/>
              </a:rPr>
              <a:t>Meeting ⋈</a:t>
            </a:r>
            <a:r>
              <a:rPr lang="en-US" sz="1704" b="0" baseline="-25000" dirty="0" err="1">
                <a:solidFill>
                  <a:srgbClr val="000000"/>
                </a:solidFill>
                <a:latin typeface="Cambria Math"/>
                <a:ea typeface="Cambria Math"/>
                <a:cs typeface="Cambria Math"/>
              </a:rPr>
              <a:t>Meeting.s</a:t>
            </a:r>
            <a:r>
              <a:rPr sz="1704" b="0" baseline="-25000" dirty="0" err="1">
                <a:solidFill>
                  <a:srgbClr val="000000"/>
                </a:solidFill>
                <a:latin typeface="Cambria Math"/>
                <a:ea typeface="Cambria Math"/>
                <a:cs typeface="Cambria Math"/>
              </a:rPr>
              <a:t>ize≤</a:t>
            </a:r>
            <a:r>
              <a:rPr lang="en-US" sz="1704" b="0" baseline="-25000" dirty="0" err="1">
                <a:solidFill>
                  <a:srgbClr val="000000"/>
                </a:solidFill>
                <a:latin typeface="Cambria Math"/>
                <a:ea typeface="Cambria Math"/>
                <a:cs typeface="Cambria Math"/>
              </a:rPr>
              <a:t>Room.</a:t>
            </a:r>
            <a:r>
              <a:rPr sz="1704" b="0" baseline="-25000" dirty="0" err="1">
                <a:solidFill>
                  <a:srgbClr val="000000"/>
                </a:solidFill>
                <a:latin typeface="Cambria Math"/>
                <a:ea typeface="Cambria Math"/>
                <a:cs typeface="Cambria Math"/>
              </a:rPr>
              <a:t>capacity</a:t>
            </a:r>
            <a:r>
              <a:rPr sz="2400" b="0" dirty="0">
                <a:solidFill>
                  <a:srgbClr val="000000"/>
                </a:solidFill>
                <a:latin typeface="Cambria Math"/>
                <a:ea typeface="Cambria Math"/>
                <a:cs typeface="Cambria Math"/>
              </a:rPr>
              <a:t> Room</a:t>
            </a:r>
          </a:p>
        </p:txBody>
      </p:sp>
      <p:sp>
        <p:nvSpPr>
          <p:cNvPr id="4" name="body">
            <a:extLst>
              <a:ext uri="{FF2B5EF4-FFF2-40B4-BE49-F238E27FC236}">
                <a16:creationId xmlns:a16="http://schemas.microsoft.com/office/drawing/2014/main" id="{EA9C3C33-5CB1-447E-AC25-3E8EB3F14882}"/>
              </a:ext>
            </a:extLst>
          </p:cNvPr>
          <p:cNvSpPr>
            <a:spLocks noGrp="1"/>
          </p:cNvSpPr>
          <p:nvPr/>
        </p:nvSpPr>
        <p:spPr>
          <a:xfrm>
            <a:off x="952500" y="1743075"/>
            <a:ext cx="7048500" cy="361950"/>
          </a:xfrm>
          <a:prstGeom prst="rect">
            <a:avLst/>
          </a:prstGeom>
          <a:noFill/>
          <a:ln w="0">
            <a:noFill/>
          </a:ln>
        </p:spPr>
        <p:txBody>
          <a:bodyPr wrap="square" lIns="0" tIns="0" rIns="0" bIns="0">
            <a:noAutofit/>
          </a:bodyPr>
          <a:lstStyle/>
          <a:p>
            <a:pPr>
              <a:defRPr sz="2250" b="0">
                <a:solidFill>
                  <a:srgbClr val="000000"/>
                </a:solidFill>
                <a:latin typeface="Calibri"/>
                <a:ea typeface="Calibri"/>
                <a:cs typeface="Calibri"/>
              </a:defRPr>
            </a:pPr>
            <a:r>
              <a:rPr sz="2250" b="0">
                <a:solidFill>
                  <a:srgbClr val="000000"/>
                </a:solidFill>
                <a:latin typeface="Calibri"/>
                <a:ea typeface="Calibri"/>
                <a:cs typeface="Calibri"/>
              </a:rPr>
              <a:t>Result</a:t>
            </a:r>
          </a:p>
        </p:txBody>
      </p:sp>
      <p:graphicFrame>
        <p:nvGraphicFramePr>
          <p:cNvPr id="12" name="表格 11"/>
          <p:cNvGraphicFramePr/>
          <p:nvPr/>
        </p:nvGraphicFramePr>
        <p:xfrm>
          <a:off x="1028700" y="2162175"/>
          <a:ext cx="7048500" cy="2400300"/>
        </p:xfrm>
        <a:graphic>
          <a:graphicData uri="http://schemas.openxmlformats.org/drawingml/2006/table">
            <a:tbl>
              <a:tblPr/>
              <a:tblGrid>
                <a:gridCol w="1762125">
                  <a:extLst>
                    <a:ext uri="{9D8B030D-6E8A-4147-A177-3AD203B41FA5}">
                      <a16:colId xmlns:a16="http://schemas.microsoft.com/office/drawing/2014/main" val="20000"/>
                    </a:ext>
                  </a:extLst>
                </a:gridCol>
                <a:gridCol w="1762125">
                  <a:extLst>
                    <a:ext uri="{9D8B030D-6E8A-4147-A177-3AD203B41FA5}">
                      <a16:colId xmlns:a16="http://schemas.microsoft.com/office/drawing/2014/main" val="20001"/>
                    </a:ext>
                  </a:extLst>
                </a:gridCol>
                <a:gridCol w="1762125">
                  <a:extLst>
                    <a:ext uri="{9D8B030D-6E8A-4147-A177-3AD203B41FA5}">
                      <a16:colId xmlns:a16="http://schemas.microsoft.com/office/drawing/2014/main" val="20002"/>
                    </a:ext>
                  </a:extLst>
                </a:gridCol>
                <a:gridCol w="1762125">
                  <a:extLst>
                    <a:ext uri="{9D8B030D-6E8A-4147-A177-3AD203B41FA5}">
                      <a16:colId xmlns:a16="http://schemas.microsoft.com/office/drawing/2014/main" val="20003"/>
                    </a:ext>
                  </a:extLst>
                </a:gridCol>
              </a:tblGrid>
              <a:tr h="400050">
                <a:tc>
                  <a:txBody>
                    <a:bodyPr/>
                    <a:lstStyle/>
                    <a:p>
                      <a:pPr algn="ctr"/>
                      <a:r>
                        <a:rPr sz="1950">
                          <a:solidFill>
                            <a:srgbClr val="000000"/>
                          </a:solidFill>
                          <a:latin typeface="Calibri"/>
                          <a:ea typeface="Calibri"/>
                          <a:cs typeface="Calibri"/>
                        </a:rPr>
                        <a:t>gid</a:t>
                      </a:r>
                    </a:p>
                  </a:txBody>
                  <a:tcPr marL="47625" marR="47625" marT="28575" marB="28575" anchor="ctr">
                    <a:solidFill>
                      <a:srgbClr val="D9D9D9"/>
                    </a:solidFill>
                  </a:tcPr>
                </a:tc>
                <a:tc>
                  <a:txBody>
                    <a:bodyPr/>
                    <a:lstStyle/>
                    <a:p>
                      <a:pPr algn="ctr"/>
                      <a:r>
                        <a:rPr sz="1950">
                          <a:solidFill>
                            <a:srgbClr val="000000"/>
                          </a:solidFill>
                          <a:latin typeface="Calibri"/>
                          <a:ea typeface="Calibri"/>
                          <a:cs typeface="Calibri"/>
                        </a:rPr>
                        <a:t>size</a:t>
                      </a:r>
                    </a:p>
                  </a:txBody>
                  <a:tcPr marL="47625" marR="47625" marT="28575" marB="28575" anchor="ctr">
                    <a:solidFill>
                      <a:srgbClr val="D9D9D9"/>
                    </a:solidFill>
                  </a:tcPr>
                </a:tc>
                <a:tc>
                  <a:txBody>
                    <a:bodyPr/>
                    <a:lstStyle/>
                    <a:p>
                      <a:pPr algn="ctr"/>
                      <a:r>
                        <a:rPr sz="1950">
                          <a:solidFill>
                            <a:srgbClr val="000000"/>
                          </a:solidFill>
                          <a:latin typeface="Calibri"/>
                          <a:ea typeface="Calibri"/>
                          <a:cs typeface="Calibri"/>
                        </a:rPr>
                        <a:t>rid</a:t>
                      </a:r>
                    </a:p>
                  </a:txBody>
                  <a:tcPr marL="47625" marR="47625" marT="28575" marB="28575" anchor="ctr">
                    <a:solidFill>
                      <a:srgbClr val="D9D9D9"/>
                    </a:solidFill>
                  </a:tcPr>
                </a:tc>
                <a:tc>
                  <a:txBody>
                    <a:bodyPr/>
                    <a:lstStyle/>
                    <a:p>
                      <a:pPr algn="ctr"/>
                      <a:r>
                        <a:rPr sz="1950">
                          <a:solidFill>
                            <a:srgbClr val="000000"/>
                          </a:solidFill>
                          <a:latin typeface="Calibri"/>
                          <a:ea typeface="Calibri"/>
                          <a:cs typeface="Calibri"/>
                        </a:rPr>
                        <a:t>capacity</a:t>
                      </a:r>
                    </a:p>
                  </a:txBody>
                  <a:tcPr marL="47625" marR="47625" marT="28575" marB="28575" anchor="ctr">
                    <a:solidFill>
                      <a:srgbClr val="D9D9D9"/>
                    </a:solidFill>
                  </a:tcPr>
                </a:tc>
                <a:extLst>
                  <a:ext uri="{0D108BD9-81ED-4DB2-BD59-A6C34878D82A}">
                    <a16:rowId xmlns:a16="http://schemas.microsoft.com/office/drawing/2014/main" val="10000"/>
                  </a:ext>
                </a:extLst>
              </a:tr>
              <a:tr h="400050">
                <a:tc>
                  <a:txBody>
                    <a:bodyPr/>
                    <a:lstStyle/>
                    <a:p>
                      <a:pPr algn="ctr"/>
                      <a:r>
                        <a:rPr sz="1950">
                          <a:solidFill>
                            <a:srgbClr val="000000"/>
                          </a:solidFill>
                          <a:latin typeface="Calibri"/>
                          <a:ea typeface="Calibri"/>
                          <a:cs typeface="Calibri"/>
                        </a:rPr>
                        <a:t>G1</a:t>
                      </a:r>
                    </a:p>
                  </a:txBody>
                  <a:tcPr marL="47625" marR="47625" marT="28575" marB="28575" anchor="ctr">
                    <a:solidFill>
                      <a:srgbClr val="FFFFFF"/>
                    </a:solidFill>
                  </a:tcPr>
                </a:tc>
                <a:tc>
                  <a:txBody>
                    <a:bodyPr/>
                    <a:lstStyle/>
                    <a:p>
                      <a:pPr algn="ctr"/>
                      <a:r>
                        <a:rPr sz="1950">
                          <a:solidFill>
                            <a:srgbClr val="000000"/>
                          </a:solidFill>
                          <a:latin typeface="Calibri"/>
                          <a:ea typeface="Calibri"/>
                          <a:cs typeface="Calibri"/>
                        </a:rPr>
                        <a:t>12</a:t>
                      </a:r>
                    </a:p>
                  </a:txBody>
                  <a:tcPr marL="47625" marR="47625" marT="28575" marB="28575" anchor="ctr">
                    <a:solidFill>
                      <a:srgbClr val="FFFFFF"/>
                    </a:solidFill>
                  </a:tcPr>
                </a:tc>
                <a:tc>
                  <a:txBody>
                    <a:bodyPr/>
                    <a:lstStyle/>
                    <a:p>
                      <a:pPr algn="ctr"/>
                      <a:r>
                        <a:rPr sz="1950">
                          <a:solidFill>
                            <a:srgbClr val="000000"/>
                          </a:solidFill>
                          <a:latin typeface="Calibri"/>
                          <a:ea typeface="Calibri"/>
                          <a:cs typeface="Calibri"/>
                        </a:rPr>
                        <a:t>R1</a:t>
                      </a:r>
                    </a:p>
                  </a:txBody>
                  <a:tcPr marL="47625" marR="47625" marT="28575" marB="28575" anchor="ctr">
                    <a:solidFill>
                      <a:srgbClr val="FFFFFF"/>
                    </a:solidFill>
                  </a:tcPr>
                </a:tc>
                <a:tc>
                  <a:txBody>
                    <a:bodyPr/>
                    <a:lstStyle/>
                    <a:p>
                      <a:pPr algn="ctr"/>
                      <a:r>
                        <a:rPr sz="1950">
                          <a:solidFill>
                            <a:srgbClr val="000000"/>
                          </a:solidFill>
                          <a:latin typeface="Calibri"/>
                          <a:ea typeface="Calibri"/>
                          <a:cs typeface="Calibri"/>
                        </a:rPr>
                        <a:t>16</a:t>
                      </a:r>
                    </a:p>
                  </a:txBody>
                  <a:tcPr marL="47625" marR="47625" marT="28575" marB="28575" anchor="ctr">
                    <a:solidFill>
                      <a:srgbClr val="FFFFFF"/>
                    </a:solidFill>
                  </a:tcPr>
                </a:tc>
                <a:extLst>
                  <a:ext uri="{0D108BD9-81ED-4DB2-BD59-A6C34878D82A}">
                    <a16:rowId xmlns:a16="http://schemas.microsoft.com/office/drawing/2014/main" val="10001"/>
                  </a:ext>
                </a:extLst>
              </a:tr>
              <a:tr h="400050">
                <a:tc>
                  <a:txBody>
                    <a:bodyPr/>
                    <a:lstStyle/>
                    <a:p>
                      <a:pPr algn="ctr"/>
                      <a:r>
                        <a:rPr sz="1950">
                          <a:solidFill>
                            <a:srgbClr val="000000"/>
                          </a:solidFill>
                          <a:latin typeface="Calibri"/>
                          <a:ea typeface="Calibri"/>
                          <a:cs typeface="Calibri"/>
                        </a:rPr>
                        <a:t>G1</a:t>
                      </a:r>
                    </a:p>
                  </a:txBody>
                  <a:tcPr marL="47625" marR="47625" marT="28575" marB="28575" anchor="ctr">
                    <a:solidFill>
                      <a:srgbClr val="FFFFFF"/>
                    </a:solidFill>
                  </a:tcPr>
                </a:tc>
                <a:tc>
                  <a:txBody>
                    <a:bodyPr/>
                    <a:lstStyle/>
                    <a:p>
                      <a:pPr algn="ctr"/>
                      <a:r>
                        <a:rPr sz="1950">
                          <a:solidFill>
                            <a:srgbClr val="000000"/>
                          </a:solidFill>
                          <a:latin typeface="Calibri"/>
                          <a:ea typeface="Calibri"/>
                          <a:cs typeface="Calibri"/>
                        </a:rPr>
                        <a:t>12</a:t>
                      </a:r>
                    </a:p>
                  </a:txBody>
                  <a:tcPr marL="47625" marR="47625" marT="28575" marB="28575" anchor="ctr">
                    <a:solidFill>
                      <a:srgbClr val="FFFFFF"/>
                    </a:solidFill>
                  </a:tcPr>
                </a:tc>
                <a:tc>
                  <a:txBody>
                    <a:bodyPr/>
                    <a:lstStyle/>
                    <a:p>
                      <a:pPr algn="ctr"/>
                      <a:r>
                        <a:rPr sz="1950">
                          <a:solidFill>
                            <a:srgbClr val="000000"/>
                          </a:solidFill>
                          <a:latin typeface="Calibri"/>
                          <a:ea typeface="Calibri"/>
                          <a:cs typeface="Calibri"/>
                        </a:rPr>
                        <a:t>R2</a:t>
                      </a:r>
                    </a:p>
                  </a:txBody>
                  <a:tcPr marL="47625" marR="47625" marT="28575" marB="28575" anchor="ctr">
                    <a:solidFill>
                      <a:srgbClr val="FFFFFF"/>
                    </a:solidFill>
                  </a:tcPr>
                </a:tc>
                <a:tc>
                  <a:txBody>
                    <a:bodyPr/>
                    <a:lstStyle/>
                    <a:p>
                      <a:pPr algn="ctr"/>
                      <a:r>
                        <a:rPr sz="1950">
                          <a:solidFill>
                            <a:srgbClr val="000000"/>
                          </a:solidFill>
                          <a:latin typeface="Calibri"/>
                          <a:ea typeface="Calibri"/>
                          <a:cs typeface="Calibri"/>
                        </a:rPr>
                        <a:t>20</a:t>
                      </a:r>
                    </a:p>
                  </a:txBody>
                  <a:tcPr marL="47625" marR="47625" marT="28575" marB="28575" anchor="ctr">
                    <a:solidFill>
                      <a:srgbClr val="FFFFFF"/>
                    </a:solidFill>
                  </a:tcPr>
                </a:tc>
                <a:extLst>
                  <a:ext uri="{0D108BD9-81ED-4DB2-BD59-A6C34878D82A}">
                    <a16:rowId xmlns:a16="http://schemas.microsoft.com/office/drawing/2014/main" val="10002"/>
                  </a:ext>
                </a:extLst>
              </a:tr>
              <a:tr h="400050">
                <a:tc>
                  <a:txBody>
                    <a:bodyPr/>
                    <a:lstStyle/>
                    <a:p>
                      <a:pPr algn="ctr"/>
                      <a:r>
                        <a:rPr sz="1950">
                          <a:solidFill>
                            <a:srgbClr val="000000"/>
                          </a:solidFill>
                          <a:latin typeface="Calibri"/>
                          <a:ea typeface="Calibri"/>
                          <a:cs typeface="Calibri"/>
                        </a:rPr>
                        <a:t>G1</a:t>
                      </a:r>
                    </a:p>
                  </a:txBody>
                  <a:tcPr marL="47625" marR="47625" marT="28575" marB="28575" anchor="ctr">
                    <a:solidFill>
                      <a:srgbClr val="FFFFFF"/>
                    </a:solidFill>
                  </a:tcPr>
                </a:tc>
                <a:tc>
                  <a:txBody>
                    <a:bodyPr/>
                    <a:lstStyle/>
                    <a:p>
                      <a:pPr algn="ctr"/>
                      <a:r>
                        <a:rPr sz="1950">
                          <a:solidFill>
                            <a:srgbClr val="000000"/>
                          </a:solidFill>
                          <a:latin typeface="Calibri"/>
                          <a:ea typeface="Calibri"/>
                          <a:cs typeface="Calibri"/>
                        </a:rPr>
                        <a:t>12</a:t>
                      </a:r>
                    </a:p>
                  </a:txBody>
                  <a:tcPr marL="47625" marR="47625" marT="28575" marB="28575" anchor="ctr">
                    <a:solidFill>
                      <a:srgbClr val="FFFFFF"/>
                    </a:solidFill>
                  </a:tcPr>
                </a:tc>
                <a:tc>
                  <a:txBody>
                    <a:bodyPr/>
                    <a:lstStyle/>
                    <a:p>
                      <a:pPr algn="ctr"/>
                      <a:r>
                        <a:rPr sz="1950">
                          <a:solidFill>
                            <a:srgbClr val="000000"/>
                          </a:solidFill>
                          <a:latin typeface="Calibri"/>
                          <a:ea typeface="Calibri"/>
                          <a:cs typeface="Calibri"/>
                        </a:rPr>
                        <a:t>R3</a:t>
                      </a:r>
                    </a:p>
                  </a:txBody>
                  <a:tcPr marL="47625" marR="47625" marT="28575" marB="28575" anchor="ctr">
                    <a:solidFill>
                      <a:srgbClr val="FFFFFF"/>
                    </a:solidFill>
                  </a:tcPr>
                </a:tc>
                <a:tc>
                  <a:txBody>
                    <a:bodyPr/>
                    <a:lstStyle/>
                    <a:p>
                      <a:pPr algn="ctr"/>
                      <a:r>
                        <a:rPr sz="1950">
                          <a:solidFill>
                            <a:srgbClr val="000000"/>
                          </a:solidFill>
                          <a:latin typeface="Calibri"/>
                          <a:ea typeface="Calibri"/>
                          <a:cs typeface="Calibri"/>
                        </a:rPr>
                        <a:t>30</a:t>
                      </a:r>
                    </a:p>
                  </a:txBody>
                  <a:tcPr marL="47625" marR="47625" marT="28575" marB="28575" anchor="ctr">
                    <a:solidFill>
                      <a:srgbClr val="FFFFFF"/>
                    </a:solidFill>
                  </a:tcPr>
                </a:tc>
                <a:extLst>
                  <a:ext uri="{0D108BD9-81ED-4DB2-BD59-A6C34878D82A}">
                    <a16:rowId xmlns:a16="http://schemas.microsoft.com/office/drawing/2014/main" val="10003"/>
                  </a:ext>
                </a:extLst>
              </a:tr>
              <a:tr h="400050">
                <a:tc>
                  <a:txBody>
                    <a:bodyPr/>
                    <a:lstStyle/>
                    <a:p>
                      <a:pPr algn="ctr"/>
                      <a:r>
                        <a:rPr sz="1950">
                          <a:solidFill>
                            <a:srgbClr val="000000"/>
                          </a:solidFill>
                          <a:latin typeface="Calibri"/>
                          <a:ea typeface="Calibri"/>
                          <a:cs typeface="Calibri"/>
                        </a:rPr>
                        <a:t>G2</a:t>
                      </a:r>
                    </a:p>
                  </a:txBody>
                  <a:tcPr marL="47625" marR="47625" marT="28575" marB="28575" anchor="ctr">
                    <a:solidFill>
                      <a:srgbClr val="FFFFFF"/>
                    </a:solidFill>
                  </a:tcPr>
                </a:tc>
                <a:tc>
                  <a:txBody>
                    <a:bodyPr/>
                    <a:lstStyle/>
                    <a:p>
                      <a:pPr algn="ctr"/>
                      <a:r>
                        <a:rPr sz="1950">
                          <a:solidFill>
                            <a:srgbClr val="000000"/>
                          </a:solidFill>
                          <a:latin typeface="Calibri"/>
                          <a:ea typeface="Calibri"/>
                          <a:cs typeface="Calibri"/>
                        </a:rPr>
                        <a:t>20</a:t>
                      </a:r>
                    </a:p>
                  </a:txBody>
                  <a:tcPr marL="47625" marR="47625" marT="28575" marB="28575" anchor="ctr">
                    <a:solidFill>
                      <a:srgbClr val="FFFFFF"/>
                    </a:solidFill>
                  </a:tcPr>
                </a:tc>
                <a:tc>
                  <a:txBody>
                    <a:bodyPr/>
                    <a:lstStyle/>
                    <a:p>
                      <a:pPr algn="ctr"/>
                      <a:r>
                        <a:rPr sz="1950">
                          <a:solidFill>
                            <a:srgbClr val="000000"/>
                          </a:solidFill>
                          <a:latin typeface="Calibri"/>
                          <a:ea typeface="Calibri"/>
                          <a:cs typeface="Calibri"/>
                        </a:rPr>
                        <a:t>R2</a:t>
                      </a:r>
                    </a:p>
                  </a:txBody>
                  <a:tcPr marL="47625" marR="47625" marT="28575" marB="28575" anchor="ctr">
                    <a:solidFill>
                      <a:srgbClr val="FFFFFF"/>
                    </a:solidFill>
                  </a:tcPr>
                </a:tc>
                <a:tc>
                  <a:txBody>
                    <a:bodyPr/>
                    <a:lstStyle/>
                    <a:p>
                      <a:pPr algn="ctr"/>
                      <a:r>
                        <a:rPr sz="1950">
                          <a:solidFill>
                            <a:srgbClr val="000000"/>
                          </a:solidFill>
                          <a:latin typeface="Calibri"/>
                          <a:ea typeface="Calibri"/>
                          <a:cs typeface="Calibri"/>
                        </a:rPr>
                        <a:t>20</a:t>
                      </a:r>
                    </a:p>
                  </a:txBody>
                  <a:tcPr marL="47625" marR="47625" marT="28575" marB="28575" anchor="ctr">
                    <a:solidFill>
                      <a:srgbClr val="FFFFFF"/>
                    </a:solidFill>
                  </a:tcPr>
                </a:tc>
                <a:extLst>
                  <a:ext uri="{0D108BD9-81ED-4DB2-BD59-A6C34878D82A}">
                    <a16:rowId xmlns:a16="http://schemas.microsoft.com/office/drawing/2014/main" val="10004"/>
                  </a:ext>
                </a:extLst>
              </a:tr>
              <a:tr h="400050">
                <a:tc>
                  <a:txBody>
                    <a:bodyPr/>
                    <a:lstStyle/>
                    <a:p>
                      <a:pPr algn="ctr"/>
                      <a:r>
                        <a:rPr sz="1950">
                          <a:solidFill>
                            <a:srgbClr val="000000"/>
                          </a:solidFill>
                          <a:latin typeface="Calibri"/>
                          <a:ea typeface="Calibri"/>
                          <a:cs typeface="Calibri"/>
                        </a:rPr>
                        <a:t>G2</a:t>
                      </a:r>
                    </a:p>
                  </a:txBody>
                  <a:tcPr marL="47625" marR="47625" marT="28575" marB="28575" anchor="ctr">
                    <a:solidFill>
                      <a:srgbClr val="FFFFFF"/>
                    </a:solidFill>
                  </a:tcPr>
                </a:tc>
                <a:tc>
                  <a:txBody>
                    <a:bodyPr/>
                    <a:lstStyle/>
                    <a:p>
                      <a:pPr algn="ctr"/>
                      <a:r>
                        <a:rPr sz="1950">
                          <a:solidFill>
                            <a:srgbClr val="000000"/>
                          </a:solidFill>
                          <a:latin typeface="Calibri"/>
                          <a:ea typeface="Calibri"/>
                          <a:cs typeface="Calibri"/>
                        </a:rPr>
                        <a:t>20</a:t>
                      </a:r>
                    </a:p>
                  </a:txBody>
                  <a:tcPr marL="47625" marR="47625" marT="28575" marB="28575" anchor="ctr">
                    <a:solidFill>
                      <a:srgbClr val="FFFFFF"/>
                    </a:solidFill>
                  </a:tcPr>
                </a:tc>
                <a:tc>
                  <a:txBody>
                    <a:bodyPr/>
                    <a:lstStyle/>
                    <a:p>
                      <a:pPr algn="ctr"/>
                      <a:r>
                        <a:rPr sz="1950">
                          <a:solidFill>
                            <a:srgbClr val="000000"/>
                          </a:solidFill>
                          <a:latin typeface="Calibri"/>
                          <a:ea typeface="Calibri"/>
                          <a:cs typeface="Calibri"/>
                        </a:rPr>
                        <a:t>R3</a:t>
                      </a:r>
                    </a:p>
                  </a:txBody>
                  <a:tcPr marL="47625" marR="47625" marT="28575" marB="28575" anchor="ctr">
                    <a:solidFill>
                      <a:srgbClr val="FFFFFF"/>
                    </a:solidFill>
                  </a:tcPr>
                </a:tc>
                <a:tc>
                  <a:txBody>
                    <a:bodyPr/>
                    <a:lstStyle/>
                    <a:p>
                      <a:pPr algn="ctr"/>
                      <a:r>
                        <a:rPr sz="1950">
                          <a:solidFill>
                            <a:srgbClr val="000000"/>
                          </a:solidFill>
                          <a:latin typeface="Calibri"/>
                          <a:ea typeface="Calibri"/>
                          <a:cs typeface="Calibri"/>
                        </a:rPr>
                        <a:t>30</a:t>
                      </a:r>
                    </a:p>
                  </a:txBody>
                  <a:tcPr marL="47625" marR="47625" marT="28575" marB="28575" anchor="ctr">
                    <a:solidFill>
                      <a:srgbClr val="FFFFFF"/>
                    </a:solidFill>
                  </a:tcPr>
                </a:tc>
                <a:extLst>
                  <a:ext uri="{0D108BD9-81ED-4DB2-BD59-A6C34878D82A}">
                    <a16:rowId xmlns:a16="http://schemas.microsoft.com/office/drawing/2014/main" val="10005"/>
                  </a:ext>
                </a:extLst>
              </a:tr>
            </a:tbl>
          </a:graphicData>
        </a:graphic>
      </p:graphicFrame>
      <p:sp>
        <p:nvSpPr>
          <p:cNvPr id="6" name="body">
            <a:extLst>
              <a:ext uri="{FF2B5EF4-FFF2-40B4-BE49-F238E27FC236}">
                <a16:creationId xmlns:a16="http://schemas.microsoft.com/office/drawing/2014/main" id="{09392977-1917-446A-9566-D87A50C8FCEE}"/>
              </a:ext>
            </a:extLst>
          </p:cNvPr>
          <p:cNvSpPr>
            <a:spLocks noGrp="1"/>
          </p:cNvSpPr>
          <p:nvPr/>
        </p:nvSpPr>
        <p:spPr>
          <a:xfrm>
            <a:off x="781050" y="5048250"/>
            <a:ext cx="7600950" cy="952500"/>
          </a:xfrm>
          <a:prstGeom prst="rect">
            <a:avLst/>
          </a:prstGeom>
          <a:noFill/>
          <a:ln w="0">
            <a:noFill/>
          </a:ln>
        </p:spPr>
        <p:txBody>
          <a:bodyPr wrap="square" lIns="0" tIns="0" rIns="0" bIns="0">
            <a:noAutofit/>
          </a:bodyPr>
          <a:lstStyle/>
          <a:p>
            <a:pPr>
              <a:defRPr sz="2250" b="0">
                <a:solidFill>
                  <a:srgbClr val="FF0000"/>
                </a:solidFill>
                <a:latin typeface="Calibri"/>
                <a:ea typeface="Calibri"/>
                <a:cs typeface="Calibri"/>
              </a:defRPr>
            </a:pPr>
            <a:r>
              <a:rPr sz="2250" b="0">
                <a:solidFill>
                  <a:srgbClr val="FF0000"/>
                </a:solidFill>
                <a:latin typeface="Calibri"/>
                <a:ea typeface="Calibri"/>
                <a:cs typeface="Calibri"/>
              </a:rPr>
              <a:t>6 product tuples become 5 joined tuples.</a:t>
            </a:r>
          </a:p>
        </p:txBody>
      </p:sp>
      <p:sp>
        <p:nvSpPr>
          <p:cNvPr id="7" name="body">
            <a:extLst>
              <a:ext uri="{FF2B5EF4-FFF2-40B4-BE49-F238E27FC236}">
                <a16:creationId xmlns:a16="http://schemas.microsoft.com/office/drawing/2014/main" id="{5EAE32C6-E641-4C08-8303-04D4DB32CC23}"/>
              </a:ext>
            </a:extLst>
          </p:cNvPr>
          <p:cNvSpPr>
            <a:spLocks noGrp="1"/>
          </p:cNvSpPr>
          <p:nvPr/>
        </p:nvSpPr>
        <p:spPr>
          <a:xfrm>
            <a:off x="781050" y="5524500"/>
            <a:ext cx="7600950" cy="952500"/>
          </a:xfrm>
          <a:prstGeom prst="rect">
            <a:avLst/>
          </a:prstGeom>
          <a:noFill/>
          <a:ln w="0">
            <a:noFill/>
          </a:ln>
        </p:spPr>
        <p:txBody>
          <a:bodyPr wrap="square" lIns="0" tIns="0" rIns="0" bIns="0">
            <a:noAutofit/>
          </a:bodyPr>
          <a:lstStyle/>
          <a:p>
            <a:pPr>
              <a:defRPr sz="2025" b="0">
                <a:solidFill>
                  <a:srgbClr val="000000"/>
                </a:solidFill>
                <a:latin typeface="Calibri"/>
                <a:ea typeface="Calibri"/>
                <a:cs typeface="Calibri"/>
              </a:defRPr>
            </a:pPr>
            <a:r>
              <a:rPr sz="2025" b="0">
                <a:solidFill>
                  <a:srgbClr val="000000"/>
                </a:solidFill>
                <a:latin typeface="Calibri"/>
                <a:ea typeface="Calibri"/>
                <a:cs typeface="Calibri"/>
              </a:rPr>
              <a:t>The exact fit (G2, 20, R2, 20) qualifies.</a:t>
            </a:r>
          </a:p>
        </p:txBody>
      </p:sp>
      <p:sp>
        <p:nvSpPr>
          <p:cNvPr id="9001" name="Title 1">
            <a:extLst>
              <a:ext uri="{FF2B5EF4-FFF2-40B4-BE49-F238E27FC236}">
                <a16:creationId xmlns:a16="http://schemas.microsoft.com/office/drawing/2014/main" id="{4EF27E5C-9C4D-BDBE-7667-D0B141BCC8F5}"/>
              </a:ext>
            </a:extLst>
          </p:cNvPr>
          <p:cNvSpPr>
            <a:spLocks noGrp="1"/>
          </p:cNvSpPr>
          <p:nvPr>
            <p:ph type="title"/>
          </p:nvPr>
        </p:nvSpPr>
        <p:spPr/>
        <p:txBody>
          <a:bodyPr/>
          <a:lstStyle/>
          <a:p>
            <a:r>
              <a:rPr lang="en-US">
                <a:solidFill>
                  <a:srgbClr val="FF0000"/>
                </a:solidFill>
              </a:rPr>
              <a:t>Solutions: </a:t>
            </a:r>
            <a:r>
              <a:rPr lang="en-US">
                <a:solidFill>
                  <a:srgbClr val="3333CC"/>
                </a:solidFill>
              </a:rPr>
              <a:t>Q17</a:t>
            </a:r>
          </a:p>
        </p:txBody>
      </p:sp>
      <p:sp>
        <p:nvSpPr>
          <p:cNvPr id="9002" name="Slide Number Placeholder 1">
            <a:extLst>
              <a:ext uri="{FF2B5EF4-FFF2-40B4-BE49-F238E27FC236}">
                <a16:creationId xmlns:a16="http://schemas.microsoft.com/office/drawing/2014/main" id="{B90139AC-3BDA-723A-097A-000DA0A784C1}"/>
              </a:ext>
            </a:extLst>
          </p:cNvPr>
          <p:cNvSpPr>
            <a:spLocks noGrp="1"/>
          </p:cNvSpPr>
          <p:nvPr>
            <p:ph type="sldNum" sz="quarter" idx="12"/>
          </p:nvPr>
        </p:nvSpPr>
        <p:spPr/>
        <p:txBody>
          <a:bodyPr/>
          <a:lstStyle/>
          <a:p>
            <a:pPr>
              <a:defRPr/>
            </a:pPr>
            <a:fld id="{43CA101F-9E5F-9249-9862-3CE55B3BB777}" type="slidenum">
              <a:rPr lang="en-US" altLang="zh-TW" smtClean="0"/>
              <a:pPr>
                <a:defRPr/>
              </a:pPr>
              <a:t>47</a:t>
            </a:fld>
            <a:endParaRPr lang="en-US" altLang="zh-TW"/>
          </a:p>
        </p:txBody>
      </p:sp>
    </p:spTree>
    <p:extLst>
      <p:ext uri="{BB962C8B-B14F-4D97-AF65-F5344CB8AC3E}">
        <p14:creationId xmlns:p14="http://schemas.microsoft.com/office/powerpoint/2010/main" val="28501711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body">
            <a:extLst>
              <a:ext uri="{FF2B5EF4-FFF2-40B4-BE49-F238E27FC236}">
                <a16:creationId xmlns:a16="http://schemas.microsoft.com/office/drawing/2014/main" id="{BF04F120-D25A-4563-95EC-3138C29B0B72}"/>
              </a:ext>
            </a:extLst>
          </p:cNvPr>
          <p:cNvSpPr>
            <a:spLocks noGrp="1"/>
          </p:cNvSpPr>
          <p:nvPr/>
        </p:nvSpPr>
        <p:spPr>
          <a:xfrm>
            <a:off x="781050" y="1076325"/>
            <a:ext cx="219075" cy="400050"/>
          </a:xfrm>
          <a:prstGeom prst="rect">
            <a:avLst/>
          </a:prstGeom>
          <a:noFill/>
          <a:ln w="0">
            <a:noFill/>
          </a:ln>
        </p:spPr>
        <p:txBody>
          <a:bodyPr wrap="square" lIns="0" tIns="0" rIns="0" bIns="0">
            <a:noAutofit/>
          </a:bodyPr>
          <a:lstStyle/>
          <a:p>
            <a:pPr>
              <a:defRPr sz="2250" b="0">
                <a:solidFill>
                  <a:srgbClr val="000000"/>
                </a:solidFill>
                <a:latin typeface="Calibri"/>
                <a:ea typeface="Calibri"/>
                <a:cs typeface="Calibri"/>
              </a:defRPr>
            </a:pPr>
            <a:r>
              <a:rPr sz="2250" b="0">
                <a:solidFill>
                  <a:srgbClr val="000000"/>
                </a:solidFill>
                <a:latin typeface="Calibri"/>
                <a:ea typeface="Calibri"/>
                <a:cs typeface="Calibri"/>
              </a:rPr>
              <a:t>•</a:t>
            </a:r>
          </a:p>
        </p:txBody>
      </p:sp>
      <p:sp>
        <p:nvSpPr>
          <p:cNvPr id="4" name="body">
            <a:extLst>
              <a:ext uri="{FF2B5EF4-FFF2-40B4-BE49-F238E27FC236}">
                <a16:creationId xmlns:a16="http://schemas.microsoft.com/office/drawing/2014/main" id="{A5E6C402-914B-4B87-ABFA-AB8DB6C1F188}"/>
              </a:ext>
            </a:extLst>
          </p:cNvPr>
          <p:cNvSpPr>
            <a:spLocks noGrp="1"/>
          </p:cNvSpPr>
          <p:nvPr/>
        </p:nvSpPr>
        <p:spPr>
          <a:xfrm>
            <a:off x="1104900" y="1076325"/>
            <a:ext cx="7239000" cy="952500"/>
          </a:xfrm>
          <a:prstGeom prst="rect">
            <a:avLst/>
          </a:prstGeom>
          <a:noFill/>
          <a:ln w="0">
            <a:noFill/>
          </a:ln>
        </p:spPr>
        <p:txBody>
          <a:bodyPr wrap="square" lIns="0" tIns="0" rIns="0" bIns="0">
            <a:noAutofit/>
          </a:bodyPr>
          <a:lstStyle/>
          <a:p>
            <a:pPr>
              <a:defRPr sz="2250" b="0">
                <a:solidFill>
                  <a:srgbClr val="000000"/>
                </a:solidFill>
                <a:latin typeface="Calibri"/>
                <a:ea typeface="Calibri"/>
                <a:cs typeface="Calibri"/>
              </a:defRPr>
            </a:pPr>
            <a:r>
              <a:rPr sz="2250" b="0">
                <a:solidFill>
                  <a:srgbClr val="000000"/>
                </a:solidFill>
                <a:latin typeface="Calibri"/>
                <a:ea typeface="Calibri"/>
                <a:cs typeface="Calibri"/>
              </a:rPr>
              <a:t>An equijoin uses equality comparisons for its join condition.</a:t>
            </a:r>
          </a:p>
        </p:txBody>
      </p:sp>
      <p:sp>
        <p:nvSpPr>
          <p:cNvPr id="5" name="formula">
            <a:extLst>
              <a:ext uri="{FF2B5EF4-FFF2-40B4-BE49-F238E27FC236}">
                <a16:creationId xmlns:a16="http://schemas.microsoft.com/office/drawing/2014/main" id="{D807335C-A573-477B-8B3D-1DA1FFB43E41}"/>
              </a:ext>
            </a:extLst>
          </p:cNvPr>
          <p:cNvSpPr>
            <a:spLocks noGrp="1"/>
          </p:cNvSpPr>
          <p:nvPr/>
        </p:nvSpPr>
        <p:spPr>
          <a:xfrm>
            <a:off x="1095375" y="2085975"/>
            <a:ext cx="7048500" cy="523875"/>
          </a:xfrm>
          <a:prstGeom prst="rect">
            <a:avLst/>
          </a:prstGeom>
          <a:noFill/>
          <a:ln w="0">
            <a:noFill/>
          </a:ln>
        </p:spPr>
        <p:txBody>
          <a:bodyPr wrap="square" lIns="0" tIns="0" rIns="0" bIns="0">
            <a:noAutofit/>
          </a:bodyPr>
          <a:lstStyle/>
          <a:p>
            <a:pPr>
              <a:defRPr sz="2625" b="0">
                <a:solidFill>
                  <a:srgbClr val="000000"/>
                </a:solidFill>
                <a:latin typeface="Cambria Math"/>
                <a:ea typeface="Cambria Math"/>
                <a:cs typeface="Cambria Math"/>
              </a:defRPr>
            </a:pPr>
            <a:r>
              <a:rPr sz="2625" b="0">
                <a:solidFill>
                  <a:srgbClr val="000000"/>
                </a:solidFill>
                <a:latin typeface="Cambria Math"/>
                <a:ea typeface="Cambria Math"/>
                <a:cs typeface="Cambria Math"/>
              </a:rPr>
              <a:t>σ</a:t>
            </a:r>
            <a:r>
              <a:rPr sz="1864" b="0" baseline="-25000">
                <a:solidFill>
                  <a:srgbClr val="000000"/>
                </a:solidFill>
                <a:latin typeface="Cambria Math"/>
                <a:ea typeface="Cambria Math"/>
                <a:cs typeface="Cambria Math"/>
              </a:rPr>
              <a:t>R.a=S.b</a:t>
            </a:r>
            <a:r>
              <a:rPr sz="2625" b="0">
                <a:solidFill>
                  <a:srgbClr val="000000"/>
                </a:solidFill>
                <a:latin typeface="Cambria Math"/>
                <a:ea typeface="Cambria Math"/>
                <a:cs typeface="Cambria Math"/>
              </a:rPr>
              <a:t>(R × S)</a:t>
            </a:r>
          </a:p>
        </p:txBody>
      </p:sp>
      <p:sp>
        <p:nvSpPr>
          <p:cNvPr id="6" name="body">
            <a:extLst>
              <a:ext uri="{FF2B5EF4-FFF2-40B4-BE49-F238E27FC236}">
                <a16:creationId xmlns:a16="http://schemas.microsoft.com/office/drawing/2014/main" id="{F508C84F-2CF2-4238-9CAE-CB6B7E08AE2A}"/>
              </a:ext>
            </a:extLst>
          </p:cNvPr>
          <p:cNvSpPr>
            <a:spLocks noGrp="1"/>
          </p:cNvSpPr>
          <p:nvPr/>
        </p:nvSpPr>
        <p:spPr>
          <a:xfrm>
            <a:off x="781050" y="3076575"/>
            <a:ext cx="219075" cy="400050"/>
          </a:xfrm>
          <a:prstGeom prst="rect">
            <a:avLst/>
          </a:prstGeom>
          <a:noFill/>
          <a:ln w="0">
            <a:noFill/>
          </a:ln>
        </p:spPr>
        <p:txBody>
          <a:bodyPr wrap="square" lIns="0" tIns="0" rIns="0" bIns="0">
            <a:noAutofit/>
          </a:bodyPr>
          <a:lstStyle/>
          <a:p>
            <a:pPr>
              <a:defRPr sz="2250" b="0">
                <a:solidFill>
                  <a:srgbClr val="000000"/>
                </a:solidFill>
                <a:latin typeface="Calibri"/>
                <a:ea typeface="Calibri"/>
                <a:cs typeface="Calibri"/>
              </a:defRPr>
            </a:pPr>
            <a:r>
              <a:rPr sz="2250" b="0">
                <a:solidFill>
                  <a:srgbClr val="000000"/>
                </a:solidFill>
                <a:latin typeface="Calibri"/>
                <a:ea typeface="Calibri"/>
                <a:cs typeface="Calibri"/>
              </a:rPr>
              <a:t>•</a:t>
            </a:r>
          </a:p>
        </p:txBody>
      </p:sp>
      <p:sp>
        <p:nvSpPr>
          <p:cNvPr id="7" name="body">
            <a:extLst>
              <a:ext uri="{FF2B5EF4-FFF2-40B4-BE49-F238E27FC236}">
                <a16:creationId xmlns:a16="http://schemas.microsoft.com/office/drawing/2014/main" id="{F113987F-CD6A-48F7-930F-DC44E9817510}"/>
              </a:ext>
            </a:extLst>
          </p:cNvPr>
          <p:cNvSpPr>
            <a:spLocks noGrp="1"/>
          </p:cNvSpPr>
          <p:nvPr/>
        </p:nvSpPr>
        <p:spPr>
          <a:xfrm>
            <a:off x="1104900" y="3076575"/>
            <a:ext cx="7239000" cy="952500"/>
          </a:xfrm>
          <a:prstGeom prst="rect">
            <a:avLst/>
          </a:prstGeom>
          <a:noFill/>
          <a:ln w="0">
            <a:noFill/>
          </a:ln>
        </p:spPr>
        <p:txBody>
          <a:bodyPr wrap="square" lIns="0" tIns="0" rIns="0" bIns="0">
            <a:noAutofit/>
          </a:bodyPr>
          <a:lstStyle/>
          <a:p>
            <a:pPr>
              <a:defRPr sz="2250" b="0">
                <a:solidFill>
                  <a:srgbClr val="000000"/>
                </a:solidFill>
                <a:latin typeface="Calibri"/>
                <a:ea typeface="Calibri"/>
                <a:cs typeface="Calibri"/>
              </a:defRPr>
            </a:pPr>
            <a:r>
              <a:rPr sz="2250" b="0">
                <a:solidFill>
                  <a:srgbClr val="000000"/>
                </a:solidFill>
                <a:latin typeface="Calibri"/>
                <a:ea typeface="Calibri"/>
                <a:cs typeface="Calibri"/>
              </a:rPr>
              <a:t>In this lecture, an additional projection drops the redundant right-side join attribute.</a:t>
            </a:r>
          </a:p>
        </p:txBody>
      </p:sp>
      <p:sp>
        <p:nvSpPr>
          <p:cNvPr id="8" name="body">
            <a:extLst>
              <a:ext uri="{FF2B5EF4-FFF2-40B4-BE49-F238E27FC236}">
                <a16:creationId xmlns:a16="http://schemas.microsoft.com/office/drawing/2014/main" id="{24C80927-127B-4E39-9BA7-72FD3DB7DF0E}"/>
              </a:ext>
            </a:extLst>
          </p:cNvPr>
          <p:cNvSpPr>
            <a:spLocks noGrp="1"/>
          </p:cNvSpPr>
          <p:nvPr/>
        </p:nvSpPr>
        <p:spPr>
          <a:xfrm>
            <a:off x="781050" y="4410075"/>
            <a:ext cx="7600950" cy="952500"/>
          </a:xfrm>
          <a:prstGeom prst="rect">
            <a:avLst/>
          </a:prstGeom>
          <a:noFill/>
          <a:ln w="0">
            <a:noFill/>
          </a:ln>
        </p:spPr>
        <p:txBody>
          <a:bodyPr wrap="square" lIns="0" tIns="0" rIns="0" bIns="0">
            <a:noAutofit/>
          </a:bodyPr>
          <a:lstStyle/>
          <a:p>
            <a:pPr>
              <a:defRPr sz="2250" b="0">
                <a:solidFill>
                  <a:srgbClr val="FF0000"/>
                </a:solidFill>
                <a:latin typeface="Calibri"/>
                <a:ea typeface="Calibri"/>
                <a:cs typeface="Calibri"/>
              </a:defRPr>
            </a:pPr>
            <a:r>
              <a:rPr sz="2250" b="0" dirty="0">
                <a:solidFill>
                  <a:srgbClr val="FF0000"/>
                </a:solidFill>
                <a:latin typeface="Calibri"/>
                <a:ea typeface="Calibri"/>
                <a:cs typeface="Calibri"/>
              </a:rPr>
              <a:t>We write that projection explicitly in the next solution.</a:t>
            </a:r>
          </a:p>
        </p:txBody>
      </p:sp>
      <p:sp>
        <p:nvSpPr>
          <p:cNvPr id="9001" name="Title 1">
            <a:extLst>
              <a:ext uri="{FF2B5EF4-FFF2-40B4-BE49-F238E27FC236}">
                <a16:creationId xmlns:a16="http://schemas.microsoft.com/office/drawing/2014/main" id="{4EF27E5C-9C4D-BDBE-7667-D0B141BCC8F5}"/>
              </a:ext>
            </a:extLst>
          </p:cNvPr>
          <p:cNvSpPr>
            <a:spLocks noGrp="1"/>
          </p:cNvSpPr>
          <p:nvPr>
            <p:ph type="title"/>
          </p:nvPr>
        </p:nvSpPr>
        <p:spPr/>
        <p:txBody>
          <a:bodyPr/>
          <a:lstStyle/>
          <a:p>
            <a:r>
              <a:rPr lang="en-US">
                <a:solidFill>
                  <a:srgbClr val="3333CC"/>
                </a:solidFill>
              </a:rPr>
              <a:t>Equijoin</a:t>
            </a:r>
          </a:p>
        </p:txBody>
      </p:sp>
      <p:sp>
        <p:nvSpPr>
          <p:cNvPr id="9002" name="Slide Number Placeholder 1">
            <a:extLst>
              <a:ext uri="{FF2B5EF4-FFF2-40B4-BE49-F238E27FC236}">
                <a16:creationId xmlns:a16="http://schemas.microsoft.com/office/drawing/2014/main" id="{B90139AC-3BDA-723A-097A-000DA0A784C1}"/>
              </a:ext>
            </a:extLst>
          </p:cNvPr>
          <p:cNvSpPr>
            <a:spLocks noGrp="1"/>
          </p:cNvSpPr>
          <p:nvPr>
            <p:ph type="sldNum" sz="quarter" idx="12"/>
          </p:nvPr>
        </p:nvSpPr>
        <p:spPr/>
        <p:txBody>
          <a:bodyPr/>
          <a:lstStyle/>
          <a:p>
            <a:pPr>
              <a:defRPr/>
            </a:pPr>
            <a:fld id="{43CA101F-9E5F-9249-9862-3CE55B3BB777}" type="slidenum">
              <a:rPr lang="en-US" altLang="zh-TW" smtClean="0"/>
              <a:pPr>
                <a:defRPr/>
              </a:pPr>
              <a:t>48</a:t>
            </a:fld>
            <a:endParaRPr lang="en-US" altLang="zh-TW"/>
          </a:p>
        </p:txBody>
      </p:sp>
    </p:spTree>
    <p:extLst>
      <p:ext uri="{BB962C8B-B14F-4D97-AF65-F5344CB8AC3E}">
        <p14:creationId xmlns:p14="http://schemas.microsoft.com/office/powerpoint/2010/main" val="58652991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body">
            <a:extLst>
              <a:ext uri="{FF2B5EF4-FFF2-40B4-BE49-F238E27FC236}">
                <a16:creationId xmlns:a16="http://schemas.microsoft.com/office/drawing/2014/main" id="{7843A69A-68EB-464F-9D72-A949505B4300}"/>
              </a:ext>
            </a:extLst>
          </p:cNvPr>
          <p:cNvSpPr>
            <a:spLocks noGrp="1"/>
          </p:cNvSpPr>
          <p:nvPr/>
        </p:nvSpPr>
        <p:spPr>
          <a:xfrm>
            <a:off x="781050" y="5876925"/>
            <a:ext cx="7620000" cy="285750"/>
          </a:xfrm>
          <a:prstGeom prst="rect">
            <a:avLst/>
          </a:prstGeom>
          <a:noFill/>
          <a:ln w="0">
            <a:noFill/>
          </a:ln>
        </p:spPr>
        <p:txBody>
          <a:bodyPr wrap="square" lIns="0" tIns="0" rIns="0" bIns="0">
            <a:noAutofit/>
          </a:bodyPr>
          <a:lstStyle/>
          <a:p>
            <a:pPr>
              <a:defRPr sz="1725" b="0">
                <a:solidFill>
                  <a:srgbClr val="3333CC"/>
                </a:solidFill>
                <a:latin typeface="Calibri"/>
                <a:ea typeface="Calibri"/>
                <a:cs typeface="Calibri"/>
              </a:defRPr>
            </a:pPr>
            <a:r>
              <a:rPr sz="1725" b="0">
                <a:solidFill>
                  <a:srgbClr val="3333CC"/>
                </a:solidFill>
                <a:latin typeface="Calibri"/>
                <a:ea typeface="Calibri"/>
                <a:cs typeface="Calibri"/>
              </a:rPr>
              <a:t>Think: 30 s</a:t>
            </a:r>
          </a:p>
        </p:txBody>
      </p:sp>
      <p:sp>
        <p:nvSpPr>
          <p:cNvPr id="4" name="body">
            <a:extLst>
              <a:ext uri="{FF2B5EF4-FFF2-40B4-BE49-F238E27FC236}">
                <a16:creationId xmlns:a16="http://schemas.microsoft.com/office/drawing/2014/main" id="{EF2CB64C-67BE-442A-9868-2EDEE75086F6}"/>
              </a:ext>
            </a:extLst>
          </p:cNvPr>
          <p:cNvSpPr>
            <a:spLocks noGrp="1"/>
          </p:cNvSpPr>
          <p:nvPr/>
        </p:nvSpPr>
        <p:spPr>
          <a:xfrm>
            <a:off x="895350" y="1304925"/>
            <a:ext cx="3286125" cy="361950"/>
          </a:xfrm>
          <a:prstGeom prst="rect">
            <a:avLst/>
          </a:prstGeom>
          <a:noFill/>
          <a:ln w="0">
            <a:noFill/>
          </a:ln>
        </p:spPr>
        <p:txBody>
          <a:bodyPr wrap="square" lIns="0" tIns="0" rIns="0" bIns="0">
            <a:noAutofit/>
          </a:bodyPr>
          <a:lstStyle/>
          <a:p>
            <a:pPr>
              <a:defRPr sz="2250" b="0">
                <a:solidFill>
                  <a:srgbClr val="000000"/>
                </a:solidFill>
                <a:latin typeface="Calibri"/>
                <a:ea typeface="Calibri"/>
                <a:cs typeface="Calibri"/>
              </a:defRPr>
            </a:pPr>
            <a:r>
              <a:rPr sz="2250" b="0">
                <a:solidFill>
                  <a:srgbClr val="000000"/>
                </a:solidFill>
                <a:latin typeface="Calibri"/>
                <a:ea typeface="Calibri"/>
                <a:cs typeface="Calibri"/>
              </a:rPr>
              <a:t>Device</a:t>
            </a:r>
          </a:p>
        </p:txBody>
      </p:sp>
      <p:graphicFrame>
        <p:nvGraphicFramePr>
          <p:cNvPr id="15" name="表格 14"/>
          <p:cNvGraphicFramePr/>
          <p:nvPr/>
        </p:nvGraphicFramePr>
        <p:xfrm>
          <a:off x="971550" y="1724025"/>
          <a:ext cx="3286126" cy="1714500"/>
        </p:xfrm>
        <a:graphic>
          <a:graphicData uri="http://schemas.openxmlformats.org/drawingml/2006/table">
            <a:tbl>
              <a:tblPr/>
              <a:tblGrid>
                <a:gridCol w="1643063">
                  <a:extLst>
                    <a:ext uri="{9D8B030D-6E8A-4147-A177-3AD203B41FA5}">
                      <a16:colId xmlns:a16="http://schemas.microsoft.com/office/drawing/2014/main" val="20000"/>
                    </a:ext>
                  </a:extLst>
                </a:gridCol>
                <a:gridCol w="1643063">
                  <a:extLst>
                    <a:ext uri="{9D8B030D-6E8A-4147-A177-3AD203B41FA5}">
                      <a16:colId xmlns:a16="http://schemas.microsoft.com/office/drawing/2014/main" val="20001"/>
                    </a:ext>
                  </a:extLst>
                </a:gridCol>
              </a:tblGrid>
              <a:tr h="428625">
                <a:tc>
                  <a:txBody>
                    <a:bodyPr/>
                    <a:lstStyle/>
                    <a:p>
                      <a:pPr algn="ctr"/>
                      <a:r>
                        <a:rPr sz="2025">
                          <a:solidFill>
                            <a:srgbClr val="000000"/>
                          </a:solidFill>
                          <a:latin typeface="Calibri"/>
                          <a:ea typeface="Calibri"/>
                          <a:cs typeface="Calibri"/>
                        </a:rPr>
                        <a:t>did</a:t>
                      </a:r>
                    </a:p>
                  </a:txBody>
                  <a:tcPr marL="47625" marR="47625" marT="28575" marB="28575" anchor="ctr">
                    <a:solidFill>
                      <a:srgbClr val="D9D9D9"/>
                    </a:solidFill>
                  </a:tcPr>
                </a:tc>
                <a:tc>
                  <a:txBody>
                    <a:bodyPr/>
                    <a:lstStyle/>
                    <a:p>
                      <a:pPr algn="ctr"/>
                      <a:r>
                        <a:rPr sz="2025">
                          <a:solidFill>
                            <a:srgbClr val="000000"/>
                          </a:solidFill>
                          <a:latin typeface="Calibri"/>
                          <a:ea typeface="Calibri"/>
                          <a:cs typeface="Calibri"/>
                        </a:rPr>
                        <a:t>lab</a:t>
                      </a:r>
                    </a:p>
                  </a:txBody>
                  <a:tcPr marL="47625" marR="47625" marT="28575" marB="28575" anchor="ctr">
                    <a:solidFill>
                      <a:srgbClr val="D9D9D9"/>
                    </a:solidFill>
                  </a:tcPr>
                </a:tc>
                <a:extLst>
                  <a:ext uri="{0D108BD9-81ED-4DB2-BD59-A6C34878D82A}">
                    <a16:rowId xmlns:a16="http://schemas.microsoft.com/office/drawing/2014/main" val="10000"/>
                  </a:ext>
                </a:extLst>
              </a:tr>
              <a:tr h="428625">
                <a:tc>
                  <a:txBody>
                    <a:bodyPr/>
                    <a:lstStyle/>
                    <a:p>
                      <a:pPr algn="ctr"/>
                      <a:r>
                        <a:rPr sz="2025">
                          <a:solidFill>
                            <a:srgbClr val="000000"/>
                          </a:solidFill>
                          <a:latin typeface="Calibri"/>
                          <a:ea typeface="Calibri"/>
                          <a:cs typeface="Calibri"/>
                        </a:rPr>
                        <a:t>T1</a:t>
                      </a:r>
                    </a:p>
                  </a:txBody>
                  <a:tcPr marL="47625" marR="47625" marT="28575" marB="28575" anchor="ctr">
                    <a:solidFill>
                      <a:srgbClr val="FFFFFF"/>
                    </a:solidFill>
                  </a:tcPr>
                </a:tc>
                <a:tc>
                  <a:txBody>
                    <a:bodyPr/>
                    <a:lstStyle/>
                    <a:p>
                      <a:pPr algn="ctr"/>
                      <a:r>
                        <a:rPr sz="2025">
                          <a:solidFill>
                            <a:srgbClr val="000000"/>
                          </a:solidFill>
                          <a:latin typeface="Calibri"/>
                          <a:ea typeface="Calibri"/>
                          <a:cs typeface="Calibri"/>
                        </a:rPr>
                        <a:t>North</a:t>
                      </a:r>
                    </a:p>
                  </a:txBody>
                  <a:tcPr marL="47625" marR="47625" marT="28575" marB="28575" anchor="ctr">
                    <a:solidFill>
                      <a:srgbClr val="FFFFFF"/>
                    </a:solidFill>
                  </a:tcPr>
                </a:tc>
                <a:extLst>
                  <a:ext uri="{0D108BD9-81ED-4DB2-BD59-A6C34878D82A}">
                    <a16:rowId xmlns:a16="http://schemas.microsoft.com/office/drawing/2014/main" val="10001"/>
                  </a:ext>
                </a:extLst>
              </a:tr>
              <a:tr h="428625">
                <a:tc>
                  <a:txBody>
                    <a:bodyPr/>
                    <a:lstStyle/>
                    <a:p>
                      <a:pPr algn="ctr"/>
                      <a:r>
                        <a:rPr sz="2025">
                          <a:solidFill>
                            <a:srgbClr val="000000"/>
                          </a:solidFill>
                          <a:latin typeface="Calibri"/>
                          <a:ea typeface="Calibri"/>
                          <a:cs typeface="Calibri"/>
                        </a:rPr>
                        <a:t>T2</a:t>
                      </a:r>
                    </a:p>
                  </a:txBody>
                  <a:tcPr marL="47625" marR="47625" marT="28575" marB="28575" anchor="ctr">
                    <a:solidFill>
                      <a:srgbClr val="FFFFFF"/>
                    </a:solidFill>
                  </a:tcPr>
                </a:tc>
                <a:tc>
                  <a:txBody>
                    <a:bodyPr/>
                    <a:lstStyle/>
                    <a:p>
                      <a:pPr algn="ctr"/>
                      <a:r>
                        <a:rPr sz="2025">
                          <a:solidFill>
                            <a:srgbClr val="000000"/>
                          </a:solidFill>
                          <a:latin typeface="Calibri"/>
                          <a:ea typeface="Calibri"/>
                          <a:cs typeface="Calibri"/>
                        </a:rPr>
                        <a:t>South</a:t>
                      </a:r>
                    </a:p>
                  </a:txBody>
                  <a:tcPr marL="47625" marR="47625" marT="28575" marB="28575" anchor="ctr">
                    <a:solidFill>
                      <a:srgbClr val="FFFFFF"/>
                    </a:solidFill>
                  </a:tcPr>
                </a:tc>
                <a:extLst>
                  <a:ext uri="{0D108BD9-81ED-4DB2-BD59-A6C34878D82A}">
                    <a16:rowId xmlns:a16="http://schemas.microsoft.com/office/drawing/2014/main" val="10002"/>
                  </a:ext>
                </a:extLst>
              </a:tr>
              <a:tr h="428625">
                <a:tc>
                  <a:txBody>
                    <a:bodyPr/>
                    <a:lstStyle/>
                    <a:p>
                      <a:pPr algn="ctr"/>
                      <a:r>
                        <a:rPr sz="2025">
                          <a:solidFill>
                            <a:srgbClr val="000000"/>
                          </a:solidFill>
                          <a:latin typeface="Calibri"/>
                          <a:ea typeface="Calibri"/>
                          <a:cs typeface="Calibri"/>
                        </a:rPr>
                        <a:t>T3</a:t>
                      </a:r>
                    </a:p>
                  </a:txBody>
                  <a:tcPr marL="47625" marR="47625" marT="28575" marB="28575" anchor="ctr">
                    <a:solidFill>
                      <a:srgbClr val="FFFFFF"/>
                    </a:solidFill>
                  </a:tcPr>
                </a:tc>
                <a:tc>
                  <a:txBody>
                    <a:bodyPr/>
                    <a:lstStyle/>
                    <a:p>
                      <a:pPr algn="ctr"/>
                      <a:r>
                        <a:rPr sz="2025">
                          <a:solidFill>
                            <a:srgbClr val="000000"/>
                          </a:solidFill>
                          <a:latin typeface="Calibri"/>
                          <a:ea typeface="Calibri"/>
                          <a:cs typeface="Calibri"/>
                        </a:rPr>
                        <a:t>North</a:t>
                      </a:r>
                    </a:p>
                  </a:txBody>
                  <a:tcPr marL="47625" marR="47625" marT="28575" marB="28575" anchor="ctr">
                    <a:solidFill>
                      <a:srgbClr val="FFFFFF"/>
                    </a:solidFill>
                  </a:tcPr>
                </a:tc>
                <a:extLst>
                  <a:ext uri="{0D108BD9-81ED-4DB2-BD59-A6C34878D82A}">
                    <a16:rowId xmlns:a16="http://schemas.microsoft.com/office/drawing/2014/main" val="10003"/>
                  </a:ext>
                </a:extLst>
              </a:tr>
            </a:tbl>
          </a:graphicData>
        </a:graphic>
      </p:graphicFrame>
      <p:sp>
        <p:nvSpPr>
          <p:cNvPr id="6" name="body">
            <a:extLst>
              <a:ext uri="{FF2B5EF4-FFF2-40B4-BE49-F238E27FC236}">
                <a16:creationId xmlns:a16="http://schemas.microsoft.com/office/drawing/2014/main" id="{6B11FF87-129D-4A67-A6FC-B2C32C691974}"/>
              </a:ext>
            </a:extLst>
          </p:cNvPr>
          <p:cNvSpPr>
            <a:spLocks noGrp="1"/>
          </p:cNvSpPr>
          <p:nvPr/>
        </p:nvSpPr>
        <p:spPr>
          <a:xfrm>
            <a:off x="4905375" y="1304925"/>
            <a:ext cx="3143250" cy="361950"/>
          </a:xfrm>
          <a:prstGeom prst="rect">
            <a:avLst/>
          </a:prstGeom>
          <a:noFill/>
          <a:ln w="0">
            <a:noFill/>
          </a:ln>
        </p:spPr>
        <p:txBody>
          <a:bodyPr wrap="square" lIns="0" tIns="0" rIns="0" bIns="0">
            <a:noAutofit/>
          </a:bodyPr>
          <a:lstStyle/>
          <a:p>
            <a:pPr>
              <a:defRPr sz="2250" b="0">
                <a:solidFill>
                  <a:srgbClr val="000000"/>
                </a:solidFill>
                <a:latin typeface="Calibri"/>
                <a:ea typeface="Calibri"/>
                <a:cs typeface="Calibri"/>
              </a:defRPr>
            </a:pPr>
            <a:r>
              <a:rPr sz="2250" b="0">
                <a:solidFill>
                  <a:srgbClr val="000000"/>
                </a:solidFill>
                <a:latin typeface="Calibri"/>
                <a:ea typeface="Calibri"/>
                <a:cs typeface="Calibri"/>
              </a:rPr>
              <a:t>Loan</a:t>
            </a:r>
          </a:p>
        </p:txBody>
      </p:sp>
      <p:graphicFrame>
        <p:nvGraphicFramePr>
          <p:cNvPr id="17" name="表格 16"/>
          <p:cNvGraphicFramePr/>
          <p:nvPr/>
        </p:nvGraphicFramePr>
        <p:xfrm>
          <a:off x="4981575" y="1724025"/>
          <a:ext cx="3143250" cy="1714500"/>
        </p:xfrm>
        <a:graphic>
          <a:graphicData uri="http://schemas.openxmlformats.org/drawingml/2006/table">
            <a:tbl>
              <a:tblPr/>
              <a:tblGrid>
                <a:gridCol w="1571625">
                  <a:extLst>
                    <a:ext uri="{9D8B030D-6E8A-4147-A177-3AD203B41FA5}">
                      <a16:colId xmlns:a16="http://schemas.microsoft.com/office/drawing/2014/main" val="20000"/>
                    </a:ext>
                  </a:extLst>
                </a:gridCol>
                <a:gridCol w="1571625">
                  <a:extLst>
                    <a:ext uri="{9D8B030D-6E8A-4147-A177-3AD203B41FA5}">
                      <a16:colId xmlns:a16="http://schemas.microsoft.com/office/drawing/2014/main" val="20001"/>
                    </a:ext>
                  </a:extLst>
                </a:gridCol>
              </a:tblGrid>
              <a:tr h="428625">
                <a:tc>
                  <a:txBody>
                    <a:bodyPr/>
                    <a:lstStyle/>
                    <a:p>
                      <a:pPr algn="ctr"/>
                      <a:r>
                        <a:rPr sz="2025">
                          <a:solidFill>
                            <a:srgbClr val="000000"/>
                          </a:solidFill>
                          <a:latin typeface="Calibri"/>
                          <a:ea typeface="Calibri"/>
                          <a:cs typeface="Calibri"/>
                        </a:rPr>
                        <a:t>ref</a:t>
                      </a:r>
                    </a:p>
                  </a:txBody>
                  <a:tcPr marL="47625" marR="47625" marT="28575" marB="28575" anchor="ctr">
                    <a:solidFill>
                      <a:srgbClr val="D9D9D9"/>
                    </a:solidFill>
                  </a:tcPr>
                </a:tc>
                <a:tc>
                  <a:txBody>
                    <a:bodyPr/>
                    <a:lstStyle/>
                    <a:p>
                      <a:pPr algn="ctr"/>
                      <a:r>
                        <a:rPr sz="2025">
                          <a:solidFill>
                            <a:srgbClr val="000000"/>
                          </a:solidFill>
                          <a:latin typeface="Calibri"/>
                          <a:ea typeface="Calibri"/>
                          <a:cs typeface="Calibri"/>
                        </a:rPr>
                        <a:t>mid</a:t>
                      </a:r>
                    </a:p>
                  </a:txBody>
                  <a:tcPr marL="47625" marR="47625" marT="28575" marB="28575" anchor="ctr">
                    <a:solidFill>
                      <a:srgbClr val="D9D9D9"/>
                    </a:solidFill>
                  </a:tcPr>
                </a:tc>
                <a:extLst>
                  <a:ext uri="{0D108BD9-81ED-4DB2-BD59-A6C34878D82A}">
                    <a16:rowId xmlns:a16="http://schemas.microsoft.com/office/drawing/2014/main" val="10000"/>
                  </a:ext>
                </a:extLst>
              </a:tr>
              <a:tr h="428625">
                <a:tc>
                  <a:txBody>
                    <a:bodyPr/>
                    <a:lstStyle/>
                    <a:p>
                      <a:pPr algn="ctr"/>
                      <a:r>
                        <a:rPr sz="2025">
                          <a:solidFill>
                            <a:srgbClr val="000000"/>
                          </a:solidFill>
                          <a:latin typeface="Calibri"/>
                          <a:ea typeface="Calibri"/>
                          <a:cs typeface="Calibri"/>
                        </a:rPr>
                        <a:t>T1</a:t>
                      </a:r>
                    </a:p>
                  </a:txBody>
                  <a:tcPr marL="47625" marR="47625" marT="28575" marB="28575" anchor="ctr">
                    <a:solidFill>
                      <a:srgbClr val="FFFFFF"/>
                    </a:solidFill>
                  </a:tcPr>
                </a:tc>
                <a:tc>
                  <a:txBody>
                    <a:bodyPr/>
                    <a:lstStyle/>
                    <a:p>
                      <a:pPr algn="ctr"/>
                      <a:r>
                        <a:rPr sz="2025">
                          <a:solidFill>
                            <a:srgbClr val="000000"/>
                          </a:solidFill>
                          <a:latin typeface="Calibri"/>
                          <a:ea typeface="Calibri"/>
                          <a:cs typeface="Calibri"/>
                        </a:rPr>
                        <a:t>1</a:t>
                      </a:r>
                    </a:p>
                  </a:txBody>
                  <a:tcPr marL="47625" marR="47625" marT="28575" marB="28575" anchor="ctr">
                    <a:solidFill>
                      <a:srgbClr val="FFFFFF"/>
                    </a:solidFill>
                  </a:tcPr>
                </a:tc>
                <a:extLst>
                  <a:ext uri="{0D108BD9-81ED-4DB2-BD59-A6C34878D82A}">
                    <a16:rowId xmlns:a16="http://schemas.microsoft.com/office/drawing/2014/main" val="10001"/>
                  </a:ext>
                </a:extLst>
              </a:tr>
              <a:tr h="428625">
                <a:tc>
                  <a:txBody>
                    <a:bodyPr/>
                    <a:lstStyle/>
                    <a:p>
                      <a:pPr algn="ctr"/>
                      <a:r>
                        <a:rPr sz="2025">
                          <a:solidFill>
                            <a:srgbClr val="000000"/>
                          </a:solidFill>
                          <a:latin typeface="Calibri"/>
                          <a:ea typeface="Calibri"/>
                          <a:cs typeface="Calibri"/>
                        </a:rPr>
                        <a:t>T1</a:t>
                      </a:r>
                    </a:p>
                  </a:txBody>
                  <a:tcPr marL="47625" marR="47625" marT="28575" marB="28575" anchor="ctr">
                    <a:solidFill>
                      <a:srgbClr val="FFFFFF"/>
                    </a:solidFill>
                  </a:tcPr>
                </a:tc>
                <a:tc>
                  <a:txBody>
                    <a:bodyPr/>
                    <a:lstStyle/>
                    <a:p>
                      <a:pPr algn="ctr"/>
                      <a:r>
                        <a:rPr sz="2025">
                          <a:solidFill>
                            <a:srgbClr val="000000"/>
                          </a:solidFill>
                          <a:latin typeface="Calibri"/>
                          <a:ea typeface="Calibri"/>
                          <a:cs typeface="Calibri"/>
                        </a:rPr>
                        <a:t>3</a:t>
                      </a:r>
                    </a:p>
                  </a:txBody>
                  <a:tcPr marL="47625" marR="47625" marT="28575" marB="28575" anchor="ctr">
                    <a:solidFill>
                      <a:srgbClr val="FFFFFF"/>
                    </a:solidFill>
                  </a:tcPr>
                </a:tc>
                <a:extLst>
                  <a:ext uri="{0D108BD9-81ED-4DB2-BD59-A6C34878D82A}">
                    <a16:rowId xmlns:a16="http://schemas.microsoft.com/office/drawing/2014/main" val="10002"/>
                  </a:ext>
                </a:extLst>
              </a:tr>
              <a:tr h="428625">
                <a:tc>
                  <a:txBody>
                    <a:bodyPr/>
                    <a:lstStyle/>
                    <a:p>
                      <a:pPr algn="ctr"/>
                      <a:r>
                        <a:rPr sz="2025">
                          <a:solidFill>
                            <a:srgbClr val="000000"/>
                          </a:solidFill>
                          <a:latin typeface="Calibri"/>
                          <a:ea typeface="Calibri"/>
                          <a:cs typeface="Calibri"/>
                        </a:rPr>
                        <a:t>T2</a:t>
                      </a:r>
                    </a:p>
                  </a:txBody>
                  <a:tcPr marL="47625" marR="47625" marT="28575" marB="28575" anchor="ctr">
                    <a:solidFill>
                      <a:srgbClr val="FFFFFF"/>
                    </a:solidFill>
                  </a:tcPr>
                </a:tc>
                <a:tc>
                  <a:txBody>
                    <a:bodyPr/>
                    <a:lstStyle/>
                    <a:p>
                      <a:pPr algn="ctr"/>
                      <a:r>
                        <a:rPr sz="2025">
                          <a:solidFill>
                            <a:srgbClr val="000000"/>
                          </a:solidFill>
                          <a:latin typeface="Calibri"/>
                          <a:ea typeface="Calibri"/>
                          <a:cs typeface="Calibri"/>
                        </a:rPr>
                        <a:t>2</a:t>
                      </a:r>
                    </a:p>
                  </a:txBody>
                  <a:tcPr marL="47625" marR="47625" marT="28575" marB="28575" anchor="ctr">
                    <a:solidFill>
                      <a:srgbClr val="FFFFFF"/>
                    </a:solidFill>
                  </a:tcPr>
                </a:tc>
                <a:extLst>
                  <a:ext uri="{0D108BD9-81ED-4DB2-BD59-A6C34878D82A}">
                    <a16:rowId xmlns:a16="http://schemas.microsoft.com/office/drawing/2014/main" val="10003"/>
                  </a:ext>
                </a:extLst>
              </a:tr>
            </a:tbl>
          </a:graphicData>
        </a:graphic>
      </p:graphicFrame>
      <p:sp>
        <p:nvSpPr>
          <p:cNvPr id="8" name="body">
            <a:extLst>
              <a:ext uri="{FF2B5EF4-FFF2-40B4-BE49-F238E27FC236}">
                <a16:creationId xmlns:a16="http://schemas.microsoft.com/office/drawing/2014/main" id="{63F6585A-4CC3-41BC-B7FD-52ABDDEB5825}"/>
              </a:ext>
            </a:extLst>
          </p:cNvPr>
          <p:cNvSpPr>
            <a:spLocks noGrp="1"/>
          </p:cNvSpPr>
          <p:nvPr/>
        </p:nvSpPr>
        <p:spPr>
          <a:xfrm>
            <a:off x="781050" y="3867150"/>
            <a:ext cx="7600950" cy="952500"/>
          </a:xfrm>
          <a:prstGeom prst="rect">
            <a:avLst/>
          </a:prstGeom>
          <a:noFill/>
          <a:ln w="0">
            <a:noFill/>
          </a:ln>
        </p:spPr>
        <p:txBody>
          <a:bodyPr wrap="square" lIns="0" tIns="0" rIns="0" bIns="0">
            <a:noAutofit/>
          </a:bodyPr>
          <a:lstStyle/>
          <a:p>
            <a:pPr>
              <a:defRPr sz="2250" b="0">
                <a:solidFill>
                  <a:srgbClr val="FF0000"/>
                </a:solidFill>
                <a:latin typeface="Calibri"/>
                <a:ea typeface="Calibri"/>
                <a:cs typeface="Calibri"/>
              </a:defRPr>
            </a:pPr>
            <a:r>
              <a:rPr sz="2250" b="0">
                <a:solidFill>
                  <a:srgbClr val="FF0000"/>
                </a:solidFill>
                <a:latin typeface="Calibri"/>
                <a:ea typeface="Calibri"/>
                <a:cs typeface="Calibri"/>
              </a:rPr>
              <a:t>Join devices to their loans using did = ref.</a:t>
            </a:r>
          </a:p>
        </p:txBody>
      </p:sp>
      <p:sp>
        <p:nvSpPr>
          <p:cNvPr id="9" name="body">
            <a:extLst>
              <a:ext uri="{FF2B5EF4-FFF2-40B4-BE49-F238E27FC236}">
                <a16:creationId xmlns:a16="http://schemas.microsoft.com/office/drawing/2014/main" id="{E167ED01-AE85-4A6E-AA90-C86CF93E9AF0}"/>
              </a:ext>
            </a:extLst>
          </p:cNvPr>
          <p:cNvSpPr>
            <a:spLocks noGrp="1"/>
          </p:cNvSpPr>
          <p:nvPr/>
        </p:nvSpPr>
        <p:spPr>
          <a:xfrm>
            <a:off x="781050" y="4638675"/>
            <a:ext cx="7600950" cy="952500"/>
          </a:xfrm>
          <a:prstGeom prst="rect">
            <a:avLst/>
          </a:prstGeom>
          <a:noFill/>
          <a:ln w="0">
            <a:noFill/>
          </a:ln>
        </p:spPr>
        <p:txBody>
          <a:bodyPr wrap="square" lIns="0" tIns="0" rIns="0" bIns="0">
            <a:noAutofit/>
          </a:bodyPr>
          <a:lstStyle/>
          <a:p>
            <a:pPr>
              <a:defRPr sz="2175" b="0">
                <a:solidFill>
                  <a:srgbClr val="000000"/>
                </a:solidFill>
                <a:latin typeface="Calibri"/>
                <a:ea typeface="Calibri"/>
                <a:cs typeface="Calibri"/>
              </a:defRPr>
            </a:pPr>
            <a:r>
              <a:rPr sz="2175" b="0">
                <a:solidFill>
                  <a:srgbClr val="000000"/>
                </a:solidFill>
                <a:latin typeface="Calibri"/>
                <a:ea typeface="Calibri"/>
                <a:cs typeface="Calibri"/>
              </a:rPr>
              <a:t>Return (did, lab, mid), following the lecture convention.</a:t>
            </a:r>
          </a:p>
        </p:txBody>
      </p:sp>
      <p:sp>
        <p:nvSpPr>
          <p:cNvPr id="10" name="body">
            <a:extLst>
              <a:ext uri="{FF2B5EF4-FFF2-40B4-BE49-F238E27FC236}">
                <a16:creationId xmlns:a16="http://schemas.microsoft.com/office/drawing/2014/main" id="{60FB1330-C7E7-4249-BCED-F88837DEF82E}"/>
              </a:ext>
            </a:extLst>
          </p:cNvPr>
          <p:cNvSpPr>
            <a:spLocks noGrp="1"/>
          </p:cNvSpPr>
          <p:nvPr/>
        </p:nvSpPr>
        <p:spPr>
          <a:xfrm>
            <a:off x="781050" y="5257800"/>
            <a:ext cx="7600950" cy="952500"/>
          </a:xfrm>
          <a:prstGeom prst="rect">
            <a:avLst/>
          </a:prstGeom>
          <a:noFill/>
          <a:ln w="0">
            <a:noFill/>
          </a:ln>
        </p:spPr>
        <p:txBody>
          <a:bodyPr wrap="square" lIns="0" tIns="0" rIns="0" bIns="0">
            <a:noAutofit/>
          </a:bodyPr>
          <a:lstStyle/>
          <a:p>
            <a:pPr>
              <a:defRPr sz="2025" b="0">
                <a:solidFill>
                  <a:srgbClr val="000000"/>
                </a:solidFill>
                <a:latin typeface="Calibri"/>
                <a:ea typeface="Calibri"/>
                <a:cs typeface="Calibri"/>
              </a:defRPr>
            </a:pPr>
            <a:r>
              <a:rPr sz="2025" b="0">
                <a:solidFill>
                  <a:srgbClr val="000000"/>
                </a:solidFill>
                <a:latin typeface="Calibri"/>
                <a:ea typeface="Calibri"/>
                <a:cs typeface="Calibri"/>
              </a:rPr>
              <a:t>Should device T3 appear in the result?</a:t>
            </a:r>
          </a:p>
        </p:txBody>
      </p:sp>
      <p:sp>
        <p:nvSpPr>
          <p:cNvPr id="9001" name="Title 1">
            <a:extLst>
              <a:ext uri="{FF2B5EF4-FFF2-40B4-BE49-F238E27FC236}">
                <a16:creationId xmlns:a16="http://schemas.microsoft.com/office/drawing/2014/main" id="{4EF27E5C-9C4D-BDBE-7667-D0B141BCC8F5}"/>
              </a:ext>
            </a:extLst>
          </p:cNvPr>
          <p:cNvSpPr>
            <a:spLocks noGrp="1"/>
          </p:cNvSpPr>
          <p:nvPr>
            <p:ph type="title"/>
          </p:nvPr>
        </p:nvSpPr>
        <p:spPr/>
        <p:txBody>
          <a:bodyPr/>
          <a:lstStyle/>
          <a:p>
            <a:r>
              <a:rPr lang="en-US">
                <a:solidFill>
                  <a:srgbClr val="FF0000"/>
                </a:solidFill>
              </a:rPr>
              <a:t>Practice: </a:t>
            </a:r>
            <a:r>
              <a:rPr lang="en-US">
                <a:solidFill>
                  <a:srgbClr val="3333CC"/>
                </a:solidFill>
              </a:rPr>
              <a:t>Q19</a:t>
            </a:r>
          </a:p>
        </p:txBody>
      </p:sp>
      <p:sp>
        <p:nvSpPr>
          <p:cNvPr id="9002" name="Slide Number Placeholder 1">
            <a:extLst>
              <a:ext uri="{FF2B5EF4-FFF2-40B4-BE49-F238E27FC236}">
                <a16:creationId xmlns:a16="http://schemas.microsoft.com/office/drawing/2014/main" id="{B90139AC-3BDA-723A-097A-000DA0A784C1}"/>
              </a:ext>
            </a:extLst>
          </p:cNvPr>
          <p:cNvSpPr>
            <a:spLocks noGrp="1"/>
          </p:cNvSpPr>
          <p:nvPr>
            <p:ph type="sldNum" sz="quarter" idx="12"/>
          </p:nvPr>
        </p:nvSpPr>
        <p:spPr/>
        <p:txBody>
          <a:bodyPr/>
          <a:lstStyle/>
          <a:p>
            <a:pPr>
              <a:defRPr/>
            </a:pPr>
            <a:fld id="{43CA101F-9E5F-9249-9862-3CE55B3BB777}" type="slidenum">
              <a:rPr lang="en-US" altLang="zh-TW" smtClean="0"/>
              <a:pPr>
                <a:defRPr/>
              </a:pPr>
              <a:t>49</a:t>
            </a:fld>
            <a:endParaRPr lang="en-US" altLang="zh-TW"/>
          </a:p>
        </p:txBody>
      </p:sp>
    </p:spTree>
    <p:extLst>
      <p:ext uri="{BB962C8B-B14F-4D97-AF65-F5344CB8AC3E}">
        <p14:creationId xmlns:p14="http://schemas.microsoft.com/office/powerpoint/2010/main" val="59915527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formula">
            <a:extLst>
              <a:ext uri="{FF2B5EF4-FFF2-40B4-BE49-F238E27FC236}">
                <a16:creationId xmlns:a16="http://schemas.microsoft.com/office/drawing/2014/main" id="{33B0D7BD-72E0-4B7A-8902-89402806B503}"/>
              </a:ext>
            </a:extLst>
          </p:cNvPr>
          <p:cNvSpPr>
            <a:spLocks noGrp="1"/>
          </p:cNvSpPr>
          <p:nvPr/>
        </p:nvSpPr>
        <p:spPr>
          <a:xfrm>
            <a:off x="847725" y="1123950"/>
            <a:ext cx="7477125" cy="523875"/>
          </a:xfrm>
          <a:prstGeom prst="rect">
            <a:avLst/>
          </a:prstGeom>
          <a:noFill/>
          <a:ln w="0">
            <a:noFill/>
          </a:ln>
        </p:spPr>
        <p:txBody>
          <a:bodyPr wrap="square" lIns="0" tIns="0" rIns="0" bIns="0">
            <a:noAutofit/>
          </a:bodyPr>
          <a:lstStyle/>
          <a:p>
            <a:pPr>
              <a:defRPr sz="2250" b="0">
                <a:solidFill>
                  <a:srgbClr val="000000"/>
                </a:solidFill>
                <a:latin typeface="Cambria Math"/>
                <a:ea typeface="Cambria Math"/>
                <a:cs typeface="Cambria Math"/>
              </a:defRPr>
            </a:pPr>
            <a:r>
              <a:rPr sz="2250" b="0">
                <a:solidFill>
                  <a:srgbClr val="000000"/>
                </a:solidFill>
                <a:latin typeface="Cambria Math"/>
                <a:ea typeface="Cambria Math"/>
                <a:cs typeface="Cambria Math"/>
              </a:rPr>
              <a:t>J ← σ</a:t>
            </a:r>
            <a:r>
              <a:rPr sz="1598" b="0" baseline="-25000">
                <a:solidFill>
                  <a:srgbClr val="000000"/>
                </a:solidFill>
                <a:latin typeface="Cambria Math"/>
                <a:ea typeface="Cambria Math"/>
                <a:cs typeface="Cambria Math"/>
              </a:rPr>
              <a:t>did=ref</a:t>
            </a:r>
            <a:r>
              <a:rPr sz="2250" b="0">
                <a:solidFill>
                  <a:srgbClr val="000000"/>
                </a:solidFill>
                <a:latin typeface="Cambria Math"/>
                <a:ea typeface="Cambria Math"/>
                <a:cs typeface="Cambria Math"/>
              </a:rPr>
              <a:t>(Device × Loan)</a:t>
            </a:r>
          </a:p>
        </p:txBody>
      </p:sp>
      <p:sp>
        <p:nvSpPr>
          <p:cNvPr id="4" name="formula">
            <a:extLst>
              <a:ext uri="{FF2B5EF4-FFF2-40B4-BE49-F238E27FC236}">
                <a16:creationId xmlns:a16="http://schemas.microsoft.com/office/drawing/2014/main" id="{6D1E4E12-3471-42B6-B1D1-4EBAD6468F98}"/>
              </a:ext>
            </a:extLst>
          </p:cNvPr>
          <p:cNvSpPr>
            <a:spLocks noGrp="1"/>
          </p:cNvSpPr>
          <p:nvPr/>
        </p:nvSpPr>
        <p:spPr>
          <a:xfrm>
            <a:off x="847725" y="1743075"/>
            <a:ext cx="7477125" cy="523875"/>
          </a:xfrm>
          <a:prstGeom prst="rect">
            <a:avLst/>
          </a:prstGeom>
          <a:noFill/>
          <a:ln w="0">
            <a:noFill/>
          </a:ln>
        </p:spPr>
        <p:txBody>
          <a:bodyPr wrap="square" lIns="0" tIns="0" rIns="0" bIns="0">
            <a:noAutofit/>
          </a:bodyPr>
          <a:lstStyle/>
          <a:p>
            <a:pPr>
              <a:defRPr sz="2250" b="0">
                <a:solidFill>
                  <a:srgbClr val="000000"/>
                </a:solidFill>
                <a:latin typeface="Cambria Math"/>
                <a:ea typeface="Cambria Math"/>
                <a:cs typeface="Cambria Math"/>
              </a:defRPr>
            </a:pPr>
            <a:r>
              <a:rPr sz="2250" b="0">
                <a:solidFill>
                  <a:srgbClr val="000000"/>
                </a:solidFill>
                <a:latin typeface="Cambria Math"/>
                <a:ea typeface="Cambria Math"/>
                <a:cs typeface="Cambria Math"/>
              </a:rPr>
              <a:t>Answer ← π</a:t>
            </a:r>
            <a:r>
              <a:rPr sz="1598" b="0" baseline="-25000">
                <a:solidFill>
                  <a:srgbClr val="000000"/>
                </a:solidFill>
                <a:latin typeface="Cambria Math"/>
                <a:ea typeface="Cambria Math"/>
                <a:cs typeface="Cambria Math"/>
              </a:rPr>
              <a:t>did,lab,mid</a:t>
            </a:r>
            <a:r>
              <a:rPr sz="2250" b="0">
                <a:solidFill>
                  <a:srgbClr val="000000"/>
                </a:solidFill>
                <a:latin typeface="Cambria Math"/>
                <a:ea typeface="Cambria Math"/>
                <a:cs typeface="Cambria Math"/>
              </a:rPr>
              <a:t>(J)</a:t>
            </a:r>
          </a:p>
        </p:txBody>
      </p:sp>
      <p:sp>
        <p:nvSpPr>
          <p:cNvPr id="5" name="body">
            <a:extLst>
              <a:ext uri="{FF2B5EF4-FFF2-40B4-BE49-F238E27FC236}">
                <a16:creationId xmlns:a16="http://schemas.microsoft.com/office/drawing/2014/main" id="{98CFCCCD-467D-4125-9ABA-14CF6221BEAD}"/>
              </a:ext>
            </a:extLst>
          </p:cNvPr>
          <p:cNvSpPr>
            <a:spLocks noGrp="1"/>
          </p:cNvSpPr>
          <p:nvPr/>
        </p:nvSpPr>
        <p:spPr>
          <a:xfrm>
            <a:off x="1485900" y="2667000"/>
            <a:ext cx="6000750" cy="361950"/>
          </a:xfrm>
          <a:prstGeom prst="rect">
            <a:avLst/>
          </a:prstGeom>
          <a:noFill/>
          <a:ln w="0">
            <a:noFill/>
          </a:ln>
        </p:spPr>
        <p:txBody>
          <a:bodyPr wrap="square" lIns="0" tIns="0" rIns="0" bIns="0">
            <a:noAutofit/>
          </a:bodyPr>
          <a:lstStyle/>
          <a:p>
            <a:pPr>
              <a:defRPr sz="2250" b="0">
                <a:solidFill>
                  <a:srgbClr val="000000"/>
                </a:solidFill>
                <a:latin typeface="Calibri"/>
                <a:ea typeface="Calibri"/>
                <a:cs typeface="Calibri"/>
              </a:defRPr>
            </a:pPr>
            <a:r>
              <a:rPr sz="2250" b="0">
                <a:solidFill>
                  <a:srgbClr val="000000"/>
                </a:solidFill>
                <a:latin typeface="Calibri"/>
                <a:ea typeface="Calibri"/>
                <a:cs typeface="Calibri"/>
              </a:rPr>
              <a:t>Answer</a:t>
            </a:r>
          </a:p>
        </p:txBody>
      </p:sp>
      <p:graphicFrame>
        <p:nvGraphicFramePr>
          <p:cNvPr id="13" name="表格 12"/>
          <p:cNvGraphicFramePr/>
          <p:nvPr/>
        </p:nvGraphicFramePr>
        <p:xfrm>
          <a:off x="1562100" y="3086100"/>
          <a:ext cx="6000750" cy="1638300"/>
        </p:xfrm>
        <a:graphic>
          <a:graphicData uri="http://schemas.openxmlformats.org/drawingml/2006/table">
            <a:tbl>
              <a:tblPr/>
              <a:tblGrid>
                <a:gridCol w="2000250">
                  <a:extLst>
                    <a:ext uri="{9D8B030D-6E8A-4147-A177-3AD203B41FA5}">
                      <a16:colId xmlns:a16="http://schemas.microsoft.com/office/drawing/2014/main" val="20000"/>
                    </a:ext>
                  </a:extLst>
                </a:gridCol>
                <a:gridCol w="2000250">
                  <a:extLst>
                    <a:ext uri="{9D8B030D-6E8A-4147-A177-3AD203B41FA5}">
                      <a16:colId xmlns:a16="http://schemas.microsoft.com/office/drawing/2014/main" val="20001"/>
                    </a:ext>
                  </a:extLst>
                </a:gridCol>
                <a:gridCol w="2000250">
                  <a:extLst>
                    <a:ext uri="{9D8B030D-6E8A-4147-A177-3AD203B41FA5}">
                      <a16:colId xmlns:a16="http://schemas.microsoft.com/office/drawing/2014/main" val="20002"/>
                    </a:ext>
                  </a:extLst>
                </a:gridCol>
              </a:tblGrid>
              <a:tr h="409575">
                <a:tc>
                  <a:txBody>
                    <a:bodyPr/>
                    <a:lstStyle/>
                    <a:p>
                      <a:pPr algn="ctr"/>
                      <a:r>
                        <a:rPr sz="2100">
                          <a:solidFill>
                            <a:srgbClr val="000000"/>
                          </a:solidFill>
                          <a:latin typeface="Calibri"/>
                          <a:ea typeface="Calibri"/>
                          <a:cs typeface="Calibri"/>
                        </a:rPr>
                        <a:t>did</a:t>
                      </a:r>
                    </a:p>
                  </a:txBody>
                  <a:tcPr marL="47625" marR="47625" marT="28575" marB="28575" anchor="ctr">
                    <a:solidFill>
                      <a:srgbClr val="D9D9D9"/>
                    </a:solidFill>
                  </a:tcPr>
                </a:tc>
                <a:tc>
                  <a:txBody>
                    <a:bodyPr/>
                    <a:lstStyle/>
                    <a:p>
                      <a:pPr algn="ctr"/>
                      <a:r>
                        <a:rPr sz="2100">
                          <a:solidFill>
                            <a:srgbClr val="000000"/>
                          </a:solidFill>
                          <a:latin typeface="Calibri"/>
                          <a:ea typeface="Calibri"/>
                          <a:cs typeface="Calibri"/>
                        </a:rPr>
                        <a:t>lab</a:t>
                      </a:r>
                    </a:p>
                  </a:txBody>
                  <a:tcPr marL="47625" marR="47625" marT="28575" marB="28575" anchor="ctr">
                    <a:solidFill>
                      <a:srgbClr val="D9D9D9"/>
                    </a:solidFill>
                  </a:tcPr>
                </a:tc>
                <a:tc>
                  <a:txBody>
                    <a:bodyPr/>
                    <a:lstStyle/>
                    <a:p>
                      <a:pPr algn="ctr"/>
                      <a:r>
                        <a:rPr sz="2100">
                          <a:solidFill>
                            <a:srgbClr val="000000"/>
                          </a:solidFill>
                          <a:latin typeface="Calibri"/>
                          <a:ea typeface="Calibri"/>
                          <a:cs typeface="Calibri"/>
                        </a:rPr>
                        <a:t>mid</a:t>
                      </a:r>
                    </a:p>
                  </a:txBody>
                  <a:tcPr marL="47625" marR="47625" marT="28575" marB="28575" anchor="ctr">
                    <a:solidFill>
                      <a:srgbClr val="D9D9D9"/>
                    </a:solidFill>
                  </a:tcPr>
                </a:tc>
                <a:extLst>
                  <a:ext uri="{0D108BD9-81ED-4DB2-BD59-A6C34878D82A}">
                    <a16:rowId xmlns:a16="http://schemas.microsoft.com/office/drawing/2014/main" val="10000"/>
                  </a:ext>
                </a:extLst>
              </a:tr>
              <a:tr h="409575">
                <a:tc>
                  <a:txBody>
                    <a:bodyPr/>
                    <a:lstStyle/>
                    <a:p>
                      <a:pPr algn="ctr"/>
                      <a:r>
                        <a:rPr sz="2100">
                          <a:solidFill>
                            <a:srgbClr val="000000"/>
                          </a:solidFill>
                          <a:latin typeface="Calibri"/>
                          <a:ea typeface="Calibri"/>
                          <a:cs typeface="Calibri"/>
                        </a:rPr>
                        <a:t>T1</a:t>
                      </a:r>
                    </a:p>
                  </a:txBody>
                  <a:tcPr marL="47625" marR="47625" marT="28575" marB="28575" anchor="ctr">
                    <a:solidFill>
                      <a:srgbClr val="FFFFFF"/>
                    </a:solidFill>
                  </a:tcPr>
                </a:tc>
                <a:tc>
                  <a:txBody>
                    <a:bodyPr/>
                    <a:lstStyle/>
                    <a:p>
                      <a:pPr algn="ctr"/>
                      <a:r>
                        <a:rPr sz="2100">
                          <a:solidFill>
                            <a:srgbClr val="000000"/>
                          </a:solidFill>
                          <a:latin typeface="Calibri"/>
                          <a:ea typeface="Calibri"/>
                          <a:cs typeface="Calibri"/>
                        </a:rPr>
                        <a:t>North</a:t>
                      </a:r>
                    </a:p>
                  </a:txBody>
                  <a:tcPr marL="47625" marR="47625" marT="28575" marB="28575" anchor="ctr">
                    <a:solidFill>
                      <a:srgbClr val="FFFFFF"/>
                    </a:solidFill>
                  </a:tcPr>
                </a:tc>
                <a:tc>
                  <a:txBody>
                    <a:bodyPr/>
                    <a:lstStyle/>
                    <a:p>
                      <a:pPr algn="ctr"/>
                      <a:r>
                        <a:rPr sz="2100">
                          <a:solidFill>
                            <a:srgbClr val="000000"/>
                          </a:solidFill>
                          <a:latin typeface="Calibri"/>
                          <a:ea typeface="Calibri"/>
                          <a:cs typeface="Calibri"/>
                        </a:rPr>
                        <a:t>1</a:t>
                      </a:r>
                    </a:p>
                  </a:txBody>
                  <a:tcPr marL="47625" marR="47625" marT="28575" marB="28575" anchor="ctr">
                    <a:solidFill>
                      <a:srgbClr val="FFFFFF"/>
                    </a:solidFill>
                  </a:tcPr>
                </a:tc>
                <a:extLst>
                  <a:ext uri="{0D108BD9-81ED-4DB2-BD59-A6C34878D82A}">
                    <a16:rowId xmlns:a16="http://schemas.microsoft.com/office/drawing/2014/main" val="10001"/>
                  </a:ext>
                </a:extLst>
              </a:tr>
              <a:tr h="409575">
                <a:tc>
                  <a:txBody>
                    <a:bodyPr/>
                    <a:lstStyle/>
                    <a:p>
                      <a:pPr algn="ctr"/>
                      <a:r>
                        <a:rPr sz="2100">
                          <a:solidFill>
                            <a:srgbClr val="000000"/>
                          </a:solidFill>
                          <a:latin typeface="Calibri"/>
                          <a:ea typeface="Calibri"/>
                          <a:cs typeface="Calibri"/>
                        </a:rPr>
                        <a:t>T1</a:t>
                      </a:r>
                    </a:p>
                  </a:txBody>
                  <a:tcPr marL="47625" marR="47625" marT="28575" marB="28575" anchor="ctr">
                    <a:solidFill>
                      <a:srgbClr val="FFFFFF"/>
                    </a:solidFill>
                  </a:tcPr>
                </a:tc>
                <a:tc>
                  <a:txBody>
                    <a:bodyPr/>
                    <a:lstStyle/>
                    <a:p>
                      <a:pPr algn="ctr"/>
                      <a:r>
                        <a:rPr sz="2100">
                          <a:solidFill>
                            <a:srgbClr val="000000"/>
                          </a:solidFill>
                          <a:latin typeface="Calibri"/>
                          <a:ea typeface="Calibri"/>
                          <a:cs typeface="Calibri"/>
                        </a:rPr>
                        <a:t>North</a:t>
                      </a:r>
                    </a:p>
                  </a:txBody>
                  <a:tcPr marL="47625" marR="47625" marT="28575" marB="28575" anchor="ctr">
                    <a:solidFill>
                      <a:srgbClr val="FFFFFF"/>
                    </a:solidFill>
                  </a:tcPr>
                </a:tc>
                <a:tc>
                  <a:txBody>
                    <a:bodyPr/>
                    <a:lstStyle/>
                    <a:p>
                      <a:pPr algn="ctr"/>
                      <a:r>
                        <a:rPr sz="2100">
                          <a:solidFill>
                            <a:srgbClr val="000000"/>
                          </a:solidFill>
                          <a:latin typeface="Calibri"/>
                          <a:ea typeface="Calibri"/>
                          <a:cs typeface="Calibri"/>
                        </a:rPr>
                        <a:t>3</a:t>
                      </a:r>
                    </a:p>
                  </a:txBody>
                  <a:tcPr marL="47625" marR="47625" marT="28575" marB="28575" anchor="ctr">
                    <a:solidFill>
                      <a:srgbClr val="FFFFFF"/>
                    </a:solidFill>
                  </a:tcPr>
                </a:tc>
                <a:extLst>
                  <a:ext uri="{0D108BD9-81ED-4DB2-BD59-A6C34878D82A}">
                    <a16:rowId xmlns:a16="http://schemas.microsoft.com/office/drawing/2014/main" val="10002"/>
                  </a:ext>
                </a:extLst>
              </a:tr>
              <a:tr h="409575">
                <a:tc>
                  <a:txBody>
                    <a:bodyPr/>
                    <a:lstStyle/>
                    <a:p>
                      <a:pPr algn="ctr"/>
                      <a:r>
                        <a:rPr sz="2100">
                          <a:solidFill>
                            <a:srgbClr val="000000"/>
                          </a:solidFill>
                          <a:latin typeface="Calibri"/>
                          <a:ea typeface="Calibri"/>
                          <a:cs typeface="Calibri"/>
                        </a:rPr>
                        <a:t>T2</a:t>
                      </a:r>
                    </a:p>
                  </a:txBody>
                  <a:tcPr marL="47625" marR="47625" marT="28575" marB="28575" anchor="ctr">
                    <a:solidFill>
                      <a:srgbClr val="FFFFFF"/>
                    </a:solidFill>
                  </a:tcPr>
                </a:tc>
                <a:tc>
                  <a:txBody>
                    <a:bodyPr/>
                    <a:lstStyle/>
                    <a:p>
                      <a:pPr algn="ctr"/>
                      <a:r>
                        <a:rPr sz="2100">
                          <a:solidFill>
                            <a:srgbClr val="000000"/>
                          </a:solidFill>
                          <a:latin typeface="Calibri"/>
                          <a:ea typeface="Calibri"/>
                          <a:cs typeface="Calibri"/>
                        </a:rPr>
                        <a:t>South</a:t>
                      </a:r>
                    </a:p>
                  </a:txBody>
                  <a:tcPr marL="47625" marR="47625" marT="28575" marB="28575" anchor="ctr">
                    <a:solidFill>
                      <a:srgbClr val="FFFFFF"/>
                    </a:solidFill>
                  </a:tcPr>
                </a:tc>
                <a:tc>
                  <a:txBody>
                    <a:bodyPr/>
                    <a:lstStyle/>
                    <a:p>
                      <a:pPr algn="ctr"/>
                      <a:r>
                        <a:rPr sz="2100">
                          <a:solidFill>
                            <a:srgbClr val="000000"/>
                          </a:solidFill>
                          <a:latin typeface="Calibri"/>
                          <a:ea typeface="Calibri"/>
                          <a:cs typeface="Calibri"/>
                        </a:rPr>
                        <a:t>2</a:t>
                      </a:r>
                    </a:p>
                  </a:txBody>
                  <a:tcPr marL="47625" marR="47625" marT="28575" marB="28575" anchor="ctr">
                    <a:solidFill>
                      <a:srgbClr val="FFFFFF"/>
                    </a:solidFill>
                  </a:tcPr>
                </a:tc>
                <a:extLst>
                  <a:ext uri="{0D108BD9-81ED-4DB2-BD59-A6C34878D82A}">
                    <a16:rowId xmlns:a16="http://schemas.microsoft.com/office/drawing/2014/main" val="10003"/>
                  </a:ext>
                </a:extLst>
              </a:tr>
            </a:tbl>
          </a:graphicData>
        </a:graphic>
      </p:graphicFrame>
      <p:sp>
        <p:nvSpPr>
          <p:cNvPr id="7" name="body">
            <a:extLst>
              <a:ext uri="{FF2B5EF4-FFF2-40B4-BE49-F238E27FC236}">
                <a16:creationId xmlns:a16="http://schemas.microsoft.com/office/drawing/2014/main" id="{03BBA121-C756-442D-9DA2-8521672CCB1B}"/>
              </a:ext>
            </a:extLst>
          </p:cNvPr>
          <p:cNvSpPr>
            <a:spLocks noGrp="1"/>
          </p:cNvSpPr>
          <p:nvPr/>
        </p:nvSpPr>
        <p:spPr>
          <a:xfrm>
            <a:off x="781050" y="5229225"/>
            <a:ext cx="7600950" cy="952500"/>
          </a:xfrm>
          <a:prstGeom prst="rect">
            <a:avLst/>
          </a:prstGeom>
          <a:noFill/>
          <a:ln w="0">
            <a:noFill/>
          </a:ln>
        </p:spPr>
        <p:txBody>
          <a:bodyPr wrap="square" lIns="0" tIns="0" rIns="0" bIns="0">
            <a:noAutofit/>
          </a:bodyPr>
          <a:lstStyle/>
          <a:p>
            <a:pPr>
              <a:defRPr sz="2250" b="0">
                <a:solidFill>
                  <a:srgbClr val="FF0000"/>
                </a:solidFill>
                <a:latin typeface="Calibri"/>
                <a:ea typeface="Calibri"/>
                <a:cs typeface="Calibri"/>
              </a:defRPr>
            </a:pPr>
            <a:r>
              <a:rPr sz="2250" b="0">
                <a:solidFill>
                  <a:srgbClr val="FF0000"/>
                </a:solidFill>
                <a:latin typeface="Calibri"/>
                <a:ea typeface="Calibri"/>
                <a:cs typeface="Calibri"/>
              </a:rPr>
              <a:t>Drop ref after matching. T3 has no matching loan.</a:t>
            </a:r>
          </a:p>
        </p:txBody>
      </p:sp>
      <p:sp>
        <p:nvSpPr>
          <p:cNvPr id="9001" name="Title 1">
            <a:extLst>
              <a:ext uri="{FF2B5EF4-FFF2-40B4-BE49-F238E27FC236}">
                <a16:creationId xmlns:a16="http://schemas.microsoft.com/office/drawing/2014/main" id="{4EF27E5C-9C4D-BDBE-7667-D0B141BCC8F5}"/>
              </a:ext>
            </a:extLst>
          </p:cNvPr>
          <p:cNvSpPr>
            <a:spLocks noGrp="1"/>
          </p:cNvSpPr>
          <p:nvPr>
            <p:ph type="title"/>
          </p:nvPr>
        </p:nvSpPr>
        <p:spPr/>
        <p:txBody>
          <a:bodyPr/>
          <a:lstStyle/>
          <a:p>
            <a:r>
              <a:rPr lang="en-US">
                <a:solidFill>
                  <a:srgbClr val="FF0000"/>
                </a:solidFill>
              </a:rPr>
              <a:t>Solutions: </a:t>
            </a:r>
            <a:r>
              <a:rPr lang="en-US">
                <a:solidFill>
                  <a:srgbClr val="3333CC"/>
                </a:solidFill>
              </a:rPr>
              <a:t>Q19</a:t>
            </a:r>
          </a:p>
        </p:txBody>
      </p:sp>
      <p:sp>
        <p:nvSpPr>
          <p:cNvPr id="9002" name="Slide Number Placeholder 1">
            <a:extLst>
              <a:ext uri="{FF2B5EF4-FFF2-40B4-BE49-F238E27FC236}">
                <a16:creationId xmlns:a16="http://schemas.microsoft.com/office/drawing/2014/main" id="{B90139AC-3BDA-723A-097A-000DA0A784C1}"/>
              </a:ext>
            </a:extLst>
          </p:cNvPr>
          <p:cNvSpPr>
            <a:spLocks noGrp="1"/>
          </p:cNvSpPr>
          <p:nvPr>
            <p:ph type="sldNum" sz="quarter" idx="12"/>
          </p:nvPr>
        </p:nvSpPr>
        <p:spPr/>
        <p:txBody>
          <a:bodyPr/>
          <a:lstStyle/>
          <a:p>
            <a:pPr>
              <a:defRPr/>
            </a:pPr>
            <a:fld id="{43CA101F-9E5F-9249-9862-3CE55B3BB777}" type="slidenum">
              <a:rPr lang="en-US" altLang="zh-TW" smtClean="0"/>
              <a:pPr>
                <a:defRPr/>
              </a:pPr>
              <a:t>50</a:t>
            </a:fld>
            <a:endParaRPr lang="en-US" altLang="zh-TW"/>
          </a:p>
        </p:txBody>
      </p:sp>
    </p:spTree>
    <p:extLst>
      <p:ext uri="{BB962C8B-B14F-4D97-AF65-F5344CB8AC3E}">
        <p14:creationId xmlns:p14="http://schemas.microsoft.com/office/powerpoint/2010/main" val="110709977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body">
            <a:extLst>
              <a:ext uri="{FF2B5EF4-FFF2-40B4-BE49-F238E27FC236}">
                <a16:creationId xmlns:a16="http://schemas.microsoft.com/office/drawing/2014/main" id="{57AB460F-9678-4DC8-86F5-AB757C422644}"/>
              </a:ext>
            </a:extLst>
          </p:cNvPr>
          <p:cNvSpPr>
            <a:spLocks noGrp="1"/>
          </p:cNvSpPr>
          <p:nvPr/>
        </p:nvSpPr>
        <p:spPr>
          <a:xfrm>
            <a:off x="781050" y="5876925"/>
            <a:ext cx="7620000" cy="285750"/>
          </a:xfrm>
          <a:prstGeom prst="rect">
            <a:avLst/>
          </a:prstGeom>
          <a:noFill/>
          <a:ln w="0">
            <a:noFill/>
          </a:ln>
        </p:spPr>
        <p:txBody>
          <a:bodyPr wrap="square" lIns="0" tIns="0" rIns="0" bIns="0">
            <a:noAutofit/>
          </a:bodyPr>
          <a:lstStyle/>
          <a:p>
            <a:pPr>
              <a:defRPr sz="1725" b="0">
                <a:solidFill>
                  <a:srgbClr val="3333CC"/>
                </a:solidFill>
                <a:latin typeface="Calibri"/>
                <a:ea typeface="Calibri"/>
                <a:cs typeface="Calibri"/>
              </a:defRPr>
            </a:pPr>
            <a:r>
              <a:rPr sz="1725" b="0">
                <a:solidFill>
                  <a:srgbClr val="3333CC"/>
                </a:solidFill>
                <a:latin typeface="Calibri"/>
                <a:ea typeface="Calibri"/>
                <a:cs typeface="Calibri"/>
              </a:rPr>
              <a:t>Think: 30 s</a:t>
            </a:r>
          </a:p>
        </p:txBody>
      </p:sp>
      <p:sp>
        <p:nvSpPr>
          <p:cNvPr id="4" name="body">
            <a:extLst>
              <a:ext uri="{FF2B5EF4-FFF2-40B4-BE49-F238E27FC236}">
                <a16:creationId xmlns:a16="http://schemas.microsoft.com/office/drawing/2014/main" id="{7BB97CE9-1035-4660-814B-201481DD7905}"/>
              </a:ext>
            </a:extLst>
          </p:cNvPr>
          <p:cNvSpPr>
            <a:spLocks noGrp="1"/>
          </p:cNvSpPr>
          <p:nvPr/>
        </p:nvSpPr>
        <p:spPr>
          <a:xfrm>
            <a:off x="895350" y="1257300"/>
            <a:ext cx="3286125" cy="361950"/>
          </a:xfrm>
          <a:prstGeom prst="rect">
            <a:avLst/>
          </a:prstGeom>
          <a:noFill/>
          <a:ln w="0">
            <a:noFill/>
          </a:ln>
        </p:spPr>
        <p:txBody>
          <a:bodyPr wrap="square" lIns="0" tIns="0" rIns="0" bIns="0">
            <a:noAutofit/>
          </a:bodyPr>
          <a:lstStyle/>
          <a:p>
            <a:pPr>
              <a:defRPr sz="2250" b="0">
                <a:solidFill>
                  <a:srgbClr val="000000"/>
                </a:solidFill>
                <a:latin typeface="Calibri"/>
                <a:ea typeface="Calibri"/>
                <a:cs typeface="Calibri"/>
              </a:defRPr>
            </a:pPr>
            <a:r>
              <a:rPr sz="2250" b="0">
                <a:solidFill>
                  <a:srgbClr val="000000"/>
                </a:solidFill>
                <a:latin typeface="Calibri"/>
                <a:ea typeface="Calibri"/>
                <a:cs typeface="Calibri"/>
              </a:rPr>
              <a:t>Device</a:t>
            </a:r>
          </a:p>
        </p:txBody>
      </p:sp>
      <p:graphicFrame>
        <p:nvGraphicFramePr>
          <p:cNvPr id="14" name="表格 13"/>
          <p:cNvGraphicFramePr/>
          <p:nvPr/>
        </p:nvGraphicFramePr>
        <p:xfrm>
          <a:off x="971550" y="1676400"/>
          <a:ext cx="3286126" cy="1638300"/>
        </p:xfrm>
        <a:graphic>
          <a:graphicData uri="http://schemas.openxmlformats.org/drawingml/2006/table">
            <a:tbl>
              <a:tblPr/>
              <a:tblGrid>
                <a:gridCol w="1643063">
                  <a:extLst>
                    <a:ext uri="{9D8B030D-6E8A-4147-A177-3AD203B41FA5}">
                      <a16:colId xmlns:a16="http://schemas.microsoft.com/office/drawing/2014/main" val="20000"/>
                    </a:ext>
                  </a:extLst>
                </a:gridCol>
                <a:gridCol w="1643063">
                  <a:extLst>
                    <a:ext uri="{9D8B030D-6E8A-4147-A177-3AD203B41FA5}">
                      <a16:colId xmlns:a16="http://schemas.microsoft.com/office/drawing/2014/main" val="20001"/>
                    </a:ext>
                  </a:extLst>
                </a:gridCol>
              </a:tblGrid>
              <a:tr h="409575">
                <a:tc>
                  <a:txBody>
                    <a:bodyPr/>
                    <a:lstStyle/>
                    <a:p>
                      <a:pPr algn="ctr"/>
                      <a:r>
                        <a:rPr sz="1950">
                          <a:solidFill>
                            <a:srgbClr val="000000"/>
                          </a:solidFill>
                          <a:latin typeface="Calibri"/>
                          <a:ea typeface="Calibri"/>
                          <a:cs typeface="Calibri"/>
                        </a:rPr>
                        <a:t>did</a:t>
                      </a:r>
                    </a:p>
                  </a:txBody>
                  <a:tcPr marL="47625" marR="47625" marT="28575" marB="28575" anchor="ctr">
                    <a:solidFill>
                      <a:srgbClr val="D9D9D9"/>
                    </a:solidFill>
                  </a:tcPr>
                </a:tc>
                <a:tc>
                  <a:txBody>
                    <a:bodyPr/>
                    <a:lstStyle/>
                    <a:p>
                      <a:pPr algn="ctr"/>
                      <a:r>
                        <a:rPr sz="1950">
                          <a:solidFill>
                            <a:srgbClr val="000000"/>
                          </a:solidFill>
                          <a:latin typeface="Calibri"/>
                          <a:ea typeface="Calibri"/>
                          <a:cs typeface="Calibri"/>
                        </a:rPr>
                        <a:t>lab</a:t>
                      </a:r>
                    </a:p>
                  </a:txBody>
                  <a:tcPr marL="47625" marR="47625" marT="28575" marB="28575" anchor="ctr">
                    <a:solidFill>
                      <a:srgbClr val="D9D9D9"/>
                    </a:solidFill>
                  </a:tcPr>
                </a:tc>
                <a:extLst>
                  <a:ext uri="{0D108BD9-81ED-4DB2-BD59-A6C34878D82A}">
                    <a16:rowId xmlns:a16="http://schemas.microsoft.com/office/drawing/2014/main" val="10000"/>
                  </a:ext>
                </a:extLst>
              </a:tr>
              <a:tr h="409575">
                <a:tc>
                  <a:txBody>
                    <a:bodyPr/>
                    <a:lstStyle/>
                    <a:p>
                      <a:pPr algn="ctr"/>
                      <a:r>
                        <a:rPr sz="1950">
                          <a:solidFill>
                            <a:srgbClr val="000000"/>
                          </a:solidFill>
                          <a:latin typeface="Calibri"/>
                          <a:ea typeface="Calibri"/>
                          <a:cs typeface="Calibri"/>
                        </a:rPr>
                        <a:t>T1</a:t>
                      </a:r>
                    </a:p>
                  </a:txBody>
                  <a:tcPr marL="47625" marR="47625" marT="28575" marB="28575" anchor="ctr">
                    <a:solidFill>
                      <a:srgbClr val="FFFFFF"/>
                    </a:solidFill>
                  </a:tcPr>
                </a:tc>
                <a:tc>
                  <a:txBody>
                    <a:bodyPr/>
                    <a:lstStyle/>
                    <a:p>
                      <a:pPr algn="ctr"/>
                      <a:r>
                        <a:rPr sz="1950">
                          <a:solidFill>
                            <a:srgbClr val="000000"/>
                          </a:solidFill>
                          <a:latin typeface="Calibri"/>
                          <a:ea typeface="Calibri"/>
                          <a:cs typeface="Calibri"/>
                        </a:rPr>
                        <a:t>North</a:t>
                      </a:r>
                    </a:p>
                  </a:txBody>
                  <a:tcPr marL="47625" marR="47625" marT="28575" marB="28575" anchor="ctr">
                    <a:solidFill>
                      <a:srgbClr val="FFFFFF"/>
                    </a:solidFill>
                  </a:tcPr>
                </a:tc>
                <a:extLst>
                  <a:ext uri="{0D108BD9-81ED-4DB2-BD59-A6C34878D82A}">
                    <a16:rowId xmlns:a16="http://schemas.microsoft.com/office/drawing/2014/main" val="10001"/>
                  </a:ext>
                </a:extLst>
              </a:tr>
              <a:tr h="409575">
                <a:tc>
                  <a:txBody>
                    <a:bodyPr/>
                    <a:lstStyle/>
                    <a:p>
                      <a:pPr algn="ctr"/>
                      <a:r>
                        <a:rPr sz="1950">
                          <a:solidFill>
                            <a:srgbClr val="000000"/>
                          </a:solidFill>
                          <a:latin typeface="Calibri"/>
                          <a:ea typeface="Calibri"/>
                          <a:cs typeface="Calibri"/>
                        </a:rPr>
                        <a:t>T2</a:t>
                      </a:r>
                    </a:p>
                  </a:txBody>
                  <a:tcPr marL="47625" marR="47625" marT="28575" marB="28575" anchor="ctr">
                    <a:solidFill>
                      <a:srgbClr val="FFFFFF"/>
                    </a:solidFill>
                  </a:tcPr>
                </a:tc>
                <a:tc>
                  <a:txBody>
                    <a:bodyPr/>
                    <a:lstStyle/>
                    <a:p>
                      <a:pPr algn="ctr"/>
                      <a:r>
                        <a:rPr sz="1950">
                          <a:solidFill>
                            <a:srgbClr val="000000"/>
                          </a:solidFill>
                          <a:latin typeface="Calibri"/>
                          <a:ea typeface="Calibri"/>
                          <a:cs typeface="Calibri"/>
                        </a:rPr>
                        <a:t>South</a:t>
                      </a:r>
                    </a:p>
                  </a:txBody>
                  <a:tcPr marL="47625" marR="47625" marT="28575" marB="28575" anchor="ctr">
                    <a:solidFill>
                      <a:srgbClr val="FFFFFF"/>
                    </a:solidFill>
                  </a:tcPr>
                </a:tc>
                <a:extLst>
                  <a:ext uri="{0D108BD9-81ED-4DB2-BD59-A6C34878D82A}">
                    <a16:rowId xmlns:a16="http://schemas.microsoft.com/office/drawing/2014/main" val="10002"/>
                  </a:ext>
                </a:extLst>
              </a:tr>
              <a:tr h="409575">
                <a:tc>
                  <a:txBody>
                    <a:bodyPr/>
                    <a:lstStyle/>
                    <a:p>
                      <a:pPr algn="ctr"/>
                      <a:r>
                        <a:rPr sz="1950">
                          <a:solidFill>
                            <a:srgbClr val="000000"/>
                          </a:solidFill>
                          <a:latin typeface="Calibri"/>
                          <a:ea typeface="Calibri"/>
                          <a:cs typeface="Calibri"/>
                        </a:rPr>
                        <a:t>T3</a:t>
                      </a:r>
                    </a:p>
                  </a:txBody>
                  <a:tcPr marL="47625" marR="47625" marT="28575" marB="28575" anchor="ctr">
                    <a:solidFill>
                      <a:srgbClr val="FFFFFF"/>
                    </a:solidFill>
                  </a:tcPr>
                </a:tc>
                <a:tc>
                  <a:txBody>
                    <a:bodyPr/>
                    <a:lstStyle/>
                    <a:p>
                      <a:pPr algn="ctr"/>
                      <a:r>
                        <a:rPr sz="1950">
                          <a:solidFill>
                            <a:srgbClr val="000000"/>
                          </a:solidFill>
                          <a:latin typeface="Calibri"/>
                          <a:ea typeface="Calibri"/>
                          <a:cs typeface="Calibri"/>
                        </a:rPr>
                        <a:t>North</a:t>
                      </a:r>
                    </a:p>
                  </a:txBody>
                  <a:tcPr marL="47625" marR="47625" marT="28575" marB="28575" anchor="ctr">
                    <a:solidFill>
                      <a:srgbClr val="FFFFFF"/>
                    </a:solidFill>
                  </a:tcPr>
                </a:tc>
                <a:extLst>
                  <a:ext uri="{0D108BD9-81ED-4DB2-BD59-A6C34878D82A}">
                    <a16:rowId xmlns:a16="http://schemas.microsoft.com/office/drawing/2014/main" val="10003"/>
                  </a:ext>
                </a:extLst>
              </a:tr>
            </a:tbl>
          </a:graphicData>
        </a:graphic>
      </p:graphicFrame>
      <p:sp>
        <p:nvSpPr>
          <p:cNvPr id="6" name="body">
            <a:extLst>
              <a:ext uri="{FF2B5EF4-FFF2-40B4-BE49-F238E27FC236}">
                <a16:creationId xmlns:a16="http://schemas.microsoft.com/office/drawing/2014/main" id="{37FBB1BE-BE30-4A51-82FB-933F21FCCB8A}"/>
              </a:ext>
            </a:extLst>
          </p:cNvPr>
          <p:cNvSpPr>
            <a:spLocks noGrp="1"/>
          </p:cNvSpPr>
          <p:nvPr/>
        </p:nvSpPr>
        <p:spPr>
          <a:xfrm>
            <a:off x="4905375" y="1257300"/>
            <a:ext cx="3143250" cy="361950"/>
          </a:xfrm>
          <a:prstGeom prst="rect">
            <a:avLst/>
          </a:prstGeom>
          <a:noFill/>
          <a:ln w="0">
            <a:noFill/>
          </a:ln>
        </p:spPr>
        <p:txBody>
          <a:bodyPr wrap="square" lIns="0" tIns="0" rIns="0" bIns="0">
            <a:noAutofit/>
          </a:bodyPr>
          <a:lstStyle/>
          <a:p>
            <a:pPr>
              <a:defRPr sz="2250" b="0">
                <a:solidFill>
                  <a:srgbClr val="000000"/>
                </a:solidFill>
                <a:latin typeface="Calibri"/>
                <a:ea typeface="Calibri"/>
                <a:cs typeface="Calibri"/>
              </a:defRPr>
            </a:pPr>
            <a:r>
              <a:rPr sz="2250" b="0">
                <a:solidFill>
                  <a:srgbClr val="000000"/>
                </a:solidFill>
                <a:latin typeface="Calibri"/>
                <a:ea typeface="Calibri"/>
                <a:cs typeface="Calibri"/>
              </a:rPr>
              <a:t>Loan</a:t>
            </a:r>
          </a:p>
        </p:txBody>
      </p:sp>
      <p:graphicFrame>
        <p:nvGraphicFramePr>
          <p:cNvPr id="16" name="表格 15"/>
          <p:cNvGraphicFramePr/>
          <p:nvPr/>
        </p:nvGraphicFramePr>
        <p:xfrm>
          <a:off x="4981575" y="1676400"/>
          <a:ext cx="3143250" cy="1638300"/>
        </p:xfrm>
        <a:graphic>
          <a:graphicData uri="http://schemas.openxmlformats.org/drawingml/2006/table">
            <a:tbl>
              <a:tblPr/>
              <a:tblGrid>
                <a:gridCol w="1571625">
                  <a:extLst>
                    <a:ext uri="{9D8B030D-6E8A-4147-A177-3AD203B41FA5}">
                      <a16:colId xmlns:a16="http://schemas.microsoft.com/office/drawing/2014/main" val="20000"/>
                    </a:ext>
                  </a:extLst>
                </a:gridCol>
                <a:gridCol w="1571625">
                  <a:extLst>
                    <a:ext uri="{9D8B030D-6E8A-4147-A177-3AD203B41FA5}">
                      <a16:colId xmlns:a16="http://schemas.microsoft.com/office/drawing/2014/main" val="20001"/>
                    </a:ext>
                  </a:extLst>
                </a:gridCol>
              </a:tblGrid>
              <a:tr h="409575">
                <a:tc>
                  <a:txBody>
                    <a:bodyPr/>
                    <a:lstStyle/>
                    <a:p>
                      <a:pPr algn="ctr"/>
                      <a:r>
                        <a:rPr sz="1950">
                          <a:solidFill>
                            <a:srgbClr val="000000"/>
                          </a:solidFill>
                          <a:latin typeface="Calibri"/>
                          <a:ea typeface="Calibri"/>
                          <a:cs typeface="Calibri"/>
                        </a:rPr>
                        <a:t>ref</a:t>
                      </a:r>
                    </a:p>
                  </a:txBody>
                  <a:tcPr marL="47625" marR="47625" marT="28575" marB="28575" anchor="ctr">
                    <a:solidFill>
                      <a:srgbClr val="D9D9D9"/>
                    </a:solidFill>
                  </a:tcPr>
                </a:tc>
                <a:tc>
                  <a:txBody>
                    <a:bodyPr/>
                    <a:lstStyle/>
                    <a:p>
                      <a:pPr algn="ctr"/>
                      <a:r>
                        <a:rPr sz="1950">
                          <a:solidFill>
                            <a:srgbClr val="000000"/>
                          </a:solidFill>
                          <a:latin typeface="Calibri"/>
                          <a:ea typeface="Calibri"/>
                          <a:cs typeface="Calibri"/>
                        </a:rPr>
                        <a:t>mid</a:t>
                      </a:r>
                    </a:p>
                  </a:txBody>
                  <a:tcPr marL="47625" marR="47625" marT="28575" marB="28575" anchor="ctr">
                    <a:solidFill>
                      <a:srgbClr val="D9D9D9"/>
                    </a:solidFill>
                  </a:tcPr>
                </a:tc>
                <a:extLst>
                  <a:ext uri="{0D108BD9-81ED-4DB2-BD59-A6C34878D82A}">
                    <a16:rowId xmlns:a16="http://schemas.microsoft.com/office/drawing/2014/main" val="10000"/>
                  </a:ext>
                </a:extLst>
              </a:tr>
              <a:tr h="409575">
                <a:tc>
                  <a:txBody>
                    <a:bodyPr/>
                    <a:lstStyle/>
                    <a:p>
                      <a:pPr algn="ctr"/>
                      <a:r>
                        <a:rPr sz="1950">
                          <a:solidFill>
                            <a:srgbClr val="000000"/>
                          </a:solidFill>
                          <a:latin typeface="Calibri"/>
                          <a:ea typeface="Calibri"/>
                          <a:cs typeface="Calibri"/>
                        </a:rPr>
                        <a:t>T1</a:t>
                      </a:r>
                    </a:p>
                  </a:txBody>
                  <a:tcPr marL="47625" marR="47625" marT="28575" marB="28575" anchor="ctr">
                    <a:solidFill>
                      <a:srgbClr val="FFFFFF"/>
                    </a:solidFill>
                  </a:tcPr>
                </a:tc>
                <a:tc>
                  <a:txBody>
                    <a:bodyPr/>
                    <a:lstStyle/>
                    <a:p>
                      <a:pPr algn="ctr"/>
                      <a:r>
                        <a:rPr sz="1950">
                          <a:solidFill>
                            <a:srgbClr val="000000"/>
                          </a:solidFill>
                          <a:latin typeface="Calibri"/>
                          <a:ea typeface="Calibri"/>
                          <a:cs typeface="Calibri"/>
                        </a:rPr>
                        <a:t>1</a:t>
                      </a:r>
                    </a:p>
                  </a:txBody>
                  <a:tcPr marL="47625" marR="47625" marT="28575" marB="28575" anchor="ctr">
                    <a:solidFill>
                      <a:srgbClr val="FFFFFF"/>
                    </a:solidFill>
                  </a:tcPr>
                </a:tc>
                <a:extLst>
                  <a:ext uri="{0D108BD9-81ED-4DB2-BD59-A6C34878D82A}">
                    <a16:rowId xmlns:a16="http://schemas.microsoft.com/office/drawing/2014/main" val="10001"/>
                  </a:ext>
                </a:extLst>
              </a:tr>
              <a:tr h="409575">
                <a:tc>
                  <a:txBody>
                    <a:bodyPr/>
                    <a:lstStyle/>
                    <a:p>
                      <a:pPr algn="ctr"/>
                      <a:r>
                        <a:rPr sz="1950">
                          <a:solidFill>
                            <a:srgbClr val="000000"/>
                          </a:solidFill>
                          <a:latin typeface="Calibri"/>
                          <a:ea typeface="Calibri"/>
                          <a:cs typeface="Calibri"/>
                        </a:rPr>
                        <a:t>T1</a:t>
                      </a:r>
                    </a:p>
                  </a:txBody>
                  <a:tcPr marL="47625" marR="47625" marT="28575" marB="28575" anchor="ctr">
                    <a:solidFill>
                      <a:srgbClr val="FFFFFF"/>
                    </a:solidFill>
                  </a:tcPr>
                </a:tc>
                <a:tc>
                  <a:txBody>
                    <a:bodyPr/>
                    <a:lstStyle/>
                    <a:p>
                      <a:pPr algn="ctr"/>
                      <a:r>
                        <a:rPr sz="1950">
                          <a:solidFill>
                            <a:srgbClr val="000000"/>
                          </a:solidFill>
                          <a:latin typeface="Calibri"/>
                          <a:ea typeface="Calibri"/>
                          <a:cs typeface="Calibri"/>
                        </a:rPr>
                        <a:t>3</a:t>
                      </a:r>
                    </a:p>
                  </a:txBody>
                  <a:tcPr marL="47625" marR="47625" marT="28575" marB="28575" anchor="ctr">
                    <a:solidFill>
                      <a:srgbClr val="FFFFFF"/>
                    </a:solidFill>
                  </a:tcPr>
                </a:tc>
                <a:extLst>
                  <a:ext uri="{0D108BD9-81ED-4DB2-BD59-A6C34878D82A}">
                    <a16:rowId xmlns:a16="http://schemas.microsoft.com/office/drawing/2014/main" val="10002"/>
                  </a:ext>
                </a:extLst>
              </a:tr>
              <a:tr h="409575">
                <a:tc>
                  <a:txBody>
                    <a:bodyPr/>
                    <a:lstStyle/>
                    <a:p>
                      <a:pPr algn="ctr"/>
                      <a:r>
                        <a:rPr sz="1950">
                          <a:solidFill>
                            <a:srgbClr val="000000"/>
                          </a:solidFill>
                          <a:latin typeface="Calibri"/>
                          <a:ea typeface="Calibri"/>
                          <a:cs typeface="Calibri"/>
                        </a:rPr>
                        <a:t>T2</a:t>
                      </a:r>
                    </a:p>
                  </a:txBody>
                  <a:tcPr marL="47625" marR="47625" marT="28575" marB="28575" anchor="ctr">
                    <a:solidFill>
                      <a:srgbClr val="FFFFFF"/>
                    </a:solidFill>
                  </a:tcPr>
                </a:tc>
                <a:tc>
                  <a:txBody>
                    <a:bodyPr/>
                    <a:lstStyle/>
                    <a:p>
                      <a:pPr algn="ctr"/>
                      <a:r>
                        <a:rPr sz="1950">
                          <a:solidFill>
                            <a:srgbClr val="000000"/>
                          </a:solidFill>
                          <a:latin typeface="Calibri"/>
                          <a:ea typeface="Calibri"/>
                          <a:cs typeface="Calibri"/>
                        </a:rPr>
                        <a:t>2</a:t>
                      </a:r>
                    </a:p>
                  </a:txBody>
                  <a:tcPr marL="47625" marR="47625" marT="28575" marB="28575" anchor="ctr">
                    <a:solidFill>
                      <a:srgbClr val="FFFFFF"/>
                    </a:solidFill>
                  </a:tcPr>
                </a:tc>
                <a:extLst>
                  <a:ext uri="{0D108BD9-81ED-4DB2-BD59-A6C34878D82A}">
                    <a16:rowId xmlns:a16="http://schemas.microsoft.com/office/drawing/2014/main" val="10003"/>
                  </a:ext>
                </a:extLst>
              </a:tr>
            </a:tbl>
          </a:graphicData>
        </a:graphic>
      </p:graphicFrame>
      <p:sp>
        <p:nvSpPr>
          <p:cNvPr id="8" name="body">
            <a:extLst>
              <a:ext uri="{FF2B5EF4-FFF2-40B4-BE49-F238E27FC236}">
                <a16:creationId xmlns:a16="http://schemas.microsoft.com/office/drawing/2014/main" id="{E9218BE9-7CA5-4ED2-974D-18C1A2911051}"/>
              </a:ext>
            </a:extLst>
          </p:cNvPr>
          <p:cNvSpPr>
            <a:spLocks noGrp="1"/>
          </p:cNvSpPr>
          <p:nvPr/>
        </p:nvSpPr>
        <p:spPr>
          <a:xfrm>
            <a:off x="781050" y="3876675"/>
            <a:ext cx="7600950" cy="952500"/>
          </a:xfrm>
          <a:prstGeom prst="rect">
            <a:avLst/>
          </a:prstGeom>
          <a:noFill/>
          <a:ln w="0">
            <a:noFill/>
          </a:ln>
        </p:spPr>
        <p:txBody>
          <a:bodyPr wrap="square" lIns="0" tIns="0" rIns="0" bIns="0">
            <a:noAutofit/>
          </a:bodyPr>
          <a:lstStyle/>
          <a:p>
            <a:pPr>
              <a:defRPr sz="2250" b="0">
                <a:solidFill>
                  <a:srgbClr val="FF0000"/>
                </a:solidFill>
                <a:latin typeface="Calibri"/>
                <a:ea typeface="Calibri"/>
                <a:cs typeface="Calibri"/>
              </a:defRPr>
            </a:pPr>
            <a:r>
              <a:rPr sz="2250" b="0">
                <a:solidFill>
                  <a:srgbClr val="FF0000"/>
                </a:solidFill>
                <a:latin typeface="Calibri"/>
                <a:ea typeface="Calibri"/>
                <a:cs typeface="Calibri"/>
              </a:rPr>
              <a:t>Find IDs of members who borrowed a North-lab device.</a:t>
            </a:r>
          </a:p>
        </p:txBody>
      </p:sp>
      <p:sp>
        <p:nvSpPr>
          <p:cNvPr id="9" name="body">
            <a:extLst>
              <a:ext uri="{FF2B5EF4-FFF2-40B4-BE49-F238E27FC236}">
                <a16:creationId xmlns:a16="http://schemas.microsoft.com/office/drawing/2014/main" id="{0D12AB1D-F088-40E9-9D09-D5A93735D477}"/>
              </a:ext>
            </a:extLst>
          </p:cNvPr>
          <p:cNvSpPr>
            <a:spLocks noGrp="1"/>
          </p:cNvSpPr>
          <p:nvPr/>
        </p:nvSpPr>
        <p:spPr>
          <a:xfrm>
            <a:off x="781050" y="4791075"/>
            <a:ext cx="7600950" cy="952500"/>
          </a:xfrm>
          <a:prstGeom prst="rect">
            <a:avLst/>
          </a:prstGeom>
          <a:noFill/>
          <a:ln w="0">
            <a:noFill/>
          </a:ln>
        </p:spPr>
        <p:txBody>
          <a:bodyPr wrap="square" lIns="0" tIns="0" rIns="0" bIns="0">
            <a:noAutofit/>
          </a:bodyPr>
          <a:lstStyle/>
          <a:p>
            <a:pPr>
              <a:defRPr sz="2100" b="0">
                <a:solidFill>
                  <a:srgbClr val="000000"/>
                </a:solidFill>
                <a:latin typeface="Calibri"/>
                <a:ea typeface="Calibri"/>
                <a:cs typeface="Calibri"/>
              </a:defRPr>
            </a:pPr>
            <a:r>
              <a:rPr sz="2100" b="0">
                <a:solidFill>
                  <a:srgbClr val="000000"/>
                </a:solidFill>
                <a:latin typeface="Calibri"/>
                <a:ea typeface="Calibri"/>
                <a:cs typeface="Calibri"/>
              </a:rPr>
              <a:t>Can we keep only lab before joining? Explain.</a:t>
            </a:r>
          </a:p>
        </p:txBody>
      </p:sp>
      <p:sp>
        <p:nvSpPr>
          <p:cNvPr id="9001" name="Title 1">
            <a:extLst>
              <a:ext uri="{FF2B5EF4-FFF2-40B4-BE49-F238E27FC236}">
                <a16:creationId xmlns:a16="http://schemas.microsoft.com/office/drawing/2014/main" id="{4EF27E5C-9C4D-BDBE-7667-D0B141BCC8F5}"/>
              </a:ext>
            </a:extLst>
          </p:cNvPr>
          <p:cNvSpPr>
            <a:spLocks noGrp="1"/>
          </p:cNvSpPr>
          <p:nvPr>
            <p:ph type="title"/>
          </p:nvPr>
        </p:nvSpPr>
        <p:spPr/>
        <p:txBody>
          <a:bodyPr/>
          <a:lstStyle/>
          <a:p>
            <a:r>
              <a:rPr lang="en-US">
                <a:solidFill>
                  <a:srgbClr val="FF0000"/>
                </a:solidFill>
              </a:rPr>
              <a:t>Practice: </a:t>
            </a:r>
            <a:r>
              <a:rPr lang="en-US">
                <a:solidFill>
                  <a:srgbClr val="3333CC"/>
                </a:solidFill>
              </a:rPr>
              <a:t>Q20</a:t>
            </a:r>
          </a:p>
        </p:txBody>
      </p:sp>
      <p:sp>
        <p:nvSpPr>
          <p:cNvPr id="9002" name="Slide Number Placeholder 1">
            <a:extLst>
              <a:ext uri="{FF2B5EF4-FFF2-40B4-BE49-F238E27FC236}">
                <a16:creationId xmlns:a16="http://schemas.microsoft.com/office/drawing/2014/main" id="{B90139AC-3BDA-723A-097A-000DA0A784C1}"/>
              </a:ext>
            </a:extLst>
          </p:cNvPr>
          <p:cNvSpPr>
            <a:spLocks noGrp="1"/>
          </p:cNvSpPr>
          <p:nvPr>
            <p:ph type="sldNum" sz="quarter" idx="12"/>
          </p:nvPr>
        </p:nvSpPr>
        <p:spPr/>
        <p:txBody>
          <a:bodyPr/>
          <a:lstStyle/>
          <a:p>
            <a:pPr>
              <a:defRPr/>
            </a:pPr>
            <a:fld id="{43CA101F-9E5F-9249-9862-3CE55B3BB777}" type="slidenum">
              <a:rPr lang="en-US" altLang="zh-TW" smtClean="0"/>
              <a:pPr>
                <a:defRPr/>
              </a:pPr>
              <a:t>51</a:t>
            </a:fld>
            <a:endParaRPr lang="en-US" altLang="zh-TW"/>
          </a:p>
        </p:txBody>
      </p:sp>
    </p:spTree>
    <p:extLst>
      <p:ext uri="{BB962C8B-B14F-4D97-AF65-F5344CB8AC3E}">
        <p14:creationId xmlns:p14="http://schemas.microsoft.com/office/powerpoint/2010/main" val="844941983"/>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formula">
            <a:extLst>
              <a:ext uri="{FF2B5EF4-FFF2-40B4-BE49-F238E27FC236}">
                <a16:creationId xmlns:a16="http://schemas.microsoft.com/office/drawing/2014/main" id="{F6AD5137-5A42-4B2C-9C55-D0BEE6AEE4E7}"/>
              </a:ext>
            </a:extLst>
          </p:cNvPr>
          <p:cNvSpPr>
            <a:spLocks noGrp="1"/>
          </p:cNvSpPr>
          <p:nvPr/>
        </p:nvSpPr>
        <p:spPr>
          <a:xfrm>
            <a:off x="781050" y="1057275"/>
            <a:ext cx="7620000" cy="523875"/>
          </a:xfrm>
          <a:prstGeom prst="rect">
            <a:avLst/>
          </a:prstGeom>
          <a:noFill/>
          <a:ln w="0">
            <a:noFill/>
          </a:ln>
        </p:spPr>
        <p:txBody>
          <a:bodyPr wrap="square" lIns="0" tIns="0" rIns="0" bIns="0">
            <a:noAutofit/>
          </a:bodyPr>
          <a:lstStyle/>
          <a:p>
            <a:pPr>
              <a:defRPr sz="2250" b="0">
                <a:solidFill>
                  <a:srgbClr val="000000"/>
                </a:solidFill>
                <a:latin typeface="Cambria Math"/>
                <a:ea typeface="Cambria Math"/>
                <a:cs typeface="Cambria Math"/>
              </a:defRPr>
            </a:pPr>
            <a:r>
              <a:rPr sz="2250" b="0">
                <a:solidFill>
                  <a:srgbClr val="000000"/>
                </a:solidFill>
                <a:latin typeface="Cambria Math"/>
                <a:ea typeface="Cambria Math"/>
                <a:cs typeface="Cambria Math"/>
              </a:rPr>
              <a:t>N ← σ</a:t>
            </a:r>
            <a:r>
              <a:rPr sz="1598" b="0" baseline="-25000">
                <a:solidFill>
                  <a:srgbClr val="000000"/>
                </a:solidFill>
                <a:latin typeface="Cambria Math"/>
                <a:ea typeface="Cambria Math"/>
                <a:cs typeface="Cambria Math"/>
              </a:rPr>
              <a:t>lab='North'</a:t>
            </a:r>
            <a:r>
              <a:rPr sz="2250" b="0">
                <a:solidFill>
                  <a:srgbClr val="000000"/>
                </a:solidFill>
                <a:latin typeface="Cambria Math"/>
                <a:ea typeface="Cambria Math"/>
                <a:cs typeface="Cambria Math"/>
              </a:rPr>
              <a:t>(Device)</a:t>
            </a:r>
          </a:p>
        </p:txBody>
      </p:sp>
      <p:sp>
        <p:nvSpPr>
          <p:cNvPr id="4" name="body">
            <a:extLst>
              <a:ext uri="{FF2B5EF4-FFF2-40B4-BE49-F238E27FC236}">
                <a16:creationId xmlns:a16="http://schemas.microsoft.com/office/drawing/2014/main" id="{34E9A167-5251-4A94-9D72-629D16586C71}"/>
              </a:ext>
            </a:extLst>
          </p:cNvPr>
          <p:cNvSpPr>
            <a:spLocks noGrp="1"/>
          </p:cNvSpPr>
          <p:nvPr/>
        </p:nvSpPr>
        <p:spPr>
          <a:xfrm>
            <a:off x="2000250" y="2000250"/>
            <a:ext cx="5000625" cy="361950"/>
          </a:xfrm>
          <a:prstGeom prst="rect">
            <a:avLst/>
          </a:prstGeom>
          <a:noFill/>
          <a:ln w="0">
            <a:noFill/>
          </a:ln>
        </p:spPr>
        <p:txBody>
          <a:bodyPr wrap="square" lIns="0" tIns="0" rIns="0" bIns="0">
            <a:noAutofit/>
          </a:bodyPr>
          <a:lstStyle/>
          <a:p>
            <a:pPr>
              <a:defRPr sz="2250" b="0">
                <a:solidFill>
                  <a:srgbClr val="000000"/>
                </a:solidFill>
                <a:latin typeface="Calibri"/>
                <a:ea typeface="Calibri"/>
                <a:cs typeface="Calibri"/>
              </a:defRPr>
            </a:pPr>
            <a:r>
              <a:rPr sz="2250" b="0">
                <a:solidFill>
                  <a:srgbClr val="000000"/>
                </a:solidFill>
                <a:latin typeface="Calibri"/>
                <a:ea typeface="Calibri"/>
                <a:cs typeface="Calibri"/>
              </a:rPr>
              <a:t>N</a:t>
            </a:r>
          </a:p>
        </p:txBody>
      </p:sp>
      <p:graphicFrame>
        <p:nvGraphicFramePr>
          <p:cNvPr id="12" name="表格 11"/>
          <p:cNvGraphicFramePr/>
          <p:nvPr/>
        </p:nvGraphicFramePr>
        <p:xfrm>
          <a:off x="2076450" y="2419350"/>
          <a:ext cx="5000626" cy="1228725"/>
        </p:xfrm>
        <a:graphic>
          <a:graphicData uri="http://schemas.openxmlformats.org/drawingml/2006/table">
            <a:tbl>
              <a:tblPr/>
              <a:tblGrid>
                <a:gridCol w="2500313">
                  <a:extLst>
                    <a:ext uri="{9D8B030D-6E8A-4147-A177-3AD203B41FA5}">
                      <a16:colId xmlns:a16="http://schemas.microsoft.com/office/drawing/2014/main" val="20000"/>
                    </a:ext>
                  </a:extLst>
                </a:gridCol>
                <a:gridCol w="2500313">
                  <a:extLst>
                    <a:ext uri="{9D8B030D-6E8A-4147-A177-3AD203B41FA5}">
                      <a16:colId xmlns:a16="http://schemas.microsoft.com/office/drawing/2014/main" val="20001"/>
                    </a:ext>
                  </a:extLst>
                </a:gridCol>
              </a:tblGrid>
              <a:tr h="409575">
                <a:tc>
                  <a:txBody>
                    <a:bodyPr/>
                    <a:lstStyle/>
                    <a:p>
                      <a:pPr algn="ctr"/>
                      <a:r>
                        <a:rPr sz="2025">
                          <a:solidFill>
                            <a:srgbClr val="000000"/>
                          </a:solidFill>
                          <a:latin typeface="Calibri"/>
                          <a:ea typeface="Calibri"/>
                          <a:cs typeface="Calibri"/>
                        </a:rPr>
                        <a:t>did</a:t>
                      </a:r>
                    </a:p>
                  </a:txBody>
                  <a:tcPr marL="47625" marR="47625" marT="28575" marB="28575" anchor="ctr">
                    <a:solidFill>
                      <a:srgbClr val="D9D9D9"/>
                    </a:solidFill>
                  </a:tcPr>
                </a:tc>
                <a:tc>
                  <a:txBody>
                    <a:bodyPr/>
                    <a:lstStyle/>
                    <a:p>
                      <a:pPr algn="ctr"/>
                      <a:r>
                        <a:rPr sz="2025">
                          <a:solidFill>
                            <a:srgbClr val="000000"/>
                          </a:solidFill>
                          <a:latin typeface="Calibri"/>
                          <a:ea typeface="Calibri"/>
                          <a:cs typeface="Calibri"/>
                        </a:rPr>
                        <a:t>lab</a:t>
                      </a:r>
                    </a:p>
                  </a:txBody>
                  <a:tcPr marL="47625" marR="47625" marT="28575" marB="28575" anchor="ctr">
                    <a:solidFill>
                      <a:srgbClr val="D9D9D9"/>
                    </a:solidFill>
                  </a:tcPr>
                </a:tc>
                <a:extLst>
                  <a:ext uri="{0D108BD9-81ED-4DB2-BD59-A6C34878D82A}">
                    <a16:rowId xmlns:a16="http://schemas.microsoft.com/office/drawing/2014/main" val="10000"/>
                  </a:ext>
                </a:extLst>
              </a:tr>
              <a:tr h="409575">
                <a:tc>
                  <a:txBody>
                    <a:bodyPr/>
                    <a:lstStyle/>
                    <a:p>
                      <a:pPr algn="ctr"/>
                      <a:r>
                        <a:rPr sz="2025">
                          <a:solidFill>
                            <a:srgbClr val="000000"/>
                          </a:solidFill>
                          <a:latin typeface="Calibri"/>
                          <a:ea typeface="Calibri"/>
                          <a:cs typeface="Calibri"/>
                        </a:rPr>
                        <a:t>T1</a:t>
                      </a:r>
                    </a:p>
                  </a:txBody>
                  <a:tcPr marL="47625" marR="47625" marT="28575" marB="28575" anchor="ctr">
                    <a:solidFill>
                      <a:srgbClr val="FFFFFF"/>
                    </a:solidFill>
                  </a:tcPr>
                </a:tc>
                <a:tc>
                  <a:txBody>
                    <a:bodyPr/>
                    <a:lstStyle/>
                    <a:p>
                      <a:pPr algn="ctr"/>
                      <a:r>
                        <a:rPr sz="2025">
                          <a:solidFill>
                            <a:srgbClr val="000000"/>
                          </a:solidFill>
                          <a:latin typeface="Calibri"/>
                          <a:ea typeface="Calibri"/>
                          <a:cs typeface="Calibri"/>
                        </a:rPr>
                        <a:t>North</a:t>
                      </a:r>
                    </a:p>
                  </a:txBody>
                  <a:tcPr marL="47625" marR="47625" marT="28575" marB="28575" anchor="ctr">
                    <a:solidFill>
                      <a:srgbClr val="FFFFFF"/>
                    </a:solidFill>
                  </a:tcPr>
                </a:tc>
                <a:extLst>
                  <a:ext uri="{0D108BD9-81ED-4DB2-BD59-A6C34878D82A}">
                    <a16:rowId xmlns:a16="http://schemas.microsoft.com/office/drawing/2014/main" val="10001"/>
                  </a:ext>
                </a:extLst>
              </a:tr>
              <a:tr h="409575">
                <a:tc>
                  <a:txBody>
                    <a:bodyPr/>
                    <a:lstStyle/>
                    <a:p>
                      <a:pPr algn="ctr"/>
                      <a:r>
                        <a:rPr sz="2025">
                          <a:solidFill>
                            <a:srgbClr val="000000"/>
                          </a:solidFill>
                          <a:latin typeface="Calibri"/>
                          <a:ea typeface="Calibri"/>
                          <a:cs typeface="Calibri"/>
                        </a:rPr>
                        <a:t>T3</a:t>
                      </a:r>
                    </a:p>
                  </a:txBody>
                  <a:tcPr marL="47625" marR="47625" marT="28575" marB="28575" anchor="ctr">
                    <a:solidFill>
                      <a:srgbClr val="FFFFFF"/>
                    </a:solidFill>
                  </a:tcPr>
                </a:tc>
                <a:tc>
                  <a:txBody>
                    <a:bodyPr/>
                    <a:lstStyle/>
                    <a:p>
                      <a:pPr algn="ctr"/>
                      <a:r>
                        <a:rPr sz="2025">
                          <a:solidFill>
                            <a:srgbClr val="000000"/>
                          </a:solidFill>
                          <a:latin typeface="Calibri"/>
                          <a:ea typeface="Calibri"/>
                          <a:cs typeface="Calibri"/>
                        </a:rPr>
                        <a:t>North</a:t>
                      </a:r>
                    </a:p>
                  </a:txBody>
                  <a:tcPr marL="47625" marR="47625" marT="28575" marB="28575" anchor="ctr">
                    <a:solidFill>
                      <a:srgbClr val="FFFFFF"/>
                    </a:solidFill>
                  </a:tcPr>
                </a:tc>
                <a:extLst>
                  <a:ext uri="{0D108BD9-81ED-4DB2-BD59-A6C34878D82A}">
                    <a16:rowId xmlns:a16="http://schemas.microsoft.com/office/drawing/2014/main" val="10002"/>
                  </a:ext>
                </a:extLst>
              </a:tr>
            </a:tbl>
          </a:graphicData>
        </a:graphic>
      </p:graphicFrame>
      <p:sp>
        <p:nvSpPr>
          <p:cNvPr id="6" name="formula">
            <a:extLst>
              <a:ext uri="{FF2B5EF4-FFF2-40B4-BE49-F238E27FC236}">
                <a16:creationId xmlns:a16="http://schemas.microsoft.com/office/drawing/2014/main" id="{97CD3EA3-1D15-47B1-82AF-4657A9C33E7A}"/>
              </a:ext>
            </a:extLst>
          </p:cNvPr>
          <p:cNvSpPr>
            <a:spLocks noGrp="1"/>
          </p:cNvSpPr>
          <p:nvPr/>
        </p:nvSpPr>
        <p:spPr>
          <a:xfrm>
            <a:off x="781050" y="4429125"/>
            <a:ext cx="7620000" cy="523875"/>
          </a:xfrm>
          <a:prstGeom prst="rect">
            <a:avLst/>
          </a:prstGeom>
          <a:noFill/>
          <a:ln w="0">
            <a:noFill/>
          </a:ln>
        </p:spPr>
        <p:txBody>
          <a:bodyPr wrap="square" lIns="0" tIns="0" rIns="0" bIns="0">
            <a:noAutofit/>
          </a:bodyPr>
          <a:lstStyle/>
          <a:p>
            <a:pPr>
              <a:defRPr sz="2250" b="0">
                <a:solidFill>
                  <a:srgbClr val="000000"/>
                </a:solidFill>
                <a:latin typeface="Cambria Math"/>
                <a:ea typeface="Cambria Math"/>
                <a:cs typeface="Cambria Math"/>
              </a:defRPr>
            </a:pPr>
            <a:r>
              <a:rPr sz="2250" b="0">
                <a:solidFill>
                  <a:srgbClr val="000000"/>
                </a:solidFill>
                <a:latin typeface="Cambria Math"/>
                <a:ea typeface="Cambria Math"/>
                <a:cs typeface="Cambria Math"/>
              </a:rPr>
              <a:t>J ← σ</a:t>
            </a:r>
            <a:r>
              <a:rPr sz="1598" b="0" baseline="-25000">
                <a:solidFill>
                  <a:srgbClr val="000000"/>
                </a:solidFill>
                <a:latin typeface="Cambria Math"/>
                <a:ea typeface="Cambria Math"/>
                <a:cs typeface="Cambria Math"/>
              </a:rPr>
              <a:t>did=ref</a:t>
            </a:r>
            <a:r>
              <a:rPr sz="2250" b="0">
                <a:solidFill>
                  <a:srgbClr val="000000"/>
                </a:solidFill>
                <a:latin typeface="Cambria Math"/>
                <a:ea typeface="Cambria Math"/>
                <a:cs typeface="Cambria Math"/>
              </a:rPr>
              <a:t>(N × Loan)</a:t>
            </a:r>
          </a:p>
        </p:txBody>
      </p:sp>
      <p:sp>
        <p:nvSpPr>
          <p:cNvPr id="7" name="body">
            <a:extLst>
              <a:ext uri="{FF2B5EF4-FFF2-40B4-BE49-F238E27FC236}">
                <a16:creationId xmlns:a16="http://schemas.microsoft.com/office/drawing/2014/main" id="{FAA8974E-C659-4345-ABF7-D170D1EA3BFD}"/>
              </a:ext>
            </a:extLst>
          </p:cNvPr>
          <p:cNvSpPr>
            <a:spLocks noGrp="1"/>
          </p:cNvSpPr>
          <p:nvPr/>
        </p:nvSpPr>
        <p:spPr>
          <a:xfrm>
            <a:off x="781050" y="5343525"/>
            <a:ext cx="7600950" cy="952500"/>
          </a:xfrm>
          <a:prstGeom prst="rect">
            <a:avLst/>
          </a:prstGeom>
          <a:noFill/>
          <a:ln w="0">
            <a:noFill/>
          </a:ln>
        </p:spPr>
        <p:txBody>
          <a:bodyPr wrap="square" lIns="0" tIns="0" rIns="0" bIns="0">
            <a:noAutofit/>
          </a:bodyPr>
          <a:lstStyle/>
          <a:p>
            <a:pPr>
              <a:defRPr sz="2100" b="0">
                <a:solidFill>
                  <a:srgbClr val="FF0000"/>
                </a:solidFill>
                <a:latin typeface="Calibri"/>
                <a:ea typeface="Calibri"/>
                <a:cs typeface="Calibri"/>
              </a:defRPr>
            </a:pPr>
            <a:r>
              <a:rPr sz="2100" b="0">
                <a:solidFill>
                  <a:srgbClr val="FF0000"/>
                </a:solidFill>
                <a:latin typeface="Calibri"/>
                <a:ea typeface="Calibri"/>
                <a:cs typeface="Calibri"/>
              </a:rPr>
              <a:t>Discarding did before this step would make did = ref invalid.</a:t>
            </a:r>
          </a:p>
        </p:txBody>
      </p:sp>
      <p:sp>
        <p:nvSpPr>
          <p:cNvPr id="9001" name="Title 1">
            <a:extLst>
              <a:ext uri="{FF2B5EF4-FFF2-40B4-BE49-F238E27FC236}">
                <a16:creationId xmlns:a16="http://schemas.microsoft.com/office/drawing/2014/main" id="{4EF27E5C-9C4D-BDBE-7667-D0B141BCC8F5}"/>
              </a:ext>
            </a:extLst>
          </p:cNvPr>
          <p:cNvSpPr>
            <a:spLocks noGrp="1"/>
          </p:cNvSpPr>
          <p:nvPr>
            <p:ph type="title"/>
          </p:nvPr>
        </p:nvSpPr>
        <p:spPr/>
        <p:txBody>
          <a:bodyPr/>
          <a:lstStyle/>
          <a:p>
            <a:r>
              <a:rPr lang="en-US">
                <a:solidFill>
                  <a:srgbClr val="FF0000"/>
                </a:solidFill>
              </a:rPr>
              <a:t>Solutions: </a:t>
            </a:r>
            <a:r>
              <a:rPr lang="en-US">
                <a:solidFill>
                  <a:srgbClr val="3333CC"/>
                </a:solidFill>
              </a:rPr>
              <a:t>Q20 (1)</a:t>
            </a:r>
          </a:p>
        </p:txBody>
      </p:sp>
      <p:sp>
        <p:nvSpPr>
          <p:cNvPr id="9002" name="Slide Number Placeholder 1">
            <a:extLst>
              <a:ext uri="{FF2B5EF4-FFF2-40B4-BE49-F238E27FC236}">
                <a16:creationId xmlns:a16="http://schemas.microsoft.com/office/drawing/2014/main" id="{B90139AC-3BDA-723A-097A-000DA0A784C1}"/>
              </a:ext>
            </a:extLst>
          </p:cNvPr>
          <p:cNvSpPr>
            <a:spLocks noGrp="1"/>
          </p:cNvSpPr>
          <p:nvPr>
            <p:ph type="sldNum" sz="quarter" idx="12"/>
          </p:nvPr>
        </p:nvSpPr>
        <p:spPr/>
        <p:txBody>
          <a:bodyPr/>
          <a:lstStyle/>
          <a:p>
            <a:pPr>
              <a:defRPr/>
            </a:pPr>
            <a:fld id="{43CA101F-9E5F-9249-9862-3CE55B3BB777}" type="slidenum">
              <a:rPr lang="en-US" altLang="zh-TW" smtClean="0"/>
              <a:pPr>
                <a:defRPr/>
              </a:pPr>
              <a:t>52</a:t>
            </a:fld>
            <a:endParaRPr lang="en-US" altLang="zh-TW"/>
          </a:p>
        </p:txBody>
      </p:sp>
    </p:spTree>
    <p:extLst>
      <p:ext uri="{BB962C8B-B14F-4D97-AF65-F5344CB8AC3E}">
        <p14:creationId xmlns:p14="http://schemas.microsoft.com/office/powerpoint/2010/main" val="626954925"/>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body">
            <a:extLst>
              <a:ext uri="{FF2B5EF4-FFF2-40B4-BE49-F238E27FC236}">
                <a16:creationId xmlns:a16="http://schemas.microsoft.com/office/drawing/2014/main" id="{5EF1DF1E-565B-44F0-AD82-768919851582}"/>
              </a:ext>
            </a:extLst>
          </p:cNvPr>
          <p:cNvSpPr>
            <a:spLocks noGrp="1"/>
          </p:cNvSpPr>
          <p:nvPr/>
        </p:nvSpPr>
        <p:spPr>
          <a:xfrm>
            <a:off x="971550" y="1247775"/>
            <a:ext cx="7048500" cy="361950"/>
          </a:xfrm>
          <a:prstGeom prst="rect">
            <a:avLst/>
          </a:prstGeom>
          <a:noFill/>
          <a:ln w="0">
            <a:noFill/>
          </a:ln>
        </p:spPr>
        <p:txBody>
          <a:bodyPr wrap="square" lIns="0" tIns="0" rIns="0" bIns="0">
            <a:noAutofit/>
          </a:bodyPr>
          <a:lstStyle/>
          <a:p>
            <a:pPr>
              <a:defRPr sz="2250" b="0">
                <a:solidFill>
                  <a:srgbClr val="000000"/>
                </a:solidFill>
                <a:latin typeface="Calibri"/>
                <a:ea typeface="Calibri"/>
                <a:cs typeface="Calibri"/>
              </a:defRPr>
            </a:pPr>
            <a:r>
              <a:rPr sz="2250" b="0">
                <a:solidFill>
                  <a:srgbClr val="000000"/>
                </a:solidFill>
                <a:latin typeface="Calibri"/>
                <a:ea typeface="Calibri"/>
                <a:cs typeface="Calibri"/>
              </a:rPr>
              <a:t>J</a:t>
            </a:r>
          </a:p>
        </p:txBody>
      </p:sp>
      <p:graphicFrame>
        <p:nvGraphicFramePr>
          <p:cNvPr id="11" name="表格 10"/>
          <p:cNvGraphicFramePr/>
          <p:nvPr/>
        </p:nvGraphicFramePr>
        <p:xfrm>
          <a:off x="1047750" y="1666875"/>
          <a:ext cx="7048500" cy="1257300"/>
        </p:xfrm>
        <a:graphic>
          <a:graphicData uri="http://schemas.openxmlformats.org/drawingml/2006/table">
            <a:tbl>
              <a:tblPr/>
              <a:tblGrid>
                <a:gridCol w="1762125">
                  <a:extLst>
                    <a:ext uri="{9D8B030D-6E8A-4147-A177-3AD203B41FA5}">
                      <a16:colId xmlns:a16="http://schemas.microsoft.com/office/drawing/2014/main" val="20000"/>
                    </a:ext>
                  </a:extLst>
                </a:gridCol>
                <a:gridCol w="1762125">
                  <a:extLst>
                    <a:ext uri="{9D8B030D-6E8A-4147-A177-3AD203B41FA5}">
                      <a16:colId xmlns:a16="http://schemas.microsoft.com/office/drawing/2014/main" val="20001"/>
                    </a:ext>
                  </a:extLst>
                </a:gridCol>
                <a:gridCol w="1762125">
                  <a:extLst>
                    <a:ext uri="{9D8B030D-6E8A-4147-A177-3AD203B41FA5}">
                      <a16:colId xmlns:a16="http://schemas.microsoft.com/office/drawing/2014/main" val="20002"/>
                    </a:ext>
                  </a:extLst>
                </a:gridCol>
                <a:gridCol w="1762125">
                  <a:extLst>
                    <a:ext uri="{9D8B030D-6E8A-4147-A177-3AD203B41FA5}">
                      <a16:colId xmlns:a16="http://schemas.microsoft.com/office/drawing/2014/main" val="20003"/>
                    </a:ext>
                  </a:extLst>
                </a:gridCol>
              </a:tblGrid>
              <a:tr h="419100">
                <a:tc>
                  <a:txBody>
                    <a:bodyPr/>
                    <a:lstStyle/>
                    <a:p>
                      <a:pPr algn="ctr"/>
                      <a:r>
                        <a:rPr sz="1950">
                          <a:solidFill>
                            <a:srgbClr val="000000"/>
                          </a:solidFill>
                          <a:latin typeface="Calibri"/>
                          <a:ea typeface="Calibri"/>
                          <a:cs typeface="Calibri"/>
                        </a:rPr>
                        <a:t>did</a:t>
                      </a:r>
                    </a:p>
                  </a:txBody>
                  <a:tcPr marL="47625" marR="47625" marT="28575" marB="28575" anchor="ctr">
                    <a:solidFill>
                      <a:srgbClr val="D9D9D9"/>
                    </a:solidFill>
                  </a:tcPr>
                </a:tc>
                <a:tc>
                  <a:txBody>
                    <a:bodyPr/>
                    <a:lstStyle/>
                    <a:p>
                      <a:pPr algn="ctr"/>
                      <a:r>
                        <a:rPr sz="1950">
                          <a:solidFill>
                            <a:srgbClr val="000000"/>
                          </a:solidFill>
                          <a:latin typeface="Calibri"/>
                          <a:ea typeface="Calibri"/>
                          <a:cs typeface="Calibri"/>
                        </a:rPr>
                        <a:t>lab</a:t>
                      </a:r>
                    </a:p>
                  </a:txBody>
                  <a:tcPr marL="47625" marR="47625" marT="28575" marB="28575" anchor="ctr">
                    <a:solidFill>
                      <a:srgbClr val="D9D9D9"/>
                    </a:solidFill>
                  </a:tcPr>
                </a:tc>
                <a:tc>
                  <a:txBody>
                    <a:bodyPr/>
                    <a:lstStyle/>
                    <a:p>
                      <a:pPr algn="ctr"/>
                      <a:r>
                        <a:rPr sz="1950">
                          <a:solidFill>
                            <a:srgbClr val="000000"/>
                          </a:solidFill>
                          <a:latin typeface="Calibri"/>
                          <a:ea typeface="Calibri"/>
                          <a:cs typeface="Calibri"/>
                        </a:rPr>
                        <a:t>ref</a:t>
                      </a:r>
                    </a:p>
                  </a:txBody>
                  <a:tcPr marL="47625" marR="47625" marT="28575" marB="28575" anchor="ctr">
                    <a:solidFill>
                      <a:srgbClr val="D9D9D9"/>
                    </a:solidFill>
                  </a:tcPr>
                </a:tc>
                <a:tc>
                  <a:txBody>
                    <a:bodyPr/>
                    <a:lstStyle/>
                    <a:p>
                      <a:pPr algn="ctr"/>
                      <a:r>
                        <a:rPr sz="1950">
                          <a:solidFill>
                            <a:srgbClr val="000000"/>
                          </a:solidFill>
                          <a:latin typeface="Calibri"/>
                          <a:ea typeface="Calibri"/>
                          <a:cs typeface="Calibri"/>
                        </a:rPr>
                        <a:t>mid</a:t>
                      </a:r>
                    </a:p>
                  </a:txBody>
                  <a:tcPr marL="47625" marR="47625" marT="28575" marB="28575" anchor="ctr">
                    <a:solidFill>
                      <a:srgbClr val="D9D9D9"/>
                    </a:solidFill>
                  </a:tcPr>
                </a:tc>
                <a:extLst>
                  <a:ext uri="{0D108BD9-81ED-4DB2-BD59-A6C34878D82A}">
                    <a16:rowId xmlns:a16="http://schemas.microsoft.com/office/drawing/2014/main" val="10000"/>
                  </a:ext>
                </a:extLst>
              </a:tr>
              <a:tr h="419100">
                <a:tc>
                  <a:txBody>
                    <a:bodyPr/>
                    <a:lstStyle/>
                    <a:p>
                      <a:pPr algn="ctr"/>
                      <a:r>
                        <a:rPr sz="1950">
                          <a:solidFill>
                            <a:srgbClr val="000000"/>
                          </a:solidFill>
                          <a:latin typeface="Calibri"/>
                          <a:ea typeface="Calibri"/>
                          <a:cs typeface="Calibri"/>
                        </a:rPr>
                        <a:t>T1</a:t>
                      </a:r>
                    </a:p>
                  </a:txBody>
                  <a:tcPr marL="47625" marR="47625" marT="28575" marB="28575" anchor="ctr">
                    <a:solidFill>
                      <a:srgbClr val="FFFFFF"/>
                    </a:solidFill>
                  </a:tcPr>
                </a:tc>
                <a:tc>
                  <a:txBody>
                    <a:bodyPr/>
                    <a:lstStyle/>
                    <a:p>
                      <a:pPr algn="ctr"/>
                      <a:r>
                        <a:rPr sz="1950">
                          <a:solidFill>
                            <a:srgbClr val="000000"/>
                          </a:solidFill>
                          <a:latin typeface="Calibri"/>
                          <a:ea typeface="Calibri"/>
                          <a:cs typeface="Calibri"/>
                        </a:rPr>
                        <a:t>North</a:t>
                      </a:r>
                    </a:p>
                  </a:txBody>
                  <a:tcPr marL="47625" marR="47625" marT="28575" marB="28575" anchor="ctr">
                    <a:solidFill>
                      <a:srgbClr val="FFFFFF"/>
                    </a:solidFill>
                  </a:tcPr>
                </a:tc>
                <a:tc>
                  <a:txBody>
                    <a:bodyPr/>
                    <a:lstStyle/>
                    <a:p>
                      <a:pPr algn="ctr"/>
                      <a:r>
                        <a:rPr sz="1950">
                          <a:solidFill>
                            <a:srgbClr val="000000"/>
                          </a:solidFill>
                          <a:latin typeface="Calibri"/>
                          <a:ea typeface="Calibri"/>
                          <a:cs typeface="Calibri"/>
                        </a:rPr>
                        <a:t>T1</a:t>
                      </a:r>
                    </a:p>
                  </a:txBody>
                  <a:tcPr marL="47625" marR="47625" marT="28575" marB="28575" anchor="ctr">
                    <a:solidFill>
                      <a:srgbClr val="FFFFFF"/>
                    </a:solidFill>
                  </a:tcPr>
                </a:tc>
                <a:tc>
                  <a:txBody>
                    <a:bodyPr/>
                    <a:lstStyle/>
                    <a:p>
                      <a:pPr algn="ctr"/>
                      <a:r>
                        <a:rPr sz="1950">
                          <a:solidFill>
                            <a:srgbClr val="000000"/>
                          </a:solidFill>
                          <a:latin typeface="Calibri"/>
                          <a:ea typeface="Calibri"/>
                          <a:cs typeface="Calibri"/>
                        </a:rPr>
                        <a:t>1</a:t>
                      </a:r>
                    </a:p>
                  </a:txBody>
                  <a:tcPr marL="47625" marR="47625" marT="28575" marB="28575" anchor="ctr">
                    <a:solidFill>
                      <a:srgbClr val="FFFFFF"/>
                    </a:solidFill>
                  </a:tcPr>
                </a:tc>
                <a:extLst>
                  <a:ext uri="{0D108BD9-81ED-4DB2-BD59-A6C34878D82A}">
                    <a16:rowId xmlns:a16="http://schemas.microsoft.com/office/drawing/2014/main" val="10001"/>
                  </a:ext>
                </a:extLst>
              </a:tr>
              <a:tr h="419100">
                <a:tc>
                  <a:txBody>
                    <a:bodyPr/>
                    <a:lstStyle/>
                    <a:p>
                      <a:pPr algn="ctr"/>
                      <a:r>
                        <a:rPr sz="1950">
                          <a:solidFill>
                            <a:srgbClr val="000000"/>
                          </a:solidFill>
                          <a:latin typeface="Calibri"/>
                          <a:ea typeface="Calibri"/>
                          <a:cs typeface="Calibri"/>
                        </a:rPr>
                        <a:t>T1</a:t>
                      </a:r>
                    </a:p>
                  </a:txBody>
                  <a:tcPr marL="47625" marR="47625" marT="28575" marB="28575" anchor="ctr">
                    <a:solidFill>
                      <a:srgbClr val="FFFFFF"/>
                    </a:solidFill>
                  </a:tcPr>
                </a:tc>
                <a:tc>
                  <a:txBody>
                    <a:bodyPr/>
                    <a:lstStyle/>
                    <a:p>
                      <a:pPr algn="ctr"/>
                      <a:r>
                        <a:rPr sz="1950">
                          <a:solidFill>
                            <a:srgbClr val="000000"/>
                          </a:solidFill>
                          <a:latin typeface="Calibri"/>
                          <a:ea typeface="Calibri"/>
                          <a:cs typeface="Calibri"/>
                        </a:rPr>
                        <a:t>North</a:t>
                      </a:r>
                    </a:p>
                  </a:txBody>
                  <a:tcPr marL="47625" marR="47625" marT="28575" marB="28575" anchor="ctr">
                    <a:solidFill>
                      <a:srgbClr val="FFFFFF"/>
                    </a:solidFill>
                  </a:tcPr>
                </a:tc>
                <a:tc>
                  <a:txBody>
                    <a:bodyPr/>
                    <a:lstStyle/>
                    <a:p>
                      <a:pPr algn="ctr"/>
                      <a:r>
                        <a:rPr sz="1950">
                          <a:solidFill>
                            <a:srgbClr val="000000"/>
                          </a:solidFill>
                          <a:latin typeface="Calibri"/>
                          <a:ea typeface="Calibri"/>
                          <a:cs typeface="Calibri"/>
                        </a:rPr>
                        <a:t>T1</a:t>
                      </a:r>
                    </a:p>
                  </a:txBody>
                  <a:tcPr marL="47625" marR="47625" marT="28575" marB="28575" anchor="ctr">
                    <a:solidFill>
                      <a:srgbClr val="FFFFFF"/>
                    </a:solidFill>
                  </a:tcPr>
                </a:tc>
                <a:tc>
                  <a:txBody>
                    <a:bodyPr/>
                    <a:lstStyle/>
                    <a:p>
                      <a:pPr algn="ctr"/>
                      <a:r>
                        <a:rPr sz="1950">
                          <a:solidFill>
                            <a:srgbClr val="000000"/>
                          </a:solidFill>
                          <a:latin typeface="Calibri"/>
                          <a:ea typeface="Calibri"/>
                          <a:cs typeface="Calibri"/>
                        </a:rPr>
                        <a:t>3</a:t>
                      </a:r>
                    </a:p>
                  </a:txBody>
                  <a:tcPr marL="47625" marR="47625" marT="28575" marB="28575" anchor="ctr">
                    <a:solidFill>
                      <a:srgbClr val="FFFFFF"/>
                    </a:solidFill>
                  </a:tcPr>
                </a:tc>
                <a:extLst>
                  <a:ext uri="{0D108BD9-81ED-4DB2-BD59-A6C34878D82A}">
                    <a16:rowId xmlns:a16="http://schemas.microsoft.com/office/drawing/2014/main" val="10002"/>
                  </a:ext>
                </a:extLst>
              </a:tr>
            </a:tbl>
          </a:graphicData>
        </a:graphic>
      </p:graphicFrame>
      <p:sp>
        <p:nvSpPr>
          <p:cNvPr id="5" name="formula">
            <a:extLst>
              <a:ext uri="{FF2B5EF4-FFF2-40B4-BE49-F238E27FC236}">
                <a16:creationId xmlns:a16="http://schemas.microsoft.com/office/drawing/2014/main" id="{8A2B4979-3C45-460B-AF69-01325CFACA8D}"/>
              </a:ext>
            </a:extLst>
          </p:cNvPr>
          <p:cNvSpPr>
            <a:spLocks noGrp="1"/>
          </p:cNvSpPr>
          <p:nvPr/>
        </p:nvSpPr>
        <p:spPr>
          <a:xfrm>
            <a:off x="781050" y="3705225"/>
            <a:ext cx="7620000" cy="523875"/>
          </a:xfrm>
          <a:prstGeom prst="rect">
            <a:avLst/>
          </a:prstGeom>
          <a:noFill/>
          <a:ln w="0">
            <a:noFill/>
          </a:ln>
        </p:spPr>
        <p:txBody>
          <a:bodyPr wrap="square" lIns="0" tIns="0" rIns="0" bIns="0">
            <a:noAutofit/>
          </a:bodyPr>
          <a:lstStyle/>
          <a:p>
            <a:pPr>
              <a:defRPr sz="2400" b="0">
                <a:solidFill>
                  <a:srgbClr val="000000"/>
                </a:solidFill>
                <a:latin typeface="Cambria Math"/>
                <a:ea typeface="Cambria Math"/>
                <a:cs typeface="Cambria Math"/>
              </a:defRPr>
            </a:pPr>
            <a:r>
              <a:rPr sz="2400" b="0">
                <a:solidFill>
                  <a:srgbClr val="000000"/>
                </a:solidFill>
                <a:latin typeface="Cambria Math"/>
                <a:ea typeface="Cambria Math"/>
                <a:cs typeface="Cambria Math"/>
              </a:rPr>
              <a:t>Answer ← π</a:t>
            </a:r>
            <a:r>
              <a:rPr sz="1704" b="0" baseline="-25000">
                <a:solidFill>
                  <a:srgbClr val="000000"/>
                </a:solidFill>
                <a:latin typeface="Cambria Math"/>
                <a:ea typeface="Cambria Math"/>
                <a:cs typeface="Cambria Math"/>
              </a:rPr>
              <a:t>mid</a:t>
            </a:r>
            <a:r>
              <a:rPr sz="2400" b="0">
                <a:solidFill>
                  <a:srgbClr val="000000"/>
                </a:solidFill>
                <a:latin typeface="Cambria Math"/>
                <a:ea typeface="Cambria Math"/>
                <a:cs typeface="Cambria Math"/>
              </a:rPr>
              <a:t>(J)</a:t>
            </a:r>
          </a:p>
        </p:txBody>
      </p:sp>
      <p:sp>
        <p:nvSpPr>
          <p:cNvPr id="6" name="body">
            <a:extLst>
              <a:ext uri="{FF2B5EF4-FFF2-40B4-BE49-F238E27FC236}">
                <a16:creationId xmlns:a16="http://schemas.microsoft.com/office/drawing/2014/main" id="{90B3D06C-AA49-44B7-A6AD-CAE55A294080}"/>
              </a:ext>
            </a:extLst>
          </p:cNvPr>
          <p:cNvSpPr>
            <a:spLocks noGrp="1"/>
          </p:cNvSpPr>
          <p:nvPr/>
        </p:nvSpPr>
        <p:spPr>
          <a:xfrm>
            <a:off x="3200400" y="4191000"/>
            <a:ext cx="2476500" cy="361950"/>
          </a:xfrm>
          <a:prstGeom prst="rect">
            <a:avLst/>
          </a:prstGeom>
          <a:noFill/>
          <a:ln w="0">
            <a:noFill/>
          </a:ln>
        </p:spPr>
        <p:txBody>
          <a:bodyPr wrap="square" lIns="0" tIns="0" rIns="0" bIns="0">
            <a:noAutofit/>
          </a:bodyPr>
          <a:lstStyle/>
          <a:p>
            <a:pPr>
              <a:defRPr sz="2250" b="0">
                <a:solidFill>
                  <a:srgbClr val="000000"/>
                </a:solidFill>
                <a:latin typeface="Calibri"/>
                <a:ea typeface="Calibri"/>
                <a:cs typeface="Calibri"/>
              </a:defRPr>
            </a:pPr>
            <a:r>
              <a:rPr sz="2250" b="0">
                <a:solidFill>
                  <a:srgbClr val="000000"/>
                </a:solidFill>
                <a:latin typeface="Calibri"/>
                <a:ea typeface="Calibri"/>
                <a:cs typeface="Calibri"/>
              </a:rPr>
              <a:t>Answer</a:t>
            </a:r>
          </a:p>
        </p:txBody>
      </p:sp>
      <p:graphicFrame>
        <p:nvGraphicFramePr>
          <p:cNvPr id="14" name="表格 13"/>
          <p:cNvGraphicFramePr/>
          <p:nvPr/>
        </p:nvGraphicFramePr>
        <p:xfrm>
          <a:off x="3276600" y="4610100"/>
          <a:ext cx="2476500" cy="1143000"/>
        </p:xfrm>
        <a:graphic>
          <a:graphicData uri="http://schemas.openxmlformats.org/drawingml/2006/table">
            <a:tbl>
              <a:tblPr/>
              <a:tblGrid>
                <a:gridCol w="2476500">
                  <a:extLst>
                    <a:ext uri="{9D8B030D-6E8A-4147-A177-3AD203B41FA5}">
                      <a16:colId xmlns:a16="http://schemas.microsoft.com/office/drawing/2014/main" val="20000"/>
                    </a:ext>
                  </a:extLst>
                </a:gridCol>
              </a:tblGrid>
              <a:tr h="381000">
                <a:tc>
                  <a:txBody>
                    <a:bodyPr/>
                    <a:lstStyle/>
                    <a:p>
                      <a:pPr algn="ctr"/>
                      <a:r>
                        <a:rPr sz="2025">
                          <a:solidFill>
                            <a:srgbClr val="000000"/>
                          </a:solidFill>
                          <a:latin typeface="Calibri"/>
                          <a:ea typeface="Calibri"/>
                          <a:cs typeface="Calibri"/>
                        </a:rPr>
                        <a:t>mid</a:t>
                      </a:r>
                    </a:p>
                  </a:txBody>
                  <a:tcPr marL="47625" marR="47625" marT="28575" marB="28575" anchor="ctr">
                    <a:solidFill>
                      <a:srgbClr val="D9D9D9"/>
                    </a:solidFill>
                  </a:tcPr>
                </a:tc>
                <a:extLst>
                  <a:ext uri="{0D108BD9-81ED-4DB2-BD59-A6C34878D82A}">
                    <a16:rowId xmlns:a16="http://schemas.microsoft.com/office/drawing/2014/main" val="10000"/>
                  </a:ext>
                </a:extLst>
              </a:tr>
              <a:tr h="381000">
                <a:tc>
                  <a:txBody>
                    <a:bodyPr/>
                    <a:lstStyle/>
                    <a:p>
                      <a:pPr algn="ctr"/>
                      <a:r>
                        <a:rPr sz="2025">
                          <a:solidFill>
                            <a:srgbClr val="000000"/>
                          </a:solidFill>
                          <a:latin typeface="Calibri"/>
                          <a:ea typeface="Calibri"/>
                          <a:cs typeface="Calibri"/>
                        </a:rPr>
                        <a:t>1</a:t>
                      </a:r>
                    </a:p>
                  </a:txBody>
                  <a:tcPr marL="47625" marR="47625" marT="28575" marB="28575" anchor="ctr">
                    <a:solidFill>
                      <a:srgbClr val="FFFFFF"/>
                    </a:solidFill>
                  </a:tcPr>
                </a:tc>
                <a:extLst>
                  <a:ext uri="{0D108BD9-81ED-4DB2-BD59-A6C34878D82A}">
                    <a16:rowId xmlns:a16="http://schemas.microsoft.com/office/drawing/2014/main" val="10001"/>
                  </a:ext>
                </a:extLst>
              </a:tr>
              <a:tr h="381000">
                <a:tc>
                  <a:txBody>
                    <a:bodyPr/>
                    <a:lstStyle/>
                    <a:p>
                      <a:pPr algn="ctr"/>
                      <a:r>
                        <a:rPr sz="2025">
                          <a:solidFill>
                            <a:srgbClr val="000000"/>
                          </a:solidFill>
                          <a:latin typeface="Calibri"/>
                          <a:ea typeface="Calibri"/>
                          <a:cs typeface="Calibri"/>
                        </a:rPr>
                        <a:t>3</a:t>
                      </a:r>
                    </a:p>
                  </a:txBody>
                  <a:tcPr marL="47625" marR="47625" marT="28575" marB="28575" anchor="ctr">
                    <a:solidFill>
                      <a:srgbClr val="FFFFFF"/>
                    </a:solidFill>
                  </a:tcPr>
                </a:tc>
                <a:extLst>
                  <a:ext uri="{0D108BD9-81ED-4DB2-BD59-A6C34878D82A}">
                    <a16:rowId xmlns:a16="http://schemas.microsoft.com/office/drawing/2014/main" val="10002"/>
                  </a:ext>
                </a:extLst>
              </a:tr>
            </a:tbl>
          </a:graphicData>
        </a:graphic>
      </p:graphicFrame>
      <p:sp>
        <p:nvSpPr>
          <p:cNvPr id="9001" name="Title 1">
            <a:extLst>
              <a:ext uri="{FF2B5EF4-FFF2-40B4-BE49-F238E27FC236}">
                <a16:creationId xmlns:a16="http://schemas.microsoft.com/office/drawing/2014/main" id="{4EF27E5C-9C4D-BDBE-7667-D0B141BCC8F5}"/>
              </a:ext>
            </a:extLst>
          </p:cNvPr>
          <p:cNvSpPr>
            <a:spLocks noGrp="1"/>
          </p:cNvSpPr>
          <p:nvPr>
            <p:ph type="title"/>
          </p:nvPr>
        </p:nvSpPr>
        <p:spPr/>
        <p:txBody>
          <a:bodyPr/>
          <a:lstStyle/>
          <a:p>
            <a:r>
              <a:rPr lang="en-US">
                <a:solidFill>
                  <a:srgbClr val="FF0000"/>
                </a:solidFill>
              </a:rPr>
              <a:t>Solutions: </a:t>
            </a:r>
            <a:r>
              <a:rPr lang="en-US">
                <a:solidFill>
                  <a:srgbClr val="3333CC"/>
                </a:solidFill>
              </a:rPr>
              <a:t>Q20 (2)</a:t>
            </a:r>
          </a:p>
        </p:txBody>
      </p:sp>
      <p:sp>
        <p:nvSpPr>
          <p:cNvPr id="9002" name="Slide Number Placeholder 1">
            <a:extLst>
              <a:ext uri="{FF2B5EF4-FFF2-40B4-BE49-F238E27FC236}">
                <a16:creationId xmlns:a16="http://schemas.microsoft.com/office/drawing/2014/main" id="{B90139AC-3BDA-723A-097A-000DA0A784C1}"/>
              </a:ext>
            </a:extLst>
          </p:cNvPr>
          <p:cNvSpPr>
            <a:spLocks noGrp="1"/>
          </p:cNvSpPr>
          <p:nvPr>
            <p:ph type="sldNum" sz="quarter" idx="12"/>
          </p:nvPr>
        </p:nvSpPr>
        <p:spPr/>
        <p:txBody>
          <a:bodyPr/>
          <a:lstStyle/>
          <a:p>
            <a:pPr>
              <a:defRPr/>
            </a:pPr>
            <a:fld id="{43CA101F-9E5F-9249-9862-3CE55B3BB777}" type="slidenum">
              <a:rPr lang="en-US" altLang="zh-TW" smtClean="0"/>
              <a:pPr>
                <a:defRPr/>
              </a:pPr>
              <a:t>53</a:t>
            </a:fld>
            <a:endParaRPr lang="en-US" altLang="zh-TW"/>
          </a:p>
        </p:txBody>
      </p:sp>
    </p:spTree>
    <p:extLst>
      <p:ext uri="{BB962C8B-B14F-4D97-AF65-F5344CB8AC3E}">
        <p14:creationId xmlns:p14="http://schemas.microsoft.com/office/powerpoint/2010/main" val="1302091956"/>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body">
            <a:extLst>
              <a:ext uri="{FF2B5EF4-FFF2-40B4-BE49-F238E27FC236}">
                <a16:creationId xmlns:a16="http://schemas.microsoft.com/office/drawing/2014/main" id="{DE21C4D6-B58F-4504-B16C-C4A3888F667D}"/>
              </a:ext>
            </a:extLst>
          </p:cNvPr>
          <p:cNvSpPr>
            <a:spLocks noGrp="1"/>
          </p:cNvSpPr>
          <p:nvPr/>
        </p:nvSpPr>
        <p:spPr>
          <a:xfrm>
            <a:off x="781050" y="1085850"/>
            <a:ext cx="219075" cy="400050"/>
          </a:xfrm>
          <a:prstGeom prst="rect">
            <a:avLst/>
          </a:prstGeom>
          <a:noFill/>
          <a:ln w="0">
            <a:noFill/>
          </a:ln>
        </p:spPr>
        <p:txBody>
          <a:bodyPr wrap="square" lIns="0" tIns="0" rIns="0" bIns="0">
            <a:noAutofit/>
          </a:bodyPr>
          <a:lstStyle/>
          <a:p>
            <a:pPr>
              <a:defRPr sz="2250" b="0">
                <a:solidFill>
                  <a:srgbClr val="000000"/>
                </a:solidFill>
                <a:latin typeface="Calibri"/>
                <a:ea typeface="Calibri"/>
                <a:cs typeface="Calibri"/>
              </a:defRPr>
            </a:pPr>
            <a:r>
              <a:rPr sz="2250" b="0">
                <a:solidFill>
                  <a:srgbClr val="000000"/>
                </a:solidFill>
                <a:latin typeface="Calibri"/>
                <a:ea typeface="Calibri"/>
                <a:cs typeface="Calibri"/>
              </a:rPr>
              <a:t>•</a:t>
            </a:r>
          </a:p>
        </p:txBody>
      </p:sp>
      <p:sp>
        <p:nvSpPr>
          <p:cNvPr id="4" name="body">
            <a:extLst>
              <a:ext uri="{FF2B5EF4-FFF2-40B4-BE49-F238E27FC236}">
                <a16:creationId xmlns:a16="http://schemas.microsoft.com/office/drawing/2014/main" id="{9E282B56-90F7-407A-A3B2-563B8F1742AD}"/>
              </a:ext>
            </a:extLst>
          </p:cNvPr>
          <p:cNvSpPr>
            <a:spLocks noGrp="1"/>
          </p:cNvSpPr>
          <p:nvPr/>
        </p:nvSpPr>
        <p:spPr>
          <a:xfrm>
            <a:off x="1104900" y="1085850"/>
            <a:ext cx="7239000" cy="952500"/>
          </a:xfrm>
          <a:prstGeom prst="rect">
            <a:avLst/>
          </a:prstGeom>
          <a:noFill/>
          <a:ln w="0">
            <a:noFill/>
          </a:ln>
        </p:spPr>
        <p:txBody>
          <a:bodyPr wrap="square" lIns="0" tIns="0" rIns="0" bIns="0">
            <a:noAutofit/>
          </a:bodyPr>
          <a:lstStyle/>
          <a:p>
            <a:pPr>
              <a:defRPr sz="2250" b="0">
                <a:solidFill>
                  <a:srgbClr val="000000"/>
                </a:solidFill>
                <a:latin typeface="Calibri"/>
                <a:ea typeface="Calibri"/>
                <a:cs typeface="Calibri"/>
              </a:defRPr>
            </a:pPr>
            <a:r>
              <a:rPr sz="2250" b="0">
                <a:solidFill>
                  <a:srgbClr val="000000"/>
                </a:solidFill>
                <a:latin typeface="Calibri"/>
                <a:ea typeface="Calibri"/>
                <a:cs typeface="Calibri"/>
              </a:rPr>
              <a:t>Natural join matches equal values on every shared attribute name.</a:t>
            </a:r>
          </a:p>
        </p:txBody>
      </p:sp>
      <p:sp>
        <p:nvSpPr>
          <p:cNvPr id="5" name="body">
            <a:extLst>
              <a:ext uri="{FF2B5EF4-FFF2-40B4-BE49-F238E27FC236}">
                <a16:creationId xmlns:a16="http://schemas.microsoft.com/office/drawing/2014/main" id="{336C7FFB-2A12-40C4-A3F3-444F9D4D2004}"/>
              </a:ext>
            </a:extLst>
          </p:cNvPr>
          <p:cNvSpPr>
            <a:spLocks noGrp="1"/>
          </p:cNvSpPr>
          <p:nvPr/>
        </p:nvSpPr>
        <p:spPr>
          <a:xfrm>
            <a:off x="781050" y="2219325"/>
            <a:ext cx="219075" cy="400050"/>
          </a:xfrm>
          <a:prstGeom prst="rect">
            <a:avLst/>
          </a:prstGeom>
          <a:noFill/>
          <a:ln w="0">
            <a:noFill/>
          </a:ln>
        </p:spPr>
        <p:txBody>
          <a:bodyPr wrap="square" lIns="0" tIns="0" rIns="0" bIns="0">
            <a:noAutofit/>
          </a:bodyPr>
          <a:lstStyle/>
          <a:p>
            <a:pPr>
              <a:defRPr sz="2250" b="0">
                <a:solidFill>
                  <a:srgbClr val="000000"/>
                </a:solidFill>
                <a:latin typeface="Calibri"/>
                <a:ea typeface="Calibri"/>
                <a:cs typeface="Calibri"/>
              </a:defRPr>
            </a:pPr>
            <a:r>
              <a:rPr sz="2250" b="0">
                <a:solidFill>
                  <a:srgbClr val="000000"/>
                </a:solidFill>
                <a:latin typeface="Calibri"/>
                <a:ea typeface="Calibri"/>
                <a:cs typeface="Calibri"/>
              </a:rPr>
              <a:t>•</a:t>
            </a:r>
          </a:p>
        </p:txBody>
      </p:sp>
      <p:sp>
        <p:nvSpPr>
          <p:cNvPr id="6" name="body">
            <a:extLst>
              <a:ext uri="{FF2B5EF4-FFF2-40B4-BE49-F238E27FC236}">
                <a16:creationId xmlns:a16="http://schemas.microsoft.com/office/drawing/2014/main" id="{1C91C92E-875A-4C62-B6E0-8E2D9BD4FFE4}"/>
              </a:ext>
            </a:extLst>
          </p:cNvPr>
          <p:cNvSpPr>
            <a:spLocks noGrp="1"/>
          </p:cNvSpPr>
          <p:nvPr/>
        </p:nvSpPr>
        <p:spPr>
          <a:xfrm>
            <a:off x="1104900" y="2219325"/>
            <a:ext cx="7239000" cy="952500"/>
          </a:xfrm>
          <a:prstGeom prst="rect">
            <a:avLst/>
          </a:prstGeom>
          <a:noFill/>
          <a:ln w="0">
            <a:noFill/>
          </a:ln>
        </p:spPr>
        <p:txBody>
          <a:bodyPr wrap="square" lIns="0" tIns="0" rIns="0" bIns="0">
            <a:noAutofit/>
          </a:bodyPr>
          <a:lstStyle/>
          <a:p>
            <a:pPr>
              <a:defRPr sz="2250" b="0">
                <a:solidFill>
                  <a:srgbClr val="000000"/>
                </a:solidFill>
                <a:latin typeface="Calibri"/>
                <a:ea typeface="Calibri"/>
                <a:cs typeface="Calibri"/>
              </a:defRPr>
            </a:pPr>
            <a:r>
              <a:rPr sz="2250" b="0">
                <a:solidFill>
                  <a:srgbClr val="000000"/>
                </a:solidFill>
                <a:latin typeface="Calibri"/>
                <a:ea typeface="Calibri"/>
                <a:cs typeface="Calibri"/>
              </a:rPr>
              <a:t>Keep one copy of each shared attribute in the output.</a:t>
            </a:r>
          </a:p>
        </p:txBody>
      </p:sp>
      <p:sp>
        <p:nvSpPr>
          <p:cNvPr id="7" name="body">
            <a:extLst>
              <a:ext uri="{FF2B5EF4-FFF2-40B4-BE49-F238E27FC236}">
                <a16:creationId xmlns:a16="http://schemas.microsoft.com/office/drawing/2014/main" id="{8C96171D-6135-483B-AAA2-DC99022D1B61}"/>
              </a:ext>
            </a:extLst>
          </p:cNvPr>
          <p:cNvSpPr>
            <a:spLocks noGrp="1"/>
          </p:cNvSpPr>
          <p:nvPr/>
        </p:nvSpPr>
        <p:spPr>
          <a:xfrm>
            <a:off x="781050" y="3257550"/>
            <a:ext cx="219075" cy="400050"/>
          </a:xfrm>
          <a:prstGeom prst="rect">
            <a:avLst/>
          </a:prstGeom>
          <a:noFill/>
          <a:ln w="0">
            <a:noFill/>
          </a:ln>
        </p:spPr>
        <p:txBody>
          <a:bodyPr wrap="square" lIns="0" tIns="0" rIns="0" bIns="0">
            <a:noAutofit/>
          </a:bodyPr>
          <a:lstStyle/>
          <a:p>
            <a:pPr>
              <a:defRPr sz="2250" b="0">
                <a:solidFill>
                  <a:srgbClr val="000000"/>
                </a:solidFill>
                <a:latin typeface="Calibri"/>
                <a:ea typeface="Calibri"/>
                <a:cs typeface="Calibri"/>
              </a:defRPr>
            </a:pPr>
            <a:r>
              <a:rPr sz="2250" b="0">
                <a:solidFill>
                  <a:srgbClr val="000000"/>
                </a:solidFill>
                <a:latin typeface="Calibri"/>
                <a:ea typeface="Calibri"/>
                <a:cs typeface="Calibri"/>
              </a:rPr>
              <a:t>•</a:t>
            </a:r>
          </a:p>
        </p:txBody>
      </p:sp>
      <p:sp>
        <p:nvSpPr>
          <p:cNvPr id="8" name="body">
            <a:extLst>
              <a:ext uri="{FF2B5EF4-FFF2-40B4-BE49-F238E27FC236}">
                <a16:creationId xmlns:a16="http://schemas.microsoft.com/office/drawing/2014/main" id="{92DE773F-A485-4A74-979B-BDEC3AD97972}"/>
              </a:ext>
            </a:extLst>
          </p:cNvPr>
          <p:cNvSpPr>
            <a:spLocks noGrp="1"/>
          </p:cNvSpPr>
          <p:nvPr/>
        </p:nvSpPr>
        <p:spPr>
          <a:xfrm>
            <a:off x="1104900" y="3257550"/>
            <a:ext cx="7239000" cy="952500"/>
          </a:xfrm>
          <a:prstGeom prst="rect">
            <a:avLst/>
          </a:prstGeom>
          <a:noFill/>
          <a:ln w="0">
            <a:noFill/>
          </a:ln>
        </p:spPr>
        <p:txBody>
          <a:bodyPr wrap="square" lIns="0" tIns="0" rIns="0" bIns="0">
            <a:noAutofit/>
          </a:bodyPr>
          <a:lstStyle/>
          <a:p>
            <a:pPr>
              <a:defRPr sz="2250" b="0">
                <a:solidFill>
                  <a:srgbClr val="000000"/>
                </a:solidFill>
                <a:latin typeface="Calibri"/>
                <a:ea typeface="Calibri"/>
                <a:cs typeface="Calibri"/>
              </a:defRPr>
            </a:pPr>
            <a:r>
              <a:rPr sz="2250" b="0">
                <a:solidFill>
                  <a:srgbClr val="000000"/>
                </a:solidFill>
                <a:latin typeface="Calibri"/>
                <a:ea typeface="Calibri"/>
                <a:cs typeface="Calibri"/>
              </a:rPr>
              <a:t>With no shared attribute names, natural join equals the Cartesian product.</a:t>
            </a:r>
          </a:p>
        </p:txBody>
      </p:sp>
      <p:sp>
        <p:nvSpPr>
          <p:cNvPr id="9" name="body">
            <a:extLst>
              <a:ext uri="{FF2B5EF4-FFF2-40B4-BE49-F238E27FC236}">
                <a16:creationId xmlns:a16="http://schemas.microsoft.com/office/drawing/2014/main" id="{2AD0E209-8499-4A20-BFD4-89E8F992ED11}"/>
              </a:ext>
            </a:extLst>
          </p:cNvPr>
          <p:cNvSpPr>
            <a:spLocks noGrp="1"/>
          </p:cNvSpPr>
          <p:nvPr/>
        </p:nvSpPr>
        <p:spPr>
          <a:xfrm>
            <a:off x="781050" y="4657725"/>
            <a:ext cx="7600950" cy="952500"/>
          </a:xfrm>
          <a:prstGeom prst="rect">
            <a:avLst/>
          </a:prstGeom>
          <a:noFill/>
          <a:ln w="0">
            <a:noFill/>
          </a:ln>
        </p:spPr>
        <p:txBody>
          <a:bodyPr wrap="square" lIns="0" tIns="0" rIns="0" bIns="0">
            <a:noAutofit/>
          </a:bodyPr>
          <a:lstStyle/>
          <a:p>
            <a:pPr>
              <a:defRPr sz="2250" b="0">
                <a:solidFill>
                  <a:srgbClr val="FF0000"/>
                </a:solidFill>
                <a:latin typeface="Calibri"/>
                <a:ea typeface="Calibri"/>
                <a:cs typeface="Calibri"/>
              </a:defRPr>
            </a:pPr>
            <a:r>
              <a:rPr sz="2250" b="0">
                <a:solidFill>
                  <a:srgbClr val="FF0000"/>
                </a:solidFill>
                <a:latin typeface="Calibri"/>
                <a:ea typeface="Calibri"/>
                <a:cs typeface="Calibri"/>
              </a:rPr>
              <a:t>Inspect both schemas before using ⋈ without a condition.</a:t>
            </a:r>
          </a:p>
        </p:txBody>
      </p:sp>
      <p:sp>
        <p:nvSpPr>
          <p:cNvPr id="9001" name="Title 1">
            <a:extLst>
              <a:ext uri="{FF2B5EF4-FFF2-40B4-BE49-F238E27FC236}">
                <a16:creationId xmlns:a16="http://schemas.microsoft.com/office/drawing/2014/main" id="{4EF27E5C-9C4D-BDBE-7667-D0B141BCC8F5}"/>
              </a:ext>
            </a:extLst>
          </p:cNvPr>
          <p:cNvSpPr>
            <a:spLocks noGrp="1"/>
          </p:cNvSpPr>
          <p:nvPr>
            <p:ph type="title"/>
          </p:nvPr>
        </p:nvSpPr>
        <p:spPr/>
        <p:txBody>
          <a:bodyPr/>
          <a:lstStyle/>
          <a:p>
            <a:r>
              <a:rPr lang="en-US">
                <a:solidFill>
                  <a:srgbClr val="3333CC"/>
                </a:solidFill>
              </a:rPr>
              <a:t>Natural Join</a:t>
            </a:r>
          </a:p>
        </p:txBody>
      </p:sp>
      <p:sp>
        <p:nvSpPr>
          <p:cNvPr id="9002" name="Slide Number Placeholder 1">
            <a:extLst>
              <a:ext uri="{FF2B5EF4-FFF2-40B4-BE49-F238E27FC236}">
                <a16:creationId xmlns:a16="http://schemas.microsoft.com/office/drawing/2014/main" id="{B90139AC-3BDA-723A-097A-000DA0A784C1}"/>
              </a:ext>
            </a:extLst>
          </p:cNvPr>
          <p:cNvSpPr>
            <a:spLocks noGrp="1"/>
          </p:cNvSpPr>
          <p:nvPr>
            <p:ph type="sldNum" sz="quarter" idx="12"/>
          </p:nvPr>
        </p:nvSpPr>
        <p:spPr/>
        <p:txBody>
          <a:bodyPr/>
          <a:lstStyle/>
          <a:p>
            <a:pPr>
              <a:defRPr/>
            </a:pPr>
            <a:fld id="{43CA101F-9E5F-9249-9862-3CE55B3BB777}" type="slidenum">
              <a:rPr lang="en-US" altLang="zh-TW" smtClean="0"/>
              <a:pPr>
                <a:defRPr/>
              </a:pPr>
              <a:t>54</a:t>
            </a:fld>
            <a:endParaRPr lang="en-US" altLang="zh-TW"/>
          </a:p>
        </p:txBody>
      </p:sp>
    </p:spTree>
    <p:extLst>
      <p:ext uri="{BB962C8B-B14F-4D97-AF65-F5344CB8AC3E}">
        <p14:creationId xmlns:p14="http://schemas.microsoft.com/office/powerpoint/2010/main" val="1032463786"/>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body">
            <a:extLst>
              <a:ext uri="{FF2B5EF4-FFF2-40B4-BE49-F238E27FC236}">
                <a16:creationId xmlns:a16="http://schemas.microsoft.com/office/drawing/2014/main" id="{8021E881-CF52-46D1-9F88-D31C84134B24}"/>
              </a:ext>
            </a:extLst>
          </p:cNvPr>
          <p:cNvSpPr>
            <a:spLocks noGrp="1"/>
          </p:cNvSpPr>
          <p:nvPr/>
        </p:nvSpPr>
        <p:spPr>
          <a:xfrm>
            <a:off x="781050" y="5876925"/>
            <a:ext cx="7620000" cy="285750"/>
          </a:xfrm>
          <a:prstGeom prst="rect">
            <a:avLst/>
          </a:prstGeom>
          <a:noFill/>
          <a:ln w="0">
            <a:noFill/>
          </a:ln>
        </p:spPr>
        <p:txBody>
          <a:bodyPr wrap="square" lIns="0" tIns="0" rIns="0" bIns="0">
            <a:noAutofit/>
          </a:bodyPr>
          <a:lstStyle/>
          <a:p>
            <a:pPr>
              <a:defRPr sz="1725" b="0">
                <a:solidFill>
                  <a:srgbClr val="3333CC"/>
                </a:solidFill>
                <a:latin typeface="Calibri"/>
                <a:ea typeface="Calibri"/>
                <a:cs typeface="Calibri"/>
              </a:defRPr>
            </a:pPr>
            <a:r>
              <a:rPr sz="1725" b="0">
                <a:solidFill>
                  <a:srgbClr val="3333CC"/>
                </a:solidFill>
                <a:latin typeface="Calibri"/>
                <a:ea typeface="Calibri"/>
                <a:cs typeface="Calibri"/>
              </a:rPr>
              <a:t>Think: 30 s</a:t>
            </a:r>
          </a:p>
        </p:txBody>
      </p:sp>
      <p:sp>
        <p:nvSpPr>
          <p:cNvPr id="4" name="body">
            <a:extLst>
              <a:ext uri="{FF2B5EF4-FFF2-40B4-BE49-F238E27FC236}">
                <a16:creationId xmlns:a16="http://schemas.microsoft.com/office/drawing/2014/main" id="{787D80FE-6E66-4917-8417-5C2E5DA98403}"/>
              </a:ext>
            </a:extLst>
          </p:cNvPr>
          <p:cNvSpPr>
            <a:spLocks noGrp="1"/>
          </p:cNvSpPr>
          <p:nvPr/>
        </p:nvSpPr>
        <p:spPr>
          <a:xfrm>
            <a:off x="895350" y="1295400"/>
            <a:ext cx="3048000" cy="361950"/>
          </a:xfrm>
          <a:prstGeom prst="rect">
            <a:avLst/>
          </a:prstGeom>
          <a:noFill/>
          <a:ln w="0">
            <a:noFill/>
          </a:ln>
        </p:spPr>
        <p:txBody>
          <a:bodyPr wrap="square" lIns="0" tIns="0" rIns="0" bIns="0">
            <a:noAutofit/>
          </a:bodyPr>
          <a:lstStyle/>
          <a:p>
            <a:pPr>
              <a:defRPr sz="2250" b="0">
                <a:solidFill>
                  <a:srgbClr val="000000"/>
                </a:solidFill>
                <a:latin typeface="Calibri"/>
                <a:ea typeface="Calibri"/>
                <a:cs typeface="Calibri"/>
              </a:defRPr>
            </a:pPr>
            <a:r>
              <a:rPr sz="2250" b="0">
                <a:solidFill>
                  <a:srgbClr val="000000"/>
                </a:solidFill>
                <a:latin typeface="Calibri"/>
                <a:ea typeface="Calibri"/>
                <a:cs typeface="Calibri"/>
              </a:rPr>
              <a:t>Local</a:t>
            </a:r>
          </a:p>
        </p:txBody>
      </p:sp>
      <p:graphicFrame>
        <p:nvGraphicFramePr>
          <p:cNvPr id="15" name="表格 14"/>
          <p:cNvGraphicFramePr/>
          <p:nvPr/>
        </p:nvGraphicFramePr>
        <p:xfrm>
          <a:off x="971550" y="1714500"/>
          <a:ext cx="3048000" cy="1228725"/>
        </p:xfrm>
        <a:graphic>
          <a:graphicData uri="http://schemas.openxmlformats.org/drawingml/2006/table">
            <a:tbl>
              <a:tblPr/>
              <a:tblGrid>
                <a:gridCol w="1524000">
                  <a:extLst>
                    <a:ext uri="{9D8B030D-6E8A-4147-A177-3AD203B41FA5}">
                      <a16:colId xmlns:a16="http://schemas.microsoft.com/office/drawing/2014/main" val="20000"/>
                    </a:ext>
                  </a:extLst>
                </a:gridCol>
                <a:gridCol w="1524000">
                  <a:extLst>
                    <a:ext uri="{9D8B030D-6E8A-4147-A177-3AD203B41FA5}">
                      <a16:colId xmlns:a16="http://schemas.microsoft.com/office/drawing/2014/main" val="20001"/>
                    </a:ext>
                  </a:extLst>
                </a:gridCol>
              </a:tblGrid>
              <a:tr h="409575">
                <a:tc>
                  <a:txBody>
                    <a:bodyPr/>
                    <a:lstStyle/>
                    <a:p>
                      <a:pPr algn="ctr"/>
                      <a:r>
                        <a:rPr sz="1950">
                          <a:solidFill>
                            <a:srgbClr val="000000"/>
                          </a:solidFill>
                          <a:latin typeface="Calibri"/>
                          <a:ea typeface="Calibri"/>
                          <a:cs typeface="Calibri"/>
                        </a:rPr>
                        <a:t>mid</a:t>
                      </a:r>
                    </a:p>
                  </a:txBody>
                  <a:tcPr marL="47625" marR="47625" marT="28575" marB="28575" anchor="ctr">
                    <a:solidFill>
                      <a:srgbClr val="D9D9D9"/>
                    </a:solidFill>
                  </a:tcPr>
                </a:tc>
                <a:tc>
                  <a:txBody>
                    <a:bodyPr/>
                    <a:lstStyle/>
                    <a:p>
                      <a:pPr algn="ctr"/>
                      <a:r>
                        <a:rPr sz="1950">
                          <a:solidFill>
                            <a:srgbClr val="000000"/>
                          </a:solidFill>
                          <a:latin typeface="Calibri"/>
                          <a:ea typeface="Calibri"/>
                          <a:cs typeface="Calibri"/>
                        </a:rPr>
                        <a:t>campus</a:t>
                      </a:r>
                    </a:p>
                  </a:txBody>
                  <a:tcPr marL="47625" marR="47625" marT="28575" marB="28575" anchor="ctr">
                    <a:solidFill>
                      <a:srgbClr val="D9D9D9"/>
                    </a:solidFill>
                  </a:tcPr>
                </a:tc>
                <a:extLst>
                  <a:ext uri="{0D108BD9-81ED-4DB2-BD59-A6C34878D82A}">
                    <a16:rowId xmlns:a16="http://schemas.microsoft.com/office/drawing/2014/main" val="10000"/>
                  </a:ext>
                </a:extLst>
              </a:tr>
              <a:tr h="409575">
                <a:tc>
                  <a:txBody>
                    <a:bodyPr/>
                    <a:lstStyle/>
                    <a:p>
                      <a:pPr algn="ctr"/>
                      <a:r>
                        <a:rPr sz="1950">
                          <a:solidFill>
                            <a:srgbClr val="000000"/>
                          </a:solidFill>
                          <a:latin typeface="Calibri"/>
                          <a:ea typeface="Calibri"/>
                          <a:cs typeface="Calibri"/>
                        </a:rPr>
                        <a:t>1</a:t>
                      </a:r>
                    </a:p>
                  </a:txBody>
                  <a:tcPr marL="47625" marR="47625" marT="28575" marB="28575" anchor="ctr">
                    <a:solidFill>
                      <a:srgbClr val="FFFFFF"/>
                    </a:solidFill>
                  </a:tcPr>
                </a:tc>
                <a:tc>
                  <a:txBody>
                    <a:bodyPr/>
                    <a:lstStyle/>
                    <a:p>
                      <a:pPr algn="ctr"/>
                      <a:r>
                        <a:rPr sz="1950">
                          <a:solidFill>
                            <a:srgbClr val="000000"/>
                          </a:solidFill>
                          <a:latin typeface="Calibri"/>
                          <a:ea typeface="Calibri"/>
                          <a:cs typeface="Calibri"/>
                        </a:rPr>
                        <a:t>North</a:t>
                      </a:r>
                    </a:p>
                  </a:txBody>
                  <a:tcPr marL="47625" marR="47625" marT="28575" marB="28575" anchor="ctr">
                    <a:solidFill>
                      <a:srgbClr val="FFFFFF"/>
                    </a:solidFill>
                  </a:tcPr>
                </a:tc>
                <a:extLst>
                  <a:ext uri="{0D108BD9-81ED-4DB2-BD59-A6C34878D82A}">
                    <a16:rowId xmlns:a16="http://schemas.microsoft.com/office/drawing/2014/main" val="10001"/>
                  </a:ext>
                </a:extLst>
              </a:tr>
              <a:tr h="409575">
                <a:tc>
                  <a:txBody>
                    <a:bodyPr/>
                    <a:lstStyle/>
                    <a:p>
                      <a:pPr algn="ctr"/>
                      <a:r>
                        <a:rPr sz="1950">
                          <a:solidFill>
                            <a:srgbClr val="000000"/>
                          </a:solidFill>
                          <a:latin typeface="Calibri"/>
                          <a:ea typeface="Calibri"/>
                          <a:cs typeface="Calibri"/>
                        </a:rPr>
                        <a:t>2</a:t>
                      </a:r>
                    </a:p>
                  </a:txBody>
                  <a:tcPr marL="47625" marR="47625" marT="28575" marB="28575" anchor="ctr">
                    <a:solidFill>
                      <a:srgbClr val="FFFFFF"/>
                    </a:solidFill>
                  </a:tcPr>
                </a:tc>
                <a:tc>
                  <a:txBody>
                    <a:bodyPr/>
                    <a:lstStyle/>
                    <a:p>
                      <a:pPr algn="ctr"/>
                      <a:r>
                        <a:rPr sz="1950">
                          <a:solidFill>
                            <a:srgbClr val="000000"/>
                          </a:solidFill>
                          <a:latin typeface="Calibri"/>
                          <a:ea typeface="Calibri"/>
                          <a:cs typeface="Calibri"/>
                        </a:rPr>
                        <a:t>South</a:t>
                      </a:r>
                    </a:p>
                  </a:txBody>
                  <a:tcPr marL="47625" marR="47625" marT="28575" marB="28575" anchor="ctr">
                    <a:solidFill>
                      <a:srgbClr val="FFFFFF"/>
                    </a:solidFill>
                  </a:tcPr>
                </a:tc>
                <a:extLst>
                  <a:ext uri="{0D108BD9-81ED-4DB2-BD59-A6C34878D82A}">
                    <a16:rowId xmlns:a16="http://schemas.microsoft.com/office/drawing/2014/main" val="10002"/>
                  </a:ext>
                </a:extLst>
              </a:tr>
            </a:tbl>
          </a:graphicData>
        </a:graphic>
      </p:graphicFrame>
      <p:sp>
        <p:nvSpPr>
          <p:cNvPr id="6" name="body">
            <a:extLst>
              <a:ext uri="{FF2B5EF4-FFF2-40B4-BE49-F238E27FC236}">
                <a16:creationId xmlns:a16="http://schemas.microsoft.com/office/drawing/2014/main" id="{2B1314AF-303D-4C0C-98B6-0A862C9D8234}"/>
              </a:ext>
            </a:extLst>
          </p:cNvPr>
          <p:cNvSpPr>
            <a:spLocks noGrp="1"/>
          </p:cNvSpPr>
          <p:nvPr/>
        </p:nvSpPr>
        <p:spPr>
          <a:xfrm>
            <a:off x="4419600" y="1295400"/>
            <a:ext cx="3648075" cy="361950"/>
          </a:xfrm>
          <a:prstGeom prst="rect">
            <a:avLst/>
          </a:prstGeom>
          <a:noFill/>
          <a:ln w="0">
            <a:noFill/>
          </a:ln>
        </p:spPr>
        <p:txBody>
          <a:bodyPr wrap="square" lIns="0" tIns="0" rIns="0" bIns="0">
            <a:noAutofit/>
          </a:bodyPr>
          <a:lstStyle/>
          <a:p>
            <a:pPr>
              <a:defRPr sz="2250" b="0">
                <a:solidFill>
                  <a:srgbClr val="000000"/>
                </a:solidFill>
                <a:latin typeface="Calibri"/>
                <a:ea typeface="Calibri"/>
                <a:cs typeface="Calibri"/>
              </a:defRPr>
            </a:pPr>
            <a:r>
              <a:rPr sz="2250" b="0">
                <a:solidFill>
                  <a:srgbClr val="000000"/>
                </a:solidFill>
                <a:latin typeface="Calibri"/>
                <a:ea typeface="Calibri"/>
                <a:cs typeface="Calibri"/>
              </a:rPr>
              <a:t>Booking</a:t>
            </a:r>
          </a:p>
        </p:txBody>
      </p:sp>
      <p:graphicFrame>
        <p:nvGraphicFramePr>
          <p:cNvPr id="17" name="表格 16"/>
          <p:cNvGraphicFramePr/>
          <p:nvPr/>
        </p:nvGraphicFramePr>
        <p:xfrm>
          <a:off x="4495800" y="1714500"/>
          <a:ext cx="3648075" cy="1638300"/>
        </p:xfrm>
        <a:graphic>
          <a:graphicData uri="http://schemas.openxmlformats.org/drawingml/2006/table">
            <a:tbl>
              <a:tblPr/>
              <a:tblGrid>
                <a:gridCol w="1216025">
                  <a:extLst>
                    <a:ext uri="{9D8B030D-6E8A-4147-A177-3AD203B41FA5}">
                      <a16:colId xmlns:a16="http://schemas.microsoft.com/office/drawing/2014/main" val="20000"/>
                    </a:ext>
                  </a:extLst>
                </a:gridCol>
                <a:gridCol w="1216025">
                  <a:extLst>
                    <a:ext uri="{9D8B030D-6E8A-4147-A177-3AD203B41FA5}">
                      <a16:colId xmlns:a16="http://schemas.microsoft.com/office/drawing/2014/main" val="20001"/>
                    </a:ext>
                  </a:extLst>
                </a:gridCol>
                <a:gridCol w="1216025">
                  <a:extLst>
                    <a:ext uri="{9D8B030D-6E8A-4147-A177-3AD203B41FA5}">
                      <a16:colId xmlns:a16="http://schemas.microsoft.com/office/drawing/2014/main" val="20002"/>
                    </a:ext>
                  </a:extLst>
                </a:gridCol>
              </a:tblGrid>
              <a:tr h="409575">
                <a:tc>
                  <a:txBody>
                    <a:bodyPr/>
                    <a:lstStyle/>
                    <a:p>
                      <a:pPr algn="ctr"/>
                      <a:r>
                        <a:rPr sz="1800">
                          <a:solidFill>
                            <a:srgbClr val="000000"/>
                          </a:solidFill>
                          <a:latin typeface="Calibri"/>
                          <a:ea typeface="Calibri"/>
                          <a:cs typeface="Calibri"/>
                        </a:rPr>
                        <a:t>mid</a:t>
                      </a:r>
                    </a:p>
                  </a:txBody>
                  <a:tcPr marL="47625" marR="47625" marT="28575" marB="28575" anchor="ctr">
                    <a:solidFill>
                      <a:srgbClr val="D9D9D9"/>
                    </a:solidFill>
                  </a:tcPr>
                </a:tc>
                <a:tc>
                  <a:txBody>
                    <a:bodyPr/>
                    <a:lstStyle/>
                    <a:p>
                      <a:pPr algn="ctr"/>
                      <a:r>
                        <a:rPr sz="1800">
                          <a:solidFill>
                            <a:srgbClr val="000000"/>
                          </a:solidFill>
                          <a:latin typeface="Calibri"/>
                          <a:ea typeface="Calibri"/>
                          <a:cs typeface="Calibri"/>
                        </a:rPr>
                        <a:t>campus</a:t>
                      </a:r>
                    </a:p>
                  </a:txBody>
                  <a:tcPr marL="47625" marR="47625" marT="28575" marB="28575" anchor="ctr">
                    <a:solidFill>
                      <a:srgbClr val="D9D9D9"/>
                    </a:solidFill>
                  </a:tcPr>
                </a:tc>
                <a:tc>
                  <a:txBody>
                    <a:bodyPr/>
                    <a:lstStyle/>
                    <a:p>
                      <a:pPr algn="ctr"/>
                      <a:r>
                        <a:rPr sz="1800">
                          <a:solidFill>
                            <a:srgbClr val="000000"/>
                          </a:solidFill>
                          <a:latin typeface="Calibri"/>
                          <a:ea typeface="Calibri"/>
                          <a:cs typeface="Calibri"/>
                        </a:rPr>
                        <a:t>room</a:t>
                      </a:r>
                    </a:p>
                  </a:txBody>
                  <a:tcPr marL="47625" marR="47625" marT="28575" marB="28575" anchor="ctr">
                    <a:solidFill>
                      <a:srgbClr val="D9D9D9"/>
                    </a:solidFill>
                  </a:tcPr>
                </a:tc>
                <a:extLst>
                  <a:ext uri="{0D108BD9-81ED-4DB2-BD59-A6C34878D82A}">
                    <a16:rowId xmlns:a16="http://schemas.microsoft.com/office/drawing/2014/main" val="10000"/>
                  </a:ext>
                </a:extLst>
              </a:tr>
              <a:tr h="409575">
                <a:tc>
                  <a:txBody>
                    <a:bodyPr/>
                    <a:lstStyle/>
                    <a:p>
                      <a:pPr algn="ctr"/>
                      <a:r>
                        <a:rPr sz="1800">
                          <a:solidFill>
                            <a:srgbClr val="000000"/>
                          </a:solidFill>
                          <a:latin typeface="Calibri"/>
                          <a:ea typeface="Calibri"/>
                          <a:cs typeface="Calibri"/>
                        </a:rPr>
                        <a:t>1</a:t>
                      </a:r>
                    </a:p>
                  </a:txBody>
                  <a:tcPr marL="47625" marR="47625" marT="28575" marB="28575" anchor="ctr">
                    <a:solidFill>
                      <a:srgbClr val="FFFFFF"/>
                    </a:solidFill>
                  </a:tcPr>
                </a:tc>
                <a:tc>
                  <a:txBody>
                    <a:bodyPr/>
                    <a:lstStyle/>
                    <a:p>
                      <a:pPr algn="ctr"/>
                      <a:r>
                        <a:rPr sz="1800">
                          <a:solidFill>
                            <a:srgbClr val="000000"/>
                          </a:solidFill>
                          <a:latin typeface="Calibri"/>
                          <a:ea typeface="Calibri"/>
                          <a:cs typeface="Calibri"/>
                        </a:rPr>
                        <a:t>South</a:t>
                      </a:r>
                    </a:p>
                  </a:txBody>
                  <a:tcPr marL="47625" marR="47625" marT="28575" marB="28575" anchor="ctr">
                    <a:solidFill>
                      <a:srgbClr val="FFFFFF"/>
                    </a:solidFill>
                  </a:tcPr>
                </a:tc>
                <a:tc>
                  <a:txBody>
                    <a:bodyPr/>
                    <a:lstStyle/>
                    <a:p>
                      <a:pPr algn="ctr"/>
                      <a:r>
                        <a:rPr sz="1800">
                          <a:solidFill>
                            <a:srgbClr val="000000"/>
                          </a:solidFill>
                          <a:latin typeface="Calibri"/>
                          <a:ea typeface="Calibri"/>
                          <a:cs typeface="Calibri"/>
                        </a:rPr>
                        <a:t>B1</a:t>
                      </a:r>
                    </a:p>
                  </a:txBody>
                  <a:tcPr marL="47625" marR="47625" marT="28575" marB="28575" anchor="ctr">
                    <a:solidFill>
                      <a:srgbClr val="FFFFFF"/>
                    </a:solidFill>
                  </a:tcPr>
                </a:tc>
                <a:extLst>
                  <a:ext uri="{0D108BD9-81ED-4DB2-BD59-A6C34878D82A}">
                    <a16:rowId xmlns:a16="http://schemas.microsoft.com/office/drawing/2014/main" val="10001"/>
                  </a:ext>
                </a:extLst>
              </a:tr>
              <a:tr h="409575">
                <a:tc>
                  <a:txBody>
                    <a:bodyPr/>
                    <a:lstStyle/>
                    <a:p>
                      <a:pPr algn="ctr"/>
                      <a:r>
                        <a:rPr sz="1800">
                          <a:solidFill>
                            <a:srgbClr val="000000"/>
                          </a:solidFill>
                          <a:latin typeface="Calibri"/>
                          <a:ea typeface="Calibri"/>
                          <a:cs typeface="Calibri"/>
                        </a:rPr>
                        <a:t>1</a:t>
                      </a:r>
                    </a:p>
                  </a:txBody>
                  <a:tcPr marL="47625" marR="47625" marT="28575" marB="28575" anchor="ctr">
                    <a:solidFill>
                      <a:srgbClr val="FFFFFF"/>
                    </a:solidFill>
                  </a:tcPr>
                </a:tc>
                <a:tc>
                  <a:txBody>
                    <a:bodyPr/>
                    <a:lstStyle/>
                    <a:p>
                      <a:pPr algn="ctr"/>
                      <a:r>
                        <a:rPr sz="1800">
                          <a:solidFill>
                            <a:srgbClr val="000000"/>
                          </a:solidFill>
                          <a:latin typeface="Calibri"/>
                          <a:ea typeface="Calibri"/>
                          <a:cs typeface="Calibri"/>
                        </a:rPr>
                        <a:t>North</a:t>
                      </a:r>
                    </a:p>
                  </a:txBody>
                  <a:tcPr marL="47625" marR="47625" marT="28575" marB="28575" anchor="ctr">
                    <a:solidFill>
                      <a:srgbClr val="FFFFFF"/>
                    </a:solidFill>
                  </a:tcPr>
                </a:tc>
                <a:tc>
                  <a:txBody>
                    <a:bodyPr/>
                    <a:lstStyle/>
                    <a:p>
                      <a:pPr algn="ctr"/>
                      <a:r>
                        <a:rPr sz="1800">
                          <a:solidFill>
                            <a:srgbClr val="000000"/>
                          </a:solidFill>
                          <a:latin typeface="Calibri"/>
                          <a:ea typeface="Calibri"/>
                          <a:cs typeface="Calibri"/>
                        </a:rPr>
                        <a:t>A1</a:t>
                      </a:r>
                    </a:p>
                  </a:txBody>
                  <a:tcPr marL="47625" marR="47625" marT="28575" marB="28575" anchor="ctr">
                    <a:solidFill>
                      <a:srgbClr val="FFFFFF"/>
                    </a:solidFill>
                  </a:tcPr>
                </a:tc>
                <a:extLst>
                  <a:ext uri="{0D108BD9-81ED-4DB2-BD59-A6C34878D82A}">
                    <a16:rowId xmlns:a16="http://schemas.microsoft.com/office/drawing/2014/main" val="10002"/>
                  </a:ext>
                </a:extLst>
              </a:tr>
              <a:tr h="409575">
                <a:tc>
                  <a:txBody>
                    <a:bodyPr/>
                    <a:lstStyle/>
                    <a:p>
                      <a:pPr algn="ctr"/>
                      <a:r>
                        <a:rPr sz="1800">
                          <a:solidFill>
                            <a:srgbClr val="000000"/>
                          </a:solidFill>
                          <a:latin typeface="Calibri"/>
                          <a:ea typeface="Calibri"/>
                          <a:cs typeface="Calibri"/>
                        </a:rPr>
                        <a:t>2</a:t>
                      </a:r>
                    </a:p>
                  </a:txBody>
                  <a:tcPr marL="47625" marR="47625" marT="28575" marB="28575" anchor="ctr">
                    <a:solidFill>
                      <a:srgbClr val="FFFFFF"/>
                    </a:solidFill>
                  </a:tcPr>
                </a:tc>
                <a:tc>
                  <a:txBody>
                    <a:bodyPr/>
                    <a:lstStyle/>
                    <a:p>
                      <a:pPr algn="ctr"/>
                      <a:r>
                        <a:rPr sz="1800">
                          <a:solidFill>
                            <a:srgbClr val="000000"/>
                          </a:solidFill>
                          <a:latin typeface="Calibri"/>
                          <a:ea typeface="Calibri"/>
                          <a:cs typeface="Calibri"/>
                        </a:rPr>
                        <a:t>South</a:t>
                      </a:r>
                    </a:p>
                  </a:txBody>
                  <a:tcPr marL="47625" marR="47625" marT="28575" marB="28575" anchor="ctr">
                    <a:solidFill>
                      <a:srgbClr val="FFFFFF"/>
                    </a:solidFill>
                  </a:tcPr>
                </a:tc>
                <a:tc>
                  <a:txBody>
                    <a:bodyPr/>
                    <a:lstStyle/>
                    <a:p>
                      <a:pPr algn="ctr"/>
                      <a:r>
                        <a:rPr sz="1800">
                          <a:solidFill>
                            <a:srgbClr val="000000"/>
                          </a:solidFill>
                          <a:latin typeface="Calibri"/>
                          <a:ea typeface="Calibri"/>
                          <a:cs typeface="Calibri"/>
                        </a:rPr>
                        <a:t>B2</a:t>
                      </a:r>
                    </a:p>
                  </a:txBody>
                  <a:tcPr marL="47625" marR="47625" marT="28575" marB="28575" anchor="ctr">
                    <a:solidFill>
                      <a:srgbClr val="FFFFFF"/>
                    </a:solidFill>
                  </a:tcPr>
                </a:tc>
                <a:extLst>
                  <a:ext uri="{0D108BD9-81ED-4DB2-BD59-A6C34878D82A}">
                    <a16:rowId xmlns:a16="http://schemas.microsoft.com/office/drawing/2014/main" val="10003"/>
                  </a:ext>
                </a:extLst>
              </a:tr>
            </a:tbl>
          </a:graphicData>
        </a:graphic>
      </p:graphicFrame>
      <p:sp>
        <p:nvSpPr>
          <p:cNvPr id="8" name="body">
            <a:extLst>
              <a:ext uri="{FF2B5EF4-FFF2-40B4-BE49-F238E27FC236}">
                <a16:creationId xmlns:a16="http://schemas.microsoft.com/office/drawing/2014/main" id="{C82AC329-3A64-4DD6-ADD4-F4F68A4731C7}"/>
              </a:ext>
            </a:extLst>
          </p:cNvPr>
          <p:cNvSpPr>
            <a:spLocks noGrp="1"/>
          </p:cNvSpPr>
          <p:nvPr/>
        </p:nvSpPr>
        <p:spPr>
          <a:xfrm>
            <a:off x="781050" y="3857625"/>
            <a:ext cx="7600950" cy="952500"/>
          </a:xfrm>
          <a:prstGeom prst="rect">
            <a:avLst/>
          </a:prstGeom>
          <a:noFill/>
          <a:ln w="0">
            <a:noFill/>
          </a:ln>
        </p:spPr>
        <p:txBody>
          <a:bodyPr wrap="square" lIns="0" tIns="0" rIns="0" bIns="0">
            <a:noAutofit/>
          </a:bodyPr>
          <a:lstStyle/>
          <a:p>
            <a:pPr>
              <a:defRPr sz="2250" b="0">
                <a:solidFill>
                  <a:srgbClr val="FF0000"/>
                </a:solidFill>
                <a:latin typeface="Calibri"/>
                <a:ea typeface="Calibri"/>
                <a:cs typeface="Calibri"/>
              </a:defRPr>
            </a:pPr>
            <a:r>
              <a:rPr sz="2250" b="0">
                <a:solidFill>
                  <a:srgbClr val="FF0000"/>
                </a:solidFill>
                <a:latin typeface="Calibri"/>
                <a:ea typeface="Calibri"/>
                <a:cs typeface="Calibri"/>
              </a:rPr>
              <a:t>(a) Compute Local ⋈ Booking.</a:t>
            </a:r>
          </a:p>
        </p:txBody>
      </p:sp>
      <p:sp>
        <p:nvSpPr>
          <p:cNvPr id="9001" name="Title 1">
            <a:extLst>
              <a:ext uri="{FF2B5EF4-FFF2-40B4-BE49-F238E27FC236}">
                <a16:creationId xmlns:a16="http://schemas.microsoft.com/office/drawing/2014/main" id="{4EF27E5C-9C4D-BDBE-7667-D0B141BCC8F5}"/>
              </a:ext>
            </a:extLst>
          </p:cNvPr>
          <p:cNvSpPr>
            <a:spLocks noGrp="1"/>
          </p:cNvSpPr>
          <p:nvPr>
            <p:ph type="title"/>
          </p:nvPr>
        </p:nvSpPr>
        <p:spPr/>
        <p:txBody>
          <a:bodyPr/>
          <a:lstStyle/>
          <a:p>
            <a:r>
              <a:rPr lang="en-US">
                <a:solidFill>
                  <a:srgbClr val="FF0000"/>
                </a:solidFill>
              </a:rPr>
              <a:t>Practice: </a:t>
            </a:r>
            <a:r>
              <a:rPr lang="en-US">
                <a:solidFill>
                  <a:srgbClr val="3333CC"/>
                </a:solidFill>
              </a:rPr>
              <a:t>Q21</a:t>
            </a:r>
          </a:p>
        </p:txBody>
      </p:sp>
      <p:sp>
        <p:nvSpPr>
          <p:cNvPr id="9002" name="Slide Number Placeholder 1">
            <a:extLst>
              <a:ext uri="{FF2B5EF4-FFF2-40B4-BE49-F238E27FC236}">
                <a16:creationId xmlns:a16="http://schemas.microsoft.com/office/drawing/2014/main" id="{B90139AC-3BDA-723A-097A-000DA0A784C1}"/>
              </a:ext>
            </a:extLst>
          </p:cNvPr>
          <p:cNvSpPr>
            <a:spLocks noGrp="1"/>
          </p:cNvSpPr>
          <p:nvPr>
            <p:ph type="sldNum" sz="quarter" idx="12"/>
          </p:nvPr>
        </p:nvSpPr>
        <p:spPr/>
        <p:txBody>
          <a:bodyPr/>
          <a:lstStyle/>
          <a:p>
            <a:pPr>
              <a:defRPr/>
            </a:pPr>
            <a:fld id="{43CA101F-9E5F-9249-9862-3CE55B3BB777}" type="slidenum">
              <a:rPr lang="en-US" altLang="zh-TW" smtClean="0"/>
              <a:pPr>
                <a:defRPr/>
              </a:pPr>
              <a:t>55</a:t>
            </a:fld>
            <a:endParaRPr lang="en-US" altLang="zh-TW"/>
          </a:p>
        </p:txBody>
      </p:sp>
    </p:spTree>
    <p:extLst>
      <p:ext uri="{BB962C8B-B14F-4D97-AF65-F5344CB8AC3E}">
        <p14:creationId xmlns:p14="http://schemas.microsoft.com/office/powerpoint/2010/main" val="579950500"/>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body">
            <a:extLst>
              <a:ext uri="{FF2B5EF4-FFF2-40B4-BE49-F238E27FC236}">
                <a16:creationId xmlns:a16="http://schemas.microsoft.com/office/drawing/2014/main" id="{2E189577-0241-4E44-AB9D-88A9198ED965}"/>
              </a:ext>
            </a:extLst>
          </p:cNvPr>
          <p:cNvSpPr>
            <a:spLocks noGrp="1"/>
          </p:cNvSpPr>
          <p:nvPr/>
        </p:nvSpPr>
        <p:spPr>
          <a:xfrm>
            <a:off x="781050" y="1038225"/>
            <a:ext cx="7600950" cy="952500"/>
          </a:xfrm>
          <a:prstGeom prst="rect">
            <a:avLst/>
          </a:prstGeom>
          <a:noFill/>
          <a:ln w="0">
            <a:noFill/>
          </a:ln>
        </p:spPr>
        <p:txBody>
          <a:bodyPr wrap="square" lIns="0" tIns="0" rIns="0" bIns="0">
            <a:noAutofit/>
          </a:bodyPr>
          <a:lstStyle/>
          <a:p>
            <a:pPr>
              <a:defRPr sz="2100" b="0">
                <a:solidFill>
                  <a:srgbClr val="000000"/>
                </a:solidFill>
                <a:latin typeface="Calibri"/>
                <a:ea typeface="Calibri"/>
                <a:cs typeface="Calibri"/>
              </a:defRPr>
            </a:pPr>
            <a:r>
              <a:rPr sz="2100" b="0">
                <a:solidFill>
                  <a:srgbClr val="000000"/>
                </a:solidFill>
                <a:latin typeface="Calibri"/>
                <a:ea typeface="Calibri"/>
                <a:cs typeface="Calibri"/>
              </a:rPr>
              <a:t>(a) Shared attributes: mid and campus</a:t>
            </a:r>
          </a:p>
        </p:txBody>
      </p:sp>
      <p:sp>
        <p:nvSpPr>
          <p:cNvPr id="6" name="formula">
            <a:extLst>
              <a:ext uri="{FF2B5EF4-FFF2-40B4-BE49-F238E27FC236}">
                <a16:creationId xmlns:a16="http://schemas.microsoft.com/office/drawing/2014/main" id="{7365FA87-74CD-4268-A1EA-C38DF7BFE960}"/>
              </a:ext>
            </a:extLst>
          </p:cNvPr>
          <p:cNvSpPr>
            <a:spLocks noGrp="1"/>
          </p:cNvSpPr>
          <p:nvPr/>
        </p:nvSpPr>
        <p:spPr>
          <a:xfrm>
            <a:off x="800100" y="3095625"/>
            <a:ext cx="7572375" cy="523875"/>
          </a:xfrm>
          <a:prstGeom prst="rect">
            <a:avLst/>
          </a:prstGeom>
          <a:noFill/>
          <a:ln w="0">
            <a:noFill/>
          </a:ln>
        </p:spPr>
        <p:txBody>
          <a:bodyPr wrap="square" lIns="0" tIns="0" rIns="0" bIns="0">
            <a:noAutofit/>
          </a:bodyPr>
          <a:lstStyle/>
          <a:p>
            <a:pPr>
              <a:defRPr sz="2175" b="0">
                <a:solidFill>
                  <a:srgbClr val="000000"/>
                </a:solidFill>
                <a:latin typeface="Cambria Math"/>
                <a:ea typeface="Cambria Math"/>
                <a:cs typeface="Cambria Math"/>
              </a:defRPr>
            </a:pPr>
            <a:r>
              <a:rPr sz="2175" b="0">
                <a:solidFill>
                  <a:srgbClr val="000000"/>
                </a:solidFill>
                <a:latin typeface="Cambria Math"/>
                <a:ea typeface="Cambria Math"/>
                <a:cs typeface="Cambria Math"/>
              </a:rPr>
              <a:t>(b) Local ⋈ π</a:t>
            </a:r>
            <a:r>
              <a:rPr sz="1544" b="0" baseline="-25000">
                <a:solidFill>
                  <a:srgbClr val="000000"/>
                </a:solidFill>
                <a:latin typeface="Cambria Math"/>
                <a:ea typeface="Cambria Math"/>
                <a:cs typeface="Cambria Math"/>
              </a:rPr>
              <a:t>mid,room</a:t>
            </a:r>
            <a:r>
              <a:rPr sz="2175" b="0">
                <a:solidFill>
                  <a:srgbClr val="000000"/>
                </a:solidFill>
                <a:latin typeface="Cambria Math"/>
                <a:ea typeface="Cambria Math"/>
                <a:cs typeface="Cambria Math"/>
              </a:rPr>
              <a:t>(Booking)</a:t>
            </a:r>
          </a:p>
        </p:txBody>
      </p:sp>
      <p:sp>
        <p:nvSpPr>
          <p:cNvPr id="7" name="body">
            <a:extLst>
              <a:ext uri="{FF2B5EF4-FFF2-40B4-BE49-F238E27FC236}">
                <a16:creationId xmlns:a16="http://schemas.microsoft.com/office/drawing/2014/main" id="{63DCD75A-063C-44EE-B684-2DAD99FA4AD6}"/>
              </a:ext>
            </a:extLst>
          </p:cNvPr>
          <p:cNvSpPr>
            <a:spLocks noGrp="1"/>
          </p:cNvSpPr>
          <p:nvPr/>
        </p:nvSpPr>
        <p:spPr>
          <a:xfrm>
            <a:off x="1828800" y="3676650"/>
            <a:ext cx="5334000" cy="361950"/>
          </a:xfrm>
          <a:prstGeom prst="rect">
            <a:avLst/>
          </a:prstGeom>
          <a:noFill/>
          <a:ln w="0">
            <a:noFill/>
          </a:ln>
        </p:spPr>
        <p:txBody>
          <a:bodyPr wrap="square" lIns="0" tIns="0" rIns="0" bIns="0">
            <a:noAutofit/>
          </a:bodyPr>
          <a:lstStyle/>
          <a:p>
            <a:pPr>
              <a:defRPr sz="2250" b="0">
                <a:solidFill>
                  <a:srgbClr val="000000"/>
                </a:solidFill>
                <a:latin typeface="Calibri"/>
                <a:ea typeface="Calibri"/>
                <a:cs typeface="Calibri"/>
              </a:defRPr>
            </a:pPr>
            <a:r>
              <a:rPr sz="2250" b="0">
                <a:solidFill>
                  <a:srgbClr val="000000"/>
                </a:solidFill>
                <a:latin typeface="Calibri"/>
                <a:ea typeface="Calibri"/>
                <a:cs typeface="Calibri"/>
              </a:rPr>
              <a:t>Repaired result</a:t>
            </a:r>
          </a:p>
        </p:txBody>
      </p:sp>
      <p:graphicFrame>
        <p:nvGraphicFramePr>
          <p:cNvPr id="17" name="表格 16"/>
          <p:cNvGraphicFramePr/>
          <p:nvPr/>
        </p:nvGraphicFramePr>
        <p:xfrm>
          <a:off x="1905000" y="4095750"/>
          <a:ext cx="5334000" cy="1524000"/>
        </p:xfrm>
        <a:graphic>
          <a:graphicData uri="http://schemas.openxmlformats.org/drawingml/2006/table">
            <a:tbl>
              <a:tblPr/>
              <a:tblGrid>
                <a:gridCol w="1778000">
                  <a:extLst>
                    <a:ext uri="{9D8B030D-6E8A-4147-A177-3AD203B41FA5}">
                      <a16:colId xmlns:a16="http://schemas.microsoft.com/office/drawing/2014/main" val="20000"/>
                    </a:ext>
                  </a:extLst>
                </a:gridCol>
                <a:gridCol w="1778000">
                  <a:extLst>
                    <a:ext uri="{9D8B030D-6E8A-4147-A177-3AD203B41FA5}">
                      <a16:colId xmlns:a16="http://schemas.microsoft.com/office/drawing/2014/main" val="20001"/>
                    </a:ext>
                  </a:extLst>
                </a:gridCol>
                <a:gridCol w="1778000">
                  <a:extLst>
                    <a:ext uri="{9D8B030D-6E8A-4147-A177-3AD203B41FA5}">
                      <a16:colId xmlns:a16="http://schemas.microsoft.com/office/drawing/2014/main" val="20002"/>
                    </a:ext>
                  </a:extLst>
                </a:gridCol>
              </a:tblGrid>
              <a:tr h="381000">
                <a:tc>
                  <a:txBody>
                    <a:bodyPr/>
                    <a:lstStyle/>
                    <a:p>
                      <a:pPr algn="ctr"/>
                      <a:r>
                        <a:rPr sz="1875">
                          <a:solidFill>
                            <a:srgbClr val="000000"/>
                          </a:solidFill>
                          <a:latin typeface="Calibri"/>
                          <a:ea typeface="Calibri"/>
                          <a:cs typeface="Calibri"/>
                        </a:rPr>
                        <a:t>mid</a:t>
                      </a:r>
                    </a:p>
                  </a:txBody>
                  <a:tcPr marL="47625" marR="47625" marT="28575" marB="28575" anchor="ctr">
                    <a:solidFill>
                      <a:srgbClr val="D9D9D9"/>
                    </a:solidFill>
                  </a:tcPr>
                </a:tc>
                <a:tc>
                  <a:txBody>
                    <a:bodyPr/>
                    <a:lstStyle/>
                    <a:p>
                      <a:pPr algn="ctr"/>
                      <a:r>
                        <a:rPr sz="1875">
                          <a:solidFill>
                            <a:srgbClr val="000000"/>
                          </a:solidFill>
                          <a:latin typeface="Calibri"/>
                          <a:ea typeface="Calibri"/>
                          <a:cs typeface="Calibri"/>
                        </a:rPr>
                        <a:t>campus</a:t>
                      </a:r>
                    </a:p>
                  </a:txBody>
                  <a:tcPr marL="47625" marR="47625" marT="28575" marB="28575" anchor="ctr">
                    <a:solidFill>
                      <a:srgbClr val="D9D9D9"/>
                    </a:solidFill>
                  </a:tcPr>
                </a:tc>
                <a:tc>
                  <a:txBody>
                    <a:bodyPr/>
                    <a:lstStyle/>
                    <a:p>
                      <a:pPr algn="ctr"/>
                      <a:r>
                        <a:rPr sz="1875">
                          <a:solidFill>
                            <a:srgbClr val="000000"/>
                          </a:solidFill>
                          <a:latin typeface="Calibri"/>
                          <a:ea typeface="Calibri"/>
                          <a:cs typeface="Calibri"/>
                        </a:rPr>
                        <a:t>room</a:t>
                      </a:r>
                    </a:p>
                  </a:txBody>
                  <a:tcPr marL="47625" marR="47625" marT="28575" marB="28575" anchor="ctr">
                    <a:solidFill>
                      <a:srgbClr val="D9D9D9"/>
                    </a:solidFill>
                  </a:tcPr>
                </a:tc>
                <a:extLst>
                  <a:ext uri="{0D108BD9-81ED-4DB2-BD59-A6C34878D82A}">
                    <a16:rowId xmlns:a16="http://schemas.microsoft.com/office/drawing/2014/main" val="10000"/>
                  </a:ext>
                </a:extLst>
              </a:tr>
              <a:tr h="381000">
                <a:tc>
                  <a:txBody>
                    <a:bodyPr/>
                    <a:lstStyle/>
                    <a:p>
                      <a:pPr algn="ctr"/>
                      <a:r>
                        <a:rPr sz="1875">
                          <a:solidFill>
                            <a:srgbClr val="000000"/>
                          </a:solidFill>
                          <a:latin typeface="Calibri"/>
                          <a:ea typeface="Calibri"/>
                          <a:cs typeface="Calibri"/>
                        </a:rPr>
                        <a:t>1</a:t>
                      </a:r>
                    </a:p>
                  </a:txBody>
                  <a:tcPr marL="47625" marR="47625" marT="28575" marB="28575" anchor="ctr">
                    <a:solidFill>
                      <a:srgbClr val="FFFFFF"/>
                    </a:solidFill>
                  </a:tcPr>
                </a:tc>
                <a:tc>
                  <a:txBody>
                    <a:bodyPr/>
                    <a:lstStyle/>
                    <a:p>
                      <a:pPr algn="ctr"/>
                      <a:r>
                        <a:rPr sz="1875">
                          <a:solidFill>
                            <a:srgbClr val="000000"/>
                          </a:solidFill>
                          <a:latin typeface="Calibri"/>
                          <a:ea typeface="Calibri"/>
                          <a:cs typeface="Calibri"/>
                        </a:rPr>
                        <a:t>North</a:t>
                      </a:r>
                    </a:p>
                  </a:txBody>
                  <a:tcPr marL="47625" marR="47625" marT="28575" marB="28575" anchor="ctr">
                    <a:solidFill>
                      <a:srgbClr val="FFFFFF"/>
                    </a:solidFill>
                  </a:tcPr>
                </a:tc>
                <a:tc>
                  <a:txBody>
                    <a:bodyPr/>
                    <a:lstStyle/>
                    <a:p>
                      <a:pPr algn="ctr"/>
                      <a:r>
                        <a:rPr sz="1875">
                          <a:solidFill>
                            <a:srgbClr val="000000"/>
                          </a:solidFill>
                          <a:latin typeface="Calibri"/>
                          <a:ea typeface="Calibri"/>
                          <a:cs typeface="Calibri"/>
                        </a:rPr>
                        <a:t>B1</a:t>
                      </a:r>
                    </a:p>
                  </a:txBody>
                  <a:tcPr marL="47625" marR="47625" marT="28575" marB="28575" anchor="ctr">
                    <a:solidFill>
                      <a:srgbClr val="FFFFFF"/>
                    </a:solidFill>
                  </a:tcPr>
                </a:tc>
                <a:extLst>
                  <a:ext uri="{0D108BD9-81ED-4DB2-BD59-A6C34878D82A}">
                    <a16:rowId xmlns:a16="http://schemas.microsoft.com/office/drawing/2014/main" val="10001"/>
                  </a:ext>
                </a:extLst>
              </a:tr>
              <a:tr h="381000">
                <a:tc>
                  <a:txBody>
                    <a:bodyPr/>
                    <a:lstStyle/>
                    <a:p>
                      <a:pPr algn="ctr"/>
                      <a:r>
                        <a:rPr sz="1875">
                          <a:solidFill>
                            <a:srgbClr val="000000"/>
                          </a:solidFill>
                          <a:latin typeface="Calibri"/>
                          <a:ea typeface="Calibri"/>
                          <a:cs typeface="Calibri"/>
                        </a:rPr>
                        <a:t>1</a:t>
                      </a:r>
                    </a:p>
                  </a:txBody>
                  <a:tcPr marL="47625" marR="47625" marT="28575" marB="28575" anchor="ctr">
                    <a:solidFill>
                      <a:srgbClr val="FFFFFF"/>
                    </a:solidFill>
                  </a:tcPr>
                </a:tc>
                <a:tc>
                  <a:txBody>
                    <a:bodyPr/>
                    <a:lstStyle/>
                    <a:p>
                      <a:pPr algn="ctr"/>
                      <a:r>
                        <a:rPr sz="1875">
                          <a:solidFill>
                            <a:srgbClr val="000000"/>
                          </a:solidFill>
                          <a:latin typeface="Calibri"/>
                          <a:ea typeface="Calibri"/>
                          <a:cs typeface="Calibri"/>
                        </a:rPr>
                        <a:t>North</a:t>
                      </a:r>
                    </a:p>
                  </a:txBody>
                  <a:tcPr marL="47625" marR="47625" marT="28575" marB="28575" anchor="ctr">
                    <a:solidFill>
                      <a:srgbClr val="FFFFFF"/>
                    </a:solidFill>
                  </a:tcPr>
                </a:tc>
                <a:tc>
                  <a:txBody>
                    <a:bodyPr/>
                    <a:lstStyle/>
                    <a:p>
                      <a:pPr algn="ctr"/>
                      <a:r>
                        <a:rPr sz="1875">
                          <a:solidFill>
                            <a:srgbClr val="000000"/>
                          </a:solidFill>
                          <a:latin typeface="Calibri"/>
                          <a:ea typeface="Calibri"/>
                          <a:cs typeface="Calibri"/>
                        </a:rPr>
                        <a:t>A1</a:t>
                      </a:r>
                    </a:p>
                  </a:txBody>
                  <a:tcPr marL="47625" marR="47625" marT="28575" marB="28575" anchor="ctr">
                    <a:solidFill>
                      <a:srgbClr val="FFFFFF"/>
                    </a:solidFill>
                  </a:tcPr>
                </a:tc>
                <a:extLst>
                  <a:ext uri="{0D108BD9-81ED-4DB2-BD59-A6C34878D82A}">
                    <a16:rowId xmlns:a16="http://schemas.microsoft.com/office/drawing/2014/main" val="10002"/>
                  </a:ext>
                </a:extLst>
              </a:tr>
              <a:tr h="381000">
                <a:tc>
                  <a:txBody>
                    <a:bodyPr/>
                    <a:lstStyle/>
                    <a:p>
                      <a:pPr algn="ctr"/>
                      <a:r>
                        <a:rPr sz="1875">
                          <a:solidFill>
                            <a:srgbClr val="000000"/>
                          </a:solidFill>
                          <a:latin typeface="Calibri"/>
                          <a:ea typeface="Calibri"/>
                          <a:cs typeface="Calibri"/>
                        </a:rPr>
                        <a:t>2</a:t>
                      </a:r>
                    </a:p>
                  </a:txBody>
                  <a:tcPr marL="47625" marR="47625" marT="28575" marB="28575" anchor="ctr">
                    <a:solidFill>
                      <a:srgbClr val="FFFFFF"/>
                    </a:solidFill>
                  </a:tcPr>
                </a:tc>
                <a:tc>
                  <a:txBody>
                    <a:bodyPr/>
                    <a:lstStyle/>
                    <a:p>
                      <a:pPr algn="ctr"/>
                      <a:r>
                        <a:rPr sz="1875">
                          <a:solidFill>
                            <a:srgbClr val="000000"/>
                          </a:solidFill>
                          <a:latin typeface="Calibri"/>
                          <a:ea typeface="Calibri"/>
                          <a:cs typeface="Calibri"/>
                        </a:rPr>
                        <a:t>South</a:t>
                      </a:r>
                    </a:p>
                  </a:txBody>
                  <a:tcPr marL="47625" marR="47625" marT="28575" marB="28575" anchor="ctr">
                    <a:solidFill>
                      <a:srgbClr val="FFFFFF"/>
                    </a:solidFill>
                  </a:tcPr>
                </a:tc>
                <a:tc>
                  <a:txBody>
                    <a:bodyPr/>
                    <a:lstStyle/>
                    <a:p>
                      <a:pPr algn="ctr"/>
                      <a:r>
                        <a:rPr sz="1875">
                          <a:solidFill>
                            <a:srgbClr val="000000"/>
                          </a:solidFill>
                          <a:latin typeface="Calibri"/>
                          <a:ea typeface="Calibri"/>
                          <a:cs typeface="Calibri"/>
                        </a:rPr>
                        <a:t>B2</a:t>
                      </a:r>
                    </a:p>
                  </a:txBody>
                  <a:tcPr marL="47625" marR="47625" marT="28575" marB="28575" anchor="ctr">
                    <a:solidFill>
                      <a:srgbClr val="FFFFFF"/>
                    </a:solidFill>
                  </a:tcPr>
                </a:tc>
                <a:extLst>
                  <a:ext uri="{0D108BD9-81ED-4DB2-BD59-A6C34878D82A}">
                    <a16:rowId xmlns:a16="http://schemas.microsoft.com/office/drawing/2014/main" val="10003"/>
                  </a:ext>
                </a:extLst>
              </a:tr>
            </a:tbl>
          </a:graphicData>
        </a:graphic>
      </p:graphicFrame>
      <p:sp>
        <p:nvSpPr>
          <p:cNvPr id="9001" name="Title 1">
            <a:extLst>
              <a:ext uri="{FF2B5EF4-FFF2-40B4-BE49-F238E27FC236}">
                <a16:creationId xmlns:a16="http://schemas.microsoft.com/office/drawing/2014/main" id="{4EF27E5C-9C4D-BDBE-7667-D0B141BCC8F5}"/>
              </a:ext>
            </a:extLst>
          </p:cNvPr>
          <p:cNvSpPr>
            <a:spLocks noGrp="1"/>
          </p:cNvSpPr>
          <p:nvPr>
            <p:ph type="title"/>
          </p:nvPr>
        </p:nvSpPr>
        <p:spPr/>
        <p:txBody>
          <a:bodyPr/>
          <a:lstStyle/>
          <a:p>
            <a:r>
              <a:rPr lang="en-US">
                <a:solidFill>
                  <a:srgbClr val="FF0000"/>
                </a:solidFill>
              </a:rPr>
              <a:t>Solutions: </a:t>
            </a:r>
            <a:r>
              <a:rPr lang="en-US">
                <a:solidFill>
                  <a:srgbClr val="3333CC"/>
                </a:solidFill>
              </a:rPr>
              <a:t>Q21</a:t>
            </a:r>
          </a:p>
        </p:txBody>
      </p:sp>
      <p:sp>
        <p:nvSpPr>
          <p:cNvPr id="9002" name="Slide Number Placeholder 1">
            <a:extLst>
              <a:ext uri="{FF2B5EF4-FFF2-40B4-BE49-F238E27FC236}">
                <a16:creationId xmlns:a16="http://schemas.microsoft.com/office/drawing/2014/main" id="{B90139AC-3BDA-723A-097A-000DA0A784C1}"/>
              </a:ext>
            </a:extLst>
          </p:cNvPr>
          <p:cNvSpPr>
            <a:spLocks noGrp="1"/>
          </p:cNvSpPr>
          <p:nvPr>
            <p:ph type="sldNum" sz="quarter" idx="12"/>
          </p:nvPr>
        </p:nvSpPr>
        <p:spPr/>
        <p:txBody>
          <a:bodyPr/>
          <a:lstStyle/>
          <a:p>
            <a:pPr>
              <a:defRPr/>
            </a:pPr>
            <a:fld id="{43CA101F-9E5F-9249-9862-3CE55B3BB777}" type="slidenum">
              <a:rPr lang="en-US" altLang="zh-TW" smtClean="0"/>
              <a:pPr>
                <a:defRPr/>
              </a:pPr>
              <a:t>56</a:t>
            </a:fld>
            <a:endParaRPr lang="en-US" altLang="zh-TW"/>
          </a:p>
        </p:txBody>
      </p:sp>
    </p:spTree>
    <p:extLst>
      <p:ext uri="{BB962C8B-B14F-4D97-AF65-F5344CB8AC3E}">
        <p14:creationId xmlns:p14="http://schemas.microsoft.com/office/powerpoint/2010/main" val="1341996193"/>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body">
            <a:extLst>
              <a:ext uri="{FF2B5EF4-FFF2-40B4-BE49-F238E27FC236}">
                <a16:creationId xmlns:a16="http://schemas.microsoft.com/office/drawing/2014/main" id="{89634F62-E02F-4053-9FA7-21956384B4D6}"/>
              </a:ext>
            </a:extLst>
          </p:cNvPr>
          <p:cNvSpPr>
            <a:spLocks noGrp="1"/>
          </p:cNvSpPr>
          <p:nvPr/>
        </p:nvSpPr>
        <p:spPr>
          <a:xfrm>
            <a:off x="781050" y="5876925"/>
            <a:ext cx="7620000" cy="285750"/>
          </a:xfrm>
          <a:prstGeom prst="rect">
            <a:avLst/>
          </a:prstGeom>
          <a:noFill/>
          <a:ln w="0">
            <a:noFill/>
          </a:ln>
        </p:spPr>
        <p:txBody>
          <a:bodyPr wrap="square" lIns="0" tIns="0" rIns="0" bIns="0">
            <a:noAutofit/>
          </a:bodyPr>
          <a:lstStyle/>
          <a:p>
            <a:pPr>
              <a:defRPr sz="1725" b="0">
                <a:solidFill>
                  <a:srgbClr val="3333CC"/>
                </a:solidFill>
                <a:latin typeface="Calibri"/>
                <a:ea typeface="Calibri"/>
                <a:cs typeface="Calibri"/>
              </a:defRPr>
            </a:pPr>
            <a:r>
              <a:rPr sz="1725" b="0">
                <a:solidFill>
                  <a:srgbClr val="3333CC"/>
                </a:solidFill>
                <a:latin typeface="Calibri"/>
                <a:ea typeface="Calibri"/>
                <a:cs typeface="Calibri"/>
              </a:rPr>
              <a:t>Think: 30 s</a:t>
            </a:r>
          </a:p>
        </p:txBody>
      </p:sp>
      <p:sp>
        <p:nvSpPr>
          <p:cNvPr id="4" name="body">
            <a:extLst>
              <a:ext uri="{FF2B5EF4-FFF2-40B4-BE49-F238E27FC236}">
                <a16:creationId xmlns:a16="http://schemas.microsoft.com/office/drawing/2014/main" id="{8D0AA128-ABF3-430A-BA36-4E0FF3109139}"/>
              </a:ext>
            </a:extLst>
          </p:cNvPr>
          <p:cNvSpPr>
            <a:spLocks noGrp="1"/>
          </p:cNvSpPr>
          <p:nvPr/>
        </p:nvSpPr>
        <p:spPr>
          <a:xfrm>
            <a:off x="895350" y="1257300"/>
            <a:ext cx="3286125" cy="361950"/>
          </a:xfrm>
          <a:prstGeom prst="rect">
            <a:avLst/>
          </a:prstGeom>
          <a:noFill/>
          <a:ln w="0">
            <a:noFill/>
          </a:ln>
        </p:spPr>
        <p:txBody>
          <a:bodyPr wrap="square" lIns="0" tIns="0" rIns="0" bIns="0">
            <a:noAutofit/>
          </a:bodyPr>
          <a:lstStyle/>
          <a:p>
            <a:pPr>
              <a:defRPr sz="2250" b="0">
                <a:solidFill>
                  <a:srgbClr val="000000"/>
                </a:solidFill>
                <a:latin typeface="Calibri"/>
                <a:ea typeface="Calibri"/>
                <a:cs typeface="Calibri"/>
              </a:defRPr>
            </a:pPr>
            <a:r>
              <a:rPr sz="2250" b="0">
                <a:solidFill>
                  <a:srgbClr val="000000"/>
                </a:solidFill>
                <a:latin typeface="Calibri"/>
                <a:ea typeface="Calibri"/>
                <a:cs typeface="Calibri"/>
              </a:rPr>
              <a:t>Device</a:t>
            </a:r>
          </a:p>
        </p:txBody>
      </p:sp>
      <p:graphicFrame>
        <p:nvGraphicFramePr>
          <p:cNvPr id="15" name="表格 14"/>
          <p:cNvGraphicFramePr/>
          <p:nvPr/>
        </p:nvGraphicFramePr>
        <p:xfrm>
          <a:off x="971550" y="1676400"/>
          <a:ext cx="3286126" cy="1638300"/>
        </p:xfrm>
        <a:graphic>
          <a:graphicData uri="http://schemas.openxmlformats.org/drawingml/2006/table">
            <a:tbl>
              <a:tblPr/>
              <a:tblGrid>
                <a:gridCol w="1643063">
                  <a:extLst>
                    <a:ext uri="{9D8B030D-6E8A-4147-A177-3AD203B41FA5}">
                      <a16:colId xmlns:a16="http://schemas.microsoft.com/office/drawing/2014/main" val="20000"/>
                    </a:ext>
                  </a:extLst>
                </a:gridCol>
                <a:gridCol w="1643063">
                  <a:extLst>
                    <a:ext uri="{9D8B030D-6E8A-4147-A177-3AD203B41FA5}">
                      <a16:colId xmlns:a16="http://schemas.microsoft.com/office/drawing/2014/main" val="20001"/>
                    </a:ext>
                  </a:extLst>
                </a:gridCol>
              </a:tblGrid>
              <a:tr h="409575">
                <a:tc>
                  <a:txBody>
                    <a:bodyPr/>
                    <a:lstStyle/>
                    <a:p>
                      <a:pPr algn="ctr"/>
                      <a:r>
                        <a:rPr sz="1950">
                          <a:solidFill>
                            <a:srgbClr val="000000"/>
                          </a:solidFill>
                          <a:latin typeface="Calibri"/>
                          <a:ea typeface="Calibri"/>
                          <a:cs typeface="Calibri"/>
                        </a:rPr>
                        <a:t>did</a:t>
                      </a:r>
                    </a:p>
                  </a:txBody>
                  <a:tcPr marL="47625" marR="47625" marT="28575" marB="28575" anchor="ctr">
                    <a:solidFill>
                      <a:srgbClr val="D9D9D9"/>
                    </a:solidFill>
                  </a:tcPr>
                </a:tc>
                <a:tc>
                  <a:txBody>
                    <a:bodyPr/>
                    <a:lstStyle/>
                    <a:p>
                      <a:pPr algn="ctr"/>
                      <a:r>
                        <a:rPr sz="1950">
                          <a:solidFill>
                            <a:srgbClr val="000000"/>
                          </a:solidFill>
                          <a:latin typeface="Calibri"/>
                          <a:ea typeface="Calibri"/>
                          <a:cs typeface="Calibri"/>
                        </a:rPr>
                        <a:t>lab</a:t>
                      </a:r>
                    </a:p>
                  </a:txBody>
                  <a:tcPr marL="47625" marR="47625" marT="28575" marB="28575" anchor="ctr">
                    <a:solidFill>
                      <a:srgbClr val="D9D9D9"/>
                    </a:solidFill>
                  </a:tcPr>
                </a:tc>
                <a:extLst>
                  <a:ext uri="{0D108BD9-81ED-4DB2-BD59-A6C34878D82A}">
                    <a16:rowId xmlns:a16="http://schemas.microsoft.com/office/drawing/2014/main" val="10000"/>
                  </a:ext>
                </a:extLst>
              </a:tr>
              <a:tr h="409575">
                <a:tc>
                  <a:txBody>
                    <a:bodyPr/>
                    <a:lstStyle/>
                    <a:p>
                      <a:pPr algn="ctr"/>
                      <a:r>
                        <a:rPr sz="1950">
                          <a:solidFill>
                            <a:srgbClr val="000000"/>
                          </a:solidFill>
                          <a:latin typeface="Calibri"/>
                          <a:ea typeface="Calibri"/>
                          <a:cs typeface="Calibri"/>
                        </a:rPr>
                        <a:t>T1</a:t>
                      </a:r>
                    </a:p>
                  </a:txBody>
                  <a:tcPr marL="47625" marR="47625" marT="28575" marB="28575" anchor="ctr">
                    <a:solidFill>
                      <a:srgbClr val="FFFFFF"/>
                    </a:solidFill>
                  </a:tcPr>
                </a:tc>
                <a:tc>
                  <a:txBody>
                    <a:bodyPr/>
                    <a:lstStyle/>
                    <a:p>
                      <a:pPr algn="ctr"/>
                      <a:r>
                        <a:rPr sz="1950">
                          <a:solidFill>
                            <a:srgbClr val="000000"/>
                          </a:solidFill>
                          <a:latin typeface="Calibri"/>
                          <a:ea typeface="Calibri"/>
                          <a:cs typeface="Calibri"/>
                        </a:rPr>
                        <a:t>North</a:t>
                      </a:r>
                    </a:p>
                  </a:txBody>
                  <a:tcPr marL="47625" marR="47625" marT="28575" marB="28575" anchor="ctr">
                    <a:solidFill>
                      <a:srgbClr val="FFFFFF"/>
                    </a:solidFill>
                  </a:tcPr>
                </a:tc>
                <a:extLst>
                  <a:ext uri="{0D108BD9-81ED-4DB2-BD59-A6C34878D82A}">
                    <a16:rowId xmlns:a16="http://schemas.microsoft.com/office/drawing/2014/main" val="10001"/>
                  </a:ext>
                </a:extLst>
              </a:tr>
              <a:tr h="409575">
                <a:tc>
                  <a:txBody>
                    <a:bodyPr/>
                    <a:lstStyle/>
                    <a:p>
                      <a:pPr algn="ctr"/>
                      <a:r>
                        <a:rPr sz="1950">
                          <a:solidFill>
                            <a:srgbClr val="000000"/>
                          </a:solidFill>
                          <a:latin typeface="Calibri"/>
                          <a:ea typeface="Calibri"/>
                          <a:cs typeface="Calibri"/>
                        </a:rPr>
                        <a:t>T2</a:t>
                      </a:r>
                    </a:p>
                  </a:txBody>
                  <a:tcPr marL="47625" marR="47625" marT="28575" marB="28575" anchor="ctr">
                    <a:solidFill>
                      <a:srgbClr val="FFFFFF"/>
                    </a:solidFill>
                  </a:tcPr>
                </a:tc>
                <a:tc>
                  <a:txBody>
                    <a:bodyPr/>
                    <a:lstStyle/>
                    <a:p>
                      <a:pPr algn="ctr"/>
                      <a:r>
                        <a:rPr sz="1950">
                          <a:solidFill>
                            <a:srgbClr val="000000"/>
                          </a:solidFill>
                          <a:latin typeface="Calibri"/>
                          <a:ea typeface="Calibri"/>
                          <a:cs typeface="Calibri"/>
                        </a:rPr>
                        <a:t>South</a:t>
                      </a:r>
                    </a:p>
                  </a:txBody>
                  <a:tcPr marL="47625" marR="47625" marT="28575" marB="28575" anchor="ctr">
                    <a:solidFill>
                      <a:srgbClr val="FFFFFF"/>
                    </a:solidFill>
                  </a:tcPr>
                </a:tc>
                <a:extLst>
                  <a:ext uri="{0D108BD9-81ED-4DB2-BD59-A6C34878D82A}">
                    <a16:rowId xmlns:a16="http://schemas.microsoft.com/office/drawing/2014/main" val="10002"/>
                  </a:ext>
                </a:extLst>
              </a:tr>
              <a:tr h="409575">
                <a:tc>
                  <a:txBody>
                    <a:bodyPr/>
                    <a:lstStyle/>
                    <a:p>
                      <a:pPr algn="ctr"/>
                      <a:r>
                        <a:rPr sz="1950">
                          <a:solidFill>
                            <a:srgbClr val="000000"/>
                          </a:solidFill>
                          <a:latin typeface="Calibri"/>
                          <a:ea typeface="Calibri"/>
                          <a:cs typeface="Calibri"/>
                        </a:rPr>
                        <a:t>T3</a:t>
                      </a:r>
                    </a:p>
                  </a:txBody>
                  <a:tcPr marL="47625" marR="47625" marT="28575" marB="28575" anchor="ctr">
                    <a:solidFill>
                      <a:srgbClr val="FFFFFF"/>
                    </a:solidFill>
                  </a:tcPr>
                </a:tc>
                <a:tc>
                  <a:txBody>
                    <a:bodyPr/>
                    <a:lstStyle/>
                    <a:p>
                      <a:pPr algn="ctr"/>
                      <a:r>
                        <a:rPr sz="1950">
                          <a:solidFill>
                            <a:srgbClr val="000000"/>
                          </a:solidFill>
                          <a:latin typeface="Calibri"/>
                          <a:ea typeface="Calibri"/>
                          <a:cs typeface="Calibri"/>
                        </a:rPr>
                        <a:t>North</a:t>
                      </a:r>
                    </a:p>
                  </a:txBody>
                  <a:tcPr marL="47625" marR="47625" marT="28575" marB="28575" anchor="ctr">
                    <a:solidFill>
                      <a:srgbClr val="FFFFFF"/>
                    </a:solidFill>
                  </a:tcPr>
                </a:tc>
                <a:extLst>
                  <a:ext uri="{0D108BD9-81ED-4DB2-BD59-A6C34878D82A}">
                    <a16:rowId xmlns:a16="http://schemas.microsoft.com/office/drawing/2014/main" val="10003"/>
                  </a:ext>
                </a:extLst>
              </a:tr>
            </a:tbl>
          </a:graphicData>
        </a:graphic>
      </p:graphicFrame>
      <p:sp>
        <p:nvSpPr>
          <p:cNvPr id="6" name="body">
            <a:extLst>
              <a:ext uri="{FF2B5EF4-FFF2-40B4-BE49-F238E27FC236}">
                <a16:creationId xmlns:a16="http://schemas.microsoft.com/office/drawing/2014/main" id="{87860CF2-C6A2-45F7-89E6-845E6D94527B}"/>
              </a:ext>
            </a:extLst>
          </p:cNvPr>
          <p:cNvSpPr>
            <a:spLocks noGrp="1"/>
          </p:cNvSpPr>
          <p:nvPr/>
        </p:nvSpPr>
        <p:spPr>
          <a:xfrm>
            <a:off x="4905375" y="1257300"/>
            <a:ext cx="3143250" cy="361950"/>
          </a:xfrm>
          <a:prstGeom prst="rect">
            <a:avLst/>
          </a:prstGeom>
          <a:noFill/>
          <a:ln w="0">
            <a:noFill/>
          </a:ln>
        </p:spPr>
        <p:txBody>
          <a:bodyPr wrap="square" lIns="0" tIns="0" rIns="0" bIns="0">
            <a:noAutofit/>
          </a:bodyPr>
          <a:lstStyle/>
          <a:p>
            <a:pPr>
              <a:defRPr sz="2250" b="0">
                <a:solidFill>
                  <a:srgbClr val="000000"/>
                </a:solidFill>
                <a:latin typeface="Calibri"/>
                <a:ea typeface="Calibri"/>
                <a:cs typeface="Calibri"/>
              </a:defRPr>
            </a:pPr>
            <a:r>
              <a:rPr sz="2250" b="0">
                <a:solidFill>
                  <a:srgbClr val="000000"/>
                </a:solidFill>
                <a:latin typeface="Calibri"/>
                <a:ea typeface="Calibri"/>
                <a:cs typeface="Calibri"/>
              </a:rPr>
              <a:t>Loan</a:t>
            </a:r>
          </a:p>
        </p:txBody>
      </p:sp>
      <p:graphicFrame>
        <p:nvGraphicFramePr>
          <p:cNvPr id="17" name="表格 16"/>
          <p:cNvGraphicFramePr/>
          <p:nvPr/>
        </p:nvGraphicFramePr>
        <p:xfrm>
          <a:off x="4981575" y="1676400"/>
          <a:ext cx="3143250" cy="1638300"/>
        </p:xfrm>
        <a:graphic>
          <a:graphicData uri="http://schemas.openxmlformats.org/drawingml/2006/table">
            <a:tbl>
              <a:tblPr/>
              <a:tblGrid>
                <a:gridCol w="1571625">
                  <a:extLst>
                    <a:ext uri="{9D8B030D-6E8A-4147-A177-3AD203B41FA5}">
                      <a16:colId xmlns:a16="http://schemas.microsoft.com/office/drawing/2014/main" val="20000"/>
                    </a:ext>
                  </a:extLst>
                </a:gridCol>
                <a:gridCol w="1571625">
                  <a:extLst>
                    <a:ext uri="{9D8B030D-6E8A-4147-A177-3AD203B41FA5}">
                      <a16:colId xmlns:a16="http://schemas.microsoft.com/office/drawing/2014/main" val="20001"/>
                    </a:ext>
                  </a:extLst>
                </a:gridCol>
              </a:tblGrid>
              <a:tr h="409575">
                <a:tc>
                  <a:txBody>
                    <a:bodyPr/>
                    <a:lstStyle/>
                    <a:p>
                      <a:pPr algn="ctr"/>
                      <a:r>
                        <a:rPr sz="1950">
                          <a:solidFill>
                            <a:srgbClr val="000000"/>
                          </a:solidFill>
                          <a:latin typeface="Calibri"/>
                          <a:ea typeface="Calibri"/>
                          <a:cs typeface="Calibri"/>
                        </a:rPr>
                        <a:t>ref</a:t>
                      </a:r>
                    </a:p>
                  </a:txBody>
                  <a:tcPr marL="47625" marR="47625" marT="28575" marB="28575" anchor="ctr">
                    <a:solidFill>
                      <a:srgbClr val="D9D9D9"/>
                    </a:solidFill>
                  </a:tcPr>
                </a:tc>
                <a:tc>
                  <a:txBody>
                    <a:bodyPr/>
                    <a:lstStyle/>
                    <a:p>
                      <a:pPr algn="ctr"/>
                      <a:r>
                        <a:rPr sz="1950">
                          <a:solidFill>
                            <a:srgbClr val="000000"/>
                          </a:solidFill>
                          <a:latin typeface="Calibri"/>
                          <a:ea typeface="Calibri"/>
                          <a:cs typeface="Calibri"/>
                        </a:rPr>
                        <a:t>mid</a:t>
                      </a:r>
                    </a:p>
                  </a:txBody>
                  <a:tcPr marL="47625" marR="47625" marT="28575" marB="28575" anchor="ctr">
                    <a:solidFill>
                      <a:srgbClr val="D9D9D9"/>
                    </a:solidFill>
                  </a:tcPr>
                </a:tc>
                <a:extLst>
                  <a:ext uri="{0D108BD9-81ED-4DB2-BD59-A6C34878D82A}">
                    <a16:rowId xmlns:a16="http://schemas.microsoft.com/office/drawing/2014/main" val="10000"/>
                  </a:ext>
                </a:extLst>
              </a:tr>
              <a:tr h="409575">
                <a:tc>
                  <a:txBody>
                    <a:bodyPr/>
                    <a:lstStyle/>
                    <a:p>
                      <a:pPr algn="ctr"/>
                      <a:r>
                        <a:rPr sz="1950">
                          <a:solidFill>
                            <a:srgbClr val="000000"/>
                          </a:solidFill>
                          <a:latin typeface="Calibri"/>
                          <a:ea typeface="Calibri"/>
                          <a:cs typeface="Calibri"/>
                        </a:rPr>
                        <a:t>T1</a:t>
                      </a:r>
                    </a:p>
                  </a:txBody>
                  <a:tcPr marL="47625" marR="47625" marT="28575" marB="28575" anchor="ctr">
                    <a:solidFill>
                      <a:srgbClr val="FFFFFF"/>
                    </a:solidFill>
                  </a:tcPr>
                </a:tc>
                <a:tc>
                  <a:txBody>
                    <a:bodyPr/>
                    <a:lstStyle/>
                    <a:p>
                      <a:pPr algn="ctr"/>
                      <a:r>
                        <a:rPr sz="1950">
                          <a:solidFill>
                            <a:srgbClr val="000000"/>
                          </a:solidFill>
                          <a:latin typeface="Calibri"/>
                          <a:ea typeface="Calibri"/>
                          <a:cs typeface="Calibri"/>
                        </a:rPr>
                        <a:t>1</a:t>
                      </a:r>
                    </a:p>
                  </a:txBody>
                  <a:tcPr marL="47625" marR="47625" marT="28575" marB="28575" anchor="ctr">
                    <a:solidFill>
                      <a:srgbClr val="FFFFFF"/>
                    </a:solidFill>
                  </a:tcPr>
                </a:tc>
                <a:extLst>
                  <a:ext uri="{0D108BD9-81ED-4DB2-BD59-A6C34878D82A}">
                    <a16:rowId xmlns:a16="http://schemas.microsoft.com/office/drawing/2014/main" val="10001"/>
                  </a:ext>
                </a:extLst>
              </a:tr>
              <a:tr h="409575">
                <a:tc>
                  <a:txBody>
                    <a:bodyPr/>
                    <a:lstStyle/>
                    <a:p>
                      <a:pPr algn="ctr"/>
                      <a:r>
                        <a:rPr sz="1950">
                          <a:solidFill>
                            <a:srgbClr val="000000"/>
                          </a:solidFill>
                          <a:latin typeface="Calibri"/>
                          <a:ea typeface="Calibri"/>
                          <a:cs typeface="Calibri"/>
                        </a:rPr>
                        <a:t>T1</a:t>
                      </a:r>
                    </a:p>
                  </a:txBody>
                  <a:tcPr marL="47625" marR="47625" marT="28575" marB="28575" anchor="ctr">
                    <a:solidFill>
                      <a:srgbClr val="FFFFFF"/>
                    </a:solidFill>
                  </a:tcPr>
                </a:tc>
                <a:tc>
                  <a:txBody>
                    <a:bodyPr/>
                    <a:lstStyle/>
                    <a:p>
                      <a:pPr algn="ctr"/>
                      <a:r>
                        <a:rPr sz="1950">
                          <a:solidFill>
                            <a:srgbClr val="000000"/>
                          </a:solidFill>
                          <a:latin typeface="Calibri"/>
                          <a:ea typeface="Calibri"/>
                          <a:cs typeface="Calibri"/>
                        </a:rPr>
                        <a:t>3</a:t>
                      </a:r>
                    </a:p>
                  </a:txBody>
                  <a:tcPr marL="47625" marR="47625" marT="28575" marB="28575" anchor="ctr">
                    <a:solidFill>
                      <a:srgbClr val="FFFFFF"/>
                    </a:solidFill>
                  </a:tcPr>
                </a:tc>
                <a:extLst>
                  <a:ext uri="{0D108BD9-81ED-4DB2-BD59-A6C34878D82A}">
                    <a16:rowId xmlns:a16="http://schemas.microsoft.com/office/drawing/2014/main" val="10002"/>
                  </a:ext>
                </a:extLst>
              </a:tr>
              <a:tr h="409575">
                <a:tc>
                  <a:txBody>
                    <a:bodyPr/>
                    <a:lstStyle/>
                    <a:p>
                      <a:pPr algn="ctr"/>
                      <a:r>
                        <a:rPr sz="1950">
                          <a:solidFill>
                            <a:srgbClr val="000000"/>
                          </a:solidFill>
                          <a:latin typeface="Calibri"/>
                          <a:ea typeface="Calibri"/>
                          <a:cs typeface="Calibri"/>
                        </a:rPr>
                        <a:t>T2</a:t>
                      </a:r>
                    </a:p>
                  </a:txBody>
                  <a:tcPr marL="47625" marR="47625" marT="28575" marB="28575" anchor="ctr">
                    <a:solidFill>
                      <a:srgbClr val="FFFFFF"/>
                    </a:solidFill>
                  </a:tcPr>
                </a:tc>
                <a:tc>
                  <a:txBody>
                    <a:bodyPr/>
                    <a:lstStyle/>
                    <a:p>
                      <a:pPr algn="ctr"/>
                      <a:r>
                        <a:rPr sz="1950">
                          <a:solidFill>
                            <a:srgbClr val="000000"/>
                          </a:solidFill>
                          <a:latin typeface="Calibri"/>
                          <a:ea typeface="Calibri"/>
                          <a:cs typeface="Calibri"/>
                        </a:rPr>
                        <a:t>2</a:t>
                      </a:r>
                    </a:p>
                  </a:txBody>
                  <a:tcPr marL="47625" marR="47625" marT="28575" marB="28575" anchor="ctr">
                    <a:solidFill>
                      <a:srgbClr val="FFFFFF"/>
                    </a:solidFill>
                  </a:tcPr>
                </a:tc>
                <a:extLst>
                  <a:ext uri="{0D108BD9-81ED-4DB2-BD59-A6C34878D82A}">
                    <a16:rowId xmlns:a16="http://schemas.microsoft.com/office/drawing/2014/main" val="10003"/>
                  </a:ext>
                </a:extLst>
              </a:tr>
            </a:tbl>
          </a:graphicData>
        </a:graphic>
      </p:graphicFrame>
      <p:sp>
        <p:nvSpPr>
          <p:cNvPr id="8" name="body">
            <a:extLst>
              <a:ext uri="{FF2B5EF4-FFF2-40B4-BE49-F238E27FC236}">
                <a16:creationId xmlns:a16="http://schemas.microsoft.com/office/drawing/2014/main" id="{A540CB76-9727-4D41-8DAD-1D522996438D}"/>
              </a:ext>
            </a:extLst>
          </p:cNvPr>
          <p:cNvSpPr>
            <a:spLocks noGrp="1"/>
          </p:cNvSpPr>
          <p:nvPr/>
        </p:nvSpPr>
        <p:spPr>
          <a:xfrm>
            <a:off x="781050" y="3857625"/>
            <a:ext cx="7600950" cy="952500"/>
          </a:xfrm>
          <a:prstGeom prst="rect">
            <a:avLst/>
          </a:prstGeom>
          <a:noFill/>
          <a:ln w="0">
            <a:noFill/>
          </a:ln>
        </p:spPr>
        <p:txBody>
          <a:bodyPr wrap="square" lIns="0" tIns="0" rIns="0" bIns="0">
            <a:noAutofit/>
          </a:bodyPr>
          <a:lstStyle/>
          <a:p>
            <a:pPr>
              <a:defRPr sz="2250" b="0">
                <a:solidFill>
                  <a:srgbClr val="FF0000"/>
                </a:solidFill>
                <a:latin typeface="Calibri"/>
                <a:ea typeface="Calibri"/>
                <a:cs typeface="Calibri"/>
              </a:defRPr>
            </a:pPr>
            <a:r>
              <a:rPr sz="2250" b="0">
                <a:solidFill>
                  <a:srgbClr val="FF0000"/>
                </a:solidFill>
                <a:latin typeface="Calibri"/>
                <a:ea typeface="Calibri"/>
                <a:cs typeface="Calibri"/>
              </a:rPr>
              <a:t>How many tuples does Device ⋈ Loan contain?</a:t>
            </a:r>
          </a:p>
        </p:txBody>
      </p:sp>
      <p:sp>
        <p:nvSpPr>
          <p:cNvPr id="9" name="body">
            <a:extLst>
              <a:ext uri="{FF2B5EF4-FFF2-40B4-BE49-F238E27FC236}">
                <a16:creationId xmlns:a16="http://schemas.microsoft.com/office/drawing/2014/main" id="{90CFFC9D-C164-44C1-AB13-21FA33B7599D}"/>
              </a:ext>
            </a:extLst>
          </p:cNvPr>
          <p:cNvSpPr>
            <a:spLocks noGrp="1"/>
          </p:cNvSpPr>
          <p:nvPr/>
        </p:nvSpPr>
        <p:spPr>
          <a:xfrm>
            <a:off x="781050" y="4629150"/>
            <a:ext cx="7600950" cy="952500"/>
          </a:xfrm>
          <a:prstGeom prst="rect">
            <a:avLst/>
          </a:prstGeom>
          <a:noFill/>
          <a:ln w="0">
            <a:noFill/>
          </a:ln>
        </p:spPr>
        <p:txBody>
          <a:bodyPr wrap="square" lIns="0" tIns="0" rIns="0" bIns="0">
            <a:noAutofit/>
          </a:bodyPr>
          <a:lstStyle/>
          <a:p>
            <a:pPr>
              <a:defRPr sz="2175" b="0">
                <a:solidFill>
                  <a:srgbClr val="FF0000"/>
                </a:solidFill>
                <a:latin typeface="Calibri"/>
                <a:ea typeface="Calibri"/>
                <a:cs typeface="Calibri"/>
              </a:defRPr>
            </a:pPr>
            <a:r>
              <a:rPr sz="2175" b="0">
                <a:solidFill>
                  <a:srgbClr val="FF0000"/>
                </a:solidFill>
                <a:latin typeface="Calibri"/>
                <a:ea typeface="Calibri"/>
                <a:cs typeface="Calibri"/>
              </a:rPr>
              <a:t>Repair the natural join so ref matches did.</a:t>
            </a:r>
          </a:p>
        </p:txBody>
      </p:sp>
      <p:sp>
        <p:nvSpPr>
          <p:cNvPr id="10" name="body">
            <a:extLst>
              <a:ext uri="{FF2B5EF4-FFF2-40B4-BE49-F238E27FC236}">
                <a16:creationId xmlns:a16="http://schemas.microsoft.com/office/drawing/2014/main" id="{831DF4B7-EA30-45BF-B698-3DA38A873EEC}"/>
              </a:ext>
            </a:extLst>
          </p:cNvPr>
          <p:cNvSpPr>
            <a:spLocks noGrp="1"/>
          </p:cNvSpPr>
          <p:nvPr/>
        </p:nvSpPr>
        <p:spPr>
          <a:xfrm>
            <a:off x="781050" y="5295900"/>
            <a:ext cx="7600950" cy="952500"/>
          </a:xfrm>
          <a:prstGeom prst="rect">
            <a:avLst/>
          </a:prstGeom>
          <a:noFill/>
          <a:ln w="0">
            <a:noFill/>
          </a:ln>
        </p:spPr>
        <p:txBody>
          <a:bodyPr wrap="square" lIns="0" tIns="0" rIns="0" bIns="0">
            <a:noAutofit/>
          </a:bodyPr>
          <a:lstStyle/>
          <a:p>
            <a:pPr>
              <a:defRPr sz="2025" b="0">
                <a:solidFill>
                  <a:srgbClr val="000000"/>
                </a:solidFill>
                <a:latin typeface="Calibri"/>
                <a:ea typeface="Calibri"/>
                <a:cs typeface="Calibri"/>
              </a:defRPr>
            </a:pPr>
            <a:r>
              <a:rPr sz="2025" b="0">
                <a:solidFill>
                  <a:srgbClr val="000000"/>
                </a:solidFill>
                <a:latin typeface="Calibri"/>
                <a:ea typeface="Calibri"/>
                <a:cs typeface="Calibri"/>
              </a:rPr>
              <a:t>State the result schema after repair.</a:t>
            </a:r>
          </a:p>
        </p:txBody>
      </p:sp>
      <p:sp>
        <p:nvSpPr>
          <p:cNvPr id="9001" name="Title 1">
            <a:extLst>
              <a:ext uri="{FF2B5EF4-FFF2-40B4-BE49-F238E27FC236}">
                <a16:creationId xmlns:a16="http://schemas.microsoft.com/office/drawing/2014/main" id="{4EF27E5C-9C4D-BDBE-7667-D0B141BCC8F5}"/>
              </a:ext>
            </a:extLst>
          </p:cNvPr>
          <p:cNvSpPr>
            <a:spLocks noGrp="1"/>
          </p:cNvSpPr>
          <p:nvPr>
            <p:ph type="title"/>
          </p:nvPr>
        </p:nvSpPr>
        <p:spPr/>
        <p:txBody>
          <a:bodyPr/>
          <a:lstStyle/>
          <a:p>
            <a:r>
              <a:rPr lang="en-US">
                <a:solidFill>
                  <a:srgbClr val="FF0000"/>
                </a:solidFill>
              </a:rPr>
              <a:t>Practice: </a:t>
            </a:r>
            <a:r>
              <a:rPr lang="en-US">
                <a:solidFill>
                  <a:srgbClr val="3333CC"/>
                </a:solidFill>
              </a:rPr>
              <a:t>Q22</a:t>
            </a:r>
          </a:p>
        </p:txBody>
      </p:sp>
      <p:sp>
        <p:nvSpPr>
          <p:cNvPr id="9002" name="Slide Number Placeholder 1">
            <a:extLst>
              <a:ext uri="{FF2B5EF4-FFF2-40B4-BE49-F238E27FC236}">
                <a16:creationId xmlns:a16="http://schemas.microsoft.com/office/drawing/2014/main" id="{B90139AC-3BDA-723A-097A-000DA0A784C1}"/>
              </a:ext>
            </a:extLst>
          </p:cNvPr>
          <p:cNvSpPr>
            <a:spLocks noGrp="1"/>
          </p:cNvSpPr>
          <p:nvPr>
            <p:ph type="sldNum" sz="quarter" idx="12"/>
          </p:nvPr>
        </p:nvSpPr>
        <p:spPr/>
        <p:txBody>
          <a:bodyPr/>
          <a:lstStyle/>
          <a:p>
            <a:pPr>
              <a:defRPr/>
            </a:pPr>
            <a:fld id="{43CA101F-9E5F-9249-9862-3CE55B3BB777}" type="slidenum">
              <a:rPr lang="en-US" altLang="zh-TW" smtClean="0"/>
              <a:pPr>
                <a:defRPr/>
              </a:pPr>
              <a:t>57</a:t>
            </a:fld>
            <a:endParaRPr lang="en-US" altLang="zh-TW"/>
          </a:p>
        </p:txBody>
      </p:sp>
    </p:spTree>
    <p:extLst>
      <p:ext uri="{BB962C8B-B14F-4D97-AF65-F5344CB8AC3E}">
        <p14:creationId xmlns:p14="http://schemas.microsoft.com/office/powerpoint/2010/main" val="525009380"/>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body">
            <a:extLst>
              <a:ext uri="{FF2B5EF4-FFF2-40B4-BE49-F238E27FC236}">
                <a16:creationId xmlns:a16="http://schemas.microsoft.com/office/drawing/2014/main" id="{6E675001-34AA-4D5C-9C71-4A553722B4AD}"/>
              </a:ext>
            </a:extLst>
          </p:cNvPr>
          <p:cNvSpPr>
            <a:spLocks noGrp="1"/>
          </p:cNvSpPr>
          <p:nvPr/>
        </p:nvSpPr>
        <p:spPr>
          <a:xfrm>
            <a:off x="781050" y="1095375"/>
            <a:ext cx="7600950" cy="952500"/>
          </a:xfrm>
          <a:prstGeom prst="rect">
            <a:avLst/>
          </a:prstGeom>
          <a:noFill/>
          <a:ln w="0">
            <a:noFill/>
          </a:ln>
        </p:spPr>
        <p:txBody>
          <a:bodyPr wrap="square" lIns="0" tIns="0" rIns="0" bIns="0">
            <a:noAutofit/>
          </a:bodyPr>
          <a:lstStyle/>
          <a:p>
            <a:pPr>
              <a:defRPr sz="2325" b="0">
                <a:solidFill>
                  <a:srgbClr val="FF0000"/>
                </a:solidFill>
                <a:latin typeface="Calibri"/>
                <a:ea typeface="Calibri"/>
                <a:cs typeface="Calibri"/>
              </a:defRPr>
            </a:pPr>
            <a:r>
              <a:rPr sz="2325" b="0">
                <a:solidFill>
                  <a:srgbClr val="FF0000"/>
                </a:solidFill>
                <a:latin typeface="Calibri"/>
                <a:ea typeface="Calibri"/>
                <a:cs typeface="Calibri"/>
              </a:rPr>
              <a:t>Shared attribute names: none.</a:t>
            </a:r>
          </a:p>
        </p:txBody>
      </p:sp>
      <p:sp>
        <p:nvSpPr>
          <p:cNvPr id="4" name="formula">
            <a:extLst>
              <a:ext uri="{FF2B5EF4-FFF2-40B4-BE49-F238E27FC236}">
                <a16:creationId xmlns:a16="http://schemas.microsoft.com/office/drawing/2014/main" id="{7B0D56B2-E5E0-4DDD-8E01-272165C9FD67}"/>
              </a:ext>
            </a:extLst>
          </p:cNvPr>
          <p:cNvSpPr>
            <a:spLocks noGrp="1"/>
          </p:cNvSpPr>
          <p:nvPr/>
        </p:nvSpPr>
        <p:spPr>
          <a:xfrm>
            <a:off x="781050" y="2000250"/>
            <a:ext cx="7620000" cy="523875"/>
          </a:xfrm>
          <a:prstGeom prst="rect">
            <a:avLst/>
          </a:prstGeom>
          <a:noFill/>
          <a:ln w="0">
            <a:noFill/>
          </a:ln>
        </p:spPr>
        <p:txBody>
          <a:bodyPr wrap="square" lIns="0" tIns="0" rIns="0" bIns="0">
            <a:noAutofit/>
          </a:bodyPr>
          <a:lstStyle/>
          <a:p>
            <a:pPr>
              <a:defRPr sz="2400" b="0">
                <a:solidFill>
                  <a:srgbClr val="000000"/>
                </a:solidFill>
                <a:latin typeface="Cambria Math"/>
                <a:ea typeface="Cambria Math"/>
                <a:cs typeface="Cambria Math"/>
              </a:defRPr>
            </a:pPr>
            <a:r>
              <a:rPr sz="2400" b="0">
                <a:solidFill>
                  <a:srgbClr val="000000"/>
                </a:solidFill>
                <a:latin typeface="Cambria Math"/>
                <a:ea typeface="Cambria Math"/>
                <a:cs typeface="Cambria Math"/>
              </a:rPr>
              <a:t>Device ⋈ Loan = Device × Loan</a:t>
            </a:r>
          </a:p>
        </p:txBody>
      </p:sp>
      <p:sp>
        <p:nvSpPr>
          <p:cNvPr id="5" name="formula">
            <a:extLst>
              <a:ext uri="{FF2B5EF4-FFF2-40B4-BE49-F238E27FC236}">
                <a16:creationId xmlns:a16="http://schemas.microsoft.com/office/drawing/2014/main" id="{6AD239FE-91F4-4001-B13B-777E35968F94}"/>
              </a:ext>
            </a:extLst>
          </p:cNvPr>
          <p:cNvSpPr>
            <a:spLocks noGrp="1"/>
          </p:cNvSpPr>
          <p:nvPr/>
        </p:nvSpPr>
        <p:spPr>
          <a:xfrm>
            <a:off x="781050" y="2828925"/>
            <a:ext cx="7620000" cy="523875"/>
          </a:xfrm>
          <a:prstGeom prst="rect">
            <a:avLst/>
          </a:prstGeom>
          <a:noFill/>
          <a:ln w="0">
            <a:noFill/>
          </a:ln>
        </p:spPr>
        <p:txBody>
          <a:bodyPr wrap="square" lIns="0" tIns="0" rIns="0" bIns="0">
            <a:noAutofit/>
          </a:bodyPr>
          <a:lstStyle/>
          <a:p>
            <a:pPr>
              <a:defRPr sz="2400" b="0">
                <a:solidFill>
                  <a:srgbClr val="000000"/>
                </a:solidFill>
                <a:latin typeface="Cambria Math"/>
                <a:ea typeface="Cambria Math"/>
                <a:cs typeface="Cambria Math"/>
              </a:defRPr>
            </a:pPr>
            <a:r>
              <a:rPr sz="2400" b="0">
                <a:solidFill>
                  <a:srgbClr val="000000"/>
                </a:solidFill>
                <a:latin typeface="Cambria Math"/>
                <a:ea typeface="Cambria Math"/>
                <a:cs typeface="Cambria Math"/>
              </a:rPr>
              <a:t>Tuple count = 3 × 3 = 9</a:t>
            </a:r>
          </a:p>
        </p:txBody>
      </p:sp>
      <p:sp>
        <p:nvSpPr>
          <p:cNvPr id="6" name="body">
            <a:extLst>
              <a:ext uri="{FF2B5EF4-FFF2-40B4-BE49-F238E27FC236}">
                <a16:creationId xmlns:a16="http://schemas.microsoft.com/office/drawing/2014/main" id="{5AA32F75-909A-4FDF-933D-0F4D8F41A026}"/>
              </a:ext>
            </a:extLst>
          </p:cNvPr>
          <p:cNvSpPr>
            <a:spLocks noGrp="1"/>
          </p:cNvSpPr>
          <p:nvPr/>
        </p:nvSpPr>
        <p:spPr>
          <a:xfrm>
            <a:off x="781050" y="3933825"/>
            <a:ext cx="7600950" cy="952500"/>
          </a:xfrm>
          <a:prstGeom prst="rect">
            <a:avLst/>
          </a:prstGeom>
          <a:noFill/>
          <a:ln w="0">
            <a:noFill/>
          </a:ln>
        </p:spPr>
        <p:txBody>
          <a:bodyPr wrap="square" lIns="0" tIns="0" rIns="0" bIns="0">
            <a:noAutofit/>
          </a:bodyPr>
          <a:lstStyle/>
          <a:p>
            <a:pPr>
              <a:defRPr sz="2175" b="0">
                <a:solidFill>
                  <a:srgbClr val="000000"/>
                </a:solidFill>
                <a:latin typeface="Calibri"/>
                <a:ea typeface="Calibri"/>
                <a:cs typeface="Calibri"/>
              </a:defRPr>
            </a:pPr>
            <a:r>
              <a:rPr sz="2175" b="0">
                <a:solidFill>
                  <a:srgbClr val="000000"/>
                </a:solidFill>
                <a:latin typeface="Calibri"/>
                <a:ea typeface="Calibri"/>
                <a:cs typeface="Calibri"/>
              </a:rPr>
              <a:t>Rename the matching attribute before the natural join:</a:t>
            </a:r>
          </a:p>
        </p:txBody>
      </p:sp>
      <p:sp>
        <p:nvSpPr>
          <p:cNvPr id="7" name="formula">
            <a:extLst>
              <a:ext uri="{FF2B5EF4-FFF2-40B4-BE49-F238E27FC236}">
                <a16:creationId xmlns:a16="http://schemas.microsoft.com/office/drawing/2014/main" id="{80F0BBDE-FFF3-4472-B0D3-8015E2A4118B}"/>
              </a:ext>
            </a:extLst>
          </p:cNvPr>
          <p:cNvSpPr>
            <a:spLocks noGrp="1"/>
          </p:cNvSpPr>
          <p:nvPr/>
        </p:nvSpPr>
        <p:spPr>
          <a:xfrm>
            <a:off x="781050" y="4638675"/>
            <a:ext cx="7620000" cy="523875"/>
          </a:xfrm>
          <a:prstGeom prst="rect">
            <a:avLst/>
          </a:prstGeom>
          <a:noFill/>
          <a:ln w="0">
            <a:noFill/>
          </a:ln>
        </p:spPr>
        <p:txBody>
          <a:bodyPr wrap="square" lIns="0" tIns="0" rIns="0" bIns="0">
            <a:noAutofit/>
          </a:bodyPr>
          <a:lstStyle/>
          <a:p>
            <a:pPr>
              <a:defRPr sz="2250" b="0">
                <a:solidFill>
                  <a:srgbClr val="000000"/>
                </a:solidFill>
                <a:latin typeface="Cambria Math"/>
                <a:ea typeface="Cambria Math"/>
                <a:cs typeface="Cambria Math"/>
              </a:defRPr>
            </a:pPr>
            <a:r>
              <a:rPr sz="2250" b="0">
                <a:solidFill>
                  <a:srgbClr val="000000"/>
                </a:solidFill>
                <a:latin typeface="Cambria Math"/>
                <a:ea typeface="Cambria Math"/>
                <a:cs typeface="Cambria Math"/>
              </a:rPr>
              <a:t>L ← ρ (L(ref → did), Loan)</a:t>
            </a:r>
          </a:p>
        </p:txBody>
      </p:sp>
      <p:sp>
        <p:nvSpPr>
          <p:cNvPr id="9001" name="Title 1">
            <a:extLst>
              <a:ext uri="{FF2B5EF4-FFF2-40B4-BE49-F238E27FC236}">
                <a16:creationId xmlns:a16="http://schemas.microsoft.com/office/drawing/2014/main" id="{4EF27E5C-9C4D-BDBE-7667-D0B141BCC8F5}"/>
              </a:ext>
            </a:extLst>
          </p:cNvPr>
          <p:cNvSpPr>
            <a:spLocks noGrp="1"/>
          </p:cNvSpPr>
          <p:nvPr>
            <p:ph type="title"/>
          </p:nvPr>
        </p:nvSpPr>
        <p:spPr/>
        <p:txBody>
          <a:bodyPr/>
          <a:lstStyle/>
          <a:p>
            <a:r>
              <a:rPr lang="en-US">
                <a:solidFill>
                  <a:srgbClr val="FF0000"/>
                </a:solidFill>
              </a:rPr>
              <a:t>Solutions: </a:t>
            </a:r>
            <a:r>
              <a:rPr lang="en-US">
                <a:solidFill>
                  <a:srgbClr val="3333CC"/>
                </a:solidFill>
              </a:rPr>
              <a:t>Q22 (1)</a:t>
            </a:r>
          </a:p>
        </p:txBody>
      </p:sp>
      <p:sp>
        <p:nvSpPr>
          <p:cNvPr id="9002" name="Slide Number Placeholder 1">
            <a:extLst>
              <a:ext uri="{FF2B5EF4-FFF2-40B4-BE49-F238E27FC236}">
                <a16:creationId xmlns:a16="http://schemas.microsoft.com/office/drawing/2014/main" id="{B90139AC-3BDA-723A-097A-000DA0A784C1}"/>
              </a:ext>
            </a:extLst>
          </p:cNvPr>
          <p:cNvSpPr>
            <a:spLocks noGrp="1"/>
          </p:cNvSpPr>
          <p:nvPr>
            <p:ph type="sldNum" sz="quarter" idx="12"/>
          </p:nvPr>
        </p:nvSpPr>
        <p:spPr/>
        <p:txBody>
          <a:bodyPr/>
          <a:lstStyle/>
          <a:p>
            <a:pPr>
              <a:defRPr/>
            </a:pPr>
            <a:fld id="{43CA101F-9E5F-9249-9862-3CE55B3BB777}" type="slidenum">
              <a:rPr lang="en-US" altLang="zh-TW" smtClean="0"/>
              <a:pPr>
                <a:defRPr/>
              </a:pPr>
              <a:t>58</a:t>
            </a:fld>
            <a:endParaRPr lang="en-US" altLang="zh-TW"/>
          </a:p>
        </p:txBody>
      </p:sp>
    </p:spTree>
    <p:extLst>
      <p:ext uri="{BB962C8B-B14F-4D97-AF65-F5344CB8AC3E}">
        <p14:creationId xmlns:p14="http://schemas.microsoft.com/office/powerpoint/2010/main" val="1578831388"/>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formula">
            <a:extLst>
              <a:ext uri="{FF2B5EF4-FFF2-40B4-BE49-F238E27FC236}">
                <a16:creationId xmlns:a16="http://schemas.microsoft.com/office/drawing/2014/main" id="{A2791D87-6A07-4AB3-ACCC-3B9827B40097}"/>
              </a:ext>
            </a:extLst>
          </p:cNvPr>
          <p:cNvSpPr>
            <a:spLocks noGrp="1"/>
          </p:cNvSpPr>
          <p:nvPr/>
        </p:nvSpPr>
        <p:spPr>
          <a:xfrm>
            <a:off x="781050" y="1076325"/>
            <a:ext cx="7620000" cy="523875"/>
          </a:xfrm>
          <a:prstGeom prst="rect">
            <a:avLst/>
          </a:prstGeom>
          <a:noFill/>
          <a:ln w="0">
            <a:noFill/>
          </a:ln>
        </p:spPr>
        <p:txBody>
          <a:bodyPr wrap="square" lIns="0" tIns="0" rIns="0" bIns="0">
            <a:noAutofit/>
          </a:bodyPr>
          <a:lstStyle/>
          <a:p>
            <a:pPr>
              <a:defRPr sz="2400" b="0">
                <a:solidFill>
                  <a:srgbClr val="000000"/>
                </a:solidFill>
                <a:latin typeface="Cambria Math"/>
                <a:ea typeface="Cambria Math"/>
                <a:cs typeface="Cambria Math"/>
              </a:defRPr>
            </a:pPr>
            <a:r>
              <a:rPr sz="2400" b="0">
                <a:solidFill>
                  <a:srgbClr val="000000"/>
                </a:solidFill>
                <a:latin typeface="Cambria Math"/>
                <a:ea typeface="Cambria Math"/>
                <a:cs typeface="Cambria Math"/>
              </a:rPr>
              <a:t>Answer ← Device ⋈ L</a:t>
            </a:r>
          </a:p>
        </p:txBody>
      </p:sp>
      <p:sp>
        <p:nvSpPr>
          <p:cNvPr id="4" name="body">
            <a:extLst>
              <a:ext uri="{FF2B5EF4-FFF2-40B4-BE49-F238E27FC236}">
                <a16:creationId xmlns:a16="http://schemas.microsoft.com/office/drawing/2014/main" id="{7DA8A901-4F5B-4ED5-9328-8C64C9BE49CF}"/>
              </a:ext>
            </a:extLst>
          </p:cNvPr>
          <p:cNvSpPr>
            <a:spLocks noGrp="1"/>
          </p:cNvSpPr>
          <p:nvPr/>
        </p:nvSpPr>
        <p:spPr>
          <a:xfrm>
            <a:off x="1676400" y="1943100"/>
            <a:ext cx="5629275" cy="361950"/>
          </a:xfrm>
          <a:prstGeom prst="rect">
            <a:avLst/>
          </a:prstGeom>
          <a:noFill/>
          <a:ln w="0">
            <a:noFill/>
          </a:ln>
        </p:spPr>
        <p:txBody>
          <a:bodyPr wrap="square" lIns="0" tIns="0" rIns="0" bIns="0">
            <a:noAutofit/>
          </a:bodyPr>
          <a:lstStyle/>
          <a:p>
            <a:pPr>
              <a:defRPr sz="2250" b="0">
                <a:solidFill>
                  <a:srgbClr val="000000"/>
                </a:solidFill>
                <a:latin typeface="Calibri"/>
                <a:ea typeface="Calibri"/>
                <a:cs typeface="Calibri"/>
              </a:defRPr>
            </a:pPr>
            <a:r>
              <a:rPr sz="2250" b="0">
                <a:solidFill>
                  <a:srgbClr val="000000"/>
                </a:solidFill>
                <a:latin typeface="Calibri"/>
                <a:ea typeface="Calibri"/>
                <a:cs typeface="Calibri"/>
              </a:rPr>
              <a:t>Answer</a:t>
            </a:r>
          </a:p>
        </p:txBody>
      </p:sp>
      <p:graphicFrame>
        <p:nvGraphicFramePr>
          <p:cNvPr id="11" name="表格 10"/>
          <p:cNvGraphicFramePr/>
          <p:nvPr/>
        </p:nvGraphicFramePr>
        <p:xfrm>
          <a:off x="1752600" y="2362200"/>
          <a:ext cx="5629275" cy="1676400"/>
        </p:xfrm>
        <a:graphic>
          <a:graphicData uri="http://schemas.openxmlformats.org/drawingml/2006/table">
            <a:tbl>
              <a:tblPr/>
              <a:tblGrid>
                <a:gridCol w="1876425">
                  <a:extLst>
                    <a:ext uri="{9D8B030D-6E8A-4147-A177-3AD203B41FA5}">
                      <a16:colId xmlns:a16="http://schemas.microsoft.com/office/drawing/2014/main" val="20000"/>
                    </a:ext>
                  </a:extLst>
                </a:gridCol>
                <a:gridCol w="1876425">
                  <a:extLst>
                    <a:ext uri="{9D8B030D-6E8A-4147-A177-3AD203B41FA5}">
                      <a16:colId xmlns:a16="http://schemas.microsoft.com/office/drawing/2014/main" val="20001"/>
                    </a:ext>
                  </a:extLst>
                </a:gridCol>
                <a:gridCol w="1876425">
                  <a:extLst>
                    <a:ext uri="{9D8B030D-6E8A-4147-A177-3AD203B41FA5}">
                      <a16:colId xmlns:a16="http://schemas.microsoft.com/office/drawing/2014/main" val="20002"/>
                    </a:ext>
                  </a:extLst>
                </a:gridCol>
              </a:tblGrid>
              <a:tr h="419100">
                <a:tc>
                  <a:txBody>
                    <a:bodyPr/>
                    <a:lstStyle/>
                    <a:p>
                      <a:pPr algn="ctr"/>
                      <a:r>
                        <a:rPr sz="2025">
                          <a:solidFill>
                            <a:srgbClr val="000000"/>
                          </a:solidFill>
                          <a:latin typeface="Calibri"/>
                          <a:ea typeface="Calibri"/>
                          <a:cs typeface="Calibri"/>
                        </a:rPr>
                        <a:t>did</a:t>
                      </a:r>
                    </a:p>
                  </a:txBody>
                  <a:tcPr marL="47625" marR="47625" marT="28575" marB="28575" anchor="ctr">
                    <a:solidFill>
                      <a:srgbClr val="D9D9D9"/>
                    </a:solidFill>
                  </a:tcPr>
                </a:tc>
                <a:tc>
                  <a:txBody>
                    <a:bodyPr/>
                    <a:lstStyle/>
                    <a:p>
                      <a:pPr algn="ctr"/>
                      <a:r>
                        <a:rPr sz="2025">
                          <a:solidFill>
                            <a:srgbClr val="000000"/>
                          </a:solidFill>
                          <a:latin typeface="Calibri"/>
                          <a:ea typeface="Calibri"/>
                          <a:cs typeface="Calibri"/>
                        </a:rPr>
                        <a:t>lab</a:t>
                      </a:r>
                    </a:p>
                  </a:txBody>
                  <a:tcPr marL="47625" marR="47625" marT="28575" marB="28575" anchor="ctr">
                    <a:solidFill>
                      <a:srgbClr val="D9D9D9"/>
                    </a:solidFill>
                  </a:tcPr>
                </a:tc>
                <a:tc>
                  <a:txBody>
                    <a:bodyPr/>
                    <a:lstStyle/>
                    <a:p>
                      <a:pPr algn="ctr"/>
                      <a:r>
                        <a:rPr sz="2025">
                          <a:solidFill>
                            <a:srgbClr val="000000"/>
                          </a:solidFill>
                          <a:latin typeface="Calibri"/>
                          <a:ea typeface="Calibri"/>
                          <a:cs typeface="Calibri"/>
                        </a:rPr>
                        <a:t>mid</a:t>
                      </a:r>
                    </a:p>
                  </a:txBody>
                  <a:tcPr marL="47625" marR="47625" marT="28575" marB="28575" anchor="ctr">
                    <a:solidFill>
                      <a:srgbClr val="D9D9D9"/>
                    </a:solidFill>
                  </a:tcPr>
                </a:tc>
                <a:extLst>
                  <a:ext uri="{0D108BD9-81ED-4DB2-BD59-A6C34878D82A}">
                    <a16:rowId xmlns:a16="http://schemas.microsoft.com/office/drawing/2014/main" val="10000"/>
                  </a:ext>
                </a:extLst>
              </a:tr>
              <a:tr h="419100">
                <a:tc>
                  <a:txBody>
                    <a:bodyPr/>
                    <a:lstStyle/>
                    <a:p>
                      <a:pPr algn="ctr"/>
                      <a:r>
                        <a:rPr sz="2025">
                          <a:solidFill>
                            <a:srgbClr val="000000"/>
                          </a:solidFill>
                          <a:latin typeface="Calibri"/>
                          <a:ea typeface="Calibri"/>
                          <a:cs typeface="Calibri"/>
                        </a:rPr>
                        <a:t>T1</a:t>
                      </a:r>
                    </a:p>
                  </a:txBody>
                  <a:tcPr marL="47625" marR="47625" marT="28575" marB="28575" anchor="ctr">
                    <a:solidFill>
                      <a:srgbClr val="FFFFFF"/>
                    </a:solidFill>
                  </a:tcPr>
                </a:tc>
                <a:tc>
                  <a:txBody>
                    <a:bodyPr/>
                    <a:lstStyle/>
                    <a:p>
                      <a:pPr algn="ctr"/>
                      <a:r>
                        <a:rPr sz="2025">
                          <a:solidFill>
                            <a:srgbClr val="000000"/>
                          </a:solidFill>
                          <a:latin typeface="Calibri"/>
                          <a:ea typeface="Calibri"/>
                          <a:cs typeface="Calibri"/>
                        </a:rPr>
                        <a:t>North</a:t>
                      </a:r>
                    </a:p>
                  </a:txBody>
                  <a:tcPr marL="47625" marR="47625" marT="28575" marB="28575" anchor="ctr">
                    <a:solidFill>
                      <a:srgbClr val="FFFFFF"/>
                    </a:solidFill>
                  </a:tcPr>
                </a:tc>
                <a:tc>
                  <a:txBody>
                    <a:bodyPr/>
                    <a:lstStyle/>
                    <a:p>
                      <a:pPr algn="ctr"/>
                      <a:r>
                        <a:rPr sz="2025">
                          <a:solidFill>
                            <a:srgbClr val="000000"/>
                          </a:solidFill>
                          <a:latin typeface="Calibri"/>
                          <a:ea typeface="Calibri"/>
                          <a:cs typeface="Calibri"/>
                        </a:rPr>
                        <a:t>1</a:t>
                      </a:r>
                    </a:p>
                  </a:txBody>
                  <a:tcPr marL="47625" marR="47625" marT="28575" marB="28575" anchor="ctr">
                    <a:solidFill>
                      <a:srgbClr val="FFFFFF"/>
                    </a:solidFill>
                  </a:tcPr>
                </a:tc>
                <a:extLst>
                  <a:ext uri="{0D108BD9-81ED-4DB2-BD59-A6C34878D82A}">
                    <a16:rowId xmlns:a16="http://schemas.microsoft.com/office/drawing/2014/main" val="10001"/>
                  </a:ext>
                </a:extLst>
              </a:tr>
              <a:tr h="419100">
                <a:tc>
                  <a:txBody>
                    <a:bodyPr/>
                    <a:lstStyle/>
                    <a:p>
                      <a:pPr algn="ctr"/>
                      <a:r>
                        <a:rPr sz="2025">
                          <a:solidFill>
                            <a:srgbClr val="000000"/>
                          </a:solidFill>
                          <a:latin typeface="Calibri"/>
                          <a:ea typeface="Calibri"/>
                          <a:cs typeface="Calibri"/>
                        </a:rPr>
                        <a:t>T1</a:t>
                      </a:r>
                    </a:p>
                  </a:txBody>
                  <a:tcPr marL="47625" marR="47625" marT="28575" marB="28575" anchor="ctr">
                    <a:solidFill>
                      <a:srgbClr val="FFFFFF"/>
                    </a:solidFill>
                  </a:tcPr>
                </a:tc>
                <a:tc>
                  <a:txBody>
                    <a:bodyPr/>
                    <a:lstStyle/>
                    <a:p>
                      <a:pPr algn="ctr"/>
                      <a:r>
                        <a:rPr sz="2025">
                          <a:solidFill>
                            <a:srgbClr val="000000"/>
                          </a:solidFill>
                          <a:latin typeface="Calibri"/>
                          <a:ea typeface="Calibri"/>
                          <a:cs typeface="Calibri"/>
                        </a:rPr>
                        <a:t>North</a:t>
                      </a:r>
                    </a:p>
                  </a:txBody>
                  <a:tcPr marL="47625" marR="47625" marT="28575" marB="28575" anchor="ctr">
                    <a:solidFill>
                      <a:srgbClr val="FFFFFF"/>
                    </a:solidFill>
                  </a:tcPr>
                </a:tc>
                <a:tc>
                  <a:txBody>
                    <a:bodyPr/>
                    <a:lstStyle/>
                    <a:p>
                      <a:pPr algn="ctr"/>
                      <a:r>
                        <a:rPr sz="2025">
                          <a:solidFill>
                            <a:srgbClr val="000000"/>
                          </a:solidFill>
                          <a:latin typeface="Calibri"/>
                          <a:ea typeface="Calibri"/>
                          <a:cs typeface="Calibri"/>
                        </a:rPr>
                        <a:t>3</a:t>
                      </a:r>
                    </a:p>
                  </a:txBody>
                  <a:tcPr marL="47625" marR="47625" marT="28575" marB="28575" anchor="ctr">
                    <a:solidFill>
                      <a:srgbClr val="FFFFFF"/>
                    </a:solidFill>
                  </a:tcPr>
                </a:tc>
                <a:extLst>
                  <a:ext uri="{0D108BD9-81ED-4DB2-BD59-A6C34878D82A}">
                    <a16:rowId xmlns:a16="http://schemas.microsoft.com/office/drawing/2014/main" val="10002"/>
                  </a:ext>
                </a:extLst>
              </a:tr>
              <a:tr h="419100">
                <a:tc>
                  <a:txBody>
                    <a:bodyPr/>
                    <a:lstStyle/>
                    <a:p>
                      <a:pPr algn="ctr"/>
                      <a:r>
                        <a:rPr sz="2025">
                          <a:solidFill>
                            <a:srgbClr val="000000"/>
                          </a:solidFill>
                          <a:latin typeface="Calibri"/>
                          <a:ea typeface="Calibri"/>
                          <a:cs typeface="Calibri"/>
                        </a:rPr>
                        <a:t>T2</a:t>
                      </a:r>
                    </a:p>
                  </a:txBody>
                  <a:tcPr marL="47625" marR="47625" marT="28575" marB="28575" anchor="ctr">
                    <a:solidFill>
                      <a:srgbClr val="FFFFFF"/>
                    </a:solidFill>
                  </a:tcPr>
                </a:tc>
                <a:tc>
                  <a:txBody>
                    <a:bodyPr/>
                    <a:lstStyle/>
                    <a:p>
                      <a:pPr algn="ctr"/>
                      <a:r>
                        <a:rPr sz="2025">
                          <a:solidFill>
                            <a:srgbClr val="000000"/>
                          </a:solidFill>
                          <a:latin typeface="Calibri"/>
                          <a:ea typeface="Calibri"/>
                          <a:cs typeface="Calibri"/>
                        </a:rPr>
                        <a:t>South</a:t>
                      </a:r>
                    </a:p>
                  </a:txBody>
                  <a:tcPr marL="47625" marR="47625" marT="28575" marB="28575" anchor="ctr">
                    <a:solidFill>
                      <a:srgbClr val="FFFFFF"/>
                    </a:solidFill>
                  </a:tcPr>
                </a:tc>
                <a:tc>
                  <a:txBody>
                    <a:bodyPr/>
                    <a:lstStyle/>
                    <a:p>
                      <a:pPr algn="ctr"/>
                      <a:r>
                        <a:rPr sz="2025">
                          <a:solidFill>
                            <a:srgbClr val="000000"/>
                          </a:solidFill>
                          <a:latin typeface="Calibri"/>
                          <a:ea typeface="Calibri"/>
                          <a:cs typeface="Calibri"/>
                        </a:rPr>
                        <a:t>2</a:t>
                      </a:r>
                    </a:p>
                  </a:txBody>
                  <a:tcPr marL="47625" marR="47625" marT="28575" marB="28575" anchor="ctr">
                    <a:solidFill>
                      <a:srgbClr val="FFFFFF"/>
                    </a:solidFill>
                  </a:tcPr>
                </a:tc>
                <a:extLst>
                  <a:ext uri="{0D108BD9-81ED-4DB2-BD59-A6C34878D82A}">
                    <a16:rowId xmlns:a16="http://schemas.microsoft.com/office/drawing/2014/main" val="10003"/>
                  </a:ext>
                </a:extLst>
              </a:tr>
            </a:tbl>
          </a:graphicData>
        </a:graphic>
      </p:graphicFrame>
      <p:sp>
        <p:nvSpPr>
          <p:cNvPr id="6" name="body">
            <a:extLst>
              <a:ext uri="{FF2B5EF4-FFF2-40B4-BE49-F238E27FC236}">
                <a16:creationId xmlns:a16="http://schemas.microsoft.com/office/drawing/2014/main" id="{3241B3CA-F52F-4835-B86D-E7558DAE7CD2}"/>
              </a:ext>
            </a:extLst>
          </p:cNvPr>
          <p:cNvSpPr>
            <a:spLocks noGrp="1"/>
          </p:cNvSpPr>
          <p:nvPr/>
        </p:nvSpPr>
        <p:spPr>
          <a:xfrm>
            <a:off x="781050" y="4857750"/>
            <a:ext cx="7600950" cy="952500"/>
          </a:xfrm>
          <a:prstGeom prst="rect">
            <a:avLst/>
          </a:prstGeom>
          <a:noFill/>
          <a:ln w="0">
            <a:noFill/>
          </a:ln>
        </p:spPr>
        <p:txBody>
          <a:bodyPr wrap="square" lIns="0" tIns="0" rIns="0" bIns="0">
            <a:noAutofit/>
          </a:bodyPr>
          <a:lstStyle/>
          <a:p>
            <a:pPr>
              <a:defRPr sz="2175" b="0">
                <a:solidFill>
                  <a:srgbClr val="FF0000"/>
                </a:solidFill>
                <a:latin typeface="Calibri"/>
                <a:ea typeface="Calibri"/>
                <a:cs typeface="Calibri"/>
              </a:defRPr>
            </a:pPr>
            <a:r>
              <a:rPr sz="2175" b="0">
                <a:solidFill>
                  <a:srgbClr val="FF0000"/>
                </a:solidFill>
                <a:latin typeface="Calibri"/>
                <a:ea typeface="Calibri"/>
                <a:cs typeface="Calibri"/>
              </a:rPr>
              <a:t>Schema: (did, lab, mid). The repaired result has 3 tuples.</a:t>
            </a:r>
          </a:p>
        </p:txBody>
      </p:sp>
      <p:sp>
        <p:nvSpPr>
          <p:cNvPr id="9001" name="Title 1">
            <a:extLst>
              <a:ext uri="{FF2B5EF4-FFF2-40B4-BE49-F238E27FC236}">
                <a16:creationId xmlns:a16="http://schemas.microsoft.com/office/drawing/2014/main" id="{4EF27E5C-9C4D-BDBE-7667-D0B141BCC8F5}"/>
              </a:ext>
            </a:extLst>
          </p:cNvPr>
          <p:cNvSpPr>
            <a:spLocks noGrp="1"/>
          </p:cNvSpPr>
          <p:nvPr>
            <p:ph type="title"/>
          </p:nvPr>
        </p:nvSpPr>
        <p:spPr/>
        <p:txBody>
          <a:bodyPr/>
          <a:lstStyle/>
          <a:p>
            <a:r>
              <a:rPr lang="en-US">
                <a:solidFill>
                  <a:srgbClr val="FF0000"/>
                </a:solidFill>
              </a:rPr>
              <a:t>Solutions: </a:t>
            </a:r>
            <a:r>
              <a:rPr lang="en-US">
                <a:solidFill>
                  <a:srgbClr val="3333CC"/>
                </a:solidFill>
              </a:rPr>
              <a:t>Q22 (2)</a:t>
            </a:r>
          </a:p>
        </p:txBody>
      </p:sp>
      <p:sp>
        <p:nvSpPr>
          <p:cNvPr id="9002" name="Slide Number Placeholder 1">
            <a:extLst>
              <a:ext uri="{FF2B5EF4-FFF2-40B4-BE49-F238E27FC236}">
                <a16:creationId xmlns:a16="http://schemas.microsoft.com/office/drawing/2014/main" id="{B90139AC-3BDA-723A-097A-000DA0A784C1}"/>
              </a:ext>
            </a:extLst>
          </p:cNvPr>
          <p:cNvSpPr>
            <a:spLocks noGrp="1"/>
          </p:cNvSpPr>
          <p:nvPr>
            <p:ph type="sldNum" sz="quarter" idx="12"/>
          </p:nvPr>
        </p:nvSpPr>
        <p:spPr/>
        <p:txBody>
          <a:bodyPr/>
          <a:lstStyle/>
          <a:p>
            <a:pPr>
              <a:defRPr/>
            </a:pPr>
            <a:fld id="{43CA101F-9E5F-9249-9862-3CE55B3BB777}" type="slidenum">
              <a:rPr lang="en-US" altLang="zh-TW" smtClean="0"/>
              <a:pPr>
                <a:defRPr/>
              </a:pPr>
              <a:t>59</a:t>
            </a:fld>
            <a:endParaRPr lang="en-US" altLang="zh-TW"/>
          </a:p>
        </p:txBody>
      </p:sp>
    </p:spTree>
    <p:extLst>
      <p:ext uri="{BB962C8B-B14F-4D97-AF65-F5344CB8AC3E}">
        <p14:creationId xmlns:p14="http://schemas.microsoft.com/office/powerpoint/2010/main" val="1943296100"/>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formula">
            <a:extLst>
              <a:ext uri="{FF2B5EF4-FFF2-40B4-BE49-F238E27FC236}">
                <a16:creationId xmlns:a16="http://schemas.microsoft.com/office/drawing/2014/main" id="{83423A62-FF78-4F21-9D23-BAD469DE5E42}"/>
              </a:ext>
            </a:extLst>
          </p:cNvPr>
          <p:cNvSpPr>
            <a:spLocks noGrp="1"/>
          </p:cNvSpPr>
          <p:nvPr/>
        </p:nvSpPr>
        <p:spPr>
          <a:xfrm>
            <a:off x="1104900" y="1114425"/>
            <a:ext cx="7143750" cy="523875"/>
          </a:xfrm>
          <a:prstGeom prst="rect">
            <a:avLst/>
          </a:prstGeom>
          <a:noFill/>
          <a:ln w="0">
            <a:noFill/>
          </a:ln>
        </p:spPr>
        <p:txBody>
          <a:bodyPr wrap="square" lIns="0" tIns="0" rIns="0" bIns="0">
            <a:noAutofit/>
          </a:bodyPr>
          <a:lstStyle/>
          <a:p>
            <a:pPr>
              <a:defRPr sz="2700" b="0">
                <a:solidFill>
                  <a:srgbClr val="000000"/>
                </a:solidFill>
                <a:latin typeface="Cambria Math"/>
                <a:ea typeface="Cambria Math"/>
                <a:cs typeface="Cambria Math"/>
              </a:defRPr>
            </a:pPr>
            <a:r>
              <a:rPr sz="2700" b="0">
                <a:solidFill>
                  <a:srgbClr val="000000"/>
                </a:solidFill>
                <a:latin typeface="Cambria Math"/>
                <a:ea typeface="Cambria Math"/>
                <a:cs typeface="Cambria Math"/>
              </a:rPr>
              <a:t>R(mid, tid) / S(tid)</a:t>
            </a:r>
          </a:p>
        </p:txBody>
      </p:sp>
      <p:sp>
        <p:nvSpPr>
          <p:cNvPr id="4" name="body">
            <a:extLst>
              <a:ext uri="{FF2B5EF4-FFF2-40B4-BE49-F238E27FC236}">
                <a16:creationId xmlns:a16="http://schemas.microsoft.com/office/drawing/2014/main" id="{911B4812-DB11-4435-B768-865194A85306}"/>
              </a:ext>
            </a:extLst>
          </p:cNvPr>
          <p:cNvSpPr>
            <a:spLocks noGrp="1"/>
          </p:cNvSpPr>
          <p:nvPr/>
        </p:nvSpPr>
        <p:spPr>
          <a:xfrm>
            <a:off x="781050" y="2076450"/>
            <a:ext cx="219075" cy="400050"/>
          </a:xfrm>
          <a:prstGeom prst="rect">
            <a:avLst/>
          </a:prstGeom>
          <a:noFill/>
          <a:ln w="0">
            <a:noFill/>
          </a:ln>
        </p:spPr>
        <p:txBody>
          <a:bodyPr wrap="square" lIns="0" tIns="0" rIns="0" bIns="0">
            <a:noAutofit/>
          </a:bodyPr>
          <a:lstStyle/>
          <a:p>
            <a:pPr>
              <a:defRPr sz="2250" b="0">
                <a:solidFill>
                  <a:srgbClr val="000000"/>
                </a:solidFill>
                <a:latin typeface="Calibri"/>
                <a:ea typeface="Calibri"/>
                <a:cs typeface="Calibri"/>
              </a:defRPr>
            </a:pPr>
            <a:r>
              <a:rPr sz="2250" b="0">
                <a:solidFill>
                  <a:srgbClr val="000000"/>
                </a:solidFill>
                <a:latin typeface="Calibri"/>
                <a:ea typeface="Calibri"/>
                <a:cs typeface="Calibri"/>
              </a:rPr>
              <a:t>•</a:t>
            </a:r>
          </a:p>
        </p:txBody>
      </p:sp>
      <p:sp>
        <p:nvSpPr>
          <p:cNvPr id="5" name="body">
            <a:extLst>
              <a:ext uri="{FF2B5EF4-FFF2-40B4-BE49-F238E27FC236}">
                <a16:creationId xmlns:a16="http://schemas.microsoft.com/office/drawing/2014/main" id="{FB94FD50-8471-455D-A81C-93D9D8658AA5}"/>
              </a:ext>
            </a:extLst>
          </p:cNvPr>
          <p:cNvSpPr>
            <a:spLocks noGrp="1"/>
          </p:cNvSpPr>
          <p:nvPr/>
        </p:nvSpPr>
        <p:spPr>
          <a:xfrm>
            <a:off x="1104900" y="2076450"/>
            <a:ext cx="7239000" cy="952500"/>
          </a:xfrm>
          <a:prstGeom prst="rect">
            <a:avLst/>
          </a:prstGeom>
          <a:noFill/>
          <a:ln w="0">
            <a:noFill/>
          </a:ln>
        </p:spPr>
        <p:txBody>
          <a:bodyPr wrap="square" lIns="0" tIns="0" rIns="0" bIns="0">
            <a:noAutofit/>
          </a:bodyPr>
          <a:lstStyle/>
          <a:p>
            <a:pPr>
              <a:defRPr sz="2250" b="0">
                <a:solidFill>
                  <a:srgbClr val="000000"/>
                </a:solidFill>
                <a:latin typeface="Calibri"/>
                <a:ea typeface="Calibri"/>
                <a:cs typeface="Calibri"/>
              </a:defRPr>
            </a:pPr>
            <a:r>
              <a:rPr sz="2250" b="0">
                <a:solidFill>
                  <a:srgbClr val="000000"/>
                </a:solidFill>
                <a:latin typeface="Calibri"/>
                <a:ea typeface="Calibri"/>
                <a:cs typeface="Calibri"/>
              </a:rPr>
              <a:t>Return member IDs paired with every tool ID in S.</a:t>
            </a:r>
          </a:p>
        </p:txBody>
      </p:sp>
      <p:sp>
        <p:nvSpPr>
          <p:cNvPr id="6" name="body">
            <a:extLst>
              <a:ext uri="{FF2B5EF4-FFF2-40B4-BE49-F238E27FC236}">
                <a16:creationId xmlns:a16="http://schemas.microsoft.com/office/drawing/2014/main" id="{4D6D42EC-A118-492C-BC5B-FA12B49CCD2D}"/>
              </a:ext>
            </a:extLst>
          </p:cNvPr>
          <p:cNvSpPr>
            <a:spLocks noGrp="1"/>
          </p:cNvSpPr>
          <p:nvPr/>
        </p:nvSpPr>
        <p:spPr>
          <a:xfrm>
            <a:off x="781050" y="2933700"/>
            <a:ext cx="219075" cy="400050"/>
          </a:xfrm>
          <a:prstGeom prst="rect">
            <a:avLst/>
          </a:prstGeom>
          <a:noFill/>
          <a:ln w="0">
            <a:noFill/>
          </a:ln>
        </p:spPr>
        <p:txBody>
          <a:bodyPr wrap="square" lIns="0" tIns="0" rIns="0" bIns="0">
            <a:noAutofit/>
          </a:bodyPr>
          <a:lstStyle/>
          <a:p>
            <a:pPr>
              <a:defRPr sz="2250" b="0">
                <a:solidFill>
                  <a:srgbClr val="000000"/>
                </a:solidFill>
                <a:latin typeface="Calibri"/>
                <a:ea typeface="Calibri"/>
                <a:cs typeface="Calibri"/>
              </a:defRPr>
            </a:pPr>
            <a:r>
              <a:rPr sz="2250" b="0">
                <a:solidFill>
                  <a:srgbClr val="000000"/>
                </a:solidFill>
                <a:latin typeface="Calibri"/>
                <a:ea typeface="Calibri"/>
                <a:cs typeface="Calibri"/>
              </a:rPr>
              <a:t>•</a:t>
            </a:r>
          </a:p>
        </p:txBody>
      </p:sp>
      <p:sp>
        <p:nvSpPr>
          <p:cNvPr id="7" name="body">
            <a:extLst>
              <a:ext uri="{FF2B5EF4-FFF2-40B4-BE49-F238E27FC236}">
                <a16:creationId xmlns:a16="http://schemas.microsoft.com/office/drawing/2014/main" id="{D24B00FE-DF51-41E4-9180-A7F1AF3C5E19}"/>
              </a:ext>
            </a:extLst>
          </p:cNvPr>
          <p:cNvSpPr>
            <a:spLocks noGrp="1"/>
          </p:cNvSpPr>
          <p:nvPr/>
        </p:nvSpPr>
        <p:spPr>
          <a:xfrm>
            <a:off x="1104900" y="2933700"/>
            <a:ext cx="7239000" cy="952500"/>
          </a:xfrm>
          <a:prstGeom prst="rect">
            <a:avLst/>
          </a:prstGeom>
          <a:noFill/>
          <a:ln w="0">
            <a:noFill/>
          </a:ln>
        </p:spPr>
        <p:txBody>
          <a:bodyPr wrap="square" lIns="0" tIns="0" rIns="0" bIns="0">
            <a:noAutofit/>
          </a:bodyPr>
          <a:lstStyle/>
          <a:p>
            <a:pPr>
              <a:defRPr sz="2250" b="0">
                <a:solidFill>
                  <a:srgbClr val="000000"/>
                </a:solidFill>
                <a:latin typeface="Calibri"/>
                <a:ea typeface="Calibri"/>
                <a:cs typeface="Calibri"/>
              </a:defRPr>
            </a:pPr>
            <a:r>
              <a:rPr sz="2250" b="0">
                <a:solidFill>
                  <a:srgbClr val="000000"/>
                </a:solidFill>
                <a:latin typeface="Calibri"/>
                <a:ea typeface="Calibri"/>
                <a:cs typeface="Calibri"/>
              </a:rPr>
              <a:t>The output attributes are those in R but not in S.</a:t>
            </a:r>
          </a:p>
        </p:txBody>
      </p:sp>
      <p:sp>
        <p:nvSpPr>
          <p:cNvPr id="8" name="body">
            <a:extLst>
              <a:ext uri="{FF2B5EF4-FFF2-40B4-BE49-F238E27FC236}">
                <a16:creationId xmlns:a16="http://schemas.microsoft.com/office/drawing/2014/main" id="{53177C5A-E6D7-4DB5-A499-0780A04AAFF2}"/>
              </a:ext>
            </a:extLst>
          </p:cNvPr>
          <p:cNvSpPr>
            <a:spLocks noGrp="1"/>
          </p:cNvSpPr>
          <p:nvPr/>
        </p:nvSpPr>
        <p:spPr>
          <a:xfrm>
            <a:off x="781050" y="3800475"/>
            <a:ext cx="219075" cy="400050"/>
          </a:xfrm>
          <a:prstGeom prst="rect">
            <a:avLst/>
          </a:prstGeom>
          <a:noFill/>
          <a:ln w="0">
            <a:noFill/>
          </a:ln>
        </p:spPr>
        <p:txBody>
          <a:bodyPr wrap="square" lIns="0" tIns="0" rIns="0" bIns="0">
            <a:noAutofit/>
          </a:bodyPr>
          <a:lstStyle/>
          <a:p>
            <a:pPr>
              <a:defRPr sz="2250" b="0">
                <a:solidFill>
                  <a:srgbClr val="000000"/>
                </a:solidFill>
                <a:latin typeface="Calibri"/>
                <a:ea typeface="Calibri"/>
                <a:cs typeface="Calibri"/>
              </a:defRPr>
            </a:pPr>
            <a:r>
              <a:rPr sz="2250" b="0">
                <a:solidFill>
                  <a:srgbClr val="000000"/>
                </a:solidFill>
                <a:latin typeface="Calibri"/>
                <a:ea typeface="Calibri"/>
                <a:cs typeface="Calibri"/>
              </a:rPr>
              <a:t>•</a:t>
            </a:r>
          </a:p>
        </p:txBody>
      </p:sp>
      <p:sp>
        <p:nvSpPr>
          <p:cNvPr id="9" name="body">
            <a:extLst>
              <a:ext uri="{FF2B5EF4-FFF2-40B4-BE49-F238E27FC236}">
                <a16:creationId xmlns:a16="http://schemas.microsoft.com/office/drawing/2014/main" id="{D30FFE5A-AB00-4987-B714-397D07E5E833}"/>
              </a:ext>
            </a:extLst>
          </p:cNvPr>
          <p:cNvSpPr>
            <a:spLocks noGrp="1"/>
          </p:cNvSpPr>
          <p:nvPr/>
        </p:nvSpPr>
        <p:spPr>
          <a:xfrm>
            <a:off x="1104900" y="3800475"/>
            <a:ext cx="7239000" cy="952500"/>
          </a:xfrm>
          <a:prstGeom prst="rect">
            <a:avLst/>
          </a:prstGeom>
          <a:noFill/>
          <a:ln w="0">
            <a:noFill/>
          </a:ln>
        </p:spPr>
        <p:txBody>
          <a:bodyPr wrap="square" lIns="0" tIns="0" rIns="0" bIns="0">
            <a:noAutofit/>
          </a:bodyPr>
          <a:lstStyle/>
          <a:p>
            <a:pPr>
              <a:defRPr sz="2250" b="0">
                <a:solidFill>
                  <a:srgbClr val="000000"/>
                </a:solidFill>
                <a:latin typeface="Calibri"/>
                <a:ea typeface="Calibri"/>
                <a:cs typeface="Calibri"/>
              </a:defRPr>
            </a:pPr>
            <a:r>
              <a:rPr sz="2250" b="0">
                <a:solidFill>
                  <a:srgbClr val="000000"/>
                </a:solidFill>
                <a:latin typeface="Calibri"/>
                <a:ea typeface="Calibri"/>
                <a:cs typeface="Calibri"/>
              </a:rPr>
              <a:t>Extra tool IDs in R do not disqualify a member.</a:t>
            </a:r>
          </a:p>
        </p:txBody>
      </p:sp>
      <p:sp>
        <p:nvSpPr>
          <p:cNvPr id="10" name="body">
            <a:extLst>
              <a:ext uri="{FF2B5EF4-FFF2-40B4-BE49-F238E27FC236}">
                <a16:creationId xmlns:a16="http://schemas.microsoft.com/office/drawing/2014/main" id="{692C1F67-515D-4B3F-8AAA-01C6178AFBA1}"/>
              </a:ext>
            </a:extLst>
          </p:cNvPr>
          <p:cNvSpPr>
            <a:spLocks noGrp="1"/>
          </p:cNvSpPr>
          <p:nvPr/>
        </p:nvSpPr>
        <p:spPr>
          <a:xfrm>
            <a:off x="781050" y="4848225"/>
            <a:ext cx="7600950" cy="952500"/>
          </a:xfrm>
          <a:prstGeom prst="rect">
            <a:avLst/>
          </a:prstGeom>
          <a:noFill/>
          <a:ln w="0">
            <a:noFill/>
          </a:ln>
        </p:spPr>
        <p:txBody>
          <a:bodyPr wrap="square" lIns="0" tIns="0" rIns="0" bIns="0">
            <a:noAutofit/>
          </a:bodyPr>
          <a:lstStyle/>
          <a:p>
            <a:pPr>
              <a:defRPr sz="2175" b="0">
                <a:solidFill>
                  <a:srgbClr val="FF0000"/>
                </a:solidFill>
                <a:latin typeface="Calibri"/>
                <a:ea typeface="Calibri"/>
                <a:cs typeface="Calibri"/>
              </a:defRPr>
            </a:pPr>
            <a:r>
              <a:rPr sz="2175" b="0">
                <a:solidFill>
                  <a:srgbClr val="FF0000"/>
                </a:solidFill>
                <a:latin typeface="Calibri"/>
                <a:ea typeface="Calibri"/>
                <a:cs typeface="Calibri"/>
              </a:rPr>
              <a:t>Use IDs to identify members. A name may belong to more than one person.</a:t>
            </a:r>
          </a:p>
        </p:txBody>
      </p:sp>
      <p:sp>
        <p:nvSpPr>
          <p:cNvPr id="9001" name="Title 1">
            <a:extLst>
              <a:ext uri="{FF2B5EF4-FFF2-40B4-BE49-F238E27FC236}">
                <a16:creationId xmlns:a16="http://schemas.microsoft.com/office/drawing/2014/main" id="{4EF27E5C-9C4D-BDBE-7667-D0B141BCC8F5}"/>
              </a:ext>
            </a:extLst>
          </p:cNvPr>
          <p:cNvSpPr>
            <a:spLocks noGrp="1"/>
          </p:cNvSpPr>
          <p:nvPr>
            <p:ph type="title"/>
          </p:nvPr>
        </p:nvSpPr>
        <p:spPr/>
        <p:txBody>
          <a:bodyPr/>
          <a:lstStyle/>
          <a:p>
            <a:r>
              <a:rPr lang="en-US">
                <a:solidFill>
                  <a:srgbClr val="3333CC"/>
                </a:solidFill>
              </a:rPr>
              <a:t>Division (/)</a:t>
            </a:r>
          </a:p>
        </p:txBody>
      </p:sp>
      <p:sp>
        <p:nvSpPr>
          <p:cNvPr id="9002" name="Slide Number Placeholder 1">
            <a:extLst>
              <a:ext uri="{FF2B5EF4-FFF2-40B4-BE49-F238E27FC236}">
                <a16:creationId xmlns:a16="http://schemas.microsoft.com/office/drawing/2014/main" id="{B90139AC-3BDA-723A-097A-000DA0A784C1}"/>
              </a:ext>
            </a:extLst>
          </p:cNvPr>
          <p:cNvSpPr>
            <a:spLocks noGrp="1"/>
          </p:cNvSpPr>
          <p:nvPr>
            <p:ph type="sldNum" sz="quarter" idx="12"/>
          </p:nvPr>
        </p:nvSpPr>
        <p:spPr/>
        <p:txBody>
          <a:bodyPr/>
          <a:lstStyle/>
          <a:p>
            <a:pPr>
              <a:defRPr/>
            </a:pPr>
            <a:fld id="{43CA101F-9E5F-9249-9862-3CE55B3BB777}" type="slidenum">
              <a:rPr lang="en-US" altLang="zh-TW" smtClean="0"/>
              <a:pPr>
                <a:defRPr/>
              </a:pPr>
              <a:t>60</a:t>
            </a:fld>
            <a:endParaRPr lang="en-US" altLang="zh-TW"/>
          </a:p>
        </p:txBody>
      </p:sp>
    </p:spTree>
    <p:extLst>
      <p:ext uri="{BB962C8B-B14F-4D97-AF65-F5344CB8AC3E}">
        <p14:creationId xmlns:p14="http://schemas.microsoft.com/office/powerpoint/2010/main" val="422266729"/>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body">
            <a:extLst>
              <a:ext uri="{FF2B5EF4-FFF2-40B4-BE49-F238E27FC236}">
                <a16:creationId xmlns:a16="http://schemas.microsoft.com/office/drawing/2014/main" id="{3D66D59B-3A98-452F-BD05-6BD659B7CBC4}"/>
              </a:ext>
            </a:extLst>
          </p:cNvPr>
          <p:cNvSpPr>
            <a:spLocks noGrp="1"/>
          </p:cNvSpPr>
          <p:nvPr/>
        </p:nvSpPr>
        <p:spPr>
          <a:xfrm>
            <a:off x="800100" y="1057275"/>
            <a:ext cx="2952750" cy="361950"/>
          </a:xfrm>
          <a:prstGeom prst="rect">
            <a:avLst/>
          </a:prstGeom>
          <a:noFill/>
          <a:ln w="0">
            <a:noFill/>
          </a:ln>
        </p:spPr>
        <p:txBody>
          <a:bodyPr wrap="square" lIns="0" tIns="0" rIns="0" bIns="0">
            <a:noAutofit/>
          </a:bodyPr>
          <a:lstStyle/>
          <a:p>
            <a:pPr>
              <a:defRPr sz="2250" b="0">
                <a:solidFill>
                  <a:srgbClr val="000000"/>
                </a:solidFill>
                <a:latin typeface="Calibri"/>
                <a:ea typeface="Calibri"/>
                <a:cs typeface="Calibri"/>
              </a:defRPr>
            </a:pPr>
            <a:r>
              <a:rPr sz="2250" b="0">
                <a:solidFill>
                  <a:srgbClr val="000000"/>
                </a:solidFill>
                <a:latin typeface="Calibri"/>
                <a:ea typeface="Calibri"/>
                <a:cs typeface="Calibri"/>
              </a:rPr>
              <a:t>Member</a:t>
            </a:r>
          </a:p>
        </p:txBody>
      </p:sp>
      <p:graphicFrame>
        <p:nvGraphicFramePr>
          <p:cNvPr id="14" name="表格 13"/>
          <p:cNvGraphicFramePr/>
          <p:nvPr/>
        </p:nvGraphicFramePr>
        <p:xfrm>
          <a:off x="876300" y="1476375"/>
          <a:ext cx="2952750" cy="1714500"/>
        </p:xfrm>
        <a:graphic>
          <a:graphicData uri="http://schemas.openxmlformats.org/drawingml/2006/table">
            <a:tbl>
              <a:tblPr/>
              <a:tblGrid>
                <a:gridCol w="1476375">
                  <a:extLst>
                    <a:ext uri="{9D8B030D-6E8A-4147-A177-3AD203B41FA5}">
                      <a16:colId xmlns:a16="http://schemas.microsoft.com/office/drawing/2014/main" val="20000"/>
                    </a:ext>
                  </a:extLst>
                </a:gridCol>
                <a:gridCol w="1476375">
                  <a:extLst>
                    <a:ext uri="{9D8B030D-6E8A-4147-A177-3AD203B41FA5}">
                      <a16:colId xmlns:a16="http://schemas.microsoft.com/office/drawing/2014/main" val="20001"/>
                    </a:ext>
                  </a:extLst>
                </a:gridCol>
              </a:tblGrid>
              <a:tr h="342900">
                <a:tc>
                  <a:txBody>
                    <a:bodyPr/>
                    <a:lstStyle/>
                    <a:p>
                      <a:pPr algn="ctr"/>
                      <a:r>
                        <a:rPr sz="1800">
                          <a:solidFill>
                            <a:srgbClr val="000000"/>
                          </a:solidFill>
                          <a:latin typeface="Calibri"/>
                          <a:ea typeface="Calibri"/>
                          <a:cs typeface="Calibri"/>
                        </a:rPr>
                        <a:t>mid</a:t>
                      </a:r>
                    </a:p>
                  </a:txBody>
                  <a:tcPr marL="47625" marR="47625" marT="28575" marB="28575" anchor="ctr">
                    <a:solidFill>
                      <a:srgbClr val="D9D9D9"/>
                    </a:solidFill>
                  </a:tcPr>
                </a:tc>
                <a:tc>
                  <a:txBody>
                    <a:bodyPr/>
                    <a:lstStyle/>
                    <a:p>
                      <a:pPr algn="ctr"/>
                      <a:r>
                        <a:rPr sz="1800">
                          <a:solidFill>
                            <a:srgbClr val="000000"/>
                          </a:solidFill>
                          <a:latin typeface="Calibri"/>
                          <a:ea typeface="Calibri"/>
                          <a:cs typeface="Calibri"/>
                        </a:rPr>
                        <a:t>mname</a:t>
                      </a:r>
                    </a:p>
                  </a:txBody>
                  <a:tcPr marL="47625" marR="47625" marT="28575" marB="28575" anchor="ctr">
                    <a:solidFill>
                      <a:srgbClr val="D9D9D9"/>
                    </a:solidFill>
                  </a:tcPr>
                </a:tc>
                <a:extLst>
                  <a:ext uri="{0D108BD9-81ED-4DB2-BD59-A6C34878D82A}">
                    <a16:rowId xmlns:a16="http://schemas.microsoft.com/office/drawing/2014/main" val="10000"/>
                  </a:ext>
                </a:extLst>
              </a:tr>
              <a:tr h="342900">
                <a:tc>
                  <a:txBody>
                    <a:bodyPr/>
                    <a:lstStyle/>
                    <a:p>
                      <a:pPr algn="ctr"/>
                      <a:r>
                        <a:rPr sz="1800">
                          <a:solidFill>
                            <a:srgbClr val="000000"/>
                          </a:solidFill>
                          <a:latin typeface="Calibri"/>
                          <a:ea typeface="Calibri"/>
                          <a:cs typeface="Calibri"/>
                        </a:rPr>
                        <a:t>M1</a:t>
                      </a:r>
                    </a:p>
                  </a:txBody>
                  <a:tcPr marL="47625" marR="47625" marT="28575" marB="28575" anchor="ctr">
                    <a:solidFill>
                      <a:srgbClr val="FFFFFF"/>
                    </a:solidFill>
                  </a:tcPr>
                </a:tc>
                <a:tc>
                  <a:txBody>
                    <a:bodyPr/>
                    <a:lstStyle/>
                    <a:p>
                      <a:pPr algn="ctr"/>
                      <a:r>
                        <a:rPr sz="1800">
                          <a:solidFill>
                            <a:srgbClr val="000000"/>
                          </a:solidFill>
                          <a:latin typeface="Calibri"/>
                          <a:ea typeface="Calibri"/>
                          <a:cs typeface="Calibri"/>
                        </a:rPr>
                        <a:t>Alex</a:t>
                      </a:r>
                    </a:p>
                  </a:txBody>
                  <a:tcPr marL="47625" marR="47625" marT="28575" marB="28575" anchor="ctr">
                    <a:solidFill>
                      <a:srgbClr val="FFFFFF"/>
                    </a:solidFill>
                  </a:tcPr>
                </a:tc>
                <a:extLst>
                  <a:ext uri="{0D108BD9-81ED-4DB2-BD59-A6C34878D82A}">
                    <a16:rowId xmlns:a16="http://schemas.microsoft.com/office/drawing/2014/main" val="10001"/>
                  </a:ext>
                </a:extLst>
              </a:tr>
              <a:tr h="342900">
                <a:tc>
                  <a:txBody>
                    <a:bodyPr/>
                    <a:lstStyle/>
                    <a:p>
                      <a:pPr algn="ctr"/>
                      <a:r>
                        <a:rPr sz="1800">
                          <a:solidFill>
                            <a:srgbClr val="000000"/>
                          </a:solidFill>
                          <a:latin typeface="Calibri"/>
                          <a:ea typeface="Calibri"/>
                          <a:cs typeface="Calibri"/>
                        </a:rPr>
                        <a:t>M2</a:t>
                      </a:r>
                    </a:p>
                  </a:txBody>
                  <a:tcPr marL="47625" marR="47625" marT="28575" marB="28575" anchor="ctr">
                    <a:solidFill>
                      <a:srgbClr val="FFFFFF"/>
                    </a:solidFill>
                  </a:tcPr>
                </a:tc>
                <a:tc>
                  <a:txBody>
                    <a:bodyPr/>
                    <a:lstStyle/>
                    <a:p>
                      <a:pPr algn="ctr"/>
                      <a:r>
                        <a:rPr sz="1800">
                          <a:solidFill>
                            <a:srgbClr val="000000"/>
                          </a:solidFill>
                          <a:latin typeface="Calibri"/>
                          <a:ea typeface="Calibri"/>
                          <a:cs typeface="Calibri"/>
                        </a:rPr>
                        <a:t>Mei</a:t>
                      </a:r>
                    </a:p>
                  </a:txBody>
                  <a:tcPr marL="47625" marR="47625" marT="28575" marB="28575" anchor="ctr">
                    <a:solidFill>
                      <a:srgbClr val="FFFFFF"/>
                    </a:solidFill>
                  </a:tcPr>
                </a:tc>
                <a:extLst>
                  <a:ext uri="{0D108BD9-81ED-4DB2-BD59-A6C34878D82A}">
                    <a16:rowId xmlns:a16="http://schemas.microsoft.com/office/drawing/2014/main" val="10002"/>
                  </a:ext>
                </a:extLst>
              </a:tr>
              <a:tr h="342900">
                <a:tc>
                  <a:txBody>
                    <a:bodyPr/>
                    <a:lstStyle/>
                    <a:p>
                      <a:pPr algn="ctr"/>
                      <a:r>
                        <a:rPr sz="1800">
                          <a:solidFill>
                            <a:srgbClr val="000000"/>
                          </a:solidFill>
                          <a:latin typeface="Calibri"/>
                          <a:ea typeface="Calibri"/>
                          <a:cs typeface="Calibri"/>
                        </a:rPr>
                        <a:t>M3</a:t>
                      </a:r>
                    </a:p>
                  </a:txBody>
                  <a:tcPr marL="47625" marR="47625" marT="28575" marB="28575" anchor="ctr">
                    <a:solidFill>
                      <a:srgbClr val="FFFFFF"/>
                    </a:solidFill>
                  </a:tcPr>
                </a:tc>
                <a:tc>
                  <a:txBody>
                    <a:bodyPr/>
                    <a:lstStyle/>
                    <a:p>
                      <a:pPr algn="ctr"/>
                      <a:r>
                        <a:rPr sz="1800">
                          <a:solidFill>
                            <a:srgbClr val="000000"/>
                          </a:solidFill>
                          <a:latin typeface="Calibri"/>
                          <a:ea typeface="Calibri"/>
                          <a:cs typeface="Calibri"/>
                        </a:rPr>
                        <a:t>Alex</a:t>
                      </a:r>
                    </a:p>
                  </a:txBody>
                  <a:tcPr marL="47625" marR="47625" marT="28575" marB="28575" anchor="ctr">
                    <a:solidFill>
                      <a:srgbClr val="FFFFFF"/>
                    </a:solidFill>
                  </a:tcPr>
                </a:tc>
                <a:extLst>
                  <a:ext uri="{0D108BD9-81ED-4DB2-BD59-A6C34878D82A}">
                    <a16:rowId xmlns:a16="http://schemas.microsoft.com/office/drawing/2014/main" val="10003"/>
                  </a:ext>
                </a:extLst>
              </a:tr>
              <a:tr h="342900">
                <a:tc>
                  <a:txBody>
                    <a:bodyPr/>
                    <a:lstStyle/>
                    <a:p>
                      <a:pPr algn="ctr"/>
                      <a:r>
                        <a:rPr sz="1800">
                          <a:solidFill>
                            <a:srgbClr val="000000"/>
                          </a:solidFill>
                          <a:latin typeface="Calibri"/>
                          <a:ea typeface="Calibri"/>
                          <a:cs typeface="Calibri"/>
                        </a:rPr>
                        <a:t>M4</a:t>
                      </a:r>
                    </a:p>
                  </a:txBody>
                  <a:tcPr marL="47625" marR="47625" marT="28575" marB="28575" anchor="ctr">
                    <a:solidFill>
                      <a:srgbClr val="FFFFFF"/>
                    </a:solidFill>
                  </a:tcPr>
                </a:tc>
                <a:tc>
                  <a:txBody>
                    <a:bodyPr/>
                    <a:lstStyle/>
                    <a:p>
                      <a:pPr algn="ctr"/>
                      <a:r>
                        <a:rPr sz="1800">
                          <a:solidFill>
                            <a:srgbClr val="000000"/>
                          </a:solidFill>
                          <a:latin typeface="Calibri"/>
                          <a:ea typeface="Calibri"/>
                          <a:cs typeface="Calibri"/>
                        </a:rPr>
                        <a:t>Noor</a:t>
                      </a:r>
                    </a:p>
                  </a:txBody>
                  <a:tcPr marL="47625" marR="47625" marT="28575" marB="28575" anchor="ctr">
                    <a:solidFill>
                      <a:srgbClr val="FFFFFF"/>
                    </a:solidFill>
                  </a:tcPr>
                </a:tc>
                <a:extLst>
                  <a:ext uri="{0D108BD9-81ED-4DB2-BD59-A6C34878D82A}">
                    <a16:rowId xmlns:a16="http://schemas.microsoft.com/office/drawing/2014/main" val="10004"/>
                  </a:ext>
                </a:extLst>
              </a:tr>
            </a:tbl>
          </a:graphicData>
        </a:graphic>
      </p:graphicFrame>
      <p:sp>
        <p:nvSpPr>
          <p:cNvPr id="5" name="body">
            <a:extLst>
              <a:ext uri="{FF2B5EF4-FFF2-40B4-BE49-F238E27FC236}">
                <a16:creationId xmlns:a16="http://schemas.microsoft.com/office/drawing/2014/main" id="{A6602764-9CBA-4DFE-92B5-A031C14C6EA2}"/>
              </a:ext>
            </a:extLst>
          </p:cNvPr>
          <p:cNvSpPr>
            <a:spLocks noGrp="1"/>
          </p:cNvSpPr>
          <p:nvPr/>
        </p:nvSpPr>
        <p:spPr>
          <a:xfrm>
            <a:off x="800100" y="3457575"/>
            <a:ext cx="2952750" cy="361950"/>
          </a:xfrm>
          <a:prstGeom prst="rect">
            <a:avLst/>
          </a:prstGeom>
          <a:noFill/>
          <a:ln w="0">
            <a:noFill/>
          </a:ln>
        </p:spPr>
        <p:txBody>
          <a:bodyPr wrap="square" lIns="0" tIns="0" rIns="0" bIns="0">
            <a:noAutofit/>
          </a:bodyPr>
          <a:lstStyle/>
          <a:p>
            <a:pPr>
              <a:defRPr sz="2250" b="0">
                <a:solidFill>
                  <a:srgbClr val="000000"/>
                </a:solidFill>
                <a:latin typeface="Calibri"/>
                <a:ea typeface="Calibri"/>
                <a:cs typeface="Calibri"/>
              </a:defRPr>
            </a:pPr>
            <a:r>
              <a:rPr sz="2250" b="0">
                <a:solidFill>
                  <a:srgbClr val="000000"/>
                </a:solidFill>
                <a:latin typeface="Calibri"/>
                <a:ea typeface="Calibri"/>
                <a:cs typeface="Calibri"/>
              </a:rPr>
              <a:t>Tool</a:t>
            </a:r>
          </a:p>
        </p:txBody>
      </p:sp>
      <p:graphicFrame>
        <p:nvGraphicFramePr>
          <p:cNvPr id="16" name="表格 15"/>
          <p:cNvGraphicFramePr/>
          <p:nvPr/>
        </p:nvGraphicFramePr>
        <p:xfrm>
          <a:off x="876300" y="3876675"/>
          <a:ext cx="2952750" cy="1447800"/>
        </p:xfrm>
        <a:graphic>
          <a:graphicData uri="http://schemas.openxmlformats.org/drawingml/2006/table">
            <a:tbl>
              <a:tblPr/>
              <a:tblGrid>
                <a:gridCol w="1476375">
                  <a:extLst>
                    <a:ext uri="{9D8B030D-6E8A-4147-A177-3AD203B41FA5}">
                      <a16:colId xmlns:a16="http://schemas.microsoft.com/office/drawing/2014/main" val="20000"/>
                    </a:ext>
                  </a:extLst>
                </a:gridCol>
                <a:gridCol w="1476375">
                  <a:extLst>
                    <a:ext uri="{9D8B030D-6E8A-4147-A177-3AD203B41FA5}">
                      <a16:colId xmlns:a16="http://schemas.microsoft.com/office/drawing/2014/main" val="20001"/>
                    </a:ext>
                  </a:extLst>
                </a:gridCol>
              </a:tblGrid>
              <a:tr h="361950">
                <a:tc>
                  <a:txBody>
                    <a:bodyPr/>
                    <a:lstStyle/>
                    <a:p>
                      <a:pPr algn="ctr"/>
                      <a:r>
                        <a:rPr sz="1800">
                          <a:solidFill>
                            <a:srgbClr val="000000"/>
                          </a:solidFill>
                          <a:latin typeface="Calibri"/>
                          <a:ea typeface="Calibri"/>
                          <a:cs typeface="Calibri"/>
                        </a:rPr>
                        <a:t>tid</a:t>
                      </a:r>
                    </a:p>
                  </a:txBody>
                  <a:tcPr marL="47625" marR="47625" marT="28575" marB="28575" anchor="ctr">
                    <a:solidFill>
                      <a:srgbClr val="D9D9D9"/>
                    </a:solidFill>
                  </a:tcPr>
                </a:tc>
                <a:tc>
                  <a:txBody>
                    <a:bodyPr/>
                    <a:lstStyle/>
                    <a:p>
                      <a:pPr algn="ctr"/>
                      <a:r>
                        <a:rPr sz="1800">
                          <a:solidFill>
                            <a:srgbClr val="000000"/>
                          </a:solidFill>
                          <a:latin typeface="Calibri"/>
                          <a:ea typeface="Calibri"/>
                          <a:cs typeface="Calibri"/>
                        </a:rPr>
                        <a:t>category</a:t>
                      </a:r>
                    </a:p>
                  </a:txBody>
                  <a:tcPr marL="47625" marR="47625" marT="28575" marB="28575" anchor="ctr">
                    <a:solidFill>
                      <a:srgbClr val="D9D9D9"/>
                    </a:solidFill>
                  </a:tcPr>
                </a:tc>
                <a:extLst>
                  <a:ext uri="{0D108BD9-81ED-4DB2-BD59-A6C34878D82A}">
                    <a16:rowId xmlns:a16="http://schemas.microsoft.com/office/drawing/2014/main" val="10000"/>
                  </a:ext>
                </a:extLst>
              </a:tr>
              <a:tr h="361950">
                <a:tc>
                  <a:txBody>
                    <a:bodyPr/>
                    <a:lstStyle/>
                    <a:p>
                      <a:pPr algn="ctr"/>
                      <a:r>
                        <a:rPr sz="1800">
                          <a:solidFill>
                            <a:srgbClr val="000000"/>
                          </a:solidFill>
                          <a:latin typeface="Calibri"/>
                          <a:ea typeface="Calibri"/>
                          <a:cs typeface="Calibri"/>
                        </a:rPr>
                        <a:t>T1</a:t>
                      </a:r>
                    </a:p>
                  </a:txBody>
                  <a:tcPr marL="47625" marR="47625" marT="28575" marB="28575" anchor="ctr">
                    <a:solidFill>
                      <a:srgbClr val="FFFFFF"/>
                    </a:solidFill>
                  </a:tcPr>
                </a:tc>
                <a:tc>
                  <a:txBody>
                    <a:bodyPr/>
                    <a:lstStyle/>
                    <a:p>
                      <a:pPr algn="ctr"/>
                      <a:r>
                        <a:rPr sz="1800">
                          <a:solidFill>
                            <a:srgbClr val="000000"/>
                          </a:solidFill>
                          <a:latin typeface="Calibri"/>
                          <a:ea typeface="Calibri"/>
                          <a:cs typeface="Calibri"/>
                        </a:rPr>
                        <a:t>Laser</a:t>
                      </a:r>
                    </a:p>
                  </a:txBody>
                  <a:tcPr marL="47625" marR="47625" marT="28575" marB="28575" anchor="ctr">
                    <a:solidFill>
                      <a:srgbClr val="FFFFFF"/>
                    </a:solidFill>
                  </a:tcPr>
                </a:tc>
                <a:extLst>
                  <a:ext uri="{0D108BD9-81ED-4DB2-BD59-A6C34878D82A}">
                    <a16:rowId xmlns:a16="http://schemas.microsoft.com/office/drawing/2014/main" val="10001"/>
                  </a:ext>
                </a:extLst>
              </a:tr>
              <a:tr h="361950">
                <a:tc>
                  <a:txBody>
                    <a:bodyPr/>
                    <a:lstStyle/>
                    <a:p>
                      <a:pPr algn="ctr"/>
                      <a:r>
                        <a:rPr sz="1800">
                          <a:solidFill>
                            <a:srgbClr val="000000"/>
                          </a:solidFill>
                          <a:latin typeface="Calibri"/>
                          <a:ea typeface="Calibri"/>
                          <a:cs typeface="Calibri"/>
                        </a:rPr>
                        <a:t>T2</a:t>
                      </a:r>
                    </a:p>
                  </a:txBody>
                  <a:tcPr marL="47625" marR="47625" marT="28575" marB="28575" anchor="ctr">
                    <a:solidFill>
                      <a:srgbClr val="FFFFFF"/>
                    </a:solidFill>
                  </a:tcPr>
                </a:tc>
                <a:tc>
                  <a:txBody>
                    <a:bodyPr/>
                    <a:lstStyle/>
                    <a:p>
                      <a:pPr algn="ctr"/>
                      <a:r>
                        <a:rPr sz="1800">
                          <a:solidFill>
                            <a:srgbClr val="000000"/>
                          </a:solidFill>
                          <a:latin typeface="Calibri"/>
                          <a:ea typeface="Calibri"/>
                          <a:cs typeface="Calibri"/>
                        </a:rPr>
                        <a:t>Laser</a:t>
                      </a:r>
                    </a:p>
                  </a:txBody>
                  <a:tcPr marL="47625" marR="47625" marT="28575" marB="28575" anchor="ctr">
                    <a:solidFill>
                      <a:srgbClr val="FFFFFF"/>
                    </a:solidFill>
                  </a:tcPr>
                </a:tc>
                <a:extLst>
                  <a:ext uri="{0D108BD9-81ED-4DB2-BD59-A6C34878D82A}">
                    <a16:rowId xmlns:a16="http://schemas.microsoft.com/office/drawing/2014/main" val="10002"/>
                  </a:ext>
                </a:extLst>
              </a:tr>
              <a:tr h="361950">
                <a:tc>
                  <a:txBody>
                    <a:bodyPr/>
                    <a:lstStyle/>
                    <a:p>
                      <a:pPr algn="ctr"/>
                      <a:r>
                        <a:rPr sz="1800">
                          <a:solidFill>
                            <a:srgbClr val="000000"/>
                          </a:solidFill>
                          <a:latin typeface="Calibri"/>
                          <a:ea typeface="Calibri"/>
                          <a:cs typeface="Calibri"/>
                        </a:rPr>
                        <a:t>T3</a:t>
                      </a:r>
                    </a:p>
                  </a:txBody>
                  <a:tcPr marL="47625" marR="47625" marT="28575" marB="28575" anchor="ctr">
                    <a:solidFill>
                      <a:srgbClr val="FFFFFF"/>
                    </a:solidFill>
                  </a:tcPr>
                </a:tc>
                <a:tc>
                  <a:txBody>
                    <a:bodyPr/>
                    <a:lstStyle/>
                    <a:p>
                      <a:pPr algn="ctr"/>
                      <a:r>
                        <a:rPr sz="1800">
                          <a:solidFill>
                            <a:srgbClr val="000000"/>
                          </a:solidFill>
                          <a:latin typeface="Calibri"/>
                          <a:ea typeface="Calibri"/>
                          <a:cs typeface="Calibri"/>
                        </a:rPr>
                        <a:t>CNC</a:t>
                      </a:r>
                    </a:p>
                  </a:txBody>
                  <a:tcPr marL="47625" marR="47625" marT="28575" marB="28575" anchor="ctr">
                    <a:solidFill>
                      <a:srgbClr val="FFFFFF"/>
                    </a:solidFill>
                  </a:tcPr>
                </a:tc>
                <a:extLst>
                  <a:ext uri="{0D108BD9-81ED-4DB2-BD59-A6C34878D82A}">
                    <a16:rowId xmlns:a16="http://schemas.microsoft.com/office/drawing/2014/main" val="10003"/>
                  </a:ext>
                </a:extLst>
              </a:tr>
            </a:tbl>
          </a:graphicData>
        </a:graphic>
      </p:graphicFrame>
      <p:sp>
        <p:nvSpPr>
          <p:cNvPr id="7" name="body">
            <a:extLst>
              <a:ext uri="{FF2B5EF4-FFF2-40B4-BE49-F238E27FC236}">
                <a16:creationId xmlns:a16="http://schemas.microsoft.com/office/drawing/2014/main" id="{1C787F84-E8F7-4D6C-806C-77C3C24C2686}"/>
              </a:ext>
            </a:extLst>
          </p:cNvPr>
          <p:cNvSpPr>
            <a:spLocks noGrp="1"/>
          </p:cNvSpPr>
          <p:nvPr/>
        </p:nvSpPr>
        <p:spPr>
          <a:xfrm>
            <a:off x="4371975" y="1057275"/>
            <a:ext cx="3857625" cy="361950"/>
          </a:xfrm>
          <a:prstGeom prst="rect">
            <a:avLst/>
          </a:prstGeom>
          <a:noFill/>
          <a:ln w="0">
            <a:noFill/>
          </a:ln>
        </p:spPr>
        <p:txBody>
          <a:bodyPr wrap="square" lIns="0" tIns="0" rIns="0" bIns="0">
            <a:noAutofit/>
          </a:bodyPr>
          <a:lstStyle/>
          <a:p>
            <a:pPr>
              <a:defRPr sz="2250" b="0">
                <a:solidFill>
                  <a:srgbClr val="000000"/>
                </a:solidFill>
                <a:latin typeface="Calibri"/>
                <a:ea typeface="Calibri"/>
                <a:cs typeface="Calibri"/>
              </a:defRPr>
            </a:pPr>
            <a:r>
              <a:rPr sz="2250" b="0">
                <a:solidFill>
                  <a:srgbClr val="000000"/>
                </a:solidFill>
                <a:latin typeface="Calibri"/>
                <a:ea typeface="Calibri"/>
                <a:cs typeface="Calibri"/>
              </a:rPr>
              <a:t>Trained</a:t>
            </a:r>
          </a:p>
        </p:txBody>
      </p:sp>
      <p:graphicFrame>
        <p:nvGraphicFramePr>
          <p:cNvPr id="18" name="表格 17"/>
          <p:cNvGraphicFramePr/>
          <p:nvPr/>
        </p:nvGraphicFramePr>
        <p:xfrm>
          <a:off x="4448175" y="1476375"/>
          <a:ext cx="3857625" cy="2600325"/>
        </p:xfrm>
        <a:graphic>
          <a:graphicData uri="http://schemas.openxmlformats.org/drawingml/2006/table">
            <a:tbl>
              <a:tblPr/>
              <a:tblGrid>
                <a:gridCol w="1285875">
                  <a:extLst>
                    <a:ext uri="{9D8B030D-6E8A-4147-A177-3AD203B41FA5}">
                      <a16:colId xmlns:a16="http://schemas.microsoft.com/office/drawing/2014/main" val="20000"/>
                    </a:ext>
                  </a:extLst>
                </a:gridCol>
                <a:gridCol w="1285875">
                  <a:extLst>
                    <a:ext uri="{9D8B030D-6E8A-4147-A177-3AD203B41FA5}">
                      <a16:colId xmlns:a16="http://schemas.microsoft.com/office/drawing/2014/main" val="20001"/>
                    </a:ext>
                  </a:extLst>
                </a:gridCol>
                <a:gridCol w="1285875">
                  <a:extLst>
                    <a:ext uri="{9D8B030D-6E8A-4147-A177-3AD203B41FA5}">
                      <a16:colId xmlns:a16="http://schemas.microsoft.com/office/drawing/2014/main" val="20002"/>
                    </a:ext>
                  </a:extLst>
                </a:gridCol>
              </a:tblGrid>
              <a:tr h="371475">
                <a:tc>
                  <a:txBody>
                    <a:bodyPr/>
                    <a:lstStyle/>
                    <a:p>
                      <a:pPr algn="ctr"/>
                      <a:r>
                        <a:rPr sz="1725">
                          <a:solidFill>
                            <a:srgbClr val="000000"/>
                          </a:solidFill>
                          <a:latin typeface="Calibri"/>
                          <a:ea typeface="Calibri"/>
                          <a:cs typeface="Calibri"/>
                        </a:rPr>
                        <a:t>mid</a:t>
                      </a:r>
                    </a:p>
                  </a:txBody>
                  <a:tcPr marL="47625" marR="47625" marT="28575" marB="28575" anchor="ctr">
                    <a:solidFill>
                      <a:srgbClr val="D9D9D9"/>
                    </a:solidFill>
                  </a:tcPr>
                </a:tc>
                <a:tc>
                  <a:txBody>
                    <a:bodyPr/>
                    <a:lstStyle/>
                    <a:p>
                      <a:pPr algn="ctr"/>
                      <a:r>
                        <a:rPr sz="1725">
                          <a:solidFill>
                            <a:srgbClr val="000000"/>
                          </a:solidFill>
                          <a:latin typeface="Calibri"/>
                          <a:ea typeface="Calibri"/>
                          <a:cs typeface="Calibri"/>
                        </a:rPr>
                        <a:t>tid</a:t>
                      </a:r>
                    </a:p>
                  </a:txBody>
                  <a:tcPr marL="47625" marR="47625" marT="28575" marB="28575" anchor="ctr">
                    <a:solidFill>
                      <a:srgbClr val="D9D9D9"/>
                    </a:solidFill>
                  </a:tcPr>
                </a:tc>
                <a:tc>
                  <a:txBody>
                    <a:bodyPr/>
                    <a:lstStyle/>
                    <a:p>
                      <a:pPr algn="ctr"/>
                      <a:r>
                        <a:rPr sz="1725">
                          <a:solidFill>
                            <a:srgbClr val="000000"/>
                          </a:solidFill>
                          <a:latin typeface="Calibri"/>
                          <a:ea typeface="Calibri"/>
                          <a:cs typeface="Calibri"/>
                        </a:rPr>
                        <a:t>day</a:t>
                      </a:r>
                    </a:p>
                  </a:txBody>
                  <a:tcPr marL="47625" marR="47625" marT="28575" marB="28575" anchor="ctr">
                    <a:solidFill>
                      <a:srgbClr val="D9D9D9"/>
                    </a:solidFill>
                  </a:tcPr>
                </a:tc>
                <a:extLst>
                  <a:ext uri="{0D108BD9-81ED-4DB2-BD59-A6C34878D82A}">
                    <a16:rowId xmlns:a16="http://schemas.microsoft.com/office/drawing/2014/main" val="10000"/>
                  </a:ext>
                </a:extLst>
              </a:tr>
              <a:tr h="371475">
                <a:tc>
                  <a:txBody>
                    <a:bodyPr/>
                    <a:lstStyle/>
                    <a:p>
                      <a:pPr algn="ctr"/>
                      <a:r>
                        <a:rPr sz="1725">
                          <a:solidFill>
                            <a:srgbClr val="000000"/>
                          </a:solidFill>
                          <a:latin typeface="Calibri"/>
                          <a:ea typeface="Calibri"/>
                          <a:cs typeface="Calibri"/>
                        </a:rPr>
                        <a:t>M1</a:t>
                      </a:r>
                    </a:p>
                  </a:txBody>
                  <a:tcPr marL="47625" marR="47625" marT="28575" marB="28575" anchor="ctr">
                    <a:solidFill>
                      <a:srgbClr val="FFFFFF"/>
                    </a:solidFill>
                  </a:tcPr>
                </a:tc>
                <a:tc>
                  <a:txBody>
                    <a:bodyPr/>
                    <a:lstStyle/>
                    <a:p>
                      <a:pPr algn="ctr"/>
                      <a:r>
                        <a:rPr sz="1725">
                          <a:solidFill>
                            <a:srgbClr val="000000"/>
                          </a:solidFill>
                          <a:latin typeface="Calibri"/>
                          <a:ea typeface="Calibri"/>
                          <a:cs typeface="Calibri"/>
                        </a:rPr>
                        <a:t>T1</a:t>
                      </a:r>
                    </a:p>
                  </a:txBody>
                  <a:tcPr marL="47625" marR="47625" marT="28575" marB="28575" anchor="ctr">
                    <a:solidFill>
                      <a:srgbClr val="FFFFFF"/>
                    </a:solidFill>
                  </a:tcPr>
                </a:tc>
                <a:tc>
                  <a:txBody>
                    <a:bodyPr/>
                    <a:lstStyle/>
                    <a:p>
                      <a:pPr algn="ctr"/>
                      <a:r>
                        <a:rPr sz="1725">
                          <a:solidFill>
                            <a:srgbClr val="000000"/>
                          </a:solidFill>
                          <a:latin typeface="Calibri"/>
                          <a:ea typeface="Calibri"/>
                          <a:cs typeface="Calibri"/>
                        </a:rPr>
                        <a:t>Sep 1</a:t>
                      </a:r>
                    </a:p>
                  </a:txBody>
                  <a:tcPr marL="47625" marR="47625" marT="28575" marB="28575" anchor="ctr">
                    <a:solidFill>
                      <a:srgbClr val="FFFFFF"/>
                    </a:solidFill>
                  </a:tcPr>
                </a:tc>
                <a:extLst>
                  <a:ext uri="{0D108BD9-81ED-4DB2-BD59-A6C34878D82A}">
                    <a16:rowId xmlns:a16="http://schemas.microsoft.com/office/drawing/2014/main" val="10001"/>
                  </a:ext>
                </a:extLst>
              </a:tr>
              <a:tr h="371475">
                <a:tc>
                  <a:txBody>
                    <a:bodyPr/>
                    <a:lstStyle/>
                    <a:p>
                      <a:pPr algn="ctr"/>
                      <a:r>
                        <a:rPr sz="1725">
                          <a:solidFill>
                            <a:srgbClr val="000000"/>
                          </a:solidFill>
                          <a:latin typeface="Calibri"/>
                          <a:ea typeface="Calibri"/>
                          <a:cs typeface="Calibri"/>
                        </a:rPr>
                        <a:t>M1</a:t>
                      </a:r>
                    </a:p>
                  </a:txBody>
                  <a:tcPr marL="47625" marR="47625" marT="28575" marB="28575" anchor="ctr">
                    <a:solidFill>
                      <a:srgbClr val="FFFFFF"/>
                    </a:solidFill>
                  </a:tcPr>
                </a:tc>
                <a:tc>
                  <a:txBody>
                    <a:bodyPr/>
                    <a:lstStyle/>
                    <a:p>
                      <a:pPr algn="ctr"/>
                      <a:r>
                        <a:rPr sz="1725">
                          <a:solidFill>
                            <a:srgbClr val="000000"/>
                          </a:solidFill>
                          <a:latin typeface="Calibri"/>
                          <a:ea typeface="Calibri"/>
                          <a:cs typeface="Calibri"/>
                        </a:rPr>
                        <a:t>T1</a:t>
                      </a:r>
                    </a:p>
                  </a:txBody>
                  <a:tcPr marL="47625" marR="47625" marT="28575" marB="28575" anchor="ctr">
                    <a:solidFill>
                      <a:srgbClr val="FFFFFF"/>
                    </a:solidFill>
                  </a:tcPr>
                </a:tc>
                <a:tc>
                  <a:txBody>
                    <a:bodyPr/>
                    <a:lstStyle/>
                    <a:p>
                      <a:pPr algn="ctr"/>
                      <a:r>
                        <a:rPr sz="1725">
                          <a:solidFill>
                            <a:srgbClr val="000000"/>
                          </a:solidFill>
                          <a:latin typeface="Calibri"/>
                          <a:ea typeface="Calibri"/>
                          <a:cs typeface="Calibri"/>
                        </a:rPr>
                        <a:t>Sep 5</a:t>
                      </a:r>
                    </a:p>
                  </a:txBody>
                  <a:tcPr marL="47625" marR="47625" marT="28575" marB="28575" anchor="ctr">
                    <a:solidFill>
                      <a:srgbClr val="FFFFFF"/>
                    </a:solidFill>
                  </a:tcPr>
                </a:tc>
                <a:extLst>
                  <a:ext uri="{0D108BD9-81ED-4DB2-BD59-A6C34878D82A}">
                    <a16:rowId xmlns:a16="http://schemas.microsoft.com/office/drawing/2014/main" val="10002"/>
                  </a:ext>
                </a:extLst>
              </a:tr>
              <a:tr h="371475">
                <a:tc>
                  <a:txBody>
                    <a:bodyPr/>
                    <a:lstStyle/>
                    <a:p>
                      <a:pPr algn="ctr"/>
                      <a:r>
                        <a:rPr sz="1725">
                          <a:solidFill>
                            <a:srgbClr val="000000"/>
                          </a:solidFill>
                          <a:latin typeface="Calibri"/>
                          <a:ea typeface="Calibri"/>
                          <a:cs typeface="Calibri"/>
                        </a:rPr>
                        <a:t>M2</a:t>
                      </a:r>
                    </a:p>
                  </a:txBody>
                  <a:tcPr marL="47625" marR="47625" marT="28575" marB="28575" anchor="ctr">
                    <a:solidFill>
                      <a:srgbClr val="FFFFFF"/>
                    </a:solidFill>
                  </a:tcPr>
                </a:tc>
                <a:tc>
                  <a:txBody>
                    <a:bodyPr/>
                    <a:lstStyle/>
                    <a:p>
                      <a:pPr algn="ctr"/>
                      <a:r>
                        <a:rPr sz="1725">
                          <a:solidFill>
                            <a:srgbClr val="000000"/>
                          </a:solidFill>
                          <a:latin typeface="Calibri"/>
                          <a:ea typeface="Calibri"/>
                          <a:cs typeface="Calibri"/>
                        </a:rPr>
                        <a:t>T1</a:t>
                      </a:r>
                    </a:p>
                  </a:txBody>
                  <a:tcPr marL="47625" marR="47625" marT="28575" marB="28575" anchor="ctr">
                    <a:solidFill>
                      <a:srgbClr val="FFFFFF"/>
                    </a:solidFill>
                  </a:tcPr>
                </a:tc>
                <a:tc>
                  <a:txBody>
                    <a:bodyPr/>
                    <a:lstStyle/>
                    <a:p>
                      <a:pPr algn="ctr"/>
                      <a:r>
                        <a:rPr sz="1725">
                          <a:solidFill>
                            <a:srgbClr val="000000"/>
                          </a:solidFill>
                          <a:latin typeface="Calibri"/>
                          <a:ea typeface="Calibri"/>
                          <a:cs typeface="Calibri"/>
                        </a:rPr>
                        <a:t>Sep 2</a:t>
                      </a:r>
                    </a:p>
                  </a:txBody>
                  <a:tcPr marL="47625" marR="47625" marT="28575" marB="28575" anchor="ctr">
                    <a:solidFill>
                      <a:srgbClr val="FFFFFF"/>
                    </a:solidFill>
                  </a:tcPr>
                </a:tc>
                <a:extLst>
                  <a:ext uri="{0D108BD9-81ED-4DB2-BD59-A6C34878D82A}">
                    <a16:rowId xmlns:a16="http://schemas.microsoft.com/office/drawing/2014/main" val="10003"/>
                  </a:ext>
                </a:extLst>
              </a:tr>
              <a:tr h="371475">
                <a:tc>
                  <a:txBody>
                    <a:bodyPr/>
                    <a:lstStyle/>
                    <a:p>
                      <a:pPr algn="ctr"/>
                      <a:r>
                        <a:rPr sz="1725">
                          <a:solidFill>
                            <a:srgbClr val="000000"/>
                          </a:solidFill>
                          <a:latin typeface="Calibri"/>
                          <a:ea typeface="Calibri"/>
                          <a:cs typeface="Calibri"/>
                        </a:rPr>
                        <a:t>M2</a:t>
                      </a:r>
                    </a:p>
                  </a:txBody>
                  <a:tcPr marL="47625" marR="47625" marT="28575" marB="28575" anchor="ctr">
                    <a:solidFill>
                      <a:srgbClr val="FFFFFF"/>
                    </a:solidFill>
                  </a:tcPr>
                </a:tc>
                <a:tc>
                  <a:txBody>
                    <a:bodyPr/>
                    <a:lstStyle/>
                    <a:p>
                      <a:pPr algn="ctr"/>
                      <a:r>
                        <a:rPr sz="1725">
                          <a:solidFill>
                            <a:srgbClr val="000000"/>
                          </a:solidFill>
                          <a:latin typeface="Calibri"/>
                          <a:ea typeface="Calibri"/>
                          <a:cs typeface="Calibri"/>
                        </a:rPr>
                        <a:t>T2</a:t>
                      </a:r>
                    </a:p>
                  </a:txBody>
                  <a:tcPr marL="47625" marR="47625" marT="28575" marB="28575" anchor="ctr">
                    <a:solidFill>
                      <a:srgbClr val="FFFFFF"/>
                    </a:solidFill>
                  </a:tcPr>
                </a:tc>
                <a:tc>
                  <a:txBody>
                    <a:bodyPr/>
                    <a:lstStyle/>
                    <a:p>
                      <a:pPr algn="ctr"/>
                      <a:r>
                        <a:rPr sz="1725">
                          <a:solidFill>
                            <a:srgbClr val="000000"/>
                          </a:solidFill>
                          <a:latin typeface="Calibri"/>
                          <a:ea typeface="Calibri"/>
                          <a:cs typeface="Calibri"/>
                        </a:rPr>
                        <a:t>Sep 3</a:t>
                      </a:r>
                    </a:p>
                  </a:txBody>
                  <a:tcPr marL="47625" marR="47625" marT="28575" marB="28575" anchor="ctr">
                    <a:solidFill>
                      <a:srgbClr val="FFFFFF"/>
                    </a:solidFill>
                  </a:tcPr>
                </a:tc>
                <a:extLst>
                  <a:ext uri="{0D108BD9-81ED-4DB2-BD59-A6C34878D82A}">
                    <a16:rowId xmlns:a16="http://schemas.microsoft.com/office/drawing/2014/main" val="10004"/>
                  </a:ext>
                </a:extLst>
              </a:tr>
              <a:tr h="371475">
                <a:tc>
                  <a:txBody>
                    <a:bodyPr/>
                    <a:lstStyle/>
                    <a:p>
                      <a:pPr algn="ctr"/>
                      <a:r>
                        <a:rPr sz="1725">
                          <a:solidFill>
                            <a:srgbClr val="000000"/>
                          </a:solidFill>
                          <a:latin typeface="Calibri"/>
                          <a:ea typeface="Calibri"/>
                          <a:cs typeface="Calibri"/>
                        </a:rPr>
                        <a:t>M2</a:t>
                      </a:r>
                    </a:p>
                  </a:txBody>
                  <a:tcPr marL="47625" marR="47625" marT="28575" marB="28575" anchor="ctr">
                    <a:solidFill>
                      <a:srgbClr val="FFFFFF"/>
                    </a:solidFill>
                  </a:tcPr>
                </a:tc>
                <a:tc>
                  <a:txBody>
                    <a:bodyPr/>
                    <a:lstStyle/>
                    <a:p>
                      <a:pPr algn="ctr"/>
                      <a:r>
                        <a:rPr sz="1725">
                          <a:solidFill>
                            <a:srgbClr val="000000"/>
                          </a:solidFill>
                          <a:latin typeface="Calibri"/>
                          <a:ea typeface="Calibri"/>
                          <a:cs typeface="Calibri"/>
                        </a:rPr>
                        <a:t>T3</a:t>
                      </a:r>
                    </a:p>
                  </a:txBody>
                  <a:tcPr marL="47625" marR="47625" marT="28575" marB="28575" anchor="ctr">
                    <a:solidFill>
                      <a:srgbClr val="FFFFFF"/>
                    </a:solidFill>
                  </a:tcPr>
                </a:tc>
                <a:tc>
                  <a:txBody>
                    <a:bodyPr/>
                    <a:lstStyle/>
                    <a:p>
                      <a:pPr algn="ctr"/>
                      <a:r>
                        <a:rPr sz="1725">
                          <a:solidFill>
                            <a:srgbClr val="000000"/>
                          </a:solidFill>
                          <a:latin typeface="Calibri"/>
                          <a:ea typeface="Calibri"/>
                          <a:cs typeface="Calibri"/>
                        </a:rPr>
                        <a:t>Sep 4</a:t>
                      </a:r>
                    </a:p>
                  </a:txBody>
                  <a:tcPr marL="47625" marR="47625" marT="28575" marB="28575" anchor="ctr">
                    <a:solidFill>
                      <a:srgbClr val="FFFFFF"/>
                    </a:solidFill>
                  </a:tcPr>
                </a:tc>
                <a:extLst>
                  <a:ext uri="{0D108BD9-81ED-4DB2-BD59-A6C34878D82A}">
                    <a16:rowId xmlns:a16="http://schemas.microsoft.com/office/drawing/2014/main" val="10005"/>
                  </a:ext>
                </a:extLst>
              </a:tr>
              <a:tr h="371475">
                <a:tc>
                  <a:txBody>
                    <a:bodyPr/>
                    <a:lstStyle/>
                    <a:p>
                      <a:pPr algn="ctr"/>
                      <a:r>
                        <a:rPr sz="1725">
                          <a:solidFill>
                            <a:srgbClr val="000000"/>
                          </a:solidFill>
                          <a:latin typeface="Calibri"/>
                          <a:ea typeface="Calibri"/>
                          <a:cs typeface="Calibri"/>
                        </a:rPr>
                        <a:t>M3</a:t>
                      </a:r>
                    </a:p>
                  </a:txBody>
                  <a:tcPr marL="47625" marR="47625" marT="28575" marB="28575" anchor="ctr">
                    <a:solidFill>
                      <a:srgbClr val="FFFFFF"/>
                    </a:solidFill>
                  </a:tcPr>
                </a:tc>
                <a:tc>
                  <a:txBody>
                    <a:bodyPr/>
                    <a:lstStyle/>
                    <a:p>
                      <a:pPr algn="ctr"/>
                      <a:r>
                        <a:rPr sz="1725">
                          <a:solidFill>
                            <a:srgbClr val="000000"/>
                          </a:solidFill>
                          <a:latin typeface="Calibri"/>
                          <a:ea typeface="Calibri"/>
                          <a:cs typeface="Calibri"/>
                        </a:rPr>
                        <a:t>T2</a:t>
                      </a:r>
                    </a:p>
                  </a:txBody>
                  <a:tcPr marL="47625" marR="47625" marT="28575" marB="28575" anchor="ctr">
                    <a:solidFill>
                      <a:srgbClr val="FFFFFF"/>
                    </a:solidFill>
                  </a:tcPr>
                </a:tc>
                <a:tc>
                  <a:txBody>
                    <a:bodyPr/>
                    <a:lstStyle/>
                    <a:p>
                      <a:pPr algn="ctr"/>
                      <a:r>
                        <a:rPr sz="1725">
                          <a:solidFill>
                            <a:srgbClr val="000000"/>
                          </a:solidFill>
                          <a:latin typeface="Calibri"/>
                          <a:ea typeface="Calibri"/>
                          <a:cs typeface="Calibri"/>
                        </a:rPr>
                        <a:t>Sep 6</a:t>
                      </a:r>
                    </a:p>
                  </a:txBody>
                  <a:tcPr marL="47625" marR="47625" marT="28575" marB="28575" anchor="ctr">
                    <a:solidFill>
                      <a:srgbClr val="FFFFFF"/>
                    </a:solidFill>
                  </a:tcPr>
                </a:tc>
                <a:extLst>
                  <a:ext uri="{0D108BD9-81ED-4DB2-BD59-A6C34878D82A}">
                    <a16:rowId xmlns:a16="http://schemas.microsoft.com/office/drawing/2014/main" val="10006"/>
                  </a:ext>
                </a:extLst>
              </a:tr>
            </a:tbl>
          </a:graphicData>
        </a:graphic>
      </p:graphicFrame>
      <p:sp>
        <p:nvSpPr>
          <p:cNvPr id="9" name="body">
            <a:extLst>
              <a:ext uri="{FF2B5EF4-FFF2-40B4-BE49-F238E27FC236}">
                <a16:creationId xmlns:a16="http://schemas.microsoft.com/office/drawing/2014/main" id="{C4A820C6-7066-4792-BD88-2FD6F06019E8}"/>
              </a:ext>
            </a:extLst>
          </p:cNvPr>
          <p:cNvSpPr>
            <a:spLocks noGrp="1"/>
          </p:cNvSpPr>
          <p:nvPr/>
        </p:nvSpPr>
        <p:spPr>
          <a:xfrm>
            <a:off x="4410075" y="4629150"/>
            <a:ext cx="3905250" cy="666750"/>
          </a:xfrm>
          <a:prstGeom prst="rect">
            <a:avLst/>
          </a:prstGeom>
          <a:noFill/>
          <a:ln w="0">
            <a:noFill/>
          </a:ln>
        </p:spPr>
        <p:txBody>
          <a:bodyPr wrap="square" lIns="0" tIns="0" rIns="0" bIns="0">
            <a:noAutofit/>
          </a:bodyPr>
          <a:lstStyle/>
          <a:p>
            <a:pPr>
              <a:defRPr sz="1800" b="0">
                <a:solidFill>
                  <a:srgbClr val="000000"/>
                </a:solidFill>
                <a:latin typeface="Calibri"/>
                <a:ea typeface="Calibri"/>
                <a:cs typeface="Calibri"/>
              </a:defRPr>
            </a:pPr>
            <a:r>
              <a:rPr sz="1800" b="0">
                <a:solidFill>
                  <a:srgbClr val="000000"/>
                </a:solidFill>
                <a:latin typeface="Calibri"/>
                <a:ea typeface="Calibri"/>
                <a:cs typeface="Calibri"/>
              </a:rPr>
              <a:t>Keys: Member.mid, Tool.tid and Trained(mid, tid, day).</a:t>
            </a:r>
          </a:p>
        </p:txBody>
      </p:sp>
      <p:sp>
        <p:nvSpPr>
          <p:cNvPr id="10" name="body">
            <a:extLst>
              <a:ext uri="{FF2B5EF4-FFF2-40B4-BE49-F238E27FC236}">
                <a16:creationId xmlns:a16="http://schemas.microsoft.com/office/drawing/2014/main" id="{29C3354A-5663-4114-ADF2-93A634393FF4}"/>
              </a:ext>
            </a:extLst>
          </p:cNvPr>
          <p:cNvSpPr>
            <a:spLocks noGrp="1"/>
          </p:cNvSpPr>
          <p:nvPr/>
        </p:nvSpPr>
        <p:spPr>
          <a:xfrm>
            <a:off x="781050" y="5457825"/>
            <a:ext cx="7600950" cy="952500"/>
          </a:xfrm>
          <a:prstGeom prst="rect">
            <a:avLst/>
          </a:prstGeom>
          <a:noFill/>
          <a:ln w="0">
            <a:noFill/>
          </a:ln>
        </p:spPr>
        <p:txBody>
          <a:bodyPr wrap="square" lIns="0" tIns="0" rIns="0" bIns="0">
            <a:noAutofit/>
          </a:bodyPr>
          <a:lstStyle/>
          <a:p>
            <a:pPr>
              <a:defRPr sz="1950" b="0">
                <a:solidFill>
                  <a:srgbClr val="FF0000"/>
                </a:solidFill>
                <a:latin typeface="Calibri"/>
                <a:ea typeface="Calibri"/>
                <a:cs typeface="Calibri"/>
              </a:defRPr>
            </a:pPr>
            <a:r>
              <a:rPr sz="1950" b="0">
                <a:solidFill>
                  <a:srgbClr val="FF0000"/>
                </a:solidFill>
                <a:latin typeface="Calibri"/>
                <a:ea typeface="Calibri"/>
                <a:cs typeface="Calibri"/>
              </a:rPr>
              <a:t>M1 and M3 are different people. M4 has no training records.</a:t>
            </a:r>
          </a:p>
        </p:txBody>
      </p:sp>
      <p:sp>
        <p:nvSpPr>
          <p:cNvPr id="9001" name="Title 1">
            <a:extLst>
              <a:ext uri="{FF2B5EF4-FFF2-40B4-BE49-F238E27FC236}">
                <a16:creationId xmlns:a16="http://schemas.microsoft.com/office/drawing/2014/main" id="{4EF27E5C-9C4D-BDBE-7667-D0B141BCC8F5}"/>
              </a:ext>
            </a:extLst>
          </p:cNvPr>
          <p:cNvSpPr>
            <a:spLocks noGrp="1"/>
          </p:cNvSpPr>
          <p:nvPr>
            <p:ph type="title"/>
          </p:nvPr>
        </p:nvSpPr>
        <p:spPr/>
        <p:txBody>
          <a:bodyPr/>
          <a:lstStyle/>
          <a:p>
            <a:r>
              <a:rPr lang="en-US">
                <a:solidFill>
                  <a:srgbClr val="FF0000"/>
                </a:solidFill>
              </a:rPr>
              <a:t>Practice: </a:t>
            </a:r>
            <a:r>
              <a:rPr lang="en-US">
                <a:solidFill>
                  <a:srgbClr val="3333CC"/>
                </a:solidFill>
              </a:rPr>
              <a:t>Makerspace Schema</a:t>
            </a:r>
          </a:p>
        </p:txBody>
      </p:sp>
      <p:sp>
        <p:nvSpPr>
          <p:cNvPr id="9002" name="Slide Number Placeholder 1">
            <a:extLst>
              <a:ext uri="{FF2B5EF4-FFF2-40B4-BE49-F238E27FC236}">
                <a16:creationId xmlns:a16="http://schemas.microsoft.com/office/drawing/2014/main" id="{B90139AC-3BDA-723A-097A-000DA0A784C1}"/>
              </a:ext>
            </a:extLst>
          </p:cNvPr>
          <p:cNvSpPr>
            <a:spLocks noGrp="1"/>
          </p:cNvSpPr>
          <p:nvPr>
            <p:ph type="sldNum" sz="quarter" idx="12"/>
          </p:nvPr>
        </p:nvSpPr>
        <p:spPr/>
        <p:txBody>
          <a:bodyPr/>
          <a:lstStyle/>
          <a:p>
            <a:pPr>
              <a:defRPr/>
            </a:pPr>
            <a:fld id="{43CA101F-9E5F-9249-9862-3CE55B3BB777}" type="slidenum">
              <a:rPr lang="en-US" altLang="zh-TW" smtClean="0"/>
              <a:pPr>
                <a:defRPr/>
              </a:pPr>
              <a:t>61</a:t>
            </a:fld>
            <a:endParaRPr lang="en-US" altLang="zh-TW"/>
          </a:p>
        </p:txBody>
      </p:sp>
    </p:spTree>
    <p:extLst>
      <p:ext uri="{BB962C8B-B14F-4D97-AF65-F5344CB8AC3E}">
        <p14:creationId xmlns:p14="http://schemas.microsoft.com/office/powerpoint/2010/main" val="1638674197"/>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body">
            <a:extLst>
              <a:ext uri="{FF2B5EF4-FFF2-40B4-BE49-F238E27FC236}">
                <a16:creationId xmlns:a16="http://schemas.microsoft.com/office/drawing/2014/main" id="{AAFBE8DC-6020-4A24-AA9F-81D4337E111F}"/>
              </a:ext>
            </a:extLst>
          </p:cNvPr>
          <p:cNvSpPr>
            <a:spLocks noGrp="1"/>
          </p:cNvSpPr>
          <p:nvPr/>
        </p:nvSpPr>
        <p:spPr>
          <a:xfrm>
            <a:off x="781050" y="5876925"/>
            <a:ext cx="7620000" cy="285750"/>
          </a:xfrm>
          <a:prstGeom prst="rect">
            <a:avLst/>
          </a:prstGeom>
          <a:noFill/>
          <a:ln w="0">
            <a:noFill/>
          </a:ln>
        </p:spPr>
        <p:txBody>
          <a:bodyPr wrap="square" lIns="0" tIns="0" rIns="0" bIns="0">
            <a:noAutofit/>
          </a:bodyPr>
          <a:lstStyle/>
          <a:p>
            <a:pPr>
              <a:defRPr sz="1725" b="0">
                <a:solidFill>
                  <a:srgbClr val="3333CC"/>
                </a:solidFill>
                <a:latin typeface="Calibri"/>
                <a:ea typeface="Calibri"/>
                <a:cs typeface="Calibri"/>
              </a:defRPr>
            </a:pPr>
            <a:r>
              <a:rPr sz="1725" b="0">
                <a:solidFill>
                  <a:srgbClr val="3333CC"/>
                </a:solidFill>
                <a:latin typeface="Calibri"/>
                <a:ea typeface="Calibri"/>
                <a:cs typeface="Calibri"/>
              </a:rPr>
              <a:t>Think: 30 s</a:t>
            </a:r>
          </a:p>
        </p:txBody>
      </p:sp>
      <p:sp>
        <p:nvSpPr>
          <p:cNvPr id="4" name="body">
            <a:extLst>
              <a:ext uri="{FF2B5EF4-FFF2-40B4-BE49-F238E27FC236}">
                <a16:creationId xmlns:a16="http://schemas.microsoft.com/office/drawing/2014/main" id="{2CB5FBF1-DAD3-4F2B-B972-61E3286D92C8}"/>
              </a:ext>
            </a:extLst>
          </p:cNvPr>
          <p:cNvSpPr>
            <a:spLocks noGrp="1"/>
          </p:cNvSpPr>
          <p:nvPr/>
        </p:nvSpPr>
        <p:spPr>
          <a:xfrm>
            <a:off x="781050" y="971550"/>
            <a:ext cx="2667000" cy="361950"/>
          </a:xfrm>
          <a:prstGeom prst="rect">
            <a:avLst/>
          </a:prstGeom>
          <a:noFill/>
          <a:ln w="0">
            <a:noFill/>
          </a:ln>
        </p:spPr>
        <p:txBody>
          <a:bodyPr wrap="square" lIns="0" tIns="0" rIns="0" bIns="0">
            <a:noAutofit/>
          </a:bodyPr>
          <a:lstStyle/>
          <a:p>
            <a:pPr>
              <a:defRPr sz="2250" b="0">
                <a:solidFill>
                  <a:srgbClr val="000000"/>
                </a:solidFill>
                <a:latin typeface="Calibri"/>
                <a:ea typeface="Calibri"/>
                <a:cs typeface="Calibri"/>
              </a:defRPr>
            </a:pPr>
            <a:r>
              <a:rPr sz="2250" b="0">
                <a:solidFill>
                  <a:srgbClr val="000000"/>
                </a:solidFill>
                <a:latin typeface="Calibri"/>
                <a:ea typeface="Calibri"/>
                <a:cs typeface="Calibri"/>
              </a:rPr>
              <a:t>Member</a:t>
            </a:r>
          </a:p>
        </p:txBody>
      </p:sp>
      <p:graphicFrame>
        <p:nvGraphicFramePr>
          <p:cNvPr id="15" name="表格 14"/>
          <p:cNvGraphicFramePr/>
          <p:nvPr/>
        </p:nvGraphicFramePr>
        <p:xfrm>
          <a:off x="857250" y="1390650"/>
          <a:ext cx="2667000" cy="1571625"/>
        </p:xfrm>
        <a:graphic>
          <a:graphicData uri="http://schemas.openxmlformats.org/drawingml/2006/table">
            <a:tbl>
              <a:tblPr/>
              <a:tblGrid>
                <a:gridCol w="1333500">
                  <a:extLst>
                    <a:ext uri="{9D8B030D-6E8A-4147-A177-3AD203B41FA5}">
                      <a16:colId xmlns:a16="http://schemas.microsoft.com/office/drawing/2014/main" val="20000"/>
                    </a:ext>
                  </a:extLst>
                </a:gridCol>
                <a:gridCol w="1333500">
                  <a:extLst>
                    <a:ext uri="{9D8B030D-6E8A-4147-A177-3AD203B41FA5}">
                      <a16:colId xmlns:a16="http://schemas.microsoft.com/office/drawing/2014/main" val="20001"/>
                    </a:ext>
                  </a:extLst>
                </a:gridCol>
              </a:tblGrid>
              <a:tr h="314325">
                <a:tc>
                  <a:txBody>
                    <a:bodyPr/>
                    <a:lstStyle/>
                    <a:p>
                      <a:pPr algn="ctr"/>
                      <a:r>
                        <a:rPr sz="1650">
                          <a:solidFill>
                            <a:srgbClr val="000000"/>
                          </a:solidFill>
                          <a:latin typeface="Calibri"/>
                          <a:ea typeface="Calibri"/>
                          <a:cs typeface="Calibri"/>
                        </a:rPr>
                        <a:t>mid</a:t>
                      </a:r>
                    </a:p>
                  </a:txBody>
                  <a:tcPr marL="47625" marR="47625" marT="28575" marB="28575" anchor="ctr">
                    <a:solidFill>
                      <a:srgbClr val="D9D9D9"/>
                    </a:solidFill>
                  </a:tcPr>
                </a:tc>
                <a:tc>
                  <a:txBody>
                    <a:bodyPr/>
                    <a:lstStyle/>
                    <a:p>
                      <a:pPr algn="ctr"/>
                      <a:r>
                        <a:rPr sz="1650">
                          <a:solidFill>
                            <a:srgbClr val="000000"/>
                          </a:solidFill>
                          <a:latin typeface="Calibri"/>
                          <a:ea typeface="Calibri"/>
                          <a:cs typeface="Calibri"/>
                        </a:rPr>
                        <a:t>mname</a:t>
                      </a:r>
                    </a:p>
                  </a:txBody>
                  <a:tcPr marL="47625" marR="47625" marT="28575" marB="28575" anchor="ctr">
                    <a:solidFill>
                      <a:srgbClr val="D9D9D9"/>
                    </a:solidFill>
                  </a:tcPr>
                </a:tc>
                <a:extLst>
                  <a:ext uri="{0D108BD9-81ED-4DB2-BD59-A6C34878D82A}">
                    <a16:rowId xmlns:a16="http://schemas.microsoft.com/office/drawing/2014/main" val="10000"/>
                  </a:ext>
                </a:extLst>
              </a:tr>
              <a:tr h="314325">
                <a:tc>
                  <a:txBody>
                    <a:bodyPr/>
                    <a:lstStyle/>
                    <a:p>
                      <a:pPr algn="ctr"/>
                      <a:r>
                        <a:rPr sz="1650">
                          <a:solidFill>
                            <a:srgbClr val="000000"/>
                          </a:solidFill>
                          <a:latin typeface="Calibri"/>
                          <a:ea typeface="Calibri"/>
                          <a:cs typeface="Calibri"/>
                        </a:rPr>
                        <a:t>M1</a:t>
                      </a:r>
                    </a:p>
                  </a:txBody>
                  <a:tcPr marL="47625" marR="47625" marT="28575" marB="28575" anchor="ctr">
                    <a:solidFill>
                      <a:srgbClr val="FFFFFF"/>
                    </a:solidFill>
                  </a:tcPr>
                </a:tc>
                <a:tc>
                  <a:txBody>
                    <a:bodyPr/>
                    <a:lstStyle/>
                    <a:p>
                      <a:pPr algn="ctr"/>
                      <a:r>
                        <a:rPr sz="1650">
                          <a:solidFill>
                            <a:srgbClr val="000000"/>
                          </a:solidFill>
                          <a:latin typeface="Calibri"/>
                          <a:ea typeface="Calibri"/>
                          <a:cs typeface="Calibri"/>
                        </a:rPr>
                        <a:t>Alex</a:t>
                      </a:r>
                    </a:p>
                  </a:txBody>
                  <a:tcPr marL="47625" marR="47625" marT="28575" marB="28575" anchor="ctr">
                    <a:solidFill>
                      <a:srgbClr val="FFFFFF"/>
                    </a:solidFill>
                  </a:tcPr>
                </a:tc>
                <a:extLst>
                  <a:ext uri="{0D108BD9-81ED-4DB2-BD59-A6C34878D82A}">
                    <a16:rowId xmlns:a16="http://schemas.microsoft.com/office/drawing/2014/main" val="10001"/>
                  </a:ext>
                </a:extLst>
              </a:tr>
              <a:tr h="314325">
                <a:tc>
                  <a:txBody>
                    <a:bodyPr/>
                    <a:lstStyle/>
                    <a:p>
                      <a:pPr algn="ctr"/>
                      <a:r>
                        <a:rPr sz="1650">
                          <a:solidFill>
                            <a:srgbClr val="000000"/>
                          </a:solidFill>
                          <a:latin typeface="Calibri"/>
                          <a:ea typeface="Calibri"/>
                          <a:cs typeface="Calibri"/>
                        </a:rPr>
                        <a:t>M2</a:t>
                      </a:r>
                    </a:p>
                  </a:txBody>
                  <a:tcPr marL="47625" marR="47625" marT="28575" marB="28575" anchor="ctr">
                    <a:solidFill>
                      <a:srgbClr val="FFFFFF"/>
                    </a:solidFill>
                  </a:tcPr>
                </a:tc>
                <a:tc>
                  <a:txBody>
                    <a:bodyPr/>
                    <a:lstStyle/>
                    <a:p>
                      <a:pPr algn="ctr"/>
                      <a:r>
                        <a:rPr sz="1650">
                          <a:solidFill>
                            <a:srgbClr val="000000"/>
                          </a:solidFill>
                          <a:latin typeface="Calibri"/>
                          <a:ea typeface="Calibri"/>
                          <a:cs typeface="Calibri"/>
                        </a:rPr>
                        <a:t>Mei</a:t>
                      </a:r>
                    </a:p>
                  </a:txBody>
                  <a:tcPr marL="47625" marR="47625" marT="28575" marB="28575" anchor="ctr">
                    <a:solidFill>
                      <a:srgbClr val="FFFFFF"/>
                    </a:solidFill>
                  </a:tcPr>
                </a:tc>
                <a:extLst>
                  <a:ext uri="{0D108BD9-81ED-4DB2-BD59-A6C34878D82A}">
                    <a16:rowId xmlns:a16="http://schemas.microsoft.com/office/drawing/2014/main" val="10002"/>
                  </a:ext>
                </a:extLst>
              </a:tr>
              <a:tr h="314325">
                <a:tc>
                  <a:txBody>
                    <a:bodyPr/>
                    <a:lstStyle/>
                    <a:p>
                      <a:pPr algn="ctr"/>
                      <a:r>
                        <a:rPr sz="1650">
                          <a:solidFill>
                            <a:srgbClr val="000000"/>
                          </a:solidFill>
                          <a:latin typeface="Calibri"/>
                          <a:ea typeface="Calibri"/>
                          <a:cs typeface="Calibri"/>
                        </a:rPr>
                        <a:t>M3</a:t>
                      </a:r>
                    </a:p>
                  </a:txBody>
                  <a:tcPr marL="47625" marR="47625" marT="28575" marB="28575" anchor="ctr">
                    <a:solidFill>
                      <a:srgbClr val="FFFFFF"/>
                    </a:solidFill>
                  </a:tcPr>
                </a:tc>
                <a:tc>
                  <a:txBody>
                    <a:bodyPr/>
                    <a:lstStyle/>
                    <a:p>
                      <a:pPr algn="ctr"/>
                      <a:r>
                        <a:rPr sz="1650">
                          <a:solidFill>
                            <a:srgbClr val="000000"/>
                          </a:solidFill>
                          <a:latin typeface="Calibri"/>
                          <a:ea typeface="Calibri"/>
                          <a:cs typeface="Calibri"/>
                        </a:rPr>
                        <a:t>Alex</a:t>
                      </a:r>
                    </a:p>
                  </a:txBody>
                  <a:tcPr marL="47625" marR="47625" marT="28575" marB="28575" anchor="ctr">
                    <a:solidFill>
                      <a:srgbClr val="FFFFFF"/>
                    </a:solidFill>
                  </a:tcPr>
                </a:tc>
                <a:extLst>
                  <a:ext uri="{0D108BD9-81ED-4DB2-BD59-A6C34878D82A}">
                    <a16:rowId xmlns:a16="http://schemas.microsoft.com/office/drawing/2014/main" val="10003"/>
                  </a:ext>
                </a:extLst>
              </a:tr>
              <a:tr h="314325">
                <a:tc>
                  <a:txBody>
                    <a:bodyPr/>
                    <a:lstStyle/>
                    <a:p>
                      <a:pPr algn="ctr"/>
                      <a:r>
                        <a:rPr sz="1650">
                          <a:solidFill>
                            <a:srgbClr val="000000"/>
                          </a:solidFill>
                          <a:latin typeface="Calibri"/>
                          <a:ea typeface="Calibri"/>
                          <a:cs typeface="Calibri"/>
                        </a:rPr>
                        <a:t>M4</a:t>
                      </a:r>
                    </a:p>
                  </a:txBody>
                  <a:tcPr marL="47625" marR="47625" marT="28575" marB="28575" anchor="ctr">
                    <a:solidFill>
                      <a:srgbClr val="FFFFFF"/>
                    </a:solidFill>
                  </a:tcPr>
                </a:tc>
                <a:tc>
                  <a:txBody>
                    <a:bodyPr/>
                    <a:lstStyle/>
                    <a:p>
                      <a:pPr algn="ctr"/>
                      <a:r>
                        <a:rPr sz="1650">
                          <a:solidFill>
                            <a:srgbClr val="000000"/>
                          </a:solidFill>
                          <a:latin typeface="Calibri"/>
                          <a:ea typeface="Calibri"/>
                          <a:cs typeface="Calibri"/>
                        </a:rPr>
                        <a:t>Noor</a:t>
                      </a:r>
                    </a:p>
                  </a:txBody>
                  <a:tcPr marL="47625" marR="47625" marT="28575" marB="28575" anchor="ctr">
                    <a:solidFill>
                      <a:srgbClr val="FFFFFF"/>
                    </a:solidFill>
                  </a:tcPr>
                </a:tc>
                <a:extLst>
                  <a:ext uri="{0D108BD9-81ED-4DB2-BD59-A6C34878D82A}">
                    <a16:rowId xmlns:a16="http://schemas.microsoft.com/office/drawing/2014/main" val="10004"/>
                  </a:ext>
                </a:extLst>
              </a:tr>
            </a:tbl>
          </a:graphicData>
        </a:graphic>
      </p:graphicFrame>
      <p:sp>
        <p:nvSpPr>
          <p:cNvPr id="6" name="body">
            <a:extLst>
              <a:ext uri="{FF2B5EF4-FFF2-40B4-BE49-F238E27FC236}">
                <a16:creationId xmlns:a16="http://schemas.microsoft.com/office/drawing/2014/main" id="{B60EAD57-E534-4CF6-A70F-E6107D74D004}"/>
              </a:ext>
            </a:extLst>
          </p:cNvPr>
          <p:cNvSpPr>
            <a:spLocks noGrp="1"/>
          </p:cNvSpPr>
          <p:nvPr/>
        </p:nvSpPr>
        <p:spPr>
          <a:xfrm>
            <a:off x="781050" y="3028950"/>
            <a:ext cx="2667000" cy="361950"/>
          </a:xfrm>
          <a:prstGeom prst="rect">
            <a:avLst/>
          </a:prstGeom>
          <a:noFill/>
          <a:ln w="0">
            <a:noFill/>
          </a:ln>
        </p:spPr>
        <p:txBody>
          <a:bodyPr wrap="square" lIns="0" tIns="0" rIns="0" bIns="0">
            <a:noAutofit/>
          </a:bodyPr>
          <a:lstStyle/>
          <a:p>
            <a:pPr>
              <a:defRPr sz="2250" b="0">
                <a:solidFill>
                  <a:srgbClr val="000000"/>
                </a:solidFill>
                <a:latin typeface="Calibri"/>
                <a:ea typeface="Calibri"/>
                <a:cs typeface="Calibri"/>
              </a:defRPr>
            </a:pPr>
            <a:r>
              <a:rPr sz="2250" b="0">
                <a:solidFill>
                  <a:srgbClr val="000000"/>
                </a:solidFill>
                <a:latin typeface="Calibri"/>
                <a:ea typeface="Calibri"/>
                <a:cs typeface="Calibri"/>
              </a:rPr>
              <a:t>Tool</a:t>
            </a:r>
          </a:p>
        </p:txBody>
      </p:sp>
      <p:graphicFrame>
        <p:nvGraphicFramePr>
          <p:cNvPr id="17" name="表格 16"/>
          <p:cNvGraphicFramePr/>
          <p:nvPr/>
        </p:nvGraphicFramePr>
        <p:xfrm>
          <a:off x="857250" y="3448050"/>
          <a:ext cx="2667000" cy="1257300"/>
        </p:xfrm>
        <a:graphic>
          <a:graphicData uri="http://schemas.openxmlformats.org/drawingml/2006/table">
            <a:tbl>
              <a:tblPr/>
              <a:tblGrid>
                <a:gridCol w="1333500">
                  <a:extLst>
                    <a:ext uri="{9D8B030D-6E8A-4147-A177-3AD203B41FA5}">
                      <a16:colId xmlns:a16="http://schemas.microsoft.com/office/drawing/2014/main" val="20000"/>
                    </a:ext>
                  </a:extLst>
                </a:gridCol>
                <a:gridCol w="1333500">
                  <a:extLst>
                    <a:ext uri="{9D8B030D-6E8A-4147-A177-3AD203B41FA5}">
                      <a16:colId xmlns:a16="http://schemas.microsoft.com/office/drawing/2014/main" val="20001"/>
                    </a:ext>
                  </a:extLst>
                </a:gridCol>
              </a:tblGrid>
              <a:tr h="314325">
                <a:tc>
                  <a:txBody>
                    <a:bodyPr/>
                    <a:lstStyle/>
                    <a:p>
                      <a:pPr algn="ctr"/>
                      <a:r>
                        <a:rPr sz="1650">
                          <a:solidFill>
                            <a:srgbClr val="000000"/>
                          </a:solidFill>
                          <a:latin typeface="Calibri"/>
                          <a:ea typeface="Calibri"/>
                          <a:cs typeface="Calibri"/>
                        </a:rPr>
                        <a:t>tid</a:t>
                      </a:r>
                    </a:p>
                  </a:txBody>
                  <a:tcPr marL="47625" marR="47625" marT="28575" marB="28575" anchor="ctr">
                    <a:solidFill>
                      <a:srgbClr val="D9D9D9"/>
                    </a:solidFill>
                  </a:tcPr>
                </a:tc>
                <a:tc>
                  <a:txBody>
                    <a:bodyPr/>
                    <a:lstStyle/>
                    <a:p>
                      <a:pPr algn="ctr"/>
                      <a:r>
                        <a:rPr sz="1650">
                          <a:solidFill>
                            <a:srgbClr val="000000"/>
                          </a:solidFill>
                          <a:latin typeface="Calibri"/>
                          <a:ea typeface="Calibri"/>
                          <a:cs typeface="Calibri"/>
                        </a:rPr>
                        <a:t>category</a:t>
                      </a:r>
                    </a:p>
                  </a:txBody>
                  <a:tcPr marL="47625" marR="47625" marT="28575" marB="28575" anchor="ctr">
                    <a:solidFill>
                      <a:srgbClr val="D9D9D9"/>
                    </a:solidFill>
                  </a:tcPr>
                </a:tc>
                <a:extLst>
                  <a:ext uri="{0D108BD9-81ED-4DB2-BD59-A6C34878D82A}">
                    <a16:rowId xmlns:a16="http://schemas.microsoft.com/office/drawing/2014/main" val="10000"/>
                  </a:ext>
                </a:extLst>
              </a:tr>
              <a:tr h="314325">
                <a:tc>
                  <a:txBody>
                    <a:bodyPr/>
                    <a:lstStyle/>
                    <a:p>
                      <a:pPr algn="ctr"/>
                      <a:r>
                        <a:rPr sz="1650">
                          <a:solidFill>
                            <a:srgbClr val="000000"/>
                          </a:solidFill>
                          <a:latin typeface="Calibri"/>
                          <a:ea typeface="Calibri"/>
                          <a:cs typeface="Calibri"/>
                        </a:rPr>
                        <a:t>T1</a:t>
                      </a:r>
                    </a:p>
                  </a:txBody>
                  <a:tcPr marL="47625" marR="47625" marT="28575" marB="28575" anchor="ctr">
                    <a:solidFill>
                      <a:srgbClr val="FFFFFF"/>
                    </a:solidFill>
                  </a:tcPr>
                </a:tc>
                <a:tc>
                  <a:txBody>
                    <a:bodyPr/>
                    <a:lstStyle/>
                    <a:p>
                      <a:pPr algn="ctr"/>
                      <a:r>
                        <a:rPr sz="1650">
                          <a:solidFill>
                            <a:srgbClr val="000000"/>
                          </a:solidFill>
                          <a:latin typeface="Calibri"/>
                          <a:ea typeface="Calibri"/>
                          <a:cs typeface="Calibri"/>
                        </a:rPr>
                        <a:t>Laser</a:t>
                      </a:r>
                    </a:p>
                  </a:txBody>
                  <a:tcPr marL="47625" marR="47625" marT="28575" marB="28575" anchor="ctr">
                    <a:solidFill>
                      <a:srgbClr val="FFFFFF"/>
                    </a:solidFill>
                  </a:tcPr>
                </a:tc>
                <a:extLst>
                  <a:ext uri="{0D108BD9-81ED-4DB2-BD59-A6C34878D82A}">
                    <a16:rowId xmlns:a16="http://schemas.microsoft.com/office/drawing/2014/main" val="10001"/>
                  </a:ext>
                </a:extLst>
              </a:tr>
              <a:tr h="314325">
                <a:tc>
                  <a:txBody>
                    <a:bodyPr/>
                    <a:lstStyle/>
                    <a:p>
                      <a:pPr algn="ctr"/>
                      <a:r>
                        <a:rPr sz="1650">
                          <a:solidFill>
                            <a:srgbClr val="000000"/>
                          </a:solidFill>
                          <a:latin typeface="Calibri"/>
                          <a:ea typeface="Calibri"/>
                          <a:cs typeface="Calibri"/>
                        </a:rPr>
                        <a:t>T2</a:t>
                      </a:r>
                    </a:p>
                  </a:txBody>
                  <a:tcPr marL="47625" marR="47625" marT="28575" marB="28575" anchor="ctr">
                    <a:solidFill>
                      <a:srgbClr val="FFFFFF"/>
                    </a:solidFill>
                  </a:tcPr>
                </a:tc>
                <a:tc>
                  <a:txBody>
                    <a:bodyPr/>
                    <a:lstStyle/>
                    <a:p>
                      <a:pPr algn="ctr"/>
                      <a:r>
                        <a:rPr sz="1650">
                          <a:solidFill>
                            <a:srgbClr val="000000"/>
                          </a:solidFill>
                          <a:latin typeface="Calibri"/>
                          <a:ea typeface="Calibri"/>
                          <a:cs typeface="Calibri"/>
                        </a:rPr>
                        <a:t>Laser</a:t>
                      </a:r>
                    </a:p>
                  </a:txBody>
                  <a:tcPr marL="47625" marR="47625" marT="28575" marB="28575" anchor="ctr">
                    <a:solidFill>
                      <a:srgbClr val="FFFFFF"/>
                    </a:solidFill>
                  </a:tcPr>
                </a:tc>
                <a:extLst>
                  <a:ext uri="{0D108BD9-81ED-4DB2-BD59-A6C34878D82A}">
                    <a16:rowId xmlns:a16="http://schemas.microsoft.com/office/drawing/2014/main" val="10002"/>
                  </a:ext>
                </a:extLst>
              </a:tr>
              <a:tr h="314325">
                <a:tc>
                  <a:txBody>
                    <a:bodyPr/>
                    <a:lstStyle/>
                    <a:p>
                      <a:pPr algn="ctr"/>
                      <a:r>
                        <a:rPr sz="1650">
                          <a:solidFill>
                            <a:srgbClr val="000000"/>
                          </a:solidFill>
                          <a:latin typeface="Calibri"/>
                          <a:ea typeface="Calibri"/>
                          <a:cs typeface="Calibri"/>
                        </a:rPr>
                        <a:t>T3</a:t>
                      </a:r>
                    </a:p>
                  </a:txBody>
                  <a:tcPr marL="47625" marR="47625" marT="28575" marB="28575" anchor="ctr">
                    <a:solidFill>
                      <a:srgbClr val="FFFFFF"/>
                    </a:solidFill>
                  </a:tcPr>
                </a:tc>
                <a:tc>
                  <a:txBody>
                    <a:bodyPr/>
                    <a:lstStyle/>
                    <a:p>
                      <a:pPr algn="ctr"/>
                      <a:r>
                        <a:rPr sz="1650">
                          <a:solidFill>
                            <a:srgbClr val="000000"/>
                          </a:solidFill>
                          <a:latin typeface="Calibri"/>
                          <a:ea typeface="Calibri"/>
                          <a:cs typeface="Calibri"/>
                        </a:rPr>
                        <a:t>CNC</a:t>
                      </a:r>
                    </a:p>
                  </a:txBody>
                  <a:tcPr marL="47625" marR="47625" marT="28575" marB="28575" anchor="ctr">
                    <a:solidFill>
                      <a:srgbClr val="FFFFFF"/>
                    </a:solidFill>
                  </a:tcPr>
                </a:tc>
                <a:extLst>
                  <a:ext uri="{0D108BD9-81ED-4DB2-BD59-A6C34878D82A}">
                    <a16:rowId xmlns:a16="http://schemas.microsoft.com/office/drawing/2014/main" val="10003"/>
                  </a:ext>
                </a:extLst>
              </a:tr>
            </a:tbl>
          </a:graphicData>
        </a:graphic>
      </p:graphicFrame>
      <p:sp>
        <p:nvSpPr>
          <p:cNvPr id="8" name="body">
            <a:extLst>
              <a:ext uri="{FF2B5EF4-FFF2-40B4-BE49-F238E27FC236}">
                <a16:creationId xmlns:a16="http://schemas.microsoft.com/office/drawing/2014/main" id="{301167CC-3746-4206-904B-A476607CA5C8}"/>
              </a:ext>
            </a:extLst>
          </p:cNvPr>
          <p:cNvSpPr>
            <a:spLocks noGrp="1"/>
          </p:cNvSpPr>
          <p:nvPr/>
        </p:nvSpPr>
        <p:spPr>
          <a:xfrm>
            <a:off x="4133850" y="971550"/>
            <a:ext cx="4000500" cy="361950"/>
          </a:xfrm>
          <a:prstGeom prst="rect">
            <a:avLst/>
          </a:prstGeom>
          <a:noFill/>
          <a:ln w="0">
            <a:noFill/>
          </a:ln>
        </p:spPr>
        <p:txBody>
          <a:bodyPr wrap="square" lIns="0" tIns="0" rIns="0" bIns="0">
            <a:noAutofit/>
          </a:bodyPr>
          <a:lstStyle/>
          <a:p>
            <a:pPr>
              <a:defRPr sz="2250" b="0">
                <a:solidFill>
                  <a:srgbClr val="000000"/>
                </a:solidFill>
                <a:latin typeface="Calibri"/>
                <a:ea typeface="Calibri"/>
                <a:cs typeface="Calibri"/>
              </a:defRPr>
            </a:pPr>
            <a:r>
              <a:rPr sz="2250" b="0">
                <a:solidFill>
                  <a:srgbClr val="000000"/>
                </a:solidFill>
                <a:latin typeface="Calibri"/>
                <a:ea typeface="Calibri"/>
                <a:cs typeface="Calibri"/>
              </a:rPr>
              <a:t>Trained</a:t>
            </a:r>
          </a:p>
        </p:txBody>
      </p:sp>
      <p:graphicFrame>
        <p:nvGraphicFramePr>
          <p:cNvPr id="19" name="表格 18"/>
          <p:cNvGraphicFramePr/>
          <p:nvPr/>
        </p:nvGraphicFramePr>
        <p:xfrm>
          <a:off x="4210050" y="1390650"/>
          <a:ext cx="4000500" cy="2266950"/>
        </p:xfrm>
        <a:graphic>
          <a:graphicData uri="http://schemas.openxmlformats.org/drawingml/2006/table">
            <a:tbl>
              <a:tblPr/>
              <a:tblGrid>
                <a:gridCol w="1333500">
                  <a:extLst>
                    <a:ext uri="{9D8B030D-6E8A-4147-A177-3AD203B41FA5}">
                      <a16:colId xmlns:a16="http://schemas.microsoft.com/office/drawing/2014/main" val="20000"/>
                    </a:ext>
                  </a:extLst>
                </a:gridCol>
                <a:gridCol w="1333500">
                  <a:extLst>
                    <a:ext uri="{9D8B030D-6E8A-4147-A177-3AD203B41FA5}">
                      <a16:colId xmlns:a16="http://schemas.microsoft.com/office/drawing/2014/main" val="20001"/>
                    </a:ext>
                  </a:extLst>
                </a:gridCol>
                <a:gridCol w="1333500">
                  <a:extLst>
                    <a:ext uri="{9D8B030D-6E8A-4147-A177-3AD203B41FA5}">
                      <a16:colId xmlns:a16="http://schemas.microsoft.com/office/drawing/2014/main" val="20002"/>
                    </a:ext>
                  </a:extLst>
                </a:gridCol>
              </a:tblGrid>
              <a:tr h="323850">
                <a:tc>
                  <a:txBody>
                    <a:bodyPr/>
                    <a:lstStyle/>
                    <a:p>
                      <a:pPr algn="ctr"/>
                      <a:r>
                        <a:rPr sz="1650">
                          <a:solidFill>
                            <a:srgbClr val="000000"/>
                          </a:solidFill>
                          <a:latin typeface="Calibri"/>
                          <a:ea typeface="Calibri"/>
                          <a:cs typeface="Calibri"/>
                        </a:rPr>
                        <a:t>mid</a:t>
                      </a:r>
                    </a:p>
                  </a:txBody>
                  <a:tcPr marL="47625" marR="47625" marT="28575" marB="28575" anchor="ctr">
                    <a:solidFill>
                      <a:srgbClr val="D9D9D9"/>
                    </a:solidFill>
                  </a:tcPr>
                </a:tc>
                <a:tc>
                  <a:txBody>
                    <a:bodyPr/>
                    <a:lstStyle/>
                    <a:p>
                      <a:pPr algn="ctr"/>
                      <a:r>
                        <a:rPr sz="1650">
                          <a:solidFill>
                            <a:srgbClr val="000000"/>
                          </a:solidFill>
                          <a:latin typeface="Calibri"/>
                          <a:ea typeface="Calibri"/>
                          <a:cs typeface="Calibri"/>
                        </a:rPr>
                        <a:t>tid</a:t>
                      </a:r>
                    </a:p>
                  </a:txBody>
                  <a:tcPr marL="47625" marR="47625" marT="28575" marB="28575" anchor="ctr">
                    <a:solidFill>
                      <a:srgbClr val="D9D9D9"/>
                    </a:solidFill>
                  </a:tcPr>
                </a:tc>
                <a:tc>
                  <a:txBody>
                    <a:bodyPr/>
                    <a:lstStyle/>
                    <a:p>
                      <a:pPr algn="ctr"/>
                      <a:r>
                        <a:rPr sz="1650">
                          <a:solidFill>
                            <a:srgbClr val="000000"/>
                          </a:solidFill>
                          <a:latin typeface="Calibri"/>
                          <a:ea typeface="Calibri"/>
                          <a:cs typeface="Calibri"/>
                        </a:rPr>
                        <a:t>day</a:t>
                      </a:r>
                    </a:p>
                  </a:txBody>
                  <a:tcPr marL="47625" marR="47625" marT="28575" marB="28575" anchor="ctr">
                    <a:solidFill>
                      <a:srgbClr val="D9D9D9"/>
                    </a:solidFill>
                  </a:tcPr>
                </a:tc>
                <a:extLst>
                  <a:ext uri="{0D108BD9-81ED-4DB2-BD59-A6C34878D82A}">
                    <a16:rowId xmlns:a16="http://schemas.microsoft.com/office/drawing/2014/main" val="10000"/>
                  </a:ext>
                </a:extLst>
              </a:tr>
              <a:tr h="323850">
                <a:tc>
                  <a:txBody>
                    <a:bodyPr/>
                    <a:lstStyle/>
                    <a:p>
                      <a:pPr algn="ctr"/>
                      <a:r>
                        <a:rPr sz="1650">
                          <a:solidFill>
                            <a:srgbClr val="000000"/>
                          </a:solidFill>
                          <a:latin typeface="Calibri"/>
                          <a:ea typeface="Calibri"/>
                          <a:cs typeface="Calibri"/>
                        </a:rPr>
                        <a:t>M1</a:t>
                      </a:r>
                    </a:p>
                  </a:txBody>
                  <a:tcPr marL="47625" marR="47625" marT="28575" marB="28575" anchor="ctr">
                    <a:solidFill>
                      <a:srgbClr val="FFFFFF"/>
                    </a:solidFill>
                  </a:tcPr>
                </a:tc>
                <a:tc>
                  <a:txBody>
                    <a:bodyPr/>
                    <a:lstStyle/>
                    <a:p>
                      <a:pPr algn="ctr"/>
                      <a:r>
                        <a:rPr sz="1650" dirty="0">
                          <a:solidFill>
                            <a:srgbClr val="000000"/>
                          </a:solidFill>
                          <a:latin typeface="Calibri"/>
                          <a:ea typeface="Calibri"/>
                          <a:cs typeface="Calibri"/>
                        </a:rPr>
                        <a:t>T1</a:t>
                      </a:r>
                    </a:p>
                  </a:txBody>
                  <a:tcPr marL="47625" marR="47625" marT="28575" marB="28575" anchor="ctr">
                    <a:solidFill>
                      <a:srgbClr val="FFFFFF"/>
                    </a:solidFill>
                  </a:tcPr>
                </a:tc>
                <a:tc>
                  <a:txBody>
                    <a:bodyPr/>
                    <a:lstStyle/>
                    <a:p>
                      <a:pPr algn="ctr"/>
                      <a:r>
                        <a:rPr sz="1650">
                          <a:solidFill>
                            <a:srgbClr val="000000"/>
                          </a:solidFill>
                          <a:latin typeface="Calibri"/>
                          <a:ea typeface="Calibri"/>
                          <a:cs typeface="Calibri"/>
                        </a:rPr>
                        <a:t>Sep 1</a:t>
                      </a:r>
                    </a:p>
                  </a:txBody>
                  <a:tcPr marL="47625" marR="47625" marT="28575" marB="28575" anchor="ctr">
                    <a:solidFill>
                      <a:srgbClr val="FFFFFF"/>
                    </a:solidFill>
                  </a:tcPr>
                </a:tc>
                <a:extLst>
                  <a:ext uri="{0D108BD9-81ED-4DB2-BD59-A6C34878D82A}">
                    <a16:rowId xmlns:a16="http://schemas.microsoft.com/office/drawing/2014/main" val="10001"/>
                  </a:ext>
                </a:extLst>
              </a:tr>
              <a:tr h="323850">
                <a:tc>
                  <a:txBody>
                    <a:bodyPr/>
                    <a:lstStyle/>
                    <a:p>
                      <a:pPr algn="ctr"/>
                      <a:r>
                        <a:rPr sz="1650">
                          <a:solidFill>
                            <a:srgbClr val="000000"/>
                          </a:solidFill>
                          <a:latin typeface="Calibri"/>
                          <a:ea typeface="Calibri"/>
                          <a:cs typeface="Calibri"/>
                        </a:rPr>
                        <a:t>M1</a:t>
                      </a:r>
                    </a:p>
                  </a:txBody>
                  <a:tcPr marL="47625" marR="47625" marT="28575" marB="28575" anchor="ctr">
                    <a:solidFill>
                      <a:srgbClr val="FFFFFF"/>
                    </a:solidFill>
                  </a:tcPr>
                </a:tc>
                <a:tc>
                  <a:txBody>
                    <a:bodyPr/>
                    <a:lstStyle/>
                    <a:p>
                      <a:pPr algn="ctr"/>
                      <a:r>
                        <a:rPr sz="1650">
                          <a:solidFill>
                            <a:srgbClr val="000000"/>
                          </a:solidFill>
                          <a:latin typeface="Calibri"/>
                          <a:ea typeface="Calibri"/>
                          <a:cs typeface="Calibri"/>
                        </a:rPr>
                        <a:t>T1</a:t>
                      </a:r>
                    </a:p>
                  </a:txBody>
                  <a:tcPr marL="47625" marR="47625" marT="28575" marB="28575" anchor="ctr">
                    <a:solidFill>
                      <a:srgbClr val="FFFFFF"/>
                    </a:solidFill>
                  </a:tcPr>
                </a:tc>
                <a:tc>
                  <a:txBody>
                    <a:bodyPr/>
                    <a:lstStyle/>
                    <a:p>
                      <a:pPr algn="ctr"/>
                      <a:r>
                        <a:rPr sz="1650">
                          <a:solidFill>
                            <a:srgbClr val="000000"/>
                          </a:solidFill>
                          <a:latin typeface="Calibri"/>
                          <a:ea typeface="Calibri"/>
                          <a:cs typeface="Calibri"/>
                        </a:rPr>
                        <a:t>Sep 5</a:t>
                      </a:r>
                    </a:p>
                  </a:txBody>
                  <a:tcPr marL="47625" marR="47625" marT="28575" marB="28575" anchor="ctr">
                    <a:solidFill>
                      <a:srgbClr val="FFFFFF"/>
                    </a:solidFill>
                  </a:tcPr>
                </a:tc>
                <a:extLst>
                  <a:ext uri="{0D108BD9-81ED-4DB2-BD59-A6C34878D82A}">
                    <a16:rowId xmlns:a16="http://schemas.microsoft.com/office/drawing/2014/main" val="10002"/>
                  </a:ext>
                </a:extLst>
              </a:tr>
              <a:tr h="323850">
                <a:tc>
                  <a:txBody>
                    <a:bodyPr/>
                    <a:lstStyle/>
                    <a:p>
                      <a:pPr algn="ctr"/>
                      <a:r>
                        <a:rPr sz="1650">
                          <a:solidFill>
                            <a:srgbClr val="000000"/>
                          </a:solidFill>
                          <a:latin typeface="Calibri"/>
                          <a:ea typeface="Calibri"/>
                          <a:cs typeface="Calibri"/>
                        </a:rPr>
                        <a:t>M2</a:t>
                      </a:r>
                    </a:p>
                  </a:txBody>
                  <a:tcPr marL="47625" marR="47625" marT="28575" marB="28575" anchor="ctr">
                    <a:solidFill>
                      <a:srgbClr val="FFFFFF"/>
                    </a:solidFill>
                  </a:tcPr>
                </a:tc>
                <a:tc>
                  <a:txBody>
                    <a:bodyPr/>
                    <a:lstStyle/>
                    <a:p>
                      <a:pPr algn="ctr"/>
                      <a:r>
                        <a:rPr sz="1650">
                          <a:solidFill>
                            <a:srgbClr val="000000"/>
                          </a:solidFill>
                          <a:latin typeface="Calibri"/>
                          <a:ea typeface="Calibri"/>
                          <a:cs typeface="Calibri"/>
                        </a:rPr>
                        <a:t>T1</a:t>
                      </a:r>
                    </a:p>
                  </a:txBody>
                  <a:tcPr marL="47625" marR="47625" marT="28575" marB="28575" anchor="ctr">
                    <a:solidFill>
                      <a:srgbClr val="FFFFFF"/>
                    </a:solidFill>
                  </a:tcPr>
                </a:tc>
                <a:tc>
                  <a:txBody>
                    <a:bodyPr/>
                    <a:lstStyle/>
                    <a:p>
                      <a:pPr algn="ctr"/>
                      <a:r>
                        <a:rPr sz="1650">
                          <a:solidFill>
                            <a:srgbClr val="000000"/>
                          </a:solidFill>
                          <a:latin typeface="Calibri"/>
                          <a:ea typeface="Calibri"/>
                          <a:cs typeface="Calibri"/>
                        </a:rPr>
                        <a:t>Sep 2</a:t>
                      </a:r>
                    </a:p>
                  </a:txBody>
                  <a:tcPr marL="47625" marR="47625" marT="28575" marB="28575" anchor="ctr">
                    <a:solidFill>
                      <a:srgbClr val="FFFFFF"/>
                    </a:solidFill>
                  </a:tcPr>
                </a:tc>
                <a:extLst>
                  <a:ext uri="{0D108BD9-81ED-4DB2-BD59-A6C34878D82A}">
                    <a16:rowId xmlns:a16="http://schemas.microsoft.com/office/drawing/2014/main" val="10003"/>
                  </a:ext>
                </a:extLst>
              </a:tr>
              <a:tr h="323850">
                <a:tc>
                  <a:txBody>
                    <a:bodyPr/>
                    <a:lstStyle/>
                    <a:p>
                      <a:pPr algn="ctr"/>
                      <a:r>
                        <a:rPr sz="1650">
                          <a:solidFill>
                            <a:srgbClr val="000000"/>
                          </a:solidFill>
                          <a:latin typeface="Calibri"/>
                          <a:ea typeface="Calibri"/>
                          <a:cs typeface="Calibri"/>
                        </a:rPr>
                        <a:t>M2</a:t>
                      </a:r>
                    </a:p>
                  </a:txBody>
                  <a:tcPr marL="47625" marR="47625" marT="28575" marB="28575" anchor="ctr">
                    <a:solidFill>
                      <a:srgbClr val="FFFFFF"/>
                    </a:solidFill>
                  </a:tcPr>
                </a:tc>
                <a:tc>
                  <a:txBody>
                    <a:bodyPr/>
                    <a:lstStyle/>
                    <a:p>
                      <a:pPr algn="ctr"/>
                      <a:r>
                        <a:rPr sz="1650" dirty="0">
                          <a:solidFill>
                            <a:srgbClr val="000000"/>
                          </a:solidFill>
                          <a:latin typeface="Calibri"/>
                          <a:ea typeface="Calibri"/>
                          <a:cs typeface="Calibri"/>
                        </a:rPr>
                        <a:t>T2</a:t>
                      </a:r>
                    </a:p>
                  </a:txBody>
                  <a:tcPr marL="47625" marR="47625" marT="28575" marB="28575" anchor="ctr">
                    <a:solidFill>
                      <a:srgbClr val="FFFFFF"/>
                    </a:solidFill>
                  </a:tcPr>
                </a:tc>
                <a:tc>
                  <a:txBody>
                    <a:bodyPr/>
                    <a:lstStyle/>
                    <a:p>
                      <a:pPr algn="ctr"/>
                      <a:r>
                        <a:rPr sz="1650">
                          <a:solidFill>
                            <a:srgbClr val="000000"/>
                          </a:solidFill>
                          <a:latin typeface="Calibri"/>
                          <a:ea typeface="Calibri"/>
                          <a:cs typeface="Calibri"/>
                        </a:rPr>
                        <a:t>Sep 3</a:t>
                      </a:r>
                    </a:p>
                  </a:txBody>
                  <a:tcPr marL="47625" marR="47625" marT="28575" marB="28575" anchor="ctr">
                    <a:solidFill>
                      <a:srgbClr val="FFFFFF"/>
                    </a:solidFill>
                  </a:tcPr>
                </a:tc>
                <a:extLst>
                  <a:ext uri="{0D108BD9-81ED-4DB2-BD59-A6C34878D82A}">
                    <a16:rowId xmlns:a16="http://schemas.microsoft.com/office/drawing/2014/main" val="10004"/>
                  </a:ext>
                </a:extLst>
              </a:tr>
              <a:tr h="323850">
                <a:tc>
                  <a:txBody>
                    <a:bodyPr/>
                    <a:lstStyle/>
                    <a:p>
                      <a:pPr algn="ctr"/>
                      <a:r>
                        <a:rPr sz="1650">
                          <a:solidFill>
                            <a:srgbClr val="000000"/>
                          </a:solidFill>
                          <a:latin typeface="Calibri"/>
                          <a:ea typeface="Calibri"/>
                          <a:cs typeface="Calibri"/>
                        </a:rPr>
                        <a:t>M2</a:t>
                      </a:r>
                    </a:p>
                  </a:txBody>
                  <a:tcPr marL="47625" marR="47625" marT="28575" marB="28575" anchor="ctr">
                    <a:solidFill>
                      <a:srgbClr val="FFFFFF"/>
                    </a:solidFill>
                  </a:tcPr>
                </a:tc>
                <a:tc>
                  <a:txBody>
                    <a:bodyPr/>
                    <a:lstStyle/>
                    <a:p>
                      <a:pPr algn="ctr"/>
                      <a:r>
                        <a:rPr sz="1650">
                          <a:solidFill>
                            <a:srgbClr val="000000"/>
                          </a:solidFill>
                          <a:latin typeface="Calibri"/>
                          <a:ea typeface="Calibri"/>
                          <a:cs typeface="Calibri"/>
                        </a:rPr>
                        <a:t>T3</a:t>
                      </a:r>
                    </a:p>
                  </a:txBody>
                  <a:tcPr marL="47625" marR="47625" marT="28575" marB="28575" anchor="ctr">
                    <a:solidFill>
                      <a:srgbClr val="FFFFFF"/>
                    </a:solidFill>
                  </a:tcPr>
                </a:tc>
                <a:tc>
                  <a:txBody>
                    <a:bodyPr/>
                    <a:lstStyle/>
                    <a:p>
                      <a:pPr algn="ctr"/>
                      <a:r>
                        <a:rPr sz="1650">
                          <a:solidFill>
                            <a:srgbClr val="000000"/>
                          </a:solidFill>
                          <a:latin typeface="Calibri"/>
                          <a:ea typeface="Calibri"/>
                          <a:cs typeface="Calibri"/>
                        </a:rPr>
                        <a:t>Sep 4</a:t>
                      </a:r>
                    </a:p>
                  </a:txBody>
                  <a:tcPr marL="47625" marR="47625" marT="28575" marB="28575" anchor="ctr">
                    <a:solidFill>
                      <a:srgbClr val="FFFFFF"/>
                    </a:solidFill>
                  </a:tcPr>
                </a:tc>
                <a:extLst>
                  <a:ext uri="{0D108BD9-81ED-4DB2-BD59-A6C34878D82A}">
                    <a16:rowId xmlns:a16="http://schemas.microsoft.com/office/drawing/2014/main" val="10005"/>
                  </a:ext>
                </a:extLst>
              </a:tr>
              <a:tr h="323850">
                <a:tc>
                  <a:txBody>
                    <a:bodyPr/>
                    <a:lstStyle/>
                    <a:p>
                      <a:pPr algn="ctr"/>
                      <a:r>
                        <a:rPr sz="1650">
                          <a:solidFill>
                            <a:srgbClr val="000000"/>
                          </a:solidFill>
                          <a:latin typeface="Calibri"/>
                          <a:ea typeface="Calibri"/>
                          <a:cs typeface="Calibri"/>
                        </a:rPr>
                        <a:t>M3</a:t>
                      </a:r>
                    </a:p>
                  </a:txBody>
                  <a:tcPr marL="47625" marR="47625" marT="28575" marB="28575" anchor="ctr">
                    <a:solidFill>
                      <a:srgbClr val="FFFFFF"/>
                    </a:solidFill>
                  </a:tcPr>
                </a:tc>
                <a:tc>
                  <a:txBody>
                    <a:bodyPr/>
                    <a:lstStyle/>
                    <a:p>
                      <a:pPr algn="ctr"/>
                      <a:r>
                        <a:rPr sz="1650">
                          <a:solidFill>
                            <a:srgbClr val="000000"/>
                          </a:solidFill>
                          <a:latin typeface="Calibri"/>
                          <a:ea typeface="Calibri"/>
                          <a:cs typeface="Calibri"/>
                        </a:rPr>
                        <a:t>T2</a:t>
                      </a:r>
                    </a:p>
                  </a:txBody>
                  <a:tcPr marL="47625" marR="47625" marT="28575" marB="28575" anchor="ctr">
                    <a:solidFill>
                      <a:srgbClr val="FFFFFF"/>
                    </a:solidFill>
                  </a:tcPr>
                </a:tc>
                <a:tc>
                  <a:txBody>
                    <a:bodyPr/>
                    <a:lstStyle/>
                    <a:p>
                      <a:pPr algn="ctr"/>
                      <a:r>
                        <a:rPr sz="1650" dirty="0">
                          <a:solidFill>
                            <a:srgbClr val="000000"/>
                          </a:solidFill>
                          <a:latin typeface="Calibri"/>
                          <a:ea typeface="Calibri"/>
                          <a:cs typeface="Calibri"/>
                        </a:rPr>
                        <a:t>Sep 6</a:t>
                      </a:r>
                    </a:p>
                  </a:txBody>
                  <a:tcPr marL="47625" marR="47625" marT="28575" marB="28575" anchor="ctr">
                    <a:solidFill>
                      <a:srgbClr val="FFFFFF"/>
                    </a:solidFill>
                  </a:tcPr>
                </a:tc>
                <a:extLst>
                  <a:ext uri="{0D108BD9-81ED-4DB2-BD59-A6C34878D82A}">
                    <a16:rowId xmlns:a16="http://schemas.microsoft.com/office/drawing/2014/main" val="10006"/>
                  </a:ext>
                </a:extLst>
              </a:tr>
            </a:tbl>
          </a:graphicData>
        </a:graphic>
      </p:graphicFrame>
      <p:sp>
        <p:nvSpPr>
          <p:cNvPr id="10" name="body">
            <a:extLst>
              <a:ext uri="{FF2B5EF4-FFF2-40B4-BE49-F238E27FC236}">
                <a16:creationId xmlns:a16="http://schemas.microsoft.com/office/drawing/2014/main" id="{3B140683-52DA-4F6A-8725-291EF90D17BC}"/>
              </a:ext>
            </a:extLst>
          </p:cNvPr>
          <p:cNvSpPr>
            <a:spLocks noGrp="1"/>
          </p:cNvSpPr>
          <p:nvPr/>
        </p:nvSpPr>
        <p:spPr>
          <a:xfrm>
            <a:off x="781050" y="4914900"/>
            <a:ext cx="7600950" cy="952500"/>
          </a:xfrm>
          <a:prstGeom prst="rect">
            <a:avLst/>
          </a:prstGeom>
          <a:noFill/>
          <a:ln w="0">
            <a:noFill/>
          </a:ln>
        </p:spPr>
        <p:txBody>
          <a:bodyPr wrap="square" lIns="0" tIns="0" rIns="0" bIns="0">
            <a:noAutofit/>
          </a:bodyPr>
          <a:lstStyle/>
          <a:p>
            <a:pPr>
              <a:defRPr sz="2175" b="0">
                <a:solidFill>
                  <a:srgbClr val="FF0000"/>
                </a:solidFill>
                <a:latin typeface="Calibri"/>
                <a:ea typeface="Calibri"/>
                <a:cs typeface="Calibri"/>
              </a:defRPr>
            </a:pPr>
            <a:r>
              <a:rPr sz="2175" b="0">
                <a:solidFill>
                  <a:srgbClr val="FF0000"/>
                </a:solidFill>
                <a:latin typeface="Calibri"/>
                <a:ea typeface="Calibri"/>
                <a:cs typeface="Calibri"/>
              </a:rPr>
              <a:t>Find the ID and name of every member trained on all Laser tools.</a:t>
            </a:r>
          </a:p>
        </p:txBody>
      </p:sp>
      <p:sp>
        <p:nvSpPr>
          <p:cNvPr id="9001" name="Title 1">
            <a:extLst>
              <a:ext uri="{FF2B5EF4-FFF2-40B4-BE49-F238E27FC236}">
                <a16:creationId xmlns:a16="http://schemas.microsoft.com/office/drawing/2014/main" id="{4EF27E5C-9C4D-BDBE-7667-D0B141BCC8F5}"/>
              </a:ext>
            </a:extLst>
          </p:cNvPr>
          <p:cNvSpPr>
            <a:spLocks noGrp="1"/>
          </p:cNvSpPr>
          <p:nvPr>
            <p:ph type="title"/>
          </p:nvPr>
        </p:nvSpPr>
        <p:spPr/>
        <p:txBody>
          <a:bodyPr/>
          <a:lstStyle/>
          <a:p>
            <a:r>
              <a:rPr lang="en-US">
                <a:solidFill>
                  <a:srgbClr val="FF0000"/>
                </a:solidFill>
              </a:rPr>
              <a:t>Practice: </a:t>
            </a:r>
            <a:r>
              <a:rPr lang="en-US">
                <a:solidFill>
                  <a:srgbClr val="3333CC"/>
                </a:solidFill>
              </a:rPr>
              <a:t>Q23</a:t>
            </a:r>
          </a:p>
        </p:txBody>
      </p:sp>
      <p:sp>
        <p:nvSpPr>
          <p:cNvPr id="9002" name="Slide Number Placeholder 1">
            <a:extLst>
              <a:ext uri="{FF2B5EF4-FFF2-40B4-BE49-F238E27FC236}">
                <a16:creationId xmlns:a16="http://schemas.microsoft.com/office/drawing/2014/main" id="{B90139AC-3BDA-723A-097A-000DA0A784C1}"/>
              </a:ext>
            </a:extLst>
          </p:cNvPr>
          <p:cNvSpPr>
            <a:spLocks noGrp="1"/>
          </p:cNvSpPr>
          <p:nvPr>
            <p:ph type="sldNum" sz="quarter" idx="12"/>
          </p:nvPr>
        </p:nvSpPr>
        <p:spPr/>
        <p:txBody>
          <a:bodyPr/>
          <a:lstStyle/>
          <a:p>
            <a:pPr>
              <a:defRPr/>
            </a:pPr>
            <a:fld id="{43CA101F-9E5F-9249-9862-3CE55B3BB777}" type="slidenum">
              <a:rPr lang="en-US" altLang="zh-TW" smtClean="0"/>
              <a:pPr>
                <a:defRPr/>
              </a:pPr>
              <a:t>62</a:t>
            </a:fld>
            <a:endParaRPr lang="en-US" altLang="zh-TW"/>
          </a:p>
        </p:txBody>
      </p:sp>
    </p:spTree>
    <p:extLst>
      <p:ext uri="{BB962C8B-B14F-4D97-AF65-F5344CB8AC3E}">
        <p14:creationId xmlns:p14="http://schemas.microsoft.com/office/powerpoint/2010/main" val="1256356452"/>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formula">
            <a:extLst>
              <a:ext uri="{FF2B5EF4-FFF2-40B4-BE49-F238E27FC236}">
                <a16:creationId xmlns:a16="http://schemas.microsoft.com/office/drawing/2014/main" id="{A35D208C-A849-4AFC-A22B-EA5BFEF3BA76}"/>
              </a:ext>
            </a:extLst>
          </p:cNvPr>
          <p:cNvSpPr>
            <a:spLocks noGrp="1"/>
          </p:cNvSpPr>
          <p:nvPr/>
        </p:nvSpPr>
        <p:spPr>
          <a:xfrm>
            <a:off x="781050" y="1028700"/>
            <a:ext cx="7715250" cy="523875"/>
          </a:xfrm>
          <a:prstGeom prst="rect">
            <a:avLst/>
          </a:prstGeom>
          <a:noFill/>
          <a:ln w="0">
            <a:noFill/>
          </a:ln>
        </p:spPr>
        <p:txBody>
          <a:bodyPr wrap="square" lIns="0" tIns="0" rIns="0" bIns="0">
            <a:noAutofit/>
          </a:bodyPr>
          <a:lstStyle/>
          <a:p>
            <a:pPr>
              <a:defRPr sz="2100" b="0">
                <a:solidFill>
                  <a:srgbClr val="000000"/>
                </a:solidFill>
                <a:latin typeface="Cambria Math"/>
                <a:ea typeface="Cambria Math"/>
                <a:cs typeface="Cambria Math"/>
              </a:defRPr>
            </a:pPr>
            <a:r>
              <a:rPr sz="2100" b="0" dirty="0">
                <a:solidFill>
                  <a:srgbClr val="000000"/>
                </a:solidFill>
                <a:latin typeface="Cambria Math"/>
                <a:ea typeface="Cambria Math"/>
                <a:cs typeface="Cambria Math"/>
              </a:rPr>
              <a:t>S ← π</a:t>
            </a:r>
            <a:r>
              <a:rPr sz="1491" b="0" baseline="-25000" dirty="0" err="1">
                <a:solidFill>
                  <a:srgbClr val="000000"/>
                </a:solidFill>
                <a:latin typeface="Cambria Math"/>
                <a:ea typeface="Cambria Math"/>
                <a:cs typeface="Cambria Math"/>
              </a:rPr>
              <a:t>tid</a:t>
            </a:r>
            <a:r>
              <a:rPr sz="2100" b="0" dirty="0">
                <a:solidFill>
                  <a:srgbClr val="000000"/>
                </a:solidFill>
                <a:latin typeface="Cambria Math"/>
                <a:ea typeface="Cambria Math"/>
                <a:cs typeface="Cambria Math"/>
              </a:rPr>
              <a:t>(</a:t>
            </a:r>
            <a:r>
              <a:rPr sz="2100" b="0" dirty="0" err="1">
                <a:solidFill>
                  <a:srgbClr val="000000"/>
                </a:solidFill>
                <a:latin typeface="Cambria Math"/>
                <a:ea typeface="Cambria Math"/>
                <a:cs typeface="Cambria Math"/>
              </a:rPr>
              <a:t>σ</a:t>
            </a:r>
            <a:r>
              <a:rPr sz="1491" b="0" baseline="-25000" dirty="0" err="1">
                <a:solidFill>
                  <a:srgbClr val="000000"/>
                </a:solidFill>
                <a:latin typeface="Cambria Math"/>
                <a:ea typeface="Cambria Math"/>
                <a:cs typeface="Cambria Math"/>
              </a:rPr>
              <a:t>category</a:t>
            </a:r>
            <a:r>
              <a:rPr sz="1491" b="0" baseline="-25000" dirty="0">
                <a:solidFill>
                  <a:srgbClr val="000000"/>
                </a:solidFill>
                <a:latin typeface="Cambria Math"/>
                <a:ea typeface="Cambria Math"/>
                <a:cs typeface="Cambria Math"/>
              </a:rPr>
              <a:t>='Laser'</a:t>
            </a:r>
            <a:r>
              <a:rPr sz="2100" b="0" dirty="0">
                <a:solidFill>
                  <a:srgbClr val="000000"/>
                </a:solidFill>
                <a:latin typeface="Cambria Math"/>
                <a:ea typeface="Cambria Math"/>
                <a:cs typeface="Cambria Math"/>
              </a:rPr>
              <a:t>(Tool))</a:t>
            </a:r>
          </a:p>
        </p:txBody>
      </p:sp>
      <p:sp>
        <p:nvSpPr>
          <p:cNvPr id="4" name="formula">
            <a:extLst>
              <a:ext uri="{FF2B5EF4-FFF2-40B4-BE49-F238E27FC236}">
                <a16:creationId xmlns:a16="http://schemas.microsoft.com/office/drawing/2014/main" id="{7ED6A572-6891-4CE7-B33F-1290B862DFAE}"/>
              </a:ext>
            </a:extLst>
          </p:cNvPr>
          <p:cNvSpPr>
            <a:spLocks noGrp="1"/>
          </p:cNvSpPr>
          <p:nvPr/>
        </p:nvSpPr>
        <p:spPr>
          <a:xfrm>
            <a:off x="781050" y="1619250"/>
            <a:ext cx="7715250" cy="523875"/>
          </a:xfrm>
          <a:prstGeom prst="rect">
            <a:avLst/>
          </a:prstGeom>
          <a:noFill/>
          <a:ln w="0">
            <a:noFill/>
          </a:ln>
        </p:spPr>
        <p:txBody>
          <a:bodyPr wrap="square" lIns="0" tIns="0" rIns="0" bIns="0">
            <a:noAutofit/>
          </a:bodyPr>
          <a:lstStyle/>
          <a:p>
            <a:pPr>
              <a:defRPr sz="2175" b="0">
                <a:solidFill>
                  <a:srgbClr val="000000"/>
                </a:solidFill>
                <a:latin typeface="Cambria Math"/>
                <a:ea typeface="Cambria Math"/>
                <a:cs typeface="Cambria Math"/>
              </a:defRPr>
            </a:pPr>
            <a:r>
              <a:rPr sz="2175" b="0">
                <a:solidFill>
                  <a:srgbClr val="000000"/>
                </a:solidFill>
                <a:latin typeface="Cambria Math"/>
                <a:ea typeface="Cambria Math"/>
                <a:cs typeface="Cambria Math"/>
              </a:rPr>
              <a:t>R ← π</a:t>
            </a:r>
            <a:r>
              <a:rPr sz="1544" b="0" baseline="-25000">
                <a:solidFill>
                  <a:srgbClr val="000000"/>
                </a:solidFill>
                <a:latin typeface="Cambria Math"/>
                <a:ea typeface="Cambria Math"/>
                <a:cs typeface="Cambria Math"/>
              </a:rPr>
              <a:t>mid,tid</a:t>
            </a:r>
            <a:r>
              <a:rPr sz="2175" b="0">
                <a:solidFill>
                  <a:srgbClr val="000000"/>
                </a:solidFill>
                <a:latin typeface="Cambria Math"/>
                <a:ea typeface="Cambria Math"/>
                <a:cs typeface="Cambria Math"/>
              </a:rPr>
              <a:t>(Trained)</a:t>
            </a:r>
          </a:p>
        </p:txBody>
      </p:sp>
      <p:sp>
        <p:nvSpPr>
          <p:cNvPr id="5" name="body">
            <a:extLst>
              <a:ext uri="{FF2B5EF4-FFF2-40B4-BE49-F238E27FC236}">
                <a16:creationId xmlns:a16="http://schemas.microsoft.com/office/drawing/2014/main" id="{8343D1C5-CA8F-46B7-8E15-C88C2FEA85DF}"/>
              </a:ext>
            </a:extLst>
          </p:cNvPr>
          <p:cNvSpPr>
            <a:spLocks noGrp="1"/>
          </p:cNvSpPr>
          <p:nvPr/>
        </p:nvSpPr>
        <p:spPr>
          <a:xfrm>
            <a:off x="904875" y="2381250"/>
            <a:ext cx="3067050" cy="361950"/>
          </a:xfrm>
          <a:prstGeom prst="rect">
            <a:avLst/>
          </a:prstGeom>
          <a:noFill/>
          <a:ln w="0">
            <a:noFill/>
          </a:ln>
        </p:spPr>
        <p:txBody>
          <a:bodyPr wrap="square" lIns="0" tIns="0" rIns="0" bIns="0">
            <a:noAutofit/>
          </a:bodyPr>
          <a:lstStyle/>
          <a:p>
            <a:pPr>
              <a:defRPr sz="2250" b="0">
                <a:solidFill>
                  <a:srgbClr val="000000"/>
                </a:solidFill>
                <a:latin typeface="Calibri"/>
                <a:ea typeface="Calibri"/>
                <a:cs typeface="Calibri"/>
              </a:defRPr>
            </a:pPr>
            <a:r>
              <a:rPr sz="2250" b="0">
                <a:solidFill>
                  <a:srgbClr val="000000"/>
                </a:solidFill>
                <a:latin typeface="Calibri"/>
                <a:ea typeface="Calibri"/>
                <a:cs typeface="Calibri"/>
              </a:rPr>
              <a:t>R</a:t>
            </a:r>
          </a:p>
        </p:txBody>
      </p:sp>
      <p:graphicFrame>
        <p:nvGraphicFramePr>
          <p:cNvPr id="16" name="表格 15"/>
          <p:cNvGraphicFramePr/>
          <p:nvPr/>
        </p:nvGraphicFramePr>
        <p:xfrm>
          <a:off x="981075" y="2800350"/>
          <a:ext cx="3067050" cy="2000250"/>
        </p:xfrm>
        <a:graphic>
          <a:graphicData uri="http://schemas.openxmlformats.org/drawingml/2006/table">
            <a:tbl>
              <a:tblPr/>
              <a:tblGrid>
                <a:gridCol w="1533525">
                  <a:extLst>
                    <a:ext uri="{9D8B030D-6E8A-4147-A177-3AD203B41FA5}">
                      <a16:colId xmlns:a16="http://schemas.microsoft.com/office/drawing/2014/main" val="20000"/>
                    </a:ext>
                  </a:extLst>
                </a:gridCol>
                <a:gridCol w="1533525">
                  <a:extLst>
                    <a:ext uri="{9D8B030D-6E8A-4147-A177-3AD203B41FA5}">
                      <a16:colId xmlns:a16="http://schemas.microsoft.com/office/drawing/2014/main" val="20001"/>
                    </a:ext>
                  </a:extLst>
                </a:gridCol>
              </a:tblGrid>
              <a:tr h="333375">
                <a:tc>
                  <a:txBody>
                    <a:bodyPr/>
                    <a:lstStyle/>
                    <a:p>
                      <a:pPr algn="ctr"/>
                      <a:r>
                        <a:rPr sz="1800">
                          <a:solidFill>
                            <a:srgbClr val="000000"/>
                          </a:solidFill>
                          <a:latin typeface="Calibri"/>
                          <a:ea typeface="Calibri"/>
                          <a:cs typeface="Calibri"/>
                        </a:rPr>
                        <a:t>mid</a:t>
                      </a:r>
                    </a:p>
                  </a:txBody>
                  <a:tcPr marL="47625" marR="47625" marT="28575" marB="28575" anchor="ctr">
                    <a:solidFill>
                      <a:srgbClr val="D9D9D9"/>
                    </a:solidFill>
                  </a:tcPr>
                </a:tc>
                <a:tc>
                  <a:txBody>
                    <a:bodyPr/>
                    <a:lstStyle/>
                    <a:p>
                      <a:pPr algn="ctr"/>
                      <a:r>
                        <a:rPr sz="1800">
                          <a:solidFill>
                            <a:srgbClr val="000000"/>
                          </a:solidFill>
                          <a:latin typeface="Calibri"/>
                          <a:ea typeface="Calibri"/>
                          <a:cs typeface="Calibri"/>
                        </a:rPr>
                        <a:t>tid</a:t>
                      </a:r>
                    </a:p>
                  </a:txBody>
                  <a:tcPr marL="47625" marR="47625" marT="28575" marB="28575" anchor="ctr">
                    <a:solidFill>
                      <a:srgbClr val="D9D9D9"/>
                    </a:solidFill>
                  </a:tcPr>
                </a:tc>
                <a:extLst>
                  <a:ext uri="{0D108BD9-81ED-4DB2-BD59-A6C34878D82A}">
                    <a16:rowId xmlns:a16="http://schemas.microsoft.com/office/drawing/2014/main" val="10000"/>
                  </a:ext>
                </a:extLst>
              </a:tr>
              <a:tr h="333375">
                <a:tc>
                  <a:txBody>
                    <a:bodyPr/>
                    <a:lstStyle/>
                    <a:p>
                      <a:pPr algn="ctr"/>
                      <a:r>
                        <a:rPr sz="1800">
                          <a:solidFill>
                            <a:srgbClr val="000000"/>
                          </a:solidFill>
                          <a:latin typeface="Calibri"/>
                          <a:ea typeface="Calibri"/>
                          <a:cs typeface="Calibri"/>
                        </a:rPr>
                        <a:t>M1</a:t>
                      </a:r>
                    </a:p>
                  </a:txBody>
                  <a:tcPr marL="47625" marR="47625" marT="28575" marB="28575" anchor="ctr">
                    <a:solidFill>
                      <a:srgbClr val="FFFFFF"/>
                    </a:solidFill>
                  </a:tcPr>
                </a:tc>
                <a:tc>
                  <a:txBody>
                    <a:bodyPr/>
                    <a:lstStyle/>
                    <a:p>
                      <a:pPr algn="ctr"/>
                      <a:r>
                        <a:rPr sz="1800">
                          <a:solidFill>
                            <a:srgbClr val="000000"/>
                          </a:solidFill>
                          <a:latin typeface="Calibri"/>
                          <a:ea typeface="Calibri"/>
                          <a:cs typeface="Calibri"/>
                        </a:rPr>
                        <a:t>T1</a:t>
                      </a:r>
                    </a:p>
                  </a:txBody>
                  <a:tcPr marL="47625" marR="47625" marT="28575" marB="28575" anchor="ctr">
                    <a:solidFill>
                      <a:srgbClr val="FFFFFF"/>
                    </a:solidFill>
                  </a:tcPr>
                </a:tc>
                <a:extLst>
                  <a:ext uri="{0D108BD9-81ED-4DB2-BD59-A6C34878D82A}">
                    <a16:rowId xmlns:a16="http://schemas.microsoft.com/office/drawing/2014/main" val="10001"/>
                  </a:ext>
                </a:extLst>
              </a:tr>
              <a:tr h="333375">
                <a:tc>
                  <a:txBody>
                    <a:bodyPr/>
                    <a:lstStyle/>
                    <a:p>
                      <a:pPr algn="ctr"/>
                      <a:r>
                        <a:rPr sz="1800">
                          <a:solidFill>
                            <a:srgbClr val="000000"/>
                          </a:solidFill>
                          <a:latin typeface="Calibri"/>
                          <a:ea typeface="Calibri"/>
                          <a:cs typeface="Calibri"/>
                        </a:rPr>
                        <a:t>M2</a:t>
                      </a:r>
                    </a:p>
                  </a:txBody>
                  <a:tcPr marL="47625" marR="47625" marT="28575" marB="28575" anchor="ctr">
                    <a:solidFill>
                      <a:srgbClr val="FFFFFF"/>
                    </a:solidFill>
                  </a:tcPr>
                </a:tc>
                <a:tc>
                  <a:txBody>
                    <a:bodyPr/>
                    <a:lstStyle/>
                    <a:p>
                      <a:pPr algn="ctr"/>
                      <a:r>
                        <a:rPr sz="1800">
                          <a:solidFill>
                            <a:srgbClr val="000000"/>
                          </a:solidFill>
                          <a:latin typeface="Calibri"/>
                          <a:ea typeface="Calibri"/>
                          <a:cs typeface="Calibri"/>
                        </a:rPr>
                        <a:t>T1</a:t>
                      </a:r>
                    </a:p>
                  </a:txBody>
                  <a:tcPr marL="47625" marR="47625" marT="28575" marB="28575" anchor="ctr">
                    <a:solidFill>
                      <a:srgbClr val="FFFFFF"/>
                    </a:solidFill>
                  </a:tcPr>
                </a:tc>
                <a:extLst>
                  <a:ext uri="{0D108BD9-81ED-4DB2-BD59-A6C34878D82A}">
                    <a16:rowId xmlns:a16="http://schemas.microsoft.com/office/drawing/2014/main" val="10002"/>
                  </a:ext>
                </a:extLst>
              </a:tr>
              <a:tr h="333375">
                <a:tc>
                  <a:txBody>
                    <a:bodyPr/>
                    <a:lstStyle/>
                    <a:p>
                      <a:pPr algn="ctr"/>
                      <a:r>
                        <a:rPr sz="1800">
                          <a:solidFill>
                            <a:srgbClr val="000000"/>
                          </a:solidFill>
                          <a:latin typeface="Calibri"/>
                          <a:ea typeface="Calibri"/>
                          <a:cs typeface="Calibri"/>
                        </a:rPr>
                        <a:t>M2</a:t>
                      </a:r>
                    </a:p>
                  </a:txBody>
                  <a:tcPr marL="47625" marR="47625" marT="28575" marB="28575" anchor="ctr">
                    <a:solidFill>
                      <a:srgbClr val="FFFFFF"/>
                    </a:solidFill>
                  </a:tcPr>
                </a:tc>
                <a:tc>
                  <a:txBody>
                    <a:bodyPr/>
                    <a:lstStyle/>
                    <a:p>
                      <a:pPr algn="ctr"/>
                      <a:r>
                        <a:rPr sz="1800">
                          <a:solidFill>
                            <a:srgbClr val="000000"/>
                          </a:solidFill>
                          <a:latin typeface="Calibri"/>
                          <a:ea typeface="Calibri"/>
                          <a:cs typeface="Calibri"/>
                        </a:rPr>
                        <a:t>T2</a:t>
                      </a:r>
                    </a:p>
                  </a:txBody>
                  <a:tcPr marL="47625" marR="47625" marT="28575" marB="28575" anchor="ctr">
                    <a:solidFill>
                      <a:srgbClr val="FFFFFF"/>
                    </a:solidFill>
                  </a:tcPr>
                </a:tc>
                <a:extLst>
                  <a:ext uri="{0D108BD9-81ED-4DB2-BD59-A6C34878D82A}">
                    <a16:rowId xmlns:a16="http://schemas.microsoft.com/office/drawing/2014/main" val="10003"/>
                  </a:ext>
                </a:extLst>
              </a:tr>
              <a:tr h="333375">
                <a:tc>
                  <a:txBody>
                    <a:bodyPr/>
                    <a:lstStyle/>
                    <a:p>
                      <a:pPr algn="ctr"/>
                      <a:r>
                        <a:rPr sz="1800">
                          <a:solidFill>
                            <a:srgbClr val="000000"/>
                          </a:solidFill>
                          <a:latin typeface="Calibri"/>
                          <a:ea typeface="Calibri"/>
                          <a:cs typeface="Calibri"/>
                        </a:rPr>
                        <a:t>M2</a:t>
                      </a:r>
                    </a:p>
                  </a:txBody>
                  <a:tcPr marL="47625" marR="47625" marT="28575" marB="28575" anchor="ctr">
                    <a:solidFill>
                      <a:srgbClr val="FFFFFF"/>
                    </a:solidFill>
                  </a:tcPr>
                </a:tc>
                <a:tc>
                  <a:txBody>
                    <a:bodyPr/>
                    <a:lstStyle/>
                    <a:p>
                      <a:pPr algn="ctr"/>
                      <a:r>
                        <a:rPr sz="1800">
                          <a:solidFill>
                            <a:srgbClr val="000000"/>
                          </a:solidFill>
                          <a:latin typeface="Calibri"/>
                          <a:ea typeface="Calibri"/>
                          <a:cs typeface="Calibri"/>
                        </a:rPr>
                        <a:t>T3</a:t>
                      </a:r>
                    </a:p>
                  </a:txBody>
                  <a:tcPr marL="47625" marR="47625" marT="28575" marB="28575" anchor="ctr">
                    <a:solidFill>
                      <a:srgbClr val="FFFFFF"/>
                    </a:solidFill>
                  </a:tcPr>
                </a:tc>
                <a:extLst>
                  <a:ext uri="{0D108BD9-81ED-4DB2-BD59-A6C34878D82A}">
                    <a16:rowId xmlns:a16="http://schemas.microsoft.com/office/drawing/2014/main" val="10004"/>
                  </a:ext>
                </a:extLst>
              </a:tr>
              <a:tr h="333375">
                <a:tc>
                  <a:txBody>
                    <a:bodyPr/>
                    <a:lstStyle/>
                    <a:p>
                      <a:pPr algn="ctr"/>
                      <a:r>
                        <a:rPr sz="1800">
                          <a:solidFill>
                            <a:srgbClr val="000000"/>
                          </a:solidFill>
                          <a:latin typeface="Calibri"/>
                          <a:ea typeface="Calibri"/>
                          <a:cs typeface="Calibri"/>
                        </a:rPr>
                        <a:t>M3</a:t>
                      </a:r>
                    </a:p>
                  </a:txBody>
                  <a:tcPr marL="47625" marR="47625" marT="28575" marB="28575" anchor="ctr">
                    <a:solidFill>
                      <a:srgbClr val="FFFFFF"/>
                    </a:solidFill>
                  </a:tcPr>
                </a:tc>
                <a:tc>
                  <a:txBody>
                    <a:bodyPr/>
                    <a:lstStyle/>
                    <a:p>
                      <a:pPr algn="ctr"/>
                      <a:r>
                        <a:rPr sz="1800">
                          <a:solidFill>
                            <a:srgbClr val="000000"/>
                          </a:solidFill>
                          <a:latin typeface="Calibri"/>
                          <a:ea typeface="Calibri"/>
                          <a:cs typeface="Calibri"/>
                        </a:rPr>
                        <a:t>T2</a:t>
                      </a:r>
                    </a:p>
                  </a:txBody>
                  <a:tcPr marL="47625" marR="47625" marT="28575" marB="28575" anchor="ctr">
                    <a:solidFill>
                      <a:srgbClr val="FFFFFF"/>
                    </a:solidFill>
                  </a:tcPr>
                </a:tc>
                <a:extLst>
                  <a:ext uri="{0D108BD9-81ED-4DB2-BD59-A6C34878D82A}">
                    <a16:rowId xmlns:a16="http://schemas.microsoft.com/office/drawing/2014/main" val="10005"/>
                  </a:ext>
                </a:extLst>
              </a:tr>
            </a:tbl>
          </a:graphicData>
        </a:graphic>
      </p:graphicFrame>
      <p:sp>
        <p:nvSpPr>
          <p:cNvPr id="7" name="body">
            <a:extLst>
              <a:ext uri="{FF2B5EF4-FFF2-40B4-BE49-F238E27FC236}">
                <a16:creationId xmlns:a16="http://schemas.microsoft.com/office/drawing/2014/main" id="{7A0CF2DF-F388-4CC0-B03A-66EBB3D44C16}"/>
              </a:ext>
            </a:extLst>
          </p:cNvPr>
          <p:cNvSpPr>
            <a:spLocks noGrp="1"/>
          </p:cNvSpPr>
          <p:nvPr/>
        </p:nvSpPr>
        <p:spPr>
          <a:xfrm>
            <a:off x="5029200" y="2381250"/>
            <a:ext cx="2381250" cy="361950"/>
          </a:xfrm>
          <a:prstGeom prst="rect">
            <a:avLst/>
          </a:prstGeom>
          <a:noFill/>
          <a:ln w="0">
            <a:noFill/>
          </a:ln>
        </p:spPr>
        <p:txBody>
          <a:bodyPr wrap="square" lIns="0" tIns="0" rIns="0" bIns="0">
            <a:noAutofit/>
          </a:bodyPr>
          <a:lstStyle/>
          <a:p>
            <a:pPr>
              <a:defRPr sz="2250" b="0">
                <a:solidFill>
                  <a:srgbClr val="000000"/>
                </a:solidFill>
                <a:latin typeface="Calibri"/>
                <a:ea typeface="Calibri"/>
                <a:cs typeface="Calibri"/>
              </a:defRPr>
            </a:pPr>
            <a:r>
              <a:rPr sz="2250" b="0">
                <a:solidFill>
                  <a:srgbClr val="000000"/>
                </a:solidFill>
                <a:latin typeface="Calibri"/>
                <a:ea typeface="Calibri"/>
                <a:cs typeface="Calibri"/>
              </a:rPr>
              <a:t>S</a:t>
            </a:r>
          </a:p>
        </p:txBody>
      </p:sp>
      <p:graphicFrame>
        <p:nvGraphicFramePr>
          <p:cNvPr id="18" name="表格 17"/>
          <p:cNvGraphicFramePr/>
          <p:nvPr/>
        </p:nvGraphicFramePr>
        <p:xfrm>
          <a:off x="5105400" y="2800350"/>
          <a:ext cx="2381250" cy="1028700"/>
        </p:xfrm>
        <a:graphic>
          <a:graphicData uri="http://schemas.openxmlformats.org/drawingml/2006/table">
            <a:tbl>
              <a:tblPr/>
              <a:tblGrid>
                <a:gridCol w="2381250">
                  <a:extLst>
                    <a:ext uri="{9D8B030D-6E8A-4147-A177-3AD203B41FA5}">
                      <a16:colId xmlns:a16="http://schemas.microsoft.com/office/drawing/2014/main" val="20000"/>
                    </a:ext>
                  </a:extLst>
                </a:gridCol>
              </a:tblGrid>
              <a:tr h="333375">
                <a:tc>
                  <a:txBody>
                    <a:bodyPr/>
                    <a:lstStyle/>
                    <a:p>
                      <a:pPr algn="ctr"/>
                      <a:r>
                        <a:rPr sz="1875">
                          <a:solidFill>
                            <a:srgbClr val="000000"/>
                          </a:solidFill>
                          <a:latin typeface="Calibri"/>
                          <a:ea typeface="Calibri"/>
                          <a:cs typeface="Calibri"/>
                        </a:rPr>
                        <a:t>tid</a:t>
                      </a:r>
                    </a:p>
                  </a:txBody>
                  <a:tcPr marL="47625" marR="47625" marT="28575" marB="28575" anchor="ctr">
                    <a:solidFill>
                      <a:srgbClr val="D9D9D9"/>
                    </a:solidFill>
                  </a:tcPr>
                </a:tc>
                <a:extLst>
                  <a:ext uri="{0D108BD9-81ED-4DB2-BD59-A6C34878D82A}">
                    <a16:rowId xmlns:a16="http://schemas.microsoft.com/office/drawing/2014/main" val="10000"/>
                  </a:ext>
                </a:extLst>
              </a:tr>
              <a:tr h="333375">
                <a:tc>
                  <a:txBody>
                    <a:bodyPr/>
                    <a:lstStyle/>
                    <a:p>
                      <a:pPr algn="ctr"/>
                      <a:r>
                        <a:rPr sz="1875">
                          <a:solidFill>
                            <a:srgbClr val="000000"/>
                          </a:solidFill>
                          <a:latin typeface="Calibri"/>
                          <a:ea typeface="Calibri"/>
                          <a:cs typeface="Calibri"/>
                        </a:rPr>
                        <a:t>T1</a:t>
                      </a:r>
                    </a:p>
                  </a:txBody>
                  <a:tcPr marL="47625" marR="47625" marT="28575" marB="28575" anchor="ctr">
                    <a:solidFill>
                      <a:srgbClr val="FFFFFF"/>
                    </a:solidFill>
                  </a:tcPr>
                </a:tc>
                <a:extLst>
                  <a:ext uri="{0D108BD9-81ED-4DB2-BD59-A6C34878D82A}">
                    <a16:rowId xmlns:a16="http://schemas.microsoft.com/office/drawing/2014/main" val="10001"/>
                  </a:ext>
                </a:extLst>
              </a:tr>
              <a:tr h="333375">
                <a:tc>
                  <a:txBody>
                    <a:bodyPr/>
                    <a:lstStyle/>
                    <a:p>
                      <a:pPr algn="ctr"/>
                      <a:r>
                        <a:rPr sz="1875">
                          <a:solidFill>
                            <a:srgbClr val="000000"/>
                          </a:solidFill>
                          <a:latin typeface="Calibri"/>
                          <a:ea typeface="Calibri"/>
                          <a:cs typeface="Calibri"/>
                        </a:rPr>
                        <a:t>T2</a:t>
                      </a:r>
                    </a:p>
                  </a:txBody>
                  <a:tcPr marL="47625" marR="47625" marT="28575" marB="28575" anchor="ctr">
                    <a:solidFill>
                      <a:srgbClr val="FFFFFF"/>
                    </a:solidFill>
                  </a:tcPr>
                </a:tc>
                <a:extLst>
                  <a:ext uri="{0D108BD9-81ED-4DB2-BD59-A6C34878D82A}">
                    <a16:rowId xmlns:a16="http://schemas.microsoft.com/office/drawing/2014/main" val="10002"/>
                  </a:ext>
                </a:extLst>
              </a:tr>
            </a:tbl>
          </a:graphicData>
        </a:graphic>
      </p:graphicFrame>
      <p:sp>
        <p:nvSpPr>
          <p:cNvPr id="9" name="formula">
            <a:extLst>
              <a:ext uri="{FF2B5EF4-FFF2-40B4-BE49-F238E27FC236}">
                <a16:creationId xmlns:a16="http://schemas.microsoft.com/office/drawing/2014/main" id="{7B875CA3-B765-4C4B-AA3F-30009EBE0266}"/>
              </a:ext>
            </a:extLst>
          </p:cNvPr>
          <p:cNvSpPr>
            <a:spLocks noGrp="1"/>
          </p:cNvSpPr>
          <p:nvPr/>
        </p:nvSpPr>
        <p:spPr>
          <a:xfrm>
            <a:off x="4619625" y="4219575"/>
            <a:ext cx="3810000" cy="523875"/>
          </a:xfrm>
          <a:prstGeom prst="rect">
            <a:avLst/>
          </a:prstGeom>
          <a:noFill/>
          <a:ln w="0">
            <a:noFill/>
          </a:ln>
        </p:spPr>
        <p:txBody>
          <a:bodyPr wrap="square" lIns="0" tIns="0" rIns="0" bIns="0">
            <a:noAutofit/>
          </a:bodyPr>
          <a:lstStyle/>
          <a:p>
            <a:pPr>
              <a:defRPr sz="2025" b="0">
                <a:solidFill>
                  <a:srgbClr val="000000"/>
                </a:solidFill>
                <a:latin typeface="Cambria Math"/>
                <a:ea typeface="Cambria Math"/>
                <a:cs typeface="Cambria Math"/>
              </a:defRPr>
            </a:pPr>
            <a:r>
              <a:rPr sz="2025" b="0">
                <a:solidFill>
                  <a:srgbClr val="000000"/>
                </a:solidFill>
                <a:latin typeface="Cambria Math"/>
                <a:ea typeface="Cambria Math"/>
                <a:cs typeface="Cambria Math"/>
              </a:rPr>
              <a:t>A ← R / S = { (M2) }</a:t>
            </a:r>
          </a:p>
        </p:txBody>
      </p:sp>
      <p:sp>
        <p:nvSpPr>
          <p:cNvPr id="10" name="formula">
            <a:extLst>
              <a:ext uri="{FF2B5EF4-FFF2-40B4-BE49-F238E27FC236}">
                <a16:creationId xmlns:a16="http://schemas.microsoft.com/office/drawing/2014/main" id="{0C731B0B-CF77-4A6C-A665-D05C8B69F946}"/>
              </a:ext>
            </a:extLst>
          </p:cNvPr>
          <p:cNvSpPr>
            <a:spLocks noGrp="1"/>
          </p:cNvSpPr>
          <p:nvPr/>
        </p:nvSpPr>
        <p:spPr>
          <a:xfrm>
            <a:off x="781050" y="5334000"/>
            <a:ext cx="7715250" cy="523875"/>
          </a:xfrm>
          <a:prstGeom prst="rect">
            <a:avLst/>
          </a:prstGeom>
          <a:noFill/>
          <a:ln w="0">
            <a:noFill/>
          </a:ln>
        </p:spPr>
        <p:txBody>
          <a:bodyPr wrap="square" lIns="0" tIns="0" rIns="0" bIns="0">
            <a:noAutofit/>
          </a:bodyPr>
          <a:lstStyle/>
          <a:p>
            <a:pPr>
              <a:defRPr sz="2175" b="0">
                <a:solidFill>
                  <a:srgbClr val="000000"/>
                </a:solidFill>
                <a:latin typeface="Cambria Math"/>
                <a:ea typeface="Cambria Math"/>
                <a:cs typeface="Cambria Math"/>
              </a:defRPr>
            </a:pPr>
            <a:r>
              <a:rPr sz="2175" b="0">
                <a:solidFill>
                  <a:srgbClr val="000000"/>
                </a:solidFill>
                <a:latin typeface="Cambria Math"/>
                <a:ea typeface="Cambria Math"/>
                <a:cs typeface="Cambria Math"/>
              </a:rPr>
              <a:t>Answer ← π</a:t>
            </a:r>
            <a:r>
              <a:rPr sz="1544" b="0" baseline="-25000">
                <a:solidFill>
                  <a:srgbClr val="000000"/>
                </a:solidFill>
                <a:latin typeface="Cambria Math"/>
                <a:ea typeface="Cambria Math"/>
                <a:cs typeface="Cambria Math"/>
              </a:rPr>
              <a:t>mid,mname</a:t>
            </a:r>
            <a:r>
              <a:rPr sz="2175" b="0">
                <a:solidFill>
                  <a:srgbClr val="000000"/>
                </a:solidFill>
                <a:latin typeface="Cambria Math"/>
                <a:ea typeface="Cambria Math"/>
                <a:cs typeface="Cambria Math"/>
              </a:rPr>
              <a:t>(Member ⋈ A)</a:t>
            </a:r>
          </a:p>
        </p:txBody>
      </p:sp>
      <p:sp>
        <p:nvSpPr>
          <p:cNvPr id="9001" name="Title 1">
            <a:extLst>
              <a:ext uri="{FF2B5EF4-FFF2-40B4-BE49-F238E27FC236}">
                <a16:creationId xmlns:a16="http://schemas.microsoft.com/office/drawing/2014/main" id="{4EF27E5C-9C4D-BDBE-7667-D0B141BCC8F5}"/>
              </a:ext>
            </a:extLst>
          </p:cNvPr>
          <p:cNvSpPr>
            <a:spLocks noGrp="1"/>
          </p:cNvSpPr>
          <p:nvPr>
            <p:ph type="title"/>
          </p:nvPr>
        </p:nvSpPr>
        <p:spPr/>
        <p:txBody>
          <a:bodyPr/>
          <a:lstStyle/>
          <a:p>
            <a:r>
              <a:rPr lang="en-US">
                <a:solidFill>
                  <a:srgbClr val="FF0000"/>
                </a:solidFill>
              </a:rPr>
              <a:t>Solutions: </a:t>
            </a:r>
            <a:r>
              <a:rPr lang="en-US">
                <a:solidFill>
                  <a:srgbClr val="3333CC"/>
                </a:solidFill>
              </a:rPr>
              <a:t>Q23 (1)</a:t>
            </a:r>
          </a:p>
        </p:txBody>
      </p:sp>
      <p:sp>
        <p:nvSpPr>
          <p:cNvPr id="9002" name="Slide Number Placeholder 1">
            <a:extLst>
              <a:ext uri="{FF2B5EF4-FFF2-40B4-BE49-F238E27FC236}">
                <a16:creationId xmlns:a16="http://schemas.microsoft.com/office/drawing/2014/main" id="{B90139AC-3BDA-723A-097A-000DA0A784C1}"/>
              </a:ext>
            </a:extLst>
          </p:cNvPr>
          <p:cNvSpPr>
            <a:spLocks noGrp="1"/>
          </p:cNvSpPr>
          <p:nvPr>
            <p:ph type="sldNum" sz="quarter" idx="12"/>
          </p:nvPr>
        </p:nvSpPr>
        <p:spPr/>
        <p:txBody>
          <a:bodyPr/>
          <a:lstStyle/>
          <a:p>
            <a:pPr>
              <a:defRPr/>
            </a:pPr>
            <a:fld id="{43CA101F-9E5F-9249-9862-3CE55B3BB777}" type="slidenum">
              <a:rPr lang="en-US" altLang="zh-TW" smtClean="0"/>
              <a:pPr>
                <a:defRPr/>
              </a:pPr>
              <a:t>63</a:t>
            </a:fld>
            <a:endParaRPr lang="en-US" altLang="zh-TW"/>
          </a:p>
        </p:txBody>
      </p:sp>
    </p:spTree>
    <p:extLst>
      <p:ext uri="{BB962C8B-B14F-4D97-AF65-F5344CB8AC3E}">
        <p14:creationId xmlns:p14="http://schemas.microsoft.com/office/powerpoint/2010/main" val="25425237"/>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body">
            <a:extLst>
              <a:ext uri="{FF2B5EF4-FFF2-40B4-BE49-F238E27FC236}">
                <a16:creationId xmlns:a16="http://schemas.microsoft.com/office/drawing/2014/main" id="{A58E7F3A-F386-432B-B897-3695811EE572}"/>
              </a:ext>
            </a:extLst>
          </p:cNvPr>
          <p:cNvSpPr>
            <a:spLocks noGrp="1"/>
          </p:cNvSpPr>
          <p:nvPr/>
        </p:nvSpPr>
        <p:spPr>
          <a:xfrm>
            <a:off x="781050" y="5876925"/>
            <a:ext cx="7620000" cy="285750"/>
          </a:xfrm>
          <a:prstGeom prst="rect">
            <a:avLst/>
          </a:prstGeom>
          <a:noFill/>
          <a:ln w="0">
            <a:noFill/>
          </a:ln>
        </p:spPr>
        <p:txBody>
          <a:bodyPr wrap="square" lIns="0" tIns="0" rIns="0" bIns="0">
            <a:noAutofit/>
          </a:bodyPr>
          <a:lstStyle/>
          <a:p>
            <a:pPr>
              <a:defRPr sz="1725" b="0">
                <a:solidFill>
                  <a:srgbClr val="3333CC"/>
                </a:solidFill>
                <a:latin typeface="Calibri"/>
                <a:ea typeface="Calibri"/>
                <a:cs typeface="Calibri"/>
              </a:defRPr>
            </a:pPr>
            <a:r>
              <a:rPr sz="1725" b="0">
                <a:solidFill>
                  <a:srgbClr val="3333CC"/>
                </a:solidFill>
                <a:latin typeface="Calibri"/>
                <a:ea typeface="Calibri"/>
                <a:cs typeface="Calibri"/>
              </a:rPr>
              <a:t>Think: 30 s</a:t>
            </a:r>
          </a:p>
        </p:txBody>
      </p:sp>
      <p:sp>
        <p:nvSpPr>
          <p:cNvPr id="4" name="body">
            <a:extLst>
              <a:ext uri="{FF2B5EF4-FFF2-40B4-BE49-F238E27FC236}">
                <a16:creationId xmlns:a16="http://schemas.microsoft.com/office/drawing/2014/main" id="{D0FEDAC3-DC70-4905-9823-26DACA7E61BD}"/>
              </a:ext>
            </a:extLst>
          </p:cNvPr>
          <p:cNvSpPr>
            <a:spLocks noGrp="1"/>
          </p:cNvSpPr>
          <p:nvPr/>
        </p:nvSpPr>
        <p:spPr>
          <a:xfrm>
            <a:off x="828675" y="1047750"/>
            <a:ext cx="3048000" cy="361950"/>
          </a:xfrm>
          <a:prstGeom prst="rect">
            <a:avLst/>
          </a:prstGeom>
          <a:noFill/>
          <a:ln w="0">
            <a:noFill/>
          </a:ln>
        </p:spPr>
        <p:txBody>
          <a:bodyPr wrap="square" lIns="0" tIns="0" rIns="0" bIns="0">
            <a:noAutofit/>
          </a:bodyPr>
          <a:lstStyle/>
          <a:p>
            <a:pPr>
              <a:defRPr sz="2250" b="0">
                <a:solidFill>
                  <a:srgbClr val="000000"/>
                </a:solidFill>
                <a:latin typeface="Calibri"/>
                <a:ea typeface="Calibri"/>
                <a:cs typeface="Calibri"/>
              </a:defRPr>
            </a:pPr>
            <a:r>
              <a:rPr sz="2250" b="0">
                <a:solidFill>
                  <a:srgbClr val="000000"/>
                </a:solidFill>
                <a:latin typeface="Calibri"/>
                <a:ea typeface="Calibri"/>
                <a:cs typeface="Calibri"/>
              </a:rPr>
              <a:t>R(mid, tid)</a:t>
            </a:r>
          </a:p>
        </p:txBody>
      </p:sp>
      <p:graphicFrame>
        <p:nvGraphicFramePr>
          <p:cNvPr id="16" name="表格 15"/>
          <p:cNvGraphicFramePr/>
          <p:nvPr/>
        </p:nvGraphicFramePr>
        <p:xfrm>
          <a:off x="904875" y="1466850"/>
          <a:ext cx="3048000" cy="2000250"/>
        </p:xfrm>
        <a:graphic>
          <a:graphicData uri="http://schemas.openxmlformats.org/drawingml/2006/table">
            <a:tbl>
              <a:tblPr/>
              <a:tblGrid>
                <a:gridCol w="1524000">
                  <a:extLst>
                    <a:ext uri="{9D8B030D-6E8A-4147-A177-3AD203B41FA5}">
                      <a16:colId xmlns:a16="http://schemas.microsoft.com/office/drawing/2014/main" val="20000"/>
                    </a:ext>
                  </a:extLst>
                </a:gridCol>
                <a:gridCol w="1524000">
                  <a:extLst>
                    <a:ext uri="{9D8B030D-6E8A-4147-A177-3AD203B41FA5}">
                      <a16:colId xmlns:a16="http://schemas.microsoft.com/office/drawing/2014/main" val="20001"/>
                    </a:ext>
                  </a:extLst>
                </a:gridCol>
              </a:tblGrid>
              <a:tr h="333375">
                <a:tc>
                  <a:txBody>
                    <a:bodyPr/>
                    <a:lstStyle/>
                    <a:p>
                      <a:pPr algn="ctr"/>
                      <a:r>
                        <a:rPr sz="1800">
                          <a:solidFill>
                            <a:srgbClr val="000000"/>
                          </a:solidFill>
                          <a:latin typeface="Calibri"/>
                          <a:ea typeface="Calibri"/>
                          <a:cs typeface="Calibri"/>
                        </a:rPr>
                        <a:t>mid</a:t>
                      </a:r>
                    </a:p>
                  </a:txBody>
                  <a:tcPr marL="47625" marR="47625" marT="28575" marB="28575" anchor="ctr">
                    <a:solidFill>
                      <a:srgbClr val="D9D9D9"/>
                    </a:solidFill>
                  </a:tcPr>
                </a:tc>
                <a:tc>
                  <a:txBody>
                    <a:bodyPr/>
                    <a:lstStyle/>
                    <a:p>
                      <a:pPr algn="ctr"/>
                      <a:r>
                        <a:rPr sz="1800">
                          <a:solidFill>
                            <a:srgbClr val="000000"/>
                          </a:solidFill>
                          <a:latin typeface="Calibri"/>
                          <a:ea typeface="Calibri"/>
                          <a:cs typeface="Calibri"/>
                        </a:rPr>
                        <a:t>tid</a:t>
                      </a:r>
                    </a:p>
                  </a:txBody>
                  <a:tcPr marL="47625" marR="47625" marT="28575" marB="28575" anchor="ctr">
                    <a:solidFill>
                      <a:srgbClr val="D9D9D9"/>
                    </a:solidFill>
                  </a:tcPr>
                </a:tc>
                <a:extLst>
                  <a:ext uri="{0D108BD9-81ED-4DB2-BD59-A6C34878D82A}">
                    <a16:rowId xmlns:a16="http://schemas.microsoft.com/office/drawing/2014/main" val="10000"/>
                  </a:ext>
                </a:extLst>
              </a:tr>
              <a:tr h="333375">
                <a:tc>
                  <a:txBody>
                    <a:bodyPr/>
                    <a:lstStyle/>
                    <a:p>
                      <a:pPr algn="ctr"/>
                      <a:r>
                        <a:rPr sz="1800">
                          <a:solidFill>
                            <a:srgbClr val="000000"/>
                          </a:solidFill>
                          <a:latin typeface="Calibri"/>
                          <a:ea typeface="Calibri"/>
                          <a:cs typeface="Calibri"/>
                        </a:rPr>
                        <a:t>M1</a:t>
                      </a:r>
                    </a:p>
                  </a:txBody>
                  <a:tcPr marL="47625" marR="47625" marT="28575" marB="28575" anchor="ctr">
                    <a:solidFill>
                      <a:srgbClr val="FFFFFF"/>
                    </a:solidFill>
                  </a:tcPr>
                </a:tc>
                <a:tc>
                  <a:txBody>
                    <a:bodyPr/>
                    <a:lstStyle/>
                    <a:p>
                      <a:pPr algn="ctr"/>
                      <a:r>
                        <a:rPr sz="1800">
                          <a:solidFill>
                            <a:srgbClr val="000000"/>
                          </a:solidFill>
                          <a:latin typeface="Calibri"/>
                          <a:ea typeface="Calibri"/>
                          <a:cs typeface="Calibri"/>
                        </a:rPr>
                        <a:t>T1</a:t>
                      </a:r>
                    </a:p>
                  </a:txBody>
                  <a:tcPr marL="47625" marR="47625" marT="28575" marB="28575" anchor="ctr">
                    <a:solidFill>
                      <a:srgbClr val="FFFFFF"/>
                    </a:solidFill>
                  </a:tcPr>
                </a:tc>
                <a:extLst>
                  <a:ext uri="{0D108BD9-81ED-4DB2-BD59-A6C34878D82A}">
                    <a16:rowId xmlns:a16="http://schemas.microsoft.com/office/drawing/2014/main" val="10001"/>
                  </a:ext>
                </a:extLst>
              </a:tr>
              <a:tr h="333375">
                <a:tc>
                  <a:txBody>
                    <a:bodyPr/>
                    <a:lstStyle/>
                    <a:p>
                      <a:pPr algn="ctr"/>
                      <a:r>
                        <a:rPr sz="1800">
                          <a:solidFill>
                            <a:srgbClr val="000000"/>
                          </a:solidFill>
                          <a:latin typeface="Calibri"/>
                          <a:ea typeface="Calibri"/>
                          <a:cs typeface="Calibri"/>
                        </a:rPr>
                        <a:t>M2</a:t>
                      </a:r>
                    </a:p>
                  </a:txBody>
                  <a:tcPr marL="47625" marR="47625" marT="28575" marB="28575" anchor="ctr">
                    <a:solidFill>
                      <a:srgbClr val="FFFFFF"/>
                    </a:solidFill>
                  </a:tcPr>
                </a:tc>
                <a:tc>
                  <a:txBody>
                    <a:bodyPr/>
                    <a:lstStyle/>
                    <a:p>
                      <a:pPr algn="ctr"/>
                      <a:r>
                        <a:rPr sz="1800">
                          <a:solidFill>
                            <a:srgbClr val="000000"/>
                          </a:solidFill>
                          <a:latin typeface="Calibri"/>
                          <a:ea typeface="Calibri"/>
                          <a:cs typeface="Calibri"/>
                        </a:rPr>
                        <a:t>T1</a:t>
                      </a:r>
                    </a:p>
                  </a:txBody>
                  <a:tcPr marL="47625" marR="47625" marT="28575" marB="28575" anchor="ctr">
                    <a:solidFill>
                      <a:srgbClr val="FFFFFF"/>
                    </a:solidFill>
                  </a:tcPr>
                </a:tc>
                <a:extLst>
                  <a:ext uri="{0D108BD9-81ED-4DB2-BD59-A6C34878D82A}">
                    <a16:rowId xmlns:a16="http://schemas.microsoft.com/office/drawing/2014/main" val="10002"/>
                  </a:ext>
                </a:extLst>
              </a:tr>
              <a:tr h="333375">
                <a:tc>
                  <a:txBody>
                    <a:bodyPr/>
                    <a:lstStyle/>
                    <a:p>
                      <a:pPr algn="ctr"/>
                      <a:r>
                        <a:rPr sz="1800">
                          <a:solidFill>
                            <a:srgbClr val="000000"/>
                          </a:solidFill>
                          <a:latin typeface="Calibri"/>
                          <a:ea typeface="Calibri"/>
                          <a:cs typeface="Calibri"/>
                        </a:rPr>
                        <a:t>M2</a:t>
                      </a:r>
                    </a:p>
                  </a:txBody>
                  <a:tcPr marL="47625" marR="47625" marT="28575" marB="28575" anchor="ctr">
                    <a:solidFill>
                      <a:srgbClr val="FFFFFF"/>
                    </a:solidFill>
                  </a:tcPr>
                </a:tc>
                <a:tc>
                  <a:txBody>
                    <a:bodyPr/>
                    <a:lstStyle/>
                    <a:p>
                      <a:pPr algn="ctr"/>
                      <a:r>
                        <a:rPr sz="1800">
                          <a:solidFill>
                            <a:srgbClr val="000000"/>
                          </a:solidFill>
                          <a:latin typeface="Calibri"/>
                          <a:ea typeface="Calibri"/>
                          <a:cs typeface="Calibri"/>
                        </a:rPr>
                        <a:t>T2</a:t>
                      </a:r>
                    </a:p>
                  </a:txBody>
                  <a:tcPr marL="47625" marR="47625" marT="28575" marB="28575" anchor="ctr">
                    <a:solidFill>
                      <a:srgbClr val="FFFFFF"/>
                    </a:solidFill>
                  </a:tcPr>
                </a:tc>
                <a:extLst>
                  <a:ext uri="{0D108BD9-81ED-4DB2-BD59-A6C34878D82A}">
                    <a16:rowId xmlns:a16="http://schemas.microsoft.com/office/drawing/2014/main" val="10003"/>
                  </a:ext>
                </a:extLst>
              </a:tr>
              <a:tr h="333375">
                <a:tc>
                  <a:txBody>
                    <a:bodyPr/>
                    <a:lstStyle/>
                    <a:p>
                      <a:pPr algn="ctr"/>
                      <a:r>
                        <a:rPr sz="1800">
                          <a:solidFill>
                            <a:srgbClr val="000000"/>
                          </a:solidFill>
                          <a:latin typeface="Calibri"/>
                          <a:ea typeface="Calibri"/>
                          <a:cs typeface="Calibri"/>
                        </a:rPr>
                        <a:t>M2</a:t>
                      </a:r>
                    </a:p>
                  </a:txBody>
                  <a:tcPr marL="47625" marR="47625" marT="28575" marB="28575" anchor="ctr">
                    <a:solidFill>
                      <a:srgbClr val="FFFFFF"/>
                    </a:solidFill>
                  </a:tcPr>
                </a:tc>
                <a:tc>
                  <a:txBody>
                    <a:bodyPr/>
                    <a:lstStyle/>
                    <a:p>
                      <a:pPr algn="ctr"/>
                      <a:r>
                        <a:rPr sz="1800">
                          <a:solidFill>
                            <a:srgbClr val="000000"/>
                          </a:solidFill>
                          <a:latin typeface="Calibri"/>
                          <a:ea typeface="Calibri"/>
                          <a:cs typeface="Calibri"/>
                        </a:rPr>
                        <a:t>T3</a:t>
                      </a:r>
                    </a:p>
                  </a:txBody>
                  <a:tcPr marL="47625" marR="47625" marT="28575" marB="28575" anchor="ctr">
                    <a:solidFill>
                      <a:srgbClr val="FFFFFF"/>
                    </a:solidFill>
                  </a:tcPr>
                </a:tc>
                <a:extLst>
                  <a:ext uri="{0D108BD9-81ED-4DB2-BD59-A6C34878D82A}">
                    <a16:rowId xmlns:a16="http://schemas.microsoft.com/office/drawing/2014/main" val="10004"/>
                  </a:ext>
                </a:extLst>
              </a:tr>
              <a:tr h="333375">
                <a:tc>
                  <a:txBody>
                    <a:bodyPr/>
                    <a:lstStyle/>
                    <a:p>
                      <a:pPr algn="ctr"/>
                      <a:r>
                        <a:rPr sz="1800">
                          <a:solidFill>
                            <a:srgbClr val="000000"/>
                          </a:solidFill>
                          <a:latin typeface="Calibri"/>
                          <a:ea typeface="Calibri"/>
                          <a:cs typeface="Calibri"/>
                        </a:rPr>
                        <a:t>M3</a:t>
                      </a:r>
                    </a:p>
                  </a:txBody>
                  <a:tcPr marL="47625" marR="47625" marT="28575" marB="28575" anchor="ctr">
                    <a:solidFill>
                      <a:srgbClr val="FFFFFF"/>
                    </a:solidFill>
                  </a:tcPr>
                </a:tc>
                <a:tc>
                  <a:txBody>
                    <a:bodyPr/>
                    <a:lstStyle/>
                    <a:p>
                      <a:pPr algn="ctr"/>
                      <a:r>
                        <a:rPr sz="1800">
                          <a:solidFill>
                            <a:srgbClr val="000000"/>
                          </a:solidFill>
                          <a:latin typeface="Calibri"/>
                          <a:ea typeface="Calibri"/>
                          <a:cs typeface="Calibri"/>
                        </a:rPr>
                        <a:t>T2</a:t>
                      </a:r>
                    </a:p>
                  </a:txBody>
                  <a:tcPr marL="47625" marR="47625" marT="28575" marB="28575" anchor="ctr">
                    <a:solidFill>
                      <a:srgbClr val="FFFFFF"/>
                    </a:solidFill>
                  </a:tcPr>
                </a:tc>
                <a:extLst>
                  <a:ext uri="{0D108BD9-81ED-4DB2-BD59-A6C34878D82A}">
                    <a16:rowId xmlns:a16="http://schemas.microsoft.com/office/drawing/2014/main" val="10005"/>
                  </a:ext>
                </a:extLst>
              </a:tr>
            </a:tbl>
          </a:graphicData>
        </a:graphic>
      </p:graphicFrame>
      <p:sp>
        <p:nvSpPr>
          <p:cNvPr id="6" name="body">
            <a:extLst>
              <a:ext uri="{FF2B5EF4-FFF2-40B4-BE49-F238E27FC236}">
                <a16:creationId xmlns:a16="http://schemas.microsoft.com/office/drawing/2014/main" id="{763789D9-FF64-4E7A-9EDD-D51671E956C4}"/>
              </a:ext>
            </a:extLst>
          </p:cNvPr>
          <p:cNvSpPr>
            <a:spLocks noGrp="1"/>
          </p:cNvSpPr>
          <p:nvPr/>
        </p:nvSpPr>
        <p:spPr>
          <a:xfrm>
            <a:off x="4829175" y="1047750"/>
            <a:ext cx="3143250" cy="361950"/>
          </a:xfrm>
          <a:prstGeom prst="rect">
            <a:avLst/>
          </a:prstGeom>
          <a:noFill/>
          <a:ln w="0">
            <a:noFill/>
          </a:ln>
        </p:spPr>
        <p:txBody>
          <a:bodyPr wrap="square" lIns="0" tIns="0" rIns="0" bIns="0">
            <a:noAutofit/>
          </a:bodyPr>
          <a:lstStyle/>
          <a:p>
            <a:pPr>
              <a:defRPr sz="2250" b="0">
                <a:solidFill>
                  <a:srgbClr val="000000"/>
                </a:solidFill>
                <a:latin typeface="Calibri"/>
                <a:ea typeface="Calibri"/>
                <a:cs typeface="Calibri"/>
              </a:defRPr>
            </a:pPr>
            <a:r>
              <a:rPr sz="2250" b="0">
                <a:solidFill>
                  <a:srgbClr val="000000"/>
                </a:solidFill>
                <a:latin typeface="Calibri"/>
                <a:ea typeface="Calibri"/>
                <a:cs typeface="Calibri"/>
              </a:rPr>
              <a:t>Tool</a:t>
            </a:r>
          </a:p>
        </p:txBody>
      </p:sp>
      <p:graphicFrame>
        <p:nvGraphicFramePr>
          <p:cNvPr id="18" name="表格 17"/>
          <p:cNvGraphicFramePr/>
          <p:nvPr/>
        </p:nvGraphicFramePr>
        <p:xfrm>
          <a:off x="4905375" y="1466850"/>
          <a:ext cx="3143250" cy="1524000"/>
        </p:xfrm>
        <a:graphic>
          <a:graphicData uri="http://schemas.openxmlformats.org/drawingml/2006/table">
            <a:tbl>
              <a:tblPr/>
              <a:tblGrid>
                <a:gridCol w="1571625">
                  <a:extLst>
                    <a:ext uri="{9D8B030D-6E8A-4147-A177-3AD203B41FA5}">
                      <a16:colId xmlns:a16="http://schemas.microsoft.com/office/drawing/2014/main" val="20000"/>
                    </a:ext>
                  </a:extLst>
                </a:gridCol>
                <a:gridCol w="1571625">
                  <a:extLst>
                    <a:ext uri="{9D8B030D-6E8A-4147-A177-3AD203B41FA5}">
                      <a16:colId xmlns:a16="http://schemas.microsoft.com/office/drawing/2014/main" val="20001"/>
                    </a:ext>
                  </a:extLst>
                </a:gridCol>
              </a:tblGrid>
              <a:tr h="381000">
                <a:tc>
                  <a:txBody>
                    <a:bodyPr/>
                    <a:lstStyle/>
                    <a:p>
                      <a:pPr algn="ctr"/>
                      <a:r>
                        <a:rPr sz="1875">
                          <a:solidFill>
                            <a:srgbClr val="000000"/>
                          </a:solidFill>
                          <a:latin typeface="Calibri"/>
                          <a:ea typeface="Calibri"/>
                          <a:cs typeface="Calibri"/>
                        </a:rPr>
                        <a:t>tid</a:t>
                      </a:r>
                    </a:p>
                  </a:txBody>
                  <a:tcPr marL="47625" marR="47625" marT="28575" marB="28575" anchor="ctr">
                    <a:solidFill>
                      <a:srgbClr val="D9D9D9"/>
                    </a:solidFill>
                  </a:tcPr>
                </a:tc>
                <a:tc>
                  <a:txBody>
                    <a:bodyPr/>
                    <a:lstStyle/>
                    <a:p>
                      <a:pPr algn="ctr"/>
                      <a:r>
                        <a:rPr sz="1875">
                          <a:solidFill>
                            <a:srgbClr val="000000"/>
                          </a:solidFill>
                          <a:latin typeface="Calibri"/>
                          <a:ea typeface="Calibri"/>
                          <a:cs typeface="Calibri"/>
                        </a:rPr>
                        <a:t>category</a:t>
                      </a:r>
                    </a:p>
                  </a:txBody>
                  <a:tcPr marL="47625" marR="47625" marT="28575" marB="28575" anchor="ctr">
                    <a:solidFill>
                      <a:srgbClr val="D9D9D9"/>
                    </a:solidFill>
                  </a:tcPr>
                </a:tc>
                <a:extLst>
                  <a:ext uri="{0D108BD9-81ED-4DB2-BD59-A6C34878D82A}">
                    <a16:rowId xmlns:a16="http://schemas.microsoft.com/office/drawing/2014/main" val="10000"/>
                  </a:ext>
                </a:extLst>
              </a:tr>
              <a:tr h="381000">
                <a:tc>
                  <a:txBody>
                    <a:bodyPr/>
                    <a:lstStyle/>
                    <a:p>
                      <a:pPr algn="ctr"/>
                      <a:r>
                        <a:rPr sz="1875">
                          <a:solidFill>
                            <a:srgbClr val="000000"/>
                          </a:solidFill>
                          <a:latin typeface="Calibri"/>
                          <a:ea typeface="Calibri"/>
                          <a:cs typeface="Calibri"/>
                        </a:rPr>
                        <a:t>T1</a:t>
                      </a:r>
                    </a:p>
                  </a:txBody>
                  <a:tcPr marL="47625" marR="47625" marT="28575" marB="28575" anchor="ctr">
                    <a:solidFill>
                      <a:srgbClr val="FFFFFF"/>
                    </a:solidFill>
                  </a:tcPr>
                </a:tc>
                <a:tc>
                  <a:txBody>
                    <a:bodyPr/>
                    <a:lstStyle/>
                    <a:p>
                      <a:pPr algn="ctr"/>
                      <a:r>
                        <a:rPr sz="1875">
                          <a:solidFill>
                            <a:srgbClr val="000000"/>
                          </a:solidFill>
                          <a:latin typeface="Calibri"/>
                          <a:ea typeface="Calibri"/>
                          <a:cs typeface="Calibri"/>
                        </a:rPr>
                        <a:t>Laser</a:t>
                      </a:r>
                    </a:p>
                  </a:txBody>
                  <a:tcPr marL="47625" marR="47625" marT="28575" marB="28575" anchor="ctr">
                    <a:solidFill>
                      <a:srgbClr val="FFFFFF"/>
                    </a:solidFill>
                  </a:tcPr>
                </a:tc>
                <a:extLst>
                  <a:ext uri="{0D108BD9-81ED-4DB2-BD59-A6C34878D82A}">
                    <a16:rowId xmlns:a16="http://schemas.microsoft.com/office/drawing/2014/main" val="10001"/>
                  </a:ext>
                </a:extLst>
              </a:tr>
              <a:tr h="381000">
                <a:tc>
                  <a:txBody>
                    <a:bodyPr/>
                    <a:lstStyle/>
                    <a:p>
                      <a:pPr algn="ctr"/>
                      <a:r>
                        <a:rPr sz="1875">
                          <a:solidFill>
                            <a:srgbClr val="000000"/>
                          </a:solidFill>
                          <a:latin typeface="Calibri"/>
                          <a:ea typeface="Calibri"/>
                          <a:cs typeface="Calibri"/>
                        </a:rPr>
                        <a:t>T2</a:t>
                      </a:r>
                    </a:p>
                  </a:txBody>
                  <a:tcPr marL="47625" marR="47625" marT="28575" marB="28575" anchor="ctr">
                    <a:solidFill>
                      <a:srgbClr val="FFFFFF"/>
                    </a:solidFill>
                  </a:tcPr>
                </a:tc>
                <a:tc>
                  <a:txBody>
                    <a:bodyPr/>
                    <a:lstStyle/>
                    <a:p>
                      <a:pPr algn="ctr"/>
                      <a:r>
                        <a:rPr sz="1875">
                          <a:solidFill>
                            <a:srgbClr val="000000"/>
                          </a:solidFill>
                          <a:latin typeface="Calibri"/>
                          <a:ea typeface="Calibri"/>
                          <a:cs typeface="Calibri"/>
                        </a:rPr>
                        <a:t>Laser</a:t>
                      </a:r>
                    </a:p>
                  </a:txBody>
                  <a:tcPr marL="47625" marR="47625" marT="28575" marB="28575" anchor="ctr">
                    <a:solidFill>
                      <a:srgbClr val="FFFFFF"/>
                    </a:solidFill>
                  </a:tcPr>
                </a:tc>
                <a:extLst>
                  <a:ext uri="{0D108BD9-81ED-4DB2-BD59-A6C34878D82A}">
                    <a16:rowId xmlns:a16="http://schemas.microsoft.com/office/drawing/2014/main" val="10002"/>
                  </a:ext>
                </a:extLst>
              </a:tr>
              <a:tr h="381000">
                <a:tc>
                  <a:txBody>
                    <a:bodyPr/>
                    <a:lstStyle/>
                    <a:p>
                      <a:pPr algn="ctr"/>
                      <a:r>
                        <a:rPr sz="1875">
                          <a:solidFill>
                            <a:srgbClr val="000000"/>
                          </a:solidFill>
                          <a:latin typeface="Calibri"/>
                          <a:ea typeface="Calibri"/>
                          <a:cs typeface="Calibri"/>
                        </a:rPr>
                        <a:t>T3</a:t>
                      </a:r>
                    </a:p>
                  </a:txBody>
                  <a:tcPr marL="47625" marR="47625" marT="28575" marB="28575" anchor="ctr">
                    <a:solidFill>
                      <a:srgbClr val="FFFFFF"/>
                    </a:solidFill>
                  </a:tcPr>
                </a:tc>
                <a:tc>
                  <a:txBody>
                    <a:bodyPr/>
                    <a:lstStyle/>
                    <a:p>
                      <a:pPr algn="ctr"/>
                      <a:r>
                        <a:rPr sz="1875">
                          <a:solidFill>
                            <a:srgbClr val="000000"/>
                          </a:solidFill>
                          <a:latin typeface="Calibri"/>
                          <a:ea typeface="Calibri"/>
                          <a:cs typeface="Calibri"/>
                        </a:rPr>
                        <a:t>CNC</a:t>
                      </a:r>
                    </a:p>
                  </a:txBody>
                  <a:tcPr marL="47625" marR="47625" marT="28575" marB="28575" anchor="ctr">
                    <a:solidFill>
                      <a:srgbClr val="FFFFFF"/>
                    </a:solidFill>
                  </a:tcPr>
                </a:tc>
                <a:extLst>
                  <a:ext uri="{0D108BD9-81ED-4DB2-BD59-A6C34878D82A}">
                    <a16:rowId xmlns:a16="http://schemas.microsoft.com/office/drawing/2014/main" val="10003"/>
                  </a:ext>
                </a:extLst>
              </a:tr>
            </a:tbl>
          </a:graphicData>
        </a:graphic>
      </p:graphicFrame>
      <p:sp>
        <p:nvSpPr>
          <p:cNvPr id="8" name="body">
            <a:extLst>
              <a:ext uri="{FF2B5EF4-FFF2-40B4-BE49-F238E27FC236}">
                <a16:creationId xmlns:a16="http://schemas.microsoft.com/office/drawing/2014/main" id="{473D4F4C-DFED-4611-B5D6-4AD044FCA163}"/>
              </a:ext>
            </a:extLst>
          </p:cNvPr>
          <p:cNvSpPr>
            <a:spLocks noGrp="1"/>
          </p:cNvSpPr>
          <p:nvPr/>
        </p:nvSpPr>
        <p:spPr>
          <a:xfrm>
            <a:off x="4905375" y="3028950"/>
            <a:ext cx="3143250" cy="285750"/>
          </a:xfrm>
          <a:prstGeom prst="rect">
            <a:avLst/>
          </a:prstGeom>
          <a:noFill/>
          <a:ln w="0">
            <a:noFill/>
          </a:ln>
        </p:spPr>
        <p:txBody>
          <a:bodyPr wrap="square" lIns="0" tIns="0" rIns="0" bIns="0">
            <a:noAutofit/>
          </a:bodyPr>
          <a:lstStyle/>
          <a:p>
            <a:pPr>
              <a:defRPr sz="1725" b="0">
                <a:solidFill>
                  <a:srgbClr val="000000"/>
                </a:solidFill>
                <a:latin typeface="Calibri"/>
                <a:ea typeface="Calibri"/>
                <a:cs typeface="Calibri"/>
              </a:defRPr>
            </a:pPr>
            <a:r>
              <a:rPr sz="1725" b="0">
                <a:solidFill>
                  <a:srgbClr val="000000"/>
                </a:solidFill>
                <a:latin typeface="Calibri"/>
                <a:ea typeface="Calibri"/>
                <a:cs typeface="Calibri"/>
              </a:rPr>
              <a:t>Member</a:t>
            </a:r>
          </a:p>
        </p:txBody>
      </p:sp>
      <p:sp>
        <p:nvSpPr>
          <p:cNvPr id="9" name="body">
            <a:extLst>
              <a:ext uri="{FF2B5EF4-FFF2-40B4-BE49-F238E27FC236}">
                <a16:creationId xmlns:a16="http://schemas.microsoft.com/office/drawing/2014/main" id="{1A040C94-E064-4E59-A1E2-A418F5730F01}"/>
              </a:ext>
            </a:extLst>
          </p:cNvPr>
          <p:cNvSpPr>
            <a:spLocks noGrp="1"/>
          </p:cNvSpPr>
          <p:nvPr/>
        </p:nvSpPr>
        <p:spPr>
          <a:xfrm>
            <a:off x="4905375" y="3276600"/>
            <a:ext cx="3238500" cy="552450"/>
          </a:xfrm>
          <a:prstGeom prst="rect">
            <a:avLst/>
          </a:prstGeom>
          <a:noFill/>
          <a:ln w="0">
            <a:noFill/>
          </a:ln>
        </p:spPr>
        <p:txBody>
          <a:bodyPr wrap="square" lIns="0" tIns="0" rIns="0" bIns="0">
            <a:noAutofit/>
          </a:bodyPr>
          <a:lstStyle/>
          <a:p>
            <a:pPr>
              <a:defRPr sz="1650" b="0">
                <a:solidFill>
                  <a:srgbClr val="000000"/>
                </a:solidFill>
                <a:latin typeface="Calibri"/>
                <a:ea typeface="Calibri"/>
                <a:cs typeface="Calibri"/>
              </a:defRPr>
            </a:pPr>
            <a:r>
              <a:rPr sz="1650" b="0">
                <a:solidFill>
                  <a:srgbClr val="000000"/>
                </a:solidFill>
                <a:latin typeface="Calibri"/>
                <a:ea typeface="Calibri"/>
                <a:cs typeface="Calibri"/>
              </a:rPr>
              <a:t>M1 Alex     M2 Mei</a:t>
            </a:r>
          </a:p>
          <a:p>
            <a:pPr>
              <a:defRPr sz="1650" b="0">
                <a:solidFill>
                  <a:srgbClr val="000000"/>
                </a:solidFill>
                <a:latin typeface="Calibri"/>
                <a:ea typeface="Calibri"/>
                <a:cs typeface="Calibri"/>
              </a:defRPr>
            </a:pPr>
            <a:r>
              <a:rPr sz="1650" b="0">
                <a:solidFill>
                  <a:srgbClr val="000000"/>
                </a:solidFill>
                <a:latin typeface="Calibri"/>
                <a:ea typeface="Calibri"/>
                <a:cs typeface="Calibri"/>
              </a:rPr>
              <a:t>M3 Alex     M4 Noor</a:t>
            </a:r>
          </a:p>
        </p:txBody>
      </p:sp>
      <p:sp>
        <p:nvSpPr>
          <p:cNvPr id="10" name="body">
            <a:extLst>
              <a:ext uri="{FF2B5EF4-FFF2-40B4-BE49-F238E27FC236}">
                <a16:creationId xmlns:a16="http://schemas.microsoft.com/office/drawing/2014/main" id="{561B88CB-9DC7-41A5-8CBC-C5744B7D3D34}"/>
              </a:ext>
            </a:extLst>
          </p:cNvPr>
          <p:cNvSpPr>
            <a:spLocks noGrp="1"/>
          </p:cNvSpPr>
          <p:nvPr/>
        </p:nvSpPr>
        <p:spPr>
          <a:xfrm>
            <a:off x="781050" y="3876675"/>
            <a:ext cx="7600950" cy="1238250"/>
          </a:xfrm>
          <a:prstGeom prst="rect">
            <a:avLst/>
          </a:prstGeom>
          <a:noFill/>
          <a:ln w="0">
            <a:noFill/>
          </a:ln>
        </p:spPr>
        <p:txBody>
          <a:bodyPr wrap="square" lIns="0" tIns="0" rIns="0" bIns="0">
            <a:noAutofit/>
          </a:bodyPr>
          <a:lstStyle/>
          <a:p>
            <a:pPr>
              <a:defRPr sz="2175" b="0">
                <a:solidFill>
                  <a:srgbClr val="FF0000"/>
                </a:solidFill>
                <a:latin typeface="Calibri"/>
                <a:ea typeface="Calibri"/>
                <a:cs typeface="Calibri"/>
              </a:defRPr>
            </a:pPr>
            <a:r>
              <a:rPr sz="2175" b="0">
                <a:solidFill>
                  <a:srgbClr val="FF0000"/>
                </a:solidFill>
                <a:latin typeface="Calibri"/>
                <a:ea typeface="Calibri"/>
                <a:cs typeface="Calibri"/>
              </a:rPr>
              <a:t>Find the ID and name of every member trained on every tool in Tool.</a:t>
            </a:r>
          </a:p>
        </p:txBody>
      </p:sp>
      <p:sp>
        <p:nvSpPr>
          <p:cNvPr id="11" name="body">
            <a:extLst>
              <a:ext uri="{FF2B5EF4-FFF2-40B4-BE49-F238E27FC236}">
                <a16:creationId xmlns:a16="http://schemas.microsoft.com/office/drawing/2014/main" id="{4D6803E2-89F5-43E9-9E4B-354E2FB88AEF}"/>
              </a:ext>
            </a:extLst>
          </p:cNvPr>
          <p:cNvSpPr>
            <a:spLocks noGrp="1"/>
          </p:cNvSpPr>
          <p:nvPr/>
        </p:nvSpPr>
        <p:spPr>
          <a:xfrm>
            <a:off x="781050" y="5257800"/>
            <a:ext cx="7600950" cy="495300"/>
          </a:xfrm>
          <a:prstGeom prst="rect">
            <a:avLst/>
          </a:prstGeom>
          <a:noFill/>
          <a:ln w="0">
            <a:noFill/>
          </a:ln>
        </p:spPr>
        <p:txBody>
          <a:bodyPr wrap="square" lIns="0" tIns="0" rIns="0" bIns="0">
            <a:noAutofit/>
          </a:bodyPr>
          <a:lstStyle/>
          <a:p>
            <a:pPr>
              <a:defRPr sz="1950" b="0">
                <a:solidFill>
                  <a:srgbClr val="000000"/>
                </a:solidFill>
                <a:latin typeface="Calibri"/>
                <a:ea typeface="Calibri"/>
                <a:cs typeface="Calibri"/>
              </a:defRPr>
            </a:pPr>
            <a:r>
              <a:rPr sz="1950" b="0">
                <a:solidFill>
                  <a:srgbClr val="000000"/>
                </a:solidFill>
                <a:latin typeface="Calibri"/>
                <a:ea typeface="Calibri"/>
                <a:cs typeface="Calibri"/>
              </a:rPr>
              <a:t>Dates do not need to match.</a:t>
            </a:r>
          </a:p>
        </p:txBody>
      </p:sp>
      <p:sp>
        <p:nvSpPr>
          <p:cNvPr id="9001" name="Title 1">
            <a:extLst>
              <a:ext uri="{FF2B5EF4-FFF2-40B4-BE49-F238E27FC236}">
                <a16:creationId xmlns:a16="http://schemas.microsoft.com/office/drawing/2014/main" id="{4EF27E5C-9C4D-BDBE-7667-D0B141BCC8F5}"/>
              </a:ext>
            </a:extLst>
          </p:cNvPr>
          <p:cNvSpPr>
            <a:spLocks noGrp="1"/>
          </p:cNvSpPr>
          <p:nvPr>
            <p:ph type="title"/>
          </p:nvPr>
        </p:nvSpPr>
        <p:spPr/>
        <p:txBody>
          <a:bodyPr/>
          <a:lstStyle/>
          <a:p>
            <a:r>
              <a:rPr lang="en-US">
                <a:solidFill>
                  <a:srgbClr val="FF0000"/>
                </a:solidFill>
              </a:rPr>
              <a:t>Practice: </a:t>
            </a:r>
            <a:r>
              <a:rPr lang="en-US">
                <a:solidFill>
                  <a:srgbClr val="3333CC"/>
                </a:solidFill>
              </a:rPr>
              <a:t>Q25</a:t>
            </a:r>
          </a:p>
        </p:txBody>
      </p:sp>
      <p:sp>
        <p:nvSpPr>
          <p:cNvPr id="9002" name="Slide Number Placeholder 1">
            <a:extLst>
              <a:ext uri="{FF2B5EF4-FFF2-40B4-BE49-F238E27FC236}">
                <a16:creationId xmlns:a16="http://schemas.microsoft.com/office/drawing/2014/main" id="{B90139AC-3BDA-723A-097A-000DA0A784C1}"/>
              </a:ext>
            </a:extLst>
          </p:cNvPr>
          <p:cNvSpPr>
            <a:spLocks noGrp="1"/>
          </p:cNvSpPr>
          <p:nvPr>
            <p:ph type="sldNum" sz="quarter" idx="12"/>
          </p:nvPr>
        </p:nvSpPr>
        <p:spPr/>
        <p:txBody>
          <a:bodyPr/>
          <a:lstStyle/>
          <a:p>
            <a:pPr>
              <a:defRPr/>
            </a:pPr>
            <a:fld id="{43CA101F-9E5F-9249-9862-3CE55B3BB777}" type="slidenum">
              <a:rPr lang="en-US" altLang="zh-TW" smtClean="0"/>
              <a:pPr>
                <a:defRPr/>
              </a:pPr>
              <a:t>64</a:t>
            </a:fld>
            <a:endParaRPr lang="en-US" altLang="zh-TW"/>
          </a:p>
        </p:txBody>
      </p:sp>
    </p:spTree>
    <p:extLst>
      <p:ext uri="{BB962C8B-B14F-4D97-AF65-F5344CB8AC3E}">
        <p14:creationId xmlns:p14="http://schemas.microsoft.com/office/powerpoint/2010/main" val="1437935571"/>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formula">
            <a:extLst>
              <a:ext uri="{FF2B5EF4-FFF2-40B4-BE49-F238E27FC236}">
                <a16:creationId xmlns:a16="http://schemas.microsoft.com/office/drawing/2014/main" id="{2DB3BD2A-47DB-4F15-B43F-6D4D427E4948}"/>
              </a:ext>
            </a:extLst>
          </p:cNvPr>
          <p:cNvSpPr>
            <a:spLocks noGrp="1"/>
          </p:cNvSpPr>
          <p:nvPr/>
        </p:nvSpPr>
        <p:spPr>
          <a:xfrm>
            <a:off x="781050" y="1047750"/>
            <a:ext cx="7600950" cy="523875"/>
          </a:xfrm>
          <a:prstGeom prst="rect">
            <a:avLst/>
          </a:prstGeom>
          <a:noFill/>
          <a:ln w="0">
            <a:noFill/>
          </a:ln>
        </p:spPr>
        <p:txBody>
          <a:bodyPr wrap="square" lIns="0" tIns="0" rIns="0" bIns="0">
            <a:noAutofit/>
          </a:bodyPr>
          <a:lstStyle/>
          <a:p>
            <a:pPr>
              <a:defRPr sz="2175" b="0">
                <a:solidFill>
                  <a:srgbClr val="000000"/>
                </a:solidFill>
                <a:latin typeface="Cambria Math"/>
                <a:ea typeface="Cambria Math"/>
                <a:cs typeface="Cambria Math"/>
              </a:defRPr>
            </a:pPr>
            <a:r>
              <a:rPr sz="2175" b="0">
                <a:solidFill>
                  <a:srgbClr val="000000"/>
                </a:solidFill>
                <a:latin typeface="Cambria Math"/>
                <a:ea typeface="Cambria Math"/>
                <a:cs typeface="Cambria Math"/>
              </a:rPr>
              <a:t>R ← π</a:t>
            </a:r>
            <a:r>
              <a:rPr sz="1544" b="0" baseline="-25000">
                <a:solidFill>
                  <a:srgbClr val="000000"/>
                </a:solidFill>
                <a:latin typeface="Cambria Math"/>
                <a:ea typeface="Cambria Math"/>
                <a:cs typeface="Cambria Math"/>
              </a:rPr>
              <a:t>mid,tid</a:t>
            </a:r>
            <a:r>
              <a:rPr sz="2175" b="0">
                <a:solidFill>
                  <a:srgbClr val="000000"/>
                </a:solidFill>
                <a:latin typeface="Cambria Math"/>
                <a:ea typeface="Cambria Math"/>
                <a:cs typeface="Cambria Math"/>
              </a:rPr>
              <a:t>(Trained)</a:t>
            </a:r>
          </a:p>
        </p:txBody>
      </p:sp>
      <p:sp>
        <p:nvSpPr>
          <p:cNvPr id="4" name="formula">
            <a:extLst>
              <a:ext uri="{FF2B5EF4-FFF2-40B4-BE49-F238E27FC236}">
                <a16:creationId xmlns:a16="http://schemas.microsoft.com/office/drawing/2014/main" id="{4948D740-98DA-48DE-9C0D-8BCA08D29587}"/>
              </a:ext>
            </a:extLst>
          </p:cNvPr>
          <p:cNvSpPr>
            <a:spLocks noGrp="1"/>
          </p:cNvSpPr>
          <p:nvPr/>
        </p:nvSpPr>
        <p:spPr>
          <a:xfrm>
            <a:off x="781050" y="1733550"/>
            <a:ext cx="7600950" cy="523875"/>
          </a:xfrm>
          <a:prstGeom prst="rect">
            <a:avLst/>
          </a:prstGeom>
          <a:noFill/>
          <a:ln w="0">
            <a:noFill/>
          </a:ln>
        </p:spPr>
        <p:txBody>
          <a:bodyPr wrap="square" lIns="0" tIns="0" rIns="0" bIns="0">
            <a:noAutofit/>
          </a:bodyPr>
          <a:lstStyle/>
          <a:p>
            <a:pPr>
              <a:defRPr sz="2175" b="0">
                <a:solidFill>
                  <a:srgbClr val="000000"/>
                </a:solidFill>
                <a:latin typeface="Cambria Math"/>
                <a:ea typeface="Cambria Math"/>
                <a:cs typeface="Cambria Math"/>
              </a:defRPr>
            </a:pPr>
            <a:r>
              <a:rPr sz="2175" b="0">
                <a:solidFill>
                  <a:srgbClr val="000000"/>
                </a:solidFill>
                <a:latin typeface="Cambria Math"/>
                <a:ea typeface="Cambria Math"/>
                <a:cs typeface="Cambria Math"/>
              </a:rPr>
              <a:t>Required ← π</a:t>
            </a:r>
            <a:r>
              <a:rPr sz="1544" b="0" baseline="-25000">
                <a:solidFill>
                  <a:srgbClr val="000000"/>
                </a:solidFill>
                <a:latin typeface="Cambria Math"/>
                <a:ea typeface="Cambria Math"/>
                <a:cs typeface="Cambria Math"/>
              </a:rPr>
              <a:t>tid</a:t>
            </a:r>
            <a:r>
              <a:rPr sz="2175" b="0">
                <a:solidFill>
                  <a:srgbClr val="000000"/>
                </a:solidFill>
                <a:latin typeface="Cambria Math"/>
                <a:ea typeface="Cambria Math"/>
                <a:cs typeface="Cambria Math"/>
              </a:rPr>
              <a:t>(Tool)</a:t>
            </a:r>
          </a:p>
        </p:txBody>
      </p:sp>
      <p:sp>
        <p:nvSpPr>
          <p:cNvPr id="5" name="body">
            <a:extLst>
              <a:ext uri="{FF2B5EF4-FFF2-40B4-BE49-F238E27FC236}">
                <a16:creationId xmlns:a16="http://schemas.microsoft.com/office/drawing/2014/main" id="{D69FB671-E916-42DE-ADAC-2529CBF03266}"/>
              </a:ext>
            </a:extLst>
          </p:cNvPr>
          <p:cNvSpPr>
            <a:spLocks noGrp="1"/>
          </p:cNvSpPr>
          <p:nvPr/>
        </p:nvSpPr>
        <p:spPr>
          <a:xfrm>
            <a:off x="876300" y="2457450"/>
            <a:ext cx="3190875" cy="361950"/>
          </a:xfrm>
          <a:prstGeom prst="rect">
            <a:avLst/>
          </a:prstGeom>
          <a:noFill/>
          <a:ln w="0">
            <a:noFill/>
          </a:ln>
        </p:spPr>
        <p:txBody>
          <a:bodyPr wrap="square" lIns="0" tIns="0" rIns="0" bIns="0">
            <a:noAutofit/>
          </a:bodyPr>
          <a:lstStyle/>
          <a:p>
            <a:pPr>
              <a:defRPr sz="2250" b="0">
                <a:solidFill>
                  <a:srgbClr val="000000"/>
                </a:solidFill>
                <a:latin typeface="Calibri"/>
                <a:ea typeface="Calibri"/>
                <a:cs typeface="Calibri"/>
              </a:defRPr>
            </a:pPr>
            <a:r>
              <a:rPr sz="2250" b="0">
                <a:solidFill>
                  <a:srgbClr val="000000"/>
                </a:solidFill>
                <a:latin typeface="Calibri"/>
                <a:ea typeface="Calibri"/>
                <a:cs typeface="Calibri"/>
              </a:rPr>
              <a:t>R</a:t>
            </a:r>
          </a:p>
        </p:txBody>
      </p:sp>
      <p:graphicFrame>
        <p:nvGraphicFramePr>
          <p:cNvPr id="15" name="表格 14"/>
          <p:cNvGraphicFramePr/>
          <p:nvPr/>
        </p:nvGraphicFramePr>
        <p:xfrm>
          <a:off x="952500" y="2876550"/>
          <a:ext cx="3190876" cy="2114550"/>
        </p:xfrm>
        <a:graphic>
          <a:graphicData uri="http://schemas.openxmlformats.org/drawingml/2006/table">
            <a:tbl>
              <a:tblPr/>
              <a:tblGrid>
                <a:gridCol w="1595438">
                  <a:extLst>
                    <a:ext uri="{9D8B030D-6E8A-4147-A177-3AD203B41FA5}">
                      <a16:colId xmlns:a16="http://schemas.microsoft.com/office/drawing/2014/main" val="20000"/>
                    </a:ext>
                  </a:extLst>
                </a:gridCol>
                <a:gridCol w="1595438">
                  <a:extLst>
                    <a:ext uri="{9D8B030D-6E8A-4147-A177-3AD203B41FA5}">
                      <a16:colId xmlns:a16="http://schemas.microsoft.com/office/drawing/2014/main" val="20001"/>
                    </a:ext>
                  </a:extLst>
                </a:gridCol>
              </a:tblGrid>
              <a:tr h="352425">
                <a:tc>
                  <a:txBody>
                    <a:bodyPr/>
                    <a:lstStyle/>
                    <a:p>
                      <a:pPr algn="ctr"/>
                      <a:r>
                        <a:rPr sz="1875">
                          <a:solidFill>
                            <a:srgbClr val="000000"/>
                          </a:solidFill>
                          <a:latin typeface="Calibri"/>
                          <a:ea typeface="Calibri"/>
                          <a:cs typeface="Calibri"/>
                        </a:rPr>
                        <a:t>mid</a:t>
                      </a:r>
                    </a:p>
                  </a:txBody>
                  <a:tcPr marL="47625" marR="47625" marT="28575" marB="28575" anchor="ctr">
                    <a:solidFill>
                      <a:srgbClr val="D9D9D9"/>
                    </a:solidFill>
                  </a:tcPr>
                </a:tc>
                <a:tc>
                  <a:txBody>
                    <a:bodyPr/>
                    <a:lstStyle/>
                    <a:p>
                      <a:pPr algn="ctr"/>
                      <a:r>
                        <a:rPr sz="1875">
                          <a:solidFill>
                            <a:srgbClr val="000000"/>
                          </a:solidFill>
                          <a:latin typeface="Calibri"/>
                          <a:ea typeface="Calibri"/>
                          <a:cs typeface="Calibri"/>
                        </a:rPr>
                        <a:t>tid</a:t>
                      </a:r>
                    </a:p>
                  </a:txBody>
                  <a:tcPr marL="47625" marR="47625" marT="28575" marB="28575" anchor="ctr">
                    <a:solidFill>
                      <a:srgbClr val="D9D9D9"/>
                    </a:solidFill>
                  </a:tcPr>
                </a:tc>
                <a:extLst>
                  <a:ext uri="{0D108BD9-81ED-4DB2-BD59-A6C34878D82A}">
                    <a16:rowId xmlns:a16="http://schemas.microsoft.com/office/drawing/2014/main" val="10000"/>
                  </a:ext>
                </a:extLst>
              </a:tr>
              <a:tr h="352425">
                <a:tc>
                  <a:txBody>
                    <a:bodyPr/>
                    <a:lstStyle/>
                    <a:p>
                      <a:pPr algn="ctr"/>
                      <a:r>
                        <a:rPr sz="1875">
                          <a:solidFill>
                            <a:srgbClr val="000000"/>
                          </a:solidFill>
                          <a:latin typeface="Calibri"/>
                          <a:ea typeface="Calibri"/>
                          <a:cs typeface="Calibri"/>
                        </a:rPr>
                        <a:t>M1</a:t>
                      </a:r>
                    </a:p>
                  </a:txBody>
                  <a:tcPr marL="47625" marR="47625" marT="28575" marB="28575" anchor="ctr">
                    <a:solidFill>
                      <a:srgbClr val="FFFFFF"/>
                    </a:solidFill>
                  </a:tcPr>
                </a:tc>
                <a:tc>
                  <a:txBody>
                    <a:bodyPr/>
                    <a:lstStyle/>
                    <a:p>
                      <a:pPr algn="ctr"/>
                      <a:r>
                        <a:rPr sz="1875">
                          <a:solidFill>
                            <a:srgbClr val="000000"/>
                          </a:solidFill>
                          <a:latin typeface="Calibri"/>
                          <a:ea typeface="Calibri"/>
                          <a:cs typeface="Calibri"/>
                        </a:rPr>
                        <a:t>T1</a:t>
                      </a:r>
                    </a:p>
                  </a:txBody>
                  <a:tcPr marL="47625" marR="47625" marT="28575" marB="28575" anchor="ctr">
                    <a:solidFill>
                      <a:srgbClr val="FFFFFF"/>
                    </a:solidFill>
                  </a:tcPr>
                </a:tc>
                <a:extLst>
                  <a:ext uri="{0D108BD9-81ED-4DB2-BD59-A6C34878D82A}">
                    <a16:rowId xmlns:a16="http://schemas.microsoft.com/office/drawing/2014/main" val="10001"/>
                  </a:ext>
                </a:extLst>
              </a:tr>
              <a:tr h="352425">
                <a:tc>
                  <a:txBody>
                    <a:bodyPr/>
                    <a:lstStyle/>
                    <a:p>
                      <a:pPr algn="ctr"/>
                      <a:r>
                        <a:rPr sz="1875">
                          <a:solidFill>
                            <a:srgbClr val="000000"/>
                          </a:solidFill>
                          <a:latin typeface="Calibri"/>
                          <a:ea typeface="Calibri"/>
                          <a:cs typeface="Calibri"/>
                        </a:rPr>
                        <a:t>M2</a:t>
                      </a:r>
                    </a:p>
                  </a:txBody>
                  <a:tcPr marL="47625" marR="47625" marT="28575" marB="28575" anchor="ctr">
                    <a:solidFill>
                      <a:srgbClr val="FFFFFF"/>
                    </a:solidFill>
                  </a:tcPr>
                </a:tc>
                <a:tc>
                  <a:txBody>
                    <a:bodyPr/>
                    <a:lstStyle/>
                    <a:p>
                      <a:pPr algn="ctr"/>
                      <a:r>
                        <a:rPr sz="1875">
                          <a:solidFill>
                            <a:srgbClr val="000000"/>
                          </a:solidFill>
                          <a:latin typeface="Calibri"/>
                          <a:ea typeface="Calibri"/>
                          <a:cs typeface="Calibri"/>
                        </a:rPr>
                        <a:t>T1</a:t>
                      </a:r>
                    </a:p>
                  </a:txBody>
                  <a:tcPr marL="47625" marR="47625" marT="28575" marB="28575" anchor="ctr">
                    <a:solidFill>
                      <a:srgbClr val="FFFFFF"/>
                    </a:solidFill>
                  </a:tcPr>
                </a:tc>
                <a:extLst>
                  <a:ext uri="{0D108BD9-81ED-4DB2-BD59-A6C34878D82A}">
                    <a16:rowId xmlns:a16="http://schemas.microsoft.com/office/drawing/2014/main" val="10002"/>
                  </a:ext>
                </a:extLst>
              </a:tr>
              <a:tr h="352425">
                <a:tc>
                  <a:txBody>
                    <a:bodyPr/>
                    <a:lstStyle/>
                    <a:p>
                      <a:pPr algn="ctr"/>
                      <a:r>
                        <a:rPr sz="1875">
                          <a:solidFill>
                            <a:srgbClr val="000000"/>
                          </a:solidFill>
                          <a:latin typeface="Calibri"/>
                          <a:ea typeface="Calibri"/>
                          <a:cs typeface="Calibri"/>
                        </a:rPr>
                        <a:t>M2</a:t>
                      </a:r>
                    </a:p>
                  </a:txBody>
                  <a:tcPr marL="47625" marR="47625" marT="28575" marB="28575" anchor="ctr">
                    <a:solidFill>
                      <a:srgbClr val="FFFFFF"/>
                    </a:solidFill>
                  </a:tcPr>
                </a:tc>
                <a:tc>
                  <a:txBody>
                    <a:bodyPr/>
                    <a:lstStyle/>
                    <a:p>
                      <a:pPr algn="ctr"/>
                      <a:r>
                        <a:rPr sz="1875">
                          <a:solidFill>
                            <a:srgbClr val="000000"/>
                          </a:solidFill>
                          <a:latin typeface="Calibri"/>
                          <a:ea typeface="Calibri"/>
                          <a:cs typeface="Calibri"/>
                        </a:rPr>
                        <a:t>T2</a:t>
                      </a:r>
                    </a:p>
                  </a:txBody>
                  <a:tcPr marL="47625" marR="47625" marT="28575" marB="28575" anchor="ctr">
                    <a:solidFill>
                      <a:srgbClr val="FFFFFF"/>
                    </a:solidFill>
                  </a:tcPr>
                </a:tc>
                <a:extLst>
                  <a:ext uri="{0D108BD9-81ED-4DB2-BD59-A6C34878D82A}">
                    <a16:rowId xmlns:a16="http://schemas.microsoft.com/office/drawing/2014/main" val="10003"/>
                  </a:ext>
                </a:extLst>
              </a:tr>
              <a:tr h="352425">
                <a:tc>
                  <a:txBody>
                    <a:bodyPr/>
                    <a:lstStyle/>
                    <a:p>
                      <a:pPr algn="ctr"/>
                      <a:r>
                        <a:rPr sz="1875">
                          <a:solidFill>
                            <a:srgbClr val="000000"/>
                          </a:solidFill>
                          <a:latin typeface="Calibri"/>
                          <a:ea typeface="Calibri"/>
                          <a:cs typeface="Calibri"/>
                        </a:rPr>
                        <a:t>M2</a:t>
                      </a:r>
                    </a:p>
                  </a:txBody>
                  <a:tcPr marL="47625" marR="47625" marT="28575" marB="28575" anchor="ctr">
                    <a:solidFill>
                      <a:srgbClr val="FFFFFF"/>
                    </a:solidFill>
                  </a:tcPr>
                </a:tc>
                <a:tc>
                  <a:txBody>
                    <a:bodyPr/>
                    <a:lstStyle/>
                    <a:p>
                      <a:pPr algn="ctr"/>
                      <a:r>
                        <a:rPr sz="1875">
                          <a:solidFill>
                            <a:srgbClr val="000000"/>
                          </a:solidFill>
                          <a:latin typeface="Calibri"/>
                          <a:ea typeface="Calibri"/>
                          <a:cs typeface="Calibri"/>
                        </a:rPr>
                        <a:t>T3</a:t>
                      </a:r>
                    </a:p>
                  </a:txBody>
                  <a:tcPr marL="47625" marR="47625" marT="28575" marB="28575" anchor="ctr">
                    <a:solidFill>
                      <a:srgbClr val="FFFFFF"/>
                    </a:solidFill>
                  </a:tcPr>
                </a:tc>
                <a:extLst>
                  <a:ext uri="{0D108BD9-81ED-4DB2-BD59-A6C34878D82A}">
                    <a16:rowId xmlns:a16="http://schemas.microsoft.com/office/drawing/2014/main" val="10004"/>
                  </a:ext>
                </a:extLst>
              </a:tr>
              <a:tr h="352425">
                <a:tc>
                  <a:txBody>
                    <a:bodyPr/>
                    <a:lstStyle/>
                    <a:p>
                      <a:pPr algn="ctr"/>
                      <a:r>
                        <a:rPr sz="1875">
                          <a:solidFill>
                            <a:srgbClr val="000000"/>
                          </a:solidFill>
                          <a:latin typeface="Calibri"/>
                          <a:ea typeface="Calibri"/>
                          <a:cs typeface="Calibri"/>
                        </a:rPr>
                        <a:t>M3</a:t>
                      </a:r>
                    </a:p>
                  </a:txBody>
                  <a:tcPr marL="47625" marR="47625" marT="28575" marB="28575" anchor="ctr">
                    <a:solidFill>
                      <a:srgbClr val="FFFFFF"/>
                    </a:solidFill>
                  </a:tcPr>
                </a:tc>
                <a:tc>
                  <a:txBody>
                    <a:bodyPr/>
                    <a:lstStyle/>
                    <a:p>
                      <a:pPr algn="ctr"/>
                      <a:r>
                        <a:rPr sz="1875">
                          <a:solidFill>
                            <a:srgbClr val="000000"/>
                          </a:solidFill>
                          <a:latin typeface="Calibri"/>
                          <a:ea typeface="Calibri"/>
                          <a:cs typeface="Calibri"/>
                        </a:rPr>
                        <a:t>T2</a:t>
                      </a:r>
                    </a:p>
                  </a:txBody>
                  <a:tcPr marL="47625" marR="47625" marT="28575" marB="28575" anchor="ctr">
                    <a:solidFill>
                      <a:srgbClr val="FFFFFF"/>
                    </a:solidFill>
                  </a:tcPr>
                </a:tc>
                <a:extLst>
                  <a:ext uri="{0D108BD9-81ED-4DB2-BD59-A6C34878D82A}">
                    <a16:rowId xmlns:a16="http://schemas.microsoft.com/office/drawing/2014/main" val="10005"/>
                  </a:ext>
                </a:extLst>
              </a:tr>
            </a:tbl>
          </a:graphicData>
        </a:graphic>
      </p:graphicFrame>
      <p:sp>
        <p:nvSpPr>
          <p:cNvPr id="7" name="body">
            <a:extLst>
              <a:ext uri="{FF2B5EF4-FFF2-40B4-BE49-F238E27FC236}">
                <a16:creationId xmlns:a16="http://schemas.microsoft.com/office/drawing/2014/main" id="{86292E41-A14D-4C52-9969-C2E1B7F176DF}"/>
              </a:ext>
            </a:extLst>
          </p:cNvPr>
          <p:cNvSpPr>
            <a:spLocks noGrp="1"/>
          </p:cNvSpPr>
          <p:nvPr/>
        </p:nvSpPr>
        <p:spPr>
          <a:xfrm>
            <a:off x="5248275" y="2457450"/>
            <a:ext cx="2428875" cy="361950"/>
          </a:xfrm>
          <a:prstGeom prst="rect">
            <a:avLst/>
          </a:prstGeom>
          <a:noFill/>
          <a:ln w="0">
            <a:noFill/>
          </a:ln>
        </p:spPr>
        <p:txBody>
          <a:bodyPr wrap="square" lIns="0" tIns="0" rIns="0" bIns="0">
            <a:noAutofit/>
          </a:bodyPr>
          <a:lstStyle/>
          <a:p>
            <a:pPr>
              <a:defRPr sz="2250" b="0">
                <a:solidFill>
                  <a:srgbClr val="000000"/>
                </a:solidFill>
                <a:latin typeface="Calibri"/>
                <a:ea typeface="Calibri"/>
                <a:cs typeface="Calibri"/>
              </a:defRPr>
            </a:pPr>
            <a:r>
              <a:rPr sz="2250" b="0">
                <a:solidFill>
                  <a:srgbClr val="000000"/>
                </a:solidFill>
                <a:latin typeface="Calibri"/>
                <a:ea typeface="Calibri"/>
                <a:cs typeface="Calibri"/>
              </a:rPr>
              <a:t>Required</a:t>
            </a:r>
          </a:p>
        </p:txBody>
      </p:sp>
      <p:graphicFrame>
        <p:nvGraphicFramePr>
          <p:cNvPr id="17" name="表格 16"/>
          <p:cNvGraphicFramePr/>
          <p:nvPr/>
        </p:nvGraphicFramePr>
        <p:xfrm>
          <a:off x="5324475" y="2876550"/>
          <a:ext cx="2428875" cy="1600200"/>
        </p:xfrm>
        <a:graphic>
          <a:graphicData uri="http://schemas.openxmlformats.org/drawingml/2006/table">
            <a:tbl>
              <a:tblPr/>
              <a:tblGrid>
                <a:gridCol w="2428875">
                  <a:extLst>
                    <a:ext uri="{9D8B030D-6E8A-4147-A177-3AD203B41FA5}">
                      <a16:colId xmlns:a16="http://schemas.microsoft.com/office/drawing/2014/main" val="20000"/>
                    </a:ext>
                  </a:extLst>
                </a:gridCol>
              </a:tblGrid>
              <a:tr h="400050">
                <a:tc>
                  <a:txBody>
                    <a:bodyPr/>
                    <a:lstStyle/>
                    <a:p>
                      <a:pPr algn="ctr"/>
                      <a:r>
                        <a:rPr sz="2025">
                          <a:solidFill>
                            <a:srgbClr val="000000"/>
                          </a:solidFill>
                          <a:latin typeface="Calibri"/>
                          <a:ea typeface="Calibri"/>
                          <a:cs typeface="Calibri"/>
                        </a:rPr>
                        <a:t>tid</a:t>
                      </a:r>
                    </a:p>
                  </a:txBody>
                  <a:tcPr marL="47625" marR="47625" marT="28575" marB="28575" anchor="ctr">
                    <a:solidFill>
                      <a:srgbClr val="D9D9D9"/>
                    </a:solidFill>
                  </a:tcPr>
                </a:tc>
                <a:extLst>
                  <a:ext uri="{0D108BD9-81ED-4DB2-BD59-A6C34878D82A}">
                    <a16:rowId xmlns:a16="http://schemas.microsoft.com/office/drawing/2014/main" val="10000"/>
                  </a:ext>
                </a:extLst>
              </a:tr>
              <a:tr h="400050">
                <a:tc>
                  <a:txBody>
                    <a:bodyPr/>
                    <a:lstStyle/>
                    <a:p>
                      <a:pPr algn="ctr"/>
                      <a:r>
                        <a:rPr sz="2025">
                          <a:solidFill>
                            <a:srgbClr val="000000"/>
                          </a:solidFill>
                          <a:latin typeface="Calibri"/>
                          <a:ea typeface="Calibri"/>
                          <a:cs typeface="Calibri"/>
                        </a:rPr>
                        <a:t>T1</a:t>
                      </a:r>
                    </a:p>
                  </a:txBody>
                  <a:tcPr marL="47625" marR="47625" marT="28575" marB="28575" anchor="ctr">
                    <a:solidFill>
                      <a:srgbClr val="FFFFFF"/>
                    </a:solidFill>
                  </a:tcPr>
                </a:tc>
                <a:extLst>
                  <a:ext uri="{0D108BD9-81ED-4DB2-BD59-A6C34878D82A}">
                    <a16:rowId xmlns:a16="http://schemas.microsoft.com/office/drawing/2014/main" val="10001"/>
                  </a:ext>
                </a:extLst>
              </a:tr>
              <a:tr h="400050">
                <a:tc>
                  <a:txBody>
                    <a:bodyPr/>
                    <a:lstStyle/>
                    <a:p>
                      <a:pPr algn="ctr"/>
                      <a:r>
                        <a:rPr sz="2025">
                          <a:solidFill>
                            <a:srgbClr val="000000"/>
                          </a:solidFill>
                          <a:latin typeface="Calibri"/>
                          <a:ea typeface="Calibri"/>
                          <a:cs typeface="Calibri"/>
                        </a:rPr>
                        <a:t>T2</a:t>
                      </a:r>
                    </a:p>
                  </a:txBody>
                  <a:tcPr marL="47625" marR="47625" marT="28575" marB="28575" anchor="ctr">
                    <a:solidFill>
                      <a:srgbClr val="FFFFFF"/>
                    </a:solidFill>
                  </a:tcPr>
                </a:tc>
                <a:extLst>
                  <a:ext uri="{0D108BD9-81ED-4DB2-BD59-A6C34878D82A}">
                    <a16:rowId xmlns:a16="http://schemas.microsoft.com/office/drawing/2014/main" val="10002"/>
                  </a:ext>
                </a:extLst>
              </a:tr>
              <a:tr h="400050">
                <a:tc>
                  <a:txBody>
                    <a:bodyPr/>
                    <a:lstStyle/>
                    <a:p>
                      <a:pPr algn="ctr"/>
                      <a:r>
                        <a:rPr sz="2025">
                          <a:solidFill>
                            <a:srgbClr val="000000"/>
                          </a:solidFill>
                          <a:latin typeface="Calibri"/>
                          <a:ea typeface="Calibri"/>
                          <a:cs typeface="Calibri"/>
                        </a:rPr>
                        <a:t>T3</a:t>
                      </a:r>
                    </a:p>
                  </a:txBody>
                  <a:tcPr marL="47625" marR="47625" marT="28575" marB="28575" anchor="ctr">
                    <a:solidFill>
                      <a:srgbClr val="FFFFFF"/>
                    </a:solidFill>
                  </a:tcPr>
                </a:tc>
                <a:extLst>
                  <a:ext uri="{0D108BD9-81ED-4DB2-BD59-A6C34878D82A}">
                    <a16:rowId xmlns:a16="http://schemas.microsoft.com/office/drawing/2014/main" val="10003"/>
                  </a:ext>
                </a:extLst>
              </a:tr>
            </a:tbl>
          </a:graphicData>
        </a:graphic>
      </p:graphicFrame>
      <p:sp>
        <p:nvSpPr>
          <p:cNvPr id="9" name="body">
            <a:extLst>
              <a:ext uri="{FF2B5EF4-FFF2-40B4-BE49-F238E27FC236}">
                <a16:creationId xmlns:a16="http://schemas.microsoft.com/office/drawing/2014/main" id="{F2608F48-4368-4C06-BC0C-FB8E93588CDE}"/>
              </a:ext>
            </a:extLst>
          </p:cNvPr>
          <p:cNvSpPr>
            <a:spLocks noGrp="1"/>
          </p:cNvSpPr>
          <p:nvPr/>
        </p:nvSpPr>
        <p:spPr>
          <a:xfrm>
            <a:off x="781050" y="5514975"/>
            <a:ext cx="7600950" cy="952500"/>
          </a:xfrm>
          <a:prstGeom prst="rect">
            <a:avLst/>
          </a:prstGeom>
          <a:noFill/>
          <a:ln w="0">
            <a:noFill/>
          </a:ln>
        </p:spPr>
        <p:txBody>
          <a:bodyPr wrap="square" lIns="0" tIns="0" rIns="0" bIns="0">
            <a:noAutofit/>
          </a:bodyPr>
          <a:lstStyle/>
          <a:p>
            <a:pPr>
              <a:defRPr sz="2025" b="0">
                <a:solidFill>
                  <a:srgbClr val="FF0000"/>
                </a:solidFill>
                <a:latin typeface="Calibri"/>
                <a:ea typeface="Calibri"/>
                <a:cs typeface="Calibri"/>
              </a:defRPr>
            </a:pPr>
            <a:r>
              <a:rPr sz="2025" b="0">
                <a:solidFill>
                  <a:srgbClr val="FF0000"/>
                </a:solidFill>
                <a:latin typeface="Calibri"/>
                <a:ea typeface="Calibri"/>
                <a:cs typeface="Calibri"/>
              </a:rPr>
              <a:t>Dividend: (mid, tid). Divisor: (tid). Quotient: (mid).</a:t>
            </a:r>
          </a:p>
        </p:txBody>
      </p:sp>
      <p:sp>
        <p:nvSpPr>
          <p:cNvPr id="9001" name="Title 1">
            <a:extLst>
              <a:ext uri="{FF2B5EF4-FFF2-40B4-BE49-F238E27FC236}">
                <a16:creationId xmlns:a16="http://schemas.microsoft.com/office/drawing/2014/main" id="{4EF27E5C-9C4D-BDBE-7667-D0B141BCC8F5}"/>
              </a:ext>
            </a:extLst>
          </p:cNvPr>
          <p:cNvSpPr>
            <a:spLocks noGrp="1"/>
          </p:cNvSpPr>
          <p:nvPr>
            <p:ph type="title"/>
          </p:nvPr>
        </p:nvSpPr>
        <p:spPr/>
        <p:txBody>
          <a:bodyPr/>
          <a:lstStyle/>
          <a:p>
            <a:r>
              <a:rPr lang="en-US">
                <a:solidFill>
                  <a:srgbClr val="FF0000"/>
                </a:solidFill>
              </a:rPr>
              <a:t>Solutions: </a:t>
            </a:r>
            <a:r>
              <a:rPr lang="en-US">
                <a:solidFill>
                  <a:srgbClr val="3333CC"/>
                </a:solidFill>
              </a:rPr>
              <a:t>Q25 (1)</a:t>
            </a:r>
          </a:p>
        </p:txBody>
      </p:sp>
      <p:sp>
        <p:nvSpPr>
          <p:cNvPr id="9002" name="Slide Number Placeholder 1">
            <a:extLst>
              <a:ext uri="{FF2B5EF4-FFF2-40B4-BE49-F238E27FC236}">
                <a16:creationId xmlns:a16="http://schemas.microsoft.com/office/drawing/2014/main" id="{B90139AC-3BDA-723A-097A-000DA0A784C1}"/>
              </a:ext>
            </a:extLst>
          </p:cNvPr>
          <p:cNvSpPr>
            <a:spLocks noGrp="1"/>
          </p:cNvSpPr>
          <p:nvPr>
            <p:ph type="sldNum" sz="quarter" idx="12"/>
          </p:nvPr>
        </p:nvSpPr>
        <p:spPr/>
        <p:txBody>
          <a:bodyPr/>
          <a:lstStyle/>
          <a:p>
            <a:pPr>
              <a:defRPr/>
            </a:pPr>
            <a:fld id="{43CA101F-9E5F-9249-9862-3CE55B3BB777}" type="slidenum">
              <a:rPr lang="en-US" altLang="zh-TW" smtClean="0"/>
              <a:pPr>
                <a:defRPr/>
              </a:pPr>
              <a:t>65</a:t>
            </a:fld>
            <a:endParaRPr lang="en-US" altLang="zh-TW"/>
          </a:p>
        </p:txBody>
      </p:sp>
    </p:spTree>
    <p:extLst>
      <p:ext uri="{BB962C8B-B14F-4D97-AF65-F5344CB8AC3E}">
        <p14:creationId xmlns:p14="http://schemas.microsoft.com/office/powerpoint/2010/main" val="2090521712"/>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formula">
            <a:extLst>
              <a:ext uri="{FF2B5EF4-FFF2-40B4-BE49-F238E27FC236}">
                <a16:creationId xmlns:a16="http://schemas.microsoft.com/office/drawing/2014/main" id="{9A7ACB1B-F3E6-45DD-9D58-689EFAE42AB1}"/>
              </a:ext>
            </a:extLst>
          </p:cNvPr>
          <p:cNvSpPr>
            <a:spLocks noGrp="1"/>
          </p:cNvSpPr>
          <p:nvPr/>
        </p:nvSpPr>
        <p:spPr>
          <a:xfrm>
            <a:off x="781050" y="1066800"/>
            <a:ext cx="7620000" cy="523875"/>
          </a:xfrm>
          <a:prstGeom prst="rect">
            <a:avLst/>
          </a:prstGeom>
          <a:noFill/>
          <a:ln w="0">
            <a:noFill/>
          </a:ln>
        </p:spPr>
        <p:txBody>
          <a:bodyPr wrap="square" lIns="0" tIns="0" rIns="0" bIns="0">
            <a:noAutofit/>
          </a:bodyPr>
          <a:lstStyle/>
          <a:p>
            <a:pPr>
              <a:defRPr sz="2250" b="0">
                <a:solidFill>
                  <a:srgbClr val="000000"/>
                </a:solidFill>
                <a:latin typeface="Cambria Math"/>
                <a:ea typeface="Cambria Math"/>
                <a:cs typeface="Cambria Math"/>
              </a:defRPr>
            </a:pPr>
            <a:r>
              <a:rPr sz="2250" b="0">
                <a:solidFill>
                  <a:srgbClr val="000000"/>
                </a:solidFill>
                <a:latin typeface="Cambria Math"/>
                <a:ea typeface="Cambria Math"/>
                <a:cs typeface="Cambria Math"/>
              </a:rPr>
              <a:t>Qualified ← R / Required = { (M2) }</a:t>
            </a:r>
          </a:p>
        </p:txBody>
      </p:sp>
      <p:sp>
        <p:nvSpPr>
          <p:cNvPr id="4" name="body">
            <a:extLst>
              <a:ext uri="{FF2B5EF4-FFF2-40B4-BE49-F238E27FC236}">
                <a16:creationId xmlns:a16="http://schemas.microsoft.com/office/drawing/2014/main" id="{A3299C7B-8B71-405E-96C4-F1A66600F586}"/>
              </a:ext>
            </a:extLst>
          </p:cNvPr>
          <p:cNvSpPr>
            <a:spLocks noGrp="1"/>
          </p:cNvSpPr>
          <p:nvPr/>
        </p:nvSpPr>
        <p:spPr>
          <a:xfrm>
            <a:off x="1771650" y="1828800"/>
            <a:ext cx="5505450" cy="361950"/>
          </a:xfrm>
          <a:prstGeom prst="rect">
            <a:avLst/>
          </a:prstGeom>
          <a:noFill/>
          <a:ln w="0">
            <a:noFill/>
          </a:ln>
        </p:spPr>
        <p:txBody>
          <a:bodyPr wrap="square" lIns="0" tIns="0" rIns="0" bIns="0">
            <a:noAutofit/>
          </a:bodyPr>
          <a:lstStyle/>
          <a:p>
            <a:pPr>
              <a:defRPr sz="2250" b="0">
                <a:solidFill>
                  <a:srgbClr val="000000"/>
                </a:solidFill>
                <a:latin typeface="Calibri"/>
                <a:ea typeface="Calibri"/>
                <a:cs typeface="Calibri"/>
              </a:defRPr>
            </a:pPr>
            <a:r>
              <a:rPr sz="2250" b="0">
                <a:solidFill>
                  <a:srgbClr val="000000"/>
                </a:solidFill>
                <a:latin typeface="Calibri"/>
                <a:ea typeface="Calibri"/>
                <a:cs typeface="Calibri"/>
              </a:rPr>
              <a:t>Coverage check</a:t>
            </a:r>
          </a:p>
        </p:txBody>
      </p:sp>
      <p:graphicFrame>
        <p:nvGraphicFramePr>
          <p:cNvPr id="12" name="表格 11"/>
          <p:cNvGraphicFramePr/>
          <p:nvPr/>
        </p:nvGraphicFramePr>
        <p:xfrm>
          <a:off x="1847850" y="2247900"/>
          <a:ext cx="5505450" cy="1762125"/>
        </p:xfrm>
        <a:graphic>
          <a:graphicData uri="http://schemas.openxmlformats.org/drawingml/2006/table">
            <a:tbl>
              <a:tblPr/>
              <a:tblGrid>
                <a:gridCol w="2752725">
                  <a:extLst>
                    <a:ext uri="{9D8B030D-6E8A-4147-A177-3AD203B41FA5}">
                      <a16:colId xmlns:a16="http://schemas.microsoft.com/office/drawing/2014/main" val="20000"/>
                    </a:ext>
                  </a:extLst>
                </a:gridCol>
                <a:gridCol w="2752725">
                  <a:extLst>
                    <a:ext uri="{9D8B030D-6E8A-4147-A177-3AD203B41FA5}">
                      <a16:colId xmlns:a16="http://schemas.microsoft.com/office/drawing/2014/main" val="20001"/>
                    </a:ext>
                  </a:extLst>
                </a:gridCol>
              </a:tblGrid>
              <a:tr h="352425">
                <a:tc>
                  <a:txBody>
                    <a:bodyPr/>
                    <a:lstStyle/>
                    <a:p>
                      <a:pPr algn="ctr"/>
                      <a:r>
                        <a:rPr sz="1875">
                          <a:solidFill>
                            <a:srgbClr val="000000"/>
                          </a:solidFill>
                          <a:latin typeface="Calibri"/>
                          <a:ea typeface="Calibri"/>
                          <a:cs typeface="Calibri"/>
                        </a:rPr>
                        <a:t>mid</a:t>
                      </a:r>
                    </a:p>
                  </a:txBody>
                  <a:tcPr marL="47625" marR="47625" marT="28575" marB="28575" anchor="ctr">
                    <a:solidFill>
                      <a:srgbClr val="D9D9D9"/>
                    </a:solidFill>
                  </a:tcPr>
                </a:tc>
                <a:tc>
                  <a:txBody>
                    <a:bodyPr/>
                    <a:lstStyle/>
                    <a:p>
                      <a:pPr algn="ctr"/>
                      <a:r>
                        <a:rPr sz="1875">
                          <a:solidFill>
                            <a:srgbClr val="000000"/>
                          </a:solidFill>
                          <a:latin typeface="Calibri"/>
                          <a:ea typeface="Calibri"/>
                          <a:cs typeface="Calibri"/>
                        </a:rPr>
                        <a:t>Missing tools</a:t>
                      </a:r>
                    </a:p>
                  </a:txBody>
                  <a:tcPr marL="47625" marR="47625" marT="28575" marB="28575" anchor="ctr">
                    <a:solidFill>
                      <a:srgbClr val="D9D9D9"/>
                    </a:solidFill>
                  </a:tcPr>
                </a:tc>
                <a:extLst>
                  <a:ext uri="{0D108BD9-81ED-4DB2-BD59-A6C34878D82A}">
                    <a16:rowId xmlns:a16="http://schemas.microsoft.com/office/drawing/2014/main" val="10000"/>
                  </a:ext>
                </a:extLst>
              </a:tr>
              <a:tr h="352425">
                <a:tc>
                  <a:txBody>
                    <a:bodyPr/>
                    <a:lstStyle/>
                    <a:p>
                      <a:pPr algn="ctr"/>
                      <a:r>
                        <a:rPr sz="1875">
                          <a:solidFill>
                            <a:srgbClr val="000000"/>
                          </a:solidFill>
                          <a:latin typeface="Calibri"/>
                          <a:ea typeface="Calibri"/>
                          <a:cs typeface="Calibri"/>
                        </a:rPr>
                        <a:t>M1</a:t>
                      </a:r>
                    </a:p>
                  </a:txBody>
                  <a:tcPr marL="47625" marR="47625" marT="28575" marB="28575" anchor="ctr">
                    <a:solidFill>
                      <a:srgbClr val="FFFFFF"/>
                    </a:solidFill>
                  </a:tcPr>
                </a:tc>
                <a:tc>
                  <a:txBody>
                    <a:bodyPr/>
                    <a:lstStyle/>
                    <a:p>
                      <a:pPr algn="ctr"/>
                      <a:r>
                        <a:rPr sz="1875">
                          <a:solidFill>
                            <a:srgbClr val="000000"/>
                          </a:solidFill>
                          <a:latin typeface="Calibri"/>
                          <a:ea typeface="Calibri"/>
                          <a:cs typeface="Calibri"/>
                        </a:rPr>
                        <a:t>T2, T3</a:t>
                      </a:r>
                    </a:p>
                  </a:txBody>
                  <a:tcPr marL="47625" marR="47625" marT="28575" marB="28575" anchor="ctr">
                    <a:solidFill>
                      <a:srgbClr val="FFFFFF"/>
                    </a:solidFill>
                  </a:tcPr>
                </a:tc>
                <a:extLst>
                  <a:ext uri="{0D108BD9-81ED-4DB2-BD59-A6C34878D82A}">
                    <a16:rowId xmlns:a16="http://schemas.microsoft.com/office/drawing/2014/main" val="10001"/>
                  </a:ext>
                </a:extLst>
              </a:tr>
              <a:tr h="352425">
                <a:tc>
                  <a:txBody>
                    <a:bodyPr/>
                    <a:lstStyle/>
                    <a:p>
                      <a:pPr algn="ctr"/>
                      <a:r>
                        <a:rPr sz="1875">
                          <a:solidFill>
                            <a:srgbClr val="000000"/>
                          </a:solidFill>
                          <a:latin typeface="Calibri"/>
                          <a:ea typeface="Calibri"/>
                          <a:cs typeface="Calibri"/>
                        </a:rPr>
                        <a:t>M2</a:t>
                      </a:r>
                    </a:p>
                  </a:txBody>
                  <a:tcPr marL="47625" marR="47625" marT="28575" marB="28575" anchor="ctr">
                    <a:solidFill>
                      <a:srgbClr val="FFFFFF"/>
                    </a:solidFill>
                  </a:tcPr>
                </a:tc>
                <a:tc>
                  <a:txBody>
                    <a:bodyPr/>
                    <a:lstStyle/>
                    <a:p>
                      <a:pPr algn="ctr"/>
                      <a:r>
                        <a:rPr sz="1875">
                          <a:solidFill>
                            <a:srgbClr val="000000"/>
                          </a:solidFill>
                          <a:latin typeface="Calibri"/>
                          <a:ea typeface="Calibri"/>
                          <a:cs typeface="Calibri"/>
                        </a:rPr>
                        <a:t>None</a:t>
                      </a:r>
                    </a:p>
                  </a:txBody>
                  <a:tcPr marL="47625" marR="47625" marT="28575" marB="28575" anchor="ctr">
                    <a:solidFill>
                      <a:srgbClr val="FFFFFF"/>
                    </a:solidFill>
                  </a:tcPr>
                </a:tc>
                <a:extLst>
                  <a:ext uri="{0D108BD9-81ED-4DB2-BD59-A6C34878D82A}">
                    <a16:rowId xmlns:a16="http://schemas.microsoft.com/office/drawing/2014/main" val="10002"/>
                  </a:ext>
                </a:extLst>
              </a:tr>
              <a:tr h="352425">
                <a:tc>
                  <a:txBody>
                    <a:bodyPr/>
                    <a:lstStyle/>
                    <a:p>
                      <a:pPr algn="ctr"/>
                      <a:r>
                        <a:rPr sz="1875">
                          <a:solidFill>
                            <a:srgbClr val="000000"/>
                          </a:solidFill>
                          <a:latin typeface="Calibri"/>
                          <a:ea typeface="Calibri"/>
                          <a:cs typeface="Calibri"/>
                        </a:rPr>
                        <a:t>M3</a:t>
                      </a:r>
                    </a:p>
                  </a:txBody>
                  <a:tcPr marL="47625" marR="47625" marT="28575" marB="28575" anchor="ctr">
                    <a:solidFill>
                      <a:srgbClr val="FFFFFF"/>
                    </a:solidFill>
                  </a:tcPr>
                </a:tc>
                <a:tc>
                  <a:txBody>
                    <a:bodyPr/>
                    <a:lstStyle/>
                    <a:p>
                      <a:pPr algn="ctr"/>
                      <a:r>
                        <a:rPr sz="1875">
                          <a:solidFill>
                            <a:srgbClr val="000000"/>
                          </a:solidFill>
                          <a:latin typeface="Calibri"/>
                          <a:ea typeface="Calibri"/>
                          <a:cs typeface="Calibri"/>
                        </a:rPr>
                        <a:t>T1, T3</a:t>
                      </a:r>
                    </a:p>
                  </a:txBody>
                  <a:tcPr marL="47625" marR="47625" marT="28575" marB="28575" anchor="ctr">
                    <a:solidFill>
                      <a:srgbClr val="FFFFFF"/>
                    </a:solidFill>
                  </a:tcPr>
                </a:tc>
                <a:extLst>
                  <a:ext uri="{0D108BD9-81ED-4DB2-BD59-A6C34878D82A}">
                    <a16:rowId xmlns:a16="http://schemas.microsoft.com/office/drawing/2014/main" val="10003"/>
                  </a:ext>
                </a:extLst>
              </a:tr>
              <a:tr h="352425">
                <a:tc>
                  <a:txBody>
                    <a:bodyPr/>
                    <a:lstStyle/>
                    <a:p>
                      <a:pPr algn="ctr"/>
                      <a:r>
                        <a:rPr sz="1875">
                          <a:solidFill>
                            <a:srgbClr val="000000"/>
                          </a:solidFill>
                          <a:latin typeface="Calibri"/>
                          <a:ea typeface="Calibri"/>
                          <a:cs typeface="Calibri"/>
                        </a:rPr>
                        <a:t>M4</a:t>
                      </a:r>
                    </a:p>
                  </a:txBody>
                  <a:tcPr marL="47625" marR="47625" marT="28575" marB="28575" anchor="ctr">
                    <a:solidFill>
                      <a:srgbClr val="FFFFFF"/>
                    </a:solidFill>
                  </a:tcPr>
                </a:tc>
                <a:tc>
                  <a:txBody>
                    <a:bodyPr/>
                    <a:lstStyle/>
                    <a:p>
                      <a:pPr algn="ctr"/>
                      <a:r>
                        <a:rPr sz="1875">
                          <a:solidFill>
                            <a:srgbClr val="000000"/>
                          </a:solidFill>
                          <a:latin typeface="Calibri"/>
                          <a:ea typeface="Calibri"/>
                          <a:cs typeface="Calibri"/>
                        </a:rPr>
                        <a:t>T1, T2, T3</a:t>
                      </a:r>
                    </a:p>
                  </a:txBody>
                  <a:tcPr marL="47625" marR="47625" marT="28575" marB="28575" anchor="ctr">
                    <a:solidFill>
                      <a:srgbClr val="FFFFFF"/>
                    </a:solidFill>
                  </a:tcPr>
                </a:tc>
                <a:extLst>
                  <a:ext uri="{0D108BD9-81ED-4DB2-BD59-A6C34878D82A}">
                    <a16:rowId xmlns:a16="http://schemas.microsoft.com/office/drawing/2014/main" val="10004"/>
                  </a:ext>
                </a:extLst>
              </a:tr>
            </a:tbl>
          </a:graphicData>
        </a:graphic>
      </p:graphicFrame>
      <p:sp>
        <p:nvSpPr>
          <p:cNvPr id="6" name="formula">
            <a:extLst>
              <a:ext uri="{FF2B5EF4-FFF2-40B4-BE49-F238E27FC236}">
                <a16:creationId xmlns:a16="http://schemas.microsoft.com/office/drawing/2014/main" id="{8F687AA8-B250-4F58-BDDB-8CD603DD103C}"/>
              </a:ext>
            </a:extLst>
          </p:cNvPr>
          <p:cNvSpPr>
            <a:spLocks noGrp="1"/>
          </p:cNvSpPr>
          <p:nvPr/>
        </p:nvSpPr>
        <p:spPr>
          <a:xfrm>
            <a:off x="781050" y="4638675"/>
            <a:ext cx="7620000" cy="523875"/>
          </a:xfrm>
          <a:prstGeom prst="rect">
            <a:avLst/>
          </a:prstGeom>
          <a:noFill/>
          <a:ln w="0">
            <a:noFill/>
          </a:ln>
        </p:spPr>
        <p:txBody>
          <a:bodyPr wrap="square" lIns="0" tIns="0" rIns="0" bIns="0">
            <a:noAutofit/>
          </a:bodyPr>
          <a:lstStyle/>
          <a:p>
            <a:pPr>
              <a:defRPr sz="2025" b="0">
                <a:solidFill>
                  <a:srgbClr val="000000"/>
                </a:solidFill>
                <a:latin typeface="Cambria Math"/>
                <a:ea typeface="Cambria Math"/>
                <a:cs typeface="Cambria Math"/>
              </a:defRPr>
            </a:pPr>
            <a:r>
              <a:rPr sz="2025" b="0">
                <a:solidFill>
                  <a:srgbClr val="000000"/>
                </a:solidFill>
                <a:latin typeface="Cambria Math"/>
                <a:ea typeface="Cambria Math"/>
                <a:cs typeface="Cambria Math"/>
              </a:rPr>
              <a:t>Answer ← π</a:t>
            </a:r>
            <a:r>
              <a:rPr sz="1438" b="0" baseline="-25000">
                <a:solidFill>
                  <a:srgbClr val="000000"/>
                </a:solidFill>
                <a:latin typeface="Cambria Math"/>
                <a:ea typeface="Cambria Math"/>
                <a:cs typeface="Cambria Math"/>
              </a:rPr>
              <a:t>mid,mname</a:t>
            </a:r>
            <a:r>
              <a:rPr sz="2025" b="0">
                <a:solidFill>
                  <a:srgbClr val="000000"/>
                </a:solidFill>
                <a:latin typeface="Cambria Math"/>
                <a:ea typeface="Cambria Math"/>
                <a:cs typeface="Cambria Math"/>
              </a:rPr>
              <a:t>(Member ⋈ Qualified)</a:t>
            </a:r>
          </a:p>
        </p:txBody>
      </p:sp>
      <p:graphicFrame>
        <p:nvGraphicFramePr>
          <p:cNvPr id="14" name="表格 13"/>
          <p:cNvGraphicFramePr/>
          <p:nvPr/>
        </p:nvGraphicFramePr>
        <p:xfrm>
          <a:off x="2667000" y="5257800"/>
          <a:ext cx="3810000" cy="704850"/>
        </p:xfrm>
        <a:graphic>
          <a:graphicData uri="http://schemas.openxmlformats.org/drawingml/2006/table">
            <a:tbl>
              <a:tblPr/>
              <a:tblGrid>
                <a:gridCol w="1905000">
                  <a:extLst>
                    <a:ext uri="{9D8B030D-6E8A-4147-A177-3AD203B41FA5}">
                      <a16:colId xmlns:a16="http://schemas.microsoft.com/office/drawing/2014/main" val="20000"/>
                    </a:ext>
                  </a:extLst>
                </a:gridCol>
                <a:gridCol w="1905000">
                  <a:extLst>
                    <a:ext uri="{9D8B030D-6E8A-4147-A177-3AD203B41FA5}">
                      <a16:colId xmlns:a16="http://schemas.microsoft.com/office/drawing/2014/main" val="20001"/>
                    </a:ext>
                  </a:extLst>
                </a:gridCol>
              </a:tblGrid>
              <a:tr h="352425">
                <a:tc>
                  <a:txBody>
                    <a:bodyPr/>
                    <a:lstStyle/>
                    <a:p>
                      <a:pPr algn="ctr"/>
                      <a:r>
                        <a:rPr sz="1875">
                          <a:solidFill>
                            <a:srgbClr val="000000"/>
                          </a:solidFill>
                          <a:latin typeface="Calibri"/>
                          <a:ea typeface="Calibri"/>
                          <a:cs typeface="Calibri"/>
                        </a:rPr>
                        <a:t>mid</a:t>
                      </a:r>
                    </a:p>
                  </a:txBody>
                  <a:tcPr marL="47625" marR="47625" marT="28575" marB="28575" anchor="ctr">
                    <a:solidFill>
                      <a:srgbClr val="D9D9D9"/>
                    </a:solidFill>
                  </a:tcPr>
                </a:tc>
                <a:tc>
                  <a:txBody>
                    <a:bodyPr/>
                    <a:lstStyle/>
                    <a:p>
                      <a:pPr algn="ctr"/>
                      <a:r>
                        <a:rPr sz="1875">
                          <a:solidFill>
                            <a:srgbClr val="000000"/>
                          </a:solidFill>
                          <a:latin typeface="Calibri"/>
                          <a:ea typeface="Calibri"/>
                          <a:cs typeface="Calibri"/>
                        </a:rPr>
                        <a:t>mname</a:t>
                      </a:r>
                    </a:p>
                  </a:txBody>
                  <a:tcPr marL="47625" marR="47625" marT="28575" marB="28575" anchor="ctr">
                    <a:solidFill>
                      <a:srgbClr val="D9D9D9"/>
                    </a:solidFill>
                  </a:tcPr>
                </a:tc>
                <a:extLst>
                  <a:ext uri="{0D108BD9-81ED-4DB2-BD59-A6C34878D82A}">
                    <a16:rowId xmlns:a16="http://schemas.microsoft.com/office/drawing/2014/main" val="10000"/>
                  </a:ext>
                </a:extLst>
              </a:tr>
              <a:tr h="352425">
                <a:tc>
                  <a:txBody>
                    <a:bodyPr/>
                    <a:lstStyle/>
                    <a:p>
                      <a:pPr algn="ctr"/>
                      <a:r>
                        <a:rPr sz="1875">
                          <a:solidFill>
                            <a:srgbClr val="000000"/>
                          </a:solidFill>
                          <a:latin typeface="Calibri"/>
                          <a:ea typeface="Calibri"/>
                          <a:cs typeface="Calibri"/>
                        </a:rPr>
                        <a:t>M2</a:t>
                      </a:r>
                    </a:p>
                  </a:txBody>
                  <a:tcPr marL="47625" marR="47625" marT="28575" marB="28575" anchor="ctr">
                    <a:solidFill>
                      <a:srgbClr val="FFFFFF"/>
                    </a:solidFill>
                  </a:tcPr>
                </a:tc>
                <a:tc>
                  <a:txBody>
                    <a:bodyPr/>
                    <a:lstStyle/>
                    <a:p>
                      <a:pPr algn="ctr"/>
                      <a:r>
                        <a:rPr sz="1875">
                          <a:solidFill>
                            <a:srgbClr val="000000"/>
                          </a:solidFill>
                          <a:latin typeface="Calibri"/>
                          <a:ea typeface="Calibri"/>
                          <a:cs typeface="Calibri"/>
                        </a:rPr>
                        <a:t>Mei</a:t>
                      </a:r>
                    </a:p>
                  </a:txBody>
                  <a:tcPr marL="47625" marR="47625" marT="28575" marB="28575" anchor="ctr">
                    <a:solidFill>
                      <a:srgbClr val="FFFFFF"/>
                    </a:solidFill>
                  </a:tcPr>
                </a:tc>
                <a:extLst>
                  <a:ext uri="{0D108BD9-81ED-4DB2-BD59-A6C34878D82A}">
                    <a16:rowId xmlns:a16="http://schemas.microsoft.com/office/drawing/2014/main" val="10001"/>
                  </a:ext>
                </a:extLst>
              </a:tr>
            </a:tbl>
          </a:graphicData>
        </a:graphic>
      </p:graphicFrame>
      <p:sp>
        <p:nvSpPr>
          <p:cNvPr id="9001" name="Title 1">
            <a:extLst>
              <a:ext uri="{FF2B5EF4-FFF2-40B4-BE49-F238E27FC236}">
                <a16:creationId xmlns:a16="http://schemas.microsoft.com/office/drawing/2014/main" id="{4EF27E5C-9C4D-BDBE-7667-D0B141BCC8F5}"/>
              </a:ext>
            </a:extLst>
          </p:cNvPr>
          <p:cNvSpPr>
            <a:spLocks noGrp="1"/>
          </p:cNvSpPr>
          <p:nvPr>
            <p:ph type="title"/>
          </p:nvPr>
        </p:nvSpPr>
        <p:spPr/>
        <p:txBody>
          <a:bodyPr/>
          <a:lstStyle/>
          <a:p>
            <a:r>
              <a:rPr lang="en-US">
                <a:solidFill>
                  <a:srgbClr val="FF0000"/>
                </a:solidFill>
              </a:rPr>
              <a:t>Solutions: </a:t>
            </a:r>
            <a:r>
              <a:rPr lang="en-US">
                <a:solidFill>
                  <a:srgbClr val="3333CC"/>
                </a:solidFill>
              </a:rPr>
              <a:t>Q25 (2)</a:t>
            </a:r>
          </a:p>
        </p:txBody>
      </p:sp>
      <p:sp>
        <p:nvSpPr>
          <p:cNvPr id="9002" name="Slide Number Placeholder 1">
            <a:extLst>
              <a:ext uri="{FF2B5EF4-FFF2-40B4-BE49-F238E27FC236}">
                <a16:creationId xmlns:a16="http://schemas.microsoft.com/office/drawing/2014/main" id="{B90139AC-3BDA-723A-097A-000DA0A784C1}"/>
              </a:ext>
            </a:extLst>
          </p:cNvPr>
          <p:cNvSpPr>
            <a:spLocks noGrp="1"/>
          </p:cNvSpPr>
          <p:nvPr>
            <p:ph type="sldNum" sz="quarter" idx="12"/>
          </p:nvPr>
        </p:nvSpPr>
        <p:spPr/>
        <p:txBody>
          <a:bodyPr/>
          <a:lstStyle/>
          <a:p>
            <a:pPr>
              <a:defRPr/>
            </a:pPr>
            <a:fld id="{43CA101F-9E5F-9249-9862-3CE55B3BB777}" type="slidenum">
              <a:rPr lang="en-US" altLang="zh-TW" smtClean="0"/>
              <a:pPr>
                <a:defRPr/>
              </a:pPr>
              <a:t>66</a:t>
            </a:fld>
            <a:endParaRPr lang="en-US" altLang="zh-TW"/>
          </a:p>
        </p:txBody>
      </p:sp>
    </p:spTree>
    <p:extLst>
      <p:ext uri="{BB962C8B-B14F-4D97-AF65-F5344CB8AC3E}">
        <p14:creationId xmlns:p14="http://schemas.microsoft.com/office/powerpoint/2010/main" val="1720064158"/>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body">
            <a:extLst>
              <a:ext uri="{FF2B5EF4-FFF2-40B4-BE49-F238E27FC236}">
                <a16:creationId xmlns:a16="http://schemas.microsoft.com/office/drawing/2014/main" id="{8B3E76EF-2E58-4C5C-BA0A-A285BC2010B9}"/>
              </a:ext>
            </a:extLst>
          </p:cNvPr>
          <p:cNvSpPr>
            <a:spLocks noGrp="1"/>
          </p:cNvSpPr>
          <p:nvPr/>
        </p:nvSpPr>
        <p:spPr>
          <a:xfrm>
            <a:off x="781050" y="5876925"/>
            <a:ext cx="7620000" cy="285750"/>
          </a:xfrm>
          <a:prstGeom prst="rect">
            <a:avLst/>
          </a:prstGeom>
          <a:noFill/>
          <a:ln w="0">
            <a:noFill/>
          </a:ln>
        </p:spPr>
        <p:txBody>
          <a:bodyPr wrap="square" lIns="0" tIns="0" rIns="0" bIns="0">
            <a:noAutofit/>
          </a:bodyPr>
          <a:lstStyle/>
          <a:p>
            <a:pPr>
              <a:defRPr sz="1725" b="0">
                <a:solidFill>
                  <a:srgbClr val="3333CC"/>
                </a:solidFill>
                <a:latin typeface="Calibri"/>
                <a:ea typeface="Calibri"/>
                <a:cs typeface="Calibri"/>
              </a:defRPr>
            </a:pPr>
            <a:r>
              <a:rPr sz="1725" b="0">
                <a:solidFill>
                  <a:srgbClr val="3333CC"/>
                </a:solidFill>
                <a:latin typeface="Calibri"/>
                <a:ea typeface="Calibri"/>
                <a:cs typeface="Calibri"/>
              </a:rPr>
              <a:t>Think: 30 s</a:t>
            </a:r>
          </a:p>
        </p:txBody>
      </p:sp>
      <p:sp>
        <p:nvSpPr>
          <p:cNvPr id="4" name="body">
            <a:extLst>
              <a:ext uri="{FF2B5EF4-FFF2-40B4-BE49-F238E27FC236}">
                <a16:creationId xmlns:a16="http://schemas.microsoft.com/office/drawing/2014/main" id="{5CA0E6F9-095D-4A7C-9C25-8E74B31FC90B}"/>
              </a:ext>
            </a:extLst>
          </p:cNvPr>
          <p:cNvSpPr>
            <a:spLocks noGrp="1"/>
          </p:cNvSpPr>
          <p:nvPr/>
        </p:nvSpPr>
        <p:spPr>
          <a:xfrm>
            <a:off x="828675" y="1047750"/>
            <a:ext cx="3048000" cy="361950"/>
          </a:xfrm>
          <a:prstGeom prst="rect">
            <a:avLst/>
          </a:prstGeom>
          <a:noFill/>
          <a:ln w="0">
            <a:noFill/>
          </a:ln>
        </p:spPr>
        <p:txBody>
          <a:bodyPr wrap="square" lIns="0" tIns="0" rIns="0" bIns="0">
            <a:noAutofit/>
          </a:bodyPr>
          <a:lstStyle/>
          <a:p>
            <a:pPr>
              <a:defRPr sz="2250" b="0">
                <a:solidFill>
                  <a:srgbClr val="000000"/>
                </a:solidFill>
                <a:latin typeface="Calibri"/>
                <a:ea typeface="Calibri"/>
                <a:cs typeface="Calibri"/>
              </a:defRPr>
            </a:pPr>
            <a:r>
              <a:rPr sz="2250" b="0">
                <a:solidFill>
                  <a:srgbClr val="000000"/>
                </a:solidFill>
                <a:latin typeface="Calibri"/>
                <a:ea typeface="Calibri"/>
                <a:cs typeface="Calibri"/>
              </a:rPr>
              <a:t>R(mid, tid)</a:t>
            </a:r>
          </a:p>
        </p:txBody>
      </p:sp>
      <p:graphicFrame>
        <p:nvGraphicFramePr>
          <p:cNvPr id="16" name="表格 15"/>
          <p:cNvGraphicFramePr/>
          <p:nvPr/>
        </p:nvGraphicFramePr>
        <p:xfrm>
          <a:off x="904875" y="1466850"/>
          <a:ext cx="3048000" cy="2000250"/>
        </p:xfrm>
        <a:graphic>
          <a:graphicData uri="http://schemas.openxmlformats.org/drawingml/2006/table">
            <a:tbl>
              <a:tblPr/>
              <a:tblGrid>
                <a:gridCol w="1524000">
                  <a:extLst>
                    <a:ext uri="{9D8B030D-6E8A-4147-A177-3AD203B41FA5}">
                      <a16:colId xmlns:a16="http://schemas.microsoft.com/office/drawing/2014/main" val="20000"/>
                    </a:ext>
                  </a:extLst>
                </a:gridCol>
                <a:gridCol w="1524000">
                  <a:extLst>
                    <a:ext uri="{9D8B030D-6E8A-4147-A177-3AD203B41FA5}">
                      <a16:colId xmlns:a16="http://schemas.microsoft.com/office/drawing/2014/main" val="20001"/>
                    </a:ext>
                  </a:extLst>
                </a:gridCol>
              </a:tblGrid>
              <a:tr h="333375">
                <a:tc>
                  <a:txBody>
                    <a:bodyPr/>
                    <a:lstStyle/>
                    <a:p>
                      <a:pPr algn="ctr"/>
                      <a:r>
                        <a:rPr sz="1800">
                          <a:solidFill>
                            <a:srgbClr val="000000"/>
                          </a:solidFill>
                          <a:latin typeface="Calibri"/>
                          <a:ea typeface="Calibri"/>
                          <a:cs typeface="Calibri"/>
                        </a:rPr>
                        <a:t>mid</a:t>
                      </a:r>
                    </a:p>
                  </a:txBody>
                  <a:tcPr marL="47625" marR="47625" marT="28575" marB="28575" anchor="ctr">
                    <a:solidFill>
                      <a:srgbClr val="D9D9D9"/>
                    </a:solidFill>
                  </a:tcPr>
                </a:tc>
                <a:tc>
                  <a:txBody>
                    <a:bodyPr/>
                    <a:lstStyle/>
                    <a:p>
                      <a:pPr algn="ctr"/>
                      <a:r>
                        <a:rPr sz="1800">
                          <a:solidFill>
                            <a:srgbClr val="000000"/>
                          </a:solidFill>
                          <a:latin typeface="Calibri"/>
                          <a:ea typeface="Calibri"/>
                          <a:cs typeface="Calibri"/>
                        </a:rPr>
                        <a:t>tid</a:t>
                      </a:r>
                    </a:p>
                  </a:txBody>
                  <a:tcPr marL="47625" marR="47625" marT="28575" marB="28575" anchor="ctr">
                    <a:solidFill>
                      <a:srgbClr val="D9D9D9"/>
                    </a:solidFill>
                  </a:tcPr>
                </a:tc>
                <a:extLst>
                  <a:ext uri="{0D108BD9-81ED-4DB2-BD59-A6C34878D82A}">
                    <a16:rowId xmlns:a16="http://schemas.microsoft.com/office/drawing/2014/main" val="10000"/>
                  </a:ext>
                </a:extLst>
              </a:tr>
              <a:tr h="333375">
                <a:tc>
                  <a:txBody>
                    <a:bodyPr/>
                    <a:lstStyle/>
                    <a:p>
                      <a:pPr algn="ctr"/>
                      <a:r>
                        <a:rPr sz="1800">
                          <a:solidFill>
                            <a:srgbClr val="000000"/>
                          </a:solidFill>
                          <a:latin typeface="Calibri"/>
                          <a:ea typeface="Calibri"/>
                          <a:cs typeface="Calibri"/>
                        </a:rPr>
                        <a:t>M1</a:t>
                      </a:r>
                    </a:p>
                  </a:txBody>
                  <a:tcPr marL="47625" marR="47625" marT="28575" marB="28575" anchor="ctr">
                    <a:solidFill>
                      <a:srgbClr val="FFFFFF"/>
                    </a:solidFill>
                  </a:tcPr>
                </a:tc>
                <a:tc>
                  <a:txBody>
                    <a:bodyPr/>
                    <a:lstStyle/>
                    <a:p>
                      <a:pPr algn="ctr"/>
                      <a:r>
                        <a:rPr sz="1800">
                          <a:solidFill>
                            <a:srgbClr val="000000"/>
                          </a:solidFill>
                          <a:latin typeface="Calibri"/>
                          <a:ea typeface="Calibri"/>
                          <a:cs typeface="Calibri"/>
                        </a:rPr>
                        <a:t>T1</a:t>
                      </a:r>
                    </a:p>
                  </a:txBody>
                  <a:tcPr marL="47625" marR="47625" marT="28575" marB="28575" anchor="ctr">
                    <a:solidFill>
                      <a:srgbClr val="FFFFFF"/>
                    </a:solidFill>
                  </a:tcPr>
                </a:tc>
                <a:extLst>
                  <a:ext uri="{0D108BD9-81ED-4DB2-BD59-A6C34878D82A}">
                    <a16:rowId xmlns:a16="http://schemas.microsoft.com/office/drawing/2014/main" val="10001"/>
                  </a:ext>
                </a:extLst>
              </a:tr>
              <a:tr h="333375">
                <a:tc>
                  <a:txBody>
                    <a:bodyPr/>
                    <a:lstStyle/>
                    <a:p>
                      <a:pPr algn="ctr"/>
                      <a:r>
                        <a:rPr sz="1800">
                          <a:solidFill>
                            <a:srgbClr val="000000"/>
                          </a:solidFill>
                          <a:latin typeface="Calibri"/>
                          <a:ea typeface="Calibri"/>
                          <a:cs typeface="Calibri"/>
                        </a:rPr>
                        <a:t>M2</a:t>
                      </a:r>
                    </a:p>
                  </a:txBody>
                  <a:tcPr marL="47625" marR="47625" marT="28575" marB="28575" anchor="ctr">
                    <a:solidFill>
                      <a:srgbClr val="FFFFFF"/>
                    </a:solidFill>
                  </a:tcPr>
                </a:tc>
                <a:tc>
                  <a:txBody>
                    <a:bodyPr/>
                    <a:lstStyle/>
                    <a:p>
                      <a:pPr algn="ctr"/>
                      <a:r>
                        <a:rPr sz="1800">
                          <a:solidFill>
                            <a:srgbClr val="000000"/>
                          </a:solidFill>
                          <a:latin typeface="Calibri"/>
                          <a:ea typeface="Calibri"/>
                          <a:cs typeface="Calibri"/>
                        </a:rPr>
                        <a:t>T1</a:t>
                      </a:r>
                    </a:p>
                  </a:txBody>
                  <a:tcPr marL="47625" marR="47625" marT="28575" marB="28575" anchor="ctr">
                    <a:solidFill>
                      <a:srgbClr val="FFFFFF"/>
                    </a:solidFill>
                  </a:tcPr>
                </a:tc>
                <a:extLst>
                  <a:ext uri="{0D108BD9-81ED-4DB2-BD59-A6C34878D82A}">
                    <a16:rowId xmlns:a16="http://schemas.microsoft.com/office/drawing/2014/main" val="10002"/>
                  </a:ext>
                </a:extLst>
              </a:tr>
              <a:tr h="333375">
                <a:tc>
                  <a:txBody>
                    <a:bodyPr/>
                    <a:lstStyle/>
                    <a:p>
                      <a:pPr algn="ctr"/>
                      <a:r>
                        <a:rPr sz="1800">
                          <a:solidFill>
                            <a:srgbClr val="000000"/>
                          </a:solidFill>
                          <a:latin typeface="Calibri"/>
                          <a:ea typeface="Calibri"/>
                          <a:cs typeface="Calibri"/>
                        </a:rPr>
                        <a:t>M2</a:t>
                      </a:r>
                    </a:p>
                  </a:txBody>
                  <a:tcPr marL="47625" marR="47625" marT="28575" marB="28575" anchor="ctr">
                    <a:solidFill>
                      <a:srgbClr val="FFFFFF"/>
                    </a:solidFill>
                  </a:tcPr>
                </a:tc>
                <a:tc>
                  <a:txBody>
                    <a:bodyPr/>
                    <a:lstStyle/>
                    <a:p>
                      <a:pPr algn="ctr"/>
                      <a:r>
                        <a:rPr sz="1800">
                          <a:solidFill>
                            <a:srgbClr val="000000"/>
                          </a:solidFill>
                          <a:latin typeface="Calibri"/>
                          <a:ea typeface="Calibri"/>
                          <a:cs typeface="Calibri"/>
                        </a:rPr>
                        <a:t>T2</a:t>
                      </a:r>
                    </a:p>
                  </a:txBody>
                  <a:tcPr marL="47625" marR="47625" marT="28575" marB="28575" anchor="ctr">
                    <a:solidFill>
                      <a:srgbClr val="FFFFFF"/>
                    </a:solidFill>
                  </a:tcPr>
                </a:tc>
                <a:extLst>
                  <a:ext uri="{0D108BD9-81ED-4DB2-BD59-A6C34878D82A}">
                    <a16:rowId xmlns:a16="http://schemas.microsoft.com/office/drawing/2014/main" val="10003"/>
                  </a:ext>
                </a:extLst>
              </a:tr>
              <a:tr h="333375">
                <a:tc>
                  <a:txBody>
                    <a:bodyPr/>
                    <a:lstStyle/>
                    <a:p>
                      <a:pPr algn="ctr"/>
                      <a:r>
                        <a:rPr sz="1800">
                          <a:solidFill>
                            <a:srgbClr val="000000"/>
                          </a:solidFill>
                          <a:latin typeface="Calibri"/>
                          <a:ea typeface="Calibri"/>
                          <a:cs typeface="Calibri"/>
                        </a:rPr>
                        <a:t>M2</a:t>
                      </a:r>
                    </a:p>
                  </a:txBody>
                  <a:tcPr marL="47625" marR="47625" marT="28575" marB="28575" anchor="ctr">
                    <a:solidFill>
                      <a:srgbClr val="FFFFFF"/>
                    </a:solidFill>
                  </a:tcPr>
                </a:tc>
                <a:tc>
                  <a:txBody>
                    <a:bodyPr/>
                    <a:lstStyle/>
                    <a:p>
                      <a:pPr algn="ctr"/>
                      <a:r>
                        <a:rPr sz="1800">
                          <a:solidFill>
                            <a:srgbClr val="000000"/>
                          </a:solidFill>
                          <a:latin typeface="Calibri"/>
                          <a:ea typeface="Calibri"/>
                          <a:cs typeface="Calibri"/>
                        </a:rPr>
                        <a:t>T3</a:t>
                      </a:r>
                    </a:p>
                  </a:txBody>
                  <a:tcPr marL="47625" marR="47625" marT="28575" marB="28575" anchor="ctr">
                    <a:solidFill>
                      <a:srgbClr val="FFFFFF"/>
                    </a:solidFill>
                  </a:tcPr>
                </a:tc>
                <a:extLst>
                  <a:ext uri="{0D108BD9-81ED-4DB2-BD59-A6C34878D82A}">
                    <a16:rowId xmlns:a16="http://schemas.microsoft.com/office/drawing/2014/main" val="10004"/>
                  </a:ext>
                </a:extLst>
              </a:tr>
              <a:tr h="333375">
                <a:tc>
                  <a:txBody>
                    <a:bodyPr/>
                    <a:lstStyle/>
                    <a:p>
                      <a:pPr algn="ctr"/>
                      <a:r>
                        <a:rPr sz="1800">
                          <a:solidFill>
                            <a:srgbClr val="000000"/>
                          </a:solidFill>
                          <a:latin typeface="Calibri"/>
                          <a:ea typeface="Calibri"/>
                          <a:cs typeface="Calibri"/>
                        </a:rPr>
                        <a:t>M3</a:t>
                      </a:r>
                    </a:p>
                  </a:txBody>
                  <a:tcPr marL="47625" marR="47625" marT="28575" marB="28575" anchor="ctr">
                    <a:solidFill>
                      <a:srgbClr val="FFFFFF"/>
                    </a:solidFill>
                  </a:tcPr>
                </a:tc>
                <a:tc>
                  <a:txBody>
                    <a:bodyPr/>
                    <a:lstStyle/>
                    <a:p>
                      <a:pPr algn="ctr"/>
                      <a:r>
                        <a:rPr sz="1800">
                          <a:solidFill>
                            <a:srgbClr val="000000"/>
                          </a:solidFill>
                          <a:latin typeface="Calibri"/>
                          <a:ea typeface="Calibri"/>
                          <a:cs typeface="Calibri"/>
                        </a:rPr>
                        <a:t>T2</a:t>
                      </a:r>
                    </a:p>
                  </a:txBody>
                  <a:tcPr marL="47625" marR="47625" marT="28575" marB="28575" anchor="ctr">
                    <a:solidFill>
                      <a:srgbClr val="FFFFFF"/>
                    </a:solidFill>
                  </a:tcPr>
                </a:tc>
                <a:extLst>
                  <a:ext uri="{0D108BD9-81ED-4DB2-BD59-A6C34878D82A}">
                    <a16:rowId xmlns:a16="http://schemas.microsoft.com/office/drawing/2014/main" val="10005"/>
                  </a:ext>
                </a:extLst>
              </a:tr>
            </a:tbl>
          </a:graphicData>
        </a:graphic>
      </p:graphicFrame>
      <p:sp>
        <p:nvSpPr>
          <p:cNvPr id="6" name="body">
            <a:extLst>
              <a:ext uri="{FF2B5EF4-FFF2-40B4-BE49-F238E27FC236}">
                <a16:creationId xmlns:a16="http://schemas.microsoft.com/office/drawing/2014/main" id="{43F55074-CCBE-4537-966B-D52DAFC65906}"/>
              </a:ext>
            </a:extLst>
          </p:cNvPr>
          <p:cNvSpPr>
            <a:spLocks noGrp="1"/>
          </p:cNvSpPr>
          <p:nvPr/>
        </p:nvSpPr>
        <p:spPr>
          <a:xfrm>
            <a:off x="4829175" y="1047750"/>
            <a:ext cx="3143250" cy="361950"/>
          </a:xfrm>
          <a:prstGeom prst="rect">
            <a:avLst/>
          </a:prstGeom>
          <a:noFill/>
          <a:ln w="0">
            <a:noFill/>
          </a:ln>
        </p:spPr>
        <p:txBody>
          <a:bodyPr wrap="square" lIns="0" tIns="0" rIns="0" bIns="0">
            <a:noAutofit/>
          </a:bodyPr>
          <a:lstStyle/>
          <a:p>
            <a:pPr>
              <a:defRPr sz="2250" b="0">
                <a:solidFill>
                  <a:srgbClr val="000000"/>
                </a:solidFill>
                <a:latin typeface="Calibri"/>
                <a:ea typeface="Calibri"/>
                <a:cs typeface="Calibri"/>
              </a:defRPr>
            </a:pPr>
            <a:r>
              <a:rPr sz="2250" b="0">
                <a:solidFill>
                  <a:srgbClr val="000000"/>
                </a:solidFill>
                <a:latin typeface="Calibri"/>
                <a:ea typeface="Calibri"/>
                <a:cs typeface="Calibri"/>
              </a:rPr>
              <a:t>Tool</a:t>
            </a:r>
          </a:p>
        </p:txBody>
      </p:sp>
      <p:graphicFrame>
        <p:nvGraphicFramePr>
          <p:cNvPr id="18" name="表格 17"/>
          <p:cNvGraphicFramePr/>
          <p:nvPr/>
        </p:nvGraphicFramePr>
        <p:xfrm>
          <a:off x="4905375" y="1466850"/>
          <a:ext cx="3143250" cy="1524000"/>
        </p:xfrm>
        <a:graphic>
          <a:graphicData uri="http://schemas.openxmlformats.org/drawingml/2006/table">
            <a:tbl>
              <a:tblPr/>
              <a:tblGrid>
                <a:gridCol w="1571625">
                  <a:extLst>
                    <a:ext uri="{9D8B030D-6E8A-4147-A177-3AD203B41FA5}">
                      <a16:colId xmlns:a16="http://schemas.microsoft.com/office/drawing/2014/main" val="20000"/>
                    </a:ext>
                  </a:extLst>
                </a:gridCol>
                <a:gridCol w="1571625">
                  <a:extLst>
                    <a:ext uri="{9D8B030D-6E8A-4147-A177-3AD203B41FA5}">
                      <a16:colId xmlns:a16="http://schemas.microsoft.com/office/drawing/2014/main" val="20001"/>
                    </a:ext>
                  </a:extLst>
                </a:gridCol>
              </a:tblGrid>
              <a:tr h="381000">
                <a:tc>
                  <a:txBody>
                    <a:bodyPr/>
                    <a:lstStyle/>
                    <a:p>
                      <a:pPr algn="ctr"/>
                      <a:r>
                        <a:rPr sz="1875">
                          <a:solidFill>
                            <a:srgbClr val="000000"/>
                          </a:solidFill>
                          <a:latin typeface="Calibri"/>
                          <a:ea typeface="Calibri"/>
                          <a:cs typeface="Calibri"/>
                        </a:rPr>
                        <a:t>tid</a:t>
                      </a:r>
                    </a:p>
                  </a:txBody>
                  <a:tcPr marL="47625" marR="47625" marT="28575" marB="28575" anchor="ctr">
                    <a:solidFill>
                      <a:srgbClr val="D9D9D9"/>
                    </a:solidFill>
                  </a:tcPr>
                </a:tc>
                <a:tc>
                  <a:txBody>
                    <a:bodyPr/>
                    <a:lstStyle/>
                    <a:p>
                      <a:pPr algn="ctr"/>
                      <a:r>
                        <a:rPr sz="1875">
                          <a:solidFill>
                            <a:srgbClr val="000000"/>
                          </a:solidFill>
                          <a:latin typeface="Calibri"/>
                          <a:ea typeface="Calibri"/>
                          <a:cs typeface="Calibri"/>
                        </a:rPr>
                        <a:t>category</a:t>
                      </a:r>
                    </a:p>
                  </a:txBody>
                  <a:tcPr marL="47625" marR="47625" marT="28575" marB="28575" anchor="ctr">
                    <a:solidFill>
                      <a:srgbClr val="D9D9D9"/>
                    </a:solidFill>
                  </a:tcPr>
                </a:tc>
                <a:extLst>
                  <a:ext uri="{0D108BD9-81ED-4DB2-BD59-A6C34878D82A}">
                    <a16:rowId xmlns:a16="http://schemas.microsoft.com/office/drawing/2014/main" val="10000"/>
                  </a:ext>
                </a:extLst>
              </a:tr>
              <a:tr h="381000">
                <a:tc>
                  <a:txBody>
                    <a:bodyPr/>
                    <a:lstStyle/>
                    <a:p>
                      <a:pPr algn="ctr"/>
                      <a:r>
                        <a:rPr sz="1875">
                          <a:solidFill>
                            <a:srgbClr val="000000"/>
                          </a:solidFill>
                          <a:latin typeface="Calibri"/>
                          <a:ea typeface="Calibri"/>
                          <a:cs typeface="Calibri"/>
                        </a:rPr>
                        <a:t>T1</a:t>
                      </a:r>
                    </a:p>
                  </a:txBody>
                  <a:tcPr marL="47625" marR="47625" marT="28575" marB="28575" anchor="ctr">
                    <a:solidFill>
                      <a:srgbClr val="FFFFFF"/>
                    </a:solidFill>
                  </a:tcPr>
                </a:tc>
                <a:tc>
                  <a:txBody>
                    <a:bodyPr/>
                    <a:lstStyle/>
                    <a:p>
                      <a:pPr algn="ctr"/>
                      <a:r>
                        <a:rPr sz="1875">
                          <a:solidFill>
                            <a:srgbClr val="000000"/>
                          </a:solidFill>
                          <a:latin typeface="Calibri"/>
                          <a:ea typeface="Calibri"/>
                          <a:cs typeface="Calibri"/>
                        </a:rPr>
                        <a:t>Laser</a:t>
                      </a:r>
                    </a:p>
                  </a:txBody>
                  <a:tcPr marL="47625" marR="47625" marT="28575" marB="28575" anchor="ctr">
                    <a:solidFill>
                      <a:srgbClr val="FFFFFF"/>
                    </a:solidFill>
                  </a:tcPr>
                </a:tc>
                <a:extLst>
                  <a:ext uri="{0D108BD9-81ED-4DB2-BD59-A6C34878D82A}">
                    <a16:rowId xmlns:a16="http://schemas.microsoft.com/office/drawing/2014/main" val="10001"/>
                  </a:ext>
                </a:extLst>
              </a:tr>
              <a:tr h="381000">
                <a:tc>
                  <a:txBody>
                    <a:bodyPr/>
                    <a:lstStyle/>
                    <a:p>
                      <a:pPr algn="ctr"/>
                      <a:r>
                        <a:rPr sz="1875">
                          <a:solidFill>
                            <a:srgbClr val="000000"/>
                          </a:solidFill>
                          <a:latin typeface="Calibri"/>
                          <a:ea typeface="Calibri"/>
                          <a:cs typeface="Calibri"/>
                        </a:rPr>
                        <a:t>T2</a:t>
                      </a:r>
                    </a:p>
                  </a:txBody>
                  <a:tcPr marL="47625" marR="47625" marT="28575" marB="28575" anchor="ctr">
                    <a:solidFill>
                      <a:srgbClr val="FFFFFF"/>
                    </a:solidFill>
                  </a:tcPr>
                </a:tc>
                <a:tc>
                  <a:txBody>
                    <a:bodyPr/>
                    <a:lstStyle/>
                    <a:p>
                      <a:pPr algn="ctr"/>
                      <a:r>
                        <a:rPr sz="1875">
                          <a:solidFill>
                            <a:srgbClr val="000000"/>
                          </a:solidFill>
                          <a:latin typeface="Calibri"/>
                          <a:ea typeface="Calibri"/>
                          <a:cs typeface="Calibri"/>
                        </a:rPr>
                        <a:t>Laser</a:t>
                      </a:r>
                    </a:p>
                  </a:txBody>
                  <a:tcPr marL="47625" marR="47625" marT="28575" marB="28575" anchor="ctr">
                    <a:solidFill>
                      <a:srgbClr val="FFFFFF"/>
                    </a:solidFill>
                  </a:tcPr>
                </a:tc>
                <a:extLst>
                  <a:ext uri="{0D108BD9-81ED-4DB2-BD59-A6C34878D82A}">
                    <a16:rowId xmlns:a16="http://schemas.microsoft.com/office/drawing/2014/main" val="10002"/>
                  </a:ext>
                </a:extLst>
              </a:tr>
              <a:tr h="381000">
                <a:tc>
                  <a:txBody>
                    <a:bodyPr/>
                    <a:lstStyle/>
                    <a:p>
                      <a:pPr algn="ctr"/>
                      <a:r>
                        <a:rPr sz="1875">
                          <a:solidFill>
                            <a:srgbClr val="000000"/>
                          </a:solidFill>
                          <a:latin typeface="Calibri"/>
                          <a:ea typeface="Calibri"/>
                          <a:cs typeface="Calibri"/>
                        </a:rPr>
                        <a:t>T3</a:t>
                      </a:r>
                    </a:p>
                  </a:txBody>
                  <a:tcPr marL="47625" marR="47625" marT="28575" marB="28575" anchor="ctr">
                    <a:solidFill>
                      <a:srgbClr val="FFFFFF"/>
                    </a:solidFill>
                  </a:tcPr>
                </a:tc>
                <a:tc>
                  <a:txBody>
                    <a:bodyPr/>
                    <a:lstStyle/>
                    <a:p>
                      <a:pPr algn="ctr"/>
                      <a:r>
                        <a:rPr sz="1875">
                          <a:solidFill>
                            <a:srgbClr val="000000"/>
                          </a:solidFill>
                          <a:latin typeface="Calibri"/>
                          <a:ea typeface="Calibri"/>
                          <a:cs typeface="Calibri"/>
                        </a:rPr>
                        <a:t>CNC</a:t>
                      </a:r>
                    </a:p>
                  </a:txBody>
                  <a:tcPr marL="47625" marR="47625" marT="28575" marB="28575" anchor="ctr">
                    <a:solidFill>
                      <a:srgbClr val="FFFFFF"/>
                    </a:solidFill>
                  </a:tcPr>
                </a:tc>
                <a:extLst>
                  <a:ext uri="{0D108BD9-81ED-4DB2-BD59-A6C34878D82A}">
                    <a16:rowId xmlns:a16="http://schemas.microsoft.com/office/drawing/2014/main" val="10003"/>
                  </a:ext>
                </a:extLst>
              </a:tr>
            </a:tbl>
          </a:graphicData>
        </a:graphic>
      </p:graphicFrame>
      <p:sp>
        <p:nvSpPr>
          <p:cNvPr id="8" name="body">
            <a:extLst>
              <a:ext uri="{FF2B5EF4-FFF2-40B4-BE49-F238E27FC236}">
                <a16:creationId xmlns:a16="http://schemas.microsoft.com/office/drawing/2014/main" id="{DACE91F3-6DF9-418F-A427-C9B970E883C6}"/>
              </a:ext>
            </a:extLst>
          </p:cNvPr>
          <p:cNvSpPr>
            <a:spLocks noGrp="1"/>
          </p:cNvSpPr>
          <p:nvPr/>
        </p:nvSpPr>
        <p:spPr>
          <a:xfrm>
            <a:off x="4905375" y="3028950"/>
            <a:ext cx="3143250" cy="285750"/>
          </a:xfrm>
          <a:prstGeom prst="rect">
            <a:avLst/>
          </a:prstGeom>
          <a:noFill/>
          <a:ln w="0">
            <a:noFill/>
          </a:ln>
        </p:spPr>
        <p:txBody>
          <a:bodyPr wrap="square" lIns="0" tIns="0" rIns="0" bIns="0">
            <a:noAutofit/>
          </a:bodyPr>
          <a:lstStyle/>
          <a:p>
            <a:pPr>
              <a:defRPr sz="1725" b="0">
                <a:solidFill>
                  <a:srgbClr val="000000"/>
                </a:solidFill>
                <a:latin typeface="Calibri"/>
                <a:ea typeface="Calibri"/>
                <a:cs typeface="Calibri"/>
              </a:defRPr>
            </a:pPr>
            <a:r>
              <a:rPr sz="1725" b="0">
                <a:solidFill>
                  <a:srgbClr val="000000"/>
                </a:solidFill>
                <a:latin typeface="Calibri"/>
                <a:ea typeface="Calibri"/>
                <a:cs typeface="Calibri"/>
              </a:rPr>
              <a:t>Member</a:t>
            </a:r>
          </a:p>
        </p:txBody>
      </p:sp>
      <p:sp>
        <p:nvSpPr>
          <p:cNvPr id="9" name="body">
            <a:extLst>
              <a:ext uri="{FF2B5EF4-FFF2-40B4-BE49-F238E27FC236}">
                <a16:creationId xmlns:a16="http://schemas.microsoft.com/office/drawing/2014/main" id="{4A4B8A42-9A01-4F08-9C70-939840E2A976}"/>
              </a:ext>
            </a:extLst>
          </p:cNvPr>
          <p:cNvSpPr>
            <a:spLocks noGrp="1"/>
          </p:cNvSpPr>
          <p:nvPr/>
        </p:nvSpPr>
        <p:spPr>
          <a:xfrm>
            <a:off x="4905375" y="3276600"/>
            <a:ext cx="3238500" cy="552450"/>
          </a:xfrm>
          <a:prstGeom prst="rect">
            <a:avLst/>
          </a:prstGeom>
          <a:noFill/>
          <a:ln w="0">
            <a:noFill/>
          </a:ln>
        </p:spPr>
        <p:txBody>
          <a:bodyPr wrap="square" lIns="0" tIns="0" rIns="0" bIns="0">
            <a:noAutofit/>
          </a:bodyPr>
          <a:lstStyle/>
          <a:p>
            <a:pPr>
              <a:defRPr sz="1650" b="0">
                <a:solidFill>
                  <a:srgbClr val="000000"/>
                </a:solidFill>
                <a:latin typeface="Calibri"/>
                <a:ea typeface="Calibri"/>
                <a:cs typeface="Calibri"/>
              </a:defRPr>
            </a:pPr>
            <a:r>
              <a:rPr sz="1650" b="0">
                <a:solidFill>
                  <a:srgbClr val="000000"/>
                </a:solidFill>
                <a:latin typeface="Calibri"/>
                <a:ea typeface="Calibri"/>
                <a:cs typeface="Calibri"/>
              </a:rPr>
              <a:t>M1 Alex     M2 Mei</a:t>
            </a:r>
          </a:p>
          <a:p>
            <a:pPr>
              <a:defRPr sz="1650" b="0">
                <a:solidFill>
                  <a:srgbClr val="000000"/>
                </a:solidFill>
                <a:latin typeface="Calibri"/>
                <a:ea typeface="Calibri"/>
                <a:cs typeface="Calibri"/>
              </a:defRPr>
            </a:pPr>
            <a:r>
              <a:rPr sz="1650" b="0">
                <a:solidFill>
                  <a:srgbClr val="000000"/>
                </a:solidFill>
                <a:latin typeface="Calibri"/>
                <a:ea typeface="Calibri"/>
                <a:cs typeface="Calibri"/>
              </a:rPr>
              <a:t>M3 Alex     M4 Noor</a:t>
            </a:r>
          </a:p>
        </p:txBody>
      </p:sp>
      <p:sp>
        <p:nvSpPr>
          <p:cNvPr id="10" name="body">
            <a:extLst>
              <a:ext uri="{FF2B5EF4-FFF2-40B4-BE49-F238E27FC236}">
                <a16:creationId xmlns:a16="http://schemas.microsoft.com/office/drawing/2014/main" id="{8A992CCD-0987-4016-9EE4-31045B581FA2}"/>
              </a:ext>
            </a:extLst>
          </p:cNvPr>
          <p:cNvSpPr>
            <a:spLocks noGrp="1"/>
          </p:cNvSpPr>
          <p:nvPr/>
        </p:nvSpPr>
        <p:spPr>
          <a:xfrm>
            <a:off x="781050" y="3876675"/>
            <a:ext cx="7600950" cy="1238250"/>
          </a:xfrm>
          <a:prstGeom prst="rect">
            <a:avLst/>
          </a:prstGeom>
          <a:noFill/>
          <a:ln w="0">
            <a:noFill/>
          </a:ln>
        </p:spPr>
        <p:txBody>
          <a:bodyPr wrap="square" lIns="0" tIns="0" rIns="0" bIns="0">
            <a:noAutofit/>
          </a:bodyPr>
          <a:lstStyle/>
          <a:p>
            <a:pPr>
              <a:defRPr sz="2175" b="0">
                <a:solidFill>
                  <a:srgbClr val="FF0000"/>
                </a:solidFill>
                <a:latin typeface="Calibri"/>
                <a:ea typeface="Calibri"/>
                <a:cs typeface="Calibri"/>
              </a:defRPr>
            </a:pPr>
            <a:r>
              <a:rPr sz="2175" b="0">
                <a:solidFill>
                  <a:srgbClr val="FF0000"/>
                </a:solidFill>
                <a:latin typeface="Calibri"/>
                <a:ea typeface="Calibri"/>
                <a:cs typeface="Calibri"/>
              </a:rPr>
              <a:t>Find members trained on every distinct tool that M1 has trained on.</a:t>
            </a:r>
          </a:p>
        </p:txBody>
      </p:sp>
      <p:sp>
        <p:nvSpPr>
          <p:cNvPr id="11" name="body">
            <a:extLst>
              <a:ext uri="{FF2B5EF4-FFF2-40B4-BE49-F238E27FC236}">
                <a16:creationId xmlns:a16="http://schemas.microsoft.com/office/drawing/2014/main" id="{DFFDAFE5-E8BF-4DC9-A005-3285FFD09A0F}"/>
              </a:ext>
            </a:extLst>
          </p:cNvPr>
          <p:cNvSpPr>
            <a:spLocks noGrp="1"/>
          </p:cNvSpPr>
          <p:nvPr/>
        </p:nvSpPr>
        <p:spPr>
          <a:xfrm>
            <a:off x="781050" y="5257800"/>
            <a:ext cx="7600950" cy="495300"/>
          </a:xfrm>
          <a:prstGeom prst="rect">
            <a:avLst/>
          </a:prstGeom>
          <a:noFill/>
          <a:ln w="0">
            <a:noFill/>
          </a:ln>
        </p:spPr>
        <p:txBody>
          <a:bodyPr wrap="square" lIns="0" tIns="0" rIns="0" bIns="0">
            <a:noAutofit/>
          </a:bodyPr>
          <a:lstStyle/>
          <a:p>
            <a:pPr>
              <a:defRPr sz="1950" b="0">
                <a:solidFill>
                  <a:srgbClr val="000000"/>
                </a:solidFill>
                <a:latin typeface="Calibri"/>
                <a:ea typeface="Calibri"/>
                <a:cs typeface="Calibri"/>
              </a:defRPr>
            </a:pPr>
            <a:r>
              <a:rPr sz="1950" b="0">
                <a:solidFill>
                  <a:srgbClr val="000000"/>
                </a:solidFill>
                <a:latin typeface="Calibri"/>
                <a:ea typeface="Calibri"/>
                <a:cs typeface="Calibri"/>
              </a:rPr>
              <a:t>Include M1. Extra tools are allowed. Return (mid, mname).</a:t>
            </a:r>
          </a:p>
        </p:txBody>
      </p:sp>
      <p:sp>
        <p:nvSpPr>
          <p:cNvPr id="9001" name="Title 1">
            <a:extLst>
              <a:ext uri="{FF2B5EF4-FFF2-40B4-BE49-F238E27FC236}">
                <a16:creationId xmlns:a16="http://schemas.microsoft.com/office/drawing/2014/main" id="{4EF27E5C-9C4D-BDBE-7667-D0B141BCC8F5}"/>
              </a:ext>
            </a:extLst>
          </p:cNvPr>
          <p:cNvSpPr>
            <a:spLocks noGrp="1"/>
          </p:cNvSpPr>
          <p:nvPr>
            <p:ph type="title"/>
          </p:nvPr>
        </p:nvSpPr>
        <p:spPr/>
        <p:txBody>
          <a:bodyPr/>
          <a:lstStyle/>
          <a:p>
            <a:r>
              <a:rPr lang="en-US">
                <a:solidFill>
                  <a:srgbClr val="FF0000"/>
                </a:solidFill>
              </a:rPr>
              <a:t>Practice: </a:t>
            </a:r>
            <a:r>
              <a:rPr lang="en-US">
                <a:solidFill>
                  <a:srgbClr val="3333CC"/>
                </a:solidFill>
              </a:rPr>
              <a:t>Q26</a:t>
            </a:r>
          </a:p>
        </p:txBody>
      </p:sp>
      <p:sp>
        <p:nvSpPr>
          <p:cNvPr id="9002" name="Slide Number Placeholder 1">
            <a:extLst>
              <a:ext uri="{FF2B5EF4-FFF2-40B4-BE49-F238E27FC236}">
                <a16:creationId xmlns:a16="http://schemas.microsoft.com/office/drawing/2014/main" id="{B90139AC-3BDA-723A-097A-000DA0A784C1}"/>
              </a:ext>
            </a:extLst>
          </p:cNvPr>
          <p:cNvSpPr>
            <a:spLocks noGrp="1"/>
          </p:cNvSpPr>
          <p:nvPr>
            <p:ph type="sldNum" sz="quarter" idx="12"/>
          </p:nvPr>
        </p:nvSpPr>
        <p:spPr/>
        <p:txBody>
          <a:bodyPr/>
          <a:lstStyle/>
          <a:p>
            <a:pPr>
              <a:defRPr/>
            </a:pPr>
            <a:fld id="{43CA101F-9E5F-9249-9862-3CE55B3BB777}" type="slidenum">
              <a:rPr lang="en-US" altLang="zh-TW" smtClean="0"/>
              <a:pPr>
                <a:defRPr/>
              </a:pPr>
              <a:t>67</a:t>
            </a:fld>
            <a:endParaRPr lang="en-US" altLang="zh-TW"/>
          </a:p>
        </p:txBody>
      </p:sp>
    </p:spTree>
    <p:extLst>
      <p:ext uri="{BB962C8B-B14F-4D97-AF65-F5344CB8AC3E}">
        <p14:creationId xmlns:p14="http://schemas.microsoft.com/office/powerpoint/2010/main" val="1018637388"/>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formula">
            <a:extLst>
              <a:ext uri="{FF2B5EF4-FFF2-40B4-BE49-F238E27FC236}">
                <a16:creationId xmlns:a16="http://schemas.microsoft.com/office/drawing/2014/main" id="{65BC458B-A139-406D-8322-52C0CB95A7E9}"/>
              </a:ext>
            </a:extLst>
          </p:cNvPr>
          <p:cNvSpPr>
            <a:spLocks noGrp="1"/>
          </p:cNvSpPr>
          <p:nvPr/>
        </p:nvSpPr>
        <p:spPr>
          <a:xfrm>
            <a:off x="781050" y="1047750"/>
            <a:ext cx="7620000" cy="523875"/>
          </a:xfrm>
          <a:prstGeom prst="rect">
            <a:avLst/>
          </a:prstGeom>
          <a:noFill/>
          <a:ln w="0">
            <a:noFill/>
          </a:ln>
        </p:spPr>
        <p:txBody>
          <a:bodyPr wrap="square" lIns="0" tIns="0" rIns="0" bIns="0">
            <a:noAutofit/>
          </a:bodyPr>
          <a:lstStyle/>
          <a:p>
            <a:pPr>
              <a:defRPr sz="2250" b="0">
                <a:solidFill>
                  <a:srgbClr val="000000"/>
                </a:solidFill>
                <a:latin typeface="Cambria Math"/>
                <a:ea typeface="Cambria Math"/>
                <a:cs typeface="Cambria Math"/>
              </a:defRPr>
            </a:pPr>
            <a:r>
              <a:rPr sz="2250" b="0">
                <a:solidFill>
                  <a:srgbClr val="000000"/>
                </a:solidFill>
                <a:latin typeface="Cambria Math"/>
                <a:ea typeface="Cambria Math"/>
                <a:cs typeface="Cambria Math"/>
              </a:rPr>
              <a:t>M1_rows ← σ</a:t>
            </a:r>
            <a:r>
              <a:rPr sz="1598" b="0" baseline="-25000">
                <a:solidFill>
                  <a:srgbClr val="000000"/>
                </a:solidFill>
                <a:latin typeface="Cambria Math"/>
                <a:ea typeface="Cambria Math"/>
                <a:cs typeface="Cambria Math"/>
              </a:rPr>
              <a:t>mid='M1'</a:t>
            </a:r>
            <a:r>
              <a:rPr sz="2250" b="0">
                <a:solidFill>
                  <a:srgbClr val="000000"/>
                </a:solidFill>
                <a:latin typeface="Cambria Math"/>
                <a:ea typeface="Cambria Math"/>
                <a:cs typeface="Cambria Math"/>
              </a:rPr>
              <a:t>(Trained)</a:t>
            </a:r>
          </a:p>
        </p:txBody>
      </p:sp>
      <p:sp>
        <p:nvSpPr>
          <p:cNvPr id="4" name="body">
            <a:extLst>
              <a:ext uri="{FF2B5EF4-FFF2-40B4-BE49-F238E27FC236}">
                <a16:creationId xmlns:a16="http://schemas.microsoft.com/office/drawing/2014/main" id="{902AEBEE-CF90-4952-AED5-B9D710BF4793}"/>
              </a:ext>
            </a:extLst>
          </p:cNvPr>
          <p:cNvSpPr>
            <a:spLocks noGrp="1"/>
          </p:cNvSpPr>
          <p:nvPr/>
        </p:nvSpPr>
        <p:spPr>
          <a:xfrm>
            <a:off x="1504950" y="1905000"/>
            <a:ext cx="5962650" cy="361950"/>
          </a:xfrm>
          <a:prstGeom prst="rect">
            <a:avLst/>
          </a:prstGeom>
          <a:noFill/>
          <a:ln w="0">
            <a:noFill/>
          </a:ln>
        </p:spPr>
        <p:txBody>
          <a:bodyPr wrap="square" lIns="0" tIns="0" rIns="0" bIns="0">
            <a:noAutofit/>
          </a:bodyPr>
          <a:lstStyle/>
          <a:p>
            <a:pPr>
              <a:defRPr sz="2250" b="0">
                <a:solidFill>
                  <a:srgbClr val="000000"/>
                </a:solidFill>
                <a:latin typeface="Calibri"/>
                <a:ea typeface="Calibri"/>
                <a:cs typeface="Calibri"/>
              </a:defRPr>
            </a:pPr>
            <a:r>
              <a:rPr sz="2250" b="0">
                <a:solidFill>
                  <a:srgbClr val="000000"/>
                </a:solidFill>
                <a:latin typeface="Calibri"/>
                <a:ea typeface="Calibri"/>
                <a:cs typeface="Calibri"/>
              </a:rPr>
              <a:t>M1_rows</a:t>
            </a:r>
          </a:p>
        </p:txBody>
      </p:sp>
      <p:graphicFrame>
        <p:nvGraphicFramePr>
          <p:cNvPr id="13" name="表格 12"/>
          <p:cNvGraphicFramePr/>
          <p:nvPr/>
        </p:nvGraphicFramePr>
        <p:xfrm>
          <a:off x="1581150" y="2324100"/>
          <a:ext cx="5962650" cy="1200150"/>
        </p:xfrm>
        <a:graphic>
          <a:graphicData uri="http://schemas.openxmlformats.org/drawingml/2006/table">
            <a:tbl>
              <a:tblPr/>
              <a:tblGrid>
                <a:gridCol w="1987550">
                  <a:extLst>
                    <a:ext uri="{9D8B030D-6E8A-4147-A177-3AD203B41FA5}">
                      <a16:colId xmlns:a16="http://schemas.microsoft.com/office/drawing/2014/main" val="20000"/>
                    </a:ext>
                  </a:extLst>
                </a:gridCol>
                <a:gridCol w="1987550">
                  <a:extLst>
                    <a:ext uri="{9D8B030D-6E8A-4147-A177-3AD203B41FA5}">
                      <a16:colId xmlns:a16="http://schemas.microsoft.com/office/drawing/2014/main" val="20001"/>
                    </a:ext>
                  </a:extLst>
                </a:gridCol>
                <a:gridCol w="1987550">
                  <a:extLst>
                    <a:ext uri="{9D8B030D-6E8A-4147-A177-3AD203B41FA5}">
                      <a16:colId xmlns:a16="http://schemas.microsoft.com/office/drawing/2014/main" val="20002"/>
                    </a:ext>
                  </a:extLst>
                </a:gridCol>
              </a:tblGrid>
              <a:tr h="400050">
                <a:tc>
                  <a:txBody>
                    <a:bodyPr/>
                    <a:lstStyle/>
                    <a:p>
                      <a:pPr algn="ctr"/>
                      <a:r>
                        <a:rPr sz="1875">
                          <a:solidFill>
                            <a:srgbClr val="000000"/>
                          </a:solidFill>
                          <a:latin typeface="Calibri"/>
                          <a:ea typeface="Calibri"/>
                          <a:cs typeface="Calibri"/>
                        </a:rPr>
                        <a:t>mid</a:t>
                      </a:r>
                    </a:p>
                  </a:txBody>
                  <a:tcPr marL="47625" marR="47625" marT="28575" marB="28575" anchor="ctr">
                    <a:solidFill>
                      <a:srgbClr val="D9D9D9"/>
                    </a:solidFill>
                  </a:tcPr>
                </a:tc>
                <a:tc>
                  <a:txBody>
                    <a:bodyPr/>
                    <a:lstStyle/>
                    <a:p>
                      <a:pPr algn="ctr"/>
                      <a:r>
                        <a:rPr sz="1875">
                          <a:solidFill>
                            <a:srgbClr val="000000"/>
                          </a:solidFill>
                          <a:latin typeface="Calibri"/>
                          <a:ea typeface="Calibri"/>
                          <a:cs typeface="Calibri"/>
                        </a:rPr>
                        <a:t>tid</a:t>
                      </a:r>
                    </a:p>
                  </a:txBody>
                  <a:tcPr marL="47625" marR="47625" marT="28575" marB="28575" anchor="ctr">
                    <a:solidFill>
                      <a:srgbClr val="D9D9D9"/>
                    </a:solidFill>
                  </a:tcPr>
                </a:tc>
                <a:tc>
                  <a:txBody>
                    <a:bodyPr/>
                    <a:lstStyle/>
                    <a:p>
                      <a:pPr algn="ctr"/>
                      <a:r>
                        <a:rPr sz="1875">
                          <a:solidFill>
                            <a:srgbClr val="000000"/>
                          </a:solidFill>
                          <a:latin typeface="Calibri"/>
                          <a:ea typeface="Calibri"/>
                          <a:cs typeface="Calibri"/>
                        </a:rPr>
                        <a:t>day</a:t>
                      </a:r>
                    </a:p>
                  </a:txBody>
                  <a:tcPr marL="47625" marR="47625" marT="28575" marB="28575" anchor="ctr">
                    <a:solidFill>
                      <a:srgbClr val="D9D9D9"/>
                    </a:solidFill>
                  </a:tcPr>
                </a:tc>
                <a:extLst>
                  <a:ext uri="{0D108BD9-81ED-4DB2-BD59-A6C34878D82A}">
                    <a16:rowId xmlns:a16="http://schemas.microsoft.com/office/drawing/2014/main" val="10000"/>
                  </a:ext>
                </a:extLst>
              </a:tr>
              <a:tr h="400050">
                <a:tc>
                  <a:txBody>
                    <a:bodyPr/>
                    <a:lstStyle/>
                    <a:p>
                      <a:pPr algn="ctr"/>
                      <a:r>
                        <a:rPr sz="1875">
                          <a:solidFill>
                            <a:srgbClr val="000000"/>
                          </a:solidFill>
                          <a:latin typeface="Calibri"/>
                          <a:ea typeface="Calibri"/>
                          <a:cs typeface="Calibri"/>
                        </a:rPr>
                        <a:t>M1</a:t>
                      </a:r>
                    </a:p>
                  </a:txBody>
                  <a:tcPr marL="47625" marR="47625" marT="28575" marB="28575" anchor="ctr">
                    <a:solidFill>
                      <a:srgbClr val="FFFFFF"/>
                    </a:solidFill>
                  </a:tcPr>
                </a:tc>
                <a:tc>
                  <a:txBody>
                    <a:bodyPr/>
                    <a:lstStyle/>
                    <a:p>
                      <a:pPr algn="ctr"/>
                      <a:r>
                        <a:rPr sz="1875">
                          <a:solidFill>
                            <a:srgbClr val="000000"/>
                          </a:solidFill>
                          <a:latin typeface="Calibri"/>
                          <a:ea typeface="Calibri"/>
                          <a:cs typeface="Calibri"/>
                        </a:rPr>
                        <a:t>T1</a:t>
                      </a:r>
                    </a:p>
                  </a:txBody>
                  <a:tcPr marL="47625" marR="47625" marT="28575" marB="28575" anchor="ctr">
                    <a:solidFill>
                      <a:srgbClr val="FFFFFF"/>
                    </a:solidFill>
                  </a:tcPr>
                </a:tc>
                <a:tc>
                  <a:txBody>
                    <a:bodyPr/>
                    <a:lstStyle/>
                    <a:p>
                      <a:pPr algn="ctr"/>
                      <a:r>
                        <a:rPr sz="1875">
                          <a:solidFill>
                            <a:srgbClr val="000000"/>
                          </a:solidFill>
                          <a:latin typeface="Calibri"/>
                          <a:ea typeface="Calibri"/>
                          <a:cs typeface="Calibri"/>
                        </a:rPr>
                        <a:t>Sep 1</a:t>
                      </a:r>
                    </a:p>
                  </a:txBody>
                  <a:tcPr marL="47625" marR="47625" marT="28575" marB="28575" anchor="ctr">
                    <a:solidFill>
                      <a:srgbClr val="FFFFFF"/>
                    </a:solidFill>
                  </a:tcPr>
                </a:tc>
                <a:extLst>
                  <a:ext uri="{0D108BD9-81ED-4DB2-BD59-A6C34878D82A}">
                    <a16:rowId xmlns:a16="http://schemas.microsoft.com/office/drawing/2014/main" val="10001"/>
                  </a:ext>
                </a:extLst>
              </a:tr>
              <a:tr h="400050">
                <a:tc>
                  <a:txBody>
                    <a:bodyPr/>
                    <a:lstStyle/>
                    <a:p>
                      <a:pPr algn="ctr"/>
                      <a:r>
                        <a:rPr sz="1875">
                          <a:solidFill>
                            <a:srgbClr val="000000"/>
                          </a:solidFill>
                          <a:latin typeface="Calibri"/>
                          <a:ea typeface="Calibri"/>
                          <a:cs typeface="Calibri"/>
                        </a:rPr>
                        <a:t>M1</a:t>
                      </a:r>
                    </a:p>
                  </a:txBody>
                  <a:tcPr marL="47625" marR="47625" marT="28575" marB="28575" anchor="ctr">
                    <a:solidFill>
                      <a:srgbClr val="FFFFFF"/>
                    </a:solidFill>
                  </a:tcPr>
                </a:tc>
                <a:tc>
                  <a:txBody>
                    <a:bodyPr/>
                    <a:lstStyle/>
                    <a:p>
                      <a:pPr algn="ctr"/>
                      <a:r>
                        <a:rPr sz="1875">
                          <a:solidFill>
                            <a:srgbClr val="000000"/>
                          </a:solidFill>
                          <a:latin typeface="Calibri"/>
                          <a:ea typeface="Calibri"/>
                          <a:cs typeface="Calibri"/>
                        </a:rPr>
                        <a:t>T1</a:t>
                      </a:r>
                    </a:p>
                  </a:txBody>
                  <a:tcPr marL="47625" marR="47625" marT="28575" marB="28575" anchor="ctr">
                    <a:solidFill>
                      <a:srgbClr val="FFFFFF"/>
                    </a:solidFill>
                  </a:tcPr>
                </a:tc>
                <a:tc>
                  <a:txBody>
                    <a:bodyPr/>
                    <a:lstStyle/>
                    <a:p>
                      <a:pPr algn="ctr"/>
                      <a:r>
                        <a:rPr sz="1875">
                          <a:solidFill>
                            <a:srgbClr val="000000"/>
                          </a:solidFill>
                          <a:latin typeface="Calibri"/>
                          <a:ea typeface="Calibri"/>
                          <a:cs typeface="Calibri"/>
                        </a:rPr>
                        <a:t>Sep 5</a:t>
                      </a:r>
                    </a:p>
                  </a:txBody>
                  <a:tcPr marL="47625" marR="47625" marT="28575" marB="28575" anchor="ctr">
                    <a:solidFill>
                      <a:srgbClr val="FFFFFF"/>
                    </a:solidFill>
                  </a:tcPr>
                </a:tc>
                <a:extLst>
                  <a:ext uri="{0D108BD9-81ED-4DB2-BD59-A6C34878D82A}">
                    <a16:rowId xmlns:a16="http://schemas.microsoft.com/office/drawing/2014/main" val="10002"/>
                  </a:ext>
                </a:extLst>
              </a:tr>
            </a:tbl>
          </a:graphicData>
        </a:graphic>
      </p:graphicFrame>
      <p:sp>
        <p:nvSpPr>
          <p:cNvPr id="6" name="formula">
            <a:extLst>
              <a:ext uri="{FF2B5EF4-FFF2-40B4-BE49-F238E27FC236}">
                <a16:creationId xmlns:a16="http://schemas.microsoft.com/office/drawing/2014/main" id="{39536701-7137-4ABC-BC08-42CB317E2B38}"/>
              </a:ext>
            </a:extLst>
          </p:cNvPr>
          <p:cNvSpPr>
            <a:spLocks noGrp="1"/>
          </p:cNvSpPr>
          <p:nvPr/>
        </p:nvSpPr>
        <p:spPr>
          <a:xfrm>
            <a:off x="781050" y="4029075"/>
            <a:ext cx="7620000" cy="523875"/>
          </a:xfrm>
          <a:prstGeom prst="rect">
            <a:avLst/>
          </a:prstGeom>
          <a:noFill/>
          <a:ln w="0">
            <a:noFill/>
          </a:ln>
        </p:spPr>
        <p:txBody>
          <a:bodyPr wrap="square" lIns="0" tIns="0" rIns="0" bIns="0">
            <a:noAutofit/>
          </a:bodyPr>
          <a:lstStyle/>
          <a:p>
            <a:pPr>
              <a:defRPr sz="2175" b="0">
                <a:solidFill>
                  <a:srgbClr val="000000"/>
                </a:solidFill>
                <a:latin typeface="Cambria Math"/>
                <a:ea typeface="Cambria Math"/>
                <a:cs typeface="Cambria Math"/>
              </a:defRPr>
            </a:pPr>
            <a:r>
              <a:rPr sz="2175" b="0">
                <a:solidFill>
                  <a:srgbClr val="000000"/>
                </a:solidFill>
                <a:latin typeface="Cambria Math"/>
                <a:ea typeface="Cambria Math"/>
                <a:cs typeface="Cambria Math"/>
              </a:rPr>
              <a:t>Required ← π</a:t>
            </a:r>
            <a:r>
              <a:rPr sz="1544" b="0" baseline="-25000">
                <a:solidFill>
                  <a:srgbClr val="000000"/>
                </a:solidFill>
                <a:latin typeface="Cambria Math"/>
                <a:ea typeface="Cambria Math"/>
                <a:cs typeface="Cambria Math"/>
              </a:rPr>
              <a:t>tid</a:t>
            </a:r>
            <a:r>
              <a:rPr sz="2175" b="0">
                <a:solidFill>
                  <a:srgbClr val="000000"/>
                </a:solidFill>
                <a:latin typeface="Cambria Math"/>
                <a:ea typeface="Cambria Math"/>
                <a:cs typeface="Cambria Math"/>
              </a:rPr>
              <a:t>(M1_rows) = { (T1) }</a:t>
            </a:r>
          </a:p>
        </p:txBody>
      </p:sp>
      <p:sp>
        <p:nvSpPr>
          <p:cNvPr id="7" name="formula">
            <a:extLst>
              <a:ext uri="{FF2B5EF4-FFF2-40B4-BE49-F238E27FC236}">
                <a16:creationId xmlns:a16="http://schemas.microsoft.com/office/drawing/2014/main" id="{27033FA5-09C0-4864-AEED-FAFD6CD63BD9}"/>
              </a:ext>
            </a:extLst>
          </p:cNvPr>
          <p:cNvSpPr>
            <a:spLocks noGrp="1"/>
          </p:cNvSpPr>
          <p:nvPr/>
        </p:nvSpPr>
        <p:spPr>
          <a:xfrm>
            <a:off x="781050" y="4848225"/>
            <a:ext cx="7620000" cy="523875"/>
          </a:xfrm>
          <a:prstGeom prst="rect">
            <a:avLst/>
          </a:prstGeom>
          <a:noFill/>
          <a:ln w="0">
            <a:noFill/>
          </a:ln>
        </p:spPr>
        <p:txBody>
          <a:bodyPr wrap="square" lIns="0" tIns="0" rIns="0" bIns="0">
            <a:noAutofit/>
          </a:bodyPr>
          <a:lstStyle/>
          <a:p>
            <a:pPr>
              <a:defRPr sz="2250" b="0">
                <a:solidFill>
                  <a:srgbClr val="000000"/>
                </a:solidFill>
                <a:latin typeface="Cambria Math"/>
                <a:ea typeface="Cambria Math"/>
                <a:cs typeface="Cambria Math"/>
              </a:defRPr>
            </a:pPr>
            <a:r>
              <a:rPr sz="2250" b="0">
                <a:solidFill>
                  <a:srgbClr val="000000"/>
                </a:solidFill>
                <a:latin typeface="Cambria Math"/>
                <a:ea typeface="Cambria Math"/>
                <a:cs typeface="Cambria Math"/>
              </a:rPr>
              <a:t>R ← π</a:t>
            </a:r>
            <a:r>
              <a:rPr sz="1598" b="0" baseline="-25000">
                <a:solidFill>
                  <a:srgbClr val="000000"/>
                </a:solidFill>
                <a:latin typeface="Cambria Math"/>
                <a:ea typeface="Cambria Math"/>
                <a:cs typeface="Cambria Math"/>
              </a:rPr>
              <a:t>mid,tid</a:t>
            </a:r>
            <a:r>
              <a:rPr sz="2250" b="0">
                <a:solidFill>
                  <a:srgbClr val="000000"/>
                </a:solidFill>
                <a:latin typeface="Cambria Math"/>
                <a:ea typeface="Cambria Math"/>
                <a:cs typeface="Cambria Math"/>
              </a:rPr>
              <a:t>(Trained)</a:t>
            </a:r>
          </a:p>
        </p:txBody>
      </p:sp>
      <p:sp>
        <p:nvSpPr>
          <p:cNvPr id="8" name="body">
            <a:extLst>
              <a:ext uri="{FF2B5EF4-FFF2-40B4-BE49-F238E27FC236}">
                <a16:creationId xmlns:a16="http://schemas.microsoft.com/office/drawing/2014/main" id="{778F3E16-41F2-48F8-A76A-87AE3D8D2B5C}"/>
              </a:ext>
            </a:extLst>
          </p:cNvPr>
          <p:cNvSpPr>
            <a:spLocks noGrp="1"/>
          </p:cNvSpPr>
          <p:nvPr/>
        </p:nvSpPr>
        <p:spPr>
          <a:xfrm>
            <a:off x="781050" y="5610225"/>
            <a:ext cx="7600950" cy="952500"/>
          </a:xfrm>
          <a:prstGeom prst="rect">
            <a:avLst/>
          </a:prstGeom>
          <a:noFill/>
          <a:ln w="0">
            <a:noFill/>
          </a:ln>
        </p:spPr>
        <p:txBody>
          <a:bodyPr wrap="square" lIns="0" tIns="0" rIns="0" bIns="0">
            <a:noAutofit/>
          </a:bodyPr>
          <a:lstStyle/>
          <a:p>
            <a:pPr>
              <a:defRPr sz="1950" b="0">
                <a:solidFill>
                  <a:srgbClr val="FF0000"/>
                </a:solidFill>
                <a:latin typeface="Calibri"/>
                <a:ea typeface="Calibri"/>
                <a:cs typeface="Calibri"/>
              </a:defRPr>
            </a:pPr>
            <a:r>
              <a:rPr sz="1950" b="0">
                <a:solidFill>
                  <a:srgbClr val="FF0000"/>
                </a:solidFill>
                <a:latin typeface="Calibri"/>
                <a:ea typeface="Calibri"/>
                <a:cs typeface="Calibri"/>
              </a:rPr>
              <a:t>The repeated T1 training creates one requirement.</a:t>
            </a:r>
          </a:p>
        </p:txBody>
      </p:sp>
      <p:sp>
        <p:nvSpPr>
          <p:cNvPr id="9001" name="Title 1">
            <a:extLst>
              <a:ext uri="{FF2B5EF4-FFF2-40B4-BE49-F238E27FC236}">
                <a16:creationId xmlns:a16="http://schemas.microsoft.com/office/drawing/2014/main" id="{4EF27E5C-9C4D-BDBE-7667-D0B141BCC8F5}"/>
              </a:ext>
            </a:extLst>
          </p:cNvPr>
          <p:cNvSpPr>
            <a:spLocks noGrp="1"/>
          </p:cNvSpPr>
          <p:nvPr>
            <p:ph type="title"/>
          </p:nvPr>
        </p:nvSpPr>
        <p:spPr/>
        <p:txBody>
          <a:bodyPr/>
          <a:lstStyle/>
          <a:p>
            <a:r>
              <a:rPr lang="en-US">
                <a:solidFill>
                  <a:srgbClr val="FF0000"/>
                </a:solidFill>
              </a:rPr>
              <a:t>Solutions: </a:t>
            </a:r>
            <a:r>
              <a:rPr lang="en-US">
                <a:solidFill>
                  <a:srgbClr val="3333CC"/>
                </a:solidFill>
              </a:rPr>
              <a:t>Q26 (1)</a:t>
            </a:r>
          </a:p>
        </p:txBody>
      </p:sp>
      <p:sp>
        <p:nvSpPr>
          <p:cNvPr id="9002" name="Slide Number Placeholder 1">
            <a:extLst>
              <a:ext uri="{FF2B5EF4-FFF2-40B4-BE49-F238E27FC236}">
                <a16:creationId xmlns:a16="http://schemas.microsoft.com/office/drawing/2014/main" id="{B90139AC-3BDA-723A-097A-000DA0A784C1}"/>
              </a:ext>
            </a:extLst>
          </p:cNvPr>
          <p:cNvSpPr>
            <a:spLocks noGrp="1"/>
          </p:cNvSpPr>
          <p:nvPr>
            <p:ph type="sldNum" sz="quarter" idx="12"/>
          </p:nvPr>
        </p:nvSpPr>
        <p:spPr/>
        <p:txBody>
          <a:bodyPr/>
          <a:lstStyle/>
          <a:p>
            <a:pPr>
              <a:defRPr/>
            </a:pPr>
            <a:fld id="{43CA101F-9E5F-9249-9862-3CE55B3BB777}" type="slidenum">
              <a:rPr lang="en-US" altLang="zh-TW" smtClean="0"/>
              <a:pPr>
                <a:defRPr/>
              </a:pPr>
              <a:t>68</a:t>
            </a:fld>
            <a:endParaRPr lang="en-US" altLang="zh-TW"/>
          </a:p>
        </p:txBody>
      </p:sp>
    </p:spTree>
    <p:extLst>
      <p:ext uri="{BB962C8B-B14F-4D97-AF65-F5344CB8AC3E}">
        <p14:creationId xmlns:p14="http://schemas.microsoft.com/office/powerpoint/2010/main" val="1212694308"/>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formula">
            <a:extLst>
              <a:ext uri="{FF2B5EF4-FFF2-40B4-BE49-F238E27FC236}">
                <a16:creationId xmlns:a16="http://schemas.microsoft.com/office/drawing/2014/main" id="{9222CC6E-60D5-4314-A4EA-B6C81B948369}"/>
              </a:ext>
            </a:extLst>
          </p:cNvPr>
          <p:cNvSpPr>
            <a:spLocks noGrp="1"/>
          </p:cNvSpPr>
          <p:nvPr/>
        </p:nvSpPr>
        <p:spPr>
          <a:xfrm>
            <a:off x="781050" y="1066800"/>
            <a:ext cx="7620000" cy="523875"/>
          </a:xfrm>
          <a:prstGeom prst="rect">
            <a:avLst/>
          </a:prstGeom>
          <a:noFill/>
          <a:ln w="0">
            <a:noFill/>
          </a:ln>
        </p:spPr>
        <p:txBody>
          <a:bodyPr wrap="square" lIns="0" tIns="0" rIns="0" bIns="0">
            <a:noAutofit/>
          </a:bodyPr>
          <a:lstStyle/>
          <a:p>
            <a:pPr>
              <a:defRPr sz="2175" b="0">
                <a:solidFill>
                  <a:srgbClr val="000000"/>
                </a:solidFill>
                <a:latin typeface="Cambria Math"/>
                <a:ea typeface="Cambria Math"/>
                <a:cs typeface="Cambria Math"/>
              </a:defRPr>
            </a:pPr>
            <a:r>
              <a:rPr sz="2175" b="0">
                <a:solidFill>
                  <a:srgbClr val="000000"/>
                </a:solidFill>
                <a:latin typeface="Cambria Math"/>
                <a:ea typeface="Cambria Math"/>
                <a:cs typeface="Cambria Math"/>
              </a:rPr>
              <a:t>Qualified ← R / Required = { (M1), (M2) }</a:t>
            </a:r>
          </a:p>
        </p:txBody>
      </p:sp>
      <p:sp>
        <p:nvSpPr>
          <p:cNvPr id="4" name="formula">
            <a:extLst>
              <a:ext uri="{FF2B5EF4-FFF2-40B4-BE49-F238E27FC236}">
                <a16:creationId xmlns:a16="http://schemas.microsoft.com/office/drawing/2014/main" id="{AD51FF79-DE70-4211-8F95-78C94567CB39}"/>
              </a:ext>
            </a:extLst>
          </p:cNvPr>
          <p:cNvSpPr>
            <a:spLocks noGrp="1"/>
          </p:cNvSpPr>
          <p:nvPr/>
        </p:nvSpPr>
        <p:spPr>
          <a:xfrm>
            <a:off x="781050" y="1819275"/>
            <a:ext cx="7620000" cy="523875"/>
          </a:xfrm>
          <a:prstGeom prst="rect">
            <a:avLst/>
          </a:prstGeom>
          <a:noFill/>
          <a:ln w="0">
            <a:noFill/>
          </a:ln>
        </p:spPr>
        <p:txBody>
          <a:bodyPr wrap="square" lIns="0" tIns="0" rIns="0" bIns="0">
            <a:noAutofit/>
          </a:bodyPr>
          <a:lstStyle/>
          <a:p>
            <a:pPr>
              <a:defRPr sz="2025" b="0">
                <a:solidFill>
                  <a:srgbClr val="000000"/>
                </a:solidFill>
                <a:latin typeface="Cambria Math"/>
                <a:ea typeface="Cambria Math"/>
                <a:cs typeface="Cambria Math"/>
              </a:defRPr>
            </a:pPr>
            <a:r>
              <a:rPr sz="2025" b="0">
                <a:solidFill>
                  <a:srgbClr val="000000"/>
                </a:solidFill>
                <a:latin typeface="Cambria Math"/>
                <a:ea typeface="Cambria Math"/>
                <a:cs typeface="Cambria Math"/>
              </a:rPr>
              <a:t>Answer ← π</a:t>
            </a:r>
            <a:r>
              <a:rPr sz="1438" b="0" baseline="-25000">
                <a:solidFill>
                  <a:srgbClr val="000000"/>
                </a:solidFill>
                <a:latin typeface="Cambria Math"/>
                <a:ea typeface="Cambria Math"/>
                <a:cs typeface="Cambria Math"/>
              </a:rPr>
              <a:t>mid,mname</a:t>
            </a:r>
            <a:r>
              <a:rPr sz="2025" b="0">
                <a:solidFill>
                  <a:srgbClr val="000000"/>
                </a:solidFill>
                <a:latin typeface="Cambria Math"/>
                <a:ea typeface="Cambria Math"/>
                <a:cs typeface="Cambria Math"/>
              </a:rPr>
              <a:t>(Member ⋈ Qualified)</a:t>
            </a:r>
          </a:p>
        </p:txBody>
      </p:sp>
      <p:sp>
        <p:nvSpPr>
          <p:cNvPr id="5" name="body">
            <a:extLst>
              <a:ext uri="{FF2B5EF4-FFF2-40B4-BE49-F238E27FC236}">
                <a16:creationId xmlns:a16="http://schemas.microsoft.com/office/drawing/2014/main" id="{5B2545E3-6561-4F44-97F3-E8C704B48554}"/>
              </a:ext>
            </a:extLst>
          </p:cNvPr>
          <p:cNvSpPr>
            <a:spLocks noGrp="1"/>
          </p:cNvSpPr>
          <p:nvPr/>
        </p:nvSpPr>
        <p:spPr>
          <a:xfrm>
            <a:off x="2105025" y="2628900"/>
            <a:ext cx="4762500" cy="361950"/>
          </a:xfrm>
          <a:prstGeom prst="rect">
            <a:avLst/>
          </a:prstGeom>
          <a:noFill/>
          <a:ln w="0">
            <a:noFill/>
          </a:ln>
        </p:spPr>
        <p:txBody>
          <a:bodyPr wrap="square" lIns="0" tIns="0" rIns="0" bIns="0">
            <a:noAutofit/>
          </a:bodyPr>
          <a:lstStyle/>
          <a:p>
            <a:pPr>
              <a:defRPr sz="2250" b="0">
                <a:solidFill>
                  <a:srgbClr val="000000"/>
                </a:solidFill>
                <a:latin typeface="Calibri"/>
                <a:ea typeface="Calibri"/>
                <a:cs typeface="Calibri"/>
              </a:defRPr>
            </a:pPr>
            <a:r>
              <a:rPr sz="2250" b="0">
                <a:solidFill>
                  <a:srgbClr val="000000"/>
                </a:solidFill>
                <a:latin typeface="Calibri"/>
                <a:ea typeface="Calibri"/>
                <a:cs typeface="Calibri"/>
              </a:rPr>
              <a:t>Answer</a:t>
            </a:r>
          </a:p>
        </p:txBody>
      </p:sp>
      <p:graphicFrame>
        <p:nvGraphicFramePr>
          <p:cNvPr id="15" name="表格 14"/>
          <p:cNvGraphicFramePr/>
          <p:nvPr/>
        </p:nvGraphicFramePr>
        <p:xfrm>
          <a:off x="2181225" y="3048000"/>
          <a:ext cx="4762500" cy="1228725"/>
        </p:xfrm>
        <a:graphic>
          <a:graphicData uri="http://schemas.openxmlformats.org/drawingml/2006/table">
            <a:tbl>
              <a:tblPr/>
              <a:tblGrid>
                <a:gridCol w="2381250">
                  <a:extLst>
                    <a:ext uri="{9D8B030D-6E8A-4147-A177-3AD203B41FA5}">
                      <a16:colId xmlns:a16="http://schemas.microsoft.com/office/drawing/2014/main" val="20000"/>
                    </a:ext>
                  </a:extLst>
                </a:gridCol>
                <a:gridCol w="2381250">
                  <a:extLst>
                    <a:ext uri="{9D8B030D-6E8A-4147-A177-3AD203B41FA5}">
                      <a16:colId xmlns:a16="http://schemas.microsoft.com/office/drawing/2014/main" val="20001"/>
                    </a:ext>
                  </a:extLst>
                </a:gridCol>
              </a:tblGrid>
              <a:tr h="409575">
                <a:tc>
                  <a:txBody>
                    <a:bodyPr/>
                    <a:lstStyle/>
                    <a:p>
                      <a:pPr algn="ctr"/>
                      <a:r>
                        <a:rPr sz="2025">
                          <a:solidFill>
                            <a:srgbClr val="000000"/>
                          </a:solidFill>
                          <a:latin typeface="Calibri"/>
                          <a:ea typeface="Calibri"/>
                          <a:cs typeface="Calibri"/>
                        </a:rPr>
                        <a:t>mid</a:t>
                      </a:r>
                    </a:p>
                  </a:txBody>
                  <a:tcPr marL="47625" marR="47625" marT="28575" marB="28575" anchor="ctr">
                    <a:solidFill>
                      <a:srgbClr val="D9D9D9"/>
                    </a:solidFill>
                  </a:tcPr>
                </a:tc>
                <a:tc>
                  <a:txBody>
                    <a:bodyPr/>
                    <a:lstStyle/>
                    <a:p>
                      <a:pPr algn="ctr"/>
                      <a:r>
                        <a:rPr sz="2025">
                          <a:solidFill>
                            <a:srgbClr val="000000"/>
                          </a:solidFill>
                          <a:latin typeface="Calibri"/>
                          <a:ea typeface="Calibri"/>
                          <a:cs typeface="Calibri"/>
                        </a:rPr>
                        <a:t>mname</a:t>
                      </a:r>
                    </a:p>
                  </a:txBody>
                  <a:tcPr marL="47625" marR="47625" marT="28575" marB="28575" anchor="ctr">
                    <a:solidFill>
                      <a:srgbClr val="D9D9D9"/>
                    </a:solidFill>
                  </a:tcPr>
                </a:tc>
                <a:extLst>
                  <a:ext uri="{0D108BD9-81ED-4DB2-BD59-A6C34878D82A}">
                    <a16:rowId xmlns:a16="http://schemas.microsoft.com/office/drawing/2014/main" val="10000"/>
                  </a:ext>
                </a:extLst>
              </a:tr>
              <a:tr h="409575">
                <a:tc>
                  <a:txBody>
                    <a:bodyPr/>
                    <a:lstStyle/>
                    <a:p>
                      <a:pPr algn="ctr"/>
                      <a:r>
                        <a:rPr sz="2025">
                          <a:solidFill>
                            <a:srgbClr val="000000"/>
                          </a:solidFill>
                          <a:latin typeface="Calibri"/>
                          <a:ea typeface="Calibri"/>
                          <a:cs typeface="Calibri"/>
                        </a:rPr>
                        <a:t>M1</a:t>
                      </a:r>
                    </a:p>
                  </a:txBody>
                  <a:tcPr marL="47625" marR="47625" marT="28575" marB="28575" anchor="ctr">
                    <a:solidFill>
                      <a:srgbClr val="FFFFFF"/>
                    </a:solidFill>
                  </a:tcPr>
                </a:tc>
                <a:tc>
                  <a:txBody>
                    <a:bodyPr/>
                    <a:lstStyle/>
                    <a:p>
                      <a:pPr algn="ctr"/>
                      <a:r>
                        <a:rPr sz="2025">
                          <a:solidFill>
                            <a:srgbClr val="000000"/>
                          </a:solidFill>
                          <a:latin typeface="Calibri"/>
                          <a:ea typeface="Calibri"/>
                          <a:cs typeface="Calibri"/>
                        </a:rPr>
                        <a:t>Alex</a:t>
                      </a:r>
                    </a:p>
                  </a:txBody>
                  <a:tcPr marL="47625" marR="47625" marT="28575" marB="28575" anchor="ctr">
                    <a:solidFill>
                      <a:srgbClr val="FFFFFF"/>
                    </a:solidFill>
                  </a:tcPr>
                </a:tc>
                <a:extLst>
                  <a:ext uri="{0D108BD9-81ED-4DB2-BD59-A6C34878D82A}">
                    <a16:rowId xmlns:a16="http://schemas.microsoft.com/office/drawing/2014/main" val="10001"/>
                  </a:ext>
                </a:extLst>
              </a:tr>
              <a:tr h="409575">
                <a:tc>
                  <a:txBody>
                    <a:bodyPr/>
                    <a:lstStyle/>
                    <a:p>
                      <a:pPr algn="ctr"/>
                      <a:r>
                        <a:rPr sz="2025">
                          <a:solidFill>
                            <a:srgbClr val="000000"/>
                          </a:solidFill>
                          <a:latin typeface="Calibri"/>
                          <a:ea typeface="Calibri"/>
                          <a:cs typeface="Calibri"/>
                        </a:rPr>
                        <a:t>M2</a:t>
                      </a:r>
                    </a:p>
                  </a:txBody>
                  <a:tcPr marL="47625" marR="47625" marT="28575" marB="28575" anchor="ctr">
                    <a:solidFill>
                      <a:srgbClr val="FFFFFF"/>
                    </a:solidFill>
                  </a:tcPr>
                </a:tc>
                <a:tc>
                  <a:txBody>
                    <a:bodyPr/>
                    <a:lstStyle/>
                    <a:p>
                      <a:pPr algn="ctr"/>
                      <a:r>
                        <a:rPr sz="2025">
                          <a:solidFill>
                            <a:srgbClr val="000000"/>
                          </a:solidFill>
                          <a:latin typeface="Calibri"/>
                          <a:ea typeface="Calibri"/>
                          <a:cs typeface="Calibri"/>
                        </a:rPr>
                        <a:t>Mei</a:t>
                      </a:r>
                    </a:p>
                  </a:txBody>
                  <a:tcPr marL="47625" marR="47625" marT="28575" marB="28575" anchor="ctr">
                    <a:solidFill>
                      <a:srgbClr val="FFFFFF"/>
                    </a:solidFill>
                  </a:tcPr>
                </a:tc>
                <a:extLst>
                  <a:ext uri="{0D108BD9-81ED-4DB2-BD59-A6C34878D82A}">
                    <a16:rowId xmlns:a16="http://schemas.microsoft.com/office/drawing/2014/main" val="10002"/>
                  </a:ext>
                </a:extLst>
              </a:tr>
            </a:tbl>
          </a:graphicData>
        </a:graphic>
      </p:graphicFrame>
      <p:sp>
        <p:nvSpPr>
          <p:cNvPr id="7" name="body">
            <a:extLst>
              <a:ext uri="{FF2B5EF4-FFF2-40B4-BE49-F238E27FC236}">
                <a16:creationId xmlns:a16="http://schemas.microsoft.com/office/drawing/2014/main" id="{C099D309-F37D-4240-8497-35D90417B342}"/>
              </a:ext>
            </a:extLst>
          </p:cNvPr>
          <p:cNvSpPr>
            <a:spLocks noGrp="1"/>
          </p:cNvSpPr>
          <p:nvPr/>
        </p:nvSpPr>
        <p:spPr>
          <a:xfrm>
            <a:off x="781050" y="4752975"/>
            <a:ext cx="7600950" cy="952500"/>
          </a:xfrm>
          <a:prstGeom prst="rect">
            <a:avLst/>
          </a:prstGeom>
          <a:noFill/>
          <a:ln w="0">
            <a:noFill/>
          </a:ln>
        </p:spPr>
        <p:txBody>
          <a:bodyPr wrap="square" lIns="0" tIns="0" rIns="0" bIns="0">
            <a:noAutofit/>
          </a:bodyPr>
          <a:lstStyle/>
          <a:p>
            <a:pPr>
              <a:defRPr sz="2025" b="0">
                <a:solidFill>
                  <a:srgbClr val="000000"/>
                </a:solidFill>
                <a:latin typeface="Calibri"/>
                <a:ea typeface="Calibri"/>
                <a:cs typeface="Calibri"/>
              </a:defRPr>
            </a:pPr>
            <a:r>
              <a:rPr sz="2025" b="0">
                <a:solidFill>
                  <a:srgbClr val="000000"/>
                </a:solidFill>
                <a:latin typeface="Calibri"/>
                <a:ea typeface="Calibri"/>
                <a:cs typeface="Calibri"/>
              </a:rPr>
              <a:t>For other members, subtract M1 from Qualified first:</a:t>
            </a:r>
          </a:p>
        </p:txBody>
      </p:sp>
      <p:sp>
        <p:nvSpPr>
          <p:cNvPr id="8" name="formula">
            <a:extLst>
              <a:ext uri="{FF2B5EF4-FFF2-40B4-BE49-F238E27FC236}">
                <a16:creationId xmlns:a16="http://schemas.microsoft.com/office/drawing/2014/main" id="{A97C981B-F869-4301-8F20-A24EC8C34B68}"/>
              </a:ext>
            </a:extLst>
          </p:cNvPr>
          <p:cNvSpPr>
            <a:spLocks noGrp="1"/>
          </p:cNvSpPr>
          <p:nvPr/>
        </p:nvSpPr>
        <p:spPr>
          <a:xfrm>
            <a:off x="781050" y="5219700"/>
            <a:ext cx="7620000" cy="523875"/>
          </a:xfrm>
          <a:prstGeom prst="rect">
            <a:avLst/>
          </a:prstGeom>
          <a:noFill/>
          <a:ln w="0">
            <a:noFill/>
          </a:ln>
        </p:spPr>
        <p:txBody>
          <a:bodyPr wrap="square" lIns="0" tIns="0" rIns="0" bIns="0">
            <a:noAutofit/>
          </a:bodyPr>
          <a:lstStyle/>
          <a:p>
            <a:pPr>
              <a:defRPr sz="1950" b="0">
                <a:solidFill>
                  <a:srgbClr val="000000"/>
                </a:solidFill>
                <a:latin typeface="Cambria Math"/>
                <a:ea typeface="Cambria Math"/>
                <a:cs typeface="Cambria Math"/>
              </a:defRPr>
            </a:pPr>
            <a:r>
              <a:rPr sz="1950" b="0">
                <a:solidFill>
                  <a:srgbClr val="000000"/>
                </a:solidFill>
                <a:latin typeface="Cambria Math"/>
                <a:ea typeface="Cambria Math"/>
                <a:cs typeface="Cambria Math"/>
              </a:rPr>
              <a:t>Other ← Qualified − π</a:t>
            </a:r>
            <a:r>
              <a:rPr sz="1384" b="0" baseline="-25000">
                <a:solidFill>
                  <a:srgbClr val="000000"/>
                </a:solidFill>
                <a:latin typeface="Cambria Math"/>
                <a:ea typeface="Cambria Math"/>
                <a:cs typeface="Cambria Math"/>
              </a:rPr>
              <a:t>mid</a:t>
            </a:r>
            <a:r>
              <a:rPr sz="1950" b="0">
                <a:solidFill>
                  <a:srgbClr val="000000"/>
                </a:solidFill>
                <a:latin typeface="Cambria Math"/>
                <a:ea typeface="Cambria Math"/>
                <a:cs typeface="Cambria Math"/>
              </a:rPr>
              <a:t>(σ</a:t>
            </a:r>
            <a:r>
              <a:rPr sz="1384" b="0" baseline="-25000">
                <a:solidFill>
                  <a:srgbClr val="000000"/>
                </a:solidFill>
                <a:latin typeface="Cambria Math"/>
                <a:ea typeface="Cambria Math"/>
                <a:cs typeface="Cambria Math"/>
              </a:rPr>
              <a:t>mid='M1'</a:t>
            </a:r>
            <a:r>
              <a:rPr sz="1950" b="0">
                <a:solidFill>
                  <a:srgbClr val="000000"/>
                </a:solidFill>
                <a:latin typeface="Cambria Math"/>
                <a:ea typeface="Cambria Math"/>
                <a:cs typeface="Cambria Math"/>
              </a:rPr>
              <a:t>(Member))</a:t>
            </a:r>
          </a:p>
        </p:txBody>
      </p:sp>
      <p:sp>
        <p:nvSpPr>
          <p:cNvPr id="9" name="body">
            <a:extLst>
              <a:ext uri="{FF2B5EF4-FFF2-40B4-BE49-F238E27FC236}">
                <a16:creationId xmlns:a16="http://schemas.microsoft.com/office/drawing/2014/main" id="{D11394B4-690A-41CE-BECE-BAC45707B10A}"/>
              </a:ext>
            </a:extLst>
          </p:cNvPr>
          <p:cNvSpPr>
            <a:spLocks noGrp="1"/>
          </p:cNvSpPr>
          <p:nvPr/>
        </p:nvSpPr>
        <p:spPr>
          <a:xfrm>
            <a:off x="781050" y="5772150"/>
            <a:ext cx="7600950" cy="952500"/>
          </a:xfrm>
          <a:prstGeom prst="rect">
            <a:avLst/>
          </a:prstGeom>
          <a:noFill/>
          <a:ln w="0">
            <a:noFill/>
          </a:ln>
        </p:spPr>
        <p:txBody>
          <a:bodyPr wrap="square" lIns="0" tIns="0" rIns="0" bIns="0">
            <a:noAutofit/>
          </a:bodyPr>
          <a:lstStyle/>
          <a:p>
            <a:pPr>
              <a:defRPr sz="1875" b="0">
                <a:solidFill>
                  <a:srgbClr val="FF0000"/>
                </a:solidFill>
                <a:latin typeface="Calibri"/>
                <a:ea typeface="Calibri"/>
                <a:cs typeface="Calibri"/>
              </a:defRPr>
            </a:pPr>
            <a:r>
              <a:rPr sz="1875" b="0">
                <a:solidFill>
                  <a:srgbClr val="FF0000"/>
                </a:solidFill>
                <a:latin typeface="Calibri"/>
                <a:ea typeface="Calibri"/>
                <a:cs typeface="Calibri"/>
              </a:rPr>
              <a:t>The modified answer would be (M2, Mei).</a:t>
            </a:r>
          </a:p>
        </p:txBody>
      </p:sp>
      <p:sp>
        <p:nvSpPr>
          <p:cNvPr id="9001" name="Title 1">
            <a:extLst>
              <a:ext uri="{FF2B5EF4-FFF2-40B4-BE49-F238E27FC236}">
                <a16:creationId xmlns:a16="http://schemas.microsoft.com/office/drawing/2014/main" id="{4EF27E5C-9C4D-BDBE-7667-D0B141BCC8F5}"/>
              </a:ext>
            </a:extLst>
          </p:cNvPr>
          <p:cNvSpPr>
            <a:spLocks noGrp="1"/>
          </p:cNvSpPr>
          <p:nvPr>
            <p:ph type="title"/>
          </p:nvPr>
        </p:nvSpPr>
        <p:spPr/>
        <p:txBody>
          <a:bodyPr/>
          <a:lstStyle/>
          <a:p>
            <a:r>
              <a:rPr lang="en-US">
                <a:solidFill>
                  <a:srgbClr val="FF0000"/>
                </a:solidFill>
              </a:rPr>
              <a:t>Solutions: </a:t>
            </a:r>
            <a:r>
              <a:rPr lang="en-US">
                <a:solidFill>
                  <a:srgbClr val="3333CC"/>
                </a:solidFill>
              </a:rPr>
              <a:t>Q26 (2)</a:t>
            </a:r>
          </a:p>
        </p:txBody>
      </p:sp>
      <p:sp>
        <p:nvSpPr>
          <p:cNvPr id="9002" name="Slide Number Placeholder 1">
            <a:extLst>
              <a:ext uri="{FF2B5EF4-FFF2-40B4-BE49-F238E27FC236}">
                <a16:creationId xmlns:a16="http://schemas.microsoft.com/office/drawing/2014/main" id="{B90139AC-3BDA-723A-097A-000DA0A784C1}"/>
              </a:ext>
            </a:extLst>
          </p:cNvPr>
          <p:cNvSpPr>
            <a:spLocks noGrp="1"/>
          </p:cNvSpPr>
          <p:nvPr>
            <p:ph type="sldNum" sz="quarter" idx="12"/>
          </p:nvPr>
        </p:nvSpPr>
        <p:spPr/>
        <p:txBody>
          <a:bodyPr/>
          <a:lstStyle/>
          <a:p>
            <a:pPr>
              <a:defRPr/>
            </a:pPr>
            <a:fld id="{43CA101F-9E5F-9249-9862-3CE55B3BB777}" type="slidenum">
              <a:rPr lang="en-US" altLang="zh-TW" smtClean="0"/>
              <a:pPr>
                <a:defRPr/>
              </a:pPr>
              <a:t>69</a:t>
            </a:fld>
            <a:endParaRPr lang="en-US" altLang="zh-TW"/>
          </a:p>
        </p:txBody>
      </p:sp>
    </p:spTree>
    <p:extLst>
      <p:ext uri="{BB962C8B-B14F-4D97-AF65-F5344CB8AC3E}">
        <p14:creationId xmlns:p14="http://schemas.microsoft.com/office/powerpoint/2010/main" val="705430717"/>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body">
            <a:extLst>
              <a:ext uri="{FF2B5EF4-FFF2-40B4-BE49-F238E27FC236}">
                <a16:creationId xmlns:a16="http://schemas.microsoft.com/office/drawing/2014/main" id="{2FEE1802-7218-40DA-884E-D85A53BA9559}"/>
              </a:ext>
            </a:extLst>
          </p:cNvPr>
          <p:cNvSpPr>
            <a:spLocks noGrp="1"/>
          </p:cNvSpPr>
          <p:nvPr/>
        </p:nvSpPr>
        <p:spPr>
          <a:xfrm>
            <a:off x="781050" y="5876925"/>
            <a:ext cx="7620000" cy="285750"/>
          </a:xfrm>
          <a:prstGeom prst="rect">
            <a:avLst/>
          </a:prstGeom>
          <a:noFill/>
          <a:ln w="0">
            <a:noFill/>
          </a:ln>
        </p:spPr>
        <p:txBody>
          <a:bodyPr wrap="square" lIns="0" tIns="0" rIns="0" bIns="0">
            <a:noAutofit/>
          </a:bodyPr>
          <a:lstStyle/>
          <a:p>
            <a:pPr>
              <a:defRPr sz="1725" b="0">
                <a:solidFill>
                  <a:srgbClr val="3333CC"/>
                </a:solidFill>
                <a:latin typeface="Calibri"/>
                <a:ea typeface="Calibri"/>
                <a:cs typeface="Calibri"/>
              </a:defRPr>
            </a:pPr>
            <a:r>
              <a:rPr sz="1725" b="0">
                <a:solidFill>
                  <a:srgbClr val="3333CC"/>
                </a:solidFill>
                <a:latin typeface="Calibri"/>
                <a:ea typeface="Calibri"/>
                <a:cs typeface="Calibri"/>
              </a:rPr>
              <a:t>Think: 30 s</a:t>
            </a:r>
          </a:p>
        </p:txBody>
      </p:sp>
      <p:sp>
        <p:nvSpPr>
          <p:cNvPr id="4" name="body">
            <a:extLst>
              <a:ext uri="{FF2B5EF4-FFF2-40B4-BE49-F238E27FC236}">
                <a16:creationId xmlns:a16="http://schemas.microsoft.com/office/drawing/2014/main" id="{0534F484-7E02-4462-9BD5-061F4FDE5C0A}"/>
              </a:ext>
            </a:extLst>
          </p:cNvPr>
          <p:cNvSpPr>
            <a:spLocks noGrp="1"/>
          </p:cNvSpPr>
          <p:nvPr/>
        </p:nvSpPr>
        <p:spPr>
          <a:xfrm>
            <a:off x="828675" y="1047750"/>
            <a:ext cx="3048000" cy="361950"/>
          </a:xfrm>
          <a:prstGeom prst="rect">
            <a:avLst/>
          </a:prstGeom>
          <a:noFill/>
          <a:ln w="0">
            <a:noFill/>
          </a:ln>
        </p:spPr>
        <p:txBody>
          <a:bodyPr wrap="square" lIns="0" tIns="0" rIns="0" bIns="0">
            <a:noAutofit/>
          </a:bodyPr>
          <a:lstStyle/>
          <a:p>
            <a:pPr>
              <a:defRPr sz="2250" b="0">
                <a:solidFill>
                  <a:srgbClr val="000000"/>
                </a:solidFill>
                <a:latin typeface="Calibri"/>
                <a:ea typeface="Calibri"/>
                <a:cs typeface="Calibri"/>
              </a:defRPr>
            </a:pPr>
            <a:r>
              <a:rPr sz="2250" b="0">
                <a:solidFill>
                  <a:srgbClr val="000000"/>
                </a:solidFill>
                <a:latin typeface="Calibri"/>
                <a:ea typeface="Calibri"/>
                <a:cs typeface="Calibri"/>
              </a:rPr>
              <a:t>R(mid, tid)</a:t>
            </a:r>
          </a:p>
        </p:txBody>
      </p:sp>
      <p:graphicFrame>
        <p:nvGraphicFramePr>
          <p:cNvPr id="16" name="表格 15"/>
          <p:cNvGraphicFramePr/>
          <p:nvPr/>
        </p:nvGraphicFramePr>
        <p:xfrm>
          <a:off x="904875" y="1466850"/>
          <a:ext cx="3048000" cy="2000250"/>
        </p:xfrm>
        <a:graphic>
          <a:graphicData uri="http://schemas.openxmlformats.org/drawingml/2006/table">
            <a:tbl>
              <a:tblPr/>
              <a:tblGrid>
                <a:gridCol w="1524000">
                  <a:extLst>
                    <a:ext uri="{9D8B030D-6E8A-4147-A177-3AD203B41FA5}">
                      <a16:colId xmlns:a16="http://schemas.microsoft.com/office/drawing/2014/main" val="20000"/>
                    </a:ext>
                  </a:extLst>
                </a:gridCol>
                <a:gridCol w="1524000">
                  <a:extLst>
                    <a:ext uri="{9D8B030D-6E8A-4147-A177-3AD203B41FA5}">
                      <a16:colId xmlns:a16="http://schemas.microsoft.com/office/drawing/2014/main" val="20001"/>
                    </a:ext>
                  </a:extLst>
                </a:gridCol>
              </a:tblGrid>
              <a:tr h="333375">
                <a:tc>
                  <a:txBody>
                    <a:bodyPr/>
                    <a:lstStyle/>
                    <a:p>
                      <a:pPr algn="ctr"/>
                      <a:r>
                        <a:rPr sz="1800">
                          <a:solidFill>
                            <a:srgbClr val="000000"/>
                          </a:solidFill>
                          <a:latin typeface="Calibri"/>
                          <a:ea typeface="Calibri"/>
                          <a:cs typeface="Calibri"/>
                        </a:rPr>
                        <a:t>mid</a:t>
                      </a:r>
                    </a:p>
                  </a:txBody>
                  <a:tcPr marL="47625" marR="47625" marT="28575" marB="28575" anchor="ctr">
                    <a:solidFill>
                      <a:srgbClr val="D9D9D9"/>
                    </a:solidFill>
                  </a:tcPr>
                </a:tc>
                <a:tc>
                  <a:txBody>
                    <a:bodyPr/>
                    <a:lstStyle/>
                    <a:p>
                      <a:pPr algn="ctr"/>
                      <a:r>
                        <a:rPr sz="1800">
                          <a:solidFill>
                            <a:srgbClr val="000000"/>
                          </a:solidFill>
                          <a:latin typeface="Calibri"/>
                          <a:ea typeface="Calibri"/>
                          <a:cs typeface="Calibri"/>
                        </a:rPr>
                        <a:t>tid</a:t>
                      </a:r>
                    </a:p>
                  </a:txBody>
                  <a:tcPr marL="47625" marR="47625" marT="28575" marB="28575" anchor="ctr">
                    <a:solidFill>
                      <a:srgbClr val="D9D9D9"/>
                    </a:solidFill>
                  </a:tcPr>
                </a:tc>
                <a:extLst>
                  <a:ext uri="{0D108BD9-81ED-4DB2-BD59-A6C34878D82A}">
                    <a16:rowId xmlns:a16="http://schemas.microsoft.com/office/drawing/2014/main" val="10000"/>
                  </a:ext>
                </a:extLst>
              </a:tr>
              <a:tr h="333375">
                <a:tc>
                  <a:txBody>
                    <a:bodyPr/>
                    <a:lstStyle/>
                    <a:p>
                      <a:pPr algn="ctr"/>
                      <a:r>
                        <a:rPr sz="1800">
                          <a:solidFill>
                            <a:srgbClr val="000000"/>
                          </a:solidFill>
                          <a:latin typeface="Calibri"/>
                          <a:ea typeface="Calibri"/>
                          <a:cs typeface="Calibri"/>
                        </a:rPr>
                        <a:t>M1</a:t>
                      </a:r>
                    </a:p>
                  </a:txBody>
                  <a:tcPr marL="47625" marR="47625" marT="28575" marB="28575" anchor="ctr">
                    <a:solidFill>
                      <a:srgbClr val="FFFFFF"/>
                    </a:solidFill>
                  </a:tcPr>
                </a:tc>
                <a:tc>
                  <a:txBody>
                    <a:bodyPr/>
                    <a:lstStyle/>
                    <a:p>
                      <a:pPr algn="ctr"/>
                      <a:r>
                        <a:rPr sz="1800">
                          <a:solidFill>
                            <a:srgbClr val="000000"/>
                          </a:solidFill>
                          <a:latin typeface="Calibri"/>
                          <a:ea typeface="Calibri"/>
                          <a:cs typeface="Calibri"/>
                        </a:rPr>
                        <a:t>T1</a:t>
                      </a:r>
                    </a:p>
                  </a:txBody>
                  <a:tcPr marL="47625" marR="47625" marT="28575" marB="28575" anchor="ctr">
                    <a:solidFill>
                      <a:srgbClr val="FFFFFF"/>
                    </a:solidFill>
                  </a:tcPr>
                </a:tc>
                <a:extLst>
                  <a:ext uri="{0D108BD9-81ED-4DB2-BD59-A6C34878D82A}">
                    <a16:rowId xmlns:a16="http://schemas.microsoft.com/office/drawing/2014/main" val="10001"/>
                  </a:ext>
                </a:extLst>
              </a:tr>
              <a:tr h="333375">
                <a:tc>
                  <a:txBody>
                    <a:bodyPr/>
                    <a:lstStyle/>
                    <a:p>
                      <a:pPr algn="ctr"/>
                      <a:r>
                        <a:rPr sz="1800">
                          <a:solidFill>
                            <a:srgbClr val="000000"/>
                          </a:solidFill>
                          <a:latin typeface="Calibri"/>
                          <a:ea typeface="Calibri"/>
                          <a:cs typeface="Calibri"/>
                        </a:rPr>
                        <a:t>M2</a:t>
                      </a:r>
                    </a:p>
                  </a:txBody>
                  <a:tcPr marL="47625" marR="47625" marT="28575" marB="28575" anchor="ctr">
                    <a:solidFill>
                      <a:srgbClr val="FFFFFF"/>
                    </a:solidFill>
                  </a:tcPr>
                </a:tc>
                <a:tc>
                  <a:txBody>
                    <a:bodyPr/>
                    <a:lstStyle/>
                    <a:p>
                      <a:pPr algn="ctr"/>
                      <a:r>
                        <a:rPr sz="1800">
                          <a:solidFill>
                            <a:srgbClr val="000000"/>
                          </a:solidFill>
                          <a:latin typeface="Calibri"/>
                          <a:ea typeface="Calibri"/>
                          <a:cs typeface="Calibri"/>
                        </a:rPr>
                        <a:t>T1</a:t>
                      </a:r>
                    </a:p>
                  </a:txBody>
                  <a:tcPr marL="47625" marR="47625" marT="28575" marB="28575" anchor="ctr">
                    <a:solidFill>
                      <a:srgbClr val="FFFFFF"/>
                    </a:solidFill>
                  </a:tcPr>
                </a:tc>
                <a:extLst>
                  <a:ext uri="{0D108BD9-81ED-4DB2-BD59-A6C34878D82A}">
                    <a16:rowId xmlns:a16="http://schemas.microsoft.com/office/drawing/2014/main" val="10002"/>
                  </a:ext>
                </a:extLst>
              </a:tr>
              <a:tr h="333375">
                <a:tc>
                  <a:txBody>
                    <a:bodyPr/>
                    <a:lstStyle/>
                    <a:p>
                      <a:pPr algn="ctr"/>
                      <a:r>
                        <a:rPr sz="1800">
                          <a:solidFill>
                            <a:srgbClr val="000000"/>
                          </a:solidFill>
                          <a:latin typeface="Calibri"/>
                          <a:ea typeface="Calibri"/>
                          <a:cs typeface="Calibri"/>
                        </a:rPr>
                        <a:t>M2</a:t>
                      </a:r>
                    </a:p>
                  </a:txBody>
                  <a:tcPr marL="47625" marR="47625" marT="28575" marB="28575" anchor="ctr">
                    <a:solidFill>
                      <a:srgbClr val="FFFFFF"/>
                    </a:solidFill>
                  </a:tcPr>
                </a:tc>
                <a:tc>
                  <a:txBody>
                    <a:bodyPr/>
                    <a:lstStyle/>
                    <a:p>
                      <a:pPr algn="ctr"/>
                      <a:r>
                        <a:rPr sz="1800">
                          <a:solidFill>
                            <a:srgbClr val="000000"/>
                          </a:solidFill>
                          <a:latin typeface="Calibri"/>
                          <a:ea typeface="Calibri"/>
                          <a:cs typeface="Calibri"/>
                        </a:rPr>
                        <a:t>T2</a:t>
                      </a:r>
                    </a:p>
                  </a:txBody>
                  <a:tcPr marL="47625" marR="47625" marT="28575" marB="28575" anchor="ctr">
                    <a:solidFill>
                      <a:srgbClr val="FFFFFF"/>
                    </a:solidFill>
                  </a:tcPr>
                </a:tc>
                <a:extLst>
                  <a:ext uri="{0D108BD9-81ED-4DB2-BD59-A6C34878D82A}">
                    <a16:rowId xmlns:a16="http://schemas.microsoft.com/office/drawing/2014/main" val="10003"/>
                  </a:ext>
                </a:extLst>
              </a:tr>
              <a:tr h="333375">
                <a:tc>
                  <a:txBody>
                    <a:bodyPr/>
                    <a:lstStyle/>
                    <a:p>
                      <a:pPr algn="ctr"/>
                      <a:r>
                        <a:rPr sz="1800">
                          <a:solidFill>
                            <a:srgbClr val="000000"/>
                          </a:solidFill>
                          <a:latin typeface="Calibri"/>
                          <a:ea typeface="Calibri"/>
                          <a:cs typeface="Calibri"/>
                        </a:rPr>
                        <a:t>M2</a:t>
                      </a:r>
                    </a:p>
                  </a:txBody>
                  <a:tcPr marL="47625" marR="47625" marT="28575" marB="28575" anchor="ctr">
                    <a:solidFill>
                      <a:srgbClr val="FFFFFF"/>
                    </a:solidFill>
                  </a:tcPr>
                </a:tc>
                <a:tc>
                  <a:txBody>
                    <a:bodyPr/>
                    <a:lstStyle/>
                    <a:p>
                      <a:pPr algn="ctr"/>
                      <a:r>
                        <a:rPr sz="1800">
                          <a:solidFill>
                            <a:srgbClr val="000000"/>
                          </a:solidFill>
                          <a:latin typeface="Calibri"/>
                          <a:ea typeface="Calibri"/>
                          <a:cs typeface="Calibri"/>
                        </a:rPr>
                        <a:t>T3</a:t>
                      </a:r>
                    </a:p>
                  </a:txBody>
                  <a:tcPr marL="47625" marR="47625" marT="28575" marB="28575" anchor="ctr">
                    <a:solidFill>
                      <a:srgbClr val="FFFFFF"/>
                    </a:solidFill>
                  </a:tcPr>
                </a:tc>
                <a:extLst>
                  <a:ext uri="{0D108BD9-81ED-4DB2-BD59-A6C34878D82A}">
                    <a16:rowId xmlns:a16="http://schemas.microsoft.com/office/drawing/2014/main" val="10004"/>
                  </a:ext>
                </a:extLst>
              </a:tr>
              <a:tr h="333375">
                <a:tc>
                  <a:txBody>
                    <a:bodyPr/>
                    <a:lstStyle/>
                    <a:p>
                      <a:pPr algn="ctr"/>
                      <a:r>
                        <a:rPr sz="1800">
                          <a:solidFill>
                            <a:srgbClr val="000000"/>
                          </a:solidFill>
                          <a:latin typeface="Calibri"/>
                          <a:ea typeface="Calibri"/>
                          <a:cs typeface="Calibri"/>
                        </a:rPr>
                        <a:t>M3</a:t>
                      </a:r>
                    </a:p>
                  </a:txBody>
                  <a:tcPr marL="47625" marR="47625" marT="28575" marB="28575" anchor="ctr">
                    <a:solidFill>
                      <a:srgbClr val="FFFFFF"/>
                    </a:solidFill>
                  </a:tcPr>
                </a:tc>
                <a:tc>
                  <a:txBody>
                    <a:bodyPr/>
                    <a:lstStyle/>
                    <a:p>
                      <a:pPr algn="ctr"/>
                      <a:r>
                        <a:rPr sz="1800">
                          <a:solidFill>
                            <a:srgbClr val="000000"/>
                          </a:solidFill>
                          <a:latin typeface="Calibri"/>
                          <a:ea typeface="Calibri"/>
                          <a:cs typeface="Calibri"/>
                        </a:rPr>
                        <a:t>T2</a:t>
                      </a:r>
                    </a:p>
                  </a:txBody>
                  <a:tcPr marL="47625" marR="47625" marT="28575" marB="28575" anchor="ctr">
                    <a:solidFill>
                      <a:srgbClr val="FFFFFF"/>
                    </a:solidFill>
                  </a:tcPr>
                </a:tc>
                <a:extLst>
                  <a:ext uri="{0D108BD9-81ED-4DB2-BD59-A6C34878D82A}">
                    <a16:rowId xmlns:a16="http://schemas.microsoft.com/office/drawing/2014/main" val="10005"/>
                  </a:ext>
                </a:extLst>
              </a:tr>
            </a:tbl>
          </a:graphicData>
        </a:graphic>
      </p:graphicFrame>
      <p:sp>
        <p:nvSpPr>
          <p:cNvPr id="6" name="body">
            <a:extLst>
              <a:ext uri="{FF2B5EF4-FFF2-40B4-BE49-F238E27FC236}">
                <a16:creationId xmlns:a16="http://schemas.microsoft.com/office/drawing/2014/main" id="{8F7F9D7C-2DAB-4AB8-9518-72FE49E90EA3}"/>
              </a:ext>
            </a:extLst>
          </p:cNvPr>
          <p:cNvSpPr>
            <a:spLocks noGrp="1"/>
          </p:cNvSpPr>
          <p:nvPr/>
        </p:nvSpPr>
        <p:spPr>
          <a:xfrm>
            <a:off x="4829175" y="1047750"/>
            <a:ext cx="3143250" cy="361950"/>
          </a:xfrm>
          <a:prstGeom prst="rect">
            <a:avLst/>
          </a:prstGeom>
          <a:noFill/>
          <a:ln w="0">
            <a:noFill/>
          </a:ln>
        </p:spPr>
        <p:txBody>
          <a:bodyPr wrap="square" lIns="0" tIns="0" rIns="0" bIns="0">
            <a:noAutofit/>
          </a:bodyPr>
          <a:lstStyle/>
          <a:p>
            <a:pPr>
              <a:defRPr sz="2250" b="0">
                <a:solidFill>
                  <a:srgbClr val="000000"/>
                </a:solidFill>
                <a:latin typeface="Calibri"/>
                <a:ea typeface="Calibri"/>
                <a:cs typeface="Calibri"/>
              </a:defRPr>
            </a:pPr>
            <a:r>
              <a:rPr sz="2250" b="0">
                <a:solidFill>
                  <a:srgbClr val="000000"/>
                </a:solidFill>
                <a:latin typeface="Calibri"/>
                <a:ea typeface="Calibri"/>
                <a:cs typeface="Calibri"/>
              </a:rPr>
              <a:t>Tool</a:t>
            </a:r>
          </a:p>
        </p:txBody>
      </p:sp>
      <p:graphicFrame>
        <p:nvGraphicFramePr>
          <p:cNvPr id="18" name="表格 17"/>
          <p:cNvGraphicFramePr/>
          <p:nvPr/>
        </p:nvGraphicFramePr>
        <p:xfrm>
          <a:off x="4905375" y="1466850"/>
          <a:ext cx="3143250" cy="1524000"/>
        </p:xfrm>
        <a:graphic>
          <a:graphicData uri="http://schemas.openxmlformats.org/drawingml/2006/table">
            <a:tbl>
              <a:tblPr/>
              <a:tblGrid>
                <a:gridCol w="1571625">
                  <a:extLst>
                    <a:ext uri="{9D8B030D-6E8A-4147-A177-3AD203B41FA5}">
                      <a16:colId xmlns:a16="http://schemas.microsoft.com/office/drawing/2014/main" val="20000"/>
                    </a:ext>
                  </a:extLst>
                </a:gridCol>
                <a:gridCol w="1571625">
                  <a:extLst>
                    <a:ext uri="{9D8B030D-6E8A-4147-A177-3AD203B41FA5}">
                      <a16:colId xmlns:a16="http://schemas.microsoft.com/office/drawing/2014/main" val="20001"/>
                    </a:ext>
                  </a:extLst>
                </a:gridCol>
              </a:tblGrid>
              <a:tr h="381000">
                <a:tc>
                  <a:txBody>
                    <a:bodyPr/>
                    <a:lstStyle/>
                    <a:p>
                      <a:pPr algn="ctr"/>
                      <a:r>
                        <a:rPr sz="1875">
                          <a:solidFill>
                            <a:srgbClr val="000000"/>
                          </a:solidFill>
                          <a:latin typeface="Calibri"/>
                          <a:ea typeface="Calibri"/>
                          <a:cs typeface="Calibri"/>
                        </a:rPr>
                        <a:t>tid</a:t>
                      </a:r>
                    </a:p>
                  </a:txBody>
                  <a:tcPr marL="47625" marR="47625" marT="28575" marB="28575" anchor="ctr">
                    <a:solidFill>
                      <a:srgbClr val="D9D9D9"/>
                    </a:solidFill>
                  </a:tcPr>
                </a:tc>
                <a:tc>
                  <a:txBody>
                    <a:bodyPr/>
                    <a:lstStyle/>
                    <a:p>
                      <a:pPr algn="ctr"/>
                      <a:r>
                        <a:rPr sz="1875">
                          <a:solidFill>
                            <a:srgbClr val="000000"/>
                          </a:solidFill>
                          <a:latin typeface="Calibri"/>
                          <a:ea typeface="Calibri"/>
                          <a:cs typeface="Calibri"/>
                        </a:rPr>
                        <a:t>category</a:t>
                      </a:r>
                    </a:p>
                  </a:txBody>
                  <a:tcPr marL="47625" marR="47625" marT="28575" marB="28575" anchor="ctr">
                    <a:solidFill>
                      <a:srgbClr val="D9D9D9"/>
                    </a:solidFill>
                  </a:tcPr>
                </a:tc>
                <a:extLst>
                  <a:ext uri="{0D108BD9-81ED-4DB2-BD59-A6C34878D82A}">
                    <a16:rowId xmlns:a16="http://schemas.microsoft.com/office/drawing/2014/main" val="10000"/>
                  </a:ext>
                </a:extLst>
              </a:tr>
              <a:tr h="381000">
                <a:tc>
                  <a:txBody>
                    <a:bodyPr/>
                    <a:lstStyle/>
                    <a:p>
                      <a:pPr algn="ctr"/>
                      <a:r>
                        <a:rPr sz="1875">
                          <a:solidFill>
                            <a:srgbClr val="000000"/>
                          </a:solidFill>
                          <a:latin typeface="Calibri"/>
                          <a:ea typeface="Calibri"/>
                          <a:cs typeface="Calibri"/>
                        </a:rPr>
                        <a:t>T1</a:t>
                      </a:r>
                    </a:p>
                  </a:txBody>
                  <a:tcPr marL="47625" marR="47625" marT="28575" marB="28575" anchor="ctr">
                    <a:solidFill>
                      <a:srgbClr val="FFFFFF"/>
                    </a:solidFill>
                  </a:tcPr>
                </a:tc>
                <a:tc>
                  <a:txBody>
                    <a:bodyPr/>
                    <a:lstStyle/>
                    <a:p>
                      <a:pPr algn="ctr"/>
                      <a:r>
                        <a:rPr sz="1875">
                          <a:solidFill>
                            <a:srgbClr val="000000"/>
                          </a:solidFill>
                          <a:latin typeface="Calibri"/>
                          <a:ea typeface="Calibri"/>
                          <a:cs typeface="Calibri"/>
                        </a:rPr>
                        <a:t>Laser</a:t>
                      </a:r>
                    </a:p>
                  </a:txBody>
                  <a:tcPr marL="47625" marR="47625" marT="28575" marB="28575" anchor="ctr">
                    <a:solidFill>
                      <a:srgbClr val="FFFFFF"/>
                    </a:solidFill>
                  </a:tcPr>
                </a:tc>
                <a:extLst>
                  <a:ext uri="{0D108BD9-81ED-4DB2-BD59-A6C34878D82A}">
                    <a16:rowId xmlns:a16="http://schemas.microsoft.com/office/drawing/2014/main" val="10001"/>
                  </a:ext>
                </a:extLst>
              </a:tr>
              <a:tr h="381000">
                <a:tc>
                  <a:txBody>
                    <a:bodyPr/>
                    <a:lstStyle/>
                    <a:p>
                      <a:pPr algn="ctr"/>
                      <a:r>
                        <a:rPr sz="1875">
                          <a:solidFill>
                            <a:srgbClr val="000000"/>
                          </a:solidFill>
                          <a:latin typeface="Calibri"/>
                          <a:ea typeface="Calibri"/>
                          <a:cs typeface="Calibri"/>
                        </a:rPr>
                        <a:t>T2</a:t>
                      </a:r>
                    </a:p>
                  </a:txBody>
                  <a:tcPr marL="47625" marR="47625" marT="28575" marB="28575" anchor="ctr">
                    <a:solidFill>
                      <a:srgbClr val="FFFFFF"/>
                    </a:solidFill>
                  </a:tcPr>
                </a:tc>
                <a:tc>
                  <a:txBody>
                    <a:bodyPr/>
                    <a:lstStyle/>
                    <a:p>
                      <a:pPr algn="ctr"/>
                      <a:r>
                        <a:rPr sz="1875">
                          <a:solidFill>
                            <a:srgbClr val="000000"/>
                          </a:solidFill>
                          <a:latin typeface="Calibri"/>
                          <a:ea typeface="Calibri"/>
                          <a:cs typeface="Calibri"/>
                        </a:rPr>
                        <a:t>Laser</a:t>
                      </a:r>
                    </a:p>
                  </a:txBody>
                  <a:tcPr marL="47625" marR="47625" marT="28575" marB="28575" anchor="ctr">
                    <a:solidFill>
                      <a:srgbClr val="FFFFFF"/>
                    </a:solidFill>
                  </a:tcPr>
                </a:tc>
                <a:extLst>
                  <a:ext uri="{0D108BD9-81ED-4DB2-BD59-A6C34878D82A}">
                    <a16:rowId xmlns:a16="http://schemas.microsoft.com/office/drawing/2014/main" val="10002"/>
                  </a:ext>
                </a:extLst>
              </a:tr>
              <a:tr h="381000">
                <a:tc>
                  <a:txBody>
                    <a:bodyPr/>
                    <a:lstStyle/>
                    <a:p>
                      <a:pPr algn="ctr"/>
                      <a:r>
                        <a:rPr sz="1875">
                          <a:solidFill>
                            <a:srgbClr val="000000"/>
                          </a:solidFill>
                          <a:latin typeface="Calibri"/>
                          <a:ea typeface="Calibri"/>
                          <a:cs typeface="Calibri"/>
                        </a:rPr>
                        <a:t>T3</a:t>
                      </a:r>
                    </a:p>
                  </a:txBody>
                  <a:tcPr marL="47625" marR="47625" marT="28575" marB="28575" anchor="ctr">
                    <a:solidFill>
                      <a:srgbClr val="FFFFFF"/>
                    </a:solidFill>
                  </a:tcPr>
                </a:tc>
                <a:tc>
                  <a:txBody>
                    <a:bodyPr/>
                    <a:lstStyle/>
                    <a:p>
                      <a:pPr algn="ctr"/>
                      <a:r>
                        <a:rPr sz="1875">
                          <a:solidFill>
                            <a:srgbClr val="000000"/>
                          </a:solidFill>
                          <a:latin typeface="Calibri"/>
                          <a:ea typeface="Calibri"/>
                          <a:cs typeface="Calibri"/>
                        </a:rPr>
                        <a:t>CNC</a:t>
                      </a:r>
                    </a:p>
                  </a:txBody>
                  <a:tcPr marL="47625" marR="47625" marT="28575" marB="28575" anchor="ctr">
                    <a:solidFill>
                      <a:srgbClr val="FFFFFF"/>
                    </a:solidFill>
                  </a:tcPr>
                </a:tc>
                <a:extLst>
                  <a:ext uri="{0D108BD9-81ED-4DB2-BD59-A6C34878D82A}">
                    <a16:rowId xmlns:a16="http://schemas.microsoft.com/office/drawing/2014/main" val="10003"/>
                  </a:ext>
                </a:extLst>
              </a:tr>
            </a:tbl>
          </a:graphicData>
        </a:graphic>
      </p:graphicFrame>
      <p:sp>
        <p:nvSpPr>
          <p:cNvPr id="8" name="body">
            <a:extLst>
              <a:ext uri="{FF2B5EF4-FFF2-40B4-BE49-F238E27FC236}">
                <a16:creationId xmlns:a16="http://schemas.microsoft.com/office/drawing/2014/main" id="{A3D29CEF-9415-413C-97C9-33F8817041DD}"/>
              </a:ext>
            </a:extLst>
          </p:cNvPr>
          <p:cNvSpPr>
            <a:spLocks noGrp="1"/>
          </p:cNvSpPr>
          <p:nvPr/>
        </p:nvSpPr>
        <p:spPr>
          <a:xfrm>
            <a:off x="4905375" y="3028950"/>
            <a:ext cx="3143250" cy="285750"/>
          </a:xfrm>
          <a:prstGeom prst="rect">
            <a:avLst/>
          </a:prstGeom>
          <a:noFill/>
          <a:ln w="0">
            <a:noFill/>
          </a:ln>
        </p:spPr>
        <p:txBody>
          <a:bodyPr wrap="square" lIns="0" tIns="0" rIns="0" bIns="0">
            <a:noAutofit/>
          </a:bodyPr>
          <a:lstStyle/>
          <a:p>
            <a:pPr>
              <a:defRPr sz="1725" b="0">
                <a:solidFill>
                  <a:srgbClr val="000000"/>
                </a:solidFill>
                <a:latin typeface="Calibri"/>
                <a:ea typeface="Calibri"/>
                <a:cs typeface="Calibri"/>
              </a:defRPr>
            </a:pPr>
            <a:r>
              <a:rPr sz="1725" b="0">
                <a:solidFill>
                  <a:srgbClr val="000000"/>
                </a:solidFill>
                <a:latin typeface="Calibri"/>
                <a:ea typeface="Calibri"/>
                <a:cs typeface="Calibri"/>
              </a:rPr>
              <a:t>Member</a:t>
            </a:r>
          </a:p>
        </p:txBody>
      </p:sp>
      <p:sp>
        <p:nvSpPr>
          <p:cNvPr id="9" name="body">
            <a:extLst>
              <a:ext uri="{FF2B5EF4-FFF2-40B4-BE49-F238E27FC236}">
                <a16:creationId xmlns:a16="http://schemas.microsoft.com/office/drawing/2014/main" id="{C38BC612-2B3D-43FD-9559-7BA3850D0B67}"/>
              </a:ext>
            </a:extLst>
          </p:cNvPr>
          <p:cNvSpPr>
            <a:spLocks noGrp="1"/>
          </p:cNvSpPr>
          <p:nvPr/>
        </p:nvSpPr>
        <p:spPr>
          <a:xfrm>
            <a:off x="4905375" y="3276600"/>
            <a:ext cx="3238500" cy="552450"/>
          </a:xfrm>
          <a:prstGeom prst="rect">
            <a:avLst/>
          </a:prstGeom>
          <a:noFill/>
          <a:ln w="0">
            <a:noFill/>
          </a:ln>
        </p:spPr>
        <p:txBody>
          <a:bodyPr wrap="square" lIns="0" tIns="0" rIns="0" bIns="0">
            <a:noAutofit/>
          </a:bodyPr>
          <a:lstStyle/>
          <a:p>
            <a:pPr>
              <a:defRPr sz="1650" b="0">
                <a:solidFill>
                  <a:srgbClr val="000000"/>
                </a:solidFill>
                <a:latin typeface="Calibri"/>
                <a:ea typeface="Calibri"/>
                <a:cs typeface="Calibri"/>
              </a:defRPr>
            </a:pPr>
            <a:r>
              <a:rPr sz="1650" b="0">
                <a:solidFill>
                  <a:srgbClr val="000000"/>
                </a:solidFill>
                <a:latin typeface="Calibri"/>
                <a:ea typeface="Calibri"/>
                <a:cs typeface="Calibri"/>
              </a:rPr>
              <a:t>M1 Alex     M2 Mei</a:t>
            </a:r>
          </a:p>
          <a:p>
            <a:pPr>
              <a:defRPr sz="1650" b="0">
                <a:solidFill>
                  <a:srgbClr val="000000"/>
                </a:solidFill>
                <a:latin typeface="Calibri"/>
                <a:ea typeface="Calibri"/>
                <a:cs typeface="Calibri"/>
              </a:defRPr>
            </a:pPr>
            <a:r>
              <a:rPr sz="1650" b="0">
                <a:solidFill>
                  <a:srgbClr val="000000"/>
                </a:solidFill>
                <a:latin typeface="Calibri"/>
                <a:ea typeface="Calibri"/>
                <a:cs typeface="Calibri"/>
              </a:rPr>
              <a:t>M3 Alex     M4 Noor</a:t>
            </a:r>
          </a:p>
        </p:txBody>
      </p:sp>
      <p:sp>
        <p:nvSpPr>
          <p:cNvPr id="10" name="body">
            <a:extLst>
              <a:ext uri="{FF2B5EF4-FFF2-40B4-BE49-F238E27FC236}">
                <a16:creationId xmlns:a16="http://schemas.microsoft.com/office/drawing/2014/main" id="{A2C78231-0D13-488E-9720-3E33ADEDB4FD}"/>
              </a:ext>
            </a:extLst>
          </p:cNvPr>
          <p:cNvSpPr>
            <a:spLocks noGrp="1"/>
          </p:cNvSpPr>
          <p:nvPr/>
        </p:nvSpPr>
        <p:spPr>
          <a:xfrm>
            <a:off x="781050" y="3876675"/>
            <a:ext cx="7600950" cy="1238250"/>
          </a:xfrm>
          <a:prstGeom prst="rect">
            <a:avLst/>
          </a:prstGeom>
          <a:noFill/>
          <a:ln w="0">
            <a:noFill/>
          </a:ln>
        </p:spPr>
        <p:txBody>
          <a:bodyPr wrap="square" lIns="0" tIns="0" rIns="0" bIns="0">
            <a:noAutofit/>
          </a:bodyPr>
          <a:lstStyle/>
          <a:p>
            <a:pPr>
              <a:defRPr sz="2175" b="0">
                <a:solidFill>
                  <a:srgbClr val="FF0000"/>
                </a:solidFill>
                <a:latin typeface="Calibri"/>
                <a:ea typeface="Calibri"/>
                <a:cs typeface="Calibri"/>
              </a:defRPr>
            </a:pPr>
            <a:r>
              <a:rPr sz="2175" b="0">
                <a:solidFill>
                  <a:srgbClr val="FF0000"/>
                </a:solidFill>
                <a:latin typeface="Calibri"/>
                <a:ea typeface="Calibri"/>
                <a:cs typeface="Calibri"/>
              </a:rPr>
              <a:t>Compare: (a) any Laser tool, (b) every Laser tool, (c) at least one tool and only Laser tools.</a:t>
            </a:r>
          </a:p>
        </p:txBody>
      </p:sp>
      <p:sp>
        <p:nvSpPr>
          <p:cNvPr id="11" name="body">
            <a:extLst>
              <a:ext uri="{FF2B5EF4-FFF2-40B4-BE49-F238E27FC236}">
                <a16:creationId xmlns:a16="http://schemas.microsoft.com/office/drawing/2014/main" id="{6FFF4EF9-4E50-45AB-BB2C-FE93E3D0361B}"/>
              </a:ext>
            </a:extLst>
          </p:cNvPr>
          <p:cNvSpPr>
            <a:spLocks noGrp="1"/>
          </p:cNvSpPr>
          <p:nvPr/>
        </p:nvSpPr>
        <p:spPr>
          <a:xfrm>
            <a:off x="781050" y="5257800"/>
            <a:ext cx="7600950" cy="495300"/>
          </a:xfrm>
          <a:prstGeom prst="rect">
            <a:avLst/>
          </a:prstGeom>
          <a:noFill/>
          <a:ln w="0">
            <a:noFill/>
          </a:ln>
        </p:spPr>
        <p:txBody>
          <a:bodyPr wrap="square" lIns="0" tIns="0" rIns="0" bIns="0">
            <a:noAutofit/>
          </a:bodyPr>
          <a:lstStyle/>
          <a:p>
            <a:pPr>
              <a:defRPr sz="1950" b="0">
                <a:solidFill>
                  <a:srgbClr val="000000"/>
                </a:solidFill>
                <a:latin typeface="Calibri"/>
                <a:ea typeface="Calibri"/>
                <a:cs typeface="Calibri"/>
              </a:defRPr>
            </a:pPr>
            <a:r>
              <a:rPr sz="1950" b="0">
                <a:solidFill>
                  <a:srgbClr val="000000"/>
                </a:solidFill>
                <a:latin typeface="Calibri"/>
                <a:ea typeface="Calibri"/>
                <a:cs typeface="Calibri"/>
              </a:rPr>
              <a:t>Return (mid, mname) for each. Can the answers differ?</a:t>
            </a:r>
          </a:p>
        </p:txBody>
      </p:sp>
      <p:sp>
        <p:nvSpPr>
          <p:cNvPr id="9001" name="Title 1">
            <a:extLst>
              <a:ext uri="{FF2B5EF4-FFF2-40B4-BE49-F238E27FC236}">
                <a16:creationId xmlns:a16="http://schemas.microsoft.com/office/drawing/2014/main" id="{4EF27E5C-9C4D-BDBE-7667-D0B141BCC8F5}"/>
              </a:ext>
            </a:extLst>
          </p:cNvPr>
          <p:cNvSpPr>
            <a:spLocks noGrp="1"/>
          </p:cNvSpPr>
          <p:nvPr>
            <p:ph type="title"/>
          </p:nvPr>
        </p:nvSpPr>
        <p:spPr/>
        <p:txBody>
          <a:bodyPr/>
          <a:lstStyle/>
          <a:p>
            <a:r>
              <a:rPr lang="en-US">
                <a:solidFill>
                  <a:srgbClr val="FF0000"/>
                </a:solidFill>
              </a:rPr>
              <a:t>Practice: </a:t>
            </a:r>
            <a:r>
              <a:rPr lang="en-US">
                <a:solidFill>
                  <a:srgbClr val="3333CC"/>
                </a:solidFill>
              </a:rPr>
              <a:t>Q27</a:t>
            </a:r>
          </a:p>
        </p:txBody>
      </p:sp>
      <p:sp>
        <p:nvSpPr>
          <p:cNvPr id="9002" name="Slide Number Placeholder 1">
            <a:extLst>
              <a:ext uri="{FF2B5EF4-FFF2-40B4-BE49-F238E27FC236}">
                <a16:creationId xmlns:a16="http://schemas.microsoft.com/office/drawing/2014/main" id="{B90139AC-3BDA-723A-097A-000DA0A784C1}"/>
              </a:ext>
            </a:extLst>
          </p:cNvPr>
          <p:cNvSpPr>
            <a:spLocks noGrp="1"/>
          </p:cNvSpPr>
          <p:nvPr>
            <p:ph type="sldNum" sz="quarter" idx="12"/>
          </p:nvPr>
        </p:nvSpPr>
        <p:spPr/>
        <p:txBody>
          <a:bodyPr/>
          <a:lstStyle/>
          <a:p>
            <a:pPr>
              <a:defRPr/>
            </a:pPr>
            <a:fld id="{43CA101F-9E5F-9249-9862-3CE55B3BB777}" type="slidenum">
              <a:rPr lang="en-US" altLang="zh-TW" smtClean="0"/>
              <a:pPr>
                <a:defRPr/>
              </a:pPr>
              <a:t>70</a:t>
            </a:fld>
            <a:endParaRPr lang="en-US" altLang="zh-TW"/>
          </a:p>
        </p:txBody>
      </p:sp>
    </p:spTree>
    <p:extLst>
      <p:ext uri="{BB962C8B-B14F-4D97-AF65-F5344CB8AC3E}">
        <p14:creationId xmlns:p14="http://schemas.microsoft.com/office/powerpoint/2010/main" val="1867754777"/>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formula">
            <a:extLst>
              <a:ext uri="{FF2B5EF4-FFF2-40B4-BE49-F238E27FC236}">
                <a16:creationId xmlns:a16="http://schemas.microsoft.com/office/drawing/2014/main" id="{A40C567F-08C0-4A05-B695-3FDCB6042C95}"/>
              </a:ext>
            </a:extLst>
          </p:cNvPr>
          <p:cNvSpPr>
            <a:spLocks noGrp="1"/>
          </p:cNvSpPr>
          <p:nvPr/>
        </p:nvSpPr>
        <p:spPr>
          <a:xfrm>
            <a:off x="781050" y="1038225"/>
            <a:ext cx="7600950" cy="523875"/>
          </a:xfrm>
          <a:prstGeom prst="rect">
            <a:avLst/>
          </a:prstGeom>
          <a:noFill/>
          <a:ln w="0">
            <a:noFill/>
          </a:ln>
        </p:spPr>
        <p:txBody>
          <a:bodyPr wrap="square" lIns="0" tIns="0" rIns="0" bIns="0">
            <a:noAutofit/>
          </a:bodyPr>
          <a:lstStyle/>
          <a:p>
            <a:pPr>
              <a:defRPr sz="2175" b="0">
                <a:solidFill>
                  <a:srgbClr val="000000"/>
                </a:solidFill>
                <a:latin typeface="Cambria Math"/>
                <a:ea typeface="Cambria Math"/>
                <a:cs typeface="Cambria Math"/>
              </a:defRPr>
            </a:pPr>
            <a:r>
              <a:rPr sz="2175" b="0">
                <a:solidFill>
                  <a:srgbClr val="000000"/>
                </a:solidFill>
                <a:latin typeface="Cambria Math"/>
                <a:ea typeface="Cambria Math"/>
                <a:cs typeface="Cambria Math"/>
              </a:rPr>
              <a:t>R ← π</a:t>
            </a:r>
            <a:r>
              <a:rPr sz="1544" b="0" baseline="-25000">
                <a:solidFill>
                  <a:srgbClr val="000000"/>
                </a:solidFill>
                <a:latin typeface="Cambria Math"/>
                <a:ea typeface="Cambria Math"/>
                <a:cs typeface="Cambria Math"/>
              </a:rPr>
              <a:t>mid,tid</a:t>
            </a:r>
            <a:r>
              <a:rPr sz="2175" b="0">
                <a:solidFill>
                  <a:srgbClr val="000000"/>
                </a:solidFill>
                <a:latin typeface="Cambria Math"/>
                <a:ea typeface="Cambria Math"/>
                <a:cs typeface="Cambria Math"/>
              </a:rPr>
              <a:t>(Trained)</a:t>
            </a:r>
          </a:p>
        </p:txBody>
      </p:sp>
      <p:sp>
        <p:nvSpPr>
          <p:cNvPr id="4" name="formula">
            <a:extLst>
              <a:ext uri="{FF2B5EF4-FFF2-40B4-BE49-F238E27FC236}">
                <a16:creationId xmlns:a16="http://schemas.microsoft.com/office/drawing/2014/main" id="{A806FD63-4498-4DAD-92F8-C9ECF128A1C2}"/>
              </a:ext>
            </a:extLst>
          </p:cNvPr>
          <p:cNvSpPr>
            <a:spLocks noGrp="1"/>
          </p:cNvSpPr>
          <p:nvPr/>
        </p:nvSpPr>
        <p:spPr>
          <a:xfrm>
            <a:off x="781050" y="1666875"/>
            <a:ext cx="7620000" cy="523875"/>
          </a:xfrm>
          <a:prstGeom prst="rect">
            <a:avLst/>
          </a:prstGeom>
          <a:noFill/>
          <a:ln w="0">
            <a:noFill/>
          </a:ln>
        </p:spPr>
        <p:txBody>
          <a:bodyPr wrap="square" lIns="0" tIns="0" rIns="0" bIns="0">
            <a:noAutofit/>
          </a:bodyPr>
          <a:lstStyle/>
          <a:p>
            <a:pPr>
              <a:defRPr sz="2100" b="0">
                <a:solidFill>
                  <a:srgbClr val="000000"/>
                </a:solidFill>
                <a:latin typeface="Cambria Math"/>
                <a:ea typeface="Cambria Math"/>
                <a:cs typeface="Cambria Math"/>
              </a:defRPr>
            </a:pPr>
            <a:r>
              <a:rPr sz="2100" b="0">
                <a:solidFill>
                  <a:srgbClr val="000000"/>
                </a:solidFill>
                <a:latin typeface="Cambria Math"/>
                <a:ea typeface="Cambria Math"/>
                <a:cs typeface="Cambria Math"/>
              </a:rPr>
              <a:t>Laser ← π</a:t>
            </a:r>
            <a:r>
              <a:rPr sz="1491" b="0" baseline="-25000">
                <a:solidFill>
                  <a:srgbClr val="000000"/>
                </a:solidFill>
                <a:latin typeface="Cambria Math"/>
                <a:ea typeface="Cambria Math"/>
                <a:cs typeface="Cambria Math"/>
              </a:rPr>
              <a:t>tid</a:t>
            </a:r>
            <a:r>
              <a:rPr sz="2100" b="0">
                <a:solidFill>
                  <a:srgbClr val="000000"/>
                </a:solidFill>
                <a:latin typeface="Cambria Math"/>
                <a:ea typeface="Cambria Math"/>
                <a:cs typeface="Cambria Math"/>
              </a:rPr>
              <a:t>(σ</a:t>
            </a:r>
            <a:r>
              <a:rPr sz="1491" b="0" baseline="-25000">
                <a:solidFill>
                  <a:srgbClr val="000000"/>
                </a:solidFill>
                <a:latin typeface="Cambria Math"/>
                <a:ea typeface="Cambria Math"/>
                <a:cs typeface="Cambria Math"/>
              </a:rPr>
              <a:t>category='Laser'</a:t>
            </a:r>
            <a:r>
              <a:rPr sz="2100" b="0">
                <a:solidFill>
                  <a:srgbClr val="000000"/>
                </a:solidFill>
                <a:latin typeface="Cambria Math"/>
                <a:ea typeface="Cambria Math"/>
                <a:cs typeface="Cambria Math"/>
              </a:rPr>
              <a:t>(Tool))</a:t>
            </a:r>
          </a:p>
        </p:txBody>
      </p:sp>
      <p:sp>
        <p:nvSpPr>
          <p:cNvPr id="5" name="body">
            <a:extLst>
              <a:ext uri="{FF2B5EF4-FFF2-40B4-BE49-F238E27FC236}">
                <a16:creationId xmlns:a16="http://schemas.microsoft.com/office/drawing/2014/main" id="{8755C020-9D62-4C3F-9C71-93DC64AD5E67}"/>
              </a:ext>
            </a:extLst>
          </p:cNvPr>
          <p:cNvSpPr>
            <a:spLocks noGrp="1"/>
          </p:cNvSpPr>
          <p:nvPr/>
        </p:nvSpPr>
        <p:spPr>
          <a:xfrm>
            <a:off x="781050" y="2343150"/>
            <a:ext cx="7600950" cy="952500"/>
          </a:xfrm>
          <a:prstGeom prst="rect">
            <a:avLst/>
          </a:prstGeom>
          <a:noFill/>
          <a:ln w="0">
            <a:noFill/>
          </a:ln>
        </p:spPr>
        <p:txBody>
          <a:bodyPr wrap="square" lIns="0" tIns="0" rIns="0" bIns="0">
            <a:noAutofit/>
          </a:bodyPr>
          <a:lstStyle/>
          <a:p>
            <a:pPr>
              <a:defRPr sz="2100" b="0">
                <a:solidFill>
                  <a:srgbClr val="000000"/>
                </a:solidFill>
                <a:latin typeface="Calibri"/>
                <a:ea typeface="Calibri"/>
                <a:cs typeface="Calibri"/>
              </a:defRPr>
            </a:pPr>
            <a:r>
              <a:rPr sz="2100" b="0">
                <a:solidFill>
                  <a:srgbClr val="000000"/>
                </a:solidFill>
                <a:latin typeface="Calibri"/>
                <a:ea typeface="Calibri"/>
                <a:cs typeface="Calibri"/>
              </a:rPr>
              <a:t>Laser = { (T1), (T2) }</a:t>
            </a:r>
          </a:p>
        </p:txBody>
      </p:sp>
      <p:sp>
        <p:nvSpPr>
          <p:cNvPr id="6" name="formula">
            <a:extLst>
              <a:ext uri="{FF2B5EF4-FFF2-40B4-BE49-F238E27FC236}">
                <a16:creationId xmlns:a16="http://schemas.microsoft.com/office/drawing/2014/main" id="{3E47B7AC-0A81-4777-A58A-C02B82995921}"/>
              </a:ext>
            </a:extLst>
          </p:cNvPr>
          <p:cNvSpPr>
            <a:spLocks noGrp="1"/>
          </p:cNvSpPr>
          <p:nvPr/>
        </p:nvSpPr>
        <p:spPr>
          <a:xfrm>
            <a:off x="781050" y="3105150"/>
            <a:ext cx="7620000" cy="523875"/>
          </a:xfrm>
          <a:prstGeom prst="rect">
            <a:avLst/>
          </a:prstGeom>
          <a:noFill/>
          <a:ln w="0">
            <a:noFill/>
          </a:ln>
        </p:spPr>
        <p:txBody>
          <a:bodyPr wrap="square" lIns="0" tIns="0" rIns="0" bIns="0">
            <a:noAutofit/>
          </a:bodyPr>
          <a:lstStyle/>
          <a:p>
            <a:pPr>
              <a:defRPr sz="2175" b="0">
                <a:solidFill>
                  <a:srgbClr val="000000"/>
                </a:solidFill>
                <a:latin typeface="Cambria Math"/>
                <a:ea typeface="Cambria Math"/>
                <a:cs typeface="Cambria Math"/>
              </a:defRPr>
            </a:pPr>
            <a:r>
              <a:rPr sz="2175" b="0">
                <a:solidFill>
                  <a:srgbClr val="000000"/>
                </a:solidFill>
                <a:latin typeface="Cambria Math"/>
                <a:ea typeface="Cambria Math"/>
                <a:cs typeface="Cambria Math"/>
              </a:rPr>
              <a:t>AnyLaser ← π</a:t>
            </a:r>
            <a:r>
              <a:rPr sz="1544" b="0" baseline="-25000">
                <a:solidFill>
                  <a:srgbClr val="000000"/>
                </a:solidFill>
                <a:latin typeface="Cambria Math"/>
                <a:ea typeface="Cambria Math"/>
                <a:cs typeface="Cambria Math"/>
              </a:rPr>
              <a:t>mid</a:t>
            </a:r>
            <a:r>
              <a:rPr sz="2175" b="0">
                <a:solidFill>
                  <a:srgbClr val="000000"/>
                </a:solidFill>
                <a:latin typeface="Cambria Math"/>
                <a:ea typeface="Cambria Math"/>
                <a:cs typeface="Cambria Math"/>
              </a:rPr>
              <a:t>(R ⋈ Laser)</a:t>
            </a:r>
          </a:p>
        </p:txBody>
      </p:sp>
      <p:sp>
        <p:nvSpPr>
          <p:cNvPr id="7" name="formula">
            <a:extLst>
              <a:ext uri="{FF2B5EF4-FFF2-40B4-BE49-F238E27FC236}">
                <a16:creationId xmlns:a16="http://schemas.microsoft.com/office/drawing/2014/main" id="{943439E6-C2BA-4390-8CB6-4C175ECA898C}"/>
              </a:ext>
            </a:extLst>
          </p:cNvPr>
          <p:cNvSpPr>
            <a:spLocks noGrp="1"/>
          </p:cNvSpPr>
          <p:nvPr/>
        </p:nvSpPr>
        <p:spPr>
          <a:xfrm>
            <a:off x="781050" y="3810000"/>
            <a:ext cx="7620000" cy="523875"/>
          </a:xfrm>
          <a:prstGeom prst="rect">
            <a:avLst/>
          </a:prstGeom>
          <a:noFill/>
          <a:ln w="0">
            <a:noFill/>
          </a:ln>
        </p:spPr>
        <p:txBody>
          <a:bodyPr wrap="square" lIns="0" tIns="0" rIns="0" bIns="0">
            <a:noAutofit/>
          </a:bodyPr>
          <a:lstStyle/>
          <a:p>
            <a:pPr>
              <a:defRPr sz="2250" b="0">
                <a:solidFill>
                  <a:srgbClr val="000000"/>
                </a:solidFill>
                <a:latin typeface="Cambria Math"/>
                <a:ea typeface="Cambria Math"/>
                <a:cs typeface="Cambria Math"/>
              </a:defRPr>
            </a:pPr>
            <a:r>
              <a:rPr sz="2250" b="0">
                <a:solidFill>
                  <a:srgbClr val="000000"/>
                </a:solidFill>
                <a:latin typeface="Cambria Math"/>
                <a:ea typeface="Cambria Math"/>
                <a:cs typeface="Cambria Math"/>
              </a:rPr>
              <a:t>EveryLaser ← R / Laser</a:t>
            </a:r>
          </a:p>
        </p:txBody>
      </p:sp>
      <p:sp>
        <p:nvSpPr>
          <p:cNvPr id="8" name="body">
            <a:extLst>
              <a:ext uri="{FF2B5EF4-FFF2-40B4-BE49-F238E27FC236}">
                <a16:creationId xmlns:a16="http://schemas.microsoft.com/office/drawing/2014/main" id="{1CBBCD15-9A9E-40F4-B965-6B7AEAFDA503}"/>
              </a:ext>
            </a:extLst>
          </p:cNvPr>
          <p:cNvSpPr>
            <a:spLocks noGrp="1"/>
          </p:cNvSpPr>
          <p:nvPr/>
        </p:nvSpPr>
        <p:spPr>
          <a:xfrm>
            <a:off x="1609725" y="4543425"/>
            <a:ext cx="5810250" cy="361950"/>
          </a:xfrm>
          <a:prstGeom prst="rect">
            <a:avLst/>
          </a:prstGeom>
          <a:noFill/>
          <a:ln w="0">
            <a:noFill/>
          </a:ln>
        </p:spPr>
        <p:txBody>
          <a:bodyPr wrap="square" lIns="0" tIns="0" rIns="0" bIns="0">
            <a:noAutofit/>
          </a:bodyPr>
          <a:lstStyle/>
          <a:p>
            <a:pPr>
              <a:defRPr sz="2250" b="0">
                <a:solidFill>
                  <a:srgbClr val="000000"/>
                </a:solidFill>
                <a:latin typeface="Calibri"/>
                <a:ea typeface="Calibri"/>
                <a:cs typeface="Calibri"/>
              </a:defRPr>
            </a:pPr>
            <a:r>
              <a:rPr sz="2250" b="0">
                <a:solidFill>
                  <a:srgbClr val="000000"/>
                </a:solidFill>
                <a:latin typeface="Calibri"/>
                <a:ea typeface="Calibri"/>
                <a:cs typeface="Calibri"/>
              </a:rPr>
              <a:t>Result IDs</a:t>
            </a:r>
          </a:p>
        </p:txBody>
      </p:sp>
      <p:graphicFrame>
        <p:nvGraphicFramePr>
          <p:cNvPr id="18" name="表格 17"/>
          <p:cNvGraphicFramePr/>
          <p:nvPr/>
        </p:nvGraphicFramePr>
        <p:xfrm>
          <a:off x="1685925" y="4962525"/>
          <a:ext cx="5810250" cy="1114425"/>
        </p:xfrm>
        <a:graphic>
          <a:graphicData uri="http://schemas.openxmlformats.org/drawingml/2006/table">
            <a:tbl>
              <a:tblPr/>
              <a:tblGrid>
                <a:gridCol w="2905125">
                  <a:extLst>
                    <a:ext uri="{9D8B030D-6E8A-4147-A177-3AD203B41FA5}">
                      <a16:colId xmlns:a16="http://schemas.microsoft.com/office/drawing/2014/main" val="20000"/>
                    </a:ext>
                  </a:extLst>
                </a:gridCol>
                <a:gridCol w="2905125">
                  <a:extLst>
                    <a:ext uri="{9D8B030D-6E8A-4147-A177-3AD203B41FA5}">
                      <a16:colId xmlns:a16="http://schemas.microsoft.com/office/drawing/2014/main" val="20001"/>
                    </a:ext>
                  </a:extLst>
                </a:gridCol>
              </a:tblGrid>
              <a:tr h="371475">
                <a:tc>
                  <a:txBody>
                    <a:bodyPr/>
                    <a:lstStyle/>
                    <a:p>
                      <a:pPr algn="ctr"/>
                      <a:r>
                        <a:rPr sz="1875">
                          <a:solidFill>
                            <a:srgbClr val="000000"/>
                          </a:solidFill>
                          <a:latin typeface="Calibri"/>
                          <a:ea typeface="Calibri"/>
                          <a:cs typeface="Calibri"/>
                        </a:rPr>
                        <a:t>Condition</a:t>
                      </a:r>
                    </a:p>
                  </a:txBody>
                  <a:tcPr marL="47625" marR="47625" marT="28575" marB="28575" anchor="ctr">
                    <a:solidFill>
                      <a:srgbClr val="D9D9D9"/>
                    </a:solidFill>
                  </a:tcPr>
                </a:tc>
                <a:tc>
                  <a:txBody>
                    <a:bodyPr/>
                    <a:lstStyle/>
                    <a:p>
                      <a:pPr algn="ctr"/>
                      <a:r>
                        <a:rPr sz="1875">
                          <a:solidFill>
                            <a:srgbClr val="000000"/>
                          </a:solidFill>
                          <a:latin typeface="Calibri"/>
                          <a:ea typeface="Calibri"/>
                          <a:cs typeface="Calibri"/>
                        </a:rPr>
                        <a:t>mid values</a:t>
                      </a:r>
                    </a:p>
                  </a:txBody>
                  <a:tcPr marL="47625" marR="47625" marT="28575" marB="28575" anchor="ctr">
                    <a:solidFill>
                      <a:srgbClr val="D9D9D9"/>
                    </a:solidFill>
                  </a:tcPr>
                </a:tc>
                <a:extLst>
                  <a:ext uri="{0D108BD9-81ED-4DB2-BD59-A6C34878D82A}">
                    <a16:rowId xmlns:a16="http://schemas.microsoft.com/office/drawing/2014/main" val="10000"/>
                  </a:ext>
                </a:extLst>
              </a:tr>
              <a:tr h="371475">
                <a:tc>
                  <a:txBody>
                    <a:bodyPr/>
                    <a:lstStyle/>
                    <a:p>
                      <a:pPr algn="ctr"/>
                      <a:r>
                        <a:rPr sz="1875">
                          <a:solidFill>
                            <a:srgbClr val="000000"/>
                          </a:solidFill>
                          <a:latin typeface="Calibri"/>
                          <a:ea typeface="Calibri"/>
                          <a:cs typeface="Calibri"/>
                        </a:rPr>
                        <a:t>Any</a:t>
                      </a:r>
                    </a:p>
                  </a:txBody>
                  <a:tcPr marL="47625" marR="47625" marT="28575" marB="28575" anchor="ctr">
                    <a:solidFill>
                      <a:srgbClr val="FFFFFF"/>
                    </a:solidFill>
                  </a:tcPr>
                </a:tc>
                <a:tc>
                  <a:txBody>
                    <a:bodyPr/>
                    <a:lstStyle/>
                    <a:p>
                      <a:pPr algn="ctr"/>
                      <a:r>
                        <a:rPr sz="1875">
                          <a:solidFill>
                            <a:srgbClr val="000000"/>
                          </a:solidFill>
                          <a:latin typeface="Calibri"/>
                          <a:ea typeface="Calibri"/>
                          <a:cs typeface="Calibri"/>
                        </a:rPr>
                        <a:t>M1, M2, M3</a:t>
                      </a:r>
                    </a:p>
                  </a:txBody>
                  <a:tcPr marL="47625" marR="47625" marT="28575" marB="28575" anchor="ctr">
                    <a:solidFill>
                      <a:srgbClr val="FFFFFF"/>
                    </a:solidFill>
                  </a:tcPr>
                </a:tc>
                <a:extLst>
                  <a:ext uri="{0D108BD9-81ED-4DB2-BD59-A6C34878D82A}">
                    <a16:rowId xmlns:a16="http://schemas.microsoft.com/office/drawing/2014/main" val="10001"/>
                  </a:ext>
                </a:extLst>
              </a:tr>
              <a:tr h="371475">
                <a:tc>
                  <a:txBody>
                    <a:bodyPr/>
                    <a:lstStyle/>
                    <a:p>
                      <a:pPr algn="ctr"/>
                      <a:r>
                        <a:rPr sz="1875">
                          <a:solidFill>
                            <a:srgbClr val="000000"/>
                          </a:solidFill>
                          <a:latin typeface="Calibri"/>
                          <a:ea typeface="Calibri"/>
                          <a:cs typeface="Calibri"/>
                        </a:rPr>
                        <a:t>Every</a:t>
                      </a:r>
                    </a:p>
                  </a:txBody>
                  <a:tcPr marL="47625" marR="47625" marT="28575" marB="28575" anchor="ctr">
                    <a:solidFill>
                      <a:srgbClr val="FFFFFF"/>
                    </a:solidFill>
                  </a:tcPr>
                </a:tc>
                <a:tc>
                  <a:txBody>
                    <a:bodyPr/>
                    <a:lstStyle/>
                    <a:p>
                      <a:pPr algn="ctr"/>
                      <a:r>
                        <a:rPr sz="1875">
                          <a:solidFill>
                            <a:srgbClr val="000000"/>
                          </a:solidFill>
                          <a:latin typeface="Calibri"/>
                          <a:ea typeface="Calibri"/>
                          <a:cs typeface="Calibri"/>
                        </a:rPr>
                        <a:t>M2</a:t>
                      </a:r>
                    </a:p>
                  </a:txBody>
                  <a:tcPr marL="47625" marR="47625" marT="28575" marB="28575" anchor="ctr">
                    <a:solidFill>
                      <a:srgbClr val="FFFFFF"/>
                    </a:solidFill>
                  </a:tcPr>
                </a:tc>
                <a:extLst>
                  <a:ext uri="{0D108BD9-81ED-4DB2-BD59-A6C34878D82A}">
                    <a16:rowId xmlns:a16="http://schemas.microsoft.com/office/drawing/2014/main" val="10002"/>
                  </a:ext>
                </a:extLst>
              </a:tr>
            </a:tbl>
          </a:graphicData>
        </a:graphic>
      </p:graphicFrame>
      <p:sp>
        <p:nvSpPr>
          <p:cNvPr id="9001" name="Title 1">
            <a:extLst>
              <a:ext uri="{FF2B5EF4-FFF2-40B4-BE49-F238E27FC236}">
                <a16:creationId xmlns:a16="http://schemas.microsoft.com/office/drawing/2014/main" id="{4EF27E5C-9C4D-BDBE-7667-D0B141BCC8F5}"/>
              </a:ext>
            </a:extLst>
          </p:cNvPr>
          <p:cNvSpPr>
            <a:spLocks noGrp="1"/>
          </p:cNvSpPr>
          <p:nvPr>
            <p:ph type="title"/>
          </p:nvPr>
        </p:nvSpPr>
        <p:spPr/>
        <p:txBody>
          <a:bodyPr/>
          <a:lstStyle/>
          <a:p>
            <a:r>
              <a:rPr lang="en-US">
                <a:solidFill>
                  <a:srgbClr val="FF0000"/>
                </a:solidFill>
              </a:rPr>
              <a:t>Solutions: </a:t>
            </a:r>
            <a:r>
              <a:rPr lang="en-US">
                <a:solidFill>
                  <a:srgbClr val="3333CC"/>
                </a:solidFill>
              </a:rPr>
              <a:t>Q27 (1)</a:t>
            </a:r>
          </a:p>
        </p:txBody>
      </p:sp>
      <p:sp>
        <p:nvSpPr>
          <p:cNvPr id="9002" name="Slide Number Placeholder 1">
            <a:extLst>
              <a:ext uri="{FF2B5EF4-FFF2-40B4-BE49-F238E27FC236}">
                <a16:creationId xmlns:a16="http://schemas.microsoft.com/office/drawing/2014/main" id="{B90139AC-3BDA-723A-097A-000DA0A784C1}"/>
              </a:ext>
            </a:extLst>
          </p:cNvPr>
          <p:cNvSpPr>
            <a:spLocks noGrp="1"/>
          </p:cNvSpPr>
          <p:nvPr>
            <p:ph type="sldNum" sz="quarter" idx="12"/>
          </p:nvPr>
        </p:nvSpPr>
        <p:spPr/>
        <p:txBody>
          <a:bodyPr/>
          <a:lstStyle/>
          <a:p>
            <a:pPr>
              <a:defRPr/>
            </a:pPr>
            <a:fld id="{43CA101F-9E5F-9249-9862-3CE55B3BB777}" type="slidenum">
              <a:rPr lang="en-US" altLang="zh-TW" smtClean="0"/>
              <a:pPr>
                <a:defRPr/>
              </a:pPr>
              <a:t>71</a:t>
            </a:fld>
            <a:endParaRPr lang="en-US" altLang="zh-TW"/>
          </a:p>
        </p:txBody>
      </p:sp>
    </p:spTree>
    <p:extLst>
      <p:ext uri="{BB962C8B-B14F-4D97-AF65-F5344CB8AC3E}">
        <p14:creationId xmlns:p14="http://schemas.microsoft.com/office/powerpoint/2010/main" val="1864609876"/>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formula">
            <a:extLst>
              <a:ext uri="{FF2B5EF4-FFF2-40B4-BE49-F238E27FC236}">
                <a16:creationId xmlns:a16="http://schemas.microsoft.com/office/drawing/2014/main" id="{0A43CDD8-DC88-45DC-8F15-AE69BC242CE5}"/>
              </a:ext>
            </a:extLst>
          </p:cNvPr>
          <p:cNvSpPr>
            <a:spLocks noGrp="1"/>
          </p:cNvSpPr>
          <p:nvPr/>
        </p:nvSpPr>
        <p:spPr>
          <a:xfrm>
            <a:off x="781050" y="1038225"/>
            <a:ext cx="7620000" cy="523875"/>
          </a:xfrm>
          <a:prstGeom prst="rect">
            <a:avLst/>
          </a:prstGeom>
          <a:noFill/>
          <a:ln w="0">
            <a:noFill/>
          </a:ln>
        </p:spPr>
        <p:txBody>
          <a:bodyPr wrap="square" lIns="0" tIns="0" rIns="0" bIns="0">
            <a:noAutofit/>
          </a:bodyPr>
          <a:lstStyle/>
          <a:p>
            <a:pPr>
              <a:defRPr sz="2100" b="0">
                <a:solidFill>
                  <a:srgbClr val="000000"/>
                </a:solidFill>
                <a:latin typeface="Cambria Math"/>
                <a:ea typeface="Cambria Math"/>
                <a:cs typeface="Cambria Math"/>
              </a:defRPr>
            </a:pPr>
            <a:r>
              <a:rPr sz="2100" b="0">
                <a:solidFill>
                  <a:srgbClr val="000000"/>
                </a:solidFill>
                <a:latin typeface="Cambria Math"/>
                <a:ea typeface="Cambria Math"/>
                <a:cs typeface="Cambria Math"/>
              </a:rPr>
              <a:t>NonLaser ← π</a:t>
            </a:r>
            <a:r>
              <a:rPr sz="1491" b="0" baseline="-25000">
                <a:solidFill>
                  <a:srgbClr val="000000"/>
                </a:solidFill>
                <a:latin typeface="Cambria Math"/>
                <a:ea typeface="Cambria Math"/>
                <a:cs typeface="Cambria Math"/>
              </a:rPr>
              <a:t>tid</a:t>
            </a:r>
            <a:r>
              <a:rPr sz="2100" b="0">
                <a:solidFill>
                  <a:srgbClr val="000000"/>
                </a:solidFill>
                <a:latin typeface="Cambria Math"/>
                <a:ea typeface="Cambria Math"/>
                <a:cs typeface="Cambria Math"/>
              </a:rPr>
              <a:t>(σ</a:t>
            </a:r>
            <a:r>
              <a:rPr sz="1491" b="0" baseline="-25000">
                <a:solidFill>
                  <a:srgbClr val="000000"/>
                </a:solidFill>
                <a:latin typeface="Cambria Math"/>
                <a:ea typeface="Cambria Math"/>
                <a:cs typeface="Cambria Math"/>
              </a:rPr>
              <a:t>category≠'Laser'</a:t>
            </a:r>
            <a:r>
              <a:rPr sz="2100" b="0">
                <a:solidFill>
                  <a:srgbClr val="000000"/>
                </a:solidFill>
                <a:latin typeface="Cambria Math"/>
                <a:ea typeface="Cambria Math"/>
                <a:cs typeface="Cambria Math"/>
              </a:rPr>
              <a:t>(Tool))</a:t>
            </a:r>
          </a:p>
        </p:txBody>
      </p:sp>
      <p:sp>
        <p:nvSpPr>
          <p:cNvPr id="4" name="body">
            <a:extLst>
              <a:ext uri="{FF2B5EF4-FFF2-40B4-BE49-F238E27FC236}">
                <a16:creationId xmlns:a16="http://schemas.microsoft.com/office/drawing/2014/main" id="{C8B72A6B-C606-4316-A981-587B85E14F76}"/>
              </a:ext>
            </a:extLst>
          </p:cNvPr>
          <p:cNvSpPr>
            <a:spLocks noGrp="1"/>
          </p:cNvSpPr>
          <p:nvPr/>
        </p:nvSpPr>
        <p:spPr>
          <a:xfrm>
            <a:off x="781050" y="1724025"/>
            <a:ext cx="7600950" cy="952500"/>
          </a:xfrm>
          <a:prstGeom prst="rect">
            <a:avLst/>
          </a:prstGeom>
          <a:noFill/>
          <a:ln w="0">
            <a:noFill/>
          </a:ln>
        </p:spPr>
        <p:txBody>
          <a:bodyPr wrap="square" lIns="0" tIns="0" rIns="0" bIns="0">
            <a:noAutofit/>
          </a:bodyPr>
          <a:lstStyle/>
          <a:p>
            <a:pPr>
              <a:defRPr sz="2100" b="0">
                <a:solidFill>
                  <a:srgbClr val="000000"/>
                </a:solidFill>
                <a:latin typeface="Calibri"/>
                <a:ea typeface="Calibri"/>
                <a:cs typeface="Calibri"/>
              </a:defRPr>
            </a:pPr>
            <a:r>
              <a:rPr sz="2100" b="0">
                <a:solidFill>
                  <a:srgbClr val="000000"/>
                </a:solidFill>
                <a:latin typeface="Calibri"/>
                <a:ea typeface="Calibri"/>
                <a:cs typeface="Calibri"/>
              </a:rPr>
              <a:t>NonLaser(tid) = { (T3) }</a:t>
            </a:r>
          </a:p>
        </p:txBody>
      </p:sp>
      <p:sp>
        <p:nvSpPr>
          <p:cNvPr id="5" name="formula">
            <a:extLst>
              <a:ext uri="{FF2B5EF4-FFF2-40B4-BE49-F238E27FC236}">
                <a16:creationId xmlns:a16="http://schemas.microsoft.com/office/drawing/2014/main" id="{60B65F65-C24F-4C22-A429-C2138A7B4BE0}"/>
              </a:ext>
            </a:extLst>
          </p:cNvPr>
          <p:cNvSpPr>
            <a:spLocks noGrp="1"/>
          </p:cNvSpPr>
          <p:nvPr/>
        </p:nvSpPr>
        <p:spPr>
          <a:xfrm>
            <a:off x="781050" y="2524125"/>
            <a:ext cx="7620000" cy="523875"/>
          </a:xfrm>
          <a:prstGeom prst="rect">
            <a:avLst/>
          </a:prstGeom>
          <a:noFill/>
          <a:ln w="0">
            <a:noFill/>
          </a:ln>
        </p:spPr>
        <p:txBody>
          <a:bodyPr wrap="square" lIns="0" tIns="0" rIns="0" bIns="0">
            <a:noAutofit/>
          </a:bodyPr>
          <a:lstStyle/>
          <a:p>
            <a:pPr>
              <a:defRPr sz="2100" b="0">
                <a:solidFill>
                  <a:srgbClr val="000000"/>
                </a:solidFill>
                <a:latin typeface="Cambria Math"/>
                <a:ea typeface="Cambria Math"/>
                <a:cs typeface="Cambria Math"/>
              </a:defRPr>
            </a:pPr>
            <a:r>
              <a:rPr sz="2100" b="0">
                <a:solidFill>
                  <a:srgbClr val="000000"/>
                </a:solidFill>
                <a:latin typeface="Cambria Math"/>
                <a:ea typeface="Cambria Math"/>
                <a:cs typeface="Cambria Math"/>
              </a:rPr>
              <a:t>Bad ← π</a:t>
            </a:r>
            <a:r>
              <a:rPr sz="1491" b="0" baseline="-25000">
                <a:solidFill>
                  <a:srgbClr val="000000"/>
                </a:solidFill>
                <a:latin typeface="Cambria Math"/>
                <a:ea typeface="Cambria Math"/>
                <a:cs typeface="Cambria Math"/>
              </a:rPr>
              <a:t>mid</a:t>
            </a:r>
            <a:r>
              <a:rPr sz="2100" b="0">
                <a:solidFill>
                  <a:srgbClr val="000000"/>
                </a:solidFill>
                <a:latin typeface="Cambria Math"/>
                <a:ea typeface="Cambria Math"/>
                <a:cs typeface="Cambria Math"/>
              </a:rPr>
              <a:t>(R ⋈ NonLaser) = { (M2) }</a:t>
            </a:r>
          </a:p>
        </p:txBody>
      </p:sp>
      <p:sp>
        <p:nvSpPr>
          <p:cNvPr id="6" name="formula">
            <a:extLst>
              <a:ext uri="{FF2B5EF4-FFF2-40B4-BE49-F238E27FC236}">
                <a16:creationId xmlns:a16="http://schemas.microsoft.com/office/drawing/2014/main" id="{0C29AF8D-5752-4F13-BCA2-434190020475}"/>
              </a:ext>
            </a:extLst>
          </p:cNvPr>
          <p:cNvSpPr>
            <a:spLocks noGrp="1"/>
          </p:cNvSpPr>
          <p:nvPr/>
        </p:nvSpPr>
        <p:spPr>
          <a:xfrm>
            <a:off x="781050" y="3305175"/>
            <a:ext cx="7620000" cy="523875"/>
          </a:xfrm>
          <a:prstGeom prst="rect">
            <a:avLst/>
          </a:prstGeom>
          <a:noFill/>
          <a:ln w="0">
            <a:noFill/>
          </a:ln>
        </p:spPr>
        <p:txBody>
          <a:bodyPr wrap="square" lIns="0" tIns="0" rIns="0" bIns="0">
            <a:noAutofit/>
          </a:bodyPr>
          <a:lstStyle/>
          <a:p>
            <a:pPr>
              <a:defRPr sz="2250" b="0">
                <a:solidFill>
                  <a:srgbClr val="000000"/>
                </a:solidFill>
                <a:latin typeface="Cambria Math"/>
                <a:ea typeface="Cambria Math"/>
                <a:cs typeface="Cambria Math"/>
              </a:defRPr>
            </a:pPr>
            <a:r>
              <a:rPr sz="2250" b="0">
                <a:solidFill>
                  <a:srgbClr val="000000"/>
                </a:solidFill>
                <a:latin typeface="Cambria Math"/>
                <a:ea typeface="Cambria Math"/>
                <a:cs typeface="Cambria Math"/>
              </a:rPr>
              <a:t>OnlyLaser ← AnyLaser − Bad</a:t>
            </a:r>
          </a:p>
        </p:txBody>
      </p:sp>
      <p:sp>
        <p:nvSpPr>
          <p:cNvPr id="7" name="body">
            <a:extLst>
              <a:ext uri="{FF2B5EF4-FFF2-40B4-BE49-F238E27FC236}">
                <a16:creationId xmlns:a16="http://schemas.microsoft.com/office/drawing/2014/main" id="{E1C8067E-C558-487A-A696-F17A37C10A62}"/>
              </a:ext>
            </a:extLst>
          </p:cNvPr>
          <p:cNvSpPr>
            <a:spLocks noGrp="1"/>
          </p:cNvSpPr>
          <p:nvPr/>
        </p:nvSpPr>
        <p:spPr>
          <a:xfrm>
            <a:off x="3114675" y="3771900"/>
            <a:ext cx="2686050" cy="361950"/>
          </a:xfrm>
          <a:prstGeom prst="rect">
            <a:avLst/>
          </a:prstGeom>
          <a:noFill/>
          <a:ln w="0">
            <a:noFill/>
          </a:ln>
        </p:spPr>
        <p:txBody>
          <a:bodyPr wrap="square" lIns="0" tIns="0" rIns="0" bIns="0">
            <a:noAutofit/>
          </a:bodyPr>
          <a:lstStyle/>
          <a:p>
            <a:pPr>
              <a:defRPr sz="2250" b="0">
                <a:solidFill>
                  <a:srgbClr val="000000"/>
                </a:solidFill>
                <a:latin typeface="Calibri"/>
                <a:ea typeface="Calibri"/>
                <a:cs typeface="Calibri"/>
              </a:defRPr>
            </a:pPr>
            <a:r>
              <a:rPr sz="2250" b="0">
                <a:solidFill>
                  <a:srgbClr val="000000"/>
                </a:solidFill>
                <a:latin typeface="Calibri"/>
                <a:ea typeface="Calibri"/>
                <a:cs typeface="Calibri"/>
              </a:rPr>
              <a:t>OnlyLaser</a:t>
            </a:r>
          </a:p>
        </p:txBody>
      </p:sp>
      <p:graphicFrame>
        <p:nvGraphicFramePr>
          <p:cNvPr id="17" name="表格 16"/>
          <p:cNvGraphicFramePr/>
          <p:nvPr/>
        </p:nvGraphicFramePr>
        <p:xfrm>
          <a:off x="3190875" y="4191000"/>
          <a:ext cx="2686050" cy="1228725"/>
        </p:xfrm>
        <a:graphic>
          <a:graphicData uri="http://schemas.openxmlformats.org/drawingml/2006/table">
            <a:tbl>
              <a:tblPr/>
              <a:tblGrid>
                <a:gridCol w="2686050">
                  <a:extLst>
                    <a:ext uri="{9D8B030D-6E8A-4147-A177-3AD203B41FA5}">
                      <a16:colId xmlns:a16="http://schemas.microsoft.com/office/drawing/2014/main" val="20000"/>
                    </a:ext>
                  </a:extLst>
                </a:gridCol>
              </a:tblGrid>
              <a:tr h="409575">
                <a:tc>
                  <a:txBody>
                    <a:bodyPr/>
                    <a:lstStyle/>
                    <a:p>
                      <a:pPr algn="ctr"/>
                      <a:r>
                        <a:rPr sz="2025">
                          <a:solidFill>
                            <a:srgbClr val="000000"/>
                          </a:solidFill>
                          <a:latin typeface="Calibri"/>
                          <a:ea typeface="Calibri"/>
                          <a:cs typeface="Calibri"/>
                        </a:rPr>
                        <a:t>mid</a:t>
                      </a:r>
                    </a:p>
                  </a:txBody>
                  <a:tcPr marL="47625" marR="47625" marT="28575" marB="28575" anchor="ctr">
                    <a:solidFill>
                      <a:srgbClr val="D9D9D9"/>
                    </a:solidFill>
                  </a:tcPr>
                </a:tc>
                <a:extLst>
                  <a:ext uri="{0D108BD9-81ED-4DB2-BD59-A6C34878D82A}">
                    <a16:rowId xmlns:a16="http://schemas.microsoft.com/office/drawing/2014/main" val="10000"/>
                  </a:ext>
                </a:extLst>
              </a:tr>
              <a:tr h="409575">
                <a:tc>
                  <a:txBody>
                    <a:bodyPr/>
                    <a:lstStyle/>
                    <a:p>
                      <a:pPr algn="ctr"/>
                      <a:r>
                        <a:rPr sz="2025">
                          <a:solidFill>
                            <a:srgbClr val="000000"/>
                          </a:solidFill>
                          <a:latin typeface="Calibri"/>
                          <a:ea typeface="Calibri"/>
                          <a:cs typeface="Calibri"/>
                        </a:rPr>
                        <a:t>M1</a:t>
                      </a:r>
                    </a:p>
                  </a:txBody>
                  <a:tcPr marL="47625" marR="47625" marT="28575" marB="28575" anchor="ctr">
                    <a:solidFill>
                      <a:srgbClr val="FFFFFF"/>
                    </a:solidFill>
                  </a:tcPr>
                </a:tc>
                <a:extLst>
                  <a:ext uri="{0D108BD9-81ED-4DB2-BD59-A6C34878D82A}">
                    <a16:rowId xmlns:a16="http://schemas.microsoft.com/office/drawing/2014/main" val="10001"/>
                  </a:ext>
                </a:extLst>
              </a:tr>
              <a:tr h="409575">
                <a:tc>
                  <a:txBody>
                    <a:bodyPr/>
                    <a:lstStyle/>
                    <a:p>
                      <a:pPr algn="ctr"/>
                      <a:r>
                        <a:rPr sz="2025">
                          <a:solidFill>
                            <a:srgbClr val="000000"/>
                          </a:solidFill>
                          <a:latin typeface="Calibri"/>
                          <a:ea typeface="Calibri"/>
                          <a:cs typeface="Calibri"/>
                        </a:rPr>
                        <a:t>M3</a:t>
                      </a:r>
                    </a:p>
                  </a:txBody>
                  <a:tcPr marL="47625" marR="47625" marT="28575" marB="28575" anchor="ctr">
                    <a:solidFill>
                      <a:srgbClr val="FFFFFF"/>
                    </a:solidFill>
                  </a:tcPr>
                </a:tc>
                <a:extLst>
                  <a:ext uri="{0D108BD9-81ED-4DB2-BD59-A6C34878D82A}">
                    <a16:rowId xmlns:a16="http://schemas.microsoft.com/office/drawing/2014/main" val="10002"/>
                  </a:ext>
                </a:extLst>
              </a:tr>
            </a:tbl>
          </a:graphicData>
        </a:graphic>
      </p:graphicFrame>
      <p:sp>
        <p:nvSpPr>
          <p:cNvPr id="9" name="body">
            <a:extLst>
              <a:ext uri="{FF2B5EF4-FFF2-40B4-BE49-F238E27FC236}">
                <a16:creationId xmlns:a16="http://schemas.microsoft.com/office/drawing/2014/main" id="{9AE157BB-07C7-491A-9839-BAF98E5730C7}"/>
              </a:ext>
            </a:extLst>
          </p:cNvPr>
          <p:cNvSpPr>
            <a:spLocks noGrp="1"/>
          </p:cNvSpPr>
          <p:nvPr/>
        </p:nvSpPr>
        <p:spPr>
          <a:xfrm>
            <a:off x="781050" y="5629275"/>
            <a:ext cx="7600950" cy="952500"/>
          </a:xfrm>
          <a:prstGeom prst="rect">
            <a:avLst/>
          </a:prstGeom>
          <a:noFill/>
          <a:ln w="0">
            <a:noFill/>
          </a:ln>
        </p:spPr>
        <p:txBody>
          <a:bodyPr wrap="square" lIns="0" tIns="0" rIns="0" bIns="0">
            <a:noAutofit/>
          </a:bodyPr>
          <a:lstStyle/>
          <a:p>
            <a:pPr>
              <a:defRPr sz="2025" b="0">
                <a:solidFill>
                  <a:srgbClr val="FF0000"/>
                </a:solidFill>
                <a:latin typeface="Calibri"/>
                <a:ea typeface="Calibri"/>
                <a:cs typeface="Calibri"/>
              </a:defRPr>
            </a:pPr>
            <a:r>
              <a:rPr sz="2025" b="0">
                <a:solidFill>
                  <a:srgbClr val="FF0000"/>
                </a:solidFill>
                <a:latin typeface="Calibri"/>
                <a:ea typeface="Calibri"/>
                <a:cs typeface="Calibri"/>
              </a:rPr>
              <a:t>M4 is excluded because the question requires some training.</a:t>
            </a:r>
          </a:p>
        </p:txBody>
      </p:sp>
      <p:sp>
        <p:nvSpPr>
          <p:cNvPr id="9001" name="Title 1">
            <a:extLst>
              <a:ext uri="{FF2B5EF4-FFF2-40B4-BE49-F238E27FC236}">
                <a16:creationId xmlns:a16="http://schemas.microsoft.com/office/drawing/2014/main" id="{4EF27E5C-9C4D-BDBE-7667-D0B141BCC8F5}"/>
              </a:ext>
            </a:extLst>
          </p:cNvPr>
          <p:cNvSpPr>
            <a:spLocks noGrp="1"/>
          </p:cNvSpPr>
          <p:nvPr>
            <p:ph type="title"/>
          </p:nvPr>
        </p:nvSpPr>
        <p:spPr/>
        <p:txBody>
          <a:bodyPr/>
          <a:lstStyle/>
          <a:p>
            <a:r>
              <a:rPr lang="en-US">
                <a:solidFill>
                  <a:srgbClr val="FF0000"/>
                </a:solidFill>
              </a:rPr>
              <a:t>Solutions: </a:t>
            </a:r>
            <a:r>
              <a:rPr lang="en-US">
                <a:solidFill>
                  <a:srgbClr val="3333CC"/>
                </a:solidFill>
              </a:rPr>
              <a:t>Q27 (2)</a:t>
            </a:r>
          </a:p>
        </p:txBody>
      </p:sp>
      <p:sp>
        <p:nvSpPr>
          <p:cNvPr id="9002" name="Slide Number Placeholder 1">
            <a:extLst>
              <a:ext uri="{FF2B5EF4-FFF2-40B4-BE49-F238E27FC236}">
                <a16:creationId xmlns:a16="http://schemas.microsoft.com/office/drawing/2014/main" id="{B90139AC-3BDA-723A-097A-000DA0A784C1}"/>
              </a:ext>
            </a:extLst>
          </p:cNvPr>
          <p:cNvSpPr>
            <a:spLocks noGrp="1"/>
          </p:cNvSpPr>
          <p:nvPr>
            <p:ph type="sldNum" sz="quarter" idx="12"/>
          </p:nvPr>
        </p:nvSpPr>
        <p:spPr/>
        <p:txBody>
          <a:bodyPr/>
          <a:lstStyle/>
          <a:p>
            <a:pPr>
              <a:defRPr/>
            </a:pPr>
            <a:fld id="{43CA101F-9E5F-9249-9862-3CE55B3BB777}" type="slidenum">
              <a:rPr lang="en-US" altLang="zh-TW" smtClean="0"/>
              <a:pPr>
                <a:defRPr/>
              </a:pPr>
              <a:t>72</a:t>
            </a:fld>
            <a:endParaRPr lang="en-US" altLang="zh-TW"/>
          </a:p>
        </p:txBody>
      </p:sp>
    </p:spTree>
    <p:extLst>
      <p:ext uri="{BB962C8B-B14F-4D97-AF65-F5344CB8AC3E}">
        <p14:creationId xmlns:p14="http://schemas.microsoft.com/office/powerpoint/2010/main" val="1742064846"/>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formula">
            <a:extLst>
              <a:ext uri="{FF2B5EF4-FFF2-40B4-BE49-F238E27FC236}">
                <a16:creationId xmlns:a16="http://schemas.microsoft.com/office/drawing/2014/main" id="{81CC1377-D5F4-45D0-AADF-D81D7719AA6F}"/>
              </a:ext>
            </a:extLst>
          </p:cNvPr>
          <p:cNvSpPr>
            <a:spLocks noGrp="1"/>
          </p:cNvSpPr>
          <p:nvPr/>
        </p:nvSpPr>
        <p:spPr>
          <a:xfrm>
            <a:off x="781050" y="1047750"/>
            <a:ext cx="7620000" cy="523875"/>
          </a:xfrm>
          <a:prstGeom prst="rect">
            <a:avLst/>
          </a:prstGeom>
          <a:noFill/>
          <a:ln w="0">
            <a:noFill/>
          </a:ln>
        </p:spPr>
        <p:txBody>
          <a:bodyPr wrap="square" lIns="0" tIns="0" rIns="0" bIns="0">
            <a:noAutofit/>
          </a:bodyPr>
          <a:lstStyle/>
          <a:p>
            <a:pPr>
              <a:defRPr sz="2175" b="0">
                <a:solidFill>
                  <a:srgbClr val="000000"/>
                </a:solidFill>
                <a:latin typeface="Cambria Math"/>
                <a:ea typeface="Cambria Math"/>
                <a:cs typeface="Cambria Math"/>
              </a:defRPr>
            </a:pPr>
            <a:r>
              <a:rPr sz="2175" b="0">
                <a:solidFill>
                  <a:srgbClr val="000000"/>
                </a:solidFill>
                <a:latin typeface="Cambria Math"/>
                <a:ea typeface="Cambria Math"/>
                <a:cs typeface="Cambria Math"/>
              </a:rPr>
              <a:t>AnswerX ← π</a:t>
            </a:r>
            <a:r>
              <a:rPr sz="1544" b="0" baseline="-25000">
                <a:solidFill>
                  <a:srgbClr val="000000"/>
                </a:solidFill>
                <a:latin typeface="Cambria Math"/>
                <a:ea typeface="Cambria Math"/>
                <a:cs typeface="Cambria Math"/>
              </a:rPr>
              <a:t>mid,mname</a:t>
            </a:r>
            <a:r>
              <a:rPr sz="2175" b="0">
                <a:solidFill>
                  <a:srgbClr val="000000"/>
                </a:solidFill>
                <a:latin typeface="Cambria Math"/>
                <a:ea typeface="Cambria Math"/>
                <a:cs typeface="Cambria Math"/>
              </a:rPr>
              <a:t>(Member ⋈ IDsX)</a:t>
            </a:r>
          </a:p>
        </p:txBody>
      </p:sp>
      <p:sp>
        <p:nvSpPr>
          <p:cNvPr id="4" name="body">
            <a:extLst>
              <a:ext uri="{FF2B5EF4-FFF2-40B4-BE49-F238E27FC236}">
                <a16:creationId xmlns:a16="http://schemas.microsoft.com/office/drawing/2014/main" id="{5BA42FBA-92B4-4C93-A5EB-9F8B42788C20}"/>
              </a:ext>
            </a:extLst>
          </p:cNvPr>
          <p:cNvSpPr>
            <a:spLocks noGrp="1"/>
          </p:cNvSpPr>
          <p:nvPr/>
        </p:nvSpPr>
        <p:spPr>
          <a:xfrm>
            <a:off x="781050" y="1609725"/>
            <a:ext cx="7600950" cy="361950"/>
          </a:xfrm>
          <a:prstGeom prst="rect">
            <a:avLst/>
          </a:prstGeom>
          <a:noFill/>
          <a:ln w="0">
            <a:noFill/>
          </a:ln>
        </p:spPr>
        <p:txBody>
          <a:bodyPr wrap="square" lIns="0" tIns="0" rIns="0" bIns="0">
            <a:noAutofit/>
          </a:bodyPr>
          <a:lstStyle/>
          <a:p>
            <a:pPr>
              <a:defRPr sz="1800" b="0">
                <a:solidFill>
                  <a:srgbClr val="000000"/>
                </a:solidFill>
                <a:latin typeface="Calibri"/>
                <a:ea typeface="Calibri"/>
                <a:cs typeface="Calibri"/>
              </a:defRPr>
            </a:pPr>
            <a:r>
              <a:rPr sz="1800" b="0">
                <a:solidFill>
                  <a:srgbClr val="000000"/>
                </a:solidFill>
                <a:latin typeface="Calibri"/>
                <a:ea typeface="Calibri"/>
                <a:cs typeface="Calibri"/>
              </a:rPr>
              <a:t>IDsX is AnyLaser, EveryLaser or OnlyLaser, respectively.</a:t>
            </a:r>
          </a:p>
        </p:txBody>
      </p:sp>
      <p:sp>
        <p:nvSpPr>
          <p:cNvPr id="5" name="body">
            <a:extLst>
              <a:ext uri="{FF2B5EF4-FFF2-40B4-BE49-F238E27FC236}">
                <a16:creationId xmlns:a16="http://schemas.microsoft.com/office/drawing/2014/main" id="{994B8C62-C595-46F8-9BF2-990F95B5759C}"/>
              </a:ext>
            </a:extLst>
          </p:cNvPr>
          <p:cNvSpPr>
            <a:spLocks noGrp="1"/>
          </p:cNvSpPr>
          <p:nvPr/>
        </p:nvSpPr>
        <p:spPr>
          <a:xfrm>
            <a:off x="790575" y="1924050"/>
            <a:ext cx="2343150" cy="361950"/>
          </a:xfrm>
          <a:prstGeom prst="rect">
            <a:avLst/>
          </a:prstGeom>
          <a:noFill/>
          <a:ln w="0">
            <a:noFill/>
          </a:ln>
        </p:spPr>
        <p:txBody>
          <a:bodyPr wrap="square" lIns="0" tIns="0" rIns="0" bIns="0">
            <a:noAutofit/>
          </a:bodyPr>
          <a:lstStyle/>
          <a:p>
            <a:pPr>
              <a:defRPr sz="2250" b="0">
                <a:solidFill>
                  <a:srgbClr val="000000"/>
                </a:solidFill>
                <a:latin typeface="Calibri"/>
                <a:ea typeface="Calibri"/>
                <a:cs typeface="Calibri"/>
              </a:defRPr>
            </a:pPr>
            <a:r>
              <a:rPr sz="2250" b="0">
                <a:solidFill>
                  <a:srgbClr val="000000"/>
                </a:solidFill>
                <a:latin typeface="Calibri"/>
                <a:ea typeface="Calibri"/>
                <a:cs typeface="Calibri"/>
              </a:rPr>
              <a:t>Any Laser</a:t>
            </a:r>
          </a:p>
        </p:txBody>
      </p:sp>
      <p:graphicFrame>
        <p:nvGraphicFramePr>
          <p:cNvPr id="18" name="表格 17"/>
          <p:cNvGraphicFramePr/>
          <p:nvPr/>
        </p:nvGraphicFramePr>
        <p:xfrm>
          <a:off x="866775" y="2343150"/>
          <a:ext cx="2343150" cy="1600200"/>
        </p:xfrm>
        <a:graphic>
          <a:graphicData uri="http://schemas.openxmlformats.org/drawingml/2006/table">
            <a:tbl>
              <a:tblPr/>
              <a:tblGrid>
                <a:gridCol w="1171575">
                  <a:extLst>
                    <a:ext uri="{9D8B030D-6E8A-4147-A177-3AD203B41FA5}">
                      <a16:colId xmlns:a16="http://schemas.microsoft.com/office/drawing/2014/main" val="20000"/>
                    </a:ext>
                  </a:extLst>
                </a:gridCol>
                <a:gridCol w="1171575">
                  <a:extLst>
                    <a:ext uri="{9D8B030D-6E8A-4147-A177-3AD203B41FA5}">
                      <a16:colId xmlns:a16="http://schemas.microsoft.com/office/drawing/2014/main" val="20001"/>
                    </a:ext>
                  </a:extLst>
                </a:gridCol>
              </a:tblGrid>
              <a:tr h="400050">
                <a:tc>
                  <a:txBody>
                    <a:bodyPr/>
                    <a:lstStyle/>
                    <a:p>
                      <a:pPr algn="ctr"/>
                      <a:r>
                        <a:rPr sz="1875">
                          <a:solidFill>
                            <a:srgbClr val="000000"/>
                          </a:solidFill>
                          <a:latin typeface="Calibri"/>
                          <a:ea typeface="Calibri"/>
                          <a:cs typeface="Calibri"/>
                        </a:rPr>
                        <a:t>mid</a:t>
                      </a:r>
                    </a:p>
                  </a:txBody>
                  <a:tcPr marL="47625" marR="47625" marT="28575" marB="28575" anchor="ctr">
                    <a:solidFill>
                      <a:srgbClr val="D9D9D9"/>
                    </a:solidFill>
                  </a:tcPr>
                </a:tc>
                <a:tc>
                  <a:txBody>
                    <a:bodyPr/>
                    <a:lstStyle/>
                    <a:p>
                      <a:pPr algn="ctr"/>
                      <a:r>
                        <a:rPr sz="1875">
                          <a:solidFill>
                            <a:srgbClr val="000000"/>
                          </a:solidFill>
                          <a:latin typeface="Calibri"/>
                          <a:ea typeface="Calibri"/>
                          <a:cs typeface="Calibri"/>
                        </a:rPr>
                        <a:t>mname</a:t>
                      </a:r>
                    </a:p>
                  </a:txBody>
                  <a:tcPr marL="47625" marR="47625" marT="28575" marB="28575" anchor="ctr">
                    <a:solidFill>
                      <a:srgbClr val="D9D9D9"/>
                    </a:solidFill>
                  </a:tcPr>
                </a:tc>
                <a:extLst>
                  <a:ext uri="{0D108BD9-81ED-4DB2-BD59-A6C34878D82A}">
                    <a16:rowId xmlns:a16="http://schemas.microsoft.com/office/drawing/2014/main" val="10000"/>
                  </a:ext>
                </a:extLst>
              </a:tr>
              <a:tr h="400050">
                <a:tc>
                  <a:txBody>
                    <a:bodyPr/>
                    <a:lstStyle/>
                    <a:p>
                      <a:pPr algn="ctr"/>
                      <a:r>
                        <a:rPr sz="1875">
                          <a:solidFill>
                            <a:srgbClr val="000000"/>
                          </a:solidFill>
                          <a:latin typeface="Calibri"/>
                          <a:ea typeface="Calibri"/>
                          <a:cs typeface="Calibri"/>
                        </a:rPr>
                        <a:t>M1</a:t>
                      </a:r>
                    </a:p>
                  </a:txBody>
                  <a:tcPr marL="47625" marR="47625" marT="28575" marB="28575" anchor="ctr">
                    <a:solidFill>
                      <a:srgbClr val="FFFFFF"/>
                    </a:solidFill>
                  </a:tcPr>
                </a:tc>
                <a:tc>
                  <a:txBody>
                    <a:bodyPr/>
                    <a:lstStyle/>
                    <a:p>
                      <a:pPr algn="ctr"/>
                      <a:r>
                        <a:rPr sz="1875">
                          <a:solidFill>
                            <a:srgbClr val="000000"/>
                          </a:solidFill>
                          <a:latin typeface="Calibri"/>
                          <a:ea typeface="Calibri"/>
                          <a:cs typeface="Calibri"/>
                        </a:rPr>
                        <a:t>Alex</a:t>
                      </a:r>
                    </a:p>
                  </a:txBody>
                  <a:tcPr marL="47625" marR="47625" marT="28575" marB="28575" anchor="ctr">
                    <a:solidFill>
                      <a:srgbClr val="FFFFFF"/>
                    </a:solidFill>
                  </a:tcPr>
                </a:tc>
                <a:extLst>
                  <a:ext uri="{0D108BD9-81ED-4DB2-BD59-A6C34878D82A}">
                    <a16:rowId xmlns:a16="http://schemas.microsoft.com/office/drawing/2014/main" val="10001"/>
                  </a:ext>
                </a:extLst>
              </a:tr>
              <a:tr h="400050">
                <a:tc>
                  <a:txBody>
                    <a:bodyPr/>
                    <a:lstStyle/>
                    <a:p>
                      <a:pPr algn="ctr"/>
                      <a:r>
                        <a:rPr sz="1875">
                          <a:solidFill>
                            <a:srgbClr val="000000"/>
                          </a:solidFill>
                          <a:latin typeface="Calibri"/>
                          <a:ea typeface="Calibri"/>
                          <a:cs typeface="Calibri"/>
                        </a:rPr>
                        <a:t>M2</a:t>
                      </a:r>
                    </a:p>
                  </a:txBody>
                  <a:tcPr marL="47625" marR="47625" marT="28575" marB="28575" anchor="ctr">
                    <a:solidFill>
                      <a:srgbClr val="FFFFFF"/>
                    </a:solidFill>
                  </a:tcPr>
                </a:tc>
                <a:tc>
                  <a:txBody>
                    <a:bodyPr/>
                    <a:lstStyle/>
                    <a:p>
                      <a:pPr algn="ctr"/>
                      <a:r>
                        <a:rPr sz="1875">
                          <a:solidFill>
                            <a:srgbClr val="000000"/>
                          </a:solidFill>
                          <a:latin typeface="Calibri"/>
                          <a:ea typeface="Calibri"/>
                          <a:cs typeface="Calibri"/>
                        </a:rPr>
                        <a:t>Mei</a:t>
                      </a:r>
                    </a:p>
                  </a:txBody>
                  <a:tcPr marL="47625" marR="47625" marT="28575" marB="28575" anchor="ctr">
                    <a:solidFill>
                      <a:srgbClr val="FFFFFF"/>
                    </a:solidFill>
                  </a:tcPr>
                </a:tc>
                <a:extLst>
                  <a:ext uri="{0D108BD9-81ED-4DB2-BD59-A6C34878D82A}">
                    <a16:rowId xmlns:a16="http://schemas.microsoft.com/office/drawing/2014/main" val="10002"/>
                  </a:ext>
                </a:extLst>
              </a:tr>
              <a:tr h="400050">
                <a:tc>
                  <a:txBody>
                    <a:bodyPr/>
                    <a:lstStyle/>
                    <a:p>
                      <a:pPr algn="ctr"/>
                      <a:r>
                        <a:rPr sz="1875">
                          <a:solidFill>
                            <a:srgbClr val="000000"/>
                          </a:solidFill>
                          <a:latin typeface="Calibri"/>
                          <a:ea typeface="Calibri"/>
                          <a:cs typeface="Calibri"/>
                        </a:rPr>
                        <a:t>M3</a:t>
                      </a:r>
                    </a:p>
                  </a:txBody>
                  <a:tcPr marL="47625" marR="47625" marT="28575" marB="28575" anchor="ctr">
                    <a:solidFill>
                      <a:srgbClr val="FFFFFF"/>
                    </a:solidFill>
                  </a:tcPr>
                </a:tc>
                <a:tc>
                  <a:txBody>
                    <a:bodyPr/>
                    <a:lstStyle/>
                    <a:p>
                      <a:pPr algn="ctr"/>
                      <a:r>
                        <a:rPr sz="1875">
                          <a:solidFill>
                            <a:srgbClr val="000000"/>
                          </a:solidFill>
                          <a:latin typeface="Calibri"/>
                          <a:ea typeface="Calibri"/>
                          <a:cs typeface="Calibri"/>
                        </a:rPr>
                        <a:t>Alex</a:t>
                      </a:r>
                    </a:p>
                  </a:txBody>
                  <a:tcPr marL="47625" marR="47625" marT="28575" marB="28575" anchor="ctr">
                    <a:solidFill>
                      <a:srgbClr val="FFFFFF"/>
                    </a:solidFill>
                  </a:tcPr>
                </a:tc>
                <a:extLst>
                  <a:ext uri="{0D108BD9-81ED-4DB2-BD59-A6C34878D82A}">
                    <a16:rowId xmlns:a16="http://schemas.microsoft.com/office/drawing/2014/main" val="10003"/>
                  </a:ext>
                </a:extLst>
              </a:tr>
            </a:tbl>
          </a:graphicData>
        </a:graphic>
      </p:graphicFrame>
      <p:sp>
        <p:nvSpPr>
          <p:cNvPr id="7" name="body">
            <a:extLst>
              <a:ext uri="{FF2B5EF4-FFF2-40B4-BE49-F238E27FC236}">
                <a16:creationId xmlns:a16="http://schemas.microsoft.com/office/drawing/2014/main" id="{DA137CEC-EEB7-4AEC-8FC9-C67F2CE65EAE}"/>
              </a:ext>
            </a:extLst>
          </p:cNvPr>
          <p:cNvSpPr>
            <a:spLocks noGrp="1"/>
          </p:cNvSpPr>
          <p:nvPr/>
        </p:nvSpPr>
        <p:spPr>
          <a:xfrm>
            <a:off x="3352800" y="1924050"/>
            <a:ext cx="2324100" cy="361950"/>
          </a:xfrm>
          <a:prstGeom prst="rect">
            <a:avLst/>
          </a:prstGeom>
          <a:noFill/>
          <a:ln w="0">
            <a:noFill/>
          </a:ln>
        </p:spPr>
        <p:txBody>
          <a:bodyPr wrap="square" lIns="0" tIns="0" rIns="0" bIns="0">
            <a:noAutofit/>
          </a:bodyPr>
          <a:lstStyle/>
          <a:p>
            <a:pPr>
              <a:defRPr sz="2250" b="0">
                <a:solidFill>
                  <a:srgbClr val="000000"/>
                </a:solidFill>
                <a:latin typeface="Calibri"/>
                <a:ea typeface="Calibri"/>
                <a:cs typeface="Calibri"/>
              </a:defRPr>
            </a:pPr>
            <a:r>
              <a:rPr sz="2250" b="0">
                <a:solidFill>
                  <a:srgbClr val="000000"/>
                </a:solidFill>
                <a:latin typeface="Calibri"/>
                <a:ea typeface="Calibri"/>
                <a:cs typeface="Calibri"/>
              </a:rPr>
              <a:t>Every Laser</a:t>
            </a:r>
          </a:p>
        </p:txBody>
      </p:sp>
      <p:graphicFrame>
        <p:nvGraphicFramePr>
          <p:cNvPr id="20" name="表格 19"/>
          <p:cNvGraphicFramePr/>
          <p:nvPr/>
        </p:nvGraphicFramePr>
        <p:xfrm>
          <a:off x="3429000" y="2343150"/>
          <a:ext cx="2324100" cy="800100"/>
        </p:xfrm>
        <a:graphic>
          <a:graphicData uri="http://schemas.openxmlformats.org/drawingml/2006/table">
            <a:tbl>
              <a:tblPr/>
              <a:tblGrid>
                <a:gridCol w="1162050">
                  <a:extLst>
                    <a:ext uri="{9D8B030D-6E8A-4147-A177-3AD203B41FA5}">
                      <a16:colId xmlns:a16="http://schemas.microsoft.com/office/drawing/2014/main" val="20000"/>
                    </a:ext>
                  </a:extLst>
                </a:gridCol>
                <a:gridCol w="1162050">
                  <a:extLst>
                    <a:ext uri="{9D8B030D-6E8A-4147-A177-3AD203B41FA5}">
                      <a16:colId xmlns:a16="http://schemas.microsoft.com/office/drawing/2014/main" val="20001"/>
                    </a:ext>
                  </a:extLst>
                </a:gridCol>
              </a:tblGrid>
              <a:tr h="400050">
                <a:tc>
                  <a:txBody>
                    <a:bodyPr/>
                    <a:lstStyle/>
                    <a:p>
                      <a:pPr algn="ctr"/>
                      <a:r>
                        <a:rPr sz="1875">
                          <a:solidFill>
                            <a:srgbClr val="000000"/>
                          </a:solidFill>
                          <a:latin typeface="Calibri"/>
                          <a:ea typeface="Calibri"/>
                          <a:cs typeface="Calibri"/>
                        </a:rPr>
                        <a:t>mid</a:t>
                      </a:r>
                    </a:p>
                  </a:txBody>
                  <a:tcPr marL="47625" marR="47625" marT="28575" marB="28575" anchor="ctr">
                    <a:solidFill>
                      <a:srgbClr val="D9D9D9"/>
                    </a:solidFill>
                  </a:tcPr>
                </a:tc>
                <a:tc>
                  <a:txBody>
                    <a:bodyPr/>
                    <a:lstStyle/>
                    <a:p>
                      <a:pPr algn="ctr"/>
                      <a:r>
                        <a:rPr sz="1875">
                          <a:solidFill>
                            <a:srgbClr val="000000"/>
                          </a:solidFill>
                          <a:latin typeface="Calibri"/>
                          <a:ea typeface="Calibri"/>
                          <a:cs typeface="Calibri"/>
                        </a:rPr>
                        <a:t>mname</a:t>
                      </a:r>
                    </a:p>
                  </a:txBody>
                  <a:tcPr marL="47625" marR="47625" marT="28575" marB="28575" anchor="ctr">
                    <a:solidFill>
                      <a:srgbClr val="D9D9D9"/>
                    </a:solidFill>
                  </a:tcPr>
                </a:tc>
                <a:extLst>
                  <a:ext uri="{0D108BD9-81ED-4DB2-BD59-A6C34878D82A}">
                    <a16:rowId xmlns:a16="http://schemas.microsoft.com/office/drawing/2014/main" val="10000"/>
                  </a:ext>
                </a:extLst>
              </a:tr>
              <a:tr h="400050">
                <a:tc>
                  <a:txBody>
                    <a:bodyPr/>
                    <a:lstStyle/>
                    <a:p>
                      <a:pPr algn="ctr"/>
                      <a:r>
                        <a:rPr sz="1875">
                          <a:solidFill>
                            <a:srgbClr val="000000"/>
                          </a:solidFill>
                          <a:latin typeface="Calibri"/>
                          <a:ea typeface="Calibri"/>
                          <a:cs typeface="Calibri"/>
                        </a:rPr>
                        <a:t>M2</a:t>
                      </a:r>
                    </a:p>
                  </a:txBody>
                  <a:tcPr marL="47625" marR="47625" marT="28575" marB="28575" anchor="ctr">
                    <a:solidFill>
                      <a:srgbClr val="FFFFFF"/>
                    </a:solidFill>
                  </a:tcPr>
                </a:tc>
                <a:tc>
                  <a:txBody>
                    <a:bodyPr/>
                    <a:lstStyle/>
                    <a:p>
                      <a:pPr algn="ctr"/>
                      <a:r>
                        <a:rPr sz="1875">
                          <a:solidFill>
                            <a:srgbClr val="000000"/>
                          </a:solidFill>
                          <a:latin typeface="Calibri"/>
                          <a:ea typeface="Calibri"/>
                          <a:cs typeface="Calibri"/>
                        </a:rPr>
                        <a:t>Mei</a:t>
                      </a:r>
                    </a:p>
                  </a:txBody>
                  <a:tcPr marL="47625" marR="47625" marT="28575" marB="28575" anchor="ctr">
                    <a:solidFill>
                      <a:srgbClr val="FFFFFF"/>
                    </a:solidFill>
                  </a:tcPr>
                </a:tc>
                <a:extLst>
                  <a:ext uri="{0D108BD9-81ED-4DB2-BD59-A6C34878D82A}">
                    <a16:rowId xmlns:a16="http://schemas.microsoft.com/office/drawing/2014/main" val="10001"/>
                  </a:ext>
                </a:extLst>
              </a:tr>
            </a:tbl>
          </a:graphicData>
        </a:graphic>
      </p:graphicFrame>
      <p:sp>
        <p:nvSpPr>
          <p:cNvPr id="9" name="body">
            <a:extLst>
              <a:ext uri="{FF2B5EF4-FFF2-40B4-BE49-F238E27FC236}">
                <a16:creationId xmlns:a16="http://schemas.microsoft.com/office/drawing/2014/main" id="{F8410060-260F-4DC7-B838-4FF8CB767162}"/>
              </a:ext>
            </a:extLst>
          </p:cNvPr>
          <p:cNvSpPr>
            <a:spLocks noGrp="1"/>
          </p:cNvSpPr>
          <p:nvPr/>
        </p:nvSpPr>
        <p:spPr>
          <a:xfrm>
            <a:off x="5876925" y="1924050"/>
            <a:ext cx="2324100" cy="361950"/>
          </a:xfrm>
          <a:prstGeom prst="rect">
            <a:avLst/>
          </a:prstGeom>
          <a:noFill/>
          <a:ln w="0">
            <a:noFill/>
          </a:ln>
        </p:spPr>
        <p:txBody>
          <a:bodyPr wrap="square" lIns="0" tIns="0" rIns="0" bIns="0">
            <a:noAutofit/>
          </a:bodyPr>
          <a:lstStyle/>
          <a:p>
            <a:pPr>
              <a:defRPr sz="2250" b="0">
                <a:solidFill>
                  <a:srgbClr val="000000"/>
                </a:solidFill>
                <a:latin typeface="Calibri"/>
                <a:ea typeface="Calibri"/>
                <a:cs typeface="Calibri"/>
              </a:defRPr>
            </a:pPr>
            <a:r>
              <a:rPr sz="2250" b="0">
                <a:solidFill>
                  <a:srgbClr val="000000"/>
                </a:solidFill>
                <a:latin typeface="Calibri"/>
                <a:ea typeface="Calibri"/>
                <a:cs typeface="Calibri"/>
              </a:rPr>
              <a:t>Only Laser</a:t>
            </a:r>
          </a:p>
        </p:txBody>
      </p:sp>
      <p:graphicFrame>
        <p:nvGraphicFramePr>
          <p:cNvPr id="22" name="表格 21"/>
          <p:cNvGraphicFramePr/>
          <p:nvPr/>
        </p:nvGraphicFramePr>
        <p:xfrm>
          <a:off x="5953125" y="2343150"/>
          <a:ext cx="2324100" cy="1200150"/>
        </p:xfrm>
        <a:graphic>
          <a:graphicData uri="http://schemas.openxmlformats.org/drawingml/2006/table">
            <a:tbl>
              <a:tblPr/>
              <a:tblGrid>
                <a:gridCol w="1162050">
                  <a:extLst>
                    <a:ext uri="{9D8B030D-6E8A-4147-A177-3AD203B41FA5}">
                      <a16:colId xmlns:a16="http://schemas.microsoft.com/office/drawing/2014/main" val="20000"/>
                    </a:ext>
                  </a:extLst>
                </a:gridCol>
                <a:gridCol w="1162050">
                  <a:extLst>
                    <a:ext uri="{9D8B030D-6E8A-4147-A177-3AD203B41FA5}">
                      <a16:colId xmlns:a16="http://schemas.microsoft.com/office/drawing/2014/main" val="20001"/>
                    </a:ext>
                  </a:extLst>
                </a:gridCol>
              </a:tblGrid>
              <a:tr h="400050">
                <a:tc>
                  <a:txBody>
                    <a:bodyPr/>
                    <a:lstStyle/>
                    <a:p>
                      <a:pPr algn="ctr"/>
                      <a:r>
                        <a:rPr sz="1875">
                          <a:solidFill>
                            <a:srgbClr val="000000"/>
                          </a:solidFill>
                          <a:latin typeface="Calibri"/>
                          <a:ea typeface="Calibri"/>
                          <a:cs typeface="Calibri"/>
                        </a:rPr>
                        <a:t>mid</a:t>
                      </a:r>
                    </a:p>
                  </a:txBody>
                  <a:tcPr marL="47625" marR="47625" marT="28575" marB="28575" anchor="ctr">
                    <a:solidFill>
                      <a:srgbClr val="D9D9D9"/>
                    </a:solidFill>
                  </a:tcPr>
                </a:tc>
                <a:tc>
                  <a:txBody>
                    <a:bodyPr/>
                    <a:lstStyle/>
                    <a:p>
                      <a:pPr algn="ctr"/>
                      <a:r>
                        <a:rPr sz="1875">
                          <a:solidFill>
                            <a:srgbClr val="000000"/>
                          </a:solidFill>
                          <a:latin typeface="Calibri"/>
                          <a:ea typeface="Calibri"/>
                          <a:cs typeface="Calibri"/>
                        </a:rPr>
                        <a:t>mname</a:t>
                      </a:r>
                    </a:p>
                  </a:txBody>
                  <a:tcPr marL="47625" marR="47625" marT="28575" marB="28575" anchor="ctr">
                    <a:solidFill>
                      <a:srgbClr val="D9D9D9"/>
                    </a:solidFill>
                  </a:tcPr>
                </a:tc>
                <a:extLst>
                  <a:ext uri="{0D108BD9-81ED-4DB2-BD59-A6C34878D82A}">
                    <a16:rowId xmlns:a16="http://schemas.microsoft.com/office/drawing/2014/main" val="10000"/>
                  </a:ext>
                </a:extLst>
              </a:tr>
              <a:tr h="400050">
                <a:tc>
                  <a:txBody>
                    <a:bodyPr/>
                    <a:lstStyle/>
                    <a:p>
                      <a:pPr algn="ctr"/>
                      <a:r>
                        <a:rPr sz="1875">
                          <a:solidFill>
                            <a:srgbClr val="000000"/>
                          </a:solidFill>
                          <a:latin typeface="Calibri"/>
                          <a:ea typeface="Calibri"/>
                          <a:cs typeface="Calibri"/>
                        </a:rPr>
                        <a:t>M1</a:t>
                      </a:r>
                    </a:p>
                  </a:txBody>
                  <a:tcPr marL="47625" marR="47625" marT="28575" marB="28575" anchor="ctr">
                    <a:solidFill>
                      <a:srgbClr val="FFFFFF"/>
                    </a:solidFill>
                  </a:tcPr>
                </a:tc>
                <a:tc>
                  <a:txBody>
                    <a:bodyPr/>
                    <a:lstStyle/>
                    <a:p>
                      <a:pPr algn="ctr"/>
                      <a:r>
                        <a:rPr sz="1875">
                          <a:solidFill>
                            <a:srgbClr val="000000"/>
                          </a:solidFill>
                          <a:latin typeface="Calibri"/>
                          <a:ea typeface="Calibri"/>
                          <a:cs typeface="Calibri"/>
                        </a:rPr>
                        <a:t>Alex</a:t>
                      </a:r>
                    </a:p>
                  </a:txBody>
                  <a:tcPr marL="47625" marR="47625" marT="28575" marB="28575" anchor="ctr">
                    <a:solidFill>
                      <a:srgbClr val="FFFFFF"/>
                    </a:solidFill>
                  </a:tcPr>
                </a:tc>
                <a:extLst>
                  <a:ext uri="{0D108BD9-81ED-4DB2-BD59-A6C34878D82A}">
                    <a16:rowId xmlns:a16="http://schemas.microsoft.com/office/drawing/2014/main" val="10001"/>
                  </a:ext>
                </a:extLst>
              </a:tr>
              <a:tr h="400050">
                <a:tc>
                  <a:txBody>
                    <a:bodyPr/>
                    <a:lstStyle/>
                    <a:p>
                      <a:pPr algn="ctr"/>
                      <a:r>
                        <a:rPr sz="1875">
                          <a:solidFill>
                            <a:srgbClr val="000000"/>
                          </a:solidFill>
                          <a:latin typeface="Calibri"/>
                          <a:ea typeface="Calibri"/>
                          <a:cs typeface="Calibri"/>
                        </a:rPr>
                        <a:t>M3</a:t>
                      </a:r>
                    </a:p>
                  </a:txBody>
                  <a:tcPr marL="47625" marR="47625" marT="28575" marB="28575" anchor="ctr">
                    <a:solidFill>
                      <a:srgbClr val="FFFFFF"/>
                    </a:solidFill>
                  </a:tcPr>
                </a:tc>
                <a:tc>
                  <a:txBody>
                    <a:bodyPr/>
                    <a:lstStyle/>
                    <a:p>
                      <a:pPr algn="ctr"/>
                      <a:r>
                        <a:rPr sz="1875">
                          <a:solidFill>
                            <a:srgbClr val="000000"/>
                          </a:solidFill>
                          <a:latin typeface="Calibri"/>
                          <a:ea typeface="Calibri"/>
                          <a:cs typeface="Calibri"/>
                        </a:rPr>
                        <a:t>Alex</a:t>
                      </a:r>
                    </a:p>
                  </a:txBody>
                  <a:tcPr marL="47625" marR="47625" marT="28575" marB="28575" anchor="ctr">
                    <a:solidFill>
                      <a:srgbClr val="FFFFFF"/>
                    </a:solidFill>
                  </a:tcPr>
                </a:tc>
                <a:extLst>
                  <a:ext uri="{0D108BD9-81ED-4DB2-BD59-A6C34878D82A}">
                    <a16:rowId xmlns:a16="http://schemas.microsoft.com/office/drawing/2014/main" val="10002"/>
                  </a:ext>
                </a:extLst>
              </a:tr>
            </a:tbl>
          </a:graphicData>
        </a:graphic>
      </p:graphicFrame>
      <p:sp>
        <p:nvSpPr>
          <p:cNvPr id="11" name="body">
            <a:extLst>
              <a:ext uri="{FF2B5EF4-FFF2-40B4-BE49-F238E27FC236}">
                <a16:creationId xmlns:a16="http://schemas.microsoft.com/office/drawing/2014/main" id="{49B578FE-0D8B-4A27-BEF5-788D94714CED}"/>
              </a:ext>
            </a:extLst>
          </p:cNvPr>
          <p:cNvSpPr>
            <a:spLocks noGrp="1"/>
          </p:cNvSpPr>
          <p:nvPr/>
        </p:nvSpPr>
        <p:spPr>
          <a:xfrm>
            <a:off x="781050" y="4448175"/>
            <a:ext cx="7600950" cy="952500"/>
          </a:xfrm>
          <a:prstGeom prst="rect">
            <a:avLst/>
          </a:prstGeom>
          <a:noFill/>
          <a:ln w="0">
            <a:noFill/>
          </a:ln>
        </p:spPr>
        <p:txBody>
          <a:bodyPr wrap="square" lIns="0" tIns="0" rIns="0" bIns="0">
            <a:noAutofit/>
          </a:bodyPr>
          <a:lstStyle/>
          <a:p>
            <a:pPr>
              <a:defRPr sz="2175" b="0">
                <a:solidFill>
                  <a:srgbClr val="FF0000"/>
                </a:solidFill>
                <a:latin typeface="Calibri"/>
                <a:ea typeface="Calibri"/>
                <a:cs typeface="Calibri"/>
              </a:defRPr>
            </a:pPr>
            <a:r>
              <a:rPr sz="2175" b="0">
                <a:solidFill>
                  <a:srgbClr val="FF0000"/>
                </a:solidFill>
                <a:latin typeface="Calibri"/>
                <a:ea typeface="Calibri"/>
                <a:cs typeface="Calibri"/>
              </a:rPr>
              <a:t>Mei satisfies every Laser requirement, but her CNC training prevents her from satisfying only Laser.</a:t>
            </a:r>
          </a:p>
        </p:txBody>
      </p:sp>
      <p:sp>
        <p:nvSpPr>
          <p:cNvPr id="12" name="body">
            <a:extLst>
              <a:ext uri="{FF2B5EF4-FFF2-40B4-BE49-F238E27FC236}">
                <a16:creationId xmlns:a16="http://schemas.microsoft.com/office/drawing/2014/main" id="{4812C1ED-A09A-4F75-BD05-BF503A9B75FC}"/>
              </a:ext>
            </a:extLst>
          </p:cNvPr>
          <p:cNvSpPr>
            <a:spLocks noGrp="1"/>
          </p:cNvSpPr>
          <p:nvPr/>
        </p:nvSpPr>
        <p:spPr>
          <a:xfrm>
            <a:off x="781050" y="5524500"/>
            <a:ext cx="7600950" cy="952500"/>
          </a:xfrm>
          <a:prstGeom prst="rect">
            <a:avLst/>
          </a:prstGeom>
          <a:noFill/>
          <a:ln w="0">
            <a:noFill/>
          </a:ln>
        </p:spPr>
        <p:txBody>
          <a:bodyPr wrap="square" lIns="0" tIns="0" rIns="0" bIns="0">
            <a:noAutofit/>
          </a:bodyPr>
          <a:lstStyle/>
          <a:p>
            <a:pPr>
              <a:defRPr sz="2025" b="0">
                <a:solidFill>
                  <a:srgbClr val="000000"/>
                </a:solidFill>
                <a:latin typeface="Calibri"/>
                <a:ea typeface="Calibri"/>
                <a:cs typeface="Calibri"/>
              </a:defRPr>
            </a:pPr>
            <a:r>
              <a:rPr sz="2025" b="0">
                <a:solidFill>
                  <a:srgbClr val="000000"/>
                </a:solidFill>
                <a:latin typeface="Calibri"/>
                <a:ea typeface="Calibri"/>
                <a:cs typeface="Calibri"/>
              </a:rPr>
              <a:t>Both Alex rows remain in the only-Laser result.</a:t>
            </a:r>
          </a:p>
        </p:txBody>
      </p:sp>
      <p:sp>
        <p:nvSpPr>
          <p:cNvPr id="9001" name="Title 1">
            <a:extLst>
              <a:ext uri="{FF2B5EF4-FFF2-40B4-BE49-F238E27FC236}">
                <a16:creationId xmlns:a16="http://schemas.microsoft.com/office/drawing/2014/main" id="{4EF27E5C-9C4D-BDBE-7667-D0B141BCC8F5}"/>
              </a:ext>
            </a:extLst>
          </p:cNvPr>
          <p:cNvSpPr>
            <a:spLocks noGrp="1"/>
          </p:cNvSpPr>
          <p:nvPr>
            <p:ph type="title"/>
          </p:nvPr>
        </p:nvSpPr>
        <p:spPr/>
        <p:txBody>
          <a:bodyPr/>
          <a:lstStyle/>
          <a:p>
            <a:r>
              <a:rPr lang="en-US">
                <a:solidFill>
                  <a:srgbClr val="FF0000"/>
                </a:solidFill>
              </a:rPr>
              <a:t>Solutions: </a:t>
            </a:r>
            <a:r>
              <a:rPr lang="en-US">
                <a:solidFill>
                  <a:srgbClr val="3333CC"/>
                </a:solidFill>
              </a:rPr>
              <a:t>Q27 (3)</a:t>
            </a:r>
          </a:p>
        </p:txBody>
      </p:sp>
      <p:sp>
        <p:nvSpPr>
          <p:cNvPr id="9002" name="Slide Number Placeholder 1">
            <a:extLst>
              <a:ext uri="{FF2B5EF4-FFF2-40B4-BE49-F238E27FC236}">
                <a16:creationId xmlns:a16="http://schemas.microsoft.com/office/drawing/2014/main" id="{B90139AC-3BDA-723A-097A-000DA0A784C1}"/>
              </a:ext>
            </a:extLst>
          </p:cNvPr>
          <p:cNvSpPr>
            <a:spLocks noGrp="1"/>
          </p:cNvSpPr>
          <p:nvPr>
            <p:ph type="sldNum" sz="quarter" idx="12"/>
          </p:nvPr>
        </p:nvSpPr>
        <p:spPr/>
        <p:txBody>
          <a:bodyPr/>
          <a:lstStyle/>
          <a:p>
            <a:pPr>
              <a:defRPr/>
            </a:pPr>
            <a:fld id="{43CA101F-9E5F-9249-9862-3CE55B3BB777}" type="slidenum">
              <a:rPr lang="en-US" altLang="zh-TW" smtClean="0"/>
              <a:pPr>
                <a:defRPr/>
              </a:pPr>
              <a:t>73</a:t>
            </a:fld>
            <a:endParaRPr lang="en-US" altLang="zh-TW"/>
          </a:p>
        </p:txBody>
      </p:sp>
    </p:spTree>
    <p:extLst>
      <p:ext uri="{BB962C8B-B14F-4D97-AF65-F5344CB8AC3E}">
        <p14:creationId xmlns:p14="http://schemas.microsoft.com/office/powerpoint/2010/main" val="1180046930"/>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body">
            <a:extLst>
              <a:ext uri="{FF2B5EF4-FFF2-40B4-BE49-F238E27FC236}">
                <a16:creationId xmlns:a16="http://schemas.microsoft.com/office/drawing/2014/main" id="{F13B5BC0-D6FA-4F70-A473-C37C1F97B963}"/>
              </a:ext>
            </a:extLst>
          </p:cNvPr>
          <p:cNvSpPr>
            <a:spLocks noGrp="1"/>
          </p:cNvSpPr>
          <p:nvPr/>
        </p:nvSpPr>
        <p:spPr>
          <a:xfrm>
            <a:off x="781050" y="5876925"/>
            <a:ext cx="7620000" cy="285750"/>
          </a:xfrm>
          <a:prstGeom prst="rect">
            <a:avLst/>
          </a:prstGeom>
          <a:noFill/>
          <a:ln w="0">
            <a:noFill/>
          </a:ln>
        </p:spPr>
        <p:txBody>
          <a:bodyPr wrap="square" lIns="0" tIns="0" rIns="0" bIns="0">
            <a:noAutofit/>
          </a:bodyPr>
          <a:lstStyle/>
          <a:p>
            <a:pPr>
              <a:defRPr sz="1725" b="0">
                <a:solidFill>
                  <a:srgbClr val="3333CC"/>
                </a:solidFill>
                <a:latin typeface="Calibri"/>
                <a:ea typeface="Calibri"/>
                <a:cs typeface="Calibri"/>
              </a:defRPr>
            </a:pPr>
            <a:r>
              <a:rPr sz="1725" b="0">
                <a:solidFill>
                  <a:srgbClr val="3333CC"/>
                </a:solidFill>
                <a:latin typeface="Calibri"/>
                <a:ea typeface="Calibri"/>
                <a:cs typeface="Calibri"/>
              </a:rPr>
              <a:t>Think: 30 s</a:t>
            </a:r>
          </a:p>
        </p:txBody>
      </p:sp>
      <p:sp>
        <p:nvSpPr>
          <p:cNvPr id="4" name="body">
            <a:extLst>
              <a:ext uri="{FF2B5EF4-FFF2-40B4-BE49-F238E27FC236}">
                <a16:creationId xmlns:a16="http://schemas.microsoft.com/office/drawing/2014/main" id="{9F2F4738-87B8-4C83-92BC-C201CF2EE8B1}"/>
              </a:ext>
            </a:extLst>
          </p:cNvPr>
          <p:cNvSpPr>
            <a:spLocks noGrp="1"/>
          </p:cNvSpPr>
          <p:nvPr/>
        </p:nvSpPr>
        <p:spPr>
          <a:xfrm>
            <a:off x="838200" y="1123950"/>
            <a:ext cx="4295775" cy="361950"/>
          </a:xfrm>
          <a:prstGeom prst="rect">
            <a:avLst/>
          </a:prstGeom>
          <a:noFill/>
          <a:ln w="0">
            <a:noFill/>
          </a:ln>
        </p:spPr>
        <p:txBody>
          <a:bodyPr wrap="square" lIns="0" tIns="0" rIns="0" bIns="0">
            <a:noAutofit/>
          </a:bodyPr>
          <a:lstStyle/>
          <a:p>
            <a:pPr>
              <a:defRPr sz="2250" b="0">
                <a:solidFill>
                  <a:srgbClr val="000000"/>
                </a:solidFill>
                <a:latin typeface="Calibri"/>
                <a:ea typeface="Calibri"/>
                <a:cs typeface="Calibri"/>
              </a:defRPr>
            </a:pPr>
            <a:r>
              <a:rPr sz="2250" b="0">
                <a:solidFill>
                  <a:srgbClr val="000000"/>
                </a:solidFill>
                <a:latin typeface="Calibri"/>
                <a:ea typeface="Calibri"/>
                <a:cs typeface="Calibri"/>
              </a:rPr>
              <a:t>Trained</a:t>
            </a:r>
          </a:p>
        </p:txBody>
      </p:sp>
      <p:graphicFrame>
        <p:nvGraphicFramePr>
          <p:cNvPr id="16" name="表格 15"/>
          <p:cNvGraphicFramePr/>
          <p:nvPr/>
        </p:nvGraphicFramePr>
        <p:xfrm>
          <a:off x="914400" y="1543050"/>
          <a:ext cx="4295775" cy="2533650"/>
        </p:xfrm>
        <a:graphic>
          <a:graphicData uri="http://schemas.openxmlformats.org/drawingml/2006/table">
            <a:tbl>
              <a:tblPr/>
              <a:tblGrid>
                <a:gridCol w="1431925">
                  <a:extLst>
                    <a:ext uri="{9D8B030D-6E8A-4147-A177-3AD203B41FA5}">
                      <a16:colId xmlns:a16="http://schemas.microsoft.com/office/drawing/2014/main" val="20000"/>
                    </a:ext>
                  </a:extLst>
                </a:gridCol>
                <a:gridCol w="1431925">
                  <a:extLst>
                    <a:ext uri="{9D8B030D-6E8A-4147-A177-3AD203B41FA5}">
                      <a16:colId xmlns:a16="http://schemas.microsoft.com/office/drawing/2014/main" val="20001"/>
                    </a:ext>
                  </a:extLst>
                </a:gridCol>
                <a:gridCol w="1431925">
                  <a:extLst>
                    <a:ext uri="{9D8B030D-6E8A-4147-A177-3AD203B41FA5}">
                      <a16:colId xmlns:a16="http://schemas.microsoft.com/office/drawing/2014/main" val="20002"/>
                    </a:ext>
                  </a:extLst>
                </a:gridCol>
              </a:tblGrid>
              <a:tr h="361950">
                <a:tc>
                  <a:txBody>
                    <a:bodyPr/>
                    <a:lstStyle/>
                    <a:p>
                      <a:pPr algn="ctr"/>
                      <a:r>
                        <a:rPr sz="1800">
                          <a:solidFill>
                            <a:srgbClr val="000000"/>
                          </a:solidFill>
                          <a:latin typeface="Calibri"/>
                          <a:ea typeface="Calibri"/>
                          <a:cs typeface="Calibri"/>
                        </a:rPr>
                        <a:t>mid</a:t>
                      </a:r>
                    </a:p>
                  </a:txBody>
                  <a:tcPr marL="47625" marR="47625" marT="28575" marB="28575" anchor="ctr">
                    <a:solidFill>
                      <a:srgbClr val="D9D9D9"/>
                    </a:solidFill>
                  </a:tcPr>
                </a:tc>
                <a:tc>
                  <a:txBody>
                    <a:bodyPr/>
                    <a:lstStyle/>
                    <a:p>
                      <a:pPr algn="ctr"/>
                      <a:r>
                        <a:rPr sz="1800">
                          <a:solidFill>
                            <a:srgbClr val="000000"/>
                          </a:solidFill>
                          <a:latin typeface="Calibri"/>
                          <a:ea typeface="Calibri"/>
                          <a:cs typeface="Calibri"/>
                        </a:rPr>
                        <a:t>tid</a:t>
                      </a:r>
                    </a:p>
                  </a:txBody>
                  <a:tcPr marL="47625" marR="47625" marT="28575" marB="28575" anchor="ctr">
                    <a:solidFill>
                      <a:srgbClr val="D9D9D9"/>
                    </a:solidFill>
                  </a:tcPr>
                </a:tc>
                <a:tc>
                  <a:txBody>
                    <a:bodyPr/>
                    <a:lstStyle/>
                    <a:p>
                      <a:pPr algn="ctr"/>
                      <a:r>
                        <a:rPr sz="1800">
                          <a:solidFill>
                            <a:srgbClr val="000000"/>
                          </a:solidFill>
                          <a:latin typeface="Calibri"/>
                          <a:ea typeface="Calibri"/>
                          <a:cs typeface="Calibri"/>
                        </a:rPr>
                        <a:t>day</a:t>
                      </a:r>
                    </a:p>
                  </a:txBody>
                  <a:tcPr marL="47625" marR="47625" marT="28575" marB="28575" anchor="ctr">
                    <a:solidFill>
                      <a:srgbClr val="D9D9D9"/>
                    </a:solidFill>
                  </a:tcPr>
                </a:tc>
                <a:extLst>
                  <a:ext uri="{0D108BD9-81ED-4DB2-BD59-A6C34878D82A}">
                    <a16:rowId xmlns:a16="http://schemas.microsoft.com/office/drawing/2014/main" val="10000"/>
                  </a:ext>
                </a:extLst>
              </a:tr>
              <a:tr h="361950">
                <a:tc>
                  <a:txBody>
                    <a:bodyPr/>
                    <a:lstStyle/>
                    <a:p>
                      <a:pPr algn="ctr"/>
                      <a:r>
                        <a:rPr sz="1800">
                          <a:solidFill>
                            <a:srgbClr val="000000"/>
                          </a:solidFill>
                          <a:latin typeface="Calibri"/>
                          <a:ea typeface="Calibri"/>
                          <a:cs typeface="Calibri"/>
                        </a:rPr>
                        <a:t>M1</a:t>
                      </a:r>
                    </a:p>
                  </a:txBody>
                  <a:tcPr marL="47625" marR="47625" marT="28575" marB="28575" anchor="ctr">
                    <a:solidFill>
                      <a:srgbClr val="FFFFFF"/>
                    </a:solidFill>
                  </a:tcPr>
                </a:tc>
                <a:tc>
                  <a:txBody>
                    <a:bodyPr/>
                    <a:lstStyle/>
                    <a:p>
                      <a:pPr algn="ctr"/>
                      <a:r>
                        <a:rPr sz="1800">
                          <a:solidFill>
                            <a:srgbClr val="000000"/>
                          </a:solidFill>
                          <a:latin typeface="Calibri"/>
                          <a:ea typeface="Calibri"/>
                          <a:cs typeface="Calibri"/>
                        </a:rPr>
                        <a:t>T1</a:t>
                      </a:r>
                    </a:p>
                  </a:txBody>
                  <a:tcPr marL="47625" marR="47625" marT="28575" marB="28575" anchor="ctr">
                    <a:solidFill>
                      <a:srgbClr val="FFFFFF"/>
                    </a:solidFill>
                  </a:tcPr>
                </a:tc>
                <a:tc>
                  <a:txBody>
                    <a:bodyPr/>
                    <a:lstStyle/>
                    <a:p>
                      <a:pPr algn="ctr"/>
                      <a:r>
                        <a:rPr sz="1800">
                          <a:solidFill>
                            <a:srgbClr val="000000"/>
                          </a:solidFill>
                          <a:latin typeface="Calibri"/>
                          <a:ea typeface="Calibri"/>
                          <a:cs typeface="Calibri"/>
                        </a:rPr>
                        <a:t>Sep 1</a:t>
                      </a:r>
                    </a:p>
                  </a:txBody>
                  <a:tcPr marL="47625" marR="47625" marT="28575" marB="28575" anchor="ctr">
                    <a:solidFill>
                      <a:srgbClr val="FFFFFF"/>
                    </a:solidFill>
                  </a:tcPr>
                </a:tc>
                <a:extLst>
                  <a:ext uri="{0D108BD9-81ED-4DB2-BD59-A6C34878D82A}">
                    <a16:rowId xmlns:a16="http://schemas.microsoft.com/office/drawing/2014/main" val="10001"/>
                  </a:ext>
                </a:extLst>
              </a:tr>
              <a:tr h="361950">
                <a:tc>
                  <a:txBody>
                    <a:bodyPr/>
                    <a:lstStyle/>
                    <a:p>
                      <a:pPr algn="ctr"/>
                      <a:r>
                        <a:rPr sz="1800">
                          <a:solidFill>
                            <a:srgbClr val="000000"/>
                          </a:solidFill>
                          <a:latin typeface="Calibri"/>
                          <a:ea typeface="Calibri"/>
                          <a:cs typeface="Calibri"/>
                        </a:rPr>
                        <a:t>M1</a:t>
                      </a:r>
                    </a:p>
                  </a:txBody>
                  <a:tcPr marL="47625" marR="47625" marT="28575" marB="28575" anchor="ctr">
                    <a:solidFill>
                      <a:srgbClr val="FFFFFF"/>
                    </a:solidFill>
                  </a:tcPr>
                </a:tc>
                <a:tc>
                  <a:txBody>
                    <a:bodyPr/>
                    <a:lstStyle/>
                    <a:p>
                      <a:pPr algn="ctr"/>
                      <a:r>
                        <a:rPr sz="1800">
                          <a:solidFill>
                            <a:srgbClr val="000000"/>
                          </a:solidFill>
                          <a:latin typeface="Calibri"/>
                          <a:ea typeface="Calibri"/>
                          <a:cs typeface="Calibri"/>
                        </a:rPr>
                        <a:t>T1</a:t>
                      </a:r>
                    </a:p>
                  </a:txBody>
                  <a:tcPr marL="47625" marR="47625" marT="28575" marB="28575" anchor="ctr">
                    <a:solidFill>
                      <a:srgbClr val="FFFFFF"/>
                    </a:solidFill>
                  </a:tcPr>
                </a:tc>
                <a:tc>
                  <a:txBody>
                    <a:bodyPr/>
                    <a:lstStyle/>
                    <a:p>
                      <a:pPr algn="ctr"/>
                      <a:r>
                        <a:rPr sz="1800">
                          <a:solidFill>
                            <a:srgbClr val="000000"/>
                          </a:solidFill>
                          <a:latin typeface="Calibri"/>
                          <a:ea typeface="Calibri"/>
                          <a:cs typeface="Calibri"/>
                        </a:rPr>
                        <a:t>Sep 5</a:t>
                      </a:r>
                    </a:p>
                  </a:txBody>
                  <a:tcPr marL="47625" marR="47625" marT="28575" marB="28575" anchor="ctr">
                    <a:solidFill>
                      <a:srgbClr val="FFFFFF"/>
                    </a:solidFill>
                  </a:tcPr>
                </a:tc>
                <a:extLst>
                  <a:ext uri="{0D108BD9-81ED-4DB2-BD59-A6C34878D82A}">
                    <a16:rowId xmlns:a16="http://schemas.microsoft.com/office/drawing/2014/main" val="10002"/>
                  </a:ext>
                </a:extLst>
              </a:tr>
              <a:tr h="361950">
                <a:tc>
                  <a:txBody>
                    <a:bodyPr/>
                    <a:lstStyle/>
                    <a:p>
                      <a:pPr algn="ctr"/>
                      <a:r>
                        <a:rPr sz="1800">
                          <a:solidFill>
                            <a:srgbClr val="000000"/>
                          </a:solidFill>
                          <a:latin typeface="Calibri"/>
                          <a:ea typeface="Calibri"/>
                          <a:cs typeface="Calibri"/>
                        </a:rPr>
                        <a:t>M2</a:t>
                      </a:r>
                    </a:p>
                  </a:txBody>
                  <a:tcPr marL="47625" marR="47625" marT="28575" marB="28575" anchor="ctr">
                    <a:solidFill>
                      <a:srgbClr val="FFFFFF"/>
                    </a:solidFill>
                  </a:tcPr>
                </a:tc>
                <a:tc>
                  <a:txBody>
                    <a:bodyPr/>
                    <a:lstStyle/>
                    <a:p>
                      <a:pPr algn="ctr"/>
                      <a:r>
                        <a:rPr sz="1800">
                          <a:solidFill>
                            <a:srgbClr val="000000"/>
                          </a:solidFill>
                          <a:latin typeface="Calibri"/>
                          <a:ea typeface="Calibri"/>
                          <a:cs typeface="Calibri"/>
                        </a:rPr>
                        <a:t>T1</a:t>
                      </a:r>
                    </a:p>
                  </a:txBody>
                  <a:tcPr marL="47625" marR="47625" marT="28575" marB="28575" anchor="ctr">
                    <a:solidFill>
                      <a:srgbClr val="FFFFFF"/>
                    </a:solidFill>
                  </a:tcPr>
                </a:tc>
                <a:tc>
                  <a:txBody>
                    <a:bodyPr/>
                    <a:lstStyle/>
                    <a:p>
                      <a:pPr algn="ctr"/>
                      <a:r>
                        <a:rPr sz="1800">
                          <a:solidFill>
                            <a:srgbClr val="000000"/>
                          </a:solidFill>
                          <a:latin typeface="Calibri"/>
                          <a:ea typeface="Calibri"/>
                          <a:cs typeface="Calibri"/>
                        </a:rPr>
                        <a:t>Sep 2</a:t>
                      </a:r>
                    </a:p>
                  </a:txBody>
                  <a:tcPr marL="47625" marR="47625" marT="28575" marB="28575" anchor="ctr">
                    <a:solidFill>
                      <a:srgbClr val="FFFFFF"/>
                    </a:solidFill>
                  </a:tcPr>
                </a:tc>
                <a:extLst>
                  <a:ext uri="{0D108BD9-81ED-4DB2-BD59-A6C34878D82A}">
                    <a16:rowId xmlns:a16="http://schemas.microsoft.com/office/drawing/2014/main" val="10003"/>
                  </a:ext>
                </a:extLst>
              </a:tr>
              <a:tr h="361950">
                <a:tc>
                  <a:txBody>
                    <a:bodyPr/>
                    <a:lstStyle/>
                    <a:p>
                      <a:pPr algn="ctr"/>
                      <a:r>
                        <a:rPr sz="1800">
                          <a:solidFill>
                            <a:srgbClr val="000000"/>
                          </a:solidFill>
                          <a:latin typeface="Calibri"/>
                          <a:ea typeface="Calibri"/>
                          <a:cs typeface="Calibri"/>
                        </a:rPr>
                        <a:t>M2</a:t>
                      </a:r>
                    </a:p>
                  </a:txBody>
                  <a:tcPr marL="47625" marR="47625" marT="28575" marB="28575" anchor="ctr">
                    <a:solidFill>
                      <a:srgbClr val="FFFFFF"/>
                    </a:solidFill>
                  </a:tcPr>
                </a:tc>
                <a:tc>
                  <a:txBody>
                    <a:bodyPr/>
                    <a:lstStyle/>
                    <a:p>
                      <a:pPr algn="ctr"/>
                      <a:r>
                        <a:rPr sz="1800">
                          <a:solidFill>
                            <a:srgbClr val="000000"/>
                          </a:solidFill>
                          <a:latin typeface="Calibri"/>
                          <a:ea typeface="Calibri"/>
                          <a:cs typeface="Calibri"/>
                        </a:rPr>
                        <a:t>T2</a:t>
                      </a:r>
                    </a:p>
                  </a:txBody>
                  <a:tcPr marL="47625" marR="47625" marT="28575" marB="28575" anchor="ctr">
                    <a:solidFill>
                      <a:srgbClr val="FFFFFF"/>
                    </a:solidFill>
                  </a:tcPr>
                </a:tc>
                <a:tc>
                  <a:txBody>
                    <a:bodyPr/>
                    <a:lstStyle/>
                    <a:p>
                      <a:pPr algn="ctr"/>
                      <a:r>
                        <a:rPr sz="1800">
                          <a:solidFill>
                            <a:srgbClr val="000000"/>
                          </a:solidFill>
                          <a:latin typeface="Calibri"/>
                          <a:ea typeface="Calibri"/>
                          <a:cs typeface="Calibri"/>
                        </a:rPr>
                        <a:t>Sep 3</a:t>
                      </a:r>
                    </a:p>
                  </a:txBody>
                  <a:tcPr marL="47625" marR="47625" marT="28575" marB="28575" anchor="ctr">
                    <a:solidFill>
                      <a:srgbClr val="FFFFFF"/>
                    </a:solidFill>
                  </a:tcPr>
                </a:tc>
                <a:extLst>
                  <a:ext uri="{0D108BD9-81ED-4DB2-BD59-A6C34878D82A}">
                    <a16:rowId xmlns:a16="http://schemas.microsoft.com/office/drawing/2014/main" val="10004"/>
                  </a:ext>
                </a:extLst>
              </a:tr>
              <a:tr h="361950">
                <a:tc>
                  <a:txBody>
                    <a:bodyPr/>
                    <a:lstStyle/>
                    <a:p>
                      <a:pPr algn="ctr"/>
                      <a:r>
                        <a:rPr sz="1800">
                          <a:solidFill>
                            <a:srgbClr val="000000"/>
                          </a:solidFill>
                          <a:latin typeface="Calibri"/>
                          <a:ea typeface="Calibri"/>
                          <a:cs typeface="Calibri"/>
                        </a:rPr>
                        <a:t>M2</a:t>
                      </a:r>
                    </a:p>
                  </a:txBody>
                  <a:tcPr marL="47625" marR="47625" marT="28575" marB="28575" anchor="ctr">
                    <a:solidFill>
                      <a:srgbClr val="FFFFFF"/>
                    </a:solidFill>
                  </a:tcPr>
                </a:tc>
                <a:tc>
                  <a:txBody>
                    <a:bodyPr/>
                    <a:lstStyle/>
                    <a:p>
                      <a:pPr algn="ctr"/>
                      <a:r>
                        <a:rPr sz="1800">
                          <a:solidFill>
                            <a:srgbClr val="000000"/>
                          </a:solidFill>
                          <a:latin typeface="Calibri"/>
                          <a:ea typeface="Calibri"/>
                          <a:cs typeface="Calibri"/>
                        </a:rPr>
                        <a:t>T3</a:t>
                      </a:r>
                    </a:p>
                  </a:txBody>
                  <a:tcPr marL="47625" marR="47625" marT="28575" marB="28575" anchor="ctr">
                    <a:solidFill>
                      <a:srgbClr val="FFFFFF"/>
                    </a:solidFill>
                  </a:tcPr>
                </a:tc>
                <a:tc>
                  <a:txBody>
                    <a:bodyPr/>
                    <a:lstStyle/>
                    <a:p>
                      <a:pPr algn="ctr"/>
                      <a:r>
                        <a:rPr sz="1800">
                          <a:solidFill>
                            <a:srgbClr val="000000"/>
                          </a:solidFill>
                          <a:latin typeface="Calibri"/>
                          <a:ea typeface="Calibri"/>
                          <a:cs typeface="Calibri"/>
                        </a:rPr>
                        <a:t>Sep 4</a:t>
                      </a:r>
                    </a:p>
                  </a:txBody>
                  <a:tcPr marL="47625" marR="47625" marT="28575" marB="28575" anchor="ctr">
                    <a:solidFill>
                      <a:srgbClr val="FFFFFF"/>
                    </a:solidFill>
                  </a:tcPr>
                </a:tc>
                <a:extLst>
                  <a:ext uri="{0D108BD9-81ED-4DB2-BD59-A6C34878D82A}">
                    <a16:rowId xmlns:a16="http://schemas.microsoft.com/office/drawing/2014/main" val="10005"/>
                  </a:ext>
                </a:extLst>
              </a:tr>
              <a:tr h="361950">
                <a:tc>
                  <a:txBody>
                    <a:bodyPr/>
                    <a:lstStyle/>
                    <a:p>
                      <a:pPr algn="ctr"/>
                      <a:r>
                        <a:rPr sz="1800">
                          <a:solidFill>
                            <a:srgbClr val="000000"/>
                          </a:solidFill>
                          <a:latin typeface="Calibri"/>
                          <a:ea typeface="Calibri"/>
                          <a:cs typeface="Calibri"/>
                        </a:rPr>
                        <a:t>M3</a:t>
                      </a:r>
                    </a:p>
                  </a:txBody>
                  <a:tcPr marL="47625" marR="47625" marT="28575" marB="28575" anchor="ctr">
                    <a:solidFill>
                      <a:srgbClr val="FFFFFF"/>
                    </a:solidFill>
                  </a:tcPr>
                </a:tc>
                <a:tc>
                  <a:txBody>
                    <a:bodyPr/>
                    <a:lstStyle/>
                    <a:p>
                      <a:pPr algn="ctr"/>
                      <a:r>
                        <a:rPr sz="1800">
                          <a:solidFill>
                            <a:srgbClr val="000000"/>
                          </a:solidFill>
                          <a:latin typeface="Calibri"/>
                          <a:ea typeface="Calibri"/>
                          <a:cs typeface="Calibri"/>
                        </a:rPr>
                        <a:t>T2</a:t>
                      </a:r>
                    </a:p>
                  </a:txBody>
                  <a:tcPr marL="47625" marR="47625" marT="28575" marB="28575" anchor="ctr">
                    <a:solidFill>
                      <a:srgbClr val="FFFFFF"/>
                    </a:solidFill>
                  </a:tcPr>
                </a:tc>
                <a:tc>
                  <a:txBody>
                    <a:bodyPr/>
                    <a:lstStyle/>
                    <a:p>
                      <a:pPr algn="ctr"/>
                      <a:r>
                        <a:rPr sz="1800">
                          <a:solidFill>
                            <a:srgbClr val="000000"/>
                          </a:solidFill>
                          <a:latin typeface="Calibri"/>
                          <a:ea typeface="Calibri"/>
                          <a:cs typeface="Calibri"/>
                        </a:rPr>
                        <a:t>Sep 6</a:t>
                      </a:r>
                    </a:p>
                  </a:txBody>
                  <a:tcPr marL="47625" marR="47625" marT="28575" marB="28575" anchor="ctr">
                    <a:solidFill>
                      <a:srgbClr val="FFFFFF"/>
                    </a:solidFill>
                  </a:tcPr>
                </a:tc>
                <a:extLst>
                  <a:ext uri="{0D108BD9-81ED-4DB2-BD59-A6C34878D82A}">
                    <a16:rowId xmlns:a16="http://schemas.microsoft.com/office/drawing/2014/main" val="10006"/>
                  </a:ext>
                </a:extLst>
              </a:tr>
            </a:tbl>
          </a:graphicData>
        </a:graphic>
      </p:graphicFrame>
      <p:sp>
        <p:nvSpPr>
          <p:cNvPr id="6" name="body">
            <a:extLst>
              <a:ext uri="{FF2B5EF4-FFF2-40B4-BE49-F238E27FC236}">
                <a16:creationId xmlns:a16="http://schemas.microsoft.com/office/drawing/2014/main" id="{1BEAA02D-B891-4F53-A1EE-8595B8E19710}"/>
              </a:ext>
            </a:extLst>
          </p:cNvPr>
          <p:cNvSpPr>
            <a:spLocks noGrp="1"/>
          </p:cNvSpPr>
          <p:nvPr/>
        </p:nvSpPr>
        <p:spPr>
          <a:xfrm>
            <a:off x="5695950" y="1123950"/>
            <a:ext cx="2409825" cy="361950"/>
          </a:xfrm>
          <a:prstGeom prst="rect">
            <a:avLst/>
          </a:prstGeom>
          <a:noFill/>
          <a:ln w="0">
            <a:noFill/>
          </a:ln>
        </p:spPr>
        <p:txBody>
          <a:bodyPr wrap="square" lIns="0" tIns="0" rIns="0" bIns="0">
            <a:noAutofit/>
          </a:bodyPr>
          <a:lstStyle/>
          <a:p>
            <a:pPr>
              <a:defRPr sz="2250" b="0">
                <a:solidFill>
                  <a:srgbClr val="000000"/>
                </a:solidFill>
                <a:latin typeface="Calibri"/>
                <a:ea typeface="Calibri"/>
                <a:cs typeface="Calibri"/>
              </a:defRPr>
            </a:pPr>
            <a:r>
              <a:rPr sz="2250" b="0">
                <a:solidFill>
                  <a:srgbClr val="000000"/>
                </a:solidFill>
                <a:latin typeface="Calibri"/>
                <a:ea typeface="Calibri"/>
                <a:cs typeface="Calibri"/>
              </a:rPr>
              <a:t>Required</a:t>
            </a:r>
          </a:p>
        </p:txBody>
      </p:sp>
      <p:graphicFrame>
        <p:nvGraphicFramePr>
          <p:cNvPr id="18" name="表格 17"/>
          <p:cNvGraphicFramePr/>
          <p:nvPr/>
        </p:nvGraphicFramePr>
        <p:xfrm>
          <a:off x="5772150" y="1543050"/>
          <a:ext cx="2409826" cy="1171575"/>
        </p:xfrm>
        <a:graphic>
          <a:graphicData uri="http://schemas.openxmlformats.org/drawingml/2006/table">
            <a:tbl>
              <a:tblPr/>
              <a:tblGrid>
                <a:gridCol w="1204913">
                  <a:extLst>
                    <a:ext uri="{9D8B030D-6E8A-4147-A177-3AD203B41FA5}">
                      <a16:colId xmlns:a16="http://schemas.microsoft.com/office/drawing/2014/main" val="20000"/>
                    </a:ext>
                  </a:extLst>
                </a:gridCol>
                <a:gridCol w="1204913">
                  <a:extLst>
                    <a:ext uri="{9D8B030D-6E8A-4147-A177-3AD203B41FA5}">
                      <a16:colId xmlns:a16="http://schemas.microsoft.com/office/drawing/2014/main" val="20001"/>
                    </a:ext>
                  </a:extLst>
                </a:gridCol>
              </a:tblGrid>
              <a:tr h="390525">
                <a:tc>
                  <a:txBody>
                    <a:bodyPr/>
                    <a:lstStyle/>
                    <a:p>
                      <a:pPr algn="ctr"/>
                      <a:r>
                        <a:rPr sz="1725">
                          <a:solidFill>
                            <a:srgbClr val="000000"/>
                          </a:solidFill>
                          <a:latin typeface="Calibri"/>
                          <a:ea typeface="Calibri"/>
                          <a:cs typeface="Calibri"/>
                        </a:rPr>
                        <a:t>tid</a:t>
                      </a:r>
                    </a:p>
                  </a:txBody>
                  <a:tcPr marL="47625" marR="47625" marT="28575" marB="28575" anchor="ctr">
                    <a:solidFill>
                      <a:srgbClr val="D9D9D9"/>
                    </a:solidFill>
                  </a:tcPr>
                </a:tc>
                <a:tc>
                  <a:txBody>
                    <a:bodyPr/>
                    <a:lstStyle/>
                    <a:p>
                      <a:pPr algn="ctr"/>
                      <a:r>
                        <a:rPr sz="1725">
                          <a:solidFill>
                            <a:srgbClr val="000000"/>
                          </a:solidFill>
                          <a:latin typeface="Calibri"/>
                          <a:ea typeface="Calibri"/>
                          <a:cs typeface="Calibri"/>
                        </a:rPr>
                        <a:t>day</a:t>
                      </a:r>
                    </a:p>
                  </a:txBody>
                  <a:tcPr marL="47625" marR="47625" marT="28575" marB="28575" anchor="ctr">
                    <a:solidFill>
                      <a:srgbClr val="D9D9D9"/>
                    </a:solidFill>
                  </a:tcPr>
                </a:tc>
                <a:extLst>
                  <a:ext uri="{0D108BD9-81ED-4DB2-BD59-A6C34878D82A}">
                    <a16:rowId xmlns:a16="http://schemas.microsoft.com/office/drawing/2014/main" val="10000"/>
                  </a:ext>
                </a:extLst>
              </a:tr>
              <a:tr h="390525">
                <a:tc>
                  <a:txBody>
                    <a:bodyPr/>
                    <a:lstStyle/>
                    <a:p>
                      <a:pPr algn="ctr"/>
                      <a:r>
                        <a:rPr sz="1725">
                          <a:solidFill>
                            <a:srgbClr val="000000"/>
                          </a:solidFill>
                          <a:latin typeface="Calibri"/>
                          <a:ea typeface="Calibri"/>
                          <a:cs typeface="Calibri"/>
                        </a:rPr>
                        <a:t>T1</a:t>
                      </a:r>
                    </a:p>
                  </a:txBody>
                  <a:tcPr marL="47625" marR="47625" marT="28575" marB="28575" anchor="ctr">
                    <a:solidFill>
                      <a:srgbClr val="FFFFFF"/>
                    </a:solidFill>
                  </a:tcPr>
                </a:tc>
                <a:tc>
                  <a:txBody>
                    <a:bodyPr/>
                    <a:lstStyle/>
                    <a:p>
                      <a:pPr algn="ctr"/>
                      <a:r>
                        <a:rPr sz="1725">
                          <a:solidFill>
                            <a:srgbClr val="000000"/>
                          </a:solidFill>
                          <a:latin typeface="Calibri"/>
                          <a:ea typeface="Calibri"/>
                          <a:cs typeface="Calibri"/>
                        </a:rPr>
                        <a:t>Sep 1</a:t>
                      </a:r>
                    </a:p>
                  </a:txBody>
                  <a:tcPr marL="47625" marR="47625" marT="28575" marB="28575" anchor="ctr">
                    <a:solidFill>
                      <a:srgbClr val="FFFFFF"/>
                    </a:solidFill>
                  </a:tcPr>
                </a:tc>
                <a:extLst>
                  <a:ext uri="{0D108BD9-81ED-4DB2-BD59-A6C34878D82A}">
                    <a16:rowId xmlns:a16="http://schemas.microsoft.com/office/drawing/2014/main" val="10001"/>
                  </a:ext>
                </a:extLst>
              </a:tr>
              <a:tr h="390525">
                <a:tc>
                  <a:txBody>
                    <a:bodyPr/>
                    <a:lstStyle/>
                    <a:p>
                      <a:pPr algn="ctr"/>
                      <a:r>
                        <a:rPr sz="1725">
                          <a:solidFill>
                            <a:srgbClr val="000000"/>
                          </a:solidFill>
                          <a:latin typeface="Calibri"/>
                          <a:ea typeface="Calibri"/>
                          <a:cs typeface="Calibri"/>
                        </a:rPr>
                        <a:t>T1</a:t>
                      </a:r>
                    </a:p>
                  </a:txBody>
                  <a:tcPr marL="47625" marR="47625" marT="28575" marB="28575" anchor="ctr">
                    <a:solidFill>
                      <a:srgbClr val="FFFFFF"/>
                    </a:solidFill>
                  </a:tcPr>
                </a:tc>
                <a:tc>
                  <a:txBody>
                    <a:bodyPr/>
                    <a:lstStyle/>
                    <a:p>
                      <a:pPr algn="ctr"/>
                      <a:r>
                        <a:rPr sz="1725">
                          <a:solidFill>
                            <a:srgbClr val="000000"/>
                          </a:solidFill>
                          <a:latin typeface="Calibri"/>
                          <a:ea typeface="Calibri"/>
                          <a:cs typeface="Calibri"/>
                        </a:rPr>
                        <a:t>Sep 5</a:t>
                      </a:r>
                    </a:p>
                  </a:txBody>
                  <a:tcPr marL="47625" marR="47625" marT="28575" marB="28575" anchor="ctr">
                    <a:solidFill>
                      <a:srgbClr val="FFFFFF"/>
                    </a:solidFill>
                  </a:tcPr>
                </a:tc>
                <a:extLst>
                  <a:ext uri="{0D108BD9-81ED-4DB2-BD59-A6C34878D82A}">
                    <a16:rowId xmlns:a16="http://schemas.microsoft.com/office/drawing/2014/main" val="10002"/>
                  </a:ext>
                </a:extLst>
              </a:tr>
            </a:tbl>
          </a:graphicData>
        </a:graphic>
      </p:graphicFrame>
      <p:sp>
        <p:nvSpPr>
          <p:cNvPr id="8" name="body">
            <a:extLst>
              <a:ext uri="{FF2B5EF4-FFF2-40B4-BE49-F238E27FC236}">
                <a16:creationId xmlns:a16="http://schemas.microsoft.com/office/drawing/2014/main" id="{3150CE34-4015-4F24-B567-0620D45CF08C}"/>
              </a:ext>
            </a:extLst>
          </p:cNvPr>
          <p:cNvSpPr>
            <a:spLocks noGrp="1"/>
          </p:cNvSpPr>
          <p:nvPr/>
        </p:nvSpPr>
        <p:spPr>
          <a:xfrm>
            <a:off x="5600700" y="3038475"/>
            <a:ext cx="2676525" cy="304800"/>
          </a:xfrm>
          <a:prstGeom prst="rect">
            <a:avLst/>
          </a:prstGeom>
          <a:noFill/>
          <a:ln w="0">
            <a:noFill/>
          </a:ln>
        </p:spPr>
        <p:txBody>
          <a:bodyPr wrap="square" lIns="0" tIns="0" rIns="0" bIns="0">
            <a:noAutofit/>
          </a:bodyPr>
          <a:lstStyle/>
          <a:p>
            <a:pPr>
              <a:defRPr sz="1650" b="0">
                <a:solidFill>
                  <a:srgbClr val="000000"/>
                </a:solidFill>
                <a:latin typeface="Calibri"/>
                <a:ea typeface="Calibri"/>
                <a:cs typeface="Calibri"/>
              </a:defRPr>
            </a:pPr>
            <a:r>
              <a:rPr sz="1650" b="0">
                <a:solidFill>
                  <a:srgbClr val="000000"/>
                </a:solidFill>
                <a:latin typeface="Calibri"/>
                <a:ea typeface="Calibri"/>
                <a:cs typeface="Calibri"/>
              </a:rPr>
              <a:t>Member (mid, mname)</a:t>
            </a:r>
          </a:p>
        </p:txBody>
      </p:sp>
      <p:sp>
        <p:nvSpPr>
          <p:cNvPr id="9" name="body">
            <a:extLst>
              <a:ext uri="{FF2B5EF4-FFF2-40B4-BE49-F238E27FC236}">
                <a16:creationId xmlns:a16="http://schemas.microsoft.com/office/drawing/2014/main" id="{86CABC5C-ED69-42AF-89B3-EFAC6F0D0358}"/>
              </a:ext>
            </a:extLst>
          </p:cNvPr>
          <p:cNvSpPr>
            <a:spLocks noGrp="1"/>
          </p:cNvSpPr>
          <p:nvPr/>
        </p:nvSpPr>
        <p:spPr>
          <a:xfrm>
            <a:off x="5600700" y="3343275"/>
            <a:ext cx="2676525" cy="619125"/>
          </a:xfrm>
          <a:prstGeom prst="rect">
            <a:avLst/>
          </a:prstGeom>
          <a:noFill/>
          <a:ln w="0">
            <a:noFill/>
          </a:ln>
        </p:spPr>
        <p:txBody>
          <a:bodyPr wrap="square" lIns="0" tIns="0" rIns="0" bIns="0">
            <a:noAutofit/>
          </a:bodyPr>
          <a:lstStyle/>
          <a:p>
            <a:pPr>
              <a:defRPr sz="1575" b="0">
                <a:solidFill>
                  <a:srgbClr val="000000"/>
                </a:solidFill>
                <a:latin typeface="Calibri"/>
                <a:ea typeface="Calibri"/>
                <a:cs typeface="Calibri"/>
              </a:defRPr>
            </a:pPr>
            <a:r>
              <a:rPr sz="1575" b="0">
                <a:solidFill>
                  <a:srgbClr val="000000"/>
                </a:solidFill>
                <a:latin typeface="Calibri"/>
                <a:ea typeface="Calibri"/>
                <a:cs typeface="Calibri"/>
              </a:rPr>
              <a:t>M1 Alex     M2 Mei</a:t>
            </a:r>
          </a:p>
          <a:p>
            <a:pPr>
              <a:defRPr sz="1575" b="0">
                <a:solidFill>
                  <a:srgbClr val="000000"/>
                </a:solidFill>
                <a:latin typeface="Calibri"/>
                <a:ea typeface="Calibri"/>
                <a:cs typeface="Calibri"/>
              </a:defRPr>
            </a:pPr>
            <a:r>
              <a:rPr sz="1575" b="0">
                <a:solidFill>
                  <a:srgbClr val="000000"/>
                </a:solidFill>
                <a:latin typeface="Calibri"/>
                <a:ea typeface="Calibri"/>
                <a:cs typeface="Calibri"/>
              </a:rPr>
              <a:t>M3 Alex     M4 Noor</a:t>
            </a:r>
          </a:p>
        </p:txBody>
      </p:sp>
      <p:sp>
        <p:nvSpPr>
          <p:cNvPr id="10" name="body">
            <a:extLst>
              <a:ext uri="{FF2B5EF4-FFF2-40B4-BE49-F238E27FC236}">
                <a16:creationId xmlns:a16="http://schemas.microsoft.com/office/drawing/2014/main" id="{716EC68D-5B08-47F3-B9E9-17E0C94F204E}"/>
              </a:ext>
            </a:extLst>
          </p:cNvPr>
          <p:cNvSpPr>
            <a:spLocks noGrp="1"/>
          </p:cNvSpPr>
          <p:nvPr/>
        </p:nvSpPr>
        <p:spPr>
          <a:xfrm>
            <a:off x="781050" y="4343400"/>
            <a:ext cx="7600950" cy="704850"/>
          </a:xfrm>
          <a:prstGeom prst="rect">
            <a:avLst/>
          </a:prstGeom>
          <a:noFill/>
          <a:ln w="0">
            <a:noFill/>
          </a:ln>
        </p:spPr>
        <p:txBody>
          <a:bodyPr wrap="square" lIns="0" tIns="0" rIns="0" bIns="0">
            <a:noAutofit/>
          </a:bodyPr>
          <a:lstStyle/>
          <a:p>
            <a:pPr>
              <a:defRPr sz="2100" b="0">
                <a:solidFill>
                  <a:srgbClr val="FF0000"/>
                </a:solidFill>
                <a:latin typeface="Calibri"/>
                <a:ea typeface="Calibri"/>
                <a:cs typeface="Calibri"/>
              </a:defRPr>
            </a:pPr>
            <a:r>
              <a:rPr sz="2100" b="0">
                <a:solidFill>
                  <a:srgbClr val="FF0000"/>
                </a:solidFill>
                <a:latin typeface="Calibri"/>
                <a:ea typeface="Calibri"/>
                <a:cs typeface="Calibri"/>
              </a:rPr>
              <a:t>(a) Find (mid, mname) for members with every required (tid, day) pair.</a:t>
            </a:r>
          </a:p>
        </p:txBody>
      </p:sp>
      <p:sp>
        <p:nvSpPr>
          <p:cNvPr id="11" name="body">
            <a:extLst>
              <a:ext uri="{FF2B5EF4-FFF2-40B4-BE49-F238E27FC236}">
                <a16:creationId xmlns:a16="http://schemas.microsoft.com/office/drawing/2014/main" id="{95FE62DC-B429-4FBB-9805-71ABF020059D}"/>
              </a:ext>
            </a:extLst>
          </p:cNvPr>
          <p:cNvSpPr>
            <a:spLocks noGrp="1"/>
          </p:cNvSpPr>
          <p:nvPr/>
        </p:nvSpPr>
        <p:spPr>
          <a:xfrm>
            <a:off x="781050" y="5172075"/>
            <a:ext cx="7600950" cy="581025"/>
          </a:xfrm>
          <a:prstGeom prst="rect">
            <a:avLst/>
          </a:prstGeom>
          <a:noFill/>
          <a:ln w="0">
            <a:noFill/>
          </a:ln>
        </p:spPr>
        <p:txBody>
          <a:bodyPr wrap="square" lIns="0" tIns="0" rIns="0" bIns="0">
            <a:noAutofit/>
          </a:bodyPr>
          <a:lstStyle/>
          <a:p>
            <a:pPr>
              <a:defRPr sz="2100" b="0">
                <a:solidFill>
                  <a:srgbClr val="FF0000"/>
                </a:solidFill>
                <a:latin typeface="Calibri"/>
                <a:ea typeface="Calibri"/>
                <a:cs typeface="Calibri"/>
              </a:defRPr>
            </a:pPr>
            <a:r>
              <a:rPr sz="2100" b="0">
                <a:solidFill>
                  <a:srgbClr val="FF0000"/>
                </a:solidFill>
                <a:latin typeface="Calibri"/>
                <a:ea typeface="Calibri"/>
                <a:cs typeface="Calibri"/>
              </a:rPr>
              <a:t>(b) Add (T2, Sep 3) to Required. Who still qualifies?</a:t>
            </a:r>
          </a:p>
        </p:txBody>
      </p:sp>
      <p:sp>
        <p:nvSpPr>
          <p:cNvPr id="9001" name="Title 1">
            <a:extLst>
              <a:ext uri="{FF2B5EF4-FFF2-40B4-BE49-F238E27FC236}">
                <a16:creationId xmlns:a16="http://schemas.microsoft.com/office/drawing/2014/main" id="{4EF27E5C-9C4D-BDBE-7667-D0B141BCC8F5}"/>
              </a:ext>
            </a:extLst>
          </p:cNvPr>
          <p:cNvSpPr>
            <a:spLocks noGrp="1"/>
          </p:cNvSpPr>
          <p:nvPr>
            <p:ph type="title"/>
          </p:nvPr>
        </p:nvSpPr>
        <p:spPr/>
        <p:txBody>
          <a:bodyPr/>
          <a:lstStyle/>
          <a:p>
            <a:r>
              <a:rPr lang="en-US">
                <a:solidFill>
                  <a:srgbClr val="FF0000"/>
                </a:solidFill>
              </a:rPr>
              <a:t>Practice: </a:t>
            </a:r>
            <a:r>
              <a:rPr lang="en-US">
                <a:solidFill>
                  <a:srgbClr val="3333CC"/>
                </a:solidFill>
              </a:rPr>
              <a:t>Q28</a:t>
            </a:r>
          </a:p>
        </p:txBody>
      </p:sp>
      <p:sp>
        <p:nvSpPr>
          <p:cNvPr id="9002" name="Slide Number Placeholder 1">
            <a:extLst>
              <a:ext uri="{FF2B5EF4-FFF2-40B4-BE49-F238E27FC236}">
                <a16:creationId xmlns:a16="http://schemas.microsoft.com/office/drawing/2014/main" id="{B90139AC-3BDA-723A-097A-000DA0A784C1}"/>
              </a:ext>
            </a:extLst>
          </p:cNvPr>
          <p:cNvSpPr>
            <a:spLocks noGrp="1"/>
          </p:cNvSpPr>
          <p:nvPr>
            <p:ph type="sldNum" sz="quarter" idx="12"/>
          </p:nvPr>
        </p:nvSpPr>
        <p:spPr/>
        <p:txBody>
          <a:bodyPr/>
          <a:lstStyle/>
          <a:p>
            <a:pPr>
              <a:defRPr/>
            </a:pPr>
            <a:fld id="{43CA101F-9E5F-9249-9862-3CE55B3BB777}" type="slidenum">
              <a:rPr lang="en-US" altLang="zh-TW" smtClean="0"/>
              <a:pPr>
                <a:defRPr/>
              </a:pPr>
              <a:t>74</a:t>
            </a:fld>
            <a:endParaRPr lang="en-US" altLang="zh-TW"/>
          </a:p>
        </p:txBody>
      </p:sp>
    </p:spTree>
    <p:extLst>
      <p:ext uri="{BB962C8B-B14F-4D97-AF65-F5344CB8AC3E}">
        <p14:creationId xmlns:p14="http://schemas.microsoft.com/office/powerpoint/2010/main" val="840383579"/>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formula">
            <a:extLst>
              <a:ext uri="{FF2B5EF4-FFF2-40B4-BE49-F238E27FC236}">
                <a16:creationId xmlns:a16="http://schemas.microsoft.com/office/drawing/2014/main" id="{41C98441-FB5A-4C89-B222-EDB9CA8F2BE7}"/>
              </a:ext>
            </a:extLst>
          </p:cNvPr>
          <p:cNvSpPr>
            <a:spLocks noGrp="1"/>
          </p:cNvSpPr>
          <p:nvPr/>
        </p:nvSpPr>
        <p:spPr>
          <a:xfrm>
            <a:off x="781050" y="1057275"/>
            <a:ext cx="7620000" cy="523875"/>
          </a:xfrm>
          <a:prstGeom prst="rect">
            <a:avLst/>
          </a:prstGeom>
          <a:noFill/>
          <a:ln w="0">
            <a:noFill/>
          </a:ln>
        </p:spPr>
        <p:txBody>
          <a:bodyPr wrap="square" lIns="0" tIns="0" rIns="0" bIns="0">
            <a:noAutofit/>
          </a:bodyPr>
          <a:lstStyle/>
          <a:p>
            <a:pPr>
              <a:defRPr sz="2325" b="0">
                <a:solidFill>
                  <a:srgbClr val="000000"/>
                </a:solidFill>
                <a:latin typeface="Cambria Math"/>
                <a:ea typeface="Cambria Math"/>
                <a:cs typeface="Cambria Math"/>
              </a:defRPr>
            </a:pPr>
            <a:r>
              <a:rPr sz="2325" b="0">
                <a:solidFill>
                  <a:srgbClr val="000000"/>
                </a:solidFill>
                <a:latin typeface="Cambria Math"/>
                <a:ea typeface="Cambria Math"/>
                <a:cs typeface="Cambria Math"/>
              </a:rPr>
              <a:t>Qualified ← Trained / Required</a:t>
            </a:r>
          </a:p>
        </p:txBody>
      </p:sp>
      <p:sp>
        <p:nvSpPr>
          <p:cNvPr id="4" name="body">
            <a:extLst>
              <a:ext uri="{FF2B5EF4-FFF2-40B4-BE49-F238E27FC236}">
                <a16:creationId xmlns:a16="http://schemas.microsoft.com/office/drawing/2014/main" id="{E3187E3B-BF63-428B-AE6A-BBDFF32EDFF3}"/>
              </a:ext>
            </a:extLst>
          </p:cNvPr>
          <p:cNvSpPr>
            <a:spLocks noGrp="1"/>
          </p:cNvSpPr>
          <p:nvPr/>
        </p:nvSpPr>
        <p:spPr>
          <a:xfrm>
            <a:off x="781050" y="1895475"/>
            <a:ext cx="7600950" cy="952500"/>
          </a:xfrm>
          <a:prstGeom prst="rect">
            <a:avLst/>
          </a:prstGeom>
          <a:noFill/>
          <a:ln w="0">
            <a:noFill/>
          </a:ln>
        </p:spPr>
        <p:txBody>
          <a:bodyPr wrap="square" lIns="0" tIns="0" rIns="0" bIns="0">
            <a:noAutofit/>
          </a:bodyPr>
          <a:lstStyle/>
          <a:p>
            <a:pPr>
              <a:defRPr sz="2175" b="0">
                <a:solidFill>
                  <a:srgbClr val="000000"/>
                </a:solidFill>
                <a:latin typeface="Calibri"/>
                <a:ea typeface="Calibri"/>
                <a:cs typeface="Calibri"/>
              </a:defRPr>
            </a:pPr>
            <a:r>
              <a:rPr sz="2175" b="0">
                <a:solidFill>
                  <a:srgbClr val="000000"/>
                </a:solidFill>
                <a:latin typeface="Calibri"/>
                <a:ea typeface="Calibri"/>
                <a:cs typeface="Calibri"/>
              </a:rPr>
              <a:t>Schemas: (mid, tid, day) / (tid, day) gives (mid).</a:t>
            </a:r>
          </a:p>
        </p:txBody>
      </p:sp>
      <p:sp>
        <p:nvSpPr>
          <p:cNvPr id="5" name="body">
            <a:extLst>
              <a:ext uri="{FF2B5EF4-FFF2-40B4-BE49-F238E27FC236}">
                <a16:creationId xmlns:a16="http://schemas.microsoft.com/office/drawing/2014/main" id="{9F64F76C-1B5E-4F03-A144-99F075AA1825}"/>
              </a:ext>
            </a:extLst>
          </p:cNvPr>
          <p:cNvSpPr>
            <a:spLocks noGrp="1"/>
          </p:cNvSpPr>
          <p:nvPr/>
        </p:nvSpPr>
        <p:spPr>
          <a:xfrm>
            <a:off x="1266825" y="2552700"/>
            <a:ext cx="6467475" cy="361950"/>
          </a:xfrm>
          <a:prstGeom prst="rect">
            <a:avLst/>
          </a:prstGeom>
          <a:noFill/>
          <a:ln w="0">
            <a:noFill/>
          </a:ln>
        </p:spPr>
        <p:txBody>
          <a:bodyPr wrap="square" lIns="0" tIns="0" rIns="0" bIns="0">
            <a:noAutofit/>
          </a:bodyPr>
          <a:lstStyle/>
          <a:p>
            <a:pPr>
              <a:defRPr sz="2250" b="0">
                <a:solidFill>
                  <a:srgbClr val="000000"/>
                </a:solidFill>
                <a:latin typeface="Calibri"/>
                <a:ea typeface="Calibri"/>
                <a:cs typeface="Calibri"/>
              </a:defRPr>
            </a:pPr>
            <a:r>
              <a:rPr sz="2250" b="0">
                <a:solidFill>
                  <a:srgbClr val="000000"/>
                </a:solidFill>
                <a:latin typeface="Calibri"/>
                <a:ea typeface="Calibri"/>
                <a:cs typeface="Calibri"/>
              </a:rPr>
              <a:t>Required-pair check</a:t>
            </a:r>
          </a:p>
        </p:txBody>
      </p:sp>
      <p:graphicFrame>
        <p:nvGraphicFramePr>
          <p:cNvPr id="14" name="表格 13"/>
          <p:cNvGraphicFramePr/>
          <p:nvPr/>
        </p:nvGraphicFramePr>
        <p:xfrm>
          <a:off x="1343025" y="2971800"/>
          <a:ext cx="6467475" cy="1857375"/>
        </p:xfrm>
        <a:graphic>
          <a:graphicData uri="http://schemas.openxmlformats.org/drawingml/2006/table">
            <a:tbl>
              <a:tblPr/>
              <a:tblGrid>
                <a:gridCol w="2155825">
                  <a:extLst>
                    <a:ext uri="{9D8B030D-6E8A-4147-A177-3AD203B41FA5}">
                      <a16:colId xmlns:a16="http://schemas.microsoft.com/office/drawing/2014/main" val="20000"/>
                    </a:ext>
                  </a:extLst>
                </a:gridCol>
                <a:gridCol w="2155825">
                  <a:extLst>
                    <a:ext uri="{9D8B030D-6E8A-4147-A177-3AD203B41FA5}">
                      <a16:colId xmlns:a16="http://schemas.microsoft.com/office/drawing/2014/main" val="20001"/>
                    </a:ext>
                  </a:extLst>
                </a:gridCol>
                <a:gridCol w="2155825">
                  <a:extLst>
                    <a:ext uri="{9D8B030D-6E8A-4147-A177-3AD203B41FA5}">
                      <a16:colId xmlns:a16="http://schemas.microsoft.com/office/drawing/2014/main" val="20002"/>
                    </a:ext>
                  </a:extLst>
                </a:gridCol>
              </a:tblGrid>
              <a:tr h="371475">
                <a:tc>
                  <a:txBody>
                    <a:bodyPr/>
                    <a:lstStyle/>
                    <a:p>
                      <a:pPr algn="ctr"/>
                      <a:r>
                        <a:rPr sz="1875">
                          <a:solidFill>
                            <a:srgbClr val="000000"/>
                          </a:solidFill>
                          <a:latin typeface="Calibri"/>
                          <a:ea typeface="Calibri"/>
                          <a:cs typeface="Calibri"/>
                        </a:rPr>
                        <a:t>mid</a:t>
                      </a:r>
                    </a:p>
                  </a:txBody>
                  <a:tcPr marL="47625" marR="47625" marT="28575" marB="28575" anchor="ctr">
                    <a:solidFill>
                      <a:srgbClr val="D9D9D9"/>
                    </a:solidFill>
                  </a:tcPr>
                </a:tc>
                <a:tc>
                  <a:txBody>
                    <a:bodyPr/>
                    <a:lstStyle/>
                    <a:p>
                      <a:pPr algn="ctr"/>
                      <a:r>
                        <a:rPr sz="1875">
                          <a:solidFill>
                            <a:srgbClr val="000000"/>
                          </a:solidFill>
                          <a:latin typeface="Calibri"/>
                          <a:ea typeface="Calibri"/>
                          <a:cs typeface="Calibri"/>
                        </a:rPr>
                        <a:t>T1, Sep 1</a:t>
                      </a:r>
                    </a:p>
                  </a:txBody>
                  <a:tcPr marL="47625" marR="47625" marT="28575" marB="28575" anchor="ctr">
                    <a:solidFill>
                      <a:srgbClr val="D9D9D9"/>
                    </a:solidFill>
                  </a:tcPr>
                </a:tc>
                <a:tc>
                  <a:txBody>
                    <a:bodyPr/>
                    <a:lstStyle/>
                    <a:p>
                      <a:pPr algn="ctr"/>
                      <a:r>
                        <a:rPr sz="1875">
                          <a:solidFill>
                            <a:srgbClr val="000000"/>
                          </a:solidFill>
                          <a:latin typeface="Calibri"/>
                          <a:ea typeface="Calibri"/>
                          <a:cs typeface="Calibri"/>
                        </a:rPr>
                        <a:t>T1, Sep 5</a:t>
                      </a:r>
                    </a:p>
                  </a:txBody>
                  <a:tcPr marL="47625" marR="47625" marT="28575" marB="28575" anchor="ctr">
                    <a:solidFill>
                      <a:srgbClr val="D9D9D9"/>
                    </a:solidFill>
                  </a:tcPr>
                </a:tc>
                <a:extLst>
                  <a:ext uri="{0D108BD9-81ED-4DB2-BD59-A6C34878D82A}">
                    <a16:rowId xmlns:a16="http://schemas.microsoft.com/office/drawing/2014/main" val="10000"/>
                  </a:ext>
                </a:extLst>
              </a:tr>
              <a:tr h="371475">
                <a:tc>
                  <a:txBody>
                    <a:bodyPr/>
                    <a:lstStyle/>
                    <a:p>
                      <a:pPr algn="ctr"/>
                      <a:r>
                        <a:rPr sz="1875">
                          <a:solidFill>
                            <a:srgbClr val="000000"/>
                          </a:solidFill>
                          <a:latin typeface="Calibri"/>
                          <a:ea typeface="Calibri"/>
                          <a:cs typeface="Calibri"/>
                        </a:rPr>
                        <a:t>M1</a:t>
                      </a:r>
                    </a:p>
                  </a:txBody>
                  <a:tcPr marL="47625" marR="47625" marT="28575" marB="28575" anchor="ctr">
                    <a:solidFill>
                      <a:srgbClr val="FFFFFF"/>
                    </a:solidFill>
                  </a:tcPr>
                </a:tc>
                <a:tc>
                  <a:txBody>
                    <a:bodyPr/>
                    <a:lstStyle/>
                    <a:p>
                      <a:pPr algn="ctr"/>
                      <a:r>
                        <a:rPr sz="1875">
                          <a:solidFill>
                            <a:srgbClr val="000000"/>
                          </a:solidFill>
                          <a:latin typeface="Calibri"/>
                          <a:ea typeface="Calibri"/>
                          <a:cs typeface="Calibri"/>
                        </a:rPr>
                        <a:t>Yes</a:t>
                      </a:r>
                    </a:p>
                  </a:txBody>
                  <a:tcPr marL="47625" marR="47625" marT="28575" marB="28575" anchor="ctr">
                    <a:solidFill>
                      <a:srgbClr val="FFFFFF"/>
                    </a:solidFill>
                  </a:tcPr>
                </a:tc>
                <a:tc>
                  <a:txBody>
                    <a:bodyPr/>
                    <a:lstStyle/>
                    <a:p>
                      <a:pPr algn="ctr"/>
                      <a:r>
                        <a:rPr sz="1875">
                          <a:solidFill>
                            <a:srgbClr val="000000"/>
                          </a:solidFill>
                          <a:latin typeface="Calibri"/>
                          <a:ea typeface="Calibri"/>
                          <a:cs typeface="Calibri"/>
                        </a:rPr>
                        <a:t>Yes</a:t>
                      </a:r>
                    </a:p>
                  </a:txBody>
                  <a:tcPr marL="47625" marR="47625" marT="28575" marB="28575" anchor="ctr">
                    <a:solidFill>
                      <a:srgbClr val="FFFFFF"/>
                    </a:solidFill>
                  </a:tcPr>
                </a:tc>
                <a:extLst>
                  <a:ext uri="{0D108BD9-81ED-4DB2-BD59-A6C34878D82A}">
                    <a16:rowId xmlns:a16="http://schemas.microsoft.com/office/drawing/2014/main" val="10001"/>
                  </a:ext>
                </a:extLst>
              </a:tr>
              <a:tr h="371475">
                <a:tc>
                  <a:txBody>
                    <a:bodyPr/>
                    <a:lstStyle/>
                    <a:p>
                      <a:pPr algn="ctr"/>
                      <a:r>
                        <a:rPr sz="1875">
                          <a:solidFill>
                            <a:srgbClr val="000000"/>
                          </a:solidFill>
                          <a:latin typeface="Calibri"/>
                          <a:ea typeface="Calibri"/>
                          <a:cs typeface="Calibri"/>
                        </a:rPr>
                        <a:t>M2</a:t>
                      </a:r>
                    </a:p>
                  </a:txBody>
                  <a:tcPr marL="47625" marR="47625" marT="28575" marB="28575" anchor="ctr">
                    <a:solidFill>
                      <a:srgbClr val="FFFFFF"/>
                    </a:solidFill>
                  </a:tcPr>
                </a:tc>
                <a:tc>
                  <a:txBody>
                    <a:bodyPr/>
                    <a:lstStyle/>
                    <a:p>
                      <a:pPr algn="ctr"/>
                      <a:r>
                        <a:rPr sz="1875">
                          <a:solidFill>
                            <a:srgbClr val="000000"/>
                          </a:solidFill>
                          <a:latin typeface="Calibri"/>
                          <a:ea typeface="Calibri"/>
                          <a:cs typeface="Calibri"/>
                        </a:rPr>
                        <a:t>No</a:t>
                      </a:r>
                    </a:p>
                  </a:txBody>
                  <a:tcPr marL="47625" marR="47625" marT="28575" marB="28575" anchor="ctr">
                    <a:solidFill>
                      <a:srgbClr val="FFFFFF"/>
                    </a:solidFill>
                  </a:tcPr>
                </a:tc>
                <a:tc>
                  <a:txBody>
                    <a:bodyPr/>
                    <a:lstStyle/>
                    <a:p>
                      <a:pPr algn="ctr"/>
                      <a:r>
                        <a:rPr sz="1875">
                          <a:solidFill>
                            <a:srgbClr val="000000"/>
                          </a:solidFill>
                          <a:latin typeface="Calibri"/>
                          <a:ea typeface="Calibri"/>
                          <a:cs typeface="Calibri"/>
                        </a:rPr>
                        <a:t>No</a:t>
                      </a:r>
                    </a:p>
                  </a:txBody>
                  <a:tcPr marL="47625" marR="47625" marT="28575" marB="28575" anchor="ctr">
                    <a:solidFill>
                      <a:srgbClr val="FFFFFF"/>
                    </a:solidFill>
                  </a:tcPr>
                </a:tc>
                <a:extLst>
                  <a:ext uri="{0D108BD9-81ED-4DB2-BD59-A6C34878D82A}">
                    <a16:rowId xmlns:a16="http://schemas.microsoft.com/office/drawing/2014/main" val="10002"/>
                  </a:ext>
                </a:extLst>
              </a:tr>
              <a:tr h="371475">
                <a:tc>
                  <a:txBody>
                    <a:bodyPr/>
                    <a:lstStyle/>
                    <a:p>
                      <a:pPr algn="ctr"/>
                      <a:r>
                        <a:rPr sz="1875">
                          <a:solidFill>
                            <a:srgbClr val="000000"/>
                          </a:solidFill>
                          <a:latin typeface="Calibri"/>
                          <a:ea typeface="Calibri"/>
                          <a:cs typeface="Calibri"/>
                        </a:rPr>
                        <a:t>M3</a:t>
                      </a:r>
                    </a:p>
                  </a:txBody>
                  <a:tcPr marL="47625" marR="47625" marT="28575" marB="28575" anchor="ctr">
                    <a:solidFill>
                      <a:srgbClr val="FFFFFF"/>
                    </a:solidFill>
                  </a:tcPr>
                </a:tc>
                <a:tc>
                  <a:txBody>
                    <a:bodyPr/>
                    <a:lstStyle/>
                    <a:p>
                      <a:pPr algn="ctr"/>
                      <a:r>
                        <a:rPr sz="1875">
                          <a:solidFill>
                            <a:srgbClr val="000000"/>
                          </a:solidFill>
                          <a:latin typeface="Calibri"/>
                          <a:ea typeface="Calibri"/>
                          <a:cs typeface="Calibri"/>
                        </a:rPr>
                        <a:t>No</a:t>
                      </a:r>
                    </a:p>
                  </a:txBody>
                  <a:tcPr marL="47625" marR="47625" marT="28575" marB="28575" anchor="ctr">
                    <a:solidFill>
                      <a:srgbClr val="FFFFFF"/>
                    </a:solidFill>
                  </a:tcPr>
                </a:tc>
                <a:tc>
                  <a:txBody>
                    <a:bodyPr/>
                    <a:lstStyle/>
                    <a:p>
                      <a:pPr algn="ctr"/>
                      <a:r>
                        <a:rPr sz="1875">
                          <a:solidFill>
                            <a:srgbClr val="000000"/>
                          </a:solidFill>
                          <a:latin typeface="Calibri"/>
                          <a:ea typeface="Calibri"/>
                          <a:cs typeface="Calibri"/>
                        </a:rPr>
                        <a:t>No</a:t>
                      </a:r>
                    </a:p>
                  </a:txBody>
                  <a:tcPr marL="47625" marR="47625" marT="28575" marB="28575" anchor="ctr">
                    <a:solidFill>
                      <a:srgbClr val="FFFFFF"/>
                    </a:solidFill>
                  </a:tcPr>
                </a:tc>
                <a:extLst>
                  <a:ext uri="{0D108BD9-81ED-4DB2-BD59-A6C34878D82A}">
                    <a16:rowId xmlns:a16="http://schemas.microsoft.com/office/drawing/2014/main" val="10003"/>
                  </a:ext>
                </a:extLst>
              </a:tr>
              <a:tr h="371475">
                <a:tc>
                  <a:txBody>
                    <a:bodyPr/>
                    <a:lstStyle/>
                    <a:p>
                      <a:pPr algn="ctr"/>
                      <a:r>
                        <a:rPr sz="1875">
                          <a:solidFill>
                            <a:srgbClr val="000000"/>
                          </a:solidFill>
                          <a:latin typeface="Calibri"/>
                          <a:ea typeface="Calibri"/>
                          <a:cs typeface="Calibri"/>
                        </a:rPr>
                        <a:t>M4</a:t>
                      </a:r>
                    </a:p>
                  </a:txBody>
                  <a:tcPr marL="47625" marR="47625" marT="28575" marB="28575" anchor="ctr">
                    <a:solidFill>
                      <a:srgbClr val="FFFFFF"/>
                    </a:solidFill>
                  </a:tcPr>
                </a:tc>
                <a:tc>
                  <a:txBody>
                    <a:bodyPr/>
                    <a:lstStyle/>
                    <a:p>
                      <a:pPr algn="ctr"/>
                      <a:r>
                        <a:rPr sz="1875">
                          <a:solidFill>
                            <a:srgbClr val="000000"/>
                          </a:solidFill>
                          <a:latin typeface="Calibri"/>
                          <a:ea typeface="Calibri"/>
                          <a:cs typeface="Calibri"/>
                        </a:rPr>
                        <a:t>No</a:t>
                      </a:r>
                    </a:p>
                  </a:txBody>
                  <a:tcPr marL="47625" marR="47625" marT="28575" marB="28575" anchor="ctr">
                    <a:solidFill>
                      <a:srgbClr val="FFFFFF"/>
                    </a:solidFill>
                  </a:tcPr>
                </a:tc>
                <a:tc>
                  <a:txBody>
                    <a:bodyPr/>
                    <a:lstStyle/>
                    <a:p>
                      <a:pPr algn="ctr"/>
                      <a:r>
                        <a:rPr sz="1875">
                          <a:solidFill>
                            <a:srgbClr val="000000"/>
                          </a:solidFill>
                          <a:latin typeface="Calibri"/>
                          <a:ea typeface="Calibri"/>
                          <a:cs typeface="Calibri"/>
                        </a:rPr>
                        <a:t>No</a:t>
                      </a:r>
                    </a:p>
                  </a:txBody>
                  <a:tcPr marL="47625" marR="47625" marT="28575" marB="28575" anchor="ctr">
                    <a:solidFill>
                      <a:srgbClr val="FFFFFF"/>
                    </a:solidFill>
                  </a:tcPr>
                </a:tc>
                <a:extLst>
                  <a:ext uri="{0D108BD9-81ED-4DB2-BD59-A6C34878D82A}">
                    <a16:rowId xmlns:a16="http://schemas.microsoft.com/office/drawing/2014/main" val="10004"/>
                  </a:ext>
                </a:extLst>
              </a:tr>
            </a:tbl>
          </a:graphicData>
        </a:graphic>
      </p:graphicFrame>
      <p:sp>
        <p:nvSpPr>
          <p:cNvPr id="7" name="formula">
            <a:extLst>
              <a:ext uri="{FF2B5EF4-FFF2-40B4-BE49-F238E27FC236}">
                <a16:creationId xmlns:a16="http://schemas.microsoft.com/office/drawing/2014/main" id="{4B7CF5C3-0D10-4975-B2D0-D8C76F48D548}"/>
              </a:ext>
            </a:extLst>
          </p:cNvPr>
          <p:cNvSpPr>
            <a:spLocks noGrp="1"/>
          </p:cNvSpPr>
          <p:nvPr/>
        </p:nvSpPr>
        <p:spPr>
          <a:xfrm>
            <a:off x="781050" y="5191125"/>
            <a:ext cx="7620000" cy="523875"/>
          </a:xfrm>
          <a:prstGeom prst="rect">
            <a:avLst/>
          </a:prstGeom>
          <a:noFill/>
          <a:ln w="0">
            <a:noFill/>
          </a:ln>
        </p:spPr>
        <p:txBody>
          <a:bodyPr wrap="square" lIns="0" tIns="0" rIns="0" bIns="0">
            <a:noAutofit/>
          </a:bodyPr>
          <a:lstStyle/>
          <a:p>
            <a:pPr>
              <a:defRPr sz="2025" b="0">
                <a:solidFill>
                  <a:srgbClr val="000000"/>
                </a:solidFill>
                <a:latin typeface="Cambria Math"/>
                <a:ea typeface="Cambria Math"/>
                <a:cs typeface="Cambria Math"/>
              </a:defRPr>
            </a:pPr>
            <a:r>
              <a:rPr sz="2025" b="0">
                <a:solidFill>
                  <a:srgbClr val="000000"/>
                </a:solidFill>
                <a:latin typeface="Cambria Math"/>
                <a:ea typeface="Cambria Math"/>
                <a:cs typeface="Cambria Math"/>
              </a:rPr>
              <a:t>Answer ← π</a:t>
            </a:r>
            <a:r>
              <a:rPr sz="1438" b="0" baseline="-25000">
                <a:solidFill>
                  <a:srgbClr val="000000"/>
                </a:solidFill>
                <a:latin typeface="Cambria Math"/>
                <a:ea typeface="Cambria Math"/>
                <a:cs typeface="Cambria Math"/>
              </a:rPr>
              <a:t>mid,mname</a:t>
            </a:r>
            <a:r>
              <a:rPr sz="2025" b="0">
                <a:solidFill>
                  <a:srgbClr val="000000"/>
                </a:solidFill>
                <a:latin typeface="Cambria Math"/>
                <a:ea typeface="Cambria Math"/>
                <a:cs typeface="Cambria Math"/>
              </a:rPr>
              <a:t>(Member ⋈ Qualified)</a:t>
            </a:r>
          </a:p>
        </p:txBody>
      </p:sp>
      <p:sp>
        <p:nvSpPr>
          <p:cNvPr id="8" name="body">
            <a:extLst>
              <a:ext uri="{FF2B5EF4-FFF2-40B4-BE49-F238E27FC236}">
                <a16:creationId xmlns:a16="http://schemas.microsoft.com/office/drawing/2014/main" id="{65EF5E60-4E74-4328-915D-63AFBB807FFA}"/>
              </a:ext>
            </a:extLst>
          </p:cNvPr>
          <p:cNvSpPr>
            <a:spLocks noGrp="1"/>
          </p:cNvSpPr>
          <p:nvPr/>
        </p:nvSpPr>
        <p:spPr>
          <a:xfrm>
            <a:off x="781050" y="5762625"/>
            <a:ext cx="7600950" cy="952500"/>
          </a:xfrm>
          <a:prstGeom prst="rect">
            <a:avLst/>
          </a:prstGeom>
          <a:noFill/>
          <a:ln w="0">
            <a:noFill/>
          </a:ln>
        </p:spPr>
        <p:txBody>
          <a:bodyPr wrap="square" lIns="0" tIns="0" rIns="0" bIns="0">
            <a:noAutofit/>
          </a:bodyPr>
          <a:lstStyle/>
          <a:p>
            <a:pPr>
              <a:defRPr sz="2025" b="0">
                <a:solidFill>
                  <a:srgbClr val="FF0000"/>
                </a:solidFill>
                <a:latin typeface="Calibri"/>
                <a:ea typeface="Calibri"/>
                <a:cs typeface="Calibri"/>
              </a:defRPr>
            </a:pPr>
            <a:r>
              <a:rPr sz="2025" b="0">
                <a:solidFill>
                  <a:srgbClr val="FF0000"/>
                </a:solidFill>
                <a:latin typeface="Calibri"/>
                <a:ea typeface="Calibri"/>
                <a:cs typeface="Calibri"/>
              </a:rPr>
              <a:t>Answer = { (M1, Alex) }</a:t>
            </a:r>
          </a:p>
        </p:txBody>
      </p:sp>
      <p:sp>
        <p:nvSpPr>
          <p:cNvPr id="9001" name="Title 1">
            <a:extLst>
              <a:ext uri="{FF2B5EF4-FFF2-40B4-BE49-F238E27FC236}">
                <a16:creationId xmlns:a16="http://schemas.microsoft.com/office/drawing/2014/main" id="{4EF27E5C-9C4D-BDBE-7667-D0B141BCC8F5}"/>
              </a:ext>
            </a:extLst>
          </p:cNvPr>
          <p:cNvSpPr>
            <a:spLocks noGrp="1"/>
          </p:cNvSpPr>
          <p:nvPr>
            <p:ph type="title"/>
          </p:nvPr>
        </p:nvSpPr>
        <p:spPr/>
        <p:txBody>
          <a:bodyPr/>
          <a:lstStyle/>
          <a:p>
            <a:r>
              <a:rPr lang="en-US">
                <a:solidFill>
                  <a:srgbClr val="FF0000"/>
                </a:solidFill>
              </a:rPr>
              <a:t>Solutions: </a:t>
            </a:r>
            <a:r>
              <a:rPr lang="en-US">
                <a:solidFill>
                  <a:srgbClr val="3333CC"/>
                </a:solidFill>
              </a:rPr>
              <a:t>Q28 (1)</a:t>
            </a:r>
          </a:p>
        </p:txBody>
      </p:sp>
      <p:sp>
        <p:nvSpPr>
          <p:cNvPr id="9002" name="Slide Number Placeholder 1">
            <a:extLst>
              <a:ext uri="{FF2B5EF4-FFF2-40B4-BE49-F238E27FC236}">
                <a16:creationId xmlns:a16="http://schemas.microsoft.com/office/drawing/2014/main" id="{B90139AC-3BDA-723A-097A-000DA0A784C1}"/>
              </a:ext>
            </a:extLst>
          </p:cNvPr>
          <p:cNvSpPr>
            <a:spLocks noGrp="1"/>
          </p:cNvSpPr>
          <p:nvPr>
            <p:ph type="sldNum" sz="quarter" idx="12"/>
          </p:nvPr>
        </p:nvSpPr>
        <p:spPr/>
        <p:txBody>
          <a:bodyPr/>
          <a:lstStyle/>
          <a:p>
            <a:pPr>
              <a:defRPr/>
            </a:pPr>
            <a:fld id="{43CA101F-9E5F-9249-9862-3CE55B3BB777}" type="slidenum">
              <a:rPr lang="en-US" altLang="zh-TW" smtClean="0"/>
              <a:pPr>
                <a:defRPr/>
              </a:pPr>
              <a:t>75</a:t>
            </a:fld>
            <a:endParaRPr lang="en-US" altLang="zh-TW"/>
          </a:p>
        </p:txBody>
      </p:sp>
    </p:spTree>
    <p:extLst>
      <p:ext uri="{BB962C8B-B14F-4D97-AF65-F5344CB8AC3E}">
        <p14:creationId xmlns:p14="http://schemas.microsoft.com/office/powerpoint/2010/main" val="1504056411"/>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formula">
            <a:extLst>
              <a:ext uri="{FF2B5EF4-FFF2-40B4-BE49-F238E27FC236}">
                <a16:creationId xmlns:a16="http://schemas.microsoft.com/office/drawing/2014/main" id="{76AC5F37-BA2A-4E13-B8EC-70F2531FCF68}"/>
              </a:ext>
            </a:extLst>
          </p:cNvPr>
          <p:cNvSpPr>
            <a:spLocks noGrp="1"/>
          </p:cNvSpPr>
          <p:nvPr/>
        </p:nvSpPr>
        <p:spPr>
          <a:xfrm>
            <a:off x="781050" y="1038225"/>
            <a:ext cx="7620000" cy="523875"/>
          </a:xfrm>
          <a:prstGeom prst="rect">
            <a:avLst/>
          </a:prstGeom>
          <a:noFill/>
          <a:ln w="0">
            <a:noFill/>
          </a:ln>
        </p:spPr>
        <p:txBody>
          <a:bodyPr wrap="square" lIns="0" tIns="0" rIns="0" bIns="0">
            <a:noAutofit/>
          </a:bodyPr>
          <a:lstStyle/>
          <a:p>
            <a:pPr>
              <a:defRPr sz="2250" b="0">
                <a:solidFill>
                  <a:srgbClr val="000000"/>
                </a:solidFill>
                <a:latin typeface="Cambria Math"/>
                <a:ea typeface="Cambria Math"/>
                <a:cs typeface="Cambria Math"/>
              </a:defRPr>
            </a:pPr>
            <a:r>
              <a:rPr sz="2250" b="0">
                <a:solidFill>
                  <a:srgbClr val="000000"/>
                </a:solidFill>
                <a:latin typeface="Cambria Math"/>
                <a:ea typeface="Cambria Math"/>
                <a:cs typeface="Cambria Math"/>
              </a:rPr>
              <a:t>Extra(tid, day) = { (T2, Sep 3) }</a:t>
            </a:r>
          </a:p>
        </p:txBody>
      </p:sp>
      <p:sp>
        <p:nvSpPr>
          <p:cNvPr id="4" name="formula">
            <a:extLst>
              <a:ext uri="{FF2B5EF4-FFF2-40B4-BE49-F238E27FC236}">
                <a16:creationId xmlns:a16="http://schemas.microsoft.com/office/drawing/2014/main" id="{EFB00B15-8BEB-41B1-BBD9-0D10FC64C8D7}"/>
              </a:ext>
            </a:extLst>
          </p:cNvPr>
          <p:cNvSpPr>
            <a:spLocks noGrp="1"/>
          </p:cNvSpPr>
          <p:nvPr/>
        </p:nvSpPr>
        <p:spPr>
          <a:xfrm>
            <a:off x="781050" y="1790700"/>
            <a:ext cx="7620000" cy="523875"/>
          </a:xfrm>
          <a:prstGeom prst="rect">
            <a:avLst/>
          </a:prstGeom>
          <a:noFill/>
          <a:ln w="0">
            <a:noFill/>
          </a:ln>
        </p:spPr>
        <p:txBody>
          <a:bodyPr wrap="square" lIns="0" tIns="0" rIns="0" bIns="0">
            <a:noAutofit/>
          </a:bodyPr>
          <a:lstStyle/>
          <a:p>
            <a:pPr>
              <a:defRPr sz="2175" b="0">
                <a:solidFill>
                  <a:srgbClr val="000000"/>
                </a:solidFill>
                <a:latin typeface="Cambria Math"/>
                <a:ea typeface="Cambria Math"/>
                <a:cs typeface="Cambria Math"/>
              </a:defRPr>
            </a:pPr>
            <a:r>
              <a:rPr sz="2175" b="0">
                <a:solidFill>
                  <a:srgbClr val="000000"/>
                </a:solidFill>
                <a:latin typeface="Cambria Math"/>
                <a:ea typeface="Cambria Math"/>
                <a:cs typeface="Cambria Math"/>
              </a:rPr>
              <a:t>Required2 ← Required ∪ Extra</a:t>
            </a:r>
          </a:p>
        </p:txBody>
      </p:sp>
      <p:sp>
        <p:nvSpPr>
          <p:cNvPr id="5" name="body">
            <a:extLst>
              <a:ext uri="{FF2B5EF4-FFF2-40B4-BE49-F238E27FC236}">
                <a16:creationId xmlns:a16="http://schemas.microsoft.com/office/drawing/2014/main" id="{F152C7D8-1B2E-478D-B0B7-FF77FABB6A96}"/>
              </a:ext>
            </a:extLst>
          </p:cNvPr>
          <p:cNvSpPr>
            <a:spLocks noGrp="1"/>
          </p:cNvSpPr>
          <p:nvPr/>
        </p:nvSpPr>
        <p:spPr>
          <a:xfrm>
            <a:off x="2047875" y="2524125"/>
            <a:ext cx="4905375" cy="361950"/>
          </a:xfrm>
          <a:prstGeom prst="rect">
            <a:avLst/>
          </a:prstGeom>
          <a:noFill/>
          <a:ln w="0">
            <a:noFill/>
          </a:ln>
        </p:spPr>
        <p:txBody>
          <a:bodyPr wrap="square" lIns="0" tIns="0" rIns="0" bIns="0">
            <a:noAutofit/>
          </a:bodyPr>
          <a:lstStyle/>
          <a:p>
            <a:pPr>
              <a:defRPr sz="2250" b="0">
                <a:solidFill>
                  <a:srgbClr val="000000"/>
                </a:solidFill>
                <a:latin typeface="Calibri"/>
                <a:ea typeface="Calibri"/>
                <a:cs typeface="Calibri"/>
              </a:defRPr>
            </a:pPr>
            <a:r>
              <a:rPr sz="2250" b="0">
                <a:solidFill>
                  <a:srgbClr val="000000"/>
                </a:solidFill>
                <a:latin typeface="Calibri"/>
                <a:ea typeface="Calibri"/>
                <a:cs typeface="Calibri"/>
              </a:rPr>
              <a:t>Required2</a:t>
            </a:r>
          </a:p>
        </p:txBody>
      </p:sp>
      <p:graphicFrame>
        <p:nvGraphicFramePr>
          <p:cNvPr id="14" name="表格 13"/>
          <p:cNvGraphicFramePr/>
          <p:nvPr/>
        </p:nvGraphicFramePr>
        <p:xfrm>
          <a:off x="2124075" y="2943225"/>
          <a:ext cx="4905376" cy="1485900"/>
        </p:xfrm>
        <a:graphic>
          <a:graphicData uri="http://schemas.openxmlformats.org/drawingml/2006/table">
            <a:tbl>
              <a:tblPr/>
              <a:tblGrid>
                <a:gridCol w="2452688">
                  <a:extLst>
                    <a:ext uri="{9D8B030D-6E8A-4147-A177-3AD203B41FA5}">
                      <a16:colId xmlns:a16="http://schemas.microsoft.com/office/drawing/2014/main" val="20000"/>
                    </a:ext>
                  </a:extLst>
                </a:gridCol>
                <a:gridCol w="2452688">
                  <a:extLst>
                    <a:ext uri="{9D8B030D-6E8A-4147-A177-3AD203B41FA5}">
                      <a16:colId xmlns:a16="http://schemas.microsoft.com/office/drawing/2014/main" val="20001"/>
                    </a:ext>
                  </a:extLst>
                </a:gridCol>
              </a:tblGrid>
              <a:tr h="371475">
                <a:tc>
                  <a:txBody>
                    <a:bodyPr/>
                    <a:lstStyle/>
                    <a:p>
                      <a:pPr algn="ctr"/>
                      <a:r>
                        <a:rPr sz="1950">
                          <a:solidFill>
                            <a:srgbClr val="000000"/>
                          </a:solidFill>
                          <a:latin typeface="Calibri"/>
                          <a:ea typeface="Calibri"/>
                          <a:cs typeface="Calibri"/>
                        </a:rPr>
                        <a:t>tid</a:t>
                      </a:r>
                    </a:p>
                  </a:txBody>
                  <a:tcPr marL="47625" marR="47625" marT="28575" marB="28575" anchor="ctr">
                    <a:solidFill>
                      <a:srgbClr val="D9D9D9"/>
                    </a:solidFill>
                  </a:tcPr>
                </a:tc>
                <a:tc>
                  <a:txBody>
                    <a:bodyPr/>
                    <a:lstStyle/>
                    <a:p>
                      <a:pPr algn="ctr"/>
                      <a:r>
                        <a:rPr sz="1950">
                          <a:solidFill>
                            <a:srgbClr val="000000"/>
                          </a:solidFill>
                          <a:latin typeface="Calibri"/>
                          <a:ea typeface="Calibri"/>
                          <a:cs typeface="Calibri"/>
                        </a:rPr>
                        <a:t>day</a:t>
                      </a:r>
                    </a:p>
                  </a:txBody>
                  <a:tcPr marL="47625" marR="47625" marT="28575" marB="28575" anchor="ctr">
                    <a:solidFill>
                      <a:srgbClr val="D9D9D9"/>
                    </a:solidFill>
                  </a:tcPr>
                </a:tc>
                <a:extLst>
                  <a:ext uri="{0D108BD9-81ED-4DB2-BD59-A6C34878D82A}">
                    <a16:rowId xmlns:a16="http://schemas.microsoft.com/office/drawing/2014/main" val="10000"/>
                  </a:ext>
                </a:extLst>
              </a:tr>
              <a:tr h="371475">
                <a:tc>
                  <a:txBody>
                    <a:bodyPr/>
                    <a:lstStyle/>
                    <a:p>
                      <a:pPr algn="ctr"/>
                      <a:r>
                        <a:rPr sz="1950">
                          <a:solidFill>
                            <a:srgbClr val="000000"/>
                          </a:solidFill>
                          <a:latin typeface="Calibri"/>
                          <a:ea typeface="Calibri"/>
                          <a:cs typeface="Calibri"/>
                        </a:rPr>
                        <a:t>T1</a:t>
                      </a:r>
                    </a:p>
                  </a:txBody>
                  <a:tcPr marL="47625" marR="47625" marT="28575" marB="28575" anchor="ctr">
                    <a:solidFill>
                      <a:srgbClr val="FFFFFF"/>
                    </a:solidFill>
                  </a:tcPr>
                </a:tc>
                <a:tc>
                  <a:txBody>
                    <a:bodyPr/>
                    <a:lstStyle/>
                    <a:p>
                      <a:pPr algn="ctr"/>
                      <a:r>
                        <a:rPr sz="1950">
                          <a:solidFill>
                            <a:srgbClr val="000000"/>
                          </a:solidFill>
                          <a:latin typeface="Calibri"/>
                          <a:ea typeface="Calibri"/>
                          <a:cs typeface="Calibri"/>
                        </a:rPr>
                        <a:t>Sep 1</a:t>
                      </a:r>
                    </a:p>
                  </a:txBody>
                  <a:tcPr marL="47625" marR="47625" marT="28575" marB="28575" anchor="ctr">
                    <a:solidFill>
                      <a:srgbClr val="FFFFFF"/>
                    </a:solidFill>
                  </a:tcPr>
                </a:tc>
                <a:extLst>
                  <a:ext uri="{0D108BD9-81ED-4DB2-BD59-A6C34878D82A}">
                    <a16:rowId xmlns:a16="http://schemas.microsoft.com/office/drawing/2014/main" val="10001"/>
                  </a:ext>
                </a:extLst>
              </a:tr>
              <a:tr h="371475">
                <a:tc>
                  <a:txBody>
                    <a:bodyPr/>
                    <a:lstStyle/>
                    <a:p>
                      <a:pPr algn="ctr"/>
                      <a:r>
                        <a:rPr sz="1950">
                          <a:solidFill>
                            <a:srgbClr val="000000"/>
                          </a:solidFill>
                          <a:latin typeface="Calibri"/>
                          <a:ea typeface="Calibri"/>
                          <a:cs typeface="Calibri"/>
                        </a:rPr>
                        <a:t>T1</a:t>
                      </a:r>
                    </a:p>
                  </a:txBody>
                  <a:tcPr marL="47625" marR="47625" marT="28575" marB="28575" anchor="ctr">
                    <a:solidFill>
                      <a:srgbClr val="FFFFFF"/>
                    </a:solidFill>
                  </a:tcPr>
                </a:tc>
                <a:tc>
                  <a:txBody>
                    <a:bodyPr/>
                    <a:lstStyle/>
                    <a:p>
                      <a:pPr algn="ctr"/>
                      <a:r>
                        <a:rPr sz="1950">
                          <a:solidFill>
                            <a:srgbClr val="000000"/>
                          </a:solidFill>
                          <a:latin typeface="Calibri"/>
                          <a:ea typeface="Calibri"/>
                          <a:cs typeface="Calibri"/>
                        </a:rPr>
                        <a:t>Sep 5</a:t>
                      </a:r>
                    </a:p>
                  </a:txBody>
                  <a:tcPr marL="47625" marR="47625" marT="28575" marB="28575" anchor="ctr">
                    <a:solidFill>
                      <a:srgbClr val="FFFFFF"/>
                    </a:solidFill>
                  </a:tcPr>
                </a:tc>
                <a:extLst>
                  <a:ext uri="{0D108BD9-81ED-4DB2-BD59-A6C34878D82A}">
                    <a16:rowId xmlns:a16="http://schemas.microsoft.com/office/drawing/2014/main" val="10002"/>
                  </a:ext>
                </a:extLst>
              </a:tr>
              <a:tr h="371475">
                <a:tc>
                  <a:txBody>
                    <a:bodyPr/>
                    <a:lstStyle/>
                    <a:p>
                      <a:pPr algn="ctr"/>
                      <a:r>
                        <a:rPr sz="1950">
                          <a:solidFill>
                            <a:srgbClr val="000000"/>
                          </a:solidFill>
                          <a:latin typeface="Calibri"/>
                          <a:ea typeface="Calibri"/>
                          <a:cs typeface="Calibri"/>
                        </a:rPr>
                        <a:t>T2</a:t>
                      </a:r>
                    </a:p>
                  </a:txBody>
                  <a:tcPr marL="47625" marR="47625" marT="28575" marB="28575" anchor="ctr">
                    <a:solidFill>
                      <a:srgbClr val="FFFFFF"/>
                    </a:solidFill>
                  </a:tcPr>
                </a:tc>
                <a:tc>
                  <a:txBody>
                    <a:bodyPr/>
                    <a:lstStyle/>
                    <a:p>
                      <a:pPr algn="ctr"/>
                      <a:r>
                        <a:rPr sz="1950">
                          <a:solidFill>
                            <a:srgbClr val="000000"/>
                          </a:solidFill>
                          <a:latin typeface="Calibri"/>
                          <a:ea typeface="Calibri"/>
                          <a:cs typeface="Calibri"/>
                        </a:rPr>
                        <a:t>Sep 3</a:t>
                      </a:r>
                    </a:p>
                  </a:txBody>
                  <a:tcPr marL="47625" marR="47625" marT="28575" marB="28575" anchor="ctr">
                    <a:solidFill>
                      <a:srgbClr val="FFFFFF"/>
                    </a:solidFill>
                  </a:tcPr>
                </a:tc>
                <a:extLst>
                  <a:ext uri="{0D108BD9-81ED-4DB2-BD59-A6C34878D82A}">
                    <a16:rowId xmlns:a16="http://schemas.microsoft.com/office/drawing/2014/main" val="10003"/>
                  </a:ext>
                </a:extLst>
              </a:tr>
            </a:tbl>
          </a:graphicData>
        </a:graphic>
      </p:graphicFrame>
      <p:sp>
        <p:nvSpPr>
          <p:cNvPr id="7" name="formula">
            <a:extLst>
              <a:ext uri="{FF2B5EF4-FFF2-40B4-BE49-F238E27FC236}">
                <a16:creationId xmlns:a16="http://schemas.microsoft.com/office/drawing/2014/main" id="{FE0720F6-0C9D-4475-968E-AD645CAA2CB4}"/>
              </a:ext>
            </a:extLst>
          </p:cNvPr>
          <p:cNvSpPr>
            <a:spLocks noGrp="1"/>
          </p:cNvSpPr>
          <p:nvPr/>
        </p:nvSpPr>
        <p:spPr>
          <a:xfrm>
            <a:off x="781050" y="4800600"/>
            <a:ext cx="7620000" cy="523875"/>
          </a:xfrm>
          <a:prstGeom prst="rect">
            <a:avLst/>
          </a:prstGeom>
          <a:noFill/>
          <a:ln w="0">
            <a:noFill/>
          </a:ln>
        </p:spPr>
        <p:txBody>
          <a:bodyPr wrap="square" lIns="0" tIns="0" rIns="0" bIns="0">
            <a:noAutofit/>
          </a:bodyPr>
          <a:lstStyle/>
          <a:p>
            <a:pPr>
              <a:defRPr sz="2175" b="0">
                <a:solidFill>
                  <a:srgbClr val="000000"/>
                </a:solidFill>
                <a:latin typeface="Cambria Math"/>
                <a:ea typeface="Cambria Math"/>
                <a:cs typeface="Cambria Math"/>
              </a:defRPr>
            </a:pPr>
            <a:r>
              <a:rPr sz="2175" b="0">
                <a:solidFill>
                  <a:srgbClr val="000000"/>
                </a:solidFill>
                <a:latin typeface="Cambria Math"/>
                <a:ea typeface="Cambria Math"/>
                <a:cs typeface="Cambria Math"/>
              </a:rPr>
              <a:t>Qualified2 ← Trained / Required2 = ∅</a:t>
            </a:r>
          </a:p>
        </p:txBody>
      </p:sp>
      <p:sp>
        <p:nvSpPr>
          <p:cNvPr id="8" name="body">
            <a:extLst>
              <a:ext uri="{FF2B5EF4-FFF2-40B4-BE49-F238E27FC236}">
                <a16:creationId xmlns:a16="http://schemas.microsoft.com/office/drawing/2014/main" id="{293235D1-4F20-42F6-AADC-3DD713F675B1}"/>
              </a:ext>
            </a:extLst>
          </p:cNvPr>
          <p:cNvSpPr>
            <a:spLocks noGrp="1"/>
          </p:cNvSpPr>
          <p:nvPr/>
        </p:nvSpPr>
        <p:spPr>
          <a:xfrm>
            <a:off x="781050" y="5429250"/>
            <a:ext cx="7600950" cy="952500"/>
          </a:xfrm>
          <a:prstGeom prst="rect">
            <a:avLst/>
          </a:prstGeom>
          <a:noFill/>
          <a:ln w="0">
            <a:noFill/>
          </a:ln>
        </p:spPr>
        <p:txBody>
          <a:bodyPr wrap="square" lIns="0" tIns="0" rIns="0" bIns="0">
            <a:noAutofit/>
          </a:bodyPr>
          <a:lstStyle/>
          <a:p>
            <a:pPr>
              <a:defRPr sz="2025" b="0">
                <a:solidFill>
                  <a:srgbClr val="FF0000"/>
                </a:solidFill>
                <a:latin typeface="Calibri"/>
                <a:ea typeface="Calibri"/>
                <a:cs typeface="Calibri"/>
              </a:defRPr>
            </a:pPr>
            <a:r>
              <a:rPr sz="2025" b="0">
                <a:solidFill>
                  <a:srgbClr val="FF0000"/>
                </a:solidFill>
                <a:latin typeface="Calibri"/>
                <a:ea typeface="Calibri"/>
                <a:cs typeface="Calibri"/>
              </a:rPr>
              <a:t>M1 lacks the new pair. M2 lacks the original two pairs. The final (mid, mname) relation is empty.</a:t>
            </a:r>
          </a:p>
        </p:txBody>
      </p:sp>
      <p:sp>
        <p:nvSpPr>
          <p:cNvPr id="9001" name="Title 1">
            <a:extLst>
              <a:ext uri="{FF2B5EF4-FFF2-40B4-BE49-F238E27FC236}">
                <a16:creationId xmlns:a16="http://schemas.microsoft.com/office/drawing/2014/main" id="{4EF27E5C-9C4D-BDBE-7667-D0B141BCC8F5}"/>
              </a:ext>
            </a:extLst>
          </p:cNvPr>
          <p:cNvSpPr>
            <a:spLocks noGrp="1"/>
          </p:cNvSpPr>
          <p:nvPr>
            <p:ph type="title"/>
          </p:nvPr>
        </p:nvSpPr>
        <p:spPr/>
        <p:txBody>
          <a:bodyPr/>
          <a:lstStyle/>
          <a:p>
            <a:r>
              <a:rPr lang="en-US">
                <a:solidFill>
                  <a:srgbClr val="FF0000"/>
                </a:solidFill>
              </a:rPr>
              <a:t>Solutions: </a:t>
            </a:r>
            <a:r>
              <a:rPr lang="en-US">
                <a:solidFill>
                  <a:srgbClr val="3333CC"/>
                </a:solidFill>
              </a:rPr>
              <a:t>Q28 (2)</a:t>
            </a:r>
          </a:p>
        </p:txBody>
      </p:sp>
      <p:sp>
        <p:nvSpPr>
          <p:cNvPr id="9002" name="Slide Number Placeholder 1">
            <a:extLst>
              <a:ext uri="{FF2B5EF4-FFF2-40B4-BE49-F238E27FC236}">
                <a16:creationId xmlns:a16="http://schemas.microsoft.com/office/drawing/2014/main" id="{B90139AC-3BDA-723A-097A-000DA0A784C1}"/>
              </a:ext>
            </a:extLst>
          </p:cNvPr>
          <p:cNvSpPr>
            <a:spLocks noGrp="1"/>
          </p:cNvSpPr>
          <p:nvPr>
            <p:ph type="sldNum" sz="quarter" idx="12"/>
          </p:nvPr>
        </p:nvSpPr>
        <p:spPr/>
        <p:txBody>
          <a:bodyPr/>
          <a:lstStyle/>
          <a:p>
            <a:pPr>
              <a:defRPr/>
            </a:pPr>
            <a:fld id="{43CA101F-9E5F-9249-9862-3CE55B3BB777}" type="slidenum">
              <a:rPr lang="en-US" altLang="zh-TW" smtClean="0"/>
              <a:pPr>
                <a:defRPr/>
              </a:pPr>
              <a:t>76</a:t>
            </a:fld>
            <a:endParaRPr lang="en-US" altLang="zh-TW"/>
          </a:p>
        </p:txBody>
      </p:sp>
    </p:spTree>
    <p:extLst>
      <p:ext uri="{BB962C8B-B14F-4D97-AF65-F5344CB8AC3E}">
        <p14:creationId xmlns:p14="http://schemas.microsoft.com/office/powerpoint/2010/main" val="425318117"/>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body">
            <a:extLst>
              <a:ext uri="{FF2B5EF4-FFF2-40B4-BE49-F238E27FC236}">
                <a16:creationId xmlns:a16="http://schemas.microsoft.com/office/drawing/2014/main" id="{41F6D23A-2FFB-48B7-A890-5F8872A8D7E5}"/>
              </a:ext>
            </a:extLst>
          </p:cNvPr>
          <p:cNvSpPr>
            <a:spLocks noGrp="1"/>
          </p:cNvSpPr>
          <p:nvPr/>
        </p:nvSpPr>
        <p:spPr>
          <a:xfrm>
            <a:off x="781050" y="5876925"/>
            <a:ext cx="7620000" cy="285750"/>
          </a:xfrm>
          <a:prstGeom prst="rect">
            <a:avLst/>
          </a:prstGeom>
          <a:noFill/>
          <a:ln w="0">
            <a:noFill/>
          </a:ln>
        </p:spPr>
        <p:txBody>
          <a:bodyPr wrap="square" lIns="0" tIns="0" rIns="0" bIns="0">
            <a:noAutofit/>
          </a:bodyPr>
          <a:lstStyle/>
          <a:p>
            <a:pPr>
              <a:defRPr sz="1725" b="0">
                <a:solidFill>
                  <a:srgbClr val="3333CC"/>
                </a:solidFill>
                <a:latin typeface="Calibri"/>
                <a:ea typeface="Calibri"/>
                <a:cs typeface="Calibri"/>
              </a:defRPr>
            </a:pPr>
            <a:r>
              <a:rPr sz="1725" b="0">
                <a:solidFill>
                  <a:srgbClr val="3333CC"/>
                </a:solidFill>
                <a:latin typeface="Calibri"/>
                <a:ea typeface="Calibri"/>
                <a:cs typeface="Calibri"/>
              </a:rPr>
              <a:t>Think: 30 s</a:t>
            </a:r>
          </a:p>
        </p:txBody>
      </p:sp>
      <p:sp>
        <p:nvSpPr>
          <p:cNvPr id="4" name="body">
            <a:extLst>
              <a:ext uri="{FF2B5EF4-FFF2-40B4-BE49-F238E27FC236}">
                <a16:creationId xmlns:a16="http://schemas.microsoft.com/office/drawing/2014/main" id="{0F68F9B5-F03A-42DA-BCD4-61C30EB9472A}"/>
              </a:ext>
            </a:extLst>
          </p:cNvPr>
          <p:cNvSpPr>
            <a:spLocks noGrp="1"/>
          </p:cNvSpPr>
          <p:nvPr/>
        </p:nvSpPr>
        <p:spPr>
          <a:xfrm>
            <a:off x="1685925" y="1171575"/>
            <a:ext cx="5619750" cy="361950"/>
          </a:xfrm>
          <a:prstGeom prst="rect">
            <a:avLst/>
          </a:prstGeom>
          <a:noFill/>
          <a:ln w="0">
            <a:noFill/>
          </a:ln>
        </p:spPr>
        <p:txBody>
          <a:bodyPr wrap="square" lIns="0" tIns="0" rIns="0" bIns="0">
            <a:noAutofit/>
          </a:bodyPr>
          <a:lstStyle/>
          <a:p>
            <a:pPr>
              <a:defRPr sz="2250" b="0">
                <a:solidFill>
                  <a:srgbClr val="000000"/>
                </a:solidFill>
                <a:latin typeface="Calibri"/>
                <a:ea typeface="Calibri"/>
                <a:cs typeface="Calibri"/>
              </a:defRPr>
            </a:pPr>
            <a:r>
              <a:rPr sz="2250" b="0">
                <a:solidFill>
                  <a:srgbClr val="000000"/>
                </a:solidFill>
                <a:latin typeface="Calibri"/>
                <a:ea typeface="Calibri"/>
                <a:cs typeface="Calibri"/>
              </a:rPr>
              <a:t>Score</a:t>
            </a:r>
          </a:p>
        </p:txBody>
      </p:sp>
      <p:graphicFrame>
        <p:nvGraphicFramePr>
          <p:cNvPr id="13" name="表格 12"/>
          <p:cNvGraphicFramePr/>
          <p:nvPr/>
        </p:nvGraphicFramePr>
        <p:xfrm>
          <a:off x="1762125" y="1590675"/>
          <a:ext cx="5619750" cy="2047875"/>
        </p:xfrm>
        <a:graphic>
          <a:graphicData uri="http://schemas.openxmlformats.org/drawingml/2006/table">
            <a:tbl>
              <a:tblPr/>
              <a:tblGrid>
                <a:gridCol w="1873250">
                  <a:extLst>
                    <a:ext uri="{9D8B030D-6E8A-4147-A177-3AD203B41FA5}">
                      <a16:colId xmlns:a16="http://schemas.microsoft.com/office/drawing/2014/main" val="20000"/>
                    </a:ext>
                  </a:extLst>
                </a:gridCol>
                <a:gridCol w="1873250">
                  <a:extLst>
                    <a:ext uri="{9D8B030D-6E8A-4147-A177-3AD203B41FA5}">
                      <a16:colId xmlns:a16="http://schemas.microsoft.com/office/drawing/2014/main" val="20001"/>
                    </a:ext>
                  </a:extLst>
                </a:gridCol>
                <a:gridCol w="1873250">
                  <a:extLst>
                    <a:ext uri="{9D8B030D-6E8A-4147-A177-3AD203B41FA5}">
                      <a16:colId xmlns:a16="http://schemas.microsoft.com/office/drawing/2014/main" val="20002"/>
                    </a:ext>
                  </a:extLst>
                </a:gridCol>
              </a:tblGrid>
              <a:tr h="409575">
                <a:tc>
                  <a:txBody>
                    <a:bodyPr/>
                    <a:lstStyle/>
                    <a:p>
                      <a:pPr algn="ctr"/>
                      <a:r>
                        <a:rPr sz="2025">
                          <a:solidFill>
                            <a:srgbClr val="000000"/>
                          </a:solidFill>
                          <a:latin typeface="Calibri"/>
                          <a:ea typeface="Calibri"/>
                          <a:cs typeface="Calibri"/>
                        </a:rPr>
                        <a:t>mid</a:t>
                      </a:r>
                    </a:p>
                  </a:txBody>
                  <a:tcPr marL="47625" marR="47625" marT="28575" marB="28575" anchor="ctr">
                    <a:solidFill>
                      <a:srgbClr val="D9D9D9"/>
                    </a:solidFill>
                  </a:tcPr>
                </a:tc>
                <a:tc>
                  <a:txBody>
                    <a:bodyPr/>
                    <a:lstStyle/>
                    <a:p>
                      <a:pPr algn="ctr"/>
                      <a:r>
                        <a:rPr sz="2025">
                          <a:solidFill>
                            <a:srgbClr val="000000"/>
                          </a:solidFill>
                          <a:latin typeface="Calibri"/>
                          <a:ea typeface="Calibri"/>
                          <a:cs typeface="Calibri"/>
                        </a:rPr>
                        <a:t>mname</a:t>
                      </a:r>
                    </a:p>
                  </a:txBody>
                  <a:tcPr marL="47625" marR="47625" marT="28575" marB="28575" anchor="ctr">
                    <a:solidFill>
                      <a:srgbClr val="D9D9D9"/>
                    </a:solidFill>
                  </a:tcPr>
                </a:tc>
                <a:tc>
                  <a:txBody>
                    <a:bodyPr/>
                    <a:lstStyle/>
                    <a:p>
                      <a:pPr algn="ctr"/>
                      <a:r>
                        <a:rPr sz="2025">
                          <a:solidFill>
                            <a:srgbClr val="000000"/>
                          </a:solidFill>
                          <a:latin typeface="Calibri"/>
                          <a:ea typeface="Calibri"/>
                          <a:cs typeface="Calibri"/>
                        </a:rPr>
                        <a:t>points</a:t>
                      </a:r>
                    </a:p>
                  </a:txBody>
                  <a:tcPr marL="47625" marR="47625" marT="28575" marB="28575" anchor="ctr">
                    <a:solidFill>
                      <a:srgbClr val="D9D9D9"/>
                    </a:solidFill>
                  </a:tcPr>
                </a:tc>
                <a:extLst>
                  <a:ext uri="{0D108BD9-81ED-4DB2-BD59-A6C34878D82A}">
                    <a16:rowId xmlns:a16="http://schemas.microsoft.com/office/drawing/2014/main" val="10000"/>
                  </a:ext>
                </a:extLst>
              </a:tr>
              <a:tr h="409575">
                <a:tc>
                  <a:txBody>
                    <a:bodyPr/>
                    <a:lstStyle/>
                    <a:p>
                      <a:pPr algn="ctr"/>
                      <a:r>
                        <a:rPr sz="2025">
                          <a:solidFill>
                            <a:srgbClr val="000000"/>
                          </a:solidFill>
                          <a:latin typeface="Calibri"/>
                          <a:ea typeface="Calibri"/>
                          <a:cs typeface="Calibri"/>
                        </a:rPr>
                        <a:t>1</a:t>
                      </a:r>
                    </a:p>
                  </a:txBody>
                  <a:tcPr marL="47625" marR="47625" marT="28575" marB="28575" anchor="ctr">
                    <a:solidFill>
                      <a:srgbClr val="FFFFFF"/>
                    </a:solidFill>
                  </a:tcPr>
                </a:tc>
                <a:tc>
                  <a:txBody>
                    <a:bodyPr/>
                    <a:lstStyle/>
                    <a:p>
                      <a:pPr algn="ctr"/>
                      <a:r>
                        <a:rPr sz="2025">
                          <a:solidFill>
                            <a:srgbClr val="000000"/>
                          </a:solidFill>
                          <a:latin typeface="Calibri"/>
                          <a:ea typeface="Calibri"/>
                          <a:cs typeface="Calibri"/>
                        </a:rPr>
                        <a:t>Alex</a:t>
                      </a:r>
                    </a:p>
                  </a:txBody>
                  <a:tcPr marL="47625" marR="47625" marT="28575" marB="28575" anchor="ctr">
                    <a:solidFill>
                      <a:srgbClr val="FFFFFF"/>
                    </a:solidFill>
                  </a:tcPr>
                </a:tc>
                <a:tc>
                  <a:txBody>
                    <a:bodyPr/>
                    <a:lstStyle/>
                    <a:p>
                      <a:pPr algn="ctr"/>
                      <a:r>
                        <a:rPr sz="2025">
                          <a:solidFill>
                            <a:srgbClr val="000000"/>
                          </a:solidFill>
                          <a:latin typeface="Calibri"/>
                          <a:ea typeface="Calibri"/>
                          <a:cs typeface="Calibri"/>
                        </a:rPr>
                        <a:t>80</a:t>
                      </a:r>
                    </a:p>
                  </a:txBody>
                  <a:tcPr marL="47625" marR="47625" marT="28575" marB="28575" anchor="ctr">
                    <a:solidFill>
                      <a:srgbClr val="FFFFFF"/>
                    </a:solidFill>
                  </a:tcPr>
                </a:tc>
                <a:extLst>
                  <a:ext uri="{0D108BD9-81ED-4DB2-BD59-A6C34878D82A}">
                    <a16:rowId xmlns:a16="http://schemas.microsoft.com/office/drawing/2014/main" val="10001"/>
                  </a:ext>
                </a:extLst>
              </a:tr>
              <a:tr h="409575">
                <a:tc>
                  <a:txBody>
                    <a:bodyPr/>
                    <a:lstStyle/>
                    <a:p>
                      <a:pPr algn="ctr"/>
                      <a:r>
                        <a:rPr sz="2025">
                          <a:solidFill>
                            <a:srgbClr val="000000"/>
                          </a:solidFill>
                          <a:latin typeface="Calibri"/>
                          <a:ea typeface="Calibri"/>
                          <a:cs typeface="Calibri"/>
                        </a:rPr>
                        <a:t>2</a:t>
                      </a:r>
                    </a:p>
                  </a:txBody>
                  <a:tcPr marL="47625" marR="47625" marT="28575" marB="28575" anchor="ctr">
                    <a:solidFill>
                      <a:srgbClr val="FFFFFF"/>
                    </a:solidFill>
                  </a:tcPr>
                </a:tc>
                <a:tc>
                  <a:txBody>
                    <a:bodyPr/>
                    <a:lstStyle/>
                    <a:p>
                      <a:pPr algn="ctr"/>
                      <a:r>
                        <a:rPr sz="2025">
                          <a:solidFill>
                            <a:srgbClr val="000000"/>
                          </a:solidFill>
                          <a:latin typeface="Calibri"/>
                          <a:ea typeface="Calibri"/>
                          <a:cs typeface="Calibri"/>
                        </a:rPr>
                        <a:t>Bao</a:t>
                      </a:r>
                    </a:p>
                  </a:txBody>
                  <a:tcPr marL="47625" marR="47625" marT="28575" marB="28575" anchor="ctr">
                    <a:solidFill>
                      <a:srgbClr val="FFFFFF"/>
                    </a:solidFill>
                  </a:tcPr>
                </a:tc>
                <a:tc>
                  <a:txBody>
                    <a:bodyPr/>
                    <a:lstStyle/>
                    <a:p>
                      <a:pPr algn="ctr"/>
                      <a:r>
                        <a:rPr sz="2025">
                          <a:solidFill>
                            <a:srgbClr val="000000"/>
                          </a:solidFill>
                          <a:latin typeface="Calibri"/>
                          <a:ea typeface="Calibri"/>
                          <a:cs typeface="Calibri"/>
                        </a:rPr>
                        <a:t>95</a:t>
                      </a:r>
                    </a:p>
                  </a:txBody>
                  <a:tcPr marL="47625" marR="47625" marT="28575" marB="28575" anchor="ctr">
                    <a:solidFill>
                      <a:srgbClr val="FFFFFF"/>
                    </a:solidFill>
                  </a:tcPr>
                </a:tc>
                <a:extLst>
                  <a:ext uri="{0D108BD9-81ED-4DB2-BD59-A6C34878D82A}">
                    <a16:rowId xmlns:a16="http://schemas.microsoft.com/office/drawing/2014/main" val="10002"/>
                  </a:ext>
                </a:extLst>
              </a:tr>
              <a:tr h="409575">
                <a:tc>
                  <a:txBody>
                    <a:bodyPr/>
                    <a:lstStyle/>
                    <a:p>
                      <a:pPr algn="ctr"/>
                      <a:r>
                        <a:rPr sz="2025">
                          <a:solidFill>
                            <a:srgbClr val="000000"/>
                          </a:solidFill>
                          <a:latin typeface="Calibri"/>
                          <a:ea typeface="Calibri"/>
                          <a:cs typeface="Calibri"/>
                        </a:rPr>
                        <a:t>3</a:t>
                      </a:r>
                    </a:p>
                  </a:txBody>
                  <a:tcPr marL="47625" marR="47625" marT="28575" marB="28575" anchor="ctr">
                    <a:solidFill>
                      <a:srgbClr val="FFFFFF"/>
                    </a:solidFill>
                  </a:tcPr>
                </a:tc>
                <a:tc>
                  <a:txBody>
                    <a:bodyPr/>
                    <a:lstStyle/>
                    <a:p>
                      <a:pPr algn="ctr"/>
                      <a:r>
                        <a:rPr sz="2025">
                          <a:solidFill>
                            <a:srgbClr val="000000"/>
                          </a:solidFill>
                          <a:latin typeface="Calibri"/>
                          <a:ea typeface="Calibri"/>
                          <a:cs typeface="Calibri"/>
                        </a:rPr>
                        <a:t>Alex</a:t>
                      </a:r>
                    </a:p>
                  </a:txBody>
                  <a:tcPr marL="47625" marR="47625" marT="28575" marB="28575" anchor="ctr">
                    <a:solidFill>
                      <a:srgbClr val="FFFFFF"/>
                    </a:solidFill>
                  </a:tcPr>
                </a:tc>
                <a:tc>
                  <a:txBody>
                    <a:bodyPr/>
                    <a:lstStyle/>
                    <a:p>
                      <a:pPr algn="ctr"/>
                      <a:r>
                        <a:rPr sz="2025">
                          <a:solidFill>
                            <a:srgbClr val="000000"/>
                          </a:solidFill>
                          <a:latin typeface="Calibri"/>
                          <a:ea typeface="Calibri"/>
                          <a:cs typeface="Calibri"/>
                        </a:rPr>
                        <a:t>95</a:t>
                      </a:r>
                    </a:p>
                  </a:txBody>
                  <a:tcPr marL="47625" marR="47625" marT="28575" marB="28575" anchor="ctr">
                    <a:solidFill>
                      <a:srgbClr val="FFFFFF"/>
                    </a:solidFill>
                  </a:tcPr>
                </a:tc>
                <a:extLst>
                  <a:ext uri="{0D108BD9-81ED-4DB2-BD59-A6C34878D82A}">
                    <a16:rowId xmlns:a16="http://schemas.microsoft.com/office/drawing/2014/main" val="10003"/>
                  </a:ext>
                </a:extLst>
              </a:tr>
              <a:tr h="409575">
                <a:tc>
                  <a:txBody>
                    <a:bodyPr/>
                    <a:lstStyle/>
                    <a:p>
                      <a:pPr algn="ctr"/>
                      <a:r>
                        <a:rPr sz="2025">
                          <a:solidFill>
                            <a:srgbClr val="000000"/>
                          </a:solidFill>
                          <a:latin typeface="Calibri"/>
                          <a:ea typeface="Calibri"/>
                          <a:cs typeface="Calibri"/>
                        </a:rPr>
                        <a:t>4</a:t>
                      </a:r>
                    </a:p>
                  </a:txBody>
                  <a:tcPr marL="47625" marR="47625" marT="28575" marB="28575" anchor="ctr">
                    <a:solidFill>
                      <a:srgbClr val="FFFFFF"/>
                    </a:solidFill>
                  </a:tcPr>
                </a:tc>
                <a:tc>
                  <a:txBody>
                    <a:bodyPr/>
                    <a:lstStyle/>
                    <a:p>
                      <a:pPr algn="ctr"/>
                      <a:r>
                        <a:rPr sz="2025">
                          <a:solidFill>
                            <a:srgbClr val="000000"/>
                          </a:solidFill>
                          <a:latin typeface="Calibri"/>
                          <a:ea typeface="Calibri"/>
                          <a:cs typeface="Calibri"/>
                        </a:rPr>
                        <a:t>Dina</a:t>
                      </a:r>
                    </a:p>
                  </a:txBody>
                  <a:tcPr marL="47625" marR="47625" marT="28575" marB="28575" anchor="ctr">
                    <a:solidFill>
                      <a:srgbClr val="FFFFFF"/>
                    </a:solidFill>
                  </a:tcPr>
                </a:tc>
                <a:tc>
                  <a:txBody>
                    <a:bodyPr/>
                    <a:lstStyle/>
                    <a:p>
                      <a:pPr algn="ctr"/>
                      <a:r>
                        <a:rPr sz="2025">
                          <a:solidFill>
                            <a:srgbClr val="000000"/>
                          </a:solidFill>
                          <a:latin typeface="Calibri"/>
                          <a:ea typeface="Calibri"/>
                          <a:cs typeface="Calibri"/>
                        </a:rPr>
                        <a:t>70</a:t>
                      </a:r>
                    </a:p>
                  </a:txBody>
                  <a:tcPr marL="47625" marR="47625" marT="28575" marB="28575" anchor="ctr">
                    <a:solidFill>
                      <a:srgbClr val="FFFFFF"/>
                    </a:solidFill>
                  </a:tcPr>
                </a:tc>
                <a:extLst>
                  <a:ext uri="{0D108BD9-81ED-4DB2-BD59-A6C34878D82A}">
                    <a16:rowId xmlns:a16="http://schemas.microsoft.com/office/drawing/2014/main" val="10004"/>
                  </a:ext>
                </a:extLst>
              </a:tr>
            </a:tbl>
          </a:graphicData>
        </a:graphic>
      </p:graphicFrame>
      <p:sp>
        <p:nvSpPr>
          <p:cNvPr id="6" name="body">
            <a:extLst>
              <a:ext uri="{FF2B5EF4-FFF2-40B4-BE49-F238E27FC236}">
                <a16:creationId xmlns:a16="http://schemas.microsoft.com/office/drawing/2014/main" id="{C1973E4F-19A1-419B-8B6A-A7A2498C3F39}"/>
              </a:ext>
            </a:extLst>
          </p:cNvPr>
          <p:cNvSpPr>
            <a:spLocks noGrp="1"/>
          </p:cNvSpPr>
          <p:nvPr/>
        </p:nvSpPr>
        <p:spPr>
          <a:xfrm>
            <a:off x="781050" y="3876675"/>
            <a:ext cx="7600950" cy="952500"/>
          </a:xfrm>
          <a:prstGeom prst="rect">
            <a:avLst/>
          </a:prstGeom>
          <a:noFill/>
          <a:ln w="0">
            <a:noFill/>
          </a:ln>
        </p:spPr>
        <p:txBody>
          <a:bodyPr wrap="square" lIns="0" tIns="0" rIns="0" bIns="0">
            <a:noAutofit/>
          </a:bodyPr>
          <a:lstStyle/>
          <a:p>
            <a:pPr>
              <a:defRPr sz="2250" b="0">
                <a:solidFill>
                  <a:srgbClr val="FF0000"/>
                </a:solidFill>
                <a:latin typeface="Calibri"/>
                <a:ea typeface="Calibri"/>
                <a:cs typeface="Calibri"/>
              </a:defRPr>
            </a:pPr>
            <a:r>
              <a:rPr sz="2250" b="0">
                <a:solidFill>
                  <a:srgbClr val="FF0000"/>
                </a:solidFill>
                <a:latin typeface="Calibri"/>
                <a:ea typeface="Calibri"/>
                <a:cs typeface="Calibri"/>
              </a:rPr>
              <a:t>Find the ID and name of every member with the highest score.</a:t>
            </a:r>
          </a:p>
        </p:txBody>
      </p:sp>
      <p:sp>
        <p:nvSpPr>
          <p:cNvPr id="7" name="body">
            <a:extLst>
              <a:ext uri="{FF2B5EF4-FFF2-40B4-BE49-F238E27FC236}">
                <a16:creationId xmlns:a16="http://schemas.microsoft.com/office/drawing/2014/main" id="{D1A74972-214F-4F8F-9F08-263EB8413491}"/>
              </a:ext>
            </a:extLst>
          </p:cNvPr>
          <p:cNvSpPr>
            <a:spLocks noGrp="1"/>
          </p:cNvSpPr>
          <p:nvPr/>
        </p:nvSpPr>
        <p:spPr>
          <a:xfrm>
            <a:off x="781050" y="4686300"/>
            <a:ext cx="7600950" cy="952500"/>
          </a:xfrm>
          <a:prstGeom prst="rect">
            <a:avLst/>
          </a:prstGeom>
          <a:noFill/>
          <a:ln w="0">
            <a:noFill/>
          </a:ln>
        </p:spPr>
        <p:txBody>
          <a:bodyPr wrap="square" lIns="0" tIns="0" rIns="0" bIns="0">
            <a:noAutofit/>
          </a:bodyPr>
          <a:lstStyle/>
          <a:p>
            <a:pPr>
              <a:defRPr sz="2100" b="0">
                <a:solidFill>
                  <a:srgbClr val="000000"/>
                </a:solidFill>
                <a:latin typeface="Calibri"/>
                <a:ea typeface="Calibri"/>
                <a:cs typeface="Calibri"/>
              </a:defRPr>
            </a:pPr>
            <a:r>
              <a:rPr sz="2100" b="0">
                <a:solidFill>
                  <a:srgbClr val="000000"/>
                </a:solidFill>
                <a:latin typeface="Calibri"/>
                <a:ea typeface="Calibri"/>
                <a:cs typeface="Calibri"/>
              </a:rPr>
              <a:t>Use basic relational algebra. Include ties and avoid aggregation.</a:t>
            </a:r>
          </a:p>
        </p:txBody>
      </p:sp>
      <p:sp>
        <p:nvSpPr>
          <p:cNvPr id="8" name="body">
            <a:extLst>
              <a:ext uri="{FF2B5EF4-FFF2-40B4-BE49-F238E27FC236}">
                <a16:creationId xmlns:a16="http://schemas.microsoft.com/office/drawing/2014/main" id="{04ACD3C4-1BFB-430C-A707-B902FE3457CE}"/>
              </a:ext>
            </a:extLst>
          </p:cNvPr>
          <p:cNvSpPr>
            <a:spLocks noGrp="1"/>
          </p:cNvSpPr>
          <p:nvPr/>
        </p:nvSpPr>
        <p:spPr>
          <a:xfrm>
            <a:off x="781050" y="5334000"/>
            <a:ext cx="7600950" cy="952500"/>
          </a:xfrm>
          <a:prstGeom prst="rect">
            <a:avLst/>
          </a:prstGeom>
          <a:noFill/>
          <a:ln w="0">
            <a:noFill/>
          </a:ln>
        </p:spPr>
        <p:txBody>
          <a:bodyPr wrap="square" lIns="0" tIns="0" rIns="0" bIns="0">
            <a:noAutofit/>
          </a:bodyPr>
          <a:lstStyle/>
          <a:p>
            <a:pPr>
              <a:defRPr sz="2025" b="0">
                <a:solidFill>
                  <a:srgbClr val="000000"/>
                </a:solidFill>
                <a:latin typeface="Calibri"/>
                <a:ea typeface="Calibri"/>
                <a:cs typeface="Calibri"/>
              </a:defRPr>
            </a:pPr>
            <a:r>
              <a:rPr sz="2025" b="0">
                <a:solidFill>
                  <a:srgbClr val="000000"/>
                </a:solidFill>
                <a:latin typeface="Calibri"/>
                <a:ea typeface="Calibri"/>
                <a:cs typeface="Calibri"/>
              </a:rPr>
              <a:t>How can you identify members who are not winners?</a:t>
            </a:r>
          </a:p>
        </p:txBody>
      </p:sp>
      <p:sp>
        <p:nvSpPr>
          <p:cNvPr id="9001" name="Title 1">
            <a:extLst>
              <a:ext uri="{FF2B5EF4-FFF2-40B4-BE49-F238E27FC236}">
                <a16:creationId xmlns:a16="http://schemas.microsoft.com/office/drawing/2014/main" id="{4EF27E5C-9C4D-BDBE-7667-D0B141BCC8F5}"/>
              </a:ext>
            </a:extLst>
          </p:cNvPr>
          <p:cNvSpPr>
            <a:spLocks noGrp="1"/>
          </p:cNvSpPr>
          <p:nvPr>
            <p:ph type="title"/>
          </p:nvPr>
        </p:nvSpPr>
        <p:spPr/>
        <p:txBody>
          <a:bodyPr/>
          <a:lstStyle/>
          <a:p>
            <a:r>
              <a:rPr lang="en-US">
                <a:solidFill>
                  <a:srgbClr val="FF0000"/>
                </a:solidFill>
              </a:rPr>
              <a:t>Practice: </a:t>
            </a:r>
            <a:r>
              <a:rPr lang="en-US">
                <a:solidFill>
                  <a:srgbClr val="3333CC"/>
                </a:solidFill>
              </a:rPr>
              <a:t>Q29</a:t>
            </a:r>
          </a:p>
        </p:txBody>
      </p:sp>
      <p:sp>
        <p:nvSpPr>
          <p:cNvPr id="9002" name="Slide Number Placeholder 1">
            <a:extLst>
              <a:ext uri="{FF2B5EF4-FFF2-40B4-BE49-F238E27FC236}">
                <a16:creationId xmlns:a16="http://schemas.microsoft.com/office/drawing/2014/main" id="{B90139AC-3BDA-723A-097A-000DA0A784C1}"/>
              </a:ext>
            </a:extLst>
          </p:cNvPr>
          <p:cNvSpPr>
            <a:spLocks noGrp="1"/>
          </p:cNvSpPr>
          <p:nvPr>
            <p:ph type="sldNum" sz="quarter" idx="12"/>
          </p:nvPr>
        </p:nvSpPr>
        <p:spPr/>
        <p:txBody>
          <a:bodyPr/>
          <a:lstStyle/>
          <a:p>
            <a:pPr>
              <a:defRPr/>
            </a:pPr>
            <a:fld id="{43CA101F-9E5F-9249-9862-3CE55B3BB777}" type="slidenum">
              <a:rPr lang="en-US" altLang="zh-TW" smtClean="0"/>
              <a:pPr>
                <a:defRPr/>
              </a:pPr>
              <a:t>77</a:t>
            </a:fld>
            <a:endParaRPr lang="en-US" altLang="zh-TW"/>
          </a:p>
        </p:txBody>
      </p:sp>
    </p:spTree>
    <p:extLst>
      <p:ext uri="{BB962C8B-B14F-4D97-AF65-F5344CB8AC3E}">
        <p14:creationId xmlns:p14="http://schemas.microsoft.com/office/powerpoint/2010/main" val="271705761"/>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formula">
            <a:extLst>
              <a:ext uri="{FF2B5EF4-FFF2-40B4-BE49-F238E27FC236}">
                <a16:creationId xmlns:a16="http://schemas.microsoft.com/office/drawing/2014/main" id="{29DAAFA2-B6AA-4D3A-8464-92A29C5F7321}"/>
              </a:ext>
            </a:extLst>
          </p:cNvPr>
          <p:cNvSpPr>
            <a:spLocks noGrp="1"/>
          </p:cNvSpPr>
          <p:nvPr/>
        </p:nvSpPr>
        <p:spPr>
          <a:xfrm>
            <a:off x="781050" y="1047750"/>
            <a:ext cx="7715250" cy="523875"/>
          </a:xfrm>
          <a:prstGeom prst="rect">
            <a:avLst/>
          </a:prstGeom>
          <a:noFill/>
          <a:ln w="0">
            <a:noFill/>
          </a:ln>
        </p:spPr>
        <p:txBody>
          <a:bodyPr wrap="square" lIns="0" tIns="0" rIns="0" bIns="0">
            <a:noAutofit/>
          </a:bodyPr>
          <a:lstStyle/>
          <a:p>
            <a:pPr>
              <a:defRPr sz="2175" b="0">
                <a:solidFill>
                  <a:srgbClr val="000000"/>
                </a:solidFill>
                <a:latin typeface="Cambria Math"/>
                <a:ea typeface="Cambria Math"/>
                <a:cs typeface="Cambria Math"/>
              </a:defRPr>
            </a:pPr>
            <a:r>
              <a:rPr sz="2175" b="0">
                <a:solidFill>
                  <a:srgbClr val="000000"/>
                </a:solidFill>
                <a:latin typeface="Cambria Math"/>
                <a:ea typeface="Cambria Math"/>
                <a:cs typeface="Cambria Math"/>
              </a:rPr>
              <a:t>S ← ρ (S, Score)       T ← ρ (T, Score)</a:t>
            </a:r>
          </a:p>
        </p:txBody>
      </p:sp>
      <p:sp>
        <p:nvSpPr>
          <p:cNvPr id="4" name="formula">
            <a:extLst>
              <a:ext uri="{FF2B5EF4-FFF2-40B4-BE49-F238E27FC236}">
                <a16:creationId xmlns:a16="http://schemas.microsoft.com/office/drawing/2014/main" id="{B6E176A9-B50C-4A97-B712-6CD537B3DC39}"/>
              </a:ext>
            </a:extLst>
          </p:cNvPr>
          <p:cNvSpPr>
            <a:spLocks noGrp="1"/>
          </p:cNvSpPr>
          <p:nvPr/>
        </p:nvSpPr>
        <p:spPr>
          <a:xfrm>
            <a:off x="781050" y="1733550"/>
            <a:ext cx="7715250" cy="523875"/>
          </a:xfrm>
          <a:prstGeom prst="rect">
            <a:avLst/>
          </a:prstGeom>
          <a:noFill/>
          <a:ln w="0">
            <a:noFill/>
          </a:ln>
        </p:spPr>
        <p:txBody>
          <a:bodyPr wrap="square" lIns="0" tIns="0" rIns="0" bIns="0">
            <a:noAutofit/>
          </a:bodyPr>
          <a:lstStyle/>
          <a:p>
            <a:pPr>
              <a:defRPr sz="2175" b="0">
                <a:solidFill>
                  <a:srgbClr val="000000"/>
                </a:solidFill>
                <a:latin typeface="Cambria Math"/>
                <a:ea typeface="Cambria Math"/>
                <a:cs typeface="Cambria Math"/>
              </a:defRPr>
            </a:pPr>
            <a:r>
              <a:rPr sz="2175" b="0">
                <a:solidFill>
                  <a:srgbClr val="000000"/>
                </a:solidFill>
                <a:latin typeface="Cambria Math"/>
                <a:ea typeface="Cambria Math"/>
                <a:cs typeface="Cambria Math"/>
              </a:rPr>
              <a:t>P ← σ</a:t>
            </a:r>
            <a:r>
              <a:rPr sz="1544" b="0" baseline="-25000">
                <a:solidFill>
                  <a:srgbClr val="000000"/>
                </a:solidFill>
                <a:latin typeface="Cambria Math"/>
                <a:ea typeface="Cambria Math"/>
                <a:cs typeface="Cambria Math"/>
              </a:rPr>
              <a:t>S.points&lt;T.points</a:t>
            </a:r>
            <a:r>
              <a:rPr sz="2175" b="0">
                <a:solidFill>
                  <a:srgbClr val="000000"/>
                </a:solidFill>
                <a:latin typeface="Cambria Math"/>
                <a:ea typeface="Cambria Math"/>
                <a:cs typeface="Cambria Math"/>
              </a:rPr>
              <a:t>(S × T)</a:t>
            </a:r>
          </a:p>
        </p:txBody>
      </p:sp>
      <p:sp>
        <p:nvSpPr>
          <p:cNvPr id="5" name="body">
            <a:extLst>
              <a:ext uri="{FF2B5EF4-FFF2-40B4-BE49-F238E27FC236}">
                <a16:creationId xmlns:a16="http://schemas.microsoft.com/office/drawing/2014/main" id="{843A4B0A-122C-4BA1-9210-3E55FADEED9D}"/>
              </a:ext>
            </a:extLst>
          </p:cNvPr>
          <p:cNvSpPr>
            <a:spLocks noGrp="1"/>
          </p:cNvSpPr>
          <p:nvPr/>
        </p:nvSpPr>
        <p:spPr>
          <a:xfrm>
            <a:off x="819150" y="2362200"/>
            <a:ext cx="7353300" cy="361950"/>
          </a:xfrm>
          <a:prstGeom prst="rect">
            <a:avLst/>
          </a:prstGeom>
          <a:noFill/>
          <a:ln w="0">
            <a:noFill/>
          </a:ln>
        </p:spPr>
        <p:txBody>
          <a:bodyPr wrap="square" lIns="0" tIns="0" rIns="0" bIns="0">
            <a:noAutofit/>
          </a:bodyPr>
          <a:lstStyle/>
          <a:p>
            <a:pPr>
              <a:defRPr sz="2250" b="0">
                <a:solidFill>
                  <a:srgbClr val="000000"/>
                </a:solidFill>
                <a:latin typeface="Calibri"/>
                <a:ea typeface="Calibri"/>
                <a:cs typeface="Calibri"/>
              </a:defRPr>
            </a:pPr>
            <a:r>
              <a:rPr sz="2250" b="0">
                <a:solidFill>
                  <a:srgbClr val="000000"/>
                </a:solidFill>
                <a:latin typeface="Calibri"/>
                <a:ea typeface="Calibri"/>
                <a:cs typeface="Calibri"/>
              </a:rPr>
              <a:t>P</a:t>
            </a:r>
          </a:p>
        </p:txBody>
      </p:sp>
      <p:graphicFrame>
        <p:nvGraphicFramePr>
          <p:cNvPr id="13" name="表格 12"/>
          <p:cNvGraphicFramePr/>
          <p:nvPr/>
        </p:nvGraphicFramePr>
        <p:xfrm>
          <a:off x="895350" y="2781300"/>
          <a:ext cx="7353300" cy="2228850"/>
        </p:xfrm>
        <a:graphic>
          <a:graphicData uri="http://schemas.openxmlformats.org/drawingml/2006/table">
            <a:tbl>
              <a:tblPr/>
              <a:tblGrid>
                <a:gridCol w="1225550">
                  <a:extLst>
                    <a:ext uri="{9D8B030D-6E8A-4147-A177-3AD203B41FA5}">
                      <a16:colId xmlns:a16="http://schemas.microsoft.com/office/drawing/2014/main" val="20000"/>
                    </a:ext>
                  </a:extLst>
                </a:gridCol>
                <a:gridCol w="1225550">
                  <a:extLst>
                    <a:ext uri="{9D8B030D-6E8A-4147-A177-3AD203B41FA5}">
                      <a16:colId xmlns:a16="http://schemas.microsoft.com/office/drawing/2014/main" val="20001"/>
                    </a:ext>
                  </a:extLst>
                </a:gridCol>
                <a:gridCol w="1225550">
                  <a:extLst>
                    <a:ext uri="{9D8B030D-6E8A-4147-A177-3AD203B41FA5}">
                      <a16:colId xmlns:a16="http://schemas.microsoft.com/office/drawing/2014/main" val="20002"/>
                    </a:ext>
                  </a:extLst>
                </a:gridCol>
                <a:gridCol w="1225550">
                  <a:extLst>
                    <a:ext uri="{9D8B030D-6E8A-4147-A177-3AD203B41FA5}">
                      <a16:colId xmlns:a16="http://schemas.microsoft.com/office/drawing/2014/main" val="20003"/>
                    </a:ext>
                  </a:extLst>
                </a:gridCol>
                <a:gridCol w="1225550">
                  <a:extLst>
                    <a:ext uri="{9D8B030D-6E8A-4147-A177-3AD203B41FA5}">
                      <a16:colId xmlns:a16="http://schemas.microsoft.com/office/drawing/2014/main" val="20004"/>
                    </a:ext>
                  </a:extLst>
                </a:gridCol>
                <a:gridCol w="1225550">
                  <a:extLst>
                    <a:ext uri="{9D8B030D-6E8A-4147-A177-3AD203B41FA5}">
                      <a16:colId xmlns:a16="http://schemas.microsoft.com/office/drawing/2014/main" val="20005"/>
                    </a:ext>
                  </a:extLst>
                </a:gridCol>
              </a:tblGrid>
              <a:tr h="371475">
                <a:tc>
                  <a:txBody>
                    <a:bodyPr/>
                    <a:lstStyle/>
                    <a:p>
                      <a:pPr algn="ctr"/>
                      <a:r>
                        <a:rPr sz="1575">
                          <a:solidFill>
                            <a:srgbClr val="000000"/>
                          </a:solidFill>
                          <a:latin typeface="Calibri"/>
                          <a:ea typeface="Calibri"/>
                          <a:cs typeface="Calibri"/>
                        </a:rPr>
                        <a:t>S.mid</a:t>
                      </a:r>
                    </a:p>
                  </a:txBody>
                  <a:tcPr marL="47625" marR="47625" marT="28575" marB="28575" anchor="ctr">
                    <a:solidFill>
                      <a:srgbClr val="D9D9D9"/>
                    </a:solidFill>
                  </a:tcPr>
                </a:tc>
                <a:tc>
                  <a:txBody>
                    <a:bodyPr/>
                    <a:lstStyle/>
                    <a:p>
                      <a:pPr algn="ctr"/>
                      <a:r>
                        <a:rPr sz="1575">
                          <a:solidFill>
                            <a:srgbClr val="000000"/>
                          </a:solidFill>
                          <a:latin typeface="Calibri"/>
                          <a:ea typeface="Calibri"/>
                          <a:cs typeface="Calibri"/>
                        </a:rPr>
                        <a:t>S.mname</a:t>
                      </a:r>
                    </a:p>
                  </a:txBody>
                  <a:tcPr marL="47625" marR="47625" marT="28575" marB="28575" anchor="ctr">
                    <a:solidFill>
                      <a:srgbClr val="D9D9D9"/>
                    </a:solidFill>
                  </a:tcPr>
                </a:tc>
                <a:tc>
                  <a:txBody>
                    <a:bodyPr/>
                    <a:lstStyle/>
                    <a:p>
                      <a:pPr algn="ctr"/>
                      <a:r>
                        <a:rPr sz="1575">
                          <a:solidFill>
                            <a:srgbClr val="000000"/>
                          </a:solidFill>
                          <a:latin typeface="Calibri"/>
                          <a:ea typeface="Calibri"/>
                          <a:cs typeface="Calibri"/>
                        </a:rPr>
                        <a:t>S.points</a:t>
                      </a:r>
                    </a:p>
                  </a:txBody>
                  <a:tcPr marL="47625" marR="47625" marT="28575" marB="28575" anchor="ctr">
                    <a:solidFill>
                      <a:srgbClr val="D9D9D9"/>
                    </a:solidFill>
                  </a:tcPr>
                </a:tc>
                <a:tc>
                  <a:txBody>
                    <a:bodyPr/>
                    <a:lstStyle/>
                    <a:p>
                      <a:pPr algn="ctr"/>
                      <a:r>
                        <a:rPr sz="1575">
                          <a:solidFill>
                            <a:srgbClr val="000000"/>
                          </a:solidFill>
                          <a:latin typeface="Calibri"/>
                          <a:ea typeface="Calibri"/>
                          <a:cs typeface="Calibri"/>
                        </a:rPr>
                        <a:t>T.mid</a:t>
                      </a:r>
                    </a:p>
                  </a:txBody>
                  <a:tcPr marL="47625" marR="47625" marT="28575" marB="28575" anchor="ctr">
                    <a:solidFill>
                      <a:srgbClr val="D9D9D9"/>
                    </a:solidFill>
                  </a:tcPr>
                </a:tc>
                <a:tc>
                  <a:txBody>
                    <a:bodyPr/>
                    <a:lstStyle/>
                    <a:p>
                      <a:pPr algn="ctr"/>
                      <a:r>
                        <a:rPr sz="1575">
                          <a:solidFill>
                            <a:srgbClr val="000000"/>
                          </a:solidFill>
                          <a:latin typeface="Calibri"/>
                          <a:ea typeface="Calibri"/>
                          <a:cs typeface="Calibri"/>
                        </a:rPr>
                        <a:t>T.mname</a:t>
                      </a:r>
                    </a:p>
                  </a:txBody>
                  <a:tcPr marL="47625" marR="47625" marT="28575" marB="28575" anchor="ctr">
                    <a:solidFill>
                      <a:srgbClr val="D9D9D9"/>
                    </a:solidFill>
                  </a:tcPr>
                </a:tc>
                <a:tc>
                  <a:txBody>
                    <a:bodyPr/>
                    <a:lstStyle/>
                    <a:p>
                      <a:pPr algn="ctr"/>
                      <a:r>
                        <a:rPr sz="1575">
                          <a:solidFill>
                            <a:srgbClr val="000000"/>
                          </a:solidFill>
                          <a:latin typeface="Calibri"/>
                          <a:ea typeface="Calibri"/>
                          <a:cs typeface="Calibri"/>
                        </a:rPr>
                        <a:t>T.points</a:t>
                      </a:r>
                    </a:p>
                  </a:txBody>
                  <a:tcPr marL="47625" marR="47625" marT="28575" marB="28575" anchor="ctr">
                    <a:solidFill>
                      <a:srgbClr val="D9D9D9"/>
                    </a:solidFill>
                  </a:tcPr>
                </a:tc>
                <a:extLst>
                  <a:ext uri="{0D108BD9-81ED-4DB2-BD59-A6C34878D82A}">
                    <a16:rowId xmlns:a16="http://schemas.microsoft.com/office/drawing/2014/main" val="10000"/>
                  </a:ext>
                </a:extLst>
              </a:tr>
              <a:tr h="371475">
                <a:tc>
                  <a:txBody>
                    <a:bodyPr/>
                    <a:lstStyle/>
                    <a:p>
                      <a:pPr algn="ctr"/>
                      <a:r>
                        <a:rPr sz="1575">
                          <a:solidFill>
                            <a:srgbClr val="000000"/>
                          </a:solidFill>
                          <a:latin typeface="Calibri"/>
                          <a:ea typeface="Calibri"/>
                          <a:cs typeface="Calibri"/>
                        </a:rPr>
                        <a:t>1</a:t>
                      </a:r>
                    </a:p>
                  </a:txBody>
                  <a:tcPr marL="47625" marR="47625" marT="28575" marB="28575" anchor="ctr">
                    <a:solidFill>
                      <a:srgbClr val="FFFFFF"/>
                    </a:solidFill>
                  </a:tcPr>
                </a:tc>
                <a:tc>
                  <a:txBody>
                    <a:bodyPr/>
                    <a:lstStyle/>
                    <a:p>
                      <a:pPr algn="ctr"/>
                      <a:r>
                        <a:rPr sz="1575">
                          <a:solidFill>
                            <a:srgbClr val="000000"/>
                          </a:solidFill>
                          <a:latin typeface="Calibri"/>
                          <a:ea typeface="Calibri"/>
                          <a:cs typeface="Calibri"/>
                        </a:rPr>
                        <a:t>Alex</a:t>
                      </a:r>
                    </a:p>
                  </a:txBody>
                  <a:tcPr marL="47625" marR="47625" marT="28575" marB="28575" anchor="ctr">
                    <a:solidFill>
                      <a:srgbClr val="FFFFFF"/>
                    </a:solidFill>
                  </a:tcPr>
                </a:tc>
                <a:tc>
                  <a:txBody>
                    <a:bodyPr/>
                    <a:lstStyle/>
                    <a:p>
                      <a:pPr algn="ctr"/>
                      <a:r>
                        <a:rPr sz="1575">
                          <a:solidFill>
                            <a:srgbClr val="000000"/>
                          </a:solidFill>
                          <a:latin typeface="Calibri"/>
                          <a:ea typeface="Calibri"/>
                          <a:cs typeface="Calibri"/>
                        </a:rPr>
                        <a:t>80</a:t>
                      </a:r>
                    </a:p>
                  </a:txBody>
                  <a:tcPr marL="47625" marR="47625" marT="28575" marB="28575" anchor="ctr">
                    <a:solidFill>
                      <a:srgbClr val="FFFFFF"/>
                    </a:solidFill>
                  </a:tcPr>
                </a:tc>
                <a:tc>
                  <a:txBody>
                    <a:bodyPr/>
                    <a:lstStyle/>
                    <a:p>
                      <a:pPr algn="ctr"/>
                      <a:r>
                        <a:rPr sz="1575">
                          <a:solidFill>
                            <a:srgbClr val="000000"/>
                          </a:solidFill>
                          <a:latin typeface="Calibri"/>
                          <a:ea typeface="Calibri"/>
                          <a:cs typeface="Calibri"/>
                        </a:rPr>
                        <a:t>2</a:t>
                      </a:r>
                    </a:p>
                  </a:txBody>
                  <a:tcPr marL="47625" marR="47625" marT="28575" marB="28575" anchor="ctr">
                    <a:solidFill>
                      <a:srgbClr val="FFFFFF"/>
                    </a:solidFill>
                  </a:tcPr>
                </a:tc>
                <a:tc>
                  <a:txBody>
                    <a:bodyPr/>
                    <a:lstStyle/>
                    <a:p>
                      <a:pPr algn="ctr"/>
                      <a:r>
                        <a:rPr sz="1575">
                          <a:solidFill>
                            <a:srgbClr val="000000"/>
                          </a:solidFill>
                          <a:latin typeface="Calibri"/>
                          <a:ea typeface="Calibri"/>
                          <a:cs typeface="Calibri"/>
                        </a:rPr>
                        <a:t>Bao</a:t>
                      </a:r>
                    </a:p>
                  </a:txBody>
                  <a:tcPr marL="47625" marR="47625" marT="28575" marB="28575" anchor="ctr">
                    <a:solidFill>
                      <a:srgbClr val="FFFFFF"/>
                    </a:solidFill>
                  </a:tcPr>
                </a:tc>
                <a:tc>
                  <a:txBody>
                    <a:bodyPr/>
                    <a:lstStyle/>
                    <a:p>
                      <a:pPr algn="ctr"/>
                      <a:r>
                        <a:rPr sz="1575">
                          <a:solidFill>
                            <a:srgbClr val="000000"/>
                          </a:solidFill>
                          <a:latin typeface="Calibri"/>
                          <a:ea typeface="Calibri"/>
                          <a:cs typeface="Calibri"/>
                        </a:rPr>
                        <a:t>95</a:t>
                      </a:r>
                    </a:p>
                  </a:txBody>
                  <a:tcPr marL="47625" marR="47625" marT="28575" marB="28575" anchor="ctr">
                    <a:solidFill>
                      <a:srgbClr val="FFFFFF"/>
                    </a:solidFill>
                  </a:tcPr>
                </a:tc>
                <a:extLst>
                  <a:ext uri="{0D108BD9-81ED-4DB2-BD59-A6C34878D82A}">
                    <a16:rowId xmlns:a16="http://schemas.microsoft.com/office/drawing/2014/main" val="10001"/>
                  </a:ext>
                </a:extLst>
              </a:tr>
              <a:tr h="371475">
                <a:tc>
                  <a:txBody>
                    <a:bodyPr/>
                    <a:lstStyle/>
                    <a:p>
                      <a:pPr algn="ctr"/>
                      <a:r>
                        <a:rPr sz="1575">
                          <a:solidFill>
                            <a:srgbClr val="000000"/>
                          </a:solidFill>
                          <a:latin typeface="Calibri"/>
                          <a:ea typeface="Calibri"/>
                          <a:cs typeface="Calibri"/>
                        </a:rPr>
                        <a:t>1</a:t>
                      </a:r>
                    </a:p>
                  </a:txBody>
                  <a:tcPr marL="47625" marR="47625" marT="28575" marB="28575" anchor="ctr">
                    <a:solidFill>
                      <a:srgbClr val="FFFFFF"/>
                    </a:solidFill>
                  </a:tcPr>
                </a:tc>
                <a:tc>
                  <a:txBody>
                    <a:bodyPr/>
                    <a:lstStyle/>
                    <a:p>
                      <a:pPr algn="ctr"/>
                      <a:r>
                        <a:rPr sz="1575">
                          <a:solidFill>
                            <a:srgbClr val="000000"/>
                          </a:solidFill>
                          <a:latin typeface="Calibri"/>
                          <a:ea typeface="Calibri"/>
                          <a:cs typeface="Calibri"/>
                        </a:rPr>
                        <a:t>Alex</a:t>
                      </a:r>
                    </a:p>
                  </a:txBody>
                  <a:tcPr marL="47625" marR="47625" marT="28575" marB="28575" anchor="ctr">
                    <a:solidFill>
                      <a:srgbClr val="FFFFFF"/>
                    </a:solidFill>
                  </a:tcPr>
                </a:tc>
                <a:tc>
                  <a:txBody>
                    <a:bodyPr/>
                    <a:lstStyle/>
                    <a:p>
                      <a:pPr algn="ctr"/>
                      <a:r>
                        <a:rPr sz="1575">
                          <a:solidFill>
                            <a:srgbClr val="000000"/>
                          </a:solidFill>
                          <a:latin typeface="Calibri"/>
                          <a:ea typeface="Calibri"/>
                          <a:cs typeface="Calibri"/>
                        </a:rPr>
                        <a:t>80</a:t>
                      </a:r>
                    </a:p>
                  </a:txBody>
                  <a:tcPr marL="47625" marR="47625" marT="28575" marB="28575" anchor="ctr">
                    <a:solidFill>
                      <a:srgbClr val="FFFFFF"/>
                    </a:solidFill>
                  </a:tcPr>
                </a:tc>
                <a:tc>
                  <a:txBody>
                    <a:bodyPr/>
                    <a:lstStyle/>
                    <a:p>
                      <a:pPr algn="ctr"/>
                      <a:r>
                        <a:rPr sz="1575">
                          <a:solidFill>
                            <a:srgbClr val="000000"/>
                          </a:solidFill>
                          <a:latin typeface="Calibri"/>
                          <a:ea typeface="Calibri"/>
                          <a:cs typeface="Calibri"/>
                        </a:rPr>
                        <a:t>3</a:t>
                      </a:r>
                    </a:p>
                  </a:txBody>
                  <a:tcPr marL="47625" marR="47625" marT="28575" marB="28575" anchor="ctr">
                    <a:solidFill>
                      <a:srgbClr val="FFFFFF"/>
                    </a:solidFill>
                  </a:tcPr>
                </a:tc>
                <a:tc>
                  <a:txBody>
                    <a:bodyPr/>
                    <a:lstStyle/>
                    <a:p>
                      <a:pPr algn="ctr"/>
                      <a:r>
                        <a:rPr sz="1575">
                          <a:solidFill>
                            <a:srgbClr val="000000"/>
                          </a:solidFill>
                          <a:latin typeface="Calibri"/>
                          <a:ea typeface="Calibri"/>
                          <a:cs typeface="Calibri"/>
                        </a:rPr>
                        <a:t>Alex</a:t>
                      </a:r>
                    </a:p>
                  </a:txBody>
                  <a:tcPr marL="47625" marR="47625" marT="28575" marB="28575" anchor="ctr">
                    <a:solidFill>
                      <a:srgbClr val="FFFFFF"/>
                    </a:solidFill>
                  </a:tcPr>
                </a:tc>
                <a:tc>
                  <a:txBody>
                    <a:bodyPr/>
                    <a:lstStyle/>
                    <a:p>
                      <a:pPr algn="ctr"/>
                      <a:r>
                        <a:rPr sz="1575">
                          <a:solidFill>
                            <a:srgbClr val="000000"/>
                          </a:solidFill>
                          <a:latin typeface="Calibri"/>
                          <a:ea typeface="Calibri"/>
                          <a:cs typeface="Calibri"/>
                        </a:rPr>
                        <a:t>95</a:t>
                      </a:r>
                    </a:p>
                  </a:txBody>
                  <a:tcPr marL="47625" marR="47625" marT="28575" marB="28575" anchor="ctr">
                    <a:solidFill>
                      <a:srgbClr val="FFFFFF"/>
                    </a:solidFill>
                  </a:tcPr>
                </a:tc>
                <a:extLst>
                  <a:ext uri="{0D108BD9-81ED-4DB2-BD59-A6C34878D82A}">
                    <a16:rowId xmlns:a16="http://schemas.microsoft.com/office/drawing/2014/main" val="10002"/>
                  </a:ext>
                </a:extLst>
              </a:tr>
              <a:tr h="371475">
                <a:tc>
                  <a:txBody>
                    <a:bodyPr/>
                    <a:lstStyle/>
                    <a:p>
                      <a:pPr algn="ctr"/>
                      <a:r>
                        <a:rPr sz="1575">
                          <a:solidFill>
                            <a:srgbClr val="000000"/>
                          </a:solidFill>
                          <a:latin typeface="Calibri"/>
                          <a:ea typeface="Calibri"/>
                          <a:cs typeface="Calibri"/>
                        </a:rPr>
                        <a:t>4</a:t>
                      </a:r>
                    </a:p>
                  </a:txBody>
                  <a:tcPr marL="47625" marR="47625" marT="28575" marB="28575" anchor="ctr">
                    <a:solidFill>
                      <a:srgbClr val="FFFFFF"/>
                    </a:solidFill>
                  </a:tcPr>
                </a:tc>
                <a:tc>
                  <a:txBody>
                    <a:bodyPr/>
                    <a:lstStyle/>
                    <a:p>
                      <a:pPr algn="ctr"/>
                      <a:r>
                        <a:rPr sz="1575">
                          <a:solidFill>
                            <a:srgbClr val="000000"/>
                          </a:solidFill>
                          <a:latin typeface="Calibri"/>
                          <a:ea typeface="Calibri"/>
                          <a:cs typeface="Calibri"/>
                        </a:rPr>
                        <a:t>Dina</a:t>
                      </a:r>
                    </a:p>
                  </a:txBody>
                  <a:tcPr marL="47625" marR="47625" marT="28575" marB="28575" anchor="ctr">
                    <a:solidFill>
                      <a:srgbClr val="FFFFFF"/>
                    </a:solidFill>
                  </a:tcPr>
                </a:tc>
                <a:tc>
                  <a:txBody>
                    <a:bodyPr/>
                    <a:lstStyle/>
                    <a:p>
                      <a:pPr algn="ctr"/>
                      <a:r>
                        <a:rPr sz="1575">
                          <a:solidFill>
                            <a:srgbClr val="000000"/>
                          </a:solidFill>
                          <a:latin typeface="Calibri"/>
                          <a:ea typeface="Calibri"/>
                          <a:cs typeface="Calibri"/>
                        </a:rPr>
                        <a:t>70</a:t>
                      </a:r>
                    </a:p>
                  </a:txBody>
                  <a:tcPr marL="47625" marR="47625" marT="28575" marB="28575" anchor="ctr">
                    <a:solidFill>
                      <a:srgbClr val="FFFFFF"/>
                    </a:solidFill>
                  </a:tcPr>
                </a:tc>
                <a:tc>
                  <a:txBody>
                    <a:bodyPr/>
                    <a:lstStyle/>
                    <a:p>
                      <a:pPr algn="ctr"/>
                      <a:r>
                        <a:rPr sz="1575">
                          <a:solidFill>
                            <a:srgbClr val="000000"/>
                          </a:solidFill>
                          <a:latin typeface="Calibri"/>
                          <a:ea typeface="Calibri"/>
                          <a:cs typeface="Calibri"/>
                        </a:rPr>
                        <a:t>1</a:t>
                      </a:r>
                    </a:p>
                  </a:txBody>
                  <a:tcPr marL="47625" marR="47625" marT="28575" marB="28575" anchor="ctr">
                    <a:solidFill>
                      <a:srgbClr val="FFFFFF"/>
                    </a:solidFill>
                  </a:tcPr>
                </a:tc>
                <a:tc>
                  <a:txBody>
                    <a:bodyPr/>
                    <a:lstStyle/>
                    <a:p>
                      <a:pPr algn="ctr"/>
                      <a:r>
                        <a:rPr sz="1575">
                          <a:solidFill>
                            <a:srgbClr val="000000"/>
                          </a:solidFill>
                          <a:latin typeface="Calibri"/>
                          <a:ea typeface="Calibri"/>
                          <a:cs typeface="Calibri"/>
                        </a:rPr>
                        <a:t>Alex</a:t>
                      </a:r>
                    </a:p>
                  </a:txBody>
                  <a:tcPr marL="47625" marR="47625" marT="28575" marB="28575" anchor="ctr">
                    <a:solidFill>
                      <a:srgbClr val="FFFFFF"/>
                    </a:solidFill>
                  </a:tcPr>
                </a:tc>
                <a:tc>
                  <a:txBody>
                    <a:bodyPr/>
                    <a:lstStyle/>
                    <a:p>
                      <a:pPr algn="ctr"/>
                      <a:r>
                        <a:rPr sz="1575">
                          <a:solidFill>
                            <a:srgbClr val="000000"/>
                          </a:solidFill>
                          <a:latin typeface="Calibri"/>
                          <a:ea typeface="Calibri"/>
                          <a:cs typeface="Calibri"/>
                        </a:rPr>
                        <a:t>80</a:t>
                      </a:r>
                    </a:p>
                  </a:txBody>
                  <a:tcPr marL="47625" marR="47625" marT="28575" marB="28575" anchor="ctr">
                    <a:solidFill>
                      <a:srgbClr val="FFFFFF"/>
                    </a:solidFill>
                  </a:tcPr>
                </a:tc>
                <a:extLst>
                  <a:ext uri="{0D108BD9-81ED-4DB2-BD59-A6C34878D82A}">
                    <a16:rowId xmlns:a16="http://schemas.microsoft.com/office/drawing/2014/main" val="10003"/>
                  </a:ext>
                </a:extLst>
              </a:tr>
              <a:tr h="371475">
                <a:tc>
                  <a:txBody>
                    <a:bodyPr/>
                    <a:lstStyle/>
                    <a:p>
                      <a:pPr algn="ctr"/>
                      <a:r>
                        <a:rPr sz="1575">
                          <a:solidFill>
                            <a:srgbClr val="000000"/>
                          </a:solidFill>
                          <a:latin typeface="Calibri"/>
                          <a:ea typeface="Calibri"/>
                          <a:cs typeface="Calibri"/>
                        </a:rPr>
                        <a:t>4</a:t>
                      </a:r>
                    </a:p>
                  </a:txBody>
                  <a:tcPr marL="47625" marR="47625" marT="28575" marB="28575" anchor="ctr">
                    <a:solidFill>
                      <a:srgbClr val="FFFFFF"/>
                    </a:solidFill>
                  </a:tcPr>
                </a:tc>
                <a:tc>
                  <a:txBody>
                    <a:bodyPr/>
                    <a:lstStyle/>
                    <a:p>
                      <a:pPr algn="ctr"/>
                      <a:r>
                        <a:rPr sz="1575">
                          <a:solidFill>
                            <a:srgbClr val="000000"/>
                          </a:solidFill>
                          <a:latin typeface="Calibri"/>
                          <a:ea typeface="Calibri"/>
                          <a:cs typeface="Calibri"/>
                        </a:rPr>
                        <a:t>Dina</a:t>
                      </a:r>
                    </a:p>
                  </a:txBody>
                  <a:tcPr marL="47625" marR="47625" marT="28575" marB="28575" anchor="ctr">
                    <a:solidFill>
                      <a:srgbClr val="FFFFFF"/>
                    </a:solidFill>
                  </a:tcPr>
                </a:tc>
                <a:tc>
                  <a:txBody>
                    <a:bodyPr/>
                    <a:lstStyle/>
                    <a:p>
                      <a:pPr algn="ctr"/>
                      <a:r>
                        <a:rPr sz="1575">
                          <a:solidFill>
                            <a:srgbClr val="000000"/>
                          </a:solidFill>
                          <a:latin typeface="Calibri"/>
                          <a:ea typeface="Calibri"/>
                          <a:cs typeface="Calibri"/>
                        </a:rPr>
                        <a:t>70</a:t>
                      </a:r>
                    </a:p>
                  </a:txBody>
                  <a:tcPr marL="47625" marR="47625" marT="28575" marB="28575" anchor="ctr">
                    <a:solidFill>
                      <a:srgbClr val="FFFFFF"/>
                    </a:solidFill>
                  </a:tcPr>
                </a:tc>
                <a:tc>
                  <a:txBody>
                    <a:bodyPr/>
                    <a:lstStyle/>
                    <a:p>
                      <a:pPr algn="ctr"/>
                      <a:r>
                        <a:rPr sz="1575">
                          <a:solidFill>
                            <a:srgbClr val="000000"/>
                          </a:solidFill>
                          <a:latin typeface="Calibri"/>
                          <a:ea typeface="Calibri"/>
                          <a:cs typeface="Calibri"/>
                        </a:rPr>
                        <a:t>2</a:t>
                      </a:r>
                    </a:p>
                  </a:txBody>
                  <a:tcPr marL="47625" marR="47625" marT="28575" marB="28575" anchor="ctr">
                    <a:solidFill>
                      <a:srgbClr val="FFFFFF"/>
                    </a:solidFill>
                  </a:tcPr>
                </a:tc>
                <a:tc>
                  <a:txBody>
                    <a:bodyPr/>
                    <a:lstStyle/>
                    <a:p>
                      <a:pPr algn="ctr"/>
                      <a:r>
                        <a:rPr sz="1575">
                          <a:solidFill>
                            <a:srgbClr val="000000"/>
                          </a:solidFill>
                          <a:latin typeface="Calibri"/>
                          <a:ea typeface="Calibri"/>
                          <a:cs typeface="Calibri"/>
                        </a:rPr>
                        <a:t>Bao</a:t>
                      </a:r>
                    </a:p>
                  </a:txBody>
                  <a:tcPr marL="47625" marR="47625" marT="28575" marB="28575" anchor="ctr">
                    <a:solidFill>
                      <a:srgbClr val="FFFFFF"/>
                    </a:solidFill>
                  </a:tcPr>
                </a:tc>
                <a:tc>
                  <a:txBody>
                    <a:bodyPr/>
                    <a:lstStyle/>
                    <a:p>
                      <a:pPr algn="ctr"/>
                      <a:r>
                        <a:rPr sz="1575">
                          <a:solidFill>
                            <a:srgbClr val="000000"/>
                          </a:solidFill>
                          <a:latin typeface="Calibri"/>
                          <a:ea typeface="Calibri"/>
                          <a:cs typeface="Calibri"/>
                        </a:rPr>
                        <a:t>95</a:t>
                      </a:r>
                    </a:p>
                  </a:txBody>
                  <a:tcPr marL="47625" marR="47625" marT="28575" marB="28575" anchor="ctr">
                    <a:solidFill>
                      <a:srgbClr val="FFFFFF"/>
                    </a:solidFill>
                  </a:tcPr>
                </a:tc>
                <a:extLst>
                  <a:ext uri="{0D108BD9-81ED-4DB2-BD59-A6C34878D82A}">
                    <a16:rowId xmlns:a16="http://schemas.microsoft.com/office/drawing/2014/main" val="10004"/>
                  </a:ext>
                </a:extLst>
              </a:tr>
              <a:tr h="371475">
                <a:tc>
                  <a:txBody>
                    <a:bodyPr/>
                    <a:lstStyle/>
                    <a:p>
                      <a:pPr algn="ctr"/>
                      <a:r>
                        <a:rPr sz="1575">
                          <a:solidFill>
                            <a:srgbClr val="000000"/>
                          </a:solidFill>
                          <a:latin typeface="Calibri"/>
                          <a:ea typeface="Calibri"/>
                          <a:cs typeface="Calibri"/>
                        </a:rPr>
                        <a:t>4</a:t>
                      </a:r>
                    </a:p>
                  </a:txBody>
                  <a:tcPr marL="47625" marR="47625" marT="28575" marB="28575" anchor="ctr">
                    <a:solidFill>
                      <a:srgbClr val="FFFFFF"/>
                    </a:solidFill>
                  </a:tcPr>
                </a:tc>
                <a:tc>
                  <a:txBody>
                    <a:bodyPr/>
                    <a:lstStyle/>
                    <a:p>
                      <a:pPr algn="ctr"/>
                      <a:r>
                        <a:rPr sz="1575">
                          <a:solidFill>
                            <a:srgbClr val="000000"/>
                          </a:solidFill>
                          <a:latin typeface="Calibri"/>
                          <a:ea typeface="Calibri"/>
                          <a:cs typeface="Calibri"/>
                        </a:rPr>
                        <a:t>Dina</a:t>
                      </a:r>
                    </a:p>
                  </a:txBody>
                  <a:tcPr marL="47625" marR="47625" marT="28575" marB="28575" anchor="ctr">
                    <a:solidFill>
                      <a:srgbClr val="FFFFFF"/>
                    </a:solidFill>
                  </a:tcPr>
                </a:tc>
                <a:tc>
                  <a:txBody>
                    <a:bodyPr/>
                    <a:lstStyle/>
                    <a:p>
                      <a:pPr algn="ctr"/>
                      <a:r>
                        <a:rPr sz="1575">
                          <a:solidFill>
                            <a:srgbClr val="000000"/>
                          </a:solidFill>
                          <a:latin typeface="Calibri"/>
                          <a:ea typeface="Calibri"/>
                          <a:cs typeface="Calibri"/>
                        </a:rPr>
                        <a:t>70</a:t>
                      </a:r>
                    </a:p>
                  </a:txBody>
                  <a:tcPr marL="47625" marR="47625" marT="28575" marB="28575" anchor="ctr">
                    <a:solidFill>
                      <a:srgbClr val="FFFFFF"/>
                    </a:solidFill>
                  </a:tcPr>
                </a:tc>
                <a:tc>
                  <a:txBody>
                    <a:bodyPr/>
                    <a:lstStyle/>
                    <a:p>
                      <a:pPr algn="ctr"/>
                      <a:r>
                        <a:rPr sz="1575">
                          <a:solidFill>
                            <a:srgbClr val="000000"/>
                          </a:solidFill>
                          <a:latin typeface="Calibri"/>
                          <a:ea typeface="Calibri"/>
                          <a:cs typeface="Calibri"/>
                        </a:rPr>
                        <a:t>3</a:t>
                      </a:r>
                    </a:p>
                  </a:txBody>
                  <a:tcPr marL="47625" marR="47625" marT="28575" marB="28575" anchor="ctr">
                    <a:solidFill>
                      <a:srgbClr val="FFFFFF"/>
                    </a:solidFill>
                  </a:tcPr>
                </a:tc>
                <a:tc>
                  <a:txBody>
                    <a:bodyPr/>
                    <a:lstStyle/>
                    <a:p>
                      <a:pPr algn="ctr"/>
                      <a:r>
                        <a:rPr sz="1575">
                          <a:solidFill>
                            <a:srgbClr val="000000"/>
                          </a:solidFill>
                          <a:latin typeface="Calibri"/>
                          <a:ea typeface="Calibri"/>
                          <a:cs typeface="Calibri"/>
                        </a:rPr>
                        <a:t>Alex</a:t>
                      </a:r>
                    </a:p>
                  </a:txBody>
                  <a:tcPr marL="47625" marR="47625" marT="28575" marB="28575" anchor="ctr">
                    <a:solidFill>
                      <a:srgbClr val="FFFFFF"/>
                    </a:solidFill>
                  </a:tcPr>
                </a:tc>
                <a:tc>
                  <a:txBody>
                    <a:bodyPr/>
                    <a:lstStyle/>
                    <a:p>
                      <a:pPr algn="ctr"/>
                      <a:r>
                        <a:rPr sz="1575">
                          <a:solidFill>
                            <a:srgbClr val="000000"/>
                          </a:solidFill>
                          <a:latin typeface="Calibri"/>
                          <a:ea typeface="Calibri"/>
                          <a:cs typeface="Calibri"/>
                        </a:rPr>
                        <a:t>95</a:t>
                      </a:r>
                    </a:p>
                  </a:txBody>
                  <a:tcPr marL="47625" marR="47625" marT="28575" marB="28575" anchor="ctr">
                    <a:solidFill>
                      <a:srgbClr val="FFFFFF"/>
                    </a:solidFill>
                  </a:tcPr>
                </a:tc>
                <a:extLst>
                  <a:ext uri="{0D108BD9-81ED-4DB2-BD59-A6C34878D82A}">
                    <a16:rowId xmlns:a16="http://schemas.microsoft.com/office/drawing/2014/main" val="10005"/>
                  </a:ext>
                </a:extLst>
              </a:tr>
            </a:tbl>
          </a:graphicData>
        </a:graphic>
      </p:graphicFrame>
      <p:sp>
        <p:nvSpPr>
          <p:cNvPr id="7" name="formula">
            <a:extLst>
              <a:ext uri="{FF2B5EF4-FFF2-40B4-BE49-F238E27FC236}">
                <a16:creationId xmlns:a16="http://schemas.microsoft.com/office/drawing/2014/main" id="{B047AD4B-BD81-4C35-9289-A6AFC0586645}"/>
              </a:ext>
            </a:extLst>
          </p:cNvPr>
          <p:cNvSpPr>
            <a:spLocks noGrp="1"/>
          </p:cNvSpPr>
          <p:nvPr/>
        </p:nvSpPr>
        <p:spPr>
          <a:xfrm>
            <a:off x="781050" y="5305425"/>
            <a:ext cx="7715250" cy="523875"/>
          </a:xfrm>
          <a:prstGeom prst="rect">
            <a:avLst/>
          </a:prstGeom>
          <a:noFill/>
          <a:ln w="0">
            <a:noFill/>
          </a:ln>
        </p:spPr>
        <p:txBody>
          <a:bodyPr wrap="square" lIns="0" tIns="0" rIns="0" bIns="0">
            <a:noAutofit/>
          </a:bodyPr>
          <a:lstStyle/>
          <a:p>
            <a:pPr>
              <a:defRPr sz="2100" b="0">
                <a:solidFill>
                  <a:srgbClr val="000000"/>
                </a:solidFill>
                <a:latin typeface="Cambria Math"/>
                <a:ea typeface="Cambria Math"/>
                <a:cs typeface="Cambria Math"/>
              </a:defRPr>
            </a:pPr>
            <a:r>
              <a:rPr sz="2100" b="0">
                <a:solidFill>
                  <a:srgbClr val="000000"/>
                </a:solidFill>
                <a:latin typeface="Cambria Math"/>
                <a:ea typeface="Cambria Math"/>
                <a:cs typeface="Cambria Math"/>
              </a:rPr>
              <a:t>L ← ρ (L(S.mid → mid), π</a:t>
            </a:r>
            <a:r>
              <a:rPr sz="1491" b="0" baseline="-25000">
                <a:solidFill>
                  <a:srgbClr val="000000"/>
                </a:solidFill>
                <a:latin typeface="Cambria Math"/>
                <a:ea typeface="Cambria Math"/>
                <a:cs typeface="Cambria Math"/>
              </a:rPr>
              <a:t>S.mid</a:t>
            </a:r>
            <a:r>
              <a:rPr sz="2100" b="0">
                <a:solidFill>
                  <a:srgbClr val="000000"/>
                </a:solidFill>
                <a:latin typeface="Cambria Math"/>
                <a:ea typeface="Cambria Math"/>
                <a:cs typeface="Cambria Math"/>
              </a:rPr>
              <a:t>(P))</a:t>
            </a:r>
          </a:p>
        </p:txBody>
      </p:sp>
      <p:sp>
        <p:nvSpPr>
          <p:cNvPr id="9001" name="Title 1">
            <a:extLst>
              <a:ext uri="{FF2B5EF4-FFF2-40B4-BE49-F238E27FC236}">
                <a16:creationId xmlns:a16="http://schemas.microsoft.com/office/drawing/2014/main" id="{4EF27E5C-9C4D-BDBE-7667-D0B141BCC8F5}"/>
              </a:ext>
            </a:extLst>
          </p:cNvPr>
          <p:cNvSpPr>
            <a:spLocks noGrp="1"/>
          </p:cNvSpPr>
          <p:nvPr>
            <p:ph type="title"/>
          </p:nvPr>
        </p:nvSpPr>
        <p:spPr/>
        <p:txBody>
          <a:bodyPr/>
          <a:lstStyle/>
          <a:p>
            <a:r>
              <a:rPr lang="en-US">
                <a:solidFill>
                  <a:srgbClr val="FF0000"/>
                </a:solidFill>
              </a:rPr>
              <a:t>Solutions: </a:t>
            </a:r>
            <a:r>
              <a:rPr lang="en-US">
                <a:solidFill>
                  <a:srgbClr val="3333CC"/>
                </a:solidFill>
              </a:rPr>
              <a:t>Q29 (1)</a:t>
            </a:r>
          </a:p>
        </p:txBody>
      </p:sp>
      <p:sp>
        <p:nvSpPr>
          <p:cNvPr id="9002" name="Slide Number Placeholder 1">
            <a:extLst>
              <a:ext uri="{FF2B5EF4-FFF2-40B4-BE49-F238E27FC236}">
                <a16:creationId xmlns:a16="http://schemas.microsoft.com/office/drawing/2014/main" id="{B90139AC-3BDA-723A-097A-000DA0A784C1}"/>
              </a:ext>
            </a:extLst>
          </p:cNvPr>
          <p:cNvSpPr>
            <a:spLocks noGrp="1"/>
          </p:cNvSpPr>
          <p:nvPr>
            <p:ph type="sldNum" sz="quarter" idx="12"/>
          </p:nvPr>
        </p:nvSpPr>
        <p:spPr/>
        <p:txBody>
          <a:bodyPr/>
          <a:lstStyle/>
          <a:p>
            <a:pPr>
              <a:defRPr/>
            </a:pPr>
            <a:fld id="{43CA101F-9E5F-9249-9862-3CE55B3BB777}" type="slidenum">
              <a:rPr lang="en-US" altLang="zh-TW" smtClean="0"/>
              <a:pPr>
                <a:defRPr/>
              </a:pPr>
              <a:t>78</a:t>
            </a:fld>
            <a:endParaRPr lang="en-US" altLang="zh-TW"/>
          </a:p>
        </p:txBody>
      </p:sp>
    </p:spTree>
    <p:extLst>
      <p:ext uri="{BB962C8B-B14F-4D97-AF65-F5344CB8AC3E}">
        <p14:creationId xmlns:p14="http://schemas.microsoft.com/office/powerpoint/2010/main" val="928848507"/>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formula">
            <a:extLst>
              <a:ext uri="{FF2B5EF4-FFF2-40B4-BE49-F238E27FC236}">
                <a16:creationId xmlns:a16="http://schemas.microsoft.com/office/drawing/2014/main" id="{F6D04B05-5463-47CD-87D3-656C1A3AD142}"/>
              </a:ext>
            </a:extLst>
          </p:cNvPr>
          <p:cNvSpPr>
            <a:spLocks noGrp="1"/>
          </p:cNvSpPr>
          <p:nvPr/>
        </p:nvSpPr>
        <p:spPr>
          <a:xfrm>
            <a:off x="800100" y="1085850"/>
            <a:ext cx="7572375" cy="523875"/>
          </a:xfrm>
          <a:prstGeom prst="rect">
            <a:avLst/>
          </a:prstGeom>
          <a:noFill/>
          <a:ln w="0">
            <a:noFill/>
          </a:ln>
        </p:spPr>
        <p:txBody>
          <a:bodyPr wrap="square" lIns="0" tIns="0" rIns="0" bIns="0">
            <a:noAutofit/>
          </a:bodyPr>
          <a:lstStyle/>
          <a:p>
            <a:pPr>
              <a:defRPr sz="2325" b="0">
                <a:solidFill>
                  <a:srgbClr val="000000"/>
                </a:solidFill>
                <a:latin typeface="Cambria Math"/>
                <a:ea typeface="Cambria Math"/>
                <a:cs typeface="Cambria Math"/>
              </a:defRPr>
            </a:pPr>
            <a:r>
              <a:rPr sz="2325" b="0">
                <a:solidFill>
                  <a:srgbClr val="000000"/>
                </a:solidFill>
                <a:latin typeface="Cambria Math"/>
                <a:ea typeface="Cambria Math"/>
                <a:cs typeface="Cambria Math"/>
              </a:rPr>
              <a:t>L = { (1), (4) }</a:t>
            </a:r>
          </a:p>
        </p:txBody>
      </p:sp>
      <p:sp>
        <p:nvSpPr>
          <p:cNvPr id="4" name="formula">
            <a:extLst>
              <a:ext uri="{FF2B5EF4-FFF2-40B4-BE49-F238E27FC236}">
                <a16:creationId xmlns:a16="http://schemas.microsoft.com/office/drawing/2014/main" id="{17EC4605-7BFA-481F-BAE9-0CC64DC7C855}"/>
              </a:ext>
            </a:extLst>
          </p:cNvPr>
          <p:cNvSpPr>
            <a:spLocks noGrp="1"/>
          </p:cNvSpPr>
          <p:nvPr/>
        </p:nvSpPr>
        <p:spPr>
          <a:xfrm>
            <a:off x="800100" y="1752600"/>
            <a:ext cx="7572375" cy="523875"/>
          </a:xfrm>
          <a:prstGeom prst="rect">
            <a:avLst/>
          </a:prstGeom>
          <a:noFill/>
          <a:ln w="0">
            <a:noFill/>
          </a:ln>
        </p:spPr>
        <p:txBody>
          <a:bodyPr wrap="square" lIns="0" tIns="0" rIns="0" bIns="0">
            <a:noAutofit/>
          </a:bodyPr>
          <a:lstStyle/>
          <a:p>
            <a:pPr>
              <a:defRPr sz="2175" b="0">
                <a:solidFill>
                  <a:srgbClr val="000000"/>
                </a:solidFill>
                <a:latin typeface="Cambria Math"/>
                <a:ea typeface="Cambria Math"/>
                <a:cs typeface="Cambria Math"/>
              </a:defRPr>
            </a:pPr>
            <a:r>
              <a:rPr sz="2175" b="0">
                <a:solidFill>
                  <a:srgbClr val="000000"/>
                </a:solidFill>
                <a:latin typeface="Cambria Math"/>
                <a:ea typeface="Cambria Math"/>
                <a:cs typeface="Cambria Math"/>
              </a:rPr>
              <a:t>W ← π</a:t>
            </a:r>
            <a:r>
              <a:rPr sz="1544" b="0" baseline="-25000">
                <a:solidFill>
                  <a:srgbClr val="000000"/>
                </a:solidFill>
                <a:latin typeface="Cambria Math"/>
                <a:ea typeface="Cambria Math"/>
                <a:cs typeface="Cambria Math"/>
              </a:rPr>
              <a:t>mid</a:t>
            </a:r>
            <a:r>
              <a:rPr sz="2175" b="0">
                <a:solidFill>
                  <a:srgbClr val="000000"/>
                </a:solidFill>
                <a:latin typeface="Cambria Math"/>
                <a:ea typeface="Cambria Math"/>
                <a:cs typeface="Cambria Math"/>
              </a:rPr>
              <a:t>(Score) − L = { (2), (3) }</a:t>
            </a:r>
          </a:p>
        </p:txBody>
      </p:sp>
      <p:sp>
        <p:nvSpPr>
          <p:cNvPr id="5" name="formula">
            <a:extLst>
              <a:ext uri="{FF2B5EF4-FFF2-40B4-BE49-F238E27FC236}">
                <a16:creationId xmlns:a16="http://schemas.microsoft.com/office/drawing/2014/main" id="{70D1BDB4-9854-48E8-9918-DA54A71C4E69}"/>
              </a:ext>
            </a:extLst>
          </p:cNvPr>
          <p:cNvSpPr>
            <a:spLocks noGrp="1"/>
          </p:cNvSpPr>
          <p:nvPr/>
        </p:nvSpPr>
        <p:spPr>
          <a:xfrm>
            <a:off x="800100" y="2466975"/>
            <a:ext cx="7572375" cy="523875"/>
          </a:xfrm>
          <a:prstGeom prst="rect">
            <a:avLst/>
          </a:prstGeom>
          <a:noFill/>
          <a:ln w="0">
            <a:noFill/>
          </a:ln>
        </p:spPr>
        <p:txBody>
          <a:bodyPr wrap="square" lIns="0" tIns="0" rIns="0" bIns="0">
            <a:noAutofit/>
          </a:bodyPr>
          <a:lstStyle/>
          <a:p>
            <a:pPr>
              <a:defRPr sz="2175" b="0">
                <a:solidFill>
                  <a:srgbClr val="000000"/>
                </a:solidFill>
                <a:latin typeface="Cambria Math"/>
                <a:ea typeface="Cambria Math"/>
                <a:cs typeface="Cambria Math"/>
              </a:defRPr>
            </a:pPr>
            <a:r>
              <a:rPr sz="2175" b="0">
                <a:solidFill>
                  <a:srgbClr val="000000"/>
                </a:solidFill>
                <a:latin typeface="Cambria Math"/>
                <a:ea typeface="Cambria Math"/>
                <a:cs typeface="Cambria Math"/>
              </a:rPr>
              <a:t>Answer ← π</a:t>
            </a:r>
            <a:r>
              <a:rPr sz="1544" b="0" baseline="-25000">
                <a:solidFill>
                  <a:srgbClr val="000000"/>
                </a:solidFill>
                <a:latin typeface="Cambria Math"/>
                <a:ea typeface="Cambria Math"/>
                <a:cs typeface="Cambria Math"/>
              </a:rPr>
              <a:t>mid,mname</a:t>
            </a:r>
            <a:r>
              <a:rPr sz="2175" b="0">
                <a:solidFill>
                  <a:srgbClr val="000000"/>
                </a:solidFill>
                <a:latin typeface="Cambria Math"/>
                <a:ea typeface="Cambria Math"/>
                <a:cs typeface="Cambria Math"/>
              </a:rPr>
              <a:t>(Score ⋈ W)</a:t>
            </a:r>
          </a:p>
        </p:txBody>
      </p:sp>
      <p:sp>
        <p:nvSpPr>
          <p:cNvPr id="6" name="body">
            <a:extLst>
              <a:ext uri="{FF2B5EF4-FFF2-40B4-BE49-F238E27FC236}">
                <a16:creationId xmlns:a16="http://schemas.microsoft.com/office/drawing/2014/main" id="{1F0022E9-632B-43F0-911C-3C9F55A2A1AB}"/>
              </a:ext>
            </a:extLst>
          </p:cNvPr>
          <p:cNvSpPr>
            <a:spLocks noGrp="1"/>
          </p:cNvSpPr>
          <p:nvPr/>
        </p:nvSpPr>
        <p:spPr>
          <a:xfrm>
            <a:off x="2228850" y="3228975"/>
            <a:ext cx="4543425" cy="361950"/>
          </a:xfrm>
          <a:prstGeom prst="rect">
            <a:avLst/>
          </a:prstGeom>
          <a:noFill/>
          <a:ln w="0">
            <a:noFill/>
          </a:ln>
        </p:spPr>
        <p:txBody>
          <a:bodyPr wrap="square" lIns="0" tIns="0" rIns="0" bIns="0">
            <a:noAutofit/>
          </a:bodyPr>
          <a:lstStyle/>
          <a:p>
            <a:pPr>
              <a:defRPr sz="2250" b="0">
                <a:solidFill>
                  <a:srgbClr val="000000"/>
                </a:solidFill>
                <a:latin typeface="Calibri"/>
                <a:ea typeface="Calibri"/>
                <a:cs typeface="Calibri"/>
              </a:defRPr>
            </a:pPr>
            <a:r>
              <a:rPr sz="2250" b="0">
                <a:solidFill>
                  <a:srgbClr val="000000"/>
                </a:solidFill>
                <a:latin typeface="Calibri"/>
                <a:ea typeface="Calibri"/>
                <a:cs typeface="Calibri"/>
              </a:rPr>
              <a:t>Answer</a:t>
            </a:r>
          </a:p>
        </p:txBody>
      </p:sp>
      <p:graphicFrame>
        <p:nvGraphicFramePr>
          <p:cNvPr id="15" name="表格 14"/>
          <p:cNvGraphicFramePr/>
          <p:nvPr/>
        </p:nvGraphicFramePr>
        <p:xfrm>
          <a:off x="2305050" y="3648075"/>
          <a:ext cx="4543426" cy="1171575"/>
        </p:xfrm>
        <a:graphic>
          <a:graphicData uri="http://schemas.openxmlformats.org/drawingml/2006/table">
            <a:tbl>
              <a:tblPr/>
              <a:tblGrid>
                <a:gridCol w="2271713">
                  <a:extLst>
                    <a:ext uri="{9D8B030D-6E8A-4147-A177-3AD203B41FA5}">
                      <a16:colId xmlns:a16="http://schemas.microsoft.com/office/drawing/2014/main" val="20000"/>
                    </a:ext>
                  </a:extLst>
                </a:gridCol>
                <a:gridCol w="2271713">
                  <a:extLst>
                    <a:ext uri="{9D8B030D-6E8A-4147-A177-3AD203B41FA5}">
                      <a16:colId xmlns:a16="http://schemas.microsoft.com/office/drawing/2014/main" val="20001"/>
                    </a:ext>
                  </a:extLst>
                </a:gridCol>
              </a:tblGrid>
              <a:tr h="390525">
                <a:tc>
                  <a:txBody>
                    <a:bodyPr/>
                    <a:lstStyle/>
                    <a:p>
                      <a:pPr algn="ctr"/>
                      <a:r>
                        <a:rPr sz="2025">
                          <a:solidFill>
                            <a:srgbClr val="000000"/>
                          </a:solidFill>
                          <a:latin typeface="Calibri"/>
                          <a:ea typeface="Calibri"/>
                          <a:cs typeface="Calibri"/>
                        </a:rPr>
                        <a:t>mid</a:t>
                      </a:r>
                    </a:p>
                  </a:txBody>
                  <a:tcPr marL="47625" marR="47625" marT="28575" marB="28575" anchor="ctr">
                    <a:solidFill>
                      <a:srgbClr val="D9D9D9"/>
                    </a:solidFill>
                  </a:tcPr>
                </a:tc>
                <a:tc>
                  <a:txBody>
                    <a:bodyPr/>
                    <a:lstStyle/>
                    <a:p>
                      <a:pPr algn="ctr"/>
                      <a:r>
                        <a:rPr sz="2025">
                          <a:solidFill>
                            <a:srgbClr val="000000"/>
                          </a:solidFill>
                          <a:latin typeface="Calibri"/>
                          <a:ea typeface="Calibri"/>
                          <a:cs typeface="Calibri"/>
                        </a:rPr>
                        <a:t>mname</a:t>
                      </a:r>
                    </a:p>
                  </a:txBody>
                  <a:tcPr marL="47625" marR="47625" marT="28575" marB="28575" anchor="ctr">
                    <a:solidFill>
                      <a:srgbClr val="D9D9D9"/>
                    </a:solidFill>
                  </a:tcPr>
                </a:tc>
                <a:extLst>
                  <a:ext uri="{0D108BD9-81ED-4DB2-BD59-A6C34878D82A}">
                    <a16:rowId xmlns:a16="http://schemas.microsoft.com/office/drawing/2014/main" val="10000"/>
                  </a:ext>
                </a:extLst>
              </a:tr>
              <a:tr h="390525">
                <a:tc>
                  <a:txBody>
                    <a:bodyPr/>
                    <a:lstStyle/>
                    <a:p>
                      <a:pPr algn="ctr"/>
                      <a:r>
                        <a:rPr sz="2025">
                          <a:solidFill>
                            <a:srgbClr val="000000"/>
                          </a:solidFill>
                          <a:latin typeface="Calibri"/>
                          <a:ea typeface="Calibri"/>
                          <a:cs typeface="Calibri"/>
                        </a:rPr>
                        <a:t>2</a:t>
                      </a:r>
                    </a:p>
                  </a:txBody>
                  <a:tcPr marL="47625" marR="47625" marT="28575" marB="28575" anchor="ctr">
                    <a:solidFill>
                      <a:srgbClr val="FFFFFF"/>
                    </a:solidFill>
                  </a:tcPr>
                </a:tc>
                <a:tc>
                  <a:txBody>
                    <a:bodyPr/>
                    <a:lstStyle/>
                    <a:p>
                      <a:pPr algn="ctr"/>
                      <a:r>
                        <a:rPr sz="2025">
                          <a:solidFill>
                            <a:srgbClr val="000000"/>
                          </a:solidFill>
                          <a:latin typeface="Calibri"/>
                          <a:ea typeface="Calibri"/>
                          <a:cs typeface="Calibri"/>
                        </a:rPr>
                        <a:t>Bao</a:t>
                      </a:r>
                    </a:p>
                  </a:txBody>
                  <a:tcPr marL="47625" marR="47625" marT="28575" marB="28575" anchor="ctr">
                    <a:solidFill>
                      <a:srgbClr val="FFFFFF"/>
                    </a:solidFill>
                  </a:tcPr>
                </a:tc>
                <a:extLst>
                  <a:ext uri="{0D108BD9-81ED-4DB2-BD59-A6C34878D82A}">
                    <a16:rowId xmlns:a16="http://schemas.microsoft.com/office/drawing/2014/main" val="10001"/>
                  </a:ext>
                </a:extLst>
              </a:tr>
              <a:tr h="390525">
                <a:tc>
                  <a:txBody>
                    <a:bodyPr/>
                    <a:lstStyle/>
                    <a:p>
                      <a:pPr algn="ctr"/>
                      <a:r>
                        <a:rPr sz="2025">
                          <a:solidFill>
                            <a:srgbClr val="000000"/>
                          </a:solidFill>
                          <a:latin typeface="Calibri"/>
                          <a:ea typeface="Calibri"/>
                          <a:cs typeface="Calibri"/>
                        </a:rPr>
                        <a:t>3</a:t>
                      </a:r>
                    </a:p>
                  </a:txBody>
                  <a:tcPr marL="47625" marR="47625" marT="28575" marB="28575" anchor="ctr">
                    <a:solidFill>
                      <a:srgbClr val="FFFFFF"/>
                    </a:solidFill>
                  </a:tcPr>
                </a:tc>
                <a:tc>
                  <a:txBody>
                    <a:bodyPr/>
                    <a:lstStyle/>
                    <a:p>
                      <a:pPr algn="ctr"/>
                      <a:r>
                        <a:rPr sz="2025">
                          <a:solidFill>
                            <a:srgbClr val="000000"/>
                          </a:solidFill>
                          <a:latin typeface="Calibri"/>
                          <a:ea typeface="Calibri"/>
                          <a:cs typeface="Calibri"/>
                        </a:rPr>
                        <a:t>Alex</a:t>
                      </a:r>
                    </a:p>
                  </a:txBody>
                  <a:tcPr marL="47625" marR="47625" marT="28575" marB="28575" anchor="ctr">
                    <a:solidFill>
                      <a:srgbClr val="FFFFFF"/>
                    </a:solidFill>
                  </a:tcPr>
                </a:tc>
                <a:extLst>
                  <a:ext uri="{0D108BD9-81ED-4DB2-BD59-A6C34878D82A}">
                    <a16:rowId xmlns:a16="http://schemas.microsoft.com/office/drawing/2014/main" val="10002"/>
                  </a:ext>
                </a:extLst>
              </a:tr>
            </a:tbl>
          </a:graphicData>
        </a:graphic>
      </p:graphicFrame>
      <p:sp>
        <p:nvSpPr>
          <p:cNvPr id="8" name="body">
            <a:extLst>
              <a:ext uri="{FF2B5EF4-FFF2-40B4-BE49-F238E27FC236}">
                <a16:creationId xmlns:a16="http://schemas.microsoft.com/office/drawing/2014/main" id="{F05C02E6-C76E-49E3-9A71-09ADFBD44C15}"/>
              </a:ext>
            </a:extLst>
          </p:cNvPr>
          <p:cNvSpPr>
            <a:spLocks noGrp="1"/>
          </p:cNvSpPr>
          <p:nvPr/>
        </p:nvSpPr>
        <p:spPr>
          <a:xfrm>
            <a:off x="781050" y="5257800"/>
            <a:ext cx="7600950" cy="952500"/>
          </a:xfrm>
          <a:prstGeom prst="rect">
            <a:avLst/>
          </a:prstGeom>
          <a:noFill/>
          <a:ln w="0">
            <a:noFill/>
          </a:ln>
        </p:spPr>
        <p:txBody>
          <a:bodyPr wrap="square" lIns="0" tIns="0" rIns="0" bIns="0">
            <a:noAutofit/>
          </a:bodyPr>
          <a:lstStyle/>
          <a:p>
            <a:pPr>
              <a:defRPr sz="2175" b="0">
                <a:solidFill>
                  <a:srgbClr val="FF0000"/>
                </a:solidFill>
                <a:latin typeface="Calibri"/>
                <a:ea typeface="Calibri"/>
                <a:cs typeface="Calibri"/>
              </a:defRPr>
            </a:pPr>
            <a:r>
              <a:rPr sz="2175" b="0">
                <a:solidFill>
                  <a:srgbClr val="FF0000"/>
                </a:solidFill>
                <a:latin typeface="Calibri"/>
                <a:ea typeface="Calibri"/>
                <a:cs typeface="Calibri"/>
              </a:rPr>
              <a:t>Strict &lt; preserves ties. Compare IDs before returning names.</a:t>
            </a:r>
          </a:p>
        </p:txBody>
      </p:sp>
      <p:sp>
        <p:nvSpPr>
          <p:cNvPr id="9001" name="Title 1">
            <a:extLst>
              <a:ext uri="{FF2B5EF4-FFF2-40B4-BE49-F238E27FC236}">
                <a16:creationId xmlns:a16="http://schemas.microsoft.com/office/drawing/2014/main" id="{4EF27E5C-9C4D-BDBE-7667-D0B141BCC8F5}"/>
              </a:ext>
            </a:extLst>
          </p:cNvPr>
          <p:cNvSpPr>
            <a:spLocks noGrp="1"/>
          </p:cNvSpPr>
          <p:nvPr>
            <p:ph type="title"/>
          </p:nvPr>
        </p:nvSpPr>
        <p:spPr/>
        <p:txBody>
          <a:bodyPr/>
          <a:lstStyle/>
          <a:p>
            <a:r>
              <a:rPr lang="en-US">
                <a:solidFill>
                  <a:srgbClr val="FF0000"/>
                </a:solidFill>
              </a:rPr>
              <a:t>Solutions: </a:t>
            </a:r>
            <a:r>
              <a:rPr lang="en-US">
                <a:solidFill>
                  <a:srgbClr val="3333CC"/>
                </a:solidFill>
              </a:rPr>
              <a:t>Q29 (2)</a:t>
            </a:r>
          </a:p>
        </p:txBody>
      </p:sp>
      <p:sp>
        <p:nvSpPr>
          <p:cNvPr id="9002" name="Slide Number Placeholder 1">
            <a:extLst>
              <a:ext uri="{FF2B5EF4-FFF2-40B4-BE49-F238E27FC236}">
                <a16:creationId xmlns:a16="http://schemas.microsoft.com/office/drawing/2014/main" id="{B90139AC-3BDA-723A-097A-000DA0A784C1}"/>
              </a:ext>
            </a:extLst>
          </p:cNvPr>
          <p:cNvSpPr>
            <a:spLocks noGrp="1"/>
          </p:cNvSpPr>
          <p:nvPr>
            <p:ph type="sldNum" sz="quarter" idx="12"/>
          </p:nvPr>
        </p:nvSpPr>
        <p:spPr/>
        <p:txBody>
          <a:bodyPr/>
          <a:lstStyle/>
          <a:p>
            <a:pPr>
              <a:defRPr/>
            </a:pPr>
            <a:fld id="{43CA101F-9E5F-9249-9862-3CE55B3BB777}" type="slidenum">
              <a:rPr lang="en-US" altLang="zh-TW" smtClean="0"/>
              <a:pPr>
                <a:defRPr/>
              </a:pPr>
              <a:t>79</a:t>
            </a:fld>
            <a:endParaRPr lang="en-US" altLang="zh-TW"/>
          </a:p>
        </p:txBody>
      </p:sp>
    </p:spTree>
    <p:extLst>
      <p:ext uri="{BB962C8B-B14F-4D97-AF65-F5344CB8AC3E}">
        <p14:creationId xmlns:p14="http://schemas.microsoft.com/office/powerpoint/2010/main" val="241155922"/>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body">
            <a:extLst>
              <a:ext uri="{FF2B5EF4-FFF2-40B4-BE49-F238E27FC236}">
                <a16:creationId xmlns:a16="http://schemas.microsoft.com/office/drawing/2014/main" id="{FD4B5F7B-AF41-4E06-9E9B-E3AA343DAE74}"/>
              </a:ext>
            </a:extLst>
          </p:cNvPr>
          <p:cNvSpPr>
            <a:spLocks noGrp="1"/>
          </p:cNvSpPr>
          <p:nvPr/>
        </p:nvSpPr>
        <p:spPr>
          <a:xfrm>
            <a:off x="781050" y="1057275"/>
            <a:ext cx="7600950" cy="952500"/>
          </a:xfrm>
          <a:prstGeom prst="rect">
            <a:avLst/>
          </a:prstGeom>
          <a:noFill/>
          <a:ln w="0">
            <a:noFill/>
          </a:ln>
        </p:spPr>
        <p:txBody>
          <a:bodyPr wrap="square" lIns="0" tIns="0" rIns="0" bIns="0">
            <a:noAutofit/>
          </a:bodyPr>
          <a:lstStyle/>
          <a:p>
            <a:pPr>
              <a:defRPr sz="2325" b="0">
                <a:solidFill>
                  <a:srgbClr val="FF0000"/>
                </a:solidFill>
                <a:latin typeface="Calibri"/>
                <a:ea typeface="Calibri"/>
                <a:cs typeface="Calibri"/>
              </a:defRPr>
            </a:pPr>
            <a:r>
              <a:rPr sz="2325" b="0">
                <a:solidFill>
                  <a:srgbClr val="FF0000"/>
                </a:solidFill>
                <a:latin typeface="Calibri"/>
                <a:ea typeface="Calibri"/>
                <a:cs typeface="Calibri"/>
              </a:rPr>
              <a:t>Why subtracting names is wrong</a:t>
            </a:r>
          </a:p>
        </p:txBody>
      </p:sp>
      <p:sp>
        <p:nvSpPr>
          <p:cNvPr id="4" name="body">
            <a:extLst>
              <a:ext uri="{FF2B5EF4-FFF2-40B4-BE49-F238E27FC236}">
                <a16:creationId xmlns:a16="http://schemas.microsoft.com/office/drawing/2014/main" id="{0C88BBCB-EC9C-4920-B336-F096D0771E34}"/>
              </a:ext>
            </a:extLst>
          </p:cNvPr>
          <p:cNvSpPr>
            <a:spLocks noGrp="1"/>
          </p:cNvSpPr>
          <p:nvPr/>
        </p:nvSpPr>
        <p:spPr>
          <a:xfrm>
            <a:off x="1104900" y="1885950"/>
            <a:ext cx="2876550" cy="361950"/>
          </a:xfrm>
          <a:prstGeom prst="rect">
            <a:avLst/>
          </a:prstGeom>
          <a:noFill/>
          <a:ln w="0">
            <a:noFill/>
          </a:ln>
        </p:spPr>
        <p:txBody>
          <a:bodyPr wrap="square" lIns="0" tIns="0" rIns="0" bIns="0">
            <a:noAutofit/>
          </a:bodyPr>
          <a:lstStyle/>
          <a:p>
            <a:pPr>
              <a:defRPr sz="2250" b="0">
                <a:solidFill>
                  <a:srgbClr val="000000"/>
                </a:solidFill>
                <a:latin typeface="Calibri"/>
                <a:ea typeface="Calibri"/>
                <a:cs typeface="Calibri"/>
              </a:defRPr>
            </a:pPr>
            <a:r>
              <a:rPr sz="2250" b="0">
                <a:solidFill>
                  <a:srgbClr val="000000"/>
                </a:solidFill>
                <a:latin typeface="Calibri"/>
                <a:ea typeface="Calibri"/>
                <a:cs typeface="Calibri"/>
              </a:rPr>
              <a:t>All names</a:t>
            </a:r>
          </a:p>
        </p:txBody>
      </p:sp>
      <p:graphicFrame>
        <p:nvGraphicFramePr>
          <p:cNvPr id="14" name="表格 13"/>
          <p:cNvGraphicFramePr/>
          <p:nvPr/>
        </p:nvGraphicFramePr>
        <p:xfrm>
          <a:off x="1181100" y="2305050"/>
          <a:ext cx="2876550" cy="1638300"/>
        </p:xfrm>
        <a:graphic>
          <a:graphicData uri="http://schemas.openxmlformats.org/drawingml/2006/table">
            <a:tbl>
              <a:tblPr/>
              <a:tblGrid>
                <a:gridCol w="2876550">
                  <a:extLst>
                    <a:ext uri="{9D8B030D-6E8A-4147-A177-3AD203B41FA5}">
                      <a16:colId xmlns:a16="http://schemas.microsoft.com/office/drawing/2014/main" val="20000"/>
                    </a:ext>
                  </a:extLst>
                </a:gridCol>
              </a:tblGrid>
              <a:tr h="409575">
                <a:tc>
                  <a:txBody>
                    <a:bodyPr/>
                    <a:lstStyle/>
                    <a:p>
                      <a:pPr algn="ctr"/>
                      <a:r>
                        <a:rPr sz="2025">
                          <a:solidFill>
                            <a:srgbClr val="000000"/>
                          </a:solidFill>
                          <a:latin typeface="Calibri"/>
                          <a:ea typeface="Calibri"/>
                          <a:cs typeface="Calibri"/>
                        </a:rPr>
                        <a:t>mname</a:t>
                      </a:r>
                    </a:p>
                  </a:txBody>
                  <a:tcPr marL="47625" marR="47625" marT="28575" marB="28575" anchor="ctr">
                    <a:solidFill>
                      <a:srgbClr val="D9D9D9"/>
                    </a:solidFill>
                  </a:tcPr>
                </a:tc>
                <a:extLst>
                  <a:ext uri="{0D108BD9-81ED-4DB2-BD59-A6C34878D82A}">
                    <a16:rowId xmlns:a16="http://schemas.microsoft.com/office/drawing/2014/main" val="10000"/>
                  </a:ext>
                </a:extLst>
              </a:tr>
              <a:tr h="409575">
                <a:tc>
                  <a:txBody>
                    <a:bodyPr/>
                    <a:lstStyle/>
                    <a:p>
                      <a:pPr algn="ctr"/>
                      <a:r>
                        <a:rPr sz="2025">
                          <a:solidFill>
                            <a:srgbClr val="000000"/>
                          </a:solidFill>
                          <a:latin typeface="Calibri"/>
                          <a:ea typeface="Calibri"/>
                          <a:cs typeface="Calibri"/>
                        </a:rPr>
                        <a:t>Alex</a:t>
                      </a:r>
                    </a:p>
                  </a:txBody>
                  <a:tcPr marL="47625" marR="47625" marT="28575" marB="28575" anchor="ctr">
                    <a:solidFill>
                      <a:srgbClr val="FFFFFF"/>
                    </a:solidFill>
                  </a:tcPr>
                </a:tc>
                <a:extLst>
                  <a:ext uri="{0D108BD9-81ED-4DB2-BD59-A6C34878D82A}">
                    <a16:rowId xmlns:a16="http://schemas.microsoft.com/office/drawing/2014/main" val="10001"/>
                  </a:ext>
                </a:extLst>
              </a:tr>
              <a:tr h="409575">
                <a:tc>
                  <a:txBody>
                    <a:bodyPr/>
                    <a:lstStyle/>
                    <a:p>
                      <a:pPr algn="ctr"/>
                      <a:r>
                        <a:rPr sz="2025">
                          <a:solidFill>
                            <a:srgbClr val="000000"/>
                          </a:solidFill>
                          <a:latin typeface="Calibri"/>
                          <a:ea typeface="Calibri"/>
                          <a:cs typeface="Calibri"/>
                        </a:rPr>
                        <a:t>Bao</a:t>
                      </a:r>
                    </a:p>
                  </a:txBody>
                  <a:tcPr marL="47625" marR="47625" marT="28575" marB="28575" anchor="ctr">
                    <a:solidFill>
                      <a:srgbClr val="FFFFFF"/>
                    </a:solidFill>
                  </a:tcPr>
                </a:tc>
                <a:extLst>
                  <a:ext uri="{0D108BD9-81ED-4DB2-BD59-A6C34878D82A}">
                    <a16:rowId xmlns:a16="http://schemas.microsoft.com/office/drawing/2014/main" val="10002"/>
                  </a:ext>
                </a:extLst>
              </a:tr>
              <a:tr h="409575">
                <a:tc>
                  <a:txBody>
                    <a:bodyPr/>
                    <a:lstStyle/>
                    <a:p>
                      <a:pPr algn="ctr"/>
                      <a:r>
                        <a:rPr sz="2025">
                          <a:solidFill>
                            <a:srgbClr val="000000"/>
                          </a:solidFill>
                          <a:latin typeface="Calibri"/>
                          <a:ea typeface="Calibri"/>
                          <a:cs typeface="Calibri"/>
                        </a:rPr>
                        <a:t>Dina</a:t>
                      </a:r>
                    </a:p>
                  </a:txBody>
                  <a:tcPr marL="47625" marR="47625" marT="28575" marB="28575" anchor="ctr">
                    <a:solidFill>
                      <a:srgbClr val="FFFFFF"/>
                    </a:solidFill>
                  </a:tcPr>
                </a:tc>
                <a:extLst>
                  <a:ext uri="{0D108BD9-81ED-4DB2-BD59-A6C34878D82A}">
                    <a16:rowId xmlns:a16="http://schemas.microsoft.com/office/drawing/2014/main" val="10003"/>
                  </a:ext>
                </a:extLst>
              </a:tr>
            </a:tbl>
          </a:graphicData>
        </a:graphic>
      </p:graphicFrame>
      <p:sp>
        <p:nvSpPr>
          <p:cNvPr id="6" name="body">
            <a:extLst>
              <a:ext uri="{FF2B5EF4-FFF2-40B4-BE49-F238E27FC236}">
                <a16:creationId xmlns:a16="http://schemas.microsoft.com/office/drawing/2014/main" id="{5545ECD5-8797-45C7-B726-49CA39812645}"/>
              </a:ext>
            </a:extLst>
          </p:cNvPr>
          <p:cNvSpPr>
            <a:spLocks noGrp="1"/>
          </p:cNvSpPr>
          <p:nvPr/>
        </p:nvSpPr>
        <p:spPr>
          <a:xfrm>
            <a:off x="4752975" y="1885950"/>
            <a:ext cx="3333750" cy="361950"/>
          </a:xfrm>
          <a:prstGeom prst="rect">
            <a:avLst/>
          </a:prstGeom>
          <a:noFill/>
          <a:ln w="0">
            <a:noFill/>
          </a:ln>
        </p:spPr>
        <p:txBody>
          <a:bodyPr wrap="square" lIns="0" tIns="0" rIns="0" bIns="0">
            <a:noAutofit/>
          </a:bodyPr>
          <a:lstStyle/>
          <a:p>
            <a:pPr>
              <a:defRPr sz="2250" b="0">
                <a:solidFill>
                  <a:srgbClr val="000000"/>
                </a:solidFill>
                <a:latin typeface="Calibri"/>
                <a:ea typeface="Calibri"/>
                <a:cs typeface="Calibri"/>
              </a:defRPr>
            </a:pPr>
            <a:r>
              <a:rPr sz="2250" b="0">
                <a:solidFill>
                  <a:srgbClr val="000000"/>
                </a:solidFill>
                <a:latin typeface="Calibri"/>
                <a:ea typeface="Calibri"/>
                <a:cs typeface="Calibri"/>
              </a:rPr>
              <a:t>Names of non-winners</a:t>
            </a:r>
          </a:p>
        </p:txBody>
      </p:sp>
      <p:graphicFrame>
        <p:nvGraphicFramePr>
          <p:cNvPr id="16" name="表格 15"/>
          <p:cNvGraphicFramePr/>
          <p:nvPr/>
        </p:nvGraphicFramePr>
        <p:xfrm>
          <a:off x="4829175" y="2305050"/>
          <a:ext cx="3333750" cy="1228725"/>
        </p:xfrm>
        <a:graphic>
          <a:graphicData uri="http://schemas.openxmlformats.org/drawingml/2006/table">
            <a:tbl>
              <a:tblPr/>
              <a:tblGrid>
                <a:gridCol w="3333750">
                  <a:extLst>
                    <a:ext uri="{9D8B030D-6E8A-4147-A177-3AD203B41FA5}">
                      <a16:colId xmlns:a16="http://schemas.microsoft.com/office/drawing/2014/main" val="20000"/>
                    </a:ext>
                  </a:extLst>
                </a:gridCol>
              </a:tblGrid>
              <a:tr h="409575">
                <a:tc>
                  <a:txBody>
                    <a:bodyPr/>
                    <a:lstStyle/>
                    <a:p>
                      <a:pPr algn="ctr"/>
                      <a:r>
                        <a:rPr sz="2025">
                          <a:solidFill>
                            <a:srgbClr val="000000"/>
                          </a:solidFill>
                          <a:latin typeface="Calibri"/>
                          <a:ea typeface="Calibri"/>
                          <a:cs typeface="Calibri"/>
                        </a:rPr>
                        <a:t>mname</a:t>
                      </a:r>
                    </a:p>
                  </a:txBody>
                  <a:tcPr marL="47625" marR="47625" marT="28575" marB="28575" anchor="ctr">
                    <a:solidFill>
                      <a:srgbClr val="D9D9D9"/>
                    </a:solidFill>
                  </a:tcPr>
                </a:tc>
                <a:extLst>
                  <a:ext uri="{0D108BD9-81ED-4DB2-BD59-A6C34878D82A}">
                    <a16:rowId xmlns:a16="http://schemas.microsoft.com/office/drawing/2014/main" val="10000"/>
                  </a:ext>
                </a:extLst>
              </a:tr>
              <a:tr h="409575">
                <a:tc>
                  <a:txBody>
                    <a:bodyPr/>
                    <a:lstStyle/>
                    <a:p>
                      <a:pPr algn="ctr"/>
                      <a:r>
                        <a:rPr sz="2025">
                          <a:solidFill>
                            <a:srgbClr val="000000"/>
                          </a:solidFill>
                          <a:latin typeface="Calibri"/>
                          <a:ea typeface="Calibri"/>
                          <a:cs typeface="Calibri"/>
                        </a:rPr>
                        <a:t>Alex</a:t>
                      </a:r>
                    </a:p>
                  </a:txBody>
                  <a:tcPr marL="47625" marR="47625" marT="28575" marB="28575" anchor="ctr">
                    <a:solidFill>
                      <a:srgbClr val="FFFFFF"/>
                    </a:solidFill>
                  </a:tcPr>
                </a:tc>
                <a:extLst>
                  <a:ext uri="{0D108BD9-81ED-4DB2-BD59-A6C34878D82A}">
                    <a16:rowId xmlns:a16="http://schemas.microsoft.com/office/drawing/2014/main" val="10001"/>
                  </a:ext>
                </a:extLst>
              </a:tr>
              <a:tr h="409575">
                <a:tc>
                  <a:txBody>
                    <a:bodyPr/>
                    <a:lstStyle/>
                    <a:p>
                      <a:pPr algn="ctr"/>
                      <a:r>
                        <a:rPr sz="2025">
                          <a:solidFill>
                            <a:srgbClr val="000000"/>
                          </a:solidFill>
                          <a:latin typeface="Calibri"/>
                          <a:ea typeface="Calibri"/>
                          <a:cs typeface="Calibri"/>
                        </a:rPr>
                        <a:t>Dina</a:t>
                      </a:r>
                    </a:p>
                  </a:txBody>
                  <a:tcPr marL="47625" marR="47625" marT="28575" marB="28575" anchor="ctr">
                    <a:solidFill>
                      <a:srgbClr val="FFFFFF"/>
                    </a:solidFill>
                  </a:tcPr>
                </a:tc>
                <a:extLst>
                  <a:ext uri="{0D108BD9-81ED-4DB2-BD59-A6C34878D82A}">
                    <a16:rowId xmlns:a16="http://schemas.microsoft.com/office/drawing/2014/main" val="10002"/>
                  </a:ext>
                </a:extLst>
              </a:tr>
            </a:tbl>
          </a:graphicData>
        </a:graphic>
      </p:graphicFrame>
      <p:sp>
        <p:nvSpPr>
          <p:cNvPr id="8" name="body">
            <a:extLst>
              <a:ext uri="{FF2B5EF4-FFF2-40B4-BE49-F238E27FC236}">
                <a16:creationId xmlns:a16="http://schemas.microsoft.com/office/drawing/2014/main" id="{13DDE6A7-1B4F-4A96-A84C-73E3AE0F194A}"/>
              </a:ext>
            </a:extLst>
          </p:cNvPr>
          <p:cNvSpPr>
            <a:spLocks noGrp="1"/>
          </p:cNvSpPr>
          <p:nvPr/>
        </p:nvSpPr>
        <p:spPr>
          <a:xfrm>
            <a:off x="781050" y="4400550"/>
            <a:ext cx="7600950" cy="952500"/>
          </a:xfrm>
          <a:prstGeom prst="rect">
            <a:avLst/>
          </a:prstGeom>
          <a:noFill/>
          <a:ln w="0">
            <a:noFill/>
          </a:ln>
        </p:spPr>
        <p:txBody>
          <a:bodyPr wrap="square" lIns="0" tIns="0" rIns="0" bIns="0">
            <a:noAutofit/>
          </a:bodyPr>
          <a:lstStyle/>
          <a:p>
            <a:pPr>
              <a:defRPr sz="2250" b="0">
                <a:solidFill>
                  <a:srgbClr val="FF0000"/>
                </a:solidFill>
                <a:latin typeface="Calibri"/>
                <a:ea typeface="Calibri"/>
                <a:cs typeface="Calibri"/>
              </a:defRPr>
            </a:pPr>
            <a:r>
              <a:rPr sz="2250" b="0">
                <a:solidFill>
                  <a:srgbClr val="FF0000"/>
                </a:solidFill>
                <a:latin typeface="Calibri"/>
                <a:ea typeface="Calibri"/>
                <a:cs typeface="Calibri"/>
              </a:rPr>
              <a:t>Name-based difference leaves only Bao.</a:t>
            </a:r>
          </a:p>
        </p:txBody>
      </p:sp>
      <p:sp>
        <p:nvSpPr>
          <p:cNvPr id="9" name="body">
            <a:extLst>
              <a:ext uri="{FF2B5EF4-FFF2-40B4-BE49-F238E27FC236}">
                <a16:creationId xmlns:a16="http://schemas.microsoft.com/office/drawing/2014/main" id="{2894DA42-F7DC-40C4-8F98-63789FA0AAF5}"/>
              </a:ext>
            </a:extLst>
          </p:cNvPr>
          <p:cNvSpPr>
            <a:spLocks noGrp="1"/>
          </p:cNvSpPr>
          <p:nvPr/>
        </p:nvSpPr>
        <p:spPr>
          <a:xfrm>
            <a:off x="781050" y="5076825"/>
            <a:ext cx="7600950" cy="952500"/>
          </a:xfrm>
          <a:prstGeom prst="rect">
            <a:avLst/>
          </a:prstGeom>
          <a:noFill/>
          <a:ln w="0">
            <a:noFill/>
          </a:ln>
        </p:spPr>
        <p:txBody>
          <a:bodyPr wrap="square" lIns="0" tIns="0" rIns="0" bIns="0">
            <a:noAutofit/>
          </a:bodyPr>
          <a:lstStyle/>
          <a:p>
            <a:pPr>
              <a:defRPr sz="2175" b="0">
                <a:solidFill>
                  <a:srgbClr val="000000"/>
                </a:solidFill>
                <a:latin typeface="Calibri"/>
                <a:ea typeface="Calibri"/>
                <a:cs typeface="Calibri"/>
              </a:defRPr>
            </a:pPr>
            <a:r>
              <a:rPr sz="2175" b="0">
                <a:solidFill>
                  <a:srgbClr val="000000"/>
                </a:solidFill>
                <a:latin typeface="Calibri"/>
                <a:ea typeface="Calibri"/>
                <a:cs typeface="Calibri"/>
              </a:rPr>
              <a:t>It incorrectly removes the winning Alex (mid = 3) because another Alex (mid = 1) has a lower score.</a:t>
            </a:r>
          </a:p>
        </p:txBody>
      </p:sp>
      <p:sp>
        <p:nvSpPr>
          <p:cNvPr id="9001" name="Title 1">
            <a:extLst>
              <a:ext uri="{FF2B5EF4-FFF2-40B4-BE49-F238E27FC236}">
                <a16:creationId xmlns:a16="http://schemas.microsoft.com/office/drawing/2014/main" id="{4EF27E5C-9C4D-BDBE-7667-D0B141BCC8F5}"/>
              </a:ext>
            </a:extLst>
          </p:cNvPr>
          <p:cNvSpPr>
            <a:spLocks noGrp="1"/>
          </p:cNvSpPr>
          <p:nvPr>
            <p:ph type="title"/>
          </p:nvPr>
        </p:nvSpPr>
        <p:spPr/>
        <p:txBody>
          <a:bodyPr/>
          <a:lstStyle/>
          <a:p>
            <a:r>
              <a:rPr lang="en-US">
                <a:solidFill>
                  <a:srgbClr val="FF0000"/>
                </a:solidFill>
              </a:rPr>
              <a:t>Solutions: </a:t>
            </a:r>
            <a:r>
              <a:rPr lang="en-US">
                <a:solidFill>
                  <a:srgbClr val="3333CC"/>
                </a:solidFill>
              </a:rPr>
              <a:t>Q29 (3)</a:t>
            </a:r>
          </a:p>
        </p:txBody>
      </p:sp>
      <p:sp>
        <p:nvSpPr>
          <p:cNvPr id="9002" name="Slide Number Placeholder 1">
            <a:extLst>
              <a:ext uri="{FF2B5EF4-FFF2-40B4-BE49-F238E27FC236}">
                <a16:creationId xmlns:a16="http://schemas.microsoft.com/office/drawing/2014/main" id="{B90139AC-3BDA-723A-097A-000DA0A784C1}"/>
              </a:ext>
            </a:extLst>
          </p:cNvPr>
          <p:cNvSpPr>
            <a:spLocks noGrp="1"/>
          </p:cNvSpPr>
          <p:nvPr>
            <p:ph type="sldNum" sz="quarter" idx="12"/>
          </p:nvPr>
        </p:nvSpPr>
        <p:spPr/>
        <p:txBody>
          <a:bodyPr/>
          <a:lstStyle/>
          <a:p>
            <a:pPr>
              <a:defRPr/>
            </a:pPr>
            <a:fld id="{43CA101F-9E5F-9249-9862-3CE55B3BB777}" type="slidenum">
              <a:rPr lang="en-US" altLang="zh-TW" smtClean="0"/>
              <a:pPr>
                <a:defRPr/>
              </a:pPr>
              <a:t>80</a:t>
            </a:fld>
            <a:endParaRPr lang="en-US" altLang="zh-TW"/>
          </a:p>
        </p:txBody>
      </p:sp>
    </p:spTree>
    <p:extLst>
      <p:ext uri="{BB962C8B-B14F-4D97-AF65-F5344CB8AC3E}">
        <p14:creationId xmlns:p14="http://schemas.microsoft.com/office/powerpoint/2010/main" val="1556044746"/>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body">
            <a:extLst>
              <a:ext uri="{FF2B5EF4-FFF2-40B4-BE49-F238E27FC236}">
                <a16:creationId xmlns:a16="http://schemas.microsoft.com/office/drawing/2014/main" id="{975E98A5-FAD9-43F8-A935-625E1E7A1E11}"/>
              </a:ext>
            </a:extLst>
          </p:cNvPr>
          <p:cNvSpPr>
            <a:spLocks noGrp="1"/>
          </p:cNvSpPr>
          <p:nvPr/>
        </p:nvSpPr>
        <p:spPr>
          <a:xfrm>
            <a:off x="781050" y="5876925"/>
            <a:ext cx="7620000" cy="285750"/>
          </a:xfrm>
          <a:prstGeom prst="rect">
            <a:avLst/>
          </a:prstGeom>
          <a:noFill/>
          <a:ln w="0">
            <a:noFill/>
          </a:ln>
        </p:spPr>
        <p:txBody>
          <a:bodyPr wrap="square" lIns="0" tIns="0" rIns="0" bIns="0">
            <a:noAutofit/>
          </a:bodyPr>
          <a:lstStyle/>
          <a:p>
            <a:pPr>
              <a:defRPr sz="1725" b="0">
                <a:solidFill>
                  <a:srgbClr val="3333CC"/>
                </a:solidFill>
                <a:latin typeface="Calibri"/>
                <a:ea typeface="Calibri"/>
                <a:cs typeface="Calibri"/>
              </a:defRPr>
            </a:pPr>
            <a:r>
              <a:rPr sz="1725" b="0">
                <a:solidFill>
                  <a:srgbClr val="3333CC"/>
                </a:solidFill>
                <a:latin typeface="Calibri"/>
                <a:ea typeface="Calibri"/>
                <a:cs typeface="Calibri"/>
              </a:rPr>
              <a:t>Think: 30 s</a:t>
            </a:r>
          </a:p>
        </p:txBody>
      </p:sp>
      <p:sp>
        <p:nvSpPr>
          <p:cNvPr id="4" name="body">
            <a:extLst>
              <a:ext uri="{FF2B5EF4-FFF2-40B4-BE49-F238E27FC236}">
                <a16:creationId xmlns:a16="http://schemas.microsoft.com/office/drawing/2014/main" id="{7E49949F-A565-4252-8680-424653F33B90}"/>
              </a:ext>
            </a:extLst>
          </p:cNvPr>
          <p:cNvSpPr>
            <a:spLocks noGrp="1"/>
          </p:cNvSpPr>
          <p:nvPr/>
        </p:nvSpPr>
        <p:spPr>
          <a:xfrm>
            <a:off x="828675" y="1047750"/>
            <a:ext cx="3048000" cy="361950"/>
          </a:xfrm>
          <a:prstGeom prst="rect">
            <a:avLst/>
          </a:prstGeom>
          <a:noFill/>
          <a:ln w="0">
            <a:noFill/>
          </a:ln>
        </p:spPr>
        <p:txBody>
          <a:bodyPr wrap="square" lIns="0" tIns="0" rIns="0" bIns="0">
            <a:noAutofit/>
          </a:bodyPr>
          <a:lstStyle/>
          <a:p>
            <a:pPr>
              <a:defRPr sz="2250" b="0">
                <a:solidFill>
                  <a:srgbClr val="000000"/>
                </a:solidFill>
                <a:latin typeface="Calibri"/>
                <a:ea typeface="Calibri"/>
                <a:cs typeface="Calibri"/>
              </a:defRPr>
            </a:pPr>
            <a:r>
              <a:rPr sz="2250" b="0">
                <a:solidFill>
                  <a:srgbClr val="000000"/>
                </a:solidFill>
                <a:latin typeface="Calibri"/>
                <a:ea typeface="Calibri"/>
                <a:cs typeface="Calibri"/>
              </a:rPr>
              <a:t>R(mid, tid)</a:t>
            </a:r>
          </a:p>
        </p:txBody>
      </p:sp>
      <p:graphicFrame>
        <p:nvGraphicFramePr>
          <p:cNvPr id="16" name="表格 15"/>
          <p:cNvGraphicFramePr/>
          <p:nvPr/>
        </p:nvGraphicFramePr>
        <p:xfrm>
          <a:off x="904875" y="1466850"/>
          <a:ext cx="3048000" cy="2000250"/>
        </p:xfrm>
        <a:graphic>
          <a:graphicData uri="http://schemas.openxmlformats.org/drawingml/2006/table">
            <a:tbl>
              <a:tblPr/>
              <a:tblGrid>
                <a:gridCol w="1524000">
                  <a:extLst>
                    <a:ext uri="{9D8B030D-6E8A-4147-A177-3AD203B41FA5}">
                      <a16:colId xmlns:a16="http://schemas.microsoft.com/office/drawing/2014/main" val="20000"/>
                    </a:ext>
                  </a:extLst>
                </a:gridCol>
                <a:gridCol w="1524000">
                  <a:extLst>
                    <a:ext uri="{9D8B030D-6E8A-4147-A177-3AD203B41FA5}">
                      <a16:colId xmlns:a16="http://schemas.microsoft.com/office/drawing/2014/main" val="20001"/>
                    </a:ext>
                  </a:extLst>
                </a:gridCol>
              </a:tblGrid>
              <a:tr h="333375">
                <a:tc>
                  <a:txBody>
                    <a:bodyPr/>
                    <a:lstStyle/>
                    <a:p>
                      <a:pPr algn="ctr"/>
                      <a:r>
                        <a:rPr sz="1800">
                          <a:solidFill>
                            <a:srgbClr val="000000"/>
                          </a:solidFill>
                          <a:latin typeface="Calibri"/>
                          <a:ea typeface="Calibri"/>
                          <a:cs typeface="Calibri"/>
                        </a:rPr>
                        <a:t>mid</a:t>
                      </a:r>
                    </a:p>
                  </a:txBody>
                  <a:tcPr marL="47625" marR="47625" marT="28575" marB="28575" anchor="ctr">
                    <a:solidFill>
                      <a:srgbClr val="D9D9D9"/>
                    </a:solidFill>
                  </a:tcPr>
                </a:tc>
                <a:tc>
                  <a:txBody>
                    <a:bodyPr/>
                    <a:lstStyle/>
                    <a:p>
                      <a:pPr algn="ctr"/>
                      <a:r>
                        <a:rPr sz="1800">
                          <a:solidFill>
                            <a:srgbClr val="000000"/>
                          </a:solidFill>
                          <a:latin typeface="Calibri"/>
                          <a:ea typeface="Calibri"/>
                          <a:cs typeface="Calibri"/>
                        </a:rPr>
                        <a:t>tid</a:t>
                      </a:r>
                    </a:p>
                  </a:txBody>
                  <a:tcPr marL="47625" marR="47625" marT="28575" marB="28575" anchor="ctr">
                    <a:solidFill>
                      <a:srgbClr val="D9D9D9"/>
                    </a:solidFill>
                  </a:tcPr>
                </a:tc>
                <a:extLst>
                  <a:ext uri="{0D108BD9-81ED-4DB2-BD59-A6C34878D82A}">
                    <a16:rowId xmlns:a16="http://schemas.microsoft.com/office/drawing/2014/main" val="10000"/>
                  </a:ext>
                </a:extLst>
              </a:tr>
              <a:tr h="333375">
                <a:tc>
                  <a:txBody>
                    <a:bodyPr/>
                    <a:lstStyle/>
                    <a:p>
                      <a:pPr algn="ctr"/>
                      <a:r>
                        <a:rPr sz="1800">
                          <a:solidFill>
                            <a:srgbClr val="000000"/>
                          </a:solidFill>
                          <a:latin typeface="Calibri"/>
                          <a:ea typeface="Calibri"/>
                          <a:cs typeface="Calibri"/>
                        </a:rPr>
                        <a:t>M1</a:t>
                      </a:r>
                    </a:p>
                  </a:txBody>
                  <a:tcPr marL="47625" marR="47625" marT="28575" marB="28575" anchor="ctr">
                    <a:solidFill>
                      <a:srgbClr val="FFFFFF"/>
                    </a:solidFill>
                  </a:tcPr>
                </a:tc>
                <a:tc>
                  <a:txBody>
                    <a:bodyPr/>
                    <a:lstStyle/>
                    <a:p>
                      <a:pPr algn="ctr"/>
                      <a:r>
                        <a:rPr sz="1800">
                          <a:solidFill>
                            <a:srgbClr val="000000"/>
                          </a:solidFill>
                          <a:latin typeface="Calibri"/>
                          <a:ea typeface="Calibri"/>
                          <a:cs typeface="Calibri"/>
                        </a:rPr>
                        <a:t>T1</a:t>
                      </a:r>
                    </a:p>
                  </a:txBody>
                  <a:tcPr marL="47625" marR="47625" marT="28575" marB="28575" anchor="ctr">
                    <a:solidFill>
                      <a:srgbClr val="FFFFFF"/>
                    </a:solidFill>
                  </a:tcPr>
                </a:tc>
                <a:extLst>
                  <a:ext uri="{0D108BD9-81ED-4DB2-BD59-A6C34878D82A}">
                    <a16:rowId xmlns:a16="http://schemas.microsoft.com/office/drawing/2014/main" val="10001"/>
                  </a:ext>
                </a:extLst>
              </a:tr>
              <a:tr h="333375">
                <a:tc>
                  <a:txBody>
                    <a:bodyPr/>
                    <a:lstStyle/>
                    <a:p>
                      <a:pPr algn="ctr"/>
                      <a:r>
                        <a:rPr sz="1800">
                          <a:solidFill>
                            <a:srgbClr val="000000"/>
                          </a:solidFill>
                          <a:latin typeface="Calibri"/>
                          <a:ea typeface="Calibri"/>
                          <a:cs typeface="Calibri"/>
                        </a:rPr>
                        <a:t>M2</a:t>
                      </a:r>
                    </a:p>
                  </a:txBody>
                  <a:tcPr marL="47625" marR="47625" marT="28575" marB="28575" anchor="ctr">
                    <a:solidFill>
                      <a:srgbClr val="FFFFFF"/>
                    </a:solidFill>
                  </a:tcPr>
                </a:tc>
                <a:tc>
                  <a:txBody>
                    <a:bodyPr/>
                    <a:lstStyle/>
                    <a:p>
                      <a:pPr algn="ctr"/>
                      <a:r>
                        <a:rPr sz="1800">
                          <a:solidFill>
                            <a:srgbClr val="000000"/>
                          </a:solidFill>
                          <a:latin typeface="Calibri"/>
                          <a:ea typeface="Calibri"/>
                          <a:cs typeface="Calibri"/>
                        </a:rPr>
                        <a:t>T1</a:t>
                      </a:r>
                    </a:p>
                  </a:txBody>
                  <a:tcPr marL="47625" marR="47625" marT="28575" marB="28575" anchor="ctr">
                    <a:solidFill>
                      <a:srgbClr val="FFFFFF"/>
                    </a:solidFill>
                  </a:tcPr>
                </a:tc>
                <a:extLst>
                  <a:ext uri="{0D108BD9-81ED-4DB2-BD59-A6C34878D82A}">
                    <a16:rowId xmlns:a16="http://schemas.microsoft.com/office/drawing/2014/main" val="10002"/>
                  </a:ext>
                </a:extLst>
              </a:tr>
              <a:tr h="333375">
                <a:tc>
                  <a:txBody>
                    <a:bodyPr/>
                    <a:lstStyle/>
                    <a:p>
                      <a:pPr algn="ctr"/>
                      <a:r>
                        <a:rPr sz="1800">
                          <a:solidFill>
                            <a:srgbClr val="000000"/>
                          </a:solidFill>
                          <a:latin typeface="Calibri"/>
                          <a:ea typeface="Calibri"/>
                          <a:cs typeface="Calibri"/>
                        </a:rPr>
                        <a:t>M2</a:t>
                      </a:r>
                    </a:p>
                  </a:txBody>
                  <a:tcPr marL="47625" marR="47625" marT="28575" marB="28575" anchor="ctr">
                    <a:solidFill>
                      <a:srgbClr val="FFFFFF"/>
                    </a:solidFill>
                  </a:tcPr>
                </a:tc>
                <a:tc>
                  <a:txBody>
                    <a:bodyPr/>
                    <a:lstStyle/>
                    <a:p>
                      <a:pPr algn="ctr"/>
                      <a:r>
                        <a:rPr sz="1800">
                          <a:solidFill>
                            <a:srgbClr val="000000"/>
                          </a:solidFill>
                          <a:latin typeface="Calibri"/>
                          <a:ea typeface="Calibri"/>
                          <a:cs typeface="Calibri"/>
                        </a:rPr>
                        <a:t>T2</a:t>
                      </a:r>
                    </a:p>
                  </a:txBody>
                  <a:tcPr marL="47625" marR="47625" marT="28575" marB="28575" anchor="ctr">
                    <a:solidFill>
                      <a:srgbClr val="FFFFFF"/>
                    </a:solidFill>
                  </a:tcPr>
                </a:tc>
                <a:extLst>
                  <a:ext uri="{0D108BD9-81ED-4DB2-BD59-A6C34878D82A}">
                    <a16:rowId xmlns:a16="http://schemas.microsoft.com/office/drawing/2014/main" val="10003"/>
                  </a:ext>
                </a:extLst>
              </a:tr>
              <a:tr h="333375">
                <a:tc>
                  <a:txBody>
                    <a:bodyPr/>
                    <a:lstStyle/>
                    <a:p>
                      <a:pPr algn="ctr"/>
                      <a:r>
                        <a:rPr sz="1800">
                          <a:solidFill>
                            <a:srgbClr val="000000"/>
                          </a:solidFill>
                          <a:latin typeface="Calibri"/>
                          <a:ea typeface="Calibri"/>
                          <a:cs typeface="Calibri"/>
                        </a:rPr>
                        <a:t>M2</a:t>
                      </a:r>
                    </a:p>
                  </a:txBody>
                  <a:tcPr marL="47625" marR="47625" marT="28575" marB="28575" anchor="ctr">
                    <a:solidFill>
                      <a:srgbClr val="FFFFFF"/>
                    </a:solidFill>
                  </a:tcPr>
                </a:tc>
                <a:tc>
                  <a:txBody>
                    <a:bodyPr/>
                    <a:lstStyle/>
                    <a:p>
                      <a:pPr algn="ctr"/>
                      <a:r>
                        <a:rPr sz="1800">
                          <a:solidFill>
                            <a:srgbClr val="000000"/>
                          </a:solidFill>
                          <a:latin typeface="Calibri"/>
                          <a:ea typeface="Calibri"/>
                          <a:cs typeface="Calibri"/>
                        </a:rPr>
                        <a:t>T3</a:t>
                      </a:r>
                    </a:p>
                  </a:txBody>
                  <a:tcPr marL="47625" marR="47625" marT="28575" marB="28575" anchor="ctr">
                    <a:solidFill>
                      <a:srgbClr val="FFFFFF"/>
                    </a:solidFill>
                  </a:tcPr>
                </a:tc>
                <a:extLst>
                  <a:ext uri="{0D108BD9-81ED-4DB2-BD59-A6C34878D82A}">
                    <a16:rowId xmlns:a16="http://schemas.microsoft.com/office/drawing/2014/main" val="10004"/>
                  </a:ext>
                </a:extLst>
              </a:tr>
              <a:tr h="333375">
                <a:tc>
                  <a:txBody>
                    <a:bodyPr/>
                    <a:lstStyle/>
                    <a:p>
                      <a:pPr algn="ctr"/>
                      <a:r>
                        <a:rPr sz="1800">
                          <a:solidFill>
                            <a:srgbClr val="000000"/>
                          </a:solidFill>
                          <a:latin typeface="Calibri"/>
                          <a:ea typeface="Calibri"/>
                          <a:cs typeface="Calibri"/>
                        </a:rPr>
                        <a:t>M3</a:t>
                      </a:r>
                    </a:p>
                  </a:txBody>
                  <a:tcPr marL="47625" marR="47625" marT="28575" marB="28575" anchor="ctr">
                    <a:solidFill>
                      <a:srgbClr val="FFFFFF"/>
                    </a:solidFill>
                  </a:tcPr>
                </a:tc>
                <a:tc>
                  <a:txBody>
                    <a:bodyPr/>
                    <a:lstStyle/>
                    <a:p>
                      <a:pPr algn="ctr"/>
                      <a:r>
                        <a:rPr sz="1800">
                          <a:solidFill>
                            <a:srgbClr val="000000"/>
                          </a:solidFill>
                          <a:latin typeface="Calibri"/>
                          <a:ea typeface="Calibri"/>
                          <a:cs typeface="Calibri"/>
                        </a:rPr>
                        <a:t>T2</a:t>
                      </a:r>
                    </a:p>
                  </a:txBody>
                  <a:tcPr marL="47625" marR="47625" marT="28575" marB="28575" anchor="ctr">
                    <a:solidFill>
                      <a:srgbClr val="FFFFFF"/>
                    </a:solidFill>
                  </a:tcPr>
                </a:tc>
                <a:extLst>
                  <a:ext uri="{0D108BD9-81ED-4DB2-BD59-A6C34878D82A}">
                    <a16:rowId xmlns:a16="http://schemas.microsoft.com/office/drawing/2014/main" val="10005"/>
                  </a:ext>
                </a:extLst>
              </a:tr>
            </a:tbl>
          </a:graphicData>
        </a:graphic>
      </p:graphicFrame>
      <p:sp>
        <p:nvSpPr>
          <p:cNvPr id="6" name="body">
            <a:extLst>
              <a:ext uri="{FF2B5EF4-FFF2-40B4-BE49-F238E27FC236}">
                <a16:creationId xmlns:a16="http://schemas.microsoft.com/office/drawing/2014/main" id="{37BC7613-555A-4ED0-B0D7-0F908C842A60}"/>
              </a:ext>
            </a:extLst>
          </p:cNvPr>
          <p:cNvSpPr>
            <a:spLocks noGrp="1"/>
          </p:cNvSpPr>
          <p:nvPr/>
        </p:nvSpPr>
        <p:spPr>
          <a:xfrm>
            <a:off x="4829175" y="1047750"/>
            <a:ext cx="3143250" cy="361950"/>
          </a:xfrm>
          <a:prstGeom prst="rect">
            <a:avLst/>
          </a:prstGeom>
          <a:noFill/>
          <a:ln w="0">
            <a:noFill/>
          </a:ln>
        </p:spPr>
        <p:txBody>
          <a:bodyPr wrap="square" lIns="0" tIns="0" rIns="0" bIns="0">
            <a:noAutofit/>
          </a:bodyPr>
          <a:lstStyle/>
          <a:p>
            <a:pPr>
              <a:defRPr sz="2250" b="0">
                <a:solidFill>
                  <a:srgbClr val="000000"/>
                </a:solidFill>
                <a:latin typeface="Calibri"/>
                <a:ea typeface="Calibri"/>
                <a:cs typeface="Calibri"/>
              </a:defRPr>
            </a:pPr>
            <a:r>
              <a:rPr sz="2250" b="0">
                <a:solidFill>
                  <a:srgbClr val="000000"/>
                </a:solidFill>
                <a:latin typeface="Calibri"/>
                <a:ea typeface="Calibri"/>
                <a:cs typeface="Calibri"/>
              </a:rPr>
              <a:t>Tool</a:t>
            </a:r>
          </a:p>
        </p:txBody>
      </p:sp>
      <p:graphicFrame>
        <p:nvGraphicFramePr>
          <p:cNvPr id="18" name="表格 17"/>
          <p:cNvGraphicFramePr/>
          <p:nvPr/>
        </p:nvGraphicFramePr>
        <p:xfrm>
          <a:off x="4905375" y="1466850"/>
          <a:ext cx="3143250" cy="1524000"/>
        </p:xfrm>
        <a:graphic>
          <a:graphicData uri="http://schemas.openxmlformats.org/drawingml/2006/table">
            <a:tbl>
              <a:tblPr/>
              <a:tblGrid>
                <a:gridCol w="1571625">
                  <a:extLst>
                    <a:ext uri="{9D8B030D-6E8A-4147-A177-3AD203B41FA5}">
                      <a16:colId xmlns:a16="http://schemas.microsoft.com/office/drawing/2014/main" val="20000"/>
                    </a:ext>
                  </a:extLst>
                </a:gridCol>
                <a:gridCol w="1571625">
                  <a:extLst>
                    <a:ext uri="{9D8B030D-6E8A-4147-A177-3AD203B41FA5}">
                      <a16:colId xmlns:a16="http://schemas.microsoft.com/office/drawing/2014/main" val="20001"/>
                    </a:ext>
                  </a:extLst>
                </a:gridCol>
              </a:tblGrid>
              <a:tr h="381000">
                <a:tc>
                  <a:txBody>
                    <a:bodyPr/>
                    <a:lstStyle/>
                    <a:p>
                      <a:pPr algn="ctr"/>
                      <a:r>
                        <a:rPr sz="1875">
                          <a:solidFill>
                            <a:srgbClr val="000000"/>
                          </a:solidFill>
                          <a:latin typeface="Calibri"/>
                          <a:ea typeface="Calibri"/>
                          <a:cs typeface="Calibri"/>
                        </a:rPr>
                        <a:t>tid</a:t>
                      </a:r>
                    </a:p>
                  </a:txBody>
                  <a:tcPr marL="47625" marR="47625" marT="28575" marB="28575" anchor="ctr">
                    <a:solidFill>
                      <a:srgbClr val="D9D9D9"/>
                    </a:solidFill>
                  </a:tcPr>
                </a:tc>
                <a:tc>
                  <a:txBody>
                    <a:bodyPr/>
                    <a:lstStyle/>
                    <a:p>
                      <a:pPr algn="ctr"/>
                      <a:r>
                        <a:rPr sz="1875">
                          <a:solidFill>
                            <a:srgbClr val="000000"/>
                          </a:solidFill>
                          <a:latin typeface="Calibri"/>
                          <a:ea typeface="Calibri"/>
                          <a:cs typeface="Calibri"/>
                        </a:rPr>
                        <a:t>category</a:t>
                      </a:r>
                    </a:p>
                  </a:txBody>
                  <a:tcPr marL="47625" marR="47625" marT="28575" marB="28575" anchor="ctr">
                    <a:solidFill>
                      <a:srgbClr val="D9D9D9"/>
                    </a:solidFill>
                  </a:tcPr>
                </a:tc>
                <a:extLst>
                  <a:ext uri="{0D108BD9-81ED-4DB2-BD59-A6C34878D82A}">
                    <a16:rowId xmlns:a16="http://schemas.microsoft.com/office/drawing/2014/main" val="10000"/>
                  </a:ext>
                </a:extLst>
              </a:tr>
              <a:tr h="381000">
                <a:tc>
                  <a:txBody>
                    <a:bodyPr/>
                    <a:lstStyle/>
                    <a:p>
                      <a:pPr algn="ctr"/>
                      <a:r>
                        <a:rPr sz="1875">
                          <a:solidFill>
                            <a:srgbClr val="000000"/>
                          </a:solidFill>
                          <a:latin typeface="Calibri"/>
                          <a:ea typeface="Calibri"/>
                          <a:cs typeface="Calibri"/>
                        </a:rPr>
                        <a:t>T1</a:t>
                      </a:r>
                    </a:p>
                  </a:txBody>
                  <a:tcPr marL="47625" marR="47625" marT="28575" marB="28575" anchor="ctr">
                    <a:solidFill>
                      <a:srgbClr val="FFFFFF"/>
                    </a:solidFill>
                  </a:tcPr>
                </a:tc>
                <a:tc>
                  <a:txBody>
                    <a:bodyPr/>
                    <a:lstStyle/>
                    <a:p>
                      <a:pPr algn="ctr"/>
                      <a:r>
                        <a:rPr sz="1875">
                          <a:solidFill>
                            <a:srgbClr val="000000"/>
                          </a:solidFill>
                          <a:latin typeface="Calibri"/>
                          <a:ea typeface="Calibri"/>
                          <a:cs typeface="Calibri"/>
                        </a:rPr>
                        <a:t>Laser</a:t>
                      </a:r>
                    </a:p>
                  </a:txBody>
                  <a:tcPr marL="47625" marR="47625" marT="28575" marB="28575" anchor="ctr">
                    <a:solidFill>
                      <a:srgbClr val="FFFFFF"/>
                    </a:solidFill>
                  </a:tcPr>
                </a:tc>
                <a:extLst>
                  <a:ext uri="{0D108BD9-81ED-4DB2-BD59-A6C34878D82A}">
                    <a16:rowId xmlns:a16="http://schemas.microsoft.com/office/drawing/2014/main" val="10001"/>
                  </a:ext>
                </a:extLst>
              </a:tr>
              <a:tr h="381000">
                <a:tc>
                  <a:txBody>
                    <a:bodyPr/>
                    <a:lstStyle/>
                    <a:p>
                      <a:pPr algn="ctr"/>
                      <a:r>
                        <a:rPr sz="1875">
                          <a:solidFill>
                            <a:srgbClr val="000000"/>
                          </a:solidFill>
                          <a:latin typeface="Calibri"/>
                          <a:ea typeface="Calibri"/>
                          <a:cs typeface="Calibri"/>
                        </a:rPr>
                        <a:t>T2</a:t>
                      </a:r>
                    </a:p>
                  </a:txBody>
                  <a:tcPr marL="47625" marR="47625" marT="28575" marB="28575" anchor="ctr">
                    <a:solidFill>
                      <a:srgbClr val="FFFFFF"/>
                    </a:solidFill>
                  </a:tcPr>
                </a:tc>
                <a:tc>
                  <a:txBody>
                    <a:bodyPr/>
                    <a:lstStyle/>
                    <a:p>
                      <a:pPr algn="ctr"/>
                      <a:r>
                        <a:rPr sz="1875">
                          <a:solidFill>
                            <a:srgbClr val="000000"/>
                          </a:solidFill>
                          <a:latin typeface="Calibri"/>
                          <a:ea typeface="Calibri"/>
                          <a:cs typeface="Calibri"/>
                        </a:rPr>
                        <a:t>Laser</a:t>
                      </a:r>
                    </a:p>
                  </a:txBody>
                  <a:tcPr marL="47625" marR="47625" marT="28575" marB="28575" anchor="ctr">
                    <a:solidFill>
                      <a:srgbClr val="FFFFFF"/>
                    </a:solidFill>
                  </a:tcPr>
                </a:tc>
                <a:extLst>
                  <a:ext uri="{0D108BD9-81ED-4DB2-BD59-A6C34878D82A}">
                    <a16:rowId xmlns:a16="http://schemas.microsoft.com/office/drawing/2014/main" val="10002"/>
                  </a:ext>
                </a:extLst>
              </a:tr>
              <a:tr h="381000">
                <a:tc>
                  <a:txBody>
                    <a:bodyPr/>
                    <a:lstStyle/>
                    <a:p>
                      <a:pPr algn="ctr"/>
                      <a:r>
                        <a:rPr sz="1875">
                          <a:solidFill>
                            <a:srgbClr val="000000"/>
                          </a:solidFill>
                          <a:latin typeface="Calibri"/>
                          <a:ea typeface="Calibri"/>
                          <a:cs typeface="Calibri"/>
                        </a:rPr>
                        <a:t>T3</a:t>
                      </a:r>
                    </a:p>
                  </a:txBody>
                  <a:tcPr marL="47625" marR="47625" marT="28575" marB="28575" anchor="ctr">
                    <a:solidFill>
                      <a:srgbClr val="FFFFFF"/>
                    </a:solidFill>
                  </a:tcPr>
                </a:tc>
                <a:tc>
                  <a:txBody>
                    <a:bodyPr/>
                    <a:lstStyle/>
                    <a:p>
                      <a:pPr algn="ctr"/>
                      <a:r>
                        <a:rPr sz="1875">
                          <a:solidFill>
                            <a:srgbClr val="000000"/>
                          </a:solidFill>
                          <a:latin typeface="Calibri"/>
                          <a:ea typeface="Calibri"/>
                          <a:cs typeface="Calibri"/>
                        </a:rPr>
                        <a:t>CNC</a:t>
                      </a:r>
                    </a:p>
                  </a:txBody>
                  <a:tcPr marL="47625" marR="47625" marT="28575" marB="28575" anchor="ctr">
                    <a:solidFill>
                      <a:srgbClr val="FFFFFF"/>
                    </a:solidFill>
                  </a:tcPr>
                </a:tc>
                <a:extLst>
                  <a:ext uri="{0D108BD9-81ED-4DB2-BD59-A6C34878D82A}">
                    <a16:rowId xmlns:a16="http://schemas.microsoft.com/office/drawing/2014/main" val="10003"/>
                  </a:ext>
                </a:extLst>
              </a:tr>
            </a:tbl>
          </a:graphicData>
        </a:graphic>
      </p:graphicFrame>
      <p:sp>
        <p:nvSpPr>
          <p:cNvPr id="8" name="body">
            <a:extLst>
              <a:ext uri="{FF2B5EF4-FFF2-40B4-BE49-F238E27FC236}">
                <a16:creationId xmlns:a16="http://schemas.microsoft.com/office/drawing/2014/main" id="{985D250A-1A00-4130-8D7D-5B0E878F6F4B}"/>
              </a:ext>
            </a:extLst>
          </p:cNvPr>
          <p:cNvSpPr>
            <a:spLocks noGrp="1"/>
          </p:cNvSpPr>
          <p:nvPr/>
        </p:nvSpPr>
        <p:spPr>
          <a:xfrm>
            <a:off x="4905375" y="3028950"/>
            <a:ext cx="3143250" cy="285750"/>
          </a:xfrm>
          <a:prstGeom prst="rect">
            <a:avLst/>
          </a:prstGeom>
          <a:noFill/>
          <a:ln w="0">
            <a:noFill/>
          </a:ln>
        </p:spPr>
        <p:txBody>
          <a:bodyPr wrap="square" lIns="0" tIns="0" rIns="0" bIns="0">
            <a:noAutofit/>
          </a:bodyPr>
          <a:lstStyle/>
          <a:p>
            <a:pPr>
              <a:defRPr sz="1725" b="0">
                <a:solidFill>
                  <a:srgbClr val="000000"/>
                </a:solidFill>
                <a:latin typeface="Calibri"/>
                <a:ea typeface="Calibri"/>
                <a:cs typeface="Calibri"/>
              </a:defRPr>
            </a:pPr>
            <a:r>
              <a:rPr sz="1725" b="0">
                <a:solidFill>
                  <a:srgbClr val="000000"/>
                </a:solidFill>
                <a:latin typeface="Calibri"/>
                <a:ea typeface="Calibri"/>
                <a:cs typeface="Calibri"/>
              </a:rPr>
              <a:t>Member</a:t>
            </a:r>
          </a:p>
        </p:txBody>
      </p:sp>
      <p:sp>
        <p:nvSpPr>
          <p:cNvPr id="9" name="body">
            <a:extLst>
              <a:ext uri="{FF2B5EF4-FFF2-40B4-BE49-F238E27FC236}">
                <a16:creationId xmlns:a16="http://schemas.microsoft.com/office/drawing/2014/main" id="{7E414514-EF97-4C76-AF31-09602239AFE0}"/>
              </a:ext>
            </a:extLst>
          </p:cNvPr>
          <p:cNvSpPr>
            <a:spLocks noGrp="1"/>
          </p:cNvSpPr>
          <p:nvPr/>
        </p:nvSpPr>
        <p:spPr>
          <a:xfrm>
            <a:off x="4905375" y="3276600"/>
            <a:ext cx="3238500" cy="552450"/>
          </a:xfrm>
          <a:prstGeom prst="rect">
            <a:avLst/>
          </a:prstGeom>
          <a:noFill/>
          <a:ln w="0">
            <a:noFill/>
          </a:ln>
        </p:spPr>
        <p:txBody>
          <a:bodyPr wrap="square" lIns="0" tIns="0" rIns="0" bIns="0">
            <a:noAutofit/>
          </a:bodyPr>
          <a:lstStyle/>
          <a:p>
            <a:pPr>
              <a:defRPr sz="1650" b="0">
                <a:solidFill>
                  <a:srgbClr val="000000"/>
                </a:solidFill>
                <a:latin typeface="Calibri"/>
                <a:ea typeface="Calibri"/>
                <a:cs typeface="Calibri"/>
              </a:defRPr>
            </a:pPr>
            <a:r>
              <a:rPr sz="1650" b="0">
                <a:solidFill>
                  <a:srgbClr val="000000"/>
                </a:solidFill>
                <a:latin typeface="Calibri"/>
                <a:ea typeface="Calibri"/>
                <a:cs typeface="Calibri"/>
              </a:rPr>
              <a:t>M1 Alex     M2 Mei</a:t>
            </a:r>
          </a:p>
          <a:p>
            <a:pPr>
              <a:defRPr sz="1650" b="0">
                <a:solidFill>
                  <a:srgbClr val="000000"/>
                </a:solidFill>
                <a:latin typeface="Calibri"/>
                <a:ea typeface="Calibri"/>
                <a:cs typeface="Calibri"/>
              </a:defRPr>
            </a:pPr>
            <a:r>
              <a:rPr sz="1650" b="0">
                <a:solidFill>
                  <a:srgbClr val="000000"/>
                </a:solidFill>
                <a:latin typeface="Calibri"/>
                <a:ea typeface="Calibri"/>
                <a:cs typeface="Calibri"/>
              </a:rPr>
              <a:t>M3 Alex     M4 Noor</a:t>
            </a:r>
          </a:p>
        </p:txBody>
      </p:sp>
      <p:sp>
        <p:nvSpPr>
          <p:cNvPr id="10" name="body">
            <a:extLst>
              <a:ext uri="{FF2B5EF4-FFF2-40B4-BE49-F238E27FC236}">
                <a16:creationId xmlns:a16="http://schemas.microsoft.com/office/drawing/2014/main" id="{F5DEFA1D-B47C-41F8-9C6F-62B8DBA74AC1}"/>
              </a:ext>
            </a:extLst>
          </p:cNvPr>
          <p:cNvSpPr>
            <a:spLocks noGrp="1"/>
          </p:cNvSpPr>
          <p:nvPr/>
        </p:nvSpPr>
        <p:spPr>
          <a:xfrm>
            <a:off x="781050" y="3876675"/>
            <a:ext cx="7600950" cy="1238250"/>
          </a:xfrm>
          <a:prstGeom prst="rect">
            <a:avLst/>
          </a:prstGeom>
          <a:noFill/>
          <a:ln w="0">
            <a:noFill/>
          </a:ln>
        </p:spPr>
        <p:txBody>
          <a:bodyPr wrap="square" lIns="0" tIns="0" rIns="0" bIns="0">
            <a:noAutofit/>
          </a:bodyPr>
          <a:lstStyle/>
          <a:p>
            <a:pPr>
              <a:defRPr sz="2175" b="0">
                <a:solidFill>
                  <a:srgbClr val="FF0000"/>
                </a:solidFill>
                <a:latin typeface="Calibri"/>
                <a:ea typeface="Calibri"/>
                <a:cs typeface="Calibri"/>
              </a:defRPr>
            </a:pPr>
            <a:r>
              <a:rPr sz="2175" b="0">
                <a:solidFill>
                  <a:srgbClr val="FF0000"/>
                </a:solidFill>
                <a:latin typeface="Calibri"/>
                <a:ea typeface="Calibri"/>
                <a:cs typeface="Calibri"/>
              </a:rPr>
              <a:t>Find members trained on at least two different tools.</a:t>
            </a:r>
          </a:p>
        </p:txBody>
      </p:sp>
      <p:sp>
        <p:nvSpPr>
          <p:cNvPr id="11" name="body">
            <a:extLst>
              <a:ext uri="{FF2B5EF4-FFF2-40B4-BE49-F238E27FC236}">
                <a16:creationId xmlns:a16="http://schemas.microsoft.com/office/drawing/2014/main" id="{CDF92634-A42B-4AC8-B7D0-446EAB4FB96D}"/>
              </a:ext>
            </a:extLst>
          </p:cNvPr>
          <p:cNvSpPr>
            <a:spLocks noGrp="1"/>
          </p:cNvSpPr>
          <p:nvPr/>
        </p:nvSpPr>
        <p:spPr>
          <a:xfrm>
            <a:off x="781050" y="5257800"/>
            <a:ext cx="7600950" cy="495300"/>
          </a:xfrm>
          <a:prstGeom prst="rect">
            <a:avLst/>
          </a:prstGeom>
          <a:noFill/>
          <a:ln w="0">
            <a:noFill/>
          </a:ln>
        </p:spPr>
        <p:txBody>
          <a:bodyPr wrap="square" lIns="0" tIns="0" rIns="0" bIns="0">
            <a:noAutofit/>
          </a:bodyPr>
          <a:lstStyle/>
          <a:p>
            <a:pPr>
              <a:defRPr sz="1950" b="0">
                <a:solidFill>
                  <a:srgbClr val="000000"/>
                </a:solidFill>
                <a:latin typeface="Calibri"/>
                <a:ea typeface="Calibri"/>
                <a:cs typeface="Calibri"/>
              </a:defRPr>
            </a:pPr>
            <a:r>
              <a:rPr sz="1950" b="0">
                <a:solidFill>
                  <a:srgbClr val="000000"/>
                </a:solidFill>
                <a:latin typeface="Calibri"/>
                <a:ea typeface="Calibri"/>
                <a:cs typeface="Calibri"/>
              </a:rPr>
              <a:t>Two sessions on the same tool do not count. Return (mid, mname).</a:t>
            </a:r>
          </a:p>
        </p:txBody>
      </p:sp>
      <p:sp>
        <p:nvSpPr>
          <p:cNvPr id="9001" name="Title 1">
            <a:extLst>
              <a:ext uri="{FF2B5EF4-FFF2-40B4-BE49-F238E27FC236}">
                <a16:creationId xmlns:a16="http://schemas.microsoft.com/office/drawing/2014/main" id="{4EF27E5C-9C4D-BDBE-7667-D0B141BCC8F5}"/>
              </a:ext>
            </a:extLst>
          </p:cNvPr>
          <p:cNvSpPr>
            <a:spLocks noGrp="1"/>
          </p:cNvSpPr>
          <p:nvPr>
            <p:ph type="title"/>
          </p:nvPr>
        </p:nvSpPr>
        <p:spPr/>
        <p:txBody>
          <a:bodyPr/>
          <a:lstStyle/>
          <a:p>
            <a:r>
              <a:rPr lang="en-US">
                <a:solidFill>
                  <a:srgbClr val="FF0000"/>
                </a:solidFill>
              </a:rPr>
              <a:t>Practice: </a:t>
            </a:r>
            <a:r>
              <a:rPr lang="en-US">
                <a:solidFill>
                  <a:srgbClr val="3333CC"/>
                </a:solidFill>
              </a:rPr>
              <a:t>Q30</a:t>
            </a:r>
          </a:p>
        </p:txBody>
      </p:sp>
      <p:sp>
        <p:nvSpPr>
          <p:cNvPr id="9002" name="Slide Number Placeholder 1">
            <a:extLst>
              <a:ext uri="{FF2B5EF4-FFF2-40B4-BE49-F238E27FC236}">
                <a16:creationId xmlns:a16="http://schemas.microsoft.com/office/drawing/2014/main" id="{B90139AC-3BDA-723A-097A-000DA0A784C1}"/>
              </a:ext>
            </a:extLst>
          </p:cNvPr>
          <p:cNvSpPr>
            <a:spLocks noGrp="1"/>
          </p:cNvSpPr>
          <p:nvPr>
            <p:ph type="sldNum" sz="quarter" idx="12"/>
          </p:nvPr>
        </p:nvSpPr>
        <p:spPr/>
        <p:txBody>
          <a:bodyPr/>
          <a:lstStyle/>
          <a:p>
            <a:pPr>
              <a:defRPr/>
            </a:pPr>
            <a:fld id="{43CA101F-9E5F-9249-9862-3CE55B3BB777}" type="slidenum">
              <a:rPr lang="en-US" altLang="zh-TW" smtClean="0"/>
              <a:pPr>
                <a:defRPr/>
              </a:pPr>
              <a:t>81</a:t>
            </a:fld>
            <a:endParaRPr lang="en-US" altLang="zh-TW"/>
          </a:p>
        </p:txBody>
      </p:sp>
    </p:spTree>
    <p:extLst>
      <p:ext uri="{BB962C8B-B14F-4D97-AF65-F5344CB8AC3E}">
        <p14:creationId xmlns:p14="http://schemas.microsoft.com/office/powerpoint/2010/main" val="1915939648"/>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formula">
            <a:extLst>
              <a:ext uri="{FF2B5EF4-FFF2-40B4-BE49-F238E27FC236}">
                <a16:creationId xmlns:a16="http://schemas.microsoft.com/office/drawing/2014/main" id="{11F8244A-0998-44B9-81BC-B6907590A71C}"/>
              </a:ext>
            </a:extLst>
          </p:cNvPr>
          <p:cNvSpPr>
            <a:spLocks noGrp="1"/>
          </p:cNvSpPr>
          <p:nvPr/>
        </p:nvSpPr>
        <p:spPr>
          <a:xfrm>
            <a:off x="781050" y="1047750"/>
            <a:ext cx="7600950" cy="523875"/>
          </a:xfrm>
          <a:prstGeom prst="rect">
            <a:avLst/>
          </a:prstGeom>
          <a:noFill/>
          <a:ln w="0">
            <a:noFill/>
          </a:ln>
        </p:spPr>
        <p:txBody>
          <a:bodyPr wrap="square" lIns="0" tIns="0" rIns="0" bIns="0">
            <a:noAutofit/>
          </a:bodyPr>
          <a:lstStyle/>
          <a:p>
            <a:pPr>
              <a:defRPr sz="2175" b="0">
                <a:solidFill>
                  <a:srgbClr val="000000"/>
                </a:solidFill>
                <a:latin typeface="Cambria Math"/>
                <a:ea typeface="Cambria Math"/>
                <a:cs typeface="Cambria Math"/>
              </a:defRPr>
            </a:pPr>
            <a:r>
              <a:rPr sz="2175" b="0">
                <a:solidFill>
                  <a:srgbClr val="000000"/>
                </a:solidFill>
                <a:latin typeface="Cambria Math"/>
                <a:ea typeface="Cambria Math"/>
                <a:cs typeface="Cambria Math"/>
              </a:rPr>
              <a:t>P ← π</a:t>
            </a:r>
            <a:r>
              <a:rPr sz="1544" b="0" baseline="-25000">
                <a:solidFill>
                  <a:srgbClr val="000000"/>
                </a:solidFill>
                <a:latin typeface="Cambria Math"/>
                <a:ea typeface="Cambria Math"/>
                <a:cs typeface="Cambria Math"/>
              </a:rPr>
              <a:t>mid,tid</a:t>
            </a:r>
            <a:r>
              <a:rPr sz="2175" b="0">
                <a:solidFill>
                  <a:srgbClr val="000000"/>
                </a:solidFill>
                <a:latin typeface="Cambria Math"/>
                <a:ea typeface="Cambria Math"/>
                <a:cs typeface="Cambria Math"/>
              </a:rPr>
              <a:t>(Trained)</a:t>
            </a:r>
          </a:p>
        </p:txBody>
      </p:sp>
      <p:sp>
        <p:nvSpPr>
          <p:cNvPr id="4" name="body">
            <a:extLst>
              <a:ext uri="{FF2B5EF4-FFF2-40B4-BE49-F238E27FC236}">
                <a16:creationId xmlns:a16="http://schemas.microsoft.com/office/drawing/2014/main" id="{9DBA8BA2-3338-4EE1-A5A8-D3F93C5A9C9D}"/>
              </a:ext>
            </a:extLst>
          </p:cNvPr>
          <p:cNvSpPr>
            <a:spLocks noGrp="1"/>
          </p:cNvSpPr>
          <p:nvPr/>
        </p:nvSpPr>
        <p:spPr>
          <a:xfrm>
            <a:off x="866775" y="1924050"/>
            <a:ext cx="3048000" cy="361950"/>
          </a:xfrm>
          <a:prstGeom prst="rect">
            <a:avLst/>
          </a:prstGeom>
          <a:noFill/>
          <a:ln w="0">
            <a:noFill/>
          </a:ln>
        </p:spPr>
        <p:txBody>
          <a:bodyPr wrap="square" lIns="0" tIns="0" rIns="0" bIns="0">
            <a:noAutofit/>
          </a:bodyPr>
          <a:lstStyle/>
          <a:p>
            <a:pPr>
              <a:defRPr sz="2250" b="0">
                <a:solidFill>
                  <a:srgbClr val="000000"/>
                </a:solidFill>
                <a:latin typeface="Calibri"/>
                <a:ea typeface="Calibri"/>
                <a:cs typeface="Calibri"/>
              </a:defRPr>
            </a:pPr>
            <a:r>
              <a:rPr sz="2250" b="0">
                <a:solidFill>
                  <a:srgbClr val="000000"/>
                </a:solidFill>
                <a:latin typeface="Calibri"/>
                <a:ea typeface="Calibri"/>
                <a:cs typeface="Calibri"/>
              </a:rPr>
              <a:t>P</a:t>
            </a:r>
          </a:p>
        </p:txBody>
      </p:sp>
      <p:graphicFrame>
        <p:nvGraphicFramePr>
          <p:cNvPr id="13" name="表格 12"/>
          <p:cNvGraphicFramePr/>
          <p:nvPr/>
        </p:nvGraphicFramePr>
        <p:xfrm>
          <a:off x="942975" y="2343150"/>
          <a:ext cx="3048000" cy="2114550"/>
        </p:xfrm>
        <a:graphic>
          <a:graphicData uri="http://schemas.openxmlformats.org/drawingml/2006/table">
            <a:tbl>
              <a:tblPr/>
              <a:tblGrid>
                <a:gridCol w="1524000">
                  <a:extLst>
                    <a:ext uri="{9D8B030D-6E8A-4147-A177-3AD203B41FA5}">
                      <a16:colId xmlns:a16="http://schemas.microsoft.com/office/drawing/2014/main" val="20000"/>
                    </a:ext>
                  </a:extLst>
                </a:gridCol>
                <a:gridCol w="1524000">
                  <a:extLst>
                    <a:ext uri="{9D8B030D-6E8A-4147-A177-3AD203B41FA5}">
                      <a16:colId xmlns:a16="http://schemas.microsoft.com/office/drawing/2014/main" val="20001"/>
                    </a:ext>
                  </a:extLst>
                </a:gridCol>
              </a:tblGrid>
              <a:tr h="352425">
                <a:tc>
                  <a:txBody>
                    <a:bodyPr/>
                    <a:lstStyle/>
                    <a:p>
                      <a:pPr algn="ctr"/>
                      <a:r>
                        <a:rPr sz="1875">
                          <a:solidFill>
                            <a:srgbClr val="000000"/>
                          </a:solidFill>
                          <a:latin typeface="Calibri"/>
                          <a:ea typeface="Calibri"/>
                          <a:cs typeface="Calibri"/>
                        </a:rPr>
                        <a:t>mid</a:t>
                      </a:r>
                    </a:p>
                  </a:txBody>
                  <a:tcPr marL="47625" marR="47625" marT="28575" marB="28575" anchor="ctr">
                    <a:solidFill>
                      <a:srgbClr val="D9D9D9"/>
                    </a:solidFill>
                  </a:tcPr>
                </a:tc>
                <a:tc>
                  <a:txBody>
                    <a:bodyPr/>
                    <a:lstStyle/>
                    <a:p>
                      <a:pPr algn="ctr"/>
                      <a:r>
                        <a:rPr sz="1875">
                          <a:solidFill>
                            <a:srgbClr val="000000"/>
                          </a:solidFill>
                          <a:latin typeface="Calibri"/>
                          <a:ea typeface="Calibri"/>
                          <a:cs typeface="Calibri"/>
                        </a:rPr>
                        <a:t>tid</a:t>
                      </a:r>
                    </a:p>
                  </a:txBody>
                  <a:tcPr marL="47625" marR="47625" marT="28575" marB="28575" anchor="ctr">
                    <a:solidFill>
                      <a:srgbClr val="D9D9D9"/>
                    </a:solidFill>
                  </a:tcPr>
                </a:tc>
                <a:extLst>
                  <a:ext uri="{0D108BD9-81ED-4DB2-BD59-A6C34878D82A}">
                    <a16:rowId xmlns:a16="http://schemas.microsoft.com/office/drawing/2014/main" val="10000"/>
                  </a:ext>
                </a:extLst>
              </a:tr>
              <a:tr h="352425">
                <a:tc>
                  <a:txBody>
                    <a:bodyPr/>
                    <a:lstStyle/>
                    <a:p>
                      <a:pPr algn="ctr"/>
                      <a:r>
                        <a:rPr sz="1875">
                          <a:solidFill>
                            <a:srgbClr val="000000"/>
                          </a:solidFill>
                          <a:latin typeface="Calibri"/>
                          <a:ea typeface="Calibri"/>
                          <a:cs typeface="Calibri"/>
                        </a:rPr>
                        <a:t>M1</a:t>
                      </a:r>
                    </a:p>
                  </a:txBody>
                  <a:tcPr marL="47625" marR="47625" marT="28575" marB="28575" anchor="ctr">
                    <a:solidFill>
                      <a:srgbClr val="FFFFFF"/>
                    </a:solidFill>
                  </a:tcPr>
                </a:tc>
                <a:tc>
                  <a:txBody>
                    <a:bodyPr/>
                    <a:lstStyle/>
                    <a:p>
                      <a:pPr algn="ctr"/>
                      <a:r>
                        <a:rPr sz="1875">
                          <a:solidFill>
                            <a:srgbClr val="000000"/>
                          </a:solidFill>
                          <a:latin typeface="Calibri"/>
                          <a:ea typeface="Calibri"/>
                          <a:cs typeface="Calibri"/>
                        </a:rPr>
                        <a:t>T1</a:t>
                      </a:r>
                    </a:p>
                  </a:txBody>
                  <a:tcPr marL="47625" marR="47625" marT="28575" marB="28575" anchor="ctr">
                    <a:solidFill>
                      <a:srgbClr val="FFFFFF"/>
                    </a:solidFill>
                  </a:tcPr>
                </a:tc>
                <a:extLst>
                  <a:ext uri="{0D108BD9-81ED-4DB2-BD59-A6C34878D82A}">
                    <a16:rowId xmlns:a16="http://schemas.microsoft.com/office/drawing/2014/main" val="10001"/>
                  </a:ext>
                </a:extLst>
              </a:tr>
              <a:tr h="352425">
                <a:tc>
                  <a:txBody>
                    <a:bodyPr/>
                    <a:lstStyle/>
                    <a:p>
                      <a:pPr algn="ctr"/>
                      <a:r>
                        <a:rPr sz="1875">
                          <a:solidFill>
                            <a:srgbClr val="000000"/>
                          </a:solidFill>
                          <a:latin typeface="Calibri"/>
                          <a:ea typeface="Calibri"/>
                          <a:cs typeface="Calibri"/>
                        </a:rPr>
                        <a:t>M2</a:t>
                      </a:r>
                    </a:p>
                  </a:txBody>
                  <a:tcPr marL="47625" marR="47625" marT="28575" marB="28575" anchor="ctr">
                    <a:solidFill>
                      <a:srgbClr val="FFFFFF"/>
                    </a:solidFill>
                  </a:tcPr>
                </a:tc>
                <a:tc>
                  <a:txBody>
                    <a:bodyPr/>
                    <a:lstStyle/>
                    <a:p>
                      <a:pPr algn="ctr"/>
                      <a:r>
                        <a:rPr sz="1875">
                          <a:solidFill>
                            <a:srgbClr val="000000"/>
                          </a:solidFill>
                          <a:latin typeface="Calibri"/>
                          <a:ea typeface="Calibri"/>
                          <a:cs typeface="Calibri"/>
                        </a:rPr>
                        <a:t>T1</a:t>
                      </a:r>
                    </a:p>
                  </a:txBody>
                  <a:tcPr marL="47625" marR="47625" marT="28575" marB="28575" anchor="ctr">
                    <a:solidFill>
                      <a:srgbClr val="FFFFFF"/>
                    </a:solidFill>
                  </a:tcPr>
                </a:tc>
                <a:extLst>
                  <a:ext uri="{0D108BD9-81ED-4DB2-BD59-A6C34878D82A}">
                    <a16:rowId xmlns:a16="http://schemas.microsoft.com/office/drawing/2014/main" val="10002"/>
                  </a:ext>
                </a:extLst>
              </a:tr>
              <a:tr h="352425">
                <a:tc>
                  <a:txBody>
                    <a:bodyPr/>
                    <a:lstStyle/>
                    <a:p>
                      <a:pPr algn="ctr"/>
                      <a:r>
                        <a:rPr sz="1875">
                          <a:solidFill>
                            <a:srgbClr val="000000"/>
                          </a:solidFill>
                          <a:latin typeface="Calibri"/>
                          <a:ea typeface="Calibri"/>
                          <a:cs typeface="Calibri"/>
                        </a:rPr>
                        <a:t>M2</a:t>
                      </a:r>
                    </a:p>
                  </a:txBody>
                  <a:tcPr marL="47625" marR="47625" marT="28575" marB="28575" anchor="ctr">
                    <a:solidFill>
                      <a:srgbClr val="FFFFFF"/>
                    </a:solidFill>
                  </a:tcPr>
                </a:tc>
                <a:tc>
                  <a:txBody>
                    <a:bodyPr/>
                    <a:lstStyle/>
                    <a:p>
                      <a:pPr algn="ctr"/>
                      <a:r>
                        <a:rPr sz="1875">
                          <a:solidFill>
                            <a:srgbClr val="000000"/>
                          </a:solidFill>
                          <a:latin typeface="Calibri"/>
                          <a:ea typeface="Calibri"/>
                          <a:cs typeface="Calibri"/>
                        </a:rPr>
                        <a:t>T2</a:t>
                      </a:r>
                    </a:p>
                  </a:txBody>
                  <a:tcPr marL="47625" marR="47625" marT="28575" marB="28575" anchor="ctr">
                    <a:solidFill>
                      <a:srgbClr val="FFFFFF"/>
                    </a:solidFill>
                  </a:tcPr>
                </a:tc>
                <a:extLst>
                  <a:ext uri="{0D108BD9-81ED-4DB2-BD59-A6C34878D82A}">
                    <a16:rowId xmlns:a16="http://schemas.microsoft.com/office/drawing/2014/main" val="10003"/>
                  </a:ext>
                </a:extLst>
              </a:tr>
              <a:tr h="352425">
                <a:tc>
                  <a:txBody>
                    <a:bodyPr/>
                    <a:lstStyle/>
                    <a:p>
                      <a:pPr algn="ctr"/>
                      <a:r>
                        <a:rPr sz="1875">
                          <a:solidFill>
                            <a:srgbClr val="000000"/>
                          </a:solidFill>
                          <a:latin typeface="Calibri"/>
                          <a:ea typeface="Calibri"/>
                          <a:cs typeface="Calibri"/>
                        </a:rPr>
                        <a:t>M2</a:t>
                      </a:r>
                    </a:p>
                  </a:txBody>
                  <a:tcPr marL="47625" marR="47625" marT="28575" marB="28575" anchor="ctr">
                    <a:solidFill>
                      <a:srgbClr val="FFFFFF"/>
                    </a:solidFill>
                  </a:tcPr>
                </a:tc>
                <a:tc>
                  <a:txBody>
                    <a:bodyPr/>
                    <a:lstStyle/>
                    <a:p>
                      <a:pPr algn="ctr"/>
                      <a:r>
                        <a:rPr sz="1875">
                          <a:solidFill>
                            <a:srgbClr val="000000"/>
                          </a:solidFill>
                          <a:latin typeface="Calibri"/>
                          <a:ea typeface="Calibri"/>
                          <a:cs typeface="Calibri"/>
                        </a:rPr>
                        <a:t>T3</a:t>
                      </a:r>
                    </a:p>
                  </a:txBody>
                  <a:tcPr marL="47625" marR="47625" marT="28575" marB="28575" anchor="ctr">
                    <a:solidFill>
                      <a:srgbClr val="FFFFFF"/>
                    </a:solidFill>
                  </a:tcPr>
                </a:tc>
                <a:extLst>
                  <a:ext uri="{0D108BD9-81ED-4DB2-BD59-A6C34878D82A}">
                    <a16:rowId xmlns:a16="http://schemas.microsoft.com/office/drawing/2014/main" val="10004"/>
                  </a:ext>
                </a:extLst>
              </a:tr>
              <a:tr h="352425">
                <a:tc>
                  <a:txBody>
                    <a:bodyPr/>
                    <a:lstStyle/>
                    <a:p>
                      <a:pPr algn="ctr"/>
                      <a:r>
                        <a:rPr sz="1875">
                          <a:solidFill>
                            <a:srgbClr val="000000"/>
                          </a:solidFill>
                          <a:latin typeface="Calibri"/>
                          <a:ea typeface="Calibri"/>
                          <a:cs typeface="Calibri"/>
                        </a:rPr>
                        <a:t>M3</a:t>
                      </a:r>
                    </a:p>
                  </a:txBody>
                  <a:tcPr marL="47625" marR="47625" marT="28575" marB="28575" anchor="ctr">
                    <a:solidFill>
                      <a:srgbClr val="FFFFFF"/>
                    </a:solidFill>
                  </a:tcPr>
                </a:tc>
                <a:tc>
                  <a:txBody>
                    <a:bodyPr/>
                    <a:lstStyle/>
                    <a:p>
                      <a:pPr algn="ctr"/>
                      <a:r>
                        <a:rPr sz="1875">
                          <a:solidFill>
                            <a:srgbClr val="000000"/>
                          </a:solidFill>
                          <a:latin typeface="Calibri"/>
                          <a:ea typeface="Calibri"/>
                          <a:cs typeface="Calibri"/>
                        </a:rPr>
                        <a:t>T2</a:t>
                      </a:r>
                    </a:p>
                  </a:txBody>
                  <a:tcPr marL="47625" marR="47625" marT="28575" marB="28575" anchor="ctr">
                    <a:solidFill>
                      <a:srgbClr val="FFFFFF"/>
                    </a:solidFill>
                  </a:tcPr>
                </a:tc>
                <a:extLst>
                  <a:ext uri="{0D108BD9-81ED-4DB2-BD59-A6C34878D82A}">
                    <a16:rowId xmlns:a16="http://schemas.microsoft.com/office/drawing/2014/main" val="10005"/>
                  </a:ext>
                </a:extLst>
              </a:tr>
            </a:tbl>
          </a:graphicData>
        </a:graphic>
      </p:graphicFrame>
      <p:sp>
        <p:nvSpPr>
          <p:cNvPr id="6" name="body">
            <a:extLst>
              <a:ext uri="{FF2B5EF4-FFF2-40B4-BE49-F238E27FC236}">
                <a16:creationId xmlns:a16="http://schemas.microsoft.com/office/drawing/2014/main" id="{7C219807-DD71-433A-BE67-19B90BE811D4}"/>
              </a:ext>
            </a:extLst>
          </p:cNvPr>
          <p:cNvSpPr>
            <a:spLocks noGrp="1"/>
          </p:cNvSpPr>
          <p:nvPr/>
        </p:nvSpPr>
        <p:spPr>
          <a:xfrm>
            <a:off x="4533900" y="2066925"/>
            <a:ext cx="3552825" cy="1000125"/>
          </a:xfrm>
          <a:prstGeom prst="rect">
            <a:avLst/>
          </a:prstGeom>
          <a:noFill/>
          <a:ln w="0">
            <a:noFill/>
          </a:ln>
        </p:spPr>
        <p:txBody>
          <a:bodyPr wrap="square" lIns="0" tIns="0" rIns="0" bIns="0">
            <a:noAutofit/>
          </a:bodyPr>
          <a:lstStyle/>
          <a:p>
            <a:pPr>
              <a:defRPr sz="2175" b="0">
                <a:solidFill>
                  <a:srgbClr val="FF0000"/>
                </a:solidFill>
                <a:latin typeface="Calibri"/>
                <a:ea typeface="Calibri"/>
                <a:cs typeface="Calibri"/>
              </a:defRPr>
            </a:pPr>
            <a:r>
              <a:rPr sz="2175" b="0">
                <a:solidFill>
                  <a:srgbClr val="FF0000"/>
                </a:solidFill>
                <a:latin typeface="Calibri"/>
                <a:ea typeface="Calibri"/>
                <a:cs typeface="Calibri"/>
              </a:rPr>
              <a:t>M1 has two sessions but only one distinct tool.</a:t>
            </a:r>
          </a:p>
        </p:txBody>
      </p:sp>
      <p:sp>
        <p:nvSpPr>
          <p:cNvPr id="7" name="formula">
            <a:extLst>
              <a:ext uri="{FF2B5EF4-FFF2-40B4-BE49-F238E27FC236}">
                <a16:creationId xmlns:a16="http://schemas.microsoft.com/office/drawing/2014/main" id="{227BE78D-890C-4418-945F-CEC5CCCFBABC}"/>
              </a:ext>
            </a:extLst>
          </p:cNvPr>
          <p:cNvSpPr>
            <a:spLocks noGrp="1"/>
          </p:cNvSpPr>
          <p:nvPr/>
        </p:nvSpPr>
        <p:spPr>
          <a:xfrm>
            <a:off x="781050" y="4552950"/>
            <a:ext cx="7620000" cy="523875"/>
          </a:xfrm>
          <a:prstGeom prst="rect">
            <a:avLst/>
          </a:prstGeom>
          <a:noFill/>
          <a:ln w="0">
            <a:noFill/>
          </a:ln>
        </p:spPr>
        <p:txBody>
          <a:bodyPr wrap="square" lIns="0" tIns="0" rIns="0" bIns="0">
            <a:noAutofit/>
          </a:bodyPr>
          <a:lstStyle/>
          <a:p>
            <a:pPr>
              <a:defRPr sz="2025" b="0">
                <a:solidFill>
                  <a:srgbClr val="000000"/>
                </a:solidFill>
                <a:latin typeface="Cambria Math"/>
                <a:ea typeface="Cambria Math"/>
                <a:cs typeface="Cambria Math"/>
              </a:defRPr>
            </a:pPr>
            <a:r>
              <a:rPr sz="2025" b="0">
                <a:solidFill>
                  <a:srgbClr val="000000"/>
                </a:solidFill>
                <a:latin typeface="Cambria Math"/>
                <a:ea typeface="Cambria Math"/>
                <a:cs typeface="Cambria Math"/>
              </a:rPr>
              <a:t>A ← ρ (A(mid → a_mid, tid → a_tid), P)</a:t>
            </a:r>
          </a:p>
        </p:txBody>
      </p:sp>
      <p:sp>
        <p:nvSpPr>
          <p:cNvPr id="8" name="formula">
            <a:extLst>
              <a:ext uri="{FF2B5EF4-FFF2-40B4-BE49-F238E27FC236}">
                <a16:creationId xmlns:a16="http://schemas.microsoft.com/office/drawing/2014/main" id="{D93592DF-D15B-4CC0-AA57-5DC3E18DE1BA}"/>
              </a:ext>
            </a:extLst>
          </p:cNvPr>
          <p:cNvSpPr>
            <a:spLocks noGrp="1"/>
          </p:cNvSpPr>
          <p:nvPr/>
        </p:nvSpPr>
        <p:spPr>
          <a:xfrm>
            <a:off x="781050" y="5229225"/>
            <a:ext cx="7620000" cy="523875"/>
          </a:xfrm>
          <a:prstGeom prst="rect">
            <a:avLst/>
          </a:prstGeom>
          <a:noFill/>
          <a:ln w="0">
            <a:noFill/>
          </a:ln>
        </p:spPr>
        <p:txBody>
          <a:bodyPr wrap="square" lIns="0" tIns="0" rIns="0" bIns="0">
            <a:noAutofit/>
          </a:bodyPr>
          <a:lstStyle/>
          <a:p>
            <a:pPr>
              <a:defRPr sz="2025" b="0">
                <a:solidFill>
                  <a:srgbClr val="000000"/>
                </a:solidFill>
                <a:latin typeface="Cambria Math"/>
                <a:ea typeface="Cambria Math"/>
                <a:cs typeface="Cambria Math"/>
              </a:defRPr>
            </a:pPr>
            <a:r>
              <a:rPr sz="2025" b="0">
                <a:solidFill>
                  <a:srgbClr val="000000"/>
                </a:solidFill>
                <a:latin typeface="Cambria Math"/>
                <a:ea typeface="Cambria Math"/>
                <a:cs typeface="Cambria Math"/>
              </a:rPr>
              <a:t>B ← ρ (B(mid → b_mid, tid → b_tid), P)</a:t>
            </a:r>
          </a:p>
        </p:txBody>
      </p:sp>
      <p:sp>
        <p:nvSpPr>
          <p:cNvPr id="9001" name="Title 1">
            <a:extLst>
              <a:ext uri="{FF2B5EF4-FFF2-40B4-BE49-F238E27FC236}">
                <a16:creationId xmlns:a16="http://schemas.microsoft.com/office/drawing/2014/main" id="{4EF27E5C-9C4D-BDBE-7667-D0B141BCC8F5}"/>
              </a:ext>
            </a:extLst>
          </p:cNvPr>
          <p:cNvSpPr>
            <a:spLocks noGrp="1"/>
          </p:cNvSpPr>
          <p:nvPr>
            <p:ph type="title"/>
          </p:nvPr>
        </p:nvSpPr>
        <p:spPr/>
        <p:txBody>
          <a:bodyPr/>
          <a:lstStyle/>
          <a:p>
            <a:r>
              <a:rPr lang="en-US">
                <a:solidFill>
                  <a:srgbClr val="FF0000"/>
                </a:solidFill>
              </a:rPr>
              <a:t>Solutions: </a:t>
            </a:r>
            <a:r>
              <a:rPr lang="en-US">
                <a:solidFill>
                  <a:srgbClr val="3333CC"/>
                </a:solidFill>
              </a:rPr>
              <a:t>Q30 (1)</a:t>
            </a:r>
          </a:p>
        </p:txBody>
      </p:sp>
      <p:sp>
        <p:nvSpPr>
          <p:cNvPr id="9002" name="Slide Number Placeholder 1">
            <a:extLst>
              <a:ext uri="{FF2B5EF4-FFF2-40B4-BE49-F238E27FC236}">
                <a16:creationId xmlns:a16="http://schemas.microsoft.com/office/drawing/2014/main" id="{B90139AC-3BDA-723A-097A-000DA0A784C1}"/>
              </a:ext>
            </a:extLst>
          </p:cNvPr>
          <p:cNvSpPr>
            <a:spLocks noGrp="1"/>
          </p:cNvSpPr>
          <p:nvPr>
            <p:ph type="sldNum" sz="quarter" idx="12"/>
          </p:nvPr>
        </p:nvSpPr>
        <p:spPr/>
        <p:txBody>
          <a:bodyPr/>
          <a:lstStyle/>
          <a:p>
            <a:pPr>
              <a:defRPr/>
            </a:pPr>
            <a:fld id="{43CA101F-9E5F-9249-9862-3CE55B3BB777}" type="slidenum">
              <a:rPr lang="en-US" altLang="zh-TW" smtClean="0"/>
              <a:pPr>
                <a:defRPr/>
              </a:pPr>
              <a:t>82</a:t>
            </a:fld>
            <a:endParaRPr lang="en-US" altLang="zh-TW"/>
          </a:p>
        </p:txBody>
      </p:sp>
    </p:spTree>
    <p:extLst>
      <p:ext uri="{BB962C8B-B14F-4D97-AF65-F5344CB8AC3E}">
        <p14:creationId xmlns:p14="http://schemas.microsoft.com/office/powerpoint/2010/main" val="250276416"/>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formula">
            <a:extLst>
              <a:ext uri="{FF2B5EF4-FFF2-40B4-BE49-F238E27FC236}">
                <a16:creationId xmlns:a16="http://schemas.microsoft.com/office/drawing/2014/main" id="{8A806938-60C1-4C26-AB5D-1653B1395A7D}"/>
              </a:ext>
            </a:extLst>
          </p:cNvPr>
          <p:cNvSpPr>
            <a:spLocks noGrp="1"/>
          </p:cNvSpPr>
          <p:nvPr/>
        </p:nvSpPr>
        <p:spPr>
          <a:xfrm>
            <a:off x="781050" y="1066800"/>
            <a:ext cx="7620000" cy="523875"/>
          </a:xfrm>
          <a:prstGeom prst="rect">
            <a:avLst/>
          </a:prstGeom>
          <a:noFill/>
          <a:ln w="0">
            <a:noFill/>
          </a:ln>
        </p:spPr>
        <p:txBody>
          <a:bodyPr wrap="square" lIns="0" tIns="0" rIns="0" bIns="0">
            <a:noAutofit/>
          </a:bodyPr>
          <a:lstStyle/>
          <a:p>
            <a:pPr>
              <a:defRPr sz="2175" b="0">
                <a:solidFill>
                  <a:srgbClr val="000000"/>
                </a:solidFill>
                <a:latin typeface="Cambria Math"/>
                <a:ea typeface="Cambria Math"/>
                <a:cs typeface="Cambria Math"/>
              </a:defRPr>
            </a:pPr>
            <a:r>
              <a:rPr sz="2175" b="0">
                <a:solidFill>
                  <a:srgbClr val="000000"/>
                </a:solidFill>
                <a:latin typeface="Cambria Math"/>
                <a:ea typeface="Cambria Math"/>
                <a:cs typeface="Cambria Math"/>
              </a:rPr>
              <a:t>D ← σ</a:t>
            </a:r>
            <a:r>
              <a:rPr sz="1544" b="0" baseline="-25000">
                <a:solidFill>
                  <a:srgbClr val="000000"/>
                </a:solidFill>
                <a:latin typeface="Cambria Math"/>
                <a:ea typeface="Cambria Math"/>
                <a:cs typeface="Cambria Math"/>
              </a:rPr>
              <a:t>a_mid=b_mid ∧ a_tid≠b_tid</a:t>
            </a:r>
            <a:r>
              <a:rPr sz="2175" b="0">
                <a:solidFill>
                  <a:srgbClr val="000000"/>
                </a:solidFill>
                <a:latin typeface="Cambria Math"/>
                <a:ea typeface="Cambria Math"/>
                <a:cs typeface="Cambria Math"/>
              </a:rPr>
              <a:t>(A × B)</a:t>
            </a:r>
          </a:p>
        </p:txBody>
      </p:sp>
      <p:sp>
        <p:nvSpPr>
          <p:cNvPr id="4" name="body">
            <a:extLst>
              <a:ext uri="{FF2B5EF4-FFF2-40B4-BE49-F238E27FC236}">
                <a16:creationId xmlns:a16="http://schemas.microsoft.com/office/drawing/2014/main" id="{A232C899-9BDB-4B24-88A5-FB8566225FD8}"/>
              </a:ext>
            </a:extLst>
          </p:cNvPr>
          <p:cNvSpPr>
            <a:spLocks noGrp="1"/>
          </p:cNvSpPr>
          <p:nvPr/>
        </p:nvSpPr>
        <p:spPr>
          <a:xfrm>
            <a:off x="1190625" y="1914525"/>
            <a:ext cx="6610350" cy="361950"/>
          </a:xfrm>
          <a:prstGeom prst="rect">
            <a:avLst/>
          </a:prstGeom>
          <a:noFill/>
          <a:ln w="0">
            <a:noFill/>
          </a:ln>
        </p:spPr>
        <p:txBody>
          <a:bodyPr wrap="square" lIns="0" tIns="0" rIns="0" bIns="0">
            <a:noAutofit/>
          </a:bodyPr>
          <a:lstStyle/>
          <a:p>
            <a:pPr>
              <a:defRPr sz="2250" b="0">
                <a:solidFill>
                  <a:srgbClr val="000000"/>
                </a:solidFill>
                <a:latin typeface="Calibri"/>
                <a:ea typeface="Calibri"/>
                <a:cs typeface="Calibri"/>
              </a:defRPr>
            </a:pPr>
            <a:r>
              <a:rPr sz="2250" b="0">
                <a:solidFill>
                  <a:srgbClr val="000000"/>
                </a:solidFill>
                <a:latin typeface="Calibri"/>
                <a:ea typeface="Calibri"/>
                <a:cs typeface="Calibri"/>
              </a:rPr>
              <a:t>D</a:t>
            </a:r>
          </a:p>
        </p:txBody>
      </p:sp>
      <p:graphicFrame>
        <p:nvGraphicFramePr>
          <p:cNvPr id="11" name="表格 10"/>
          <p:cNvGraphicFramePr/>
          <p:nvPr/>
        </p:nvGraphicFramePr>
        <p:xfrm>
          <a:off x="1266825" y="2333625"/>
          <a:ext cx="6610352" cy="2667000"/>
        </p:xfrm>
        <a:graphic>
          <a:graphicData uri="http://schemas.openxmlformats.org/drawingml/2006/table">
            <a:tbl>
              <a:tblPr/>
              <a:tblGrid>
                <a:gridCol w="1652588">
                  <a:extLst>
                    <a:ext uri="{9D8B030D-6E8A-4147-A177-3AD203B41FA5}">
                      <a16:colId xmlns:a16="http://schemas.microsoft.com/office/drawing/2014/main" val="20000"/>
                    </a:ext>
                  </a:extLst>
                </a:gridCol>
                <a:gridCol w="1652588">
                  <a:extLst>
                    <a:ext uri="{9D8B030D-6E8A-4147-A177-3AD203B41FA5}">
                      <a16:colId xmlns:a16="http://schemas.microsoft.com/office/drawing/2014/main" val="20001"/>
                    </a:ext>
                  </a:extLst>
                </a:gridCol>
                <a:gridCol w="1652588">
                  <a:extLst>
                    <a:ext uri="{9D8B030D-6E8A-4147-A177-3AD203B41FA5}">
                      <a16:colId xmlns:a16="http://schemas.microsoft.com/office/drawing/2014/main" val="20002"/>
                    </a:ext>
                  </a:extLst>
                </a:gridCol>
                <a:gridCol w="1652588">
                  <a:extLst>
                    <a:ext uri="{9D8B030D-6E8A-4147-A177-3AD203B41FA5}">
                      <a16:colId xmlns:a16="http://schemas.microsoft.com/office/drawing/2014/main" val="20003"/>
                    </a:ext>
                  </a:extLst>
                </a:gridCol>
              </a:tblGrid>
              <a:tr h="381000">
                <a:tc>
                  <a:txBody>
                    <a:bodyPr/>
                    <a:lstStyle/>
                    <a:p>
                      <a:pPr algn="ctr"/>
                      <a:r>
                        <a:rPr sz="1875">
                          <a:solidFill>
                            <a:srgbClr val="000000"/>
                          </a:solidFill>
                          <a:latin typeface="Calibri"/>
                          <a:ea typeface="Calibri"/>
                          <a:cs typeface="Calibri"/>
                        </a:rPr>
                        <a:t>a_mid</a:t>
                      </a:r>
                    </a:p>
                  </a:txBody>
                  <a:tcPr marL="47625" marR="47625" marT="28575" marB="28575" anchor="ctr">
                    <a:solidFill>
                      <a:srgbClr val="D9D9D9"/>
                    </a:solidFill>
                  </a:tcPr>
                </a:tc>
                <a:tc>
                  <a:txBody>
                    <a:bodyPr/>
                    <a:lstStyle/>
                    <a:p>
                      <a:pPr algn="ctr"/>
                      <a:r>
                        <a:rPr sz="1875">
                          <a:solidFill>
                            <a:srgbClr val="000000"/>
                          </a:solidFill>
                          <a:latin typeface="Calibri"/>
                          <a:ea typeface="Calibri"/>
                          <a:cs typeface="Calibri"/>
                        </a:rPr>
                        <a:t>a_tid</a:t>
                      </a:r>
                    </a:p>
                  </a:txBody>
                  <a:tcPr marL="47625" marR="47625" marT="28575" marB="28575" anchor="ctr">
                    <a:solidFill>
                      <a:srgbClr val="D9D9D9"/>
                    </a:solidFill>
                  </a:tcPr>
                </a:tc>
                <a:tc>
                  <a:txBody>
                    <a:bodyPr/>
                    <a:lstStyle/>
                    <a:p>
                      <a:pPr algn="ctr"/>
                      <a:r>
                        <a:rPr sz="1875">
                          <a:solidFill>
                            <a:srgbClr val="000000"/>
                          </a:solidFill>
                          <a:latin typeface="Calibri"/>
                          <a:ea typeface="Calibri"/>
                          <a:cs typeface="Calibri"/>
                        </a:rPr>
                        <a:t>b_mid</a:t>
                      </a:r>
                    </a:p>
                  </a:txBody>
                  <a:tcPr marL="47625" marR="47625" marT="28575" marB="28575" anchor="ctr">
                    <a:solidFill>
                      <a:srgbClr val="D9D9D9"/>
                    </a:solidFill>
                  </a:tcPr>
                </a:tc>
                <a:tc>
                  <a:txBody>
                    <a:bodyPr/>
                    <a:lstStyle/>
                    <a:p>
                      <a:pPr algn="ctr"/>
                      <a:r>
                        <a:rPr sz="1875">
                          <a:solidFill>
                            <a:srgbClr val="000000"/>
                          </a:solidFill>
                          <a:latin typeface="Calibri"/>
                          <a:ea typeface="Calibri"/>
                          <a:cs typeface="Calibri"/>
                        </a:rPr>
                        <a:t>b_tid</a:t>
                      </a:r>
                    </a:p>
                  </a:txBody>
                  <a:tcPr marL="47625" marR="47625" marT="28575" marB="28575" anchor="ctr">
                    <a:solidFill>
                      <a:srgbClr val="D9D9D9"/>
                    </a:solidFill>
                  </a:tcPr>
                </a:tc>
                <a:extLst>
                  <a:ext uri="{0D108BD9-81ED-4DB2-BD59-A6C34878D82A}">
                    <a16:rowId xmlns:a16="http://schemas.microsoft.com/office/drawing/2014/main" val="10000"/>
                  </a:ext>
                </a:extLst>
              </a:tr>
              <a:tr h="381000">
                <a:tc>
                  <a:txBody>
                    <a:bodyPr/>
                    <a:lstStyle/>
                    <a:p>
                      <a:pPr algn="ctr"/>
                      <a:r>
                        <a:rPr sz="1875">
                          <a:solidFill>
                            <a:srgbClr val="000000"/>
                          </a:solidFill>
                          <a:latin typeface="Calibri"/>
                          <a:ea typeface="Calibri"/>
                          <a:cs typeface="Calibri"/>
                        </a:rPr>
                        <a:t>M2</a:t>
                      </a:r>
                    </a:p>
                  </a:txBody>
                  <a:tcPr marL="47625" marR="47625" marT="28575" marB="28575" anchor="ctr">
                    <a:solidFill>
                      <a:srgbClr val="FFFFFF"/>
                    </a:solidFill>
                  </a:tcPr>
                </a:tc>
                <a:tc>
                  <a:txBody>
                    <a:bodyPr/>
                    <a:lstStyle/>
                    <a:p>
                      <a:pPr algn="ctr"/>
                      <a:r>
                        <a:rPr sz="1875">
                          <a:solidFill>
                            <a:srgbClr val="000000"/>
                          </a:solidFill>
                          <a:latin typeface="Calibri"/>
                          <a:ea typeface="Calibri"/>
                          <a:cs typeface="Calibri"/>
                        </a:rPr>
                        <a:t>T1</a:t>
                      </a:r>
                    </a:p>
                  </a:txBody>
                  <a:tcPr marL="47625" marR="47625" marT="28575" marB="28575" anchor="ctr">
                    <a:solidFill>
                      <a:srgbClr val="FFFFFF"/>
                    </a:solidFill>
                  </a:tcPr>
                </a:tc>
                <a:tc>
                  <a:txBody>
                    <a:bodyPr/>
                    <a:lstStyle/>
                    <a:p>
                      <a:pPr algn="ctr"/>
                      <a:r>
                        <a:rPr sz="1875">
                          <a:solidFill>
                            <a:srgbClr val="000000"/>
                          </a:solidFill>
                          <a:latin typeface="Calibri"/>
                          <a:ea typeface="Calibri"/>
                          <a:cs typeface="Calibri"/>
                        </a:rPr>
                        <a:t>M2</a:t>
                      </a:r>
                    </a:p>
                  </a:txBody>
                  <a:tcPr marL="47625" marR="47625" marT="28575" marB="28575" anchor="ctr">
                    <a:solidFill>
                      <a:srgbClr val="FFFFFF"/>
                    </a:solidFill>
                  </a:tcPr>
                </a:tc>
                <a:tc>
                  <a:txBody>
                    <a:bodyPr/>
                    <a:lstStyle/>
                    <a:p>
                      <a:pPr algn="ctr"/>
                      <a:r>
                        <a:rPr sz="1875">
                          <a:solidFill>
                            <a:srgbClr val="000000"/>
                          </a:solidFill>
                          <a:latin typeface="Calibri"/>
                          <a:ea typeface="Calibri"/>
                          <a:cs typeface="Calibri"/>
                        </a:rPr>
                        <a:t>T2</a:t>
                      </a:r>
                    </a:p>
                  </a:txBody>
                  <a:tcPr marL="47625" marR="47625" marT="28575" marB="28575" anchor="ctr">
                    <a:solidFill>
                      <a:srgbClr val="FFFFFF"/>
                    </a:solidFill>
                  </a:tcPr>
                </a:tc>
                <a:extLst>
                  <a:ext uri="{0D108BD9-81ED-4DB2-BD59-A6C34878D82A}">
                    <a16:rowId xmlns:a16="http://schemas.microsoft.com/office/drawing/2014/main" val="10001"/>
                  </a:ext>
                </a:extLst>
              </a:tr>
              <a:tr h="381000">
                <a:tc>
                  <a:txBody>
                    <a:bodyPr/>
                    <a:lstStyle/>
                    <a:p>
                      <a:pPr algn="ctr"/>
                      <a:r>
                        <a:rPr sz="1875">
                          <a:solidFill>
                            <a:srgbClr val="000000"/>
                          </a:solidFill>
                          <a:latin typeface="Calibri"/>
                          <a:ea typeface="Calibri"/>
                          <a:cs typeface="Calibri"/>
                        </a:rPr>
                        <a:t>M2</a:t>
                      </a:r>
                    </a:p>
                  </a:txBody>
                  <a:tcPr marL="47625" marR="47625" marT="28575" marB="28575" anchor="ctr">
                    <a:solidFill>
                      <a:srgbClr val="FFFFFF"/>
                    </a:solidFill>
                  </a:tcPr>
                </a:tc>
                <a:tc>
                  <a:txBody>
                    <a:bodyPr/>
                    <a:lstStyle/>
                    <a:p>
                      <a:pPr algn="ctr"/>
                      <a:r>
                        <a:rPr sz="1875">
                          <a:solidFill>
                            <a:srgbClr val="000000"/>
                          </a:solidFill>
                          <a:latin typeface="Calibri"/>
                          <a:ea typeface="Calibri"/>
                          <a:cs typeface="Calibri"/>
                        </a:rPr>
                        <a:t>T1</a:t>
                      </a:r>
                    </a:p>
                  </a:txBody>
                  <a:tcPr marL="47625" marR="47625" marT="28575" marB="28575" anchor="ctr">
                    <a:solidFill>
                      <a:srgbClr val="FFFFFF"/>
                    </a:solidFill>
                  </a:tcPr>
                </a:tc>
                <a:tc>
                  <a:txBody>
                    <a:bodyPr/>
                    <a:lstStyle/>
                    <a:p>
                      <a:pPr algn="ctr"/>
                      <a:r>
                        <a:rPr sz="1875">
                          <a:solidFill>
                            <a:srgbClr val="000000"/>
                          </a:solidFill>
                          <a:latin typeface="Calibri"/>
                          <a:ea typeface="Calibri"/>
                          <a:cs typeface="Calibri"/>
                        </a:rPr>
                        <a:t>M2</a:t>
                      </a:r>
                    </a:p>
                  </a:txBody>
                  <a:tcPr marL="47625" marR="47625" marT="28575" marB="28575" anchor="ctr">
                    <a:solidFill>
                      <a:srgbClr val="FFFFFF"/>
                    </a:solidFill>
                  </a:tcPr>
                </a:tc>
                <a:tc>
                  <a:txBody>
                    <a:bodyPr/>
                    <a:lstStyle/>
                    <a:p>
                      <a:pPr algn="ctr"/>
                      <a:r>
                        <a:rPr sz="1875">
                          <a:solidFill>
                            <a:srgbClr val="000000"/>
                          </a:solidFill>
                          <a:latin typeface="Calibri"/>
                          <a:ea typeface="Calibri"/>
                          <a:cs typeface="Calibri"/>
                        </a:rPr>
                        <a:t>T3</a:t>
                      </a:r>
                    </a:p>
                  </a:txBody>
                  <a:tcPr marL="47625" marR="47625" marT="28575" marB="28575" anchor="ctr">
                    <a:solidFill>
                      <a:srgbClr val="FFFFFF"/>
                    </a:solidFill>
                  </a:tcPr>
                </a:tc>
                <a:extLst>
                  <a:ext uri="{0D108BD9-81ED-4DB2-BD59-A6C34878D82A}">
                    <a16:rowId xmlns:a16="http://schemas.microsoft.com/office/drawing/2014/main" val="10002"/>
                  </a:ext>
                </a:extLst>
              </a:tr>
              <a:tr h="381000">
                <a:tc>
                  <a:txBody>
                    <a:bodyPr/>
                    <a:lstStyle/>
                    <a:p>
                      <a:pPr algn="ctr"/>
                      <a:r>
                        <a:rPr sz="1875">
                          <a:solidFill>
                            <a:srgbClr val="000000"/>
                          </a:solidFill>
                          <a:latin typeface="Calibri"/>
                          <a:ea typeface="Calibri"/>
                          <a:cs typeface="Calibri"/>
                        </a:rPr>
                        <a:t>M2</a:t>
                      </a:r>
                    </a:p>
                  </a:txBody>
                  <a:tcPr marL="47625" marR="47625" marT="28575" marB="28575" anchor="ctr">
                    <a:solidFill>
                      <a:srgbClr val="FFFFFF"/>
                    </a:solidFill>
                  </a:tcPr>
                </a:tc>
                <a:tc>
                  <a:txBody>
                    <a:bodyPr/>
                    <a:lstStyle/>
                    <a:p>
                      <a:pPr algn="ctr"/>
                      <a:r>
                        <a:rPr sz="1875">
                          <a:solidFill>
                            <a:srgbClr val="000000"/>
                          </a:solidFill>
                          <a:latin typeface="Calibri"/>
                          <a:ea typeface="Calibri"/>
                          <a:cs typeface="Calibri"/>
                        </a:rPr>
                        <a:t>T2</a:t>
                      </a:r>
                    </a:p>
                  </a:txBody>
                  <a:tcPr marL="47625" marR="47625" marT="28575" marB="28575" anchor="ctr">
                    <a:solidFill>
                      <a:srgbClr val="FFFFFF"/>
                    </a:solidFill>
                  </a:tcPr>
                </a:tc>
                <a:tc>
                  <a:txBody>
                    <a:bodyPr/>
                    <a:lstStyle/>
                    <a:p>
                      <a:pPr algn="ctr"/>
                      <a:r>
                        <a:rPr sz="1875">
                          <a:solidFill>
                            <a:srgbClr val="000000"/>
                          </a:solidFill>
                          <a:latin typeface="Calibri"/>
                          <a:ea typeface="Calibri"/>
                          <a:cs typeface="Calibri"/>
                        </a:rPr>
                        <a:t>M2</a:t>
                      </a:r>
                    </a:p>
                  </a:txBody>
                  <a:tcPr marL="47625" marR="47625" marT="28575" marB="28575" anchor="ctr">
                    <a:solidFill>
                      <a:srgbClr val="FFFFFF"/>
                    </a:solidFill>
                  </a:tcPr>
                </a:tc>
                <a:tc>
                  <a:txBody>
                    <a:bodyPr/>
                    <a:lstStyle/>
                    <a:p>
                      <a:pPr algn="ctr"/>
                      <a:r>
                        <a:rPr sz="1875">
                          <a:solidFill>
                            <a:srgbClr val="000000"/>
                          </a:solidFill>
                          <a:latin typeface="Calibri"/>
                          <a:ea typeface="Calibri"/>
                          <a:cs typeface="Calibri"/>
                        </a:rPr>
                        <a:t>T1</a:t>
                      </a:r>
                    </a:p>
                  </a:txBody>
                  <a:tcPr marL="47625" marR="47625" marT="28575" marB="28575" anchor="ctr">
                    <a:solidFill>
                      <a:srgbClr val="FFFFFF"/>
                    </a:solidFill>
                  </a:tcPr>
                </a:tc>
                <a:extLst>
                  <a:ext uri="{0D108BD9-81ED-4DB2-BD59-A6C34878D82A}">
                    <a16:rowId xmlns:a16="http://schemas.microsoft.com/office/drawing/2014/main" val="10003"/>
                  </a:ext>
                </a:extLst>
              </a:tr>
              <a:tr h="381000">
                <a:tc>
                  <a:txBody>
                    <a:bodyPr/>
                    <a:lstStyle/>
                    <a:p>
                      <a:pPr algn="ctr"/>
                      <a:r>
                        <a:rPr sz="1875">
                          <a:solidFill>
                            <a:srgbClr val="000000"/>
                          </a:solidFill>
                          <a:latin typeface="Calibri"/>
                          <a:ea typeface="Calibri"/>
                          <a:cs typeface="Calibri"/>
                        </a:rPr>
                        <a:t>M2</a:t>
                      </a:r>
                    </a:p>
                  </a:txBody>
                  <a:tcPr marL="47625" marR="47625" marT="28575" marB="28575" anchor="ctr">
                    <a:solidFill>
                      <a:srgbClr val="FFFFFF"/>
                    </a:solidFill>
                  </a:tcPr>
                </a:tc>
                <a:tc>
                  <a:txBody>
                    <a:bodyPr/>
                    <a:lstStyle/>
                    <a:p>
                      <a:pPr algn="ctr"/>
                      <a:r>
                        <a:rPr sz="1875">
                          <a:solidFill>
                            <a:srgbClr val="000000"/>
                          </a:solidFill>
                          <a:latin typeface="Calibri"/>
                          <a:ea typeface="Calibri"/>
                          <a:cs typeface="Calibri"/>
                        </a:rPr>
                        <a:t>T2</a:t>
                      </a:r>
                    </a:p>
                  </a:txBody>
                  <a:tcPr marL="47625" marR="47625" marT="28575" marB="28575" anchor="ctr">
                    <a:solidFill>
                      <a:srgbClr val="FFFFFF"/>
                    </a:solidFill>
                  </a:tcPr>
                </a:tc>
                <a:tc>
                  <a:txBody>
                    <a:bodyPr/>
                    <a:lstStyle/>
                    <a:p>
                      <a:pPr algn="ctr"/>
                      <a:r>
                        <a:rPr sz="1875">
                          <a:solidFill>
                            <a:srgbClr val="000000"/>
                          </a:solidFill>
                          <a:latin typeface="Calibri"/>
                          <a:ea typeface="Calibri"/>
                          <a:cs typeface="Calibri"/>
                        </a:rPr>
                        <a:t>M2</a:t>
                      </a:r>
                    </a:p>
                  </a:txBody>
                  <a:tcPr marL="47625" marR="47625" marT="28575" marB="28575" anchor="ctr">
                    <a:solidFill>
                      <a:srgbClr val="FFFFFF"/>
                    </a:solidFill>
                  </a:tcPr>
                </a:tc>
                <a:tc>
                  <a:txBody>
                    <a:bodyPr/>
                    <a:lstStyle/>
                    <a:p>
                      <a:pPr algn="ctr"/>
                      <a:r>
                        <a:rPr sz="1875">
                          <a:solidFill>
                            <a:srgbClr val="000000"/>
                          </a:solidFill>
                          <a:latin typeface="Calibri"/>
                          <a:ea typeface="Calibri"/>
                          <a:cs typeface="Calibri"/>
                        </a:rPr>
                        <a:t>T3</a:t>
                      </a:r>
                    </a:p>
                  </a:txBody>
                  <a:tcPr marL="47625" marR="47625" marT="28575" marB="28575" anchor="ctr">
                    <a:solidFill>
                      <a:srgbClr val="FFFFFF"/>
                    </a:solidFill>
                  </a:tcPr>
                </a:tc>
                <a:extLst>
                  <a:ext uri="{0D108BD9-81ED-4DB2-BD59-A6C34878D82A}">
                    <a16:rowId xmlns:a16="http://schemas.microsoft.com/office/drawing/2014/main" val="10004"/>
                  </a:ext>
                </a:extLst>
              </a:tr>
              <a:tr h="381000">
                <a:tc>
                  <a:txBody>
                    <a:bodyPr/>
                    <a:lstStyle/>
                    <a:p>
                      <a:pPr algn="ctr"/>
                      <a:r>
                        <a:rPr sz="1875">
                          <a:solidFill>
                            <a:srgbClr val="000000"/>
                          </a:solidFill>
                          <a:latin typeface="Calibri"/>
                          <a:ea typeface="Calibri"/>
                          <a:cs typeface="Calibri"/>
                        </a:rPr>
                        <a:t>M2</a:t>
                      </a:r>
                    </a:p>
                  </a:txBody>
                  <a:tcPr marL="47625" marR="47625" marT="28575" marB="28575" anchor="ctr">
                    <a:solidFill>
                      <a:srgbClr val="FFFFFF"/>
                    </a:solidFill>
                  </a:tcPr>
                </a:tc>
                <a:tc>
                  <a:txBody>
                    <a:bodyPr/>
                    <a:lstStyle/>
                    <a:p>
                      <a:pPr algn="ctr"/>
                      <a:r>
                        <a:rPr sz="1875">
                          <a:solidFill>
                            <a:srgbClr val="000000"/>
                          </a:solidFill>
                          <a:latin typeface="Calibri"/>
                          <a:ea typeface="Calibri"/>
                          <a:cs typeface="Calibri"/>
                        </a:rPr>
                        <a:t>T3</a:t>
                      </a:r>
                    </a:p>
                  </a:txBody>
                  <a:tcPr marL="47625" marR="47625" marT="28575" marB="28575" anchor="ctr">
                    <a:solidFill>
                      <a:srgbClr val="FFFFFF"/>
                    </a:solidFill>
                  </a:tcPr>
                </a:tc>
                <a:tc>
                  <a:txBody>
                    <a:bodyPr/>
                    <a:lstStyle/>
                    <a:p>
                      <a:pPr algn="ctr"/>
                      <a:r>
                        <a:rPr sz="1875">
                          <a:solidFill>
                            <a:srgbClr val="000000"/>
                          </a:solidFill>
                          <a:latin typeface="Calibri"/>
                          <a:ea typeface="Calibri"/>
                          <a:cs typeface="Calibri"/>
                        </a:rPr>
                        <a:t>M2</a:t>
                      </a:r>
                    </a:p>
                  </a:txBody>
                  <a:tcPr marL="47625" marR="47625" marT="28575" marB="28575" anchor="ctr">
                    <a:solidFill>
                      <a:srgbClr val="FFFFFF"/>
                    </a:solidFill>
                  </a:tcPr>
                </a:tc>
                <a:tc>
                  <a:txBody>
                    <a:bodyPr/>
                    <a:lstStyle/>
                    <a:p>
                      <a:pPr algn="ctr"/>
                      <a:r>
                        <a:rPr sz="1875">
                          <a:solidFill>
                            <a:srgbClr val="000000"/>
                          </a:solidFill>
                          <a:latin typeface="Calibri"/>
                          <a:ea typeface="Calibri"/>
                          <a:cs typeface="Calibri"/>
                        </a:rPr>
                        <a:t>T1</a:t>
                      </a:r>
                    </a:p>
                  </a:txBody>
                  <a:tcPr marL="47625" marR="47625" marT="28575" marB="28575" anchor="ctr">
                    <a:solidFill>
                      <a:srgbClr val="FFFFFF"/>
                    </a:solidFill>
                  </a:tcPr>
                </a:tc>
                <a:extLst>
                  <a:ext uri="{0D108BD9-81ED-4DB2-BD59-A6C34878D82A}">
                    <a16:rowId xmlns:a16="http://schemas.microsoft.com/office/drawing/2014/main" val="10005"/>
                  </a:ext>
                </a:extLst>
              </a:tr>
              <a:tr h="381000">
                <a:tc>
                  <a:txBody>
                    <a:bodyPr/>
                    <a:lstStyle/>
                    <a:p>
                      <a:pPr algn="ctr"/>
                      <a:r>
                        <a:rPr sz="1875">
                          <a:solidFill>
                            <a:srgbClr val="000000"/>
                          </a:solidFill>
                          <a:latin typeface="Calibri"/>
                          <a:ea typeface="Calibri"/>
                          <a:cs typeface="Calibri"/>
                        </a:rPr>
                        <a:t>M2</a:t>
                      </a:r>
                    </a:p>
                  </a:txBody>
                  <a:tcPr marL="47625" marR="47625" marT="28575" marB="28575" anchor="ctr">
                    <a:solidFill>
                      <a:srgbClr val="FFFFFF"/>
                    </a:solidFill>
                  </a:tcPr>
                </a:tc>
                <a:tc>
                  <a:txBody>
                    <a:bodyPr/>
                    <a:lstStyle/>
                    <a:p>
                      <a:pPr algn="ctr"/>
                      <a:r>
                        <a:rPr sz="1875">
                          <a:solidFill>
                            <a:srgbClr val="000000"/>
                          </a:solidFill>
                          <a:latin typeface="Calibri"/>
                          <a:ea typeface="Calibri"/>
                          <a:cs typeface="Calibri"/>
                        </a:rPr>
                        <a:t>T3</a:t>
                      </a:r>
                    </a:p>
                  </a:txBody>
                  <a:tcPr marL="47625" marR="47625" marT="28575" marB="28575" anchor="ctr">
                    <a:solidFill>
                      <a:srgbClr val="FFFFFF"/>
                    </a:solidFill>
                  </a:tcPr>
                </a:tc>
                <a:tc>
                  <a:txBody>
                    <a:bodyPr/>
                    <a:lstStyle/>
                    <a:p>
                      <a:pPr algn="ctr"/>
                      <a:r>
                        <a:rPr sz="1875">
                          <a:solidFill>
                            <a:srgbClr val="000000"/>
                          </a:solidFill>
                          <a:latin typeface="Calibri"/>
                          <a:ea typeface="Calibri"/>
                          <a:cs typeface="Calibri"/>
                        </a:rPr>
                        <a:t>M2</a:t>
                      </a:r>
                    </a:p>
                  </a:txBody>
                  <a:tcPr marL="47625" marR="47625" marT="28575" marB="28575" anchor="ctr">
                    <a:solidFill>
                      <a:srgbClr val="FFFFFF"/>
                    </a:solidFill>
                  </a:tcPr>
                </a:tc>
                <a:tc>
                  <a:txBody>
                    <a:bodyPr/>
                    <a:lstStyle/>
                    <a:p>
                      <a:pPr algn="ctr"/>
                      <a:r>
                        <a:rPr sz="1875">
                          <a:solidFill>
                            <a:srgbClr val="000000"/>
                          </a:solidFill>
                          <a:latin typeface="Calibri"/>
                          <a:ea typeface="Calibri"/>
                          <a:cs typeface="Calibri"/>
                        </a:rPr>
                        <a:t>T2</a:t>
                      </a:r>
                    </a:p>
                  </a:txBody>
                  <a:tcPr marL="47625" marR="47625" marT="28575" marB="28575" anchor="ctr">
                    <a:solidFill>
                      <a:srgbClr val="FFFFFF"/>
                    </a:solidFill>
                  </a:tcPr>
                </a:tc>
                <a:extLst>
                  <a:ext uri="{0D108BD9-81ED-4DB2-BD59-A6C34878D82A}">
                    <a16:rowId xmlns:a16="http://schemas.microsoft.com/office/drawing/2014/main" val="10006"/>
                  </a:ext>
                </a:extLst>
              </a:tr>
            </a:tbl>
          </a:graphicData>
        </a:graphic>
      </p:graphicFrame>
      <p:sp>
        <p:nvSpPr>
          <p:cNvPr id="6" name="body">
            <a:extLst>
              <a:ext uri="{FF2B5EF4-FFF2-40B4-BE49-F238E27FC236}">
                <a16:creationId xmlns:a16="http://schemas.microsoft.com/office/drawing/2014/main" id="{DB706C65-E508-43B7-9F1A-B982832AB75D}"/>
              </a:ext>
            </a:extLst>
          </p:cNvPr>
          <p:cNvSpPr>
            <a:spLocks noGrp="1"/>
          </p:cNvSpPr>
          <p:nvPr/>
        </p:nvSpPr>
        <p:spPr>
          <a:xfrm>
            <a:off x="781050" y="5524500"/>
            <a:ext cx="7600950" cy="952500"/>
          </a:xfrm>
          <a:prstGeom prst="rect">
            <a:avLst/>
          </a:prstGeom>
          <a:noFill/>
          <a:ln w="0">
            <a:noFill/>
          </a:ln>
        </p:spPr>
        <p:txBody>
          <a:bodyPr wrap="square" lIns="0" tIns="0" rIns="0" bIns="0">
            <a:noAutofit/>
          </a:bodyPr>
          <a:lstStyle/>
          <a:p>
            <a:pPr>
              <a:defRPr sz="2100" b="0">
                <a:solidFill>
                  <a:srgbClr val="FF0000"/>
                </a:solidFill>
                <a:latin typeface="Calibri"/>
                <a:ea typeface="Calibri"/>
                <a:cs typeface="Calibri"/>
              </a:defRPr>
            </a:pPr>
            <a:r>
              <a:rPr sz="2100" b="0">
                <a:solidFill>
                  <a:srgbClr val="FF0000"/>
                </a:solidFill>
                <a:latin typeface="Calibri"/>
                <a:ea typeface="Calibri"/>
                <a:cs typeface="Calibri"/>
              </a:rPr>
              <a:t>Every row belongs to M2. M1 has no two different tools.</a:t>
            </a:r>
          </a:p>
        </p:txBody>
      </p:sp>
      <p:sp>
        <p:nvSpPr>
          <p:cNvPr id="9001" name="Title 1">
            <a:extLst>
              <a:ext uri="{FF2B5EF4-FFF2-40B4-BE49-F238E27FC236}">
                <a16:creationId xmlns:a16="http://schemas.microsoft.com/office/drawing/2014/main" id="{4EF27E5C-9C4D-BDBE-7667-D0B141BCC8F5}"/>
              </a:ext>
            </a:extLst>
          </p:cNvPr>
          <p:cNvSpPr>
            <a:spLocks noGrp="1"/>
          </p:cNvSpPr>
          <p:nvPr>
            <p:ph type="title"/>
          </p:nvPr>
        </p:nvSpPr>
        <p:spPr/>
        <p:txBody>
          <a:bodyPr/>
          <a:lstStyle/>
          <a:p>
            <a:r>
              <a:rPr lang="en-US">
                <a:solidFill>
                  <a:srgbClr val="FF0000"/>
                </a:solidFill>
              </a:rPr>
              <a:t>Solutions: </a:t>
            </a:r>
            <a:r>
              <a:rPr lang="en-US">
                <a:solidFill>
                  <a:srgbClr val="3333CC"/>
                </a:solidFill>
              </a:rPr>
              <a:t>Q30 (2)</a:t>
            </a:r>
          </a:p>
        </p:txBody>
      </p:sp>
      <p:sp>
        <p:nvSpPr>
          <p:cNvPr id="9002" name="Slide Number Placeholder 1">
            <a:extLst>
              <a:ext uri="{FF2B5EF4-FFF2-40B4-BE49-F238E27FC236}">
                <a16:creationId xmlns:a16="http://schemas.microsoft.com/office/drawing/2014/main" id="{B90139AC-3BDA-723A-097A-000DA0A784C1}"/>
              </a:ext>
            </a:extLst>
          </p:cNvPr>
          <p:cNvSpPr>
            <a:spLocks noGrp="1"/>
          </p:cNvSpPr>
          <p:nvPr>
            <p:ph type="sldNum" sz="quarter" idx="12"/>
          </p:nvPr>
        </p:nvSpPr>
        <p:spPr/>
        <p:txBody>
          <a:bodyPr/>
          <a:lstStyle/>
          <a:p>
            <a:pPr>
              <a:defRPr/>
            </a:pPr>
            <a:fld id="{43CA101F-9E5F-9249-9862-3CE55B3BB777}" type="slidenum">
              <a:rPr lang="en-US" altLang="zh-TW" smtClean="0"/>
              <a:pPr>
                <a:defRPr/>
              </a:pPr>
              <a:t>83</a:t>
            </a:fld>
            <a:endParaRPr lang="en-US" altLang="zh-TW"/>
          </a:p>
        </p:txBody>
      </p:sp>
    </p:spTree>
    <p:extLst>
      <p:ext uri="{BB962C8B-B14F-4D97-AF65-F5344CB8AC3E}">
        <p14:creationId xmlns:p14="http://schemas.microsoft.com/office/powerpoint/2010/main" val="563573434"/>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formula">
            <a:extLst>
              <a:ext uri="{FF2B5EF4-FFF2-40B4-BE49-F238E27FC236}">
                <a16:creationId xmlns:a16="http://schemas.microsoft.com/office/drawing/2014/main" id="{A35E5727-D9F7-408D-A42C-0F856D4B7450}"/>
              </a:ext>
            </a:extLst>
          </p:cNvPr>
          <p:cNvSpPr>
            <a:spLocks noGrp="1"/>
          </p:cNvSpPr>
          <p:nvPr/>
        </p:nvSpPr>
        <p:spPr>
          <a:xfrm>
            <a:off x="781050" y="1057275"/>
            <a:ext cx="7620000" cy="523875"/>
          </a:xfrm>
          <a:prstGeom prst="rect">
            <a:avLst/>
          </a:prstGeom>
          <a:noFill/>
          <a:ln w="0">
            <a:noFill/>
          </a:ln>
        </p:spPr>
        <p:txBody>
          <a:bodyPr wrap="square" lIns="0" tIns="0" rIns="0" bIns="0">
            <a:noAutofit/>
          </a:bodyPr>
          <a:lstStyle/>
          <a:p>
            <a:pPr>
              <a:defRPr sz="2100" b="0">
                <a:solidFill>
                  <a:srgbClr val="000000"/>
                </a:solidFill>
                <a:latin typeface="Cambria Math"/>
                <a:ea typeface="Cambria Math"/>
                <a:cs typeface="Cambria Math"/>
              </a:defRPr>
            </a:pPr>
            <a:r>
              <a:rPr sz="2100" b="0">
                <a:solidFill>
                  <a:srgbClr val="000000"/>
                </a:solidFill>
                <a:latin typeface="Cambria Math"/>
                <a:ea typeface="Cambria Math"/>
                <a:cs typeface="Cambria Math"/>
              </a:rPr>
              <a:t>IDs ← ρ (IDs(a_mid → mid), π</a:t>
            </a:r>
            <a:r>
              <a:rPr sz="1491" b="0" baseline="-25000">
                <a:solidFill>
                  <a:srgbClr val="000000"/>
                </a:solidFill>
                <a:latin typeface="Cambria Math"/>
                <a:ea typeface="Cambria Math"/>
                <a:cs typeface="Cambria Math"/>
              </a:rPr>
              <a:t>a_mid</a:t>
            </a:r>
            <a:r>
              <a:rPr sz="2100" b="0">
                <a:solidFill>
                  <a:srgbClr val="000000"/>
                </a:solidFill>
                <a:latin typeface="Cambria Math"/>
                <a:ea typeface="Cambria Math"/>
                <a:cs typeface="Cambria Math"/>
              </a:rPr>
              <a:t>(D))</a:t>
            </a:r>
          </a:p>
        </p:txBody>
      </p:sp>
      <p:sp>
        <p:nvSpPr>
          <p:cNvPr id="4" name="body">
            <a:extLst>
              <a:ext uri="{FF2B5EF4-FFF2-40B4-BE49-F238E27FC236}">
                <a16:creationId xmlns:a16="http://schemas.microsoft.com/office/drawing/2014/main" id="{E058051D-F6DA-43C7-A946-4D3127FD7719}"/>
              </a:ext>
            </a:extLst>
          </p:cNvPr>
          <p:cNvSpPr>
            <a:spLocks noGrp="1"/>
          </p:cNvSpPr>
          <p:nvPr/>
        </p:nvSpPr>
        <p:spPr>
          <a:xfrm>
            <a:off x="3114675" y="1905000"/>
            <a:ext cx="2762250" cy="361950"/>
          </a:xfrm>
          <a:prstGeom prst="rect">
            <a:avLst/>
          </a:prstGeom>
          <a:noFill/>
          <a:ln w="0">
            <a:noFill/>
          </a:ln>
        </p:spPr>
        <p:txBody>
          <a:bodyPr wrap="square" lIns="0" tIns="0" rIns="0" bIns="0">
            <a:noAutofit/>
          </a:bodyPr>
          <a:lstStyle/>
          <a:p>
            <a:pPr>
              <a:defRPr sz="2250" b="0">
                <a:solidFill>
                  <a:srgbClr val="000000"/>
                </a:solidFill>
                <a:latin typeface="Calibri"/>
                <a:ea typeface="Calibri"/>
                <a:cs typeface="Calibri"/>
              </a:defRPr>
            </a:pPr>
            <a:r>
              <a:rPr sz="2250" b="0">
                <a:solidFill>
                  <a:srgbClr val="000000"/>
                </a:solidFill>
                <a:latin typeface="Calibri"/>
                <a:ea typeface="Calibri"/>
                <a:cs typeface="Calibri"/>
              </a:rPr>
              <a:t>IDs</a:t>
            </a:r>
          </a:p>
        </p:txBody>
      </p:sp>
      <p:graphicFrame>
        <p:nvGraphicFramePr>
          <p:cNvPr id="13" name="表格 12"/>
          <p:cNvGraphicFramePr/>
          <p:nvPr/>
        </p:nvGraphicFramePr>
        <p:xfrm>
          <a:off x="3190875" y="2324100"/>
          <a:ext cx="2762250" cy="819150"/>
        </p:xfrm>
        <a:graphic>
          <a:graphicData uri="http://schemas.openxmlformats.org/drawingml/2006/table">
            <a:tbl>
              <a:tblPr/>
              <a:tblGrid>
                <a:gridCol w="2762250">
                  <a:extLst>
                    <a:ext uri="{9D8B030D-6E8A-4147-A177-3AD203B41FA5}">
                      <a16:colId xmlns:a16="http://schemas.microsoft.com/office/drawing/2014/main" val="20000"/>
                    </a:ext>
                  </a:extLst>
                </a:gridCol>
              </a:tblGrid>
              <a:tr h="409575">
                <a:tc>
                  <a:txBody>
                    <a:bodyPr/>
                    <a:lstStyle/>
                    <a:p>
                      <a:pPr algn="ctr"/>
                      <a:r>
                        <a:rPr sz="2100">
                          <a:solidFill>
                            <a:srgbClr val="000000"/>
                          </a:solidFill>
                          <a:latin typeface="Calibri"/>
                          <a:ea typeface="Calibri"/>
                          <a:cs typeface="Calibri"/>
                        </a:rPr>
                        <a:t>mid</a:t>
                      </a:r>
                    </a:p>
                  </a:txBody>
                  <a:tcPr marL="47625" marR="47625" marT="28575" marB="28575" anchor="ctr">
                    <a:solidFill>
                      <a:srgbClr val="D9D9D9"/>
                    </a:solidFill>
                  </a:tcPr>
                </a:tc>
                <a:extLst>
                  <a:ext uri="{0D108BD9-81ED-4DB2-BD59-A6C34878D82A}">
                    <a16:rowId xmlns:a16="http://schemas.microsoft.com/office/drawing/2014/main" val="10000"/>
                  </a:ext>
                </a:extLst>
              </a:tr>
              <a:tr h="409575">
                <a:tc>
                  <a:txBody>
                    <a:bodyPr/>
                    <a:lstStyle/>
                    <a:p>
                      <a:pPr algn="ctr"/>
                      <a:r>
                        <a:rPr sz="2100">
                          <a:solidFill>
                            <a:srgbClr val="000000"/>
                          </a:solidFill>
                          <a:latin typeface="Calibri"/>
                          <a:ea typeface="Calibri"/>
                          <a:cs typeface="Calibri"/>
                        </a:rPr>
                        <a:t>M2</a:t>
                      </a:r>
                    </a:p>
                  </a:txBody>
                  <a:tcPr marL="47625" marR="47625" marT="28575" marB="28575" anchor="ctr">
                    <a:solidFill>
                      <a:srgbClr val="FFFFFF"/>
                    </a:solidFill>
                  </a:tcPr>
                </a:tc>
                <a:extLst>
                  <a:ext uri="{0D108BD9-81ED-4DB2-BD59-A6C34878D82A}">
                    <a16:rowId xmlns:a16="http://schemas.microsoft.com/office/drawing/2014/main" val="10001"/>
                  </a:ext>
                </a:extLst>
              </a:tr>
            </a:tbl>
          </a:graphicData>
        </a:graphic>
      </p:graphicFrame>
      <p:sp>
        <p:nvSpPr>
          <p:cNvPr id="6" name="formula">
            <a:extLst>
              <a:ext uri="{FF2B5EF4-FFF2-40B4-BE49-F238E27FC236}">
                <a16:creationId xmlns:a16="http://schemas.microsoft.com/office/drawing/2014/main" id="{CE6CA4A4-66FF-4CD8-AF3A-7ABE4CF9316F}"/>
              </a:ext>
            </a:extLst>
          </p:cNvPr>
          <p:cNvSpPr>
            <a:spLocks noGrp="1"/>
          </p:cNvSpPr>
          <p:nvPr/>
        </p:nvSpPr>
        <p:spPr>
          <a:xfrm>
            <a:off x="781050" y="3781425"/>
            <a:ext cx="7620000" cy="523875"/>
          </a:xfrm>
          <a:prstGeom prst="rect">
            <a:avLst/>
          </a:prstGeom>
          <a:noFill/>
          <a:ln w="0">
            <a:noFill/>
          </a:ln>
        </p:spPr>
        <p:txBody>
          <a:bodyPr wrap="square" lIns="0" tIns="0" rIns="0" bIns="0">
            <a:noAutofit/>
          </a:bodyPr>
          <a:lstStyle/>
          <a:p>
            <a:pPr>
              <a:defRPr sz="2175" b="0">
                <a:solidFill>
                  <a:srgbClr val="000000"/>
                </a:solidFill>
                <a:latin typeface="Cambria Math"/>
                <a:ea typeface="Cambria Math"/>
                <a:cs typeface="Cambria Math"/>
              </a:defRPr>
            </a:pPr>
            <a:r>
              <a:rPr sz="2175" b="0">
                <a:solidFill>
                  <a:srgbClr val="000000"/>
                </a:solidFill>
                <a:latin typeface="Cambria Math"/>
                <a:ea typeface="Cambria Math"/>
                <a:cs typeface="Cambria Math"/>
              </a:rPr>
              <a:t>Answer ← π</a:t>
            </a:r>
            <a:r>
              <a:rPr sz="1544" b="0" baseline="-25000">
                <a:solidFill>
                  <a:srgbClr val="000000"/>
                </a:solidFill>
                <a:latin typeface="Cambria Math"/>
                <a:ea typeface="Cambria Math"/>
                <a:cs typeface="Cambria Math"/>
              </a:rPr>
              <a:t>mid,mname</a:t>
            </a:r>
            <a:r>
              <a:rPr sz="2175" b="0">
                <a:solidFill>
                  <a:srgbClr val="000000"/>
                </a:solidFill>
                <a:latin typeface="Cambria Math"/>
                <a:ea typeface="Cambria Math"/>
                <a:cs typeface="Cambria Math"/>
              </a:rPr>
              <a:t>(Member ⋈ IDs)</a:t>
            </a:r>
          </a:p>
        </p:txBody>
      </p:sp>
      <p:sp>
        <p:nvSpPr>
          <p:cNvPr id="7" name="body">
            <a:extLst>
              <a:ext uri="{FF2B5EF4-FFF2-40B4-BE49-F238E27FC236}">
                <a16:creationId xmlns:a16="http://schemas.microsoft.com/office/drawing/2014/main" id="{832E602F-ECAA-4767-853D-CCBC0DBF8603}"/>
              </a:ext>
            </a:extLst>
          </p:cNvPr>
          <p:cNvSpPr>
            <a:spLocks noGrp="1"/>
          </p:cNvSpPr>
          <p:nvPr/>
        </p:nvSpPr>
        <p:spPr>
          <a:xfrm>
            <a:off x="2286000" y="4448175"/>
            <a:ext cx="4438650" cy="361950"/>
          </a:xfrm>
          <a:prstGeom prst="rect">
            <a:avLst/>
          </a:prstGeom>
          <a:noFill/>
          <a:ln w="0">
            <a:noFill/>
          </a:ln>
        </p:spPr>
        <p:txBody>
          <a:bodyPr wrap="square" lIns="0" tIns="0" rIns="0" bIns="0">
            <a:noAutofit/>
          </a:bodyPr>
          <a:lstStyle/>
          <a:p>
            <a:pPr>
              <a:defRPr sz="2250" b="0">
                <a:solidFill>
                  <a:srgbClr val="000000"/>
                </a:solidFill>
                <a:latin typeface="Calibri"/>
                <a:ea typeface="Calibri"/>
                <a:cs typeface="Calibri"/>
              </a:defRPr>
            </a:pPr>
            <a:r>
              <a:rPr sz="2250" b="0">
                <a:solidFill>
                  <a:srgbClr val="000000"/>
                </a:solidFill>
                <a:latin typeface="Calibri"/>
                <a:ea typeface="Calibri"/>
                <a:cs typeface="Calibri"/>
              </a:rPr>
              <a:t>Answer</a:t>
            </a:r>
          </a:p>
        </p:txBody>
      </p:sp>
      <p:graphicFrame>
        <p:nvGraphicFramePr>
          <p:cNvPr id="16" name="表格 15"/>
          <p:cNvGraphicFramePr/>
          <p:nvPr/>
        </p:nvGraphicFramePr>
        <p:xfrm>
          <a:off x="2362200" y="4867275"/>
          <a:ext cx="4438650" cy="800100"/>
        </p:xfrm>
        <a:graphic>
          <a:graphicData uri="http://schemas.openxmlformats.org/drawingml/2006/table">
            <a:tbl>
              <a:tblPr/>
              <a:tblGrid>
                <a:gridCol w="2219325">
                  <a:extLst>
                    <a:ext uri="{9D8B030D-6E8A-4147-A177-3AD203B41FA5}">
                      <a16:colId xmlns:a16="http://schemas.microsoft.com/office/drawing/2014/main" val="20000"/>
                    </a:ext>
                  </a:extLst>
                </a:gridCol>
                <a:gridCol w="2219325">
                  <a:extLst>
                    <a:ext uri="{9D8B030D-6E8A-4147-A177-3AD203B41FA5}">
                      <a16:colId xmlns:a16="http://schemas.microsoft.com/office/drawing/2014/main" val="20001"/>
                    </a:ext>
                  </a:extLst>
                </a:gridCol>
              </a:tblGrid>
              <a:tr h="400050">
                <a:tc>
                  <a:txBody>
                    <a:bodyPr/>
                    <a:lstStyle/>
                    <a:p>
                      <a:pPr algn="ctr"/>
                      <a:r>
                        <a:rPr sz="2025">
                          <a:solidFill>
                            <a:srgbClr val="000000"/>
                          </a:solidFill>
                          <a:latin typeface="Calibri"/>
                          <a:ea typeface="Calibri"/>
                          <a:cs typeface="Calibri"/>
                        </a:rPr>
                        <a:t>mid</a:t>
                      </a:r>
                    </a:p>
                  </a:txBody>
                  <a:tcPr marL="47625" marR="47625" marT="28575" marB="28575" anchor="ctr">
                    <a:solidFill>
                      <a:srgbClr val="D9D9D9"/>
                    </a:solidFill>
                  </a:tcPr>
                </a:tc>
                <a:tc>
                  <a:txBody>
                    <a:bodyPr/>
                    <a:lstStyle/>
                    <a:p>
                      <a:pPr algn="ctr"/>
                      <a:r>
                        <a:rPr sz="2025">
                          <a:solidFill>
                            <a:srgbClr val="000000"/>
                          </a:solidFill>
                          <a:latin typeface="Calibri"/>
                          <a:ea typeface="Calibri"/>
                          <a:cs typeface="Calibri"/>
                        </a:rPr>
                        <a:t>mname</a:t>
                      </a:r>
                    </a:p>
                  </a:txBody>
                  <a:tcPr marL="47625" marR="47625" marT="28575" marB="28575" anchor="ctr">
                    <a:solidFill>
                      <a:srgbClr val="D9D9D9"/>
                    </a:solidFill>
                  </a:tcPr>
                </a:tc>
                <a:extLst>
                  <a:ext uri="{0D108BD9-81ED-4DB2-BD59-A6C34878D82A}">
                    <a16:rowId xmlns:a16="http://schemas.microsoft.com/office/drawing/2014/main" val="10000"/>
                  </a:ext>
                </a:extLst>
              </a:tr>
              <a:tr h="400050">
                <a:tc>
                  <a:txBody>
                    <a:bodyPr/>
                    <a:lstStyle/>
                    <a:p>
                      <a:pPr algn="ctr"/>
                      <a:r>
                        <a:rPr sz="2025">
                          <a:solidFill>
                            <a:srgbClr val="000000"/>
                          </a:solidFill>
                          <a:latin typeface="Calibri"/>
                          <a:ea typeface="Calibri"/>
                          <a:cs typeface="Calibri"/>
                        </a:rPr>
                        <a:t>M2</a:t>
                      </a:r>
                    </a:p>
                  </a:txBody>
                  <a:tcPr marL="47625" marR="47625" marT="28575" marB="28575" anchor="ctr">
                    <a:solidFill>
                      <a:srgbClr val="FFFFFF"/>
                    </a:solidFill>
                  </a:tcPr>
                </a:tc>
                <a:tc>
                  <a:txBody>
                    <a:bodyPr/>
                    <a:lstStyle/>
                    <a:p>
                      <a:pPr algn="ctr"/>
                      <a:r>
                        <a:rPr sz="2025">
                          <a:solidFill>
                            <a:srgbClr val="000000"/>
                          </a:solidFill>
                          <a:latin typeface="Calibri"/>
                          <a:ea typeface="Calibri"/>
                          <a:cs typeface="Calibri"/>
                        </a:rPr>
                        <a:t>Mei</a:t>
                      </a:r>
                    </a:p>
                  </a:txBody>
                  <a:tcPr marL="47625" marR="47625" marT="28575" marB="28575" anchor="ctr">
                    <a:solidFill>
                      <a:srgbClr val="FFFFFF"/>
                    </a:solidFill>
                  </a:tcPr>
                </a:tc>
                <a:extLst>
                  <a:ext uri="{0D108BD9-81ED-4DB2-BD59-A6C34878D82A}">
                    <a16:rowId xmlns:a16="http://schemas.microsoft.com/office/drawing/2014/main" val="10001"/>
                  </a:ext>
                </a:extLst>
              </a:tr>
            </a:tbl>
          </a:graphicData>
        </a:graphic>
      </p:graphicFrame>
      <p:sp>
        <p:nvSpPr>
          <p:cNvPr id="9001" name="Title 1">
            <a:extLst>
              <a:ext uri="{FF2B5EF4-FFF2-40B4-BE49-F238E27FC236}">
                <a16:creationId xmlns:a16="http://schemas.microsoft.com/office/drawing/2014/main" id="{4EF27E5C-9C4D-BDBE-7667-D0B141BCC8F5}"/>
              </a:ext>
            </a:extLst>
          </p:cNvPr>
          <p:cNvSpPr>
            <a:spLocks noGrp="1"/>
          </p:cNvSpPr>
          <p:nvPr>
            <p:ph type="title"/>
          </p:nvPr>
        </p:nvSpPr>
        <p:spPr/>
        <p:txBody>
          <a:bodyPr/>
          <a:lstStyle/>
          <a:p>
            <a:r>
              <a:rPr lang="en-US">
                <a:solidFill>
                  <a:srgbClr val="FF0000"/>
                </a:solidFill>
              </a:rPr>
              <a:t>Solutions: </a:t>
            </a:r>
            <a:r>
              <a:rPr lang="en-US">
                <a:solidFill>
                  <a:srgbClr val="3333CC"/>
                </a:solidFill>
              </a:rPr>
              <a:t>Q30 (3)</a:t>
            </a:r>
          </a:p>
        </p:txBody>
      </p:sp>
      <p:sp>
        <p:nvSpPr>
          <p:cNvPr id="9002" name="Slide Number Placeholder 1">
            <a:extLst>
              <a:ext uri="{FF2B5EF4-FFF2-40B4-BE49-F238E27FC236}">
                <a16:creationId xmlns:a16="http://schemas.microsoft.com/office/drawing/2014/main" id="{B90139AC-3BDA-723A-097A-000DA0A784C1}"/>
              </a:ext>
            </a:extLst>
          </p:cNvPr>
          <p:cNvSpPr>
            <a:spLocks noGrp="1"/>
          </p:cNvSpPr>
          <p:nvPr>
            <p:ph type="sldNum" sz="quarter" idx="12"/>
          </p:nvPr>
        </p:nvSpPr>
        <p:spPr/>
        <p:txBody>
          <a:bodyPr/>
          <a:lstStyle/>
          <a:p>
            <a:pPr>
              <a:defRPr/>
            </a:pPr>
            <a:fld id="{43CA101F-9E5F-9249-9862-3CE55B3BB777}" type="slidenum">
              <a:rPr lang="en-US" altLang="zh-TW" smtClean="0"/>
              <a:pPr>
                <a:defRPr/>
              </a:pPr>
              <a:t>84</a:t>
            </a:fld>
            <a:endParaRPr lang="en-US" altLang="zh-TW"/>
          </a:p>
        </p:txBody>
      </p:sp>
    </p:spTree>
    <p:extLst>
      <p:ext uri="{BB962C8B-B14F-4D97-AF65-F5344CB8AC3E}">
        <p14:creationId xmlns:p14="http://schemas.microsoft.com/office/powerpoint/2010/main" val="518885986"/>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body">
            <a:extLst>
              <a:ext uri="{FF2B5EF4-FFF2-40B4-BE49-F238E27FC236}">
                <a16:creationId xmlns:a16="http://schemas.microsoft.com/office/drawing/2014/main" id="{5C45085A-DB7F-44EB-8DA0-01B09FF49C7B}"/>
              </a:ext>
            </a:extLst>
          </p:cNvPr>
          <p:cNvSpPr>
            <a:spLocks noGrp="1"/>
          </p:cNvSpPr>
          <p:nvPr/>
        </p:nvSpPr>
        <p:spPr>
          <a:xfrm>
            <a:off x="781050" y="5876925"/>
            <a:ext cx="7620000" cy="285750"/>
          </a:xfrm>
          <a:prstGeom prst="rect">
            <a:avLst/>
          </a:prstGeom>
          <a:noFill/>
          <a:ln w="0">
            <a:noFill/>
          </a:ln>
        </p:spPr>
        <p:txBody>
          <a:bodyPr wrap="square" lIns="0" tIns="0" rIns="0" bIns="0">
            <a:noAutofit/>
          </a:bodyPr>
          <a:lstStyle/>
          <a:p>
            <a:pPr>
              <a:defRPr sz="1725" b="0">
                <a:solidFill>
                  <a:srgbClr val="3333CC"/>
                </a:solidFill>
                <a:latin typeface="Calibri"/>
                <a:ea typeface="Calibri"/>
                <a:cs typeface="Calibri"/>
              </a:defRPr>
            </a:pPr>
            <a:r>
              <a:rPr sz="1725" b="0">
                <a:solidFill>
                  <a:srgbClr val="3333CC"/>
                </a:solidFill>
                <a:latin typeface="Calibri"/>
                <a:ea typeface="Calibri"/>
                <a:cs typeface="Calibri"/>
              </a:rPr>
              <a:t>Think: 30 s</a:t>
            </a:r>
          </a:p>
        </p:txBody>
      </p:sp>
      <p:sp>
        <p:nvSpPr>
          <p:cNvPr id="4" name="body">
            <a:extLst>
              <a:ext uri="{FF2B5EF4-FFF2-40B4-BE49-F238E27FC236}">
                <a16:creationId xmlns:a16="http://schemas.microsoft.com/office/drawing/2014/main" id="{1CF60EB1-AFEB-4655-89DC-9D933D740A6D}"/>
              </a:ext>
            </a:extLst>
          </p:cNvPr>
          <p:cNvSpPr>
            <a:spLocks noGrp="1"/>
          </p:cNvSpPr>
          <p:nvPr/>
        </p:nvSpPr>
        <p:spPr>
          <a:xfrm>
            <a:off x="828675" y="1047750"/>
            <a:ext cx="3048000" cy="361950"/>
          </a:xfrm>
          <a:prstGeom prst="rect">
            <a:avLst/>
          </a:prstGeom>
          <a:noFill/>
          <a:ln w="0">
            <a:noFill/>
          </a:ln>
        </p:spPr>
        <p:txBody>
          <a:bodyPr wrap="square" lIns="0" tIns="0" rIns="0" bIns="0">
            <a:noAutofit/>
          </a:bodyPr>
          <a:lstStyle/>
          <a:p>
            <a:pPr>
              <a:defRPr sz="2250" b="0">
                <a:solidFill>
                  <a:srgbClr val="000000"/>
                </a:solidFill>
                <a:latin typeface="Calibri"/>
                <a:ea typeface="Calibri"/>
                <a:cs typeface="Calibri"/>
              </a:defRPr>
            </a:pPr>
            <a:r>
              <a:rPr sz="2250" b="0">
                <a:solidFill>
                  <a:srgbClr val="000000"/>
                </a:solidFill>
                <a:latin typeface="Calibri"/>
                <a:ea typeface="Calibri"/>
                <a:cs typeface="Calibri"/>
              </a:rPr>
              <a:t>R(mid, tid)</a:t>
            </a:r>
          </a:p>
        </p:txBody>
      </p:sp>
      <p:graphicFrame>
        <p:nvGraphicFramePr>
          <p:cNvPr id="16" name="表格 15"/>
          <p:cNvGraphicFramePr/>
          <p:nvPr/>
        </p:nvGraphicFramePr>
        <p:xfrm>
          <a:off x="904875" y="1466850"/>
          <a:ext cx="3048000" cy="2000250"/>
        </p:xfrm>
        <a:graphic>
          <a:graphicData uri="http://schemas.openxmlformats.org/drawingml/2006/table">
            <a:tbl>
              <a:tblPr/>
              <a:tblGrid>
                <a:gridCol w="1524000">
                  <a:extLst>
                    <a:ext uri="{9D8B030D-6E8A-4147-A177-3AD203B41FA5}">
                      <a16:colId xmlns:a16="http://schemas.microsoft.com/office/drawing/2014/main" val="20000"/>
                    </a:ext>
                  </a:extLst>
                </a:gridCol>
                <a:gridCol w="1524000">
                  <a:extLst>
                    <a:ext uri="{9D8B030D-6E8A-4147-A177-3AD203B41FA5}">
                      <a16:colId xmlns:a16="http://schemas.microsoft.com/office/drawing/2014/main" val="20001"/>
                    </a:ext>
                  </a:extLst>
                </a:gridCol>
              </a:tblGrid>
              <a:tr h="333375">
                <a:tc>
                  <a:txBody>
                    <a:bodyPr/>
                    <a:lstStyle/>
                    <a:p>
                      <a:pPr algn="ctr"/>
                      <a:r>
                        <a:rPr sz="1800">
                          <a:solidFill>
                            <a:srgbClr val="000000"/>
                          </a:solidFill>
                          <a:latin typeface="Calibri"/>
                          <a:ea typeface="Calibri"/>
                          <a:cs typeface="Calibri"/>
                        </a:rPr>
                        <a:t>mid</a:t>
                      </a:r>
                    </a:p>
                  </a:txBody>
                  <a:tcPr marL="47625" marR="47625" marT="28575" marB="28575" anchor="ctr">
                    <a:solidFill>
                      <a:srgbClr val="D9D9D9"/>
                    </a:solidFill>
                  </a:tcPr>
                </a:tc>
                <a:tc>
                  <a:txBody>
                    <a:bodyPr/>
                    <a:lstStyle/>
                    <a:p>
                      <a:pPr algn="ctr"/>
                      <a:r>
                        <a:rPr sz="1800">
                          <a:solidFill>
                            <a:srgbClr val="000000"/>
                          </a:solidFill>
                          <a:latin typeface="Calibri"/>
                          <a:ea typeface="Calibri"/>
                          <a:cs typeface="Calibri"/>
                        </a:rPr>
                        <a:t>tid</a:t>
                      </a:r>
                    </a:p>
                  </a:txBody>
                  <a:tcPr marL="47625" marR="47625" marT="28575" marB="28575" anchor="ctr">
                    <a:solidFill>
                      <a:srgbClr val="D9D9D9"/>
                    </a:solidFill>
                  </a:tcPr>
                </a:tc>
                <a:extLst>
                  <a:ext uri="{0D108BD9-81ED-4DB2-BD59-A6C34878D82A}">
                    <a16:rowId xmlns:a16="http://schemas.microsoft.com/office/drawing/2014/main" val="10000"/>
                  </a:ext>
                </a:extLst>
              </a:tr>
              <a:tr h="333375">
                <a:tc>
                  <a:txBody>
                    <a:bodyPr/>
                    <a:lstStyle/>
                    <a:p>
                      <a:pPr algn="ctr"/>
                      <a:r>
                        <a:rPr sz="1800">
                          <a:solidFill>
                            <a:srgbClr val="000000"/>
                          </a:solidFill>
                          <a:latin typeface="Calibri"/>
                          <a:ea typeface="Calibri"/>
                          <a:cs typeface="Calibri"/>
                        </a:rPr>
                        <a:t>M1</a:t>
                      </a:r>
                    </a:p>
                  </a:txBody>
                  <a:tcPr marL="47625" marR="47625" marT="28575" marB="28575" anchor="ctr">
                    <a:solidFill>
                      <a:srgbClr val="FFFFFF"/>
                    </a:solidFill>
                  </a:tcPr>
                </a:tc>
                <a:tc>
                  <a:txBody>
                    <a:bodyPr/>
                    <a:lstStyle/>
                    <a:p>
                      <a:pPr algn="ctr"/>
                      <a:r>
                        <a:rPr sz="1800">
                          <a:solidFill>
                            <a:srgbClr val="000000"/>
                          </a:solidFill>
                          <a:latin typeface="Calibri"/>
                          <a:ea typeface="Calibri"/>
                          <a:cs typeface="Calibri"/>
                        </a:rPr>
                        <a:t>T1</a:t>
                      </a:r>
                    </a:p>
                  </a:txBody>
                  <a:tcPr marL="47625" marR="47625" marT="28575" marB="28575" anchor="ctr">
                    <a:solidFill>
                      <a:srgbClr val="FFFFFF"/>
                    </a:solidFill>
                  </a:tcPr>
                </a:tc>
                <a:extLst>
                  <a:ext uri="{0D108BD9-81ED-4DB2-BD59-A6C34878D82A}">
                    <a16:rowId xmlns:a16="http://schemas.microsoft.com/office/drawing/2014/main" val="10001"/>
                  </a:ext>
                </a:extLst>
              </a:tr>
              <a:tr h="333375">
                <a:tc>
                  <a:txBody>
                    <a:bodyPr/>
                    <a:lstStyle/>
                    <a:p>
                      <a:pPr algn="ctr"/>
                      <a:r>
                        <a:rPr sz="1800">
                          <a:solidFill>
                            <a:srgbClr val="000000"/>
                          </a:solidFill>
                          <a:latin typeface="Calibri"/>
                          <a:ea typeface="Calibri"/>
                          <a:cs typeface="Calibri"/>
                        </a:rPr>
                        <a:t>M2</a:t>
                      </a:r>
                    </a:p>
                  </a:txBody>
                  <a:tcPr marL="47625" marR="47625" marT="28575" marB="28575" anchor="ctr">
                    <a:solidFill>
                      <a:srgbClr val="FFFFFF"/>
                    </a:solidFill>
                  </a:tcPr>
                </a:tc>
                <a:tc>
                  <a:txBody>
                    <a:bodyPr/>
                    <a:lstStyle/>
                    <a:p>
                      <a:pPr algn="ctr"/>
                      <a:r>
                        <a:rPr sz="1800">
                          <a:solidFill>
                            <a:srgbClr val="000000"/>
                          </a:solidFill>
                          <a:latin typeface="Calibri"/>
                          <a:ea typeface="Calibri"/>
                          <a:cs typeface="Calibri"/>
                        </a:rPr>
                        <a:t>T1</a:t>
                      </a:r>
                    </a:p>
                  </a:txBody>
                  <a:tcPr marL="47625" marR="47625" marT="28575" marB="28575" anchor="ctr">
                    <a:solidFill>
                      <a:srgbClr val="FFFFFF"/>
                    </a:solidFill>
                  </a:tcPr>
                </a:tc>
                <a:extLst>
                  <a:ext uri="{0D108BD9-81ED-4DB2-BD59-A6C34878D82A}">
                    <a16:rowId xmlns:a16="http://schemas.microsoft.com/office/drawing/2014/main" val="10002"/>
                  </a:ext>
                </a:extLst>
              </a:tr>
              <a:tr h="333375">
                <a:tc>
                  <a:txBody>
                    <a:bodyPr/>
                    <a:lstStyle/>
                    <a:p>
                      <a:pPr algn="ctr"/>
                      <a:r>
                        <a:rPr sz="1800">
                          <a:solidFill>
                            <a:srgbClr val="000000"/>
                          </a:solidFill>
                          <a:latin typeface="Calibri"/>
                          <a:ea typeface="Calibri"/>
                          <a:cs typeface="Calibri"/>
                        </a:rPr>
                        <a:t>M2</a:t>
                      </a:r>
                    </a:p>
                  </a:txBody>
                  <a:tcPr marL="47625" marR="47625" marT="28575" marB="28575" anchor="ctr">
                    <a:solidFill>
                      <a:srgbClr val="FFFFFF"/>
                    </a:solidFill>
                  </a:tcPr>
                </a:tc>
                <a:tc>
                  <a:txBody>
                    <a:bodyPr/>
                    <a:lstStyle/>
                    <a:p>
                      <a:pPr algn="ctr"/>
                      <a:r>
                        <a:rPr sz="1800">
                          <a:solidFill>
                            <a:srgbClr val="000000"/>
                          </a:solidFill>
                          <a:latin typeface="Calibri"/>
                          <a:ea typeface="Calibri"/>
                          <a:cs typeface="Calibri"/>
                        </a:rPr>
                        <a:t>T2</a:t>
                      </a:r>
                    </a:p>
                  </a:txBody>
                  <a:tcPr marL="47625" marR="47625" marT="28575" marB="28575" anchor="ctr">
                    <a:solidFill>
                      <a:srgbClr val="FFFFFF"/>
                    </a:solidFill>
                  </a:tcPr>
                </a:tc>
                <a:extLst>
                  <a:ext uri="{0D108BD9-81ED-4DB2-BD59-A6C34878D82A}">
                    <a16:rowId xmlns:a16="http://schemas.microsoft.com/office/drawing/2014/main" val="10003"/>
                  </a:ext>
                </a:extLst>
              </a:tr>
              <a:tr h="333375">
                <a:tc>
                  <a:txBody>
                    <a:bodyPr/>
                    <a:lstStyle/>
                    <a:p>
                      <a:pPr algn="ctr"/>
                      <a:r>
                        <a:rPr sz="1800">
                          <a:solidFill>
                            <a:srgbClr val="000000"/>
                          </a:solidFill>
                          <a:latin typeface="Calibri"/>
                          <a:ea typeface="Calibri"/>
                          <a:cs typeface="Calibri"/>
                        </a:rPr>
                        <a:t>M2</a:t>
                      </a:r>
                    </a:p>
                  </a:txBody>
                  <a:tcPr marL="47625" marR="47625" marT="28575" marB="28575" anchor="ctr">
                    <a:solidFill>
                      <a:srgbClr val="FFFFFF"/>
                    </a:solidFill>
                  </a:tcPr>
                </a:tc>
                <a:tc>
                  <a:txBody>
                    <a:bodyPr/>
                    <a:lstStyle/>
                    <a:p>
                      <a:pPr algn="ctr"/>
                      <a:r>
                        <a:rPr sz="1800">
                          <a:solidFill>
                            <a:srgbClr val="000000"/>
                          </a:solidFill>
                          <a:latin typeface="Calibri"/>
                          <a:ea typeface="Calibri"/>
                          <a:cs typeface="Calibri"/>
                        </a:rPr>
                        <a:t>T3</a:t>
                      </a:r>
                    </a:p>
                  </a:txBody>
                  <a:tcPr marL="47625" marR="47625" marT="28575" marB="28575" anchor="ctr">
                    <a:solidFill>
                      <a:srgbClr val="FFFFFF"/>
                    </a:solidFill>
                  </a:tcPr>
                </a:tc>
                <a:extLst>
                  <a:ext uri="{0D108BD9-81ED-4DB2-BD59-A6C34878D82A}">
                    <a16:rowId xmlns:a16="http://schemas.microsoft.com/office/drawing/2014/main" val="10004"/>
                  </a:ext>
                </a:extLst>
              </a:tr>
              <a:tr h="333375">
                <a:tc>
                  <a:txBody>
                    <a:bodyPr/>
                    <a:lstStyle/>
                    <a:p>
                      <a:pPr algn="ctr"/>
                      <a:r>
                        <a:rPr sz="1800">
                          <a:solidFill>
                            <a:srgbClr val="000000"/>
                          </a:solidFill>
                          <a:latin typeface="Calibri"/>
                          <a:ea typeface="Calibri"/>
                          <a:cs typeface="Calibri"/>
                        </a:rPr>
                        <a:t>M3</a:t>
                      </a:r>
                    </a:p>
                  </a:txBody>
                  <a:tcPr marL="47625" marR="47625" marT="28575" marB="28575" anchor="ctr">
                    <a:solidFill>
                      <a:srgbClr val="FFFFFF"/>
                    </a:solidFill>
                  </a:tcPr>
                </a:tc>
                <a:tc>
                  <a:txBody>
                    <a:bodyPr/>
                    <a:lstStyle/>
                    <a:p>
                      <a:pPr algn="ctr"/>
                      <a:r>
                        <a:rPr sz="1800">
                          <a:solidFill>
                            <a:srgbClr val="000000"/>
                          </a:solidFill>
                          <a:latin typeface="Calibri"/>
                          <a:ea typeface="Calibri"/>
                          <a:cs typeface="Calibri"/>
                        </a:rPr>
                        <a:t>T2</a:t>
                      </a:r>
                    </a:p>
                  </a:txBody>
                  <a:tcPr marL="47625" marR="47625" marT="28575" marB="28575" anchor="ctr">
                    <a:solidFill>
                      <a:srgbClr val="FFFFFF"/>
                    </a:solidFill>
                  </a:tcPr>
                </a:tc>
                <a:extLst>
                  <a:ext uri="{0D108BD9-81ED-4DB2-BD59-A6C34878D82A}">
                    <a16:rowId xmlns:a16="http://schemas.microsoft.com/office/drawing/2014/main" val="10005"/>
                  </a:ext>
                </a:extLst>
              </a:tr>
            </a:tbl>
          </a:graphicData>
        </a:graphic>
      </p:graphicFrame>
      <p:sp>
        <p:nvSpPr>
          <p:cNvPr id="6" name="body">
            <a:extLst>
              <a:ext uri="{FF2B5EF4-FFF2-40B4-BE49-F238E27FC236}">
                <a16:creationId xmlns:a16="http://schemas.microsoft.com/office/drawing/2014/main" id="{D16AC2F8-CE8C-4BCF-A5F3-B7C6149BEB0B}"/>
              </a:ext>
            </a:extLst>
          </p:cNvPr>
          <p:cNvSpPr>
            <a:spLocks noGrp="1"/>
          </p:cNvSpPr>
          <p:nvPr/>
        </p:nvSpPr>
        <p:spPr>
          <a:xfrm>
            <a:off x="4829175" y="1047750"/>
            <a:ext cx="3143250" cy="361950"/>
          </a:xfrm>
          <a:prstGeom prst="rect">
            <a:avLst/>
          </a:prstGeom>
          <a:noFill/>
          <a:ln w="0">
            <a:noFill/>
          </a:ln>
        </p:spPr>
        <p:txBody>
          <a:bodyPr wrap="square" lIns="0" tIns="0" rIns="0" bIns="0">
            <a:noAutofit/>
          </a:bodyPr>
          <a:lstStyle/>
          <a:p>
            <a:pPr>
              <a:defRPr sz="2250" b="0">
                <a:solidFill>
                  <a:srgbClr val="000000"/>
                </a:solidFill>
                <a:latin typeface="Calibri"/>
                <a:ea typeface="Calibri"/>
                <a:cs typeface="Calibri"/>
              </a:defRPr>
            </a:pPr>
            <a:r>
              <a:rPr sz="2250" b="0">
                <a:solidFill>
                  <a:srgbClr val="000000"/>
                </a:solidFill>
                <a:latin typeface="Calibri"/>
                <a:ea typeface="Calibri"/>
                <a:cs typeface="Calibri"/>
              </a:rPr>
              <a:t>Tool</a:t>
            </a:r>
          </a:p>
        </p:txBody>
      </p:sp>
      <p:graphicFrame>
        <p:nvGraphicFramePr>
          <p:cNvPr id="18" name="表格 17"/>
          <p:cNvGraphicFramePr/>
          <p:nvPr/>
        </p:nvGraphicFramePr>
        <p:xfrm>
          <a:off x="4905375" y="1466850"/>
          <a:ext cx="3143250" cy="1524000"/>
        </p:xfrm>
        <a:graphic>
          <a:graphicData uri="http://schemas.openxmlformats.org/drawingml/2006/table">
            <a:tbl>
              <a:tblPr/>
              <a:tblGrid>
                <a:gridCol w="1571625">
                  <a:extLst>
                    <a:ext uri="{9D8B030D-6E8A-4147-A177-3AD203B41FA5}">
                      <a16:colId xmlns:a16="http://schemas.microsoft.com/office/drawing/2014/main" val="20000"/>
                    </a:ext>
                  </a:extLst>
                </a:gridCol>
                <a:gridCol w="1571625">
                  <a:extLst>
                    <a:ext uri="{9D8B030D-6E8A-4147-A177-3AD203B41FA5}">
                      <a16:colId xmlns:a16="http://schemas.microsoft.com/office/drawing/2014/main" val="20001"/>
                    </a:ext>
                  </a:extLst>
                </a:gridCol>
              </a:tblGrid>
              <a:tr h="381000">
                <a:tc>
                  <a:txBody>
                    <a:bodyPr/>
                    <a:lstStyle/>
                    <a:p>
                      <a:pPr algn="ctr"/>
                      <a:r>
                        <a:rPr sz="1875">
                          <a:solidFill>
                            <a:srgbClr val="000000"/>
                          </a:solidFill>
                          <a:latin typeface="Calibri"/>
                          <a:ea typeface="Calibri"/>
                          <a:cs typeface="Calibri"/>
                        </a:rPr>
                        <a:t>tid</a:t>
                      </a:r>
                    </a:p>
                  </a:txBody>
                  <a:tcPr marL="47625" marR="47625" marT="28575" marB="28575" anchor="ctr">
                    <a:solidFill>
                      <a:srgbClr val="D9D9D9"/>
                    </a:solidFill>
                  </a:tcPr>
                </a:tc>
                <a:tc>
                  <a:txBody>
                    <a:bodyPr/>
                    <a:lstStyle/>
                    <a:p>
                      <a:pPr algn="ctr"/>
                      <a:r>
                        <a:rPr sz="1875">
                          <a:solidFill>
                            <a:srgbClr val="000000"/>
                          </a:solidFill>
                          <a:latin typeface="Calibri"/>
                          <a:ea typeface="Calibri"/>
                          <a:cs typeface="Calibri"/>
                        </a:rPr>
                        <a:t>category</a:t>
                      </a:r>
                    </a:p>
                  </a:txBody>
                  <a:tcPr marL="47625" marR="47625" marT="28575" marB="28575" anchor="ctr">
                    <a:solidFill>
                      <a:srgbClr val="D9D9D9"/>
                    </a:solidFill>
                  </a:tcPr>
                </a:tc>
                <a:extLst>
                  <a:ext uri="{0D108BD9-81ED-4DB2-BD59-A6C34878D82A}">
                    <a16:rowId xmlns:a16="http://schemas.microsoft.com/office/drawing/2014/main" val="10000"/>
                  </a:ext>
                </a:extLst>
              </a:tr>
              <a:tr h="381000">
                <a:tc>
                  <a:txBody>
                    <a:bodyPr/>
                    <a:lstStyle/>
                    <a:p>
                      <a:pPr algn="ctr"/>
                      <a:r>
                        <a:rPr sz="1875">
                          <a:solidFill>
                            <a:srgbClr val="000000"/>
                          </a:solidFill>
                          <a:latin typeface="Calibri"/>
                          <a:ea typeface="Calibri"/>
                          <a:cs typeface="Calibri"/>
                        </a:rPr>
                        <a:t>T1</a:t>
                      </a:r>
                    </a:p>
                  </a:txBody>
                  <a:tcPr marL="47625" marR="47625" marT="28575" marB="28575" anchor="ctr">
                    <a:solidFill>
                      <a:srgbClr val="FFFFFF"/>
                    </a:solidFill>
                  </a:tcPr>
                </a:tc>
                <a:tc>
                  <a:txBody>
                    <a:bodyPr/>
                    <a:lstStyle/>
                    <a:p>
                      <a:pPr algn="ctr"/>
                      <a:r>
                        <a:rPr sz="1875">
                          <a:solidFill>
                            <a:srgbClr val="000000"/>
                          </a:solidFill>
                          <a:latin typeface="Calibri"/>
                          <a:ea typeface="Calibri"/>
                          <a:cs typeface="Calibri"/>
                        </a:rPr>
                        <a:t>Laser</a:t>
                      </a:r>
                    </a:p>
                  </a:txBody>
                  <a:tcPr marL="47625" marR="47625" marT="28575" marB="28575" anchor="ctr">
                    <a:solidFill>
                      <a:srgbClr val="FFFFFF"/>
                    </a:solidFill>
                  </a:tcPr>
                </a:tc>
                <a:extLst>
                  <a:ext uri="{0D108BD9-81ED-4DB2-BD59-A6C34878D82A}">
                    <a16:rowId xmlns:a16="http://schemas.microsoft.com/office/drawing/2014/main" val="10001"/>
                  </a:ext>
                </a:extLst>
              </a:tr>
              <a:tr h="381000">
                <a:tc>
                  <a:txBody>
                    <a:bodyPr/>
                    <a:lstStyle/>
                    <a:p>
                      <a:pPr algn="ctr"/>
                      <a:r>
                        <a:rPr sz="1875">
                          <a:solidFill>
                            <a:srgbClr val="000000"/>
                          </a:solidFill>
                          <a:latin typeface="Calibri"/>
                          <a:ea typeface="Calibri"/>
                          <a:cs typeface="Calibri"/>
                        </a:rPr>
                        <a:t>T2</a:t>
                      </a:r>
                    </a:p>
                  </a:txBody>
                  <a:tcPr marL="47625" marR="47625" marT="28575" marB="28575" anchor="ctr">
                    <a:solidFill>
                      <a:srgbClr val="FFFFFF"/>
                    </a:solidFill>
                  </a:tcPr>
                </a:tc>
                <a:tc>
                  <a:txBody>
                    <a:bodyPr/>
                    <a:lstStyle/>
                    <a:p>
                      <a:pPr algn="ctr"/>
                      <a:r>
                        <a:rPr sz="1875">
                          <a:solidFill>
                            <a:srgbClr val="000000"/>
                          </a:solidFill>
                          <a:latin typeface="Calibri"/>
                          <a:ea typeface="Calibri"/>
                          <a:cs typeface="Calibri"/>
                        </a:rPr>
                        <a:t>Laser</a:t>
                      </a:r>
                    </a:p>
                  </a:txBody>
                  <a:tcPr marL="47625" marR="47625" marT="28575" marB="28575" anchor="ctr">
                    <a:solidFill>
                      <a:srgbClr val="FFFFFF"/>
                    </a:solidFill>
                  </a:tcPr>
                </a:tc>
                <a:extLst>
                  <a:ext uri="{0D108BD9-81ED-4DB2-BD59-A6C34878D82A}">
                    <a16:rowId xmlns:a16="http://schemas.microsoft.com/office/drawing/2014/main" val="10002"/>
                  </a:ext>
                </a:extLst>
              </a:tr>
              <a:tr h="381000">
                <a:tc>
                  <a:txBody>
                    <a:bodyPr/>
                    <a:lstStyle/>
                    <a:p>
                      <a:pPr algn="ctr"/>
                      <a:r>
                        <a:rPr sz="1875">
                          <a:solidFill>
                            <a:srgbClr val="000000"/>
                          </a:solidFill>
                          <a:latin typeface="Calibri"/>
                          <a:ea typeface="Calibri"/>
                          <a:cs typeface="Calibri"/>
                        </a:rPr>
                        <a:t>T3</a:t>
                      </a:r>
                    </a:p>
                  </a:txBody>
                  <a:tcPr marL="47625" marR="47625" marT="28575" marB="28575" anchor="ctr">
                    <a:solidFill>
                      <a:srgbClr val="FFFFFF"/>
                    </a:solidFill>
                  </a:tcPr>
                </a:tc>
                <a:tc>
                  <a:txBody>
                    <a:bodyPr/>
                    <a:lstStyle/>
                    <a:p>
                      <a:pPr algn="ctr"/>
                      <a:r>
                        <a:rPr sz="1875">
                          <a:solidFill>
                            <a:srgbClr val="000000"/>
                          </a:solidFill>
                          <a:latin typeface="Calibri"/>
                          <a:ea typeface="Calibri"/>
                          <a:cs typeface="Calibri"/>
                        </a:rPr>
                        <a:t>CNC</a:t>
                      </a:r>
                    </a:p>
                  </a:txBody>
                  <a:tcPr marL="47625" marR="47625" marT="28575" marB="28575" anchor="ctr">
                    <a:solidFill>
                      <a:srgbClr val="FFFFFF"/>
                    </a:solidFill>
                  </a:tcPr>
                </a:tc>
                <a:extLst>
                  <a:ext uri="{0D108BD9-81ED-4DB2-BD59-A6C34878D82A}">
                    <a16:rowId xmlns:a16="http://schemas.microsoft.com/office/drawing/2014/main" val="10003"/>
                  </a:ext>
                </a:extLst>
              </a:tr>
            </a:tbl>
          </a:graphicData>
        </a:graphic>
      </p:graphicFrame>
      <p:sp>
        <p:nvSpPr>
          <p:cNvPr id="8" name="body">
            <a:extLst>
              <a:ext uri="{FF2B5EF4-FFF2-40B4-BE49-F238E27FC236}">
                <a16:creationId xmlns:a16="http://schemas.microsoft.com/office/drawing/2014/main" id="{70FB8D5A-D28D-447C-A8F0-6B518950BAE7}"/>
              </a:ext>
            </a:extLst>
          </p:cNvPr>
          <p:cNvSpPr>
            <a:spLocks noGrp="1"/>
          </p:cNvSpPr>
          <p:nvPr/>
        </p:nvSpPr>
        <p:spPr>
          <a:xfrm>
            <a:off x="4905375" y="3028950"/>
            <a:ext cx="3143250" cy="285750"/>
          </a:xfrm>
          <a:prstGeom prst="rect">
            <a:avLst/>
          </a:prstGeom>
          <a:noFill/>
          <a:ln w="0">
            <a:noFill/>
          </a:ln>
        </p:spPr>
        <p:txBody>
          <a:bodyPr wrap="square" lIns="0" tIns="0" rIns="0" bIns="0">
            <a:noAutofit/>
          </a:bodyPr>
          <a:lstStyle/>
          <a:p>
            <a:pPr>
              <a:defRPr sz="1725" b="0">
                <a:solidFill>
                  <a:srgbClr val="000000"/>
                </a:solidFill>
                <a:latin typeface="Calibri"/>
                <a:ea typeface="Calibri"/>
                <a:cs typeface="Calibri"/>
              </a:defRPr>
            </a:pPr>
            <a:r>
              <a:rPr sz="1725" b="0">
                <a:solidFill>
                  <a:srgbClr val="000000"/>
                </a:solidFill>
                <a:latin typeface="Calibri"/>
                <a:ea typeface="Calibri"/>
                <a:cs typeface="Calibri"/>
              </a:rPr>
              <a:t>Member</a:t>
            </a:r>
          </a:p>
        </p:txBody>
      </p:sp>
      <p:sp>
        <p:nvSpPr>
          <p:cNvPr id="9" name="body">
            <a:extLst>
              <a:ext uri="{FF2B5EF4-FFF2-40B4-BE49-F238E27FC236}">
                <a16:creationId xmlns:a16="http://schemas.microsoft.com/office/drawing/2014/main" id="{7DF45F50-9F84-4D8B-8F7E-9F322B95D344}"/>
              </a:ext>
            </a:extLst>
          </p:cNvPr>
          <p:cNvSpPr>
            <a:spLocks noGrp="1"/>
          </p:cNvSpPr>
          <p:nvPr/>
        </p:nvSpPr>
        <p:spPr>
          <a:xfrm>
            <a:off x="4905375" y="3276600"/>
            <a:ext cx="3238500" cy="552450"/>
          </a:xfrm>
          <a:prstGeom prst="rect">
            <a:avLst/>
          </a:prstGeom>
          <a:noFill/>
          <a:ln w="0">
            <a:noFill/>
          </a:ln>
        </p:spPr>
        <p:txBody>
          <a:bodyPr wrap="square" lIns="0" tIns="0" rIns="0" bIns="0">
            <a:noAutofit/>
          </a:bodyPr>
          <a:lstStyle/>
          <a:p>
            <a:pPr>
              <a:defRPr sz="1650" b="0">
                <a:solidFill>
                  <a:srgbClr val="000000"/>
                </a:solidFill>
                <a:latin typeface="Calibri"/>
                <a:ea typeface="Calibri"/>
                <a:cs typeface="Calibri"/>
              </a:defRPr>
            </a:pPr>
            <a:r>
              <a:rPr sz="1650" b="0">
                <a:solidFill>
                  <a:srgbClr val="000000"/>
                </a:solidFill>
                <a:latin typeface="Calibri"/>
                <a:ea typeface="Calibri"/>
                <a:cs typeface="Calibri"/>
              </a:rPr>
              <a:t>M1 Alex     M2 Mei</a:t>
            </a:r>
          </a:p>
          <a:p>
            <a:pPr>
              <a:defRPr sz="1650" b="0">
                <a:solidFill>
                  <a:srgbClr val="000000"/>
                </a:solidFill>
                <a:latin typeface="Calibri"/>
                <a:ea typeface="Calibri"/>
                <a:cs typeface="Calibri"/>
              </a:defRPr>
            </a:pPr>
            <a:r>
              <a:rPr sz="1650" b="0">
                <a:solidFill>
                  <a:srgbClr val="000000"/>
                </a:solidFill>
                <a:latin typeface="Calibri"/>
                <a:ea typeface="Calibri"/>
                <a:cs typeface="Calibri"/>
              </a:rPr>
              <a:t>M3 Alex     M4 Noor</a:t>
            </a:r>
          </a:p>
        </p:txBody>
      </p:sp>
      <p:sp>
        <p:nvSpPr>
          <p:cNvPr id="10" name="body">
            <a:extLst>
              <a:ext uri="{FF2B5EF4-FFF2-40B4-BE49-F238E27FC236}">
                <a16:creationId xmlns:a16="http://schemas.microsoft.com/office/drawing/2014/main" id="{11225BA8-9C42-4AF0-B3F2-8C56A7E4F5B1}"/>
              </a:ext>
            </a:extLst>
          </p:cNvPr>
          <p:cNvSpPr>
            <a:spLocks noGrp="1"/>
          </p:cNvSpPr>
          <p:nvPr/>
        </p:nvSpPr>
        <p:spPr>
          <a:xfrm>
            <a:off x="781050" y="3876675"/>
            <a:ext cx="7600950" cy="1238250"/>
          </a:xfrm>
          <a:prstGeom prst="rect">
            <a:avLst/>
          </a:prstGeom>
          <a:noFill/>
          <a:ln w="0">
            <a:noFill/>
          </a:ln>
        </p:spPr>
        <p:txBody>
          <a:bodyPr wrap="square" lIns="0" tIns="0" rIns="0" bIns="0">
            <a:noAutofit/>
          </a:bodyPr>
          <a:lstStyle/>
          <a:p>
            <a:pPr>
              <a:defRPr sz="2175" b="0">
                <a:solidFill>
                  <a:srgbClr val="FF0000"/>
                </a:solidFill>
                <a:latin typeface="Calibri"/>
                <a:ea typeface="Calibri"/>
                <a:cs typeface="Calibri"/>
              </a:defRPr>
            </a:pPr>
            <a:r>
              <a:rPr sz="2175" b="0">
                <a:solidFill>
                  <a:srgbClr val="FF0000"/>
                </a:solidFill>
                <a:latin typeface="Calibri"/>
                <a:ea typeface="Calibri"/>
                <a:cs typeface="Calibri"/>
              </a:rPr>
              <a:t>Find members trained on at least one Laser tool and at least one CNC tool.</a:t>
            </a:r>
          </a:p>
        </p:txBody>
      </p:sp>
      <p:sp>
        <p:nvSpPr>
          <p:cNvPr id="11" name="body">
            <a:extLst>
              <a:ext uri="{FF2B5EF4-FFF2-40B4-BE49-F238E27FC236}">
                <a16:creationId xmlns:a16="http://schemas.microsoft.com/office/drawing/2014/main" id="{00ED700A-0378-415A-84D5-E188775AD094}"/>
              </a:ext>
            </a:extLst>
          </p:cNvPr>
          <p:cNvSpPr>
            <a:spLocks noGrp="1"/>
          </p:cNvSpPr>
          <p:nvPr/>
        </p:nvSpPr>
        <p:spPr>
          <a:xfrm>
            <a:off x="781050" y="5257800"/>
            <a:ext cx="7600950" cy="495300"/>
          </a:xfrm>
          <a:prstGeom prst="rect">
            <a:avLst/>
          </a:prstGeom>
          <a:noFill/>
          <a:ln w="0">
            <a:noFill/>
          </a:ln>
        </p:spPr>
        <p:txBody>
          <a:bodyPr wrap="square" lIns="0" tIns="0" rIns="0" bIns="0">
            <a:noAutofit/>
          </a:bodyPr>
          <a:lstStyle/>
          <a:p>
            <a:pPr>
              <a:defRPr sz="1950" b="0">
                <a:solidFill>
                  <a:srgbClr val="000000"/>
                </a:solidFill>
                <a:latin typeface="Calibri"/>
                <a:ea typeface="Calibri"/>
                <a:cs typeface="Calibri"/>
              </a:defRPr>
            </a:pPr>
            <a:r>
              <a:rPr sz="1950" b="0">
                <a:solidFill>
                  <a:srgbClr val="000000"/>
                </a:solidFill>
                <a:latin typeface="Calibri"/>
                <a:ea typeface="Calibri"/>
                <a:cs typeface="Calibri"/>
              </a:rPr>
              <a:t>Every tool in each category is not required. Return (mid, mname).</a:t>
            </a:r>
          </a:p>
        </p:txBody>
      </p:sp>
      <p:sp>
        <p:nvSpPr>
          <p:cNvPr id="9001" name="Title 1">
            <a:extLst>
              <a:ext uri="{FF2B5EF4-FFF2-40B4-BE49-F238E27FC236}">
                <a16:creationId xmlns:a16="http://schemas.microsoft.com/office/drawing/2014/main" id="{4EF27E5C-9C4D-BDBE-7667-D0B141BCC8F5}"/>
              </a:ext>
            </a:extLst>
          </p:cNvPr>
          <p:cNvSpPr>
            <a:spLocks noGrp="1"/>
          </p:cNvSpPr>
          <p:nvPr>
            <p:ph type="title"/>
          </p:nvPr>
        </p:nvSpPr>
        <p:spPr/>
        <p:txBody>
          <a:bodyPr/>
          <a:lstStyle/>
          <a:p>
            <a:r>
              <a:rPr lang="en-US">
                <a:solidFill>
                  <a:srgbClr val="FF0000"/>
                </a:solidFill>
              </a:rPr>
              <a:t>Practice: </a:t>
            </a:r>
            <a:r>
              <a:rPr lang="en-US">
                <a:solidFill>
                  <a:srgbClr val="3333CC"/>
                </a:solidFill>
              </a:rPr>
              <a:t>Q31</a:t>
            </a:r>
          </a:p>
        </p:txBody>
      </p:sp>
      <p:sp>
        <p:nvSpPr>
          <p:cNvPr id="9002" name="Slide Number Placeholder 1">
            <a:extLst>
              <a:ext uri="{FF2B5EF4-FFF2-40B4-BE49-F238E27FC236}">
                <a16:creationId xmlns:a16="http://schemas.microsoft.com/office/drawing/2014/main" id="{B90139AC-3BDA-723A-097A-000DA0A784C1}"/>
              </a:ext>
            </a:extLst>
          </p:cNvPr>
          <p:cNvSpPr>
            <a:spLocks noGrp="1"/>
          </p:cNvSpPr>
          <p:nvPr>
            <p:ph type="sldNum" sz="quarter" idx="12"/>
          </p:nvPr>
        </p:nvSpPr>
        <p:spPr/>
        <p:txBody>
          <a:bodyPr/>
          <a:lstStyle/>
          <a:p>
            <a:pPr>
              <a:defRPr/>
            </a:pPr>
            <a:fld id="{43CA101F-9E5F-9249-9862-3CE55B3BB777}" type="slidenum">
              <a:rPr lang="en-US" altLang="zh-TW" smtClean="0"/>
              <a:pPr>
                <a:defRPr/>
              </a:pPr>
              <a:t>85</a:t>
            </a:fld>
            <a:endParaRPr lang="en-US" altLang="zh-TW"/>
          </a:p>
        </p:txBody>
      </p:sp>
    </p:spTree>
    <p:extLst>
      <p:ext uri="{BB962C8B-B14F-4D97-AF65-F5344CB8AC3E}">
        <p14:creationId xmlns:p14="http://schemas.microsoft.com/office/powerpoint/2010/main" val="981124361"/>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formula">
            <a:extLst>
              <a:ext uri="{FF2B5EF4-FFF2-40B4-BE49-F238E27FC236}">
                <a16:creationId xmlns:a16="http://schemas.microsoft.com/office/drawing/2014/main" id="{53437EAF-4EB8-4280-8FBB-A9C0AA93C3C6}"/>
              </a:ext>
            </a:extLst>
          </p:cNvPr>
          <p:cNvSpPr>
            <a:spLocks noGrp="1"/>
          </p:cNvSpPr>
          <p:nvPr/>
        </p:nvSpPr>
        <p:spPr>
          <a:xfrm>
            <a:off x="781050" y="1047750"/>
            <a:ext cx="7620000" cy="523875"/>
          </a:xfrm>
          <a:prstGeom prst="rect">
            <a:avLst/>
          </a:prstGeom>
          <a:noFill/>
          <a:ln w="0">
            <a:noFill/>
          </a:ln>
        </p:spPr>
        <p:txBody>
          <a:bodyPr wrap="square" lIns="0" tIns="0" rIns="0" bIns="0">
            <a:noAutofit/>
          </a:bodyPr>
          <a:lstStyle/>
          <a:p>
            <a:pPr>
              <a:defRPr sz="2250" b="0">
                <a:solidFill>
                  <a:srgbClr val="000000"/>
                </a:solidFill>
                <a:latin typeface="Cambria Math"/>
                <a:ea typeface="Cambria Math"/>
                <a:cs typeface="Cambria Math"/>
              </a:defRPr>
            </a:pPr>
            <a:r>
              <a:rPr sz="2250" b="0">
                <a:solidFill>
                  <a:srgbClr val="000000"/>
                </a:solidFill>
                <a:latin typeface="Cambria Math"/>
                <a:ea typeface="Cambria Math"/>
                <a:cs typeface="Cambria Math"/>
              </a:rPr>
              <a:t>E ← π</a:t>
            </a:r>
            <a:r>
              <a:rPr sz="1598" b="0" baseline="-25000">
                <a:solidFill>
                  <a:srgbClr val="000000"/>
                </a:solidFill>
                <a:latin typeface="Cambria Math"/>
                <a:ea typeface="Cambria Math"/>
                <a:cs typeface="Cambria Math"/>
              </a:rPr>
              <a:t>mid,tid</a:t>
            </a:r>
            <a:r>
              <a:rPr sz="2250" b="0">
                <a:solidFill>
                  <a:srgbClr val="000000"/>
                </a:solidFill>
                <a:latin typeface="Cambria Math"/>
                <a:ea typeface="Cambria Math"/>
                <a:cs typeface="Cambria Math"/>
              </a:rPr>
              <a:t>(Trained) ⋈ Tool</a:t>
            </a:r>
          </a:p>
        </p:txBody>
      </p:sp>
      <p:sp>
        <p:nvSpPr>
          <p:cNvPr id="4" name="body">
            <a:extLst>
              <a:ext uri="{FF2B5EF4-FFF2-40B4-BE49-F238E27FC236}">
                <a16:creationId xmlns:a16="http://schemas.microsoft.com/office/drawing/2014/main" id="{7228C400-E1E4-4555-9D82-185F0A90969C}"/>
              </a:ext>
            </a:extLst>
          </p:cNvPr>
          <p:cNvSpPr>
            <a:spLocks noGrp="1"/>
          </p:cNvSpPr>
          <p:nvPr/>
        </p:nvSpPr>
        <p:spPr>
          <a:xfrm>
            <a:off x="1600200" y="1924050"/>
            <a:ext cx="5762625" cy="361950"/>
          </a:xfrm>
          <a:prstGeom prst="rect">
            <a:avLst/>
          </a:prstGeom>
          <a:noFill/>
          <a:ln w="0">
            <a:noFill/>
          </a:ln>
        </p:spPr>
        <p:txBody>
          <a:bodyPr wrap="square" lIns="0" tIns="0" rIns="0" bIns="0">
            <a:noAutofit/>
          </a:bodyPr>
          <a:lstStyle/>
          <a:p>
            <a:pPr>
              <a:defRPr sz="2250" b="0">
                <a:solidFill>
                  <a:srgbClr val="000000"/>
                </a:solidFill>
                <a:latin typeface="Calibri"/>
                <a:ea typeface="Calibri"/>
                <a:cs typeface="Calibri"/>
              </a:defRPr>
            </a:pPr>
            <a:r>
              <a:rPr sz="2250" b="0">
                <a:solidFill>
                  <a:srgbClr val="000000"/>
                </a:solidFill>
                <a:latin typeface="Calibri"/>
                <a:ea typeface="Calibri"/>
                <a:cs typeface="Calibri"/>
              </a:rPr>
              <a:t>E</a:t>
            </a:r>
          </a:p>
        </p:txBody>
      </p:sp>
      <p:graphicFrame>
        <p:nvGraphicFramePr>
          <p:cNvPr id="12" name="表格 11"/>
          <p:cNvGraphicFramePr/>
          <p:nvPr/>
        </p:nvGraphicFramePr>
        <p:xfrm>
          <a:off x="1676400" y="2343150"/>
          <a:ext cx="5762625" cy="2171700"/>
        </p:xfrm>
        <a:graphic>
          <a:graphicData uri="http://schemas.openxmlformats.org/drawingml/2006/table">
            <a:tbl>
              <a:tblPr/>
              <a:tblGrid>
                <a:gridCol w="1920875">
                  <a:extLst>
                    <a:ext uri="{9D8B030D-6E8A-4147-A177-3AD203B41FA5}">
                      <a16:colId xmlns:a16="http://schemas.microsoft.com/office/drawing/2014/main" val="20000"/>
                    </a:ext>
                  </a:extLst>
                </a:gridCol>
                <a:gridCol w="1920875">
                  <a:extLst>
                    <a:ext uri="{9D8B030D-6E8A-4147-A177-3AD203B41FA5}">
                      <a16:colId xmlns:a16="http://schemas.microsoft.com/office/drawing/2014/main" val="20001"/>
                    </a:ext>
                  </a:extLst>
                </a:gridCol>
                <a:gridCol w="1920875">
                  <a:extLst>
                    <a:ext uri="{9D8B030D-6E8A-4147-A177-3AD203B41FA5}">
                      <a16:colId xmlns:a16="http://schemas.microsoft.com/office/drawing/2014/main" val="20002"/>
                    </a:ext>
                  </a:extLst>
                </a:gridCol>
              </a:tblGrid>
              <a:tr h="361950">
                <a:tc>
                  <a:txBody>
                    <a:bodyPr/>
                    <a:lstStyle/>
                    <a:p>
                      <a:pPr algn="ctr"/>
                      <a:r>
                        <a:rPr sz="1875">
                          <a:solidFill>
                            <a:srgbClr val="000000"/>
                          </a:solidFill>
                          <a:latin typeface="Calibri"/>
                          <a:ea typeface="Calibri"/>
                          <a:cs typeface="Calibri"/>
                        </a:rPr>
                        <a:t>mid</a:t>
                      </a:r>
                    </a:p>
                  </a:txBody>
                  <a:tcPr marL="47625" marR="47625" marT="28575" marB="28575" anchor="ctr">
                    <a:solidFill>
                      <a:srgbClr val="D9D9D9"/>
                    </a:solidFill>
                  </a:tcPr>
                </a:tc>
                <a:tc>
                  <a:txBody>
                    <a:bodyPr/>
                    <a:lstStyle/>
                    <a:p>
                      <a:pPr algn="ctr"/>
                      <a:r>
                        <a:rPr sz="1875">
                          <a:solidFill>
                            <a:srgbClr val="000000"/>
                          </a:solidFill>
                          <a:latin typeface="Calibri"/>
                          <a:ea typeface="Calibri"/>
                          <a:cs typeface="Calibri"/>
                        </a:rPr>
                        <a:t>tid</a:t>
                      </a:r>
                    </a:p>
                  </a:txBody>
                  <a:tcPr marL="47625" marR="47625" marT="28575" marB="28575" anchor="ctr">
                    <a:solidFill>
                      <a:srgbClr val="D9D9D9"/>
                    </a:solidFill>
                  </a:tcPr>
                </a:tc>
                <a:tc>
                  <a:txBody>
                    <a:bodyPr/>
                    <a:lstStyle/>
                    <a:p>
                      <a:pPr algn="ctr"/>
                      <a:r>
                        <a:rPr sz="1875">
                          <a:solidFill>
                            <a:srgbClr val="000000"/>
                          </a:solidFill>
                          <a:latin typeface="Calibri"/>
                          <a:ea typeface="Calibri"/>
                          <a:cs typeface="Calibri"/>
                        </a:rPr>
                        <a:t>category</a:t>
                      </a:r>
                    </a:p>
                  </a:txBody>
                  <a:tcPr marL="47625" marR="47625" marT="28575" marB="28575" anchor="ctr">
                    <a:solidFill>
                      <a:srgbClr val="D9D9D9"/>
                    </a:solidFill>
                  </a:tcPr>
                </a:tc>
                <a:extLst>
                  <a:ext uri="{0D108BD9-81ED-4DB2-BD59-A6C34878D82A}">
                    <a16:rowId xmlns:a16="http://schemas.microsoft.com/office/drawing/2014/main" val="10000"/>
                  </a:ext>
                </a:extLst>
              </a:tr>
              <a:tr h="361950">
                <a:tc>
                  <a:txBody>
                    <a:bodyPr/>
                    <a:lstStyle/>
                    <a:p>
                      <a:pPr algn="ctr"/>
                      <a:r>
                        <a:rPr sz="1875">
                          <a:solidFill>
                            <a:srgbClr val="000000"/>
                          </a:solidFill>
                          <a:latin typeface="Calibri"/>
                          <a:ea typeface="Calibri"/>
                          <a:cs typeface="Calibri"/>
                        </a:rPr>
                        <a:t>M1</a:t>
                      </a:r>
                    </a:p>
                  </a:txBody>
                  <a:tcPr marL="47625" marR="47625" marT="28575" marB="28575" anchor="ctr">
                    <a:solidFill>
                      <a:srgbClr val="FFFFFF"/>
                    </a:solidFill>
                  </a:tcPr>
                </a:tc>
                <a:tc>
                  <a:txBody>
                    <a:bodyPr/>
                    <a:lstStyle/>
                    <a:p>
                      <a:pPr algn="ctr"/>
                      <a:r>
                        <a:rPr sz="1875">
                          <a:solidFill>
                            <a:srgbClr val="000000"/>
                          </a:solidFill>
                          <a:latin typeface="Calibri"/>
                          <a:ea typeface="Calibri"/>
                          <a:cs typeface="Calibri"/>
                        </a:rPr>
                        <a:t>T1</a:t>
                      </a:r>
                    </a:p>
                  </a:txBody>
                  <a:tcPr marL="47625" marR="47625" marT="28575" marB="28575" anchor="ctr">
                    <a:solidFill>
                      <a:srgbClr val="FFFFFF"/>
                    </a:solidFill>
                  </a:tcPr>
                </a:tc>
                <a:tc>
                  <a:txBody>
                    <a:bodyPr/>
                    <a:lstStyle/>
                    <a:p>
                      <a:pPr algn="ctr"/>
                      <a:r>
                        <a:rPr sz="1875">
                          <a:solidFill>
                            <a:srgbClr val="000000"/>
                          </a:solidFill>
                          <a:latin typeface="Calibri"/>
                          <a:ea typeface="Calibri"/>
                          <a:cs typeface="Calibri"/>
                        </a:rPr>
                        <a:t>Laser</a:t>
                      </a:r>
                    </a:p>
                  </a:txBody>
                  <a:tcPr marL="47625" marR="47625" marT="28575" marB="28575" anchor="ctr">
                    <a:solidFill>
                      <a:srgbClr val="FFFFFF"/>
                    </a:solidFill>
                  </a:tcPr>
                </a:tc>
                <a:extLst>
                  <a:ext uri="{0D108BD9-81ED-4DB2-BD59-A6C34878D82A}">
                    <a16:rowId xmlns:a16="http://schemas.microsoft.com/office/drawing/2014/main" val="10001"/>
                  </a:ext>
                </a:extLst>
              </a:tr>
              <a:tr h="361950">
                <a:tc>
                  <a:txBody>
                    <a:bodyPr/>
                    <a:lstStyle/>
                    <a:p>
                      <a:pPr algn="ctr"/>
                      <a:r>
                        <a:rPr sz="1875">
                          <a:solidFill>
                            <a:srgbClr val="000000"/>
                          </a:solidFill>
                          <a:latin typeface="Calibri"/>
                          <a:ea typeface="Calibri"/>
                          <a:cs typeface="Calibri"/>
                        </a:rPr>
                        <a:t>M2</a:t>
                      </a:r>
                    </a:p>
                  </a:txBody>
                  <a:tcPr marL="47625" marR="47625" marT="28575" marB="28575" anchor="ctr">
                    <a:solidFill>
                      <a:srgbClr val="FFFFFF"/>
                    </a:solidFill>
                  </a:tcPr>
                </a:tc>
                <a:tc>
                  <a:txBody>
                    <a:bodyPr/>
                    <a:lstStyle/>
                    <a:p>
                      <a:pPr algn="ctr"/>
                      <a:r>
                        <a:rPr sz="1875">
                          <a:solidFill>
                            <a:srgbClr val="000000"/>
                          </a:solidFill>
                          <a:latin typeface="Calibri"/>
                          <a:ea typeface="Calibri"/>
                          <a:cs typeface="Calibri"/>
                        </a:rPr>
                        <a:t>T1</a:t>
                      </a:r>
                    </a:p>
                  </a:txBody>
                  <a:tcPr marL="47625" marR="47625" marT="28575" marB="28575" anchor="ctr">
                    <a:solidFill>
                      <a:srgbClr val="FFFFFF"/>
                    </a:solidFill>
                  </a:tcPr>
                </a:tc>
                <a:tc>
                  <a:txBody>
                    <a:bodyPr/>
                    <a:lstStyle/>
                    <a:p>
                      <a:pPr algn="ctr"/>
                      <a:r>
                        <a:rPr sz="1875">
                          <a:solidFill>
                            <a:srgbClr val="000000"/>
                          </a:solidFill>
                          <a:latin typeface="Calibri"/>
                          <a:ea typeface="Calibri"/>
                          <a:cs typeface="Calibri"/>
                        </a:rPr>
                        <a:t>Laser</a:t>
                      </a:r>
                    </a:p>
                  </a:txBody>
                  <a:tcPr marL="47625" marR="47625" marT="28575" marB="28575" anchor="ctr">
                    <a:solidFill>
                      <a:srgbClr val="FFFFFF"/>
                    </a:solidFill>
                  </a:tcPr>
                </a:tc>
                <a:extLst>
                  <a:ext uri="{0D108BD9-81ED-4DB2-BD59-A6C34878D82A}">
                    <a16:rowId xmlns:a16="http://schemas.microsoft.com/office/drawing/2014/main" val="10002"/>
                  </a:ext>
                </a:extLst>
              </a:tr>
              <a:tr h="361950">
                <a:tc>
                  <a:txBody>
                    <a:bodyPr/>
                    <a:lstStyle/>
                    <a:p>
                      <a:pPr algn="ctr"/>
                      <a:r>
                        <a:rPr sz="1875">
                          <a:solidFill>
                            <a:srgbClr val="000000"/>
                          </a:solidFill>
                          <a:latin typeface="Calibri"/>
                          <a:ea typeface="Calibri"/>
                          <a:cs typeface="Calibri"/>
                        </a:rPr>
                        <a:t>M2</a:t>
                      </a:r>
                    </a:p>
                  </a:txBody>
                  <a:tcPr marL="47625" marR="47625" marT="28575" marB="28575" anchor="ctr">
                    <a:solidFill>
                      <a:srgbClr val="FFFFFF"/>
                    </a:solidFill>
                  </a:tcPr>
                </a:tc>
                <a:tc>
                  <a:txBody>
                    <a:bodyPr/>
                    <a:lstStyle/>
                    <a:p>
                      <a:pPr algn="ctr"/>
                      <a:r>
                        <a:rPr sz="1875">
                          <a:solidFill>
                            <a:srgbClr val="000000"/>
                          </a:solidFill>
                          <a:latin typeface="Calibri"/>
                          <a:ea typeface="Calibri"/>
                          <a:cs typeface="Calibri"/>
                        </a:rPr>
                        <a:t>T2</a:t>
                      </a:r>
                    </a:p>
                  </a:txBody>
                  <a:tcPr marL="47625" marR="47625" marT="28575" marB="28575" anchor="ctr">
                    <a:solidFill>
                      <a:srgbClr val="FFFFFF"/>
                    </a:solidFill>
                  </a:tcPr>
                </a:tc>
                <a:tc>
                  <a:txBody>
                    <a:bodyPr/>
                    <a:lstStyle/>
                    <a:p>
                      <a:pPr algn="ctr"/>
                      <a:r>
                        <a:rPr sz="1875">
                          <a:solidFill>
                            <a:srgbClr val="000000"/>
                          </a:solidFill>
                          <a:latin typeface="Calibri"/>
                          <a:ea typeface="Calibri"/>
                          <a:cs typeface="Calibri"/>
                        </a:rPr>
                        <a:t>Laser</a:t>
                      </a:r>
                    </a:p>
                  </a:txBody>
                  <a:tcPr marL="47625" marR="47625" marT="28575" marB="28575" anchor="ctr">
                    <a:solidFill>
                      <a:srgbClr val="FFFFFF"/>
                    </a:solidFill>
                  </a:tcPr>
                </a:tc>
                <a:extLst>
                  <a:ext uri="{0D108BD9-81ED-4DB2-BD59-A6C34878D82A}">
                    <a16:rowId xmlns:a16="http://schemas.microsoft.com/office/drawing/2014/main" val="10003"/>
                  </a:ext>
                </a:extLst>
              </a:tr>
              <a:tr h="361950">
                <a:tc>
                  <a:txBody>
                    <a:bodyPr/>
                    <a:lstStyle/>
                    <a:p>
                      <a:pPr algn="ctr"/>
                      <a:r>
                        <a:rPr sz="1875">
                          <a:solidFill>
                            <a:srgbClr val="000000"/>
                          </a:solidFill>
                          <a:latin typeface="Calibri"/>
                          <a:ea typeface="Calibri"/>
                          <a:cs typeface="Calibri"/>
                        </a:rPr>
                        <a:t>M2</a:t>
                      </a:r>
                    </a:p>
                  </a:txBody>
                  <a:tcPr marL="47625" marR="47625" marT="28575" marB="28575" anchor="ctr">
                    <a:solidFill>
                      <a:srgbClr val="FFFFFF"/>
                    </a:solidFill>
                  </a:tcPr>
                </a:tc>
                <a:tc>
                  <a:txBody>
                    <a:bodyPr/>
                    <a:lstStyle/>
                    <a:p>
                      <a:pPr algn="ctr"/>
                      <a:r>
                        <a:rPr sz="1875">
                          <a:solidFill>
                            <a:srgbClr val="000000"/>
                          </a:solidFill>
                          <a:latin typeface="Calibri"/>
                          <a:ea typeface="Calibri"/>
                          <a:cs typeface="Calibri"/>
                        </a:rPr>
                        <a:t>T3</a:t>
                      </a:r>
                    </a:p>
                  </a:txBody>
                  <a:tcPr marL="47625" marR="47625" marT="28575" marB="28575" anchor="ctr">
                    <a:solidFill>
                      <a:srgbClr val="FFFFFF"/>
                    </a:solidFill>
                  </a:tcPr>
                </a:tc>
                <a:tc>
                  <a:txBody>
                    <a:bodyPr/>
                    <a:lstStyle/>
                    <a:p>
                      <a:pPr algn="ctr"/>
                      <a:r>
                        <a:rPr sz="1875">
                          <a:solidFill>
                            <a:srgbClr val="000000"/>
                          </a:solidFill>
                          <a:latin typeface="Calibri"/>
                          <a:ea typeface="Calibri"/>
                          <a:cs typeface="Calibri"/>
                        </a:rPr>
                        <a:t>CNC</a:t>
                      </a:r>
                    </a:p>
                  </a:txBody>
                  <a:tcPr marL="47625" marR="47625" marT="28575" marB="28575" anchor="ctr">
                    <a:solidFill>
                      <a:srgbClr val="FFFFFF"/>
                    </a:solidFill>
                  </a:tcPr>
                </a:tc>
                <a:extLst>
                  <a:ext uri="{0D108BD9-81ED-4DB2-BD59-A6C34878D82A}">
                    <a16:rowId xmlns:a16="http://schemas.microsoft.com/office/drawing/2014/main" val="10004"/>
                  </a:ext>
                </a:extLst>
              </a:tr>
              <a:tr h="361950">
                <a:tc>
                  <a:txBody>
                    <a:bodyPr/>
                    <a:lstStyle/>
                    <a:p>
                      <a:pPr algn="ctr"/>
                      <a:r>
                        <a:rPr sz="1875">
                          <a:solidFill>
                            <a:srgbClr val="000000"/>
                          </a:solidFill>
                          <a:latin typeface="Calibri"/>
                          <a:ea typeface="Calibri"/>
                          <a:cs typeface="Calibri"/>
                        </a:rPr>
                        <a:t>M3</a:t>
                      </a:r>
                    </a:p>
                  </a:txBody>
                  <a:tcPr marL="47625" marR="47625" marT="28575" marB="28575" anchor="ctr">
                    <a:solidFill>
                      <a:srgbClr val="FFFFFF"/>
                    </a:solidFill>
                  </a:tcPr>
                </a:tc>
                <a:tc>
                  <a:txBody>
                    <a:bodyPr/>
                    <a:lstStyle/>
                    <a:p>
                      <a:pPr algn="ctr"/>
                      <a:r>
                        <a:rPr sz="1875">
                          <a:solidFill>
                            <a:srgbClr val="000000"/>
                          </a:solidFill>
                          <a:latin typeface="Calibri"/>
                          <a:ea typeface="Calibri"/>
                          <a:cs typeface="Calibri"/>
                        </a:rPr>
                        <a:t>T2</a:t>
                      </a:r>
                    </a:p>
                  </a:txBody>
                  <a:tcPr marL="47625" marR="47625" marT="28575" marB="28575" anchor="ctr">
                    <a:solidFill>
                      <a:srgbClr val="FFFFFF"/>
                    </a:solidFill>
                  </a:tcPr>
                </a:tc>
                <a:tc>
                  <a:txBody>
                    <a:bodyPr/>
                    <a:lstStyle/>
                    <a:p>
                      <a:pPr algn="ctr"/>
                      <a:r>
                        <a:rPr sz="1875">
                          <a:solidFill>
                            <a:srgbClr val="000000"/>
                          </a:solidFill>
                          <a:latin typeface="Calibri"/>
                          <a:ea typeface="Calibri"/>
                          <a:cs typeface="Calibri"/>
                        </a:rPr>
                        <a:t>Laser</a:t>
                      </a:r>
                    </a:p>
                  </a:txBody>
                  <a:tcPr marL="47625" marR="47625" marT="28575" marB="28575" anchor="ctr">
                    <a:solidFill>
                      <a:srgbClr val="FFFFFF"/>
                    </a:solidFill>
                  </a:tcPr>
                </a:tc>
                <a:extLst>
                  <a:ext uri="{0D108BD9-81ED-4DB2-BD59-A6C34878D82A}">
                    <a16:rowId xmlns:a16="http://schemas.microsoft.com/office/drawing/2014/main" val="10005"/>
                  </a:ext>
                </a:extLst>
              </a:tr>
            </a:tbl>
          </a:graphicData>
        </a:graphic>
      </p:graphicFrame>
      <p:sp>
        <p:nvSpPr>
          <p:cNvPr id="6" name="formula">
            <a:extLst>
              <a:ext uri="{FF2B5EF4-FFF2-40B4-BE49-F238E27FC236}">
                <a16:creationId xmlns:a16="http://schemas.microsoft.com/office/drawing/2014/main" id="{2F439679-3BA6-468E-8C2A-4307C7045BDF}"/>
              </a:ext>
            </a:extLst>
          </p:cNvPr>
          <p:cNvSpPr>
            <a:spLocks noGrp="1"/>
          </p:cNvSpPr>
          <p:nvPr/>
        </p:nvSpPr>
        <p:spPr>
          <a:xfrm>
            <a:off x="781050" y="5010150"/>
            <a:ext cx="7620000" cy="523875"/>
          </a:xfrm>
          <a:prstGeom prst="rect">
            <a:avLst/>
          </a:prstGeom>
          <a:noFill/>
          <a:ln w="0">
            <a:noFill/>
          </a:ln>
        </p:spPr>
        <p:txBody>
          <a:bodyPr wrap="square" lIns="0" tIns="0" rIns="0" bIns="0">
            <a:noAutofit/>
          </a:bodyPr>
          <a:lstStyle/>
          <a:p>
            <a:pPr>
              <a:defRPr sz="2100" b="0">
                <a:solidFill>
                  <a:srgbClr val="000000"/>
                </a:solidFill>
                <a:latin typeface="Cambria Math"/>
                <a:ea typeface="Cambria Math"/>
                <a:cs typeface="Cambria Math"/>
              </a:defRPr>
            </a:pPr>
            <a:r>
              <a:rPr sz="2100" b="0">
                <a:solidFill>
                  <a:srgbClr val="000000"/>
                </a:solidFill>
                <a:latin typeface="Cambria Math"/>
                <a:ea typeface="Cambria Math"/>
                <a:cs typeface="Cambria Math"/>
              </a:rPr>
              <a:t>L ← π</a:t>
            </a:r>
            <a:r>
              <a:rPr sz="1491" b="0" baseline="-25000">
                <a:solidFill>
                  <a:srgbClr val="000000"/>
                </a:solidFill>
                <a:latin typeface="Cambria Math"/>
                <a:ea typeface="Cambria Math"/>
                <a:cs typeface="Cambria Math"/>
              </a:rPr>
              <a:t>mid</a:t>
            </a:r>
            <a:r>
              <a:rPr sz="2100" b="0">
                <a:solidFill>
                  <a:srgbClr val="000000"/>
                </a:solidFill>
                <a:latin typeface="Cambria Math"/>
                <a:ea typeface="Cambria Math"/>
                <a:cs typeface="Cambria Math"/>
              </a:rPr>
              <a:t>(σ</a:t>
            </a:r>
            <a:r>
              <a:rPr sz="1491" b="0" baseline="-25000">
                <a:solidFill>
                  <a:srgbClr val="000000"/>
                </a:solidFill>
                <a:latin typeface="Cambria Math"/>
                <a:ea typeface="Cambria Math"/>
                <a:cs typeface="Cambria Math"/>
              </a:rPr>
              <a:t>category='Laser'</a:t>
            </a:r>
            <a:r>
              <a:rPr sz="2100" b="0">
                <a:solidFill>
                  <a:srgbClr val="000000"/>
                </a:solidFill>
                <a:latin typeface="Cambria Math"/>
                <a:ea typeface="Cambria Math"/>
                <a:cs typeface="Cambria Math"/>
              </a:rPr>
              <a:t>(E))</a:t>
            </a:r>
          </a:p>
        </p:txBody>
      </p:sp>
      <p:sp>
        <p:nvSpPr>
          <p:cNvPr id="7" name="formula">
            <a:extLst>
              <a:ext uri="{FF2B5EF4-FFF2-40B4-BE49-F238E27FC236}">
                <a16:creationId xmlns:a16="http://schemas.microsoft.com/office/drawing/2014/main" id="{13CD58F7-EBC8-497C-8677-DB3B3C7ECA8A}"/>
              </a:ext>
            </a:extLst>
          </p:cNvPr>
          <p:cNvSpPr>
            <a:spLocks noGrp="1"/>
          </p:cNvSpPr>
          <p:nvPr/>
        </p:nvSpPr>
        <p:spPr>
          <a:xfrm>
            <a:off x="781050" y="5581650"/>
            <a:ext cx="7620000" cy="523875"/>
          </a:xfrm>
          <a:prstGeom prst="rect">
            <a:avLst/>
          </a:prstGeom>
          <a:noFill/>
          <a:ln w="0">
            <a:noFill/>
          </a:ln>
        </p:spPr>
        <p:txBody>
          <a:bodyPr wrap="square" lIns="0" tIns="0" rIns="0" bIns="0">
            <a:noAutofit/>
          </a:bodyPr>
          <a:lstStyle/>
          <a:p>
            <a:pPr>
              <a:defRPr sz="2100" b="0">
                <a:solidFill>
                  <a:srgbClr val="000000"/>
                </a:solidFill>
                <a:latin typeface="Cambria Math"/>
                <a:ea typeface="Cambria Math"/>
                <a:cs typeface="Cambria Math"/>
              </a:defRPr>
            </a:pPr>
            <a:r>
              <a:rPr sz="2100" b="0">
                <a:solidFill>
                  <a:srgbClr val="000000"/>
                </a:solidFill>
                <a:latin typeface="Cambria Math"/>
                <a:ea typeface="Cambria Math"/>
                <a:cs typeface="Cambria Math"/>
              </a:rPr>
              <a:t>C ← π</a:t>
            </a:r>
            <a:r>
              <a:rPr sz="1491" b="0" baseline="-25000">
                <a:solidFill>
                  <a:srgbClr val="000000"/>
                </a:solidFill>
                <a:latin typeface="Cambria Math"/>
                <a:ea typeface="Cambria Math"/>
                <a:cs typeface="Cambria Math"/>
              </a:rPr>
              <a:t>mid</a:t>
            </a:r>
            <a:r>
              <a:rPr sz="2100" b="0">
                <a:solidFill>
                  <a:srgbClr val="000000"/>
                </a:solidFill>
                <a:latin typeface="Cambria Math"/>
                <a:ea typeface="Cambria Math"/>
                <a:cs typeface="Cambria Math"/>
              </a:rPr>
              <a:t>(σ</a:t>
            </a:r>
            <a:r>
              <a:rPr sz="1491" b="0" baseline="-25000">
                <a:solidFill>
                  <a:srgbClr val="000000"/>
                </a:solidFill>
                <a:latin typeface="Cambria Math"/>
                <a:ea typeface="Cambria Math"/>
                <a:cs typeface="Cambria Math"/>
              </a:rPr>
              <a:t>category='CNC'</a:t>
            </a:r>
            <a:r>
              <a:rPr sz="2100" b="0">
                <a:solidFill>
                  <a:srgbClr val="000000"/>
                </a:solidFill>
                <a:latin typeface="Cambria Math"/>
                <a:ea typeface="Cambria Math"/>
                <a:cs typeface="Cambria Math"/>
              </a:rPr>
              <a:t>(E))</a:t>
            </a:r>
          </a:p>
        </p:txBody>
      </p:sp>
      <p:sp>
        <p:nvSpPr>
          <p:cNvPr id="9001" name="Title 1">
            <a:extLst>
              <a:ext uri="{FF2B5EF4-FFF2-40B4-BE49-F238E27FC236}">
                <a16:creationId xmlns:a16="http://schemas.microsoft.com/office/drawing/2014/main" id="{4EF27E5C-9C4D-BDBE-7667-D0B141BCC8F5}"/>
              </a:ext>
            </a:extLst>
          </p:cNvPr>
          <p:cNvSpPr>
            <a:spLocks noGrp="1"/>
          </p:cNvSpPr>
          <p:nvPr>
            <p:ph type="title"/>
          </p:nvPr>
        </p:nvSpPr>
        <p:spPr/>
        <p:txBody>
          <a:bodyPr/>
          <a:lstStyle/>
          <a:p>
            <a:r>
              <a:rPr lang="en-US">
                <a:solidFill>
                  <a:srgbClr val="FF0000"/>
                </a:solidFill>
              </a:rPr>
              <a:t>Solutions: </a:t>
            </a:r>
            <a:r>
              <a:rPr lang="en-US">
                <a:solidFill>
                  <a:srgbClr val="3333CC"/>
                </a:solidFill>
              </a:rPr>
              <a:t>Q31 (1)</a:t>
            </a:r>
          </a:p>
        </p:txBody>
      </p:sp>
      <p:sp>
        <p:nvSpPr>
          <p:cNvPr id="9002" name="Slide Number Placeholder 1">
            <a:extLst>
              <a:ext uri="{FF2B5EF4-FFF2-40B4-BE49-F238E27FC236}">
                <a16:creationId xmlns:a16="http://schemas.microsoft.com/office/drawing/2014/main" id="{B90139AC-3BDA-723A-097A-000DA0A784C1}"/>
              </a:ext>
            </a:extLst>
          </p:cNvPr>
          <p:cNvSpPr>
            <a:spLocks noGrp="1"/>
          </p:cNvSpPr>
          <p:nvPr>
            <p:ph type="sldNum" sz="quarter" idx="12"/>
          </p:nvPr>
        </p:nvSpPr>
        <p:spPr/>
        <p:txBody>
          <a:bodyPr/>
          <a:lstStyle/>
          <a:p>
            <a:pPr>
              <a:defRPr/>
            </a:pPr>
            <a:fld id="{43CA101F-9E5F-9249-9862-3CE55B3BB777}" type="slidenum">
              <a:rPr lang="en-US" altLang="zh-TW" smtClean="0"/>
              <a:pPr>
                <a:defRPr/>
              </a:pPr>
              <a:t>86</a:t>
            </a:fld>
            <a:endParaRPr lang="en-US" altLang="zh-TW"/>
          </a:p>
        </p:txBody>
      </p:sp>
    </p:spTree>
    <p:extLst>
      <p:ext uri="{BB962C8B-B14F-4D97-AF65-F5344CB8AC3E}">
        <p14:creationId xmlns:p14="http://schemas.microsoft.com/office/powerpoint/2010/main" val="1122005452"/>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formula">
            <a:extLst>
              <a:ext uri="{FF2B5EF4-FFF2-40B4-BE49-F238E27FC236}">
                <a16:creationId xmlns:a16="http://schemas.microsoft.com/office/drawing/2014/main" id="{5085D376-C3D3-484C-B73B-9DA080B062DB}"/>
              </a:ext>
            </a:extLst>
          </p:cNvPr>
          <p:cNvSpPr>
            <a:spLocks noGrp="1"/>
          </p:cNvSpPr>
          <p:nvPr/>
        </p:nvSpPr>
        <p:spPr>
          <a:xfrm>
            <a:off x="781050" y="1047750"/>
            <a:ext cx="7620000" cy="523875"/>
          </a:xfrm>
          <a:prstGeom prst="rect">
            <a:avLst/>
          </a:prstGeom>
          <a:noFill/>
          <a:ln w="0">
            <a:noFill/>
          </a:ln>
        </p:spPr>
        <p:txBody>
          <a:bodyPr wrap="square" lIns="0" tIns="0" rIns="0" bIns="0">
            <a:noAutofit/>
          </a:bodyPr>
          <a:lstStyle/>
          <a:p>
            <a:pPr>
              <a:defRPr sz="2100" b="0">
                <a:solidFill>
                  <a:srgbClr val="000000"/>
                </a:solidFill>
                <a:latin typeface="Cambria Math"/>
                <a:ea typeface="Cambria Math"/>
                <a:cs typeface="Cambria Math"/>
              </a:defRPr>
            </a:pPr>
            <a:r>
              <a:rPr sz="2100" b="0">
                <a:solidFill>
                  <a:srgbClr val="000000"/>
                </a:solidFill>
                <a:latin typeface="Cambria Math"/>
                <a:ea typeface="Cambria Math"/>
                <a:cs typeface="Cambria Math"/>
              </a:rPr>
              <a:t>L = { (M1), (M2), (M3) }     C = { (M2) }</a:t>
            </a:r>
          </a:p>
        </p:txBody>
      </p:sp>
      <p:sp>
        <p:nvSpPr>
          <p:cNvPr id="4" name="formula">
            <a:extLst>
              <a:ext uri="{FF2B5EF4-FFF2-40B4-BE49-F238E27FC236}">
                <a16:creationId xmlns:a16="http://schemas.microsoft.com/office/drawing/2014/main" id="{7485DEF1-71D7-4F94-81F2-373F6C65D247}"/>
              </a:ext>
            </a:extLst>
          </p:cNvPr>
          <p:cNvSpPr>
            <a:spLocks noGrp="1"/>
          </p:cNvSpPr>
          <p:nvPr/>
        </p:nvSpPr>
        <p:spPr>
          <a:xfrm>
            <a:off x="781050" y="1800225"/>
            <a:ext cx="7620000" cy="523875"/>
          </a:xfrm>
          <a:prstGeom prst="rect">
            <a:avLst/>
          </a:prstGeom>
          <a:noFill/>
          <a:ln w="0">
            <a:noFill/>
          </a:ln>
        </p:spPr>
        <p:txBody>
          <a:bodyPr wrap="square" lIns="0" tIns="0" rIns="0" bIns="0">
            <a:noAutofit/>
          </a:bodyPr>
          <a:lstStyle/>
          <a:p>
            <a:pPr>
              <a:defRPr sz="2250" b="0">
                <a:solidFill>
                  <a:srgbClr val="000000"/>
                </a:solidFill>
                <a:latin typeface="Cambria Math"/>
                <a:ea typeface="Cambria Math"/>
                <a:cs typeface="Cambria Math"/>
              </a:defRPr>
            </a:pPr>
            <a:r>
              <a:rPr sz="2250" b="0">
                <a:solidFill>
                  <a:srgbClr val="000000"/>
                </a:solidFill>
                <a:latin typeface="Cambria Math"/>
                <a:ea typeface="Cambria Math"/>
                <a:cs typeface="Cambria Math"/>
              </a:rPr>
              <a:t>IDs ← L ∩ C = { (M2) }</a:t>
            </a:r>
          </a:p>
        </p:txBody>
      </p:sp>
      <p:sp>
        <p:nvSpPr>
          <p:cNvPr id="5" name="formula">
            <a:extLst>
              <a:ext uri="{FF2B5EF4-FFF2-40B4-BE49-F238E27FC236}">
                <a16:creationId xmlns:a16="http://schemas.microsoft.com/office/drawing/2014/main" id="{2323F41B-3642-4BB6-818D-0BA4C4EA55CE}"/>
              </a:ext>
            </a:extLst>
          </p:cNvPr>
          <p:cNvSpPr>
            <a:spLocks noGrp="1"/>
          </p:cNvSpPr>
          <p:nvPr/>
        </p:nvSpPr>
        <p:spPr>
          <a:xfrm>
            <a:off x="781050" y="2533650"/>
            <a:ext cx="7620000" cy="523875"/>
          </a:xfrm>
          <a:prstGeom prst="rect">
            <a:avLst/>
          </a:prstGeom>
          <a:noFill/>
          <a:ln w="0">
            <a:noFill/>
          </a:ln>
        </p:spPr>
        <p:txBody>
          <a:bodyPr wrap="square" lIns="0" tIns="0" rIns="0" bIns="0">
            <a:noAutofit/>
          </a:bodyPr>
          <a:lstStyle/>
          <a:p>
            <a:pPr>
              <a:defRPr sz="2100" b="0">
                <a:solidFill>
                  <a:srgbClr val="000000"/>
                </a:solidFill>
                <a:latin typeface="Cambria Math"/>
                <a:ea typeface="Cambria Math"/>
                <a:cs typeface="Cambria Math"/>
              </a:defRPr>
            </a:pPr>
            <a:r>
              <a:rPr sz="2100" b="0">
                <a:solidFill>
                  <a:srgbClr val="000000"/>
                </a:solidFill>
                <a:latin typeface="Cambria Math"/>
                <a:ea typeface="Cambria Math"/>
                <a:cs typeface="Cambria Math"/>
              </a:rPr>
              <a:t>Answer ← π</a:t>
            </a:r>
            <a:r>
              <a:rPr sz="1491" b="0" baseline="-25000">
                <a:solidFill>
                  <a:srgbClr val="000000"/>
                </a:solidFill>
                <a:latin typeface="Cambria Math"/>
                <a:ea typeface="Cambria Math"/>
                <a:cs typeface="Cambria Math"/>
              </a:rPr>
              <a:t>mid,mname</a:t>
            </a:r>
            <a:r>
              <a:rPr sz="2100" b="0">
                <a:solidFill>
                  <a:srgbClr val="000000"/>
                </a:solidFill>
                <a:latin typeface="Cambria Math"/>
                <a:ea typeface="Cambria Math"/>
                <a:cs typeface="Cambria Math"/>
              </a:rPr>
              <a:t>(Member ⋈ IDs)</a:t>
            </a:r>
          </a:p>
        </p:txBody>
      </p:sp>
      <p:sp>
        <p:nvSpPr>
          <p:cNvPr id="6" name="body">
            <a:extLst>
              <a:ext uri="{FF2B5EF4-FFF2-40B4-BE49-F238E27FC236}">
                <a16:creationId xmlns:a16="http://schemas.microsoft.com/office/drawing/2014/main" id="{370BBCF2-F9E7-4E46-95AE-FD17C3B733F3}"/>
              </a:ext>
            </a:extLst>
          </p:cNvPr>
          <p:cNvSpPr>
            <a:spLocks noGrp="1"/>
          </p:cNvSpPr>
          <p:nvPr/>
        </p:nvSpPr>
        <p:spPr>
          <a:xfrm>
            <a:off x="2209800" y="3362325"/>
            <a:ext cx="4572000" cy="361950"/>
          </a:xfrm>
          <a:prstGeom prst="rect">
            <a:avLst/>
          </a:prstGeom>
          <a:noFill/>
          <a:ln w="0">
            <a:noFill/>
          </a:ln>
        </p:spPr>
        <p:txBody>
          <a:bodyPr wrap="square" lIns="0" tIns="0" rIns="0" bIns="0">
            <a:noAutofit/>
          </a:bodyPr>
          <a:lstStyle/>
          <a:p>
            <a:pPr>
              <a:defRPr sz="2250" b="0">
                <a:solidFill>
                  <a:srgbClr val="000000"/>
                </a:solidFill>
                <a:latin typeface="Calibri"/>
                <a:ea typeface="Calibri"/>
                <a:cs typeface="Calibri"/>
              </a:defRPr>
            </a:pPr>
            <a:r>
              <a:rPr sz="2250" b="0">
                <a:solidFill>
                  <a:srgbClr val="000000"/>
                </a:solidFill>
                <a:latin typeface="Calibri"/>
                <a:ea typeface="Calibri"/>
                <a:cs typeface="Calibri"/>
              </a:rPr>
              <a:t>Answer</a:t>
            </a:r>
          </a:p>
        </p:txBody>
      </p:sp>
      <p:graphicFrame>
        <p:nvGraphicFramePr>
          <p:cNvPr id="15" name="表格 14"/>
          <p:cNvGraphicFramePr/>
          <p:nvPr/>
        </p:nvGraphicFramePr>
        <p:xfrm>
          <a:off x="2286000" y="3781425"/>
          <a:ext cx="4572000" cy="819150"/>
        </p:xfrm>
        <a:graphic>
          <a:graphicData uri="http://schemas.openxmlformats.org/drawingml/2006/table">
            <a:tbl>
              <a:tblPr/>
              <a:tblGrid>
                <a:gridCol w="2286000">
                  <a:extLst>
                    <a:ext uri="{9D8B030D-6E8A-4147-A177-3AD203B41FA5}">
                      <a16:colId xmlns:a16="http://schemas.microsoft.com/office/drawing/2014/main" val="20000"/>
                    </a:ext>
                  </a:extLst>
                </a:gridCol>
                <a:gridCol w="2286000">
                  <a:extLst>
                    <a:ext uri="{9D8B030D-6E8A-4147-A177-3AD203B41FA5}">
                      <a16:colId xmlns:a16="http://schemas.microsoft.com/office/drawing/2014/main" val="20001"/>
                    </a:ext>
                  </a:extLst>
                </a:gridCol>
              </a:tblGrid>
              <a:tr h="409575">
                <a:tc>
                  <a:txBody>
                    <a:bodyPr/>
                    <a:lstStyle/>
                    <a:p>
                      <a:pPr algn="ctr"/>
                      <a:r>
                        <a:rPr sz="2025">
                          <a:solidFill>
                            <a:srgbClr val="000000"/>
                          </a:solidFill>
                          <a:latin typeface="Calibri"/>
                          <a:ea typeface="Calibri"/>
                          <a:cs typeface="Calibri"/>
                        </a:rPr>
                        <a:t>mid</a:t>
                      </a:r>
                    </a:p>
                  </a:txBody>
                  <a:tcPr marL="47625" marR="47625" marT="28575" marB="28575" anchor="ctr">
                    <a:solidFill>
                      <a:srgbClr val="D9D9D9"/>
                    </a:solidFill>
                  </a:tcPr>
                </a:tc>
                <a:tc>
                  <a:txBody>
                    <a:bodyPr/>
                    <a:lstStyle/>
                    <a:p>
                      <a:pPr algn="ctr"/>
                      <a:r>
                        <a:rPr sz="2025">
                          <a:solidFill>
                            <a:srgbClr val="000000"/>
                          </a:solidFill>
                          <a:latin typeface="Calibri"/>
                          <a:ea typeface="Calibri"/>
                          <a:cs typeface="Calibri"/>
                        </a:rPr>
                        <a:t>mname</a:t>
                      </a:r>
                    </a:p>
                  </a:txBody>
                  <a:tcPr marL="47625" marR="47625" marT="28575" marB="28575" anchor="ctr">
                    <a:solidFill>
                      <a:srgbClr val="D9D9D9"/>
                    </a:solidFill>
                  </a:tcPr>
                </a:tc>
                <a:extLst>
                  <a:ext uri="{0D108BD9-81ED-4DB2-BD59-A6C34878D82A}">
                    <a16:rowId xmlns:a16="http://schemas.microsoft.com/office/drawing/2014/main" val="10000"/>
                  </a:ext>
                </a:extLst>
              </a:tr>
              <a:tr h="409575">
                <a:tc>
                  <a:txBody>
                    <a:bodyPr/>
                    <a:lstStyle/>
                    <a:p>
                      <a:pPr algn="ctr"/>
                      <a:r>
                        <a:rPr sz="2025">
                          <a:solidFill>
                            <a:srgbClr val="000000"/>
                          </a:solidFill>
                          <a:latin typeface="Calibri"/>
                          <a:ea typeface="Calibri"/>
                          <a:cs typeface="Calibri"/>
                        </a:rPr>
                        <a:t>M2</a:t>
                      </a:r>
                    </a:p>
                  </a:txBody>
                  <a:tcPr marL="47625" marR="47625" marT="28575" marB="28575" anchor="ctr">
                    <a:solidFill>
                      <a:srgbClr val="FFFFFF"/>
                    </a:solidFill>
                  </a:tcPr>
                </a:tc>
                <a:tc>
                  <a:txBody>
                    <a:bodyPr/>
                    <a:lstStyle/>
                    <a:p>
                      <a:pPr algn="ctr"/>
                      <a:r>
                        <a:rPr sz="2025">
                          <a:solidFill>
                            <a:srgbClr val="000000"/>
                          </a:solidFill>
                          <a:latin typeface="Calibri"/>
                          <a:ea typeface="Calibri"/>
                          <a:cs typeface="Calibri"/>
                        </a:rPr>
                        <a:t>Mei</a:t>
                      </a:r>
                    </a:p>
                  </a:txBody>
                  <a:tcPr marL="47625" marR="47625" marT="28575" marB="28575" anchor="ctr">
                    <a:solidFill>
                      <a:srgbClr val="FFFFFF"/>
                    </a:solidFill>
                  </a:tcPr>
                </a:tc>
                <a:extLst>
                  <a:ext uri="{0D108BD9-81ED-4DB2-BD59-A6C34878D82A}">
                    <a16:rowId xmlns:a16="http://schemas.microsoft.com/office/drawing/2014/main" val="10001"/>
                  </a:ext>
                </a:extLst>
              </a:tr>
            </a:tbl>
          </a:graphicData>
        </a:graphic>
      </p:graphicFrame>
      <p:sp>
        <p:nvSpPr>
          <p:cNvPr id="8" name="body">
            <a:extLst>
              <a:ext uri="{FF2B5EF4-FFF2-40B4-BE49-F238E27FC236}">
                <a16:creationId xmlns:a16="http://schemas.microsoft.com/office/drawing/2014/main" id="{932CBD7F-578E-4561-8B58-A35BBCF59A23}"/>
              </a:ext>
            </a:extLst>
          </p:cNvPr>
          <p:cNvSpPr>
            <a:spLocks noGrp="1"/>
          </p:cNvSpPr>
          <p:nvPr/>
        </p:nvSpPr>
        <p:spPr>
          <a:xfrm>
            <a:off x="781050" y="5181600"/>
            <a:ext cx="7600950" cy="952500"/>
          </a:xfrm>
          <a:prstGeom prst="rect">
            <a:avLst/>
          </a:prstGeom>
          <a:noFill/>
          <a:ln w="0">
            <a:noFill/>
          </a:ln>
        </p:spPr>
        <p:txBody>
          <a:bodyPr wrap="square" lIns="0" tIns="0" rIns="0" bIns="0">
            <a:noAutofit/>
          </a:bodyPr>
          <a:lstStyle/>
          <a:p>
            <a:pPr>
              <a:defRPr sz="2025" b="0">
                <a:solidFill>
                  <a:srgbClr val="FF0000"/>
                </a:solidFill>
                <a:latin typeface="Calibri"/>
                <a:ea typeface="Calibri"/>
                <a:cs typeface="Calibri"/>
              </a:defRPr>
            </a:pPr>
            <a:r>
              <a:rPr sz="2025" b="0">
                <a:solidFill>
                  <a:srgbClr val="FF0000"/>
                </a:solidFill>
                <a:latin typeface="Calibri"/>
                <a:ea typeface="Calibri"/>
                <a:cs typeface="Calibri"/>
              </a:rPr>
              <a:t>Selecting category = 'Laser' AND category = 'CNC' gives no rows: a tuple has one category.</a:t>
            </a:r>
          </a:p>
        </p:txBody>
      </p:sp>
      <p:sp>
        <p:nvSpPr>
          <p:cNvPr id="9001" name="Title 1">
            <a:extLst>
              <a:ext uri="{FF2B5EF4-FFF2-40B4-BE49-F238E27FC236}">
                <a16:creationId xmlns:a16="http://schemas.microsoft.com/office/drawing/2014/main" id="{4EF27E5C-9C4D-BDBE-7667-D0B141BCC8F5}"/>
              </a:ext>
            </a:extLst>
          </p:cNvPr>
          <p:cNvSpPr>
            <a:spLocks noGrp="1"/>
          </p:cNvSpPr>
          <p:nvPr>
            <p:ph type="title"/>
          </p:nvPr>
        </p:nvSpPr>
        <p:spPr/>
        <p:txBody>
          <a:bodyPr/>
          <a:lstStyle/>
          <a:p>
            <a:r>
              <a:rPr lang="en-US">
                <a:solidFill>
                  <a:srgbClr val="FF0000"/>
                </a:solidFill>
              </a:rPr>
              <a:t>Solutions: </a:t>
            </a:r>
            <a:r>
              <a:rPr lang="en-US">
                <a:solidFill>
                  <a:srgbClr val="3333CC"/>
                </a:solidFill>
              </a:rPr>
              <a:t>Q31 (2)</a:t>
            </a:r>
          </a:p>
        </p:txBody>
      </p:sp>
      <p:sp>
        <p:nvSpPr>
          <p:cNvPr id="9002" name="Slide Number Placeholder 1">
            <a:extLst>
              <a:ext uri="{FF2B5EF4-FFF2-40B4-BE49-F238E27FC236}">
                <a16:creationId xmlns:a16="http://schemas.microsoft.com/office/drawing/2014/main" id="{B90139AC-3BDA-723A-097A-000DA0A784C1}"/>
              </a:ext>
            </a:extLst>
          </p:cNvPr>
          <p:cNvSpPr>
            <a:spLocks noGrp="1"/>
          </p:cNvSpPr>
          <p:nvPr>
            <p:ph type="sldNum" sz="quarter" idx="12"/>
          </p:nvPr>
        </p:nvSpPr>
        <p:spPr/>
        <p:txBody>
          <a:bodyPr/>
          <a:lstStyle/>
          <a:p>
            <a:pPr>
              <a:defRPr/>
            </a:pPr>
            <a:fld id="{43CA101F-9E5F-9249-9862-3CE55B3BB777}" type="slidenum">
              <a:rPr lang="en-US" altLang="zh-TW" smtClean="0"/>
              <a:pPr>
                <a:defRPr/>
              </a:pPr>
              <a:t>87</a:t>
            </a:fld>
            <a:endParaRPr lang="en-US" altLang="zh-TW"/>
          </a:p>
        </p:txBody>
      </p:sp>
    </p:spTree>
    <p:extLst>
      <p:ext uri="{BB962C8B-B14F-4D97-AF65-F5344CB8AC3E}">
        <p14:creationId xmlns:p14="http://schemas.microsoft.com/office/powerpoint/2010/main" val="256954095"/>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body">
            <a:extLst>
              <a:ext uri="{FF2B5EF4-FFF2-40B4-BE49-F238E27FC236}">
                <a16:creationId xmlns:a16="http://schemas.microsoft.com/office/drawing/2014/main" id="{97303046-E5F0-4A58-8CE4-8BB8E5B7838B}"/>
              </a:ext>
            </a:extLst>
          </p:cNvPr>
          <p:cNvSpPr>
            <a:spLocks noGrp="1"/>
          </p:cNvSpPr>
          <p:nvPr/>
        </p:nvSpPr>
        <p:spPr>
          <a:xfrm>
            <a:off x="781050" y="5876925"/>
            <a:ext cx="7620000" cy="285750"/>
          </a:xfrm>
          <a:prstGeom prst="rect">
            <a:avLst/>
          </a:prstGeom>
          <a:noFill/>
          <a:ln w="0">
            <a:noFill/>
          </a:ln>
        </p:spPr>
        <p:txBody>
          <a:bodyPr wrap="square" lIns="0" tIns="0" rIns="0" bIns="0">
            <a:noAutofit/>
          </a:bodyPr>
          <a:lstStyle/>
          <a:p>
            <a:pPr>
              <a:defRPr sz="1725" b="0">
                <a:solidFill>
                  <a:srgbClr val="3333CC"/>
                </a:solidFill>
                <a:latin typeface="Calibri"/>
                <a:ea typeface="Calibri"/>
                <a:cs typeface="Calibri"/>
              </a:defRPr>
            </a:pPr>
            <a:r>
              <a:rPr sz="1725" b="0">
                <a:solidFill>
                  <a:srgbClr val="3333CC"/>
                </a:solidFill>
                <a:latin typeface="Calibri"/>
                <a:ea typeface="Calibri"/>
                <a:cs typeface="Calibri"/>
              </a:rPr>
              <a:t>Think: 30 s</a:t>
            </a:r>
          </a:p>
        </p:txBody>
      </p:sp>
      <p:sp>
        <p:nvSpPr>
          <p:cNvPr id="4" name="body">
            <a:extLst>
              <a:ext uri="{FF2B5EF4-FFF2-40B4-BE49-F238E27FC236}">
                <a16:creationId xmlns:a16="http://schemas.microsoft.com/office/drawing/2014/main" id="{B4ACF09A-9C96-4041-A3A0-CFCAD2372E16}"/>
              </a:ext>
            </a:extLst>
          </p:cNvPr>
          <p:cNvSpPr>
            <a:spLocks noGrp="1"/>
          </p:cNvSpPr>
          <p:nvPr/>
        </p:nvSpPr>
        <p:spPr>
          <a:xfrm>
            <a:off x="828675" y="1047750"/>
            <a:ext cx="3048000" cy="361950"/>
          </a:xfrm>
          <a:prstGeom prst="rect">
            <a:avLst/>
          </a:prstGeom>
          <a:noFill/>
          <a:ln w="0">
            <a:noFill/>
          </a:ln>
        </p:spPr>
        <p:txBody>
          <a:bodyPr wrap="square" lIns="0" tIns="0" rIns="0" bIns="0">
            <a:noAutofit/>
          </a:bodyPr>
          <a:lstStyle/>
          <a:p>
            <a:pPr>
              <a:defRPr sz="2250" b="0">
                <a:solidFill>
                  <a:srgbClr val="000000"/>
                </a:solidFill>
                <a:latin typeface="Calibri"/>
                <a:ea typeface="Calibri"/>
                <a:cs typeface="Calibri"/>
              </a:defRPr>
            </a:pPr>
            <a:r>
              <a:rPr sz="2250" b="0">
                <a:solidFill>
                  <a:srgbClr val="000000"/>
                </a:solidFill>
                <a:latin typeface="Calibri"/>
                <a:ea typeface="Calibri"/>
                <a:cs typeface="Calibri"/>
              </a:rPr>
              <a:t>R(mid, tid)</a:t>
            </a:r>
          </a:p>
        </p:txBody>
      </p:sp>
      <p:graphicFrame>
        <p:nvGraphicFramePr>
          <p:cNvPr id="16" name="表格 15"/>
          <p:cNvGraphicFramePr/>
          <p:nvPr/>
        </p:nvGraphicFramePr>
        <p:xfrm>
          <a:off x="904875" y="1466850"/>
          <a:ext cx="3048000" cy="2000250"/>
        </p:xfrm>
        <a:graphic>
          <a:graphicData uri="http://schemas.openxmlformats.org/drawingml/2006/table">
            <a:tbl>
              <a:tblPr/>
              <a:tblGrid>
                <a:gridCol w="1524000">
                  <a:extLst>
                    <a:ext uri="{9D8B030D-6E8A-4147-A177-3AD203B41FA5}">
                      <a16:colId xmlns:a16="http://schemas.microsoft.com/office/drawing/2014/main" val="20000"/>
                    </a:ext>
                  </a:extLst>
                </a:gridCol>
                <a:gridCol w="1524000">
                  <a:extLst>
                    <a:ext uri="{9D8B030D-6E8A-4147-A177-3AD203B41FA5}">
                      <a16:colId xmlns:a16="http://schemas.microsoft.com/office/drawing/2014/main" val="20001"/>
                    </a:ext>
                  </a:extLst>
                </a:gridCol>
              </a:tblGrid>
              <a:tr h="333375">
                <a:tc>
                  <a:txBody>
                    <a:bodyPr/>
                    <a:lstStyle/>
                    <a:p>
                      <a:pPr algn="ctr"/>
                      <a:r>
                        <a:rPr sz="1800">
                          <a:solidFill>
                            <a:srgbClr val="000000"/>
                          </a:solidFill>
                          <a:latin typeface="Calibri"/>
                          <a:ea typeface="Calibri"/>
                          <a:cs typeface="Calibri"/>
                        </a:rPr>
                        <a:t>mid</a:t>
                      </a:r>
                    </a:p>
                  </a:txBody>
                  <a:tcPr marL="47625" marR="47625" marT="28575" marB="28575" anchor="ctr">
                    <a:solidFill>
                      <a:srgbClr val="D9D9D9"/>
                    </a:solidFill>
                  </a:tcPr>
                </a:tc>
                <a:tc>
                  <a:txBody>
                    <a:bodyPr/>
                    <a:lstStyle/>
                    <a:p>
                      <a:pPr algn="ctr"/>
                      <a:r>
                        <a:rPr sz="1800">
                          <a:solidFill>
                            <a:srgbClr val="000000"/>
                          </a:solidFill>
                          <a:latin typeface="Calibri"/>
                          <a:ea typeface="Calibri"/>
                          <a:cs typeface="Calibri"/>
                        </a:rPr>
                        <a:t>tid</a:t>
                      </a:r>
                    </a:p>
                  </a:txBody>
                  <a:tcPr marL="47625" marR="47625" marT="28575" marB="28575" anchor="ctr">
                    <a:solidFill>
                      <a:srgbClr val="D9D9D9"/>
                    </a:solidFill>
                  </a:tcPr>
                </a:tc>
                <a:extLst>
                  <a:ext uri="{0D108BD9-81ED-4DB2-BD59-A6C34878D82A}">
                    <a16:rowId xmlns:a16="http://schemas.microsoft.com/office/drawing/2014/main" val="10000"/>
                  </a:ext>
                </a:extLst>
              </a:tr>
              <a:tr h="333375">
                <a:tc>
                  <a:txBody>
                    <a:bodyPr/>
                    <a:lstStyle/>
                    <a:p>
                      <a:pPr algn="ctr"/>
                      <a:r>
                        <a:rPr sz="1800">
                          <a:solidFill>
                            <a:srgbClr val="000000"/>
                          </a:solidFill>
                          <a:latin typeface="Calibri"/>
                          <a:ea typeface="Calibri"/>
                          <a:cs typeface="Calibri"/>
                        </a:rPr>
                        <a:t>M1</a:t>
                      </a:r>
                    </a:p>
                  </a:txBody>
                  <a:tcPr marL="47625" marR="47625" marT="28575" marB="28575" anchor="ctr">
                    <a:solidFill>
                      <a:srgbClr val="FFFFFF"/>
                    </a:solidFill>
                  </a:tcPr>
                </a:tc>
                <a:tc>
                  <a:txBody>
                    <a:bodyPr/>
                    <a:lstStyle/>
                    <a:p>
                      <a:pPr algn="ctr"/>
                      <a:r>
                        <a:rPr sz="1800">
                          <a:solidFill>
                            <a:srgbClr val="000000"/>
                          </a:solidFill>
                          <a:latin typeface="Calibri"/>
                          <a:ea typeface="Calibri"/>
                          <a:cs typeface="Calibri"/>
                        </a:rPr>
                        <a:t>T1</a:t>
                      </a:r>
                    </a:p>
                  </a:txBody>
                  <a:tcPr marL="47625" marR="47625" marT="28575" marB="28575" anchor="ctr">
                    <a:solidFill>
                      <a:srgbClr val="FFFFFF"/>
                    </a:solidFill>
                  </a:tcPr>
                </a:tc>
                <a:extLst>
                  <a:ext uri="{0D108BD9-81ED-4DB2-BD59-A6C34878D82A}">
                    <a16:rowId xmlns:a16="http://schemas.microsoft.com/office/drawing/2014/main" val="10001"/>
                  </a:ext>
                </a:extLst>
              </a:tr>
              <a:tr h="333375">
                <a:tc>
                  <a:txBody>
                    <a:bodyPr/>
                    <a:lstStyle/>
                    <a:p>
                      <a:pPr algn="ctr"/>
                      <a:r>
                        <a:rPr sz="1800">
                          <a:solidFill>
                            <a:srgbClr val="000000"/>
                          </a:solidFill>
                          <a:latin typeface="Calibri"/>
                          <a:ea typeface="Calibri"/>
                          <a:cs typeface="Calibri"/>
                        </a:rPr>
                        <a:t>M2</a:t>
                      </a:r>
                    </a:p>
                  </a:txBody>
                  <a:tcPr marL="47625" marR="47625" marT="28575" marB="28575" anchor="ctr">
                    <a:solidFill>
                      <a:srgbClr val="FFFFFF"/>
                    </a:solidFill>
                  </a:tcPr>
                </a:tc>
                <a:tc>
                  <a:txBody>
                    <a:bodyPr/>
                    <a:lstStyle/>
                    <a:p>
                      <a:pPr algn="ctr"/>
                      <a:r>
                        <a:rPr sz="1800">
                          <a:solidFill>
                            <a:srgbClr val="000000"/>
                          </a:solidFill>
                          <a:latin typeface="Calibri"/>
                          <a:ea typeface="Calibri"/>
                          <a:cs typeface="Calibri"/>
                        </a:rPr>
                        <a:t>T1</a:t>
                      </a:r>
                    </a:p>
                  </a:txBody>
                  <a:tcPr marL="47625" marR="47625" marT="28575" marB="28575" anchor="ctr">
                    <a:solidFill>
                      <a:srgbClr val="FFFFFF"/>
                    </a:solidFill>
                  </a:tcPr>
                </a:tc>
                <a:extLst>
                  <a:ext uri="{0D108BD9-81ED-4DB2-BD59-A6C34878D82A}">
                    <a16:rowId xmlns:a16="http://schemas.microsoft.com/office/drawing/2014/main" val="10002"/>
                  </a:ext>
                </a:extLst>
              </a:tr>
              <a:tr h="333375">
                <a:tc>
                  <a:txBody>
                    <a:bodyPr/>
                    <a:lstStyle/>
                    <a:p>
                      <a:pPr algn="ctr"/>
                      <a:r>
                        <a:rPr sz="1800">
                          <a:solidFill>
                            <a:srgbClr val="000000"/>
                          </a:solidFill>
                          <a:latin typeface="Calibri"/>
                          <a:ea typeface="Calibri"/>
                          <a:cs typeface="Calibri"/>
                        </a:rPr>
                        <a:t>M2</a:t>
                      </a:r>
                    </a:p>
                  </a:txBody>
                  <a:tcPr marL="47625" marR="47625" marT="28575" marB="28575" anchor="ctr">
                    <a:solidFill>
                      <a:srgbClr val="FFFFFF"/>
                    </a:solidFill>
                  </a:tcPr>
                </a:tc>
                <a:tc>
                  <a:txBody>
                    <a:bodyPr/>
                    <a:lstStyle/>
                    <a:p>
                      <a:pPr algn="ctr"/>
                      <a:r>
                        <a:rPr sz="1800">
                          <a:solidFill>
                            <a:srgbClr val="000000"/>
                          </a:solidFill>
                          <a:latin typeface="Calibri"/>
                          <a:ea typeface="Calibri"/>
                          <a:cs typeface="Calibri"/>
                        </a:rPr>
                        <a:t>T2</a:t>
                      </a:r>
                    </a:p>
                  </a:txBody>
                  <a:tcPr marL="47625" marR="47625" marT="28575" marB="28575" anchor="ctr">
                    <a:solidFill>
                      <a:srgbClr val="FFFFFF"/>
                    </a:solidFill>
                  </a:tcPr>
                </a:tc>
                <a:extLst>
                  <a:ext uri="{0D108BD9-81ED-4DB2-BD59-A6C34878D82A}">
                    <a16:rowId xmlns:a16="http://schemas.microsoft.com/office/drawing/2014/main" val="10003"/>
                  </a:ext>
                </a:extLst>
              </a:tr>
              <a:tr h="333375">
                <a:tc>
                  <a:txBody>
                    <a:bodyPr/>
                    <a:lstStyle/>
                    <a:p>
                      <a:pPr algn="ctr"/>
                      <a:r>
                        <a:rPr sz="1800">
                          <a:solidFill>
                            <a:srgbClr val="000000"/>
                          </a:solidFill>
                          <a:latin typeface="Calibri"/>
                          <a:ea typeface="Calibri"/>
                          <a:cs typeface="Calibri"/>
                        </a:rPr>
                        <a:t>M2</a:t>
                      </a:r>
                    </a:p>
                  </a:txBody>
                  <a:tcPr marL="47625" marR="47625" marT="28575" marB="28575" anchor="ctr">
                    <a:solidFill>
                      <a:srgbClr val="FFFFFF"/>
                    </a:solidFill>
                  </a:tcPr>
                </a:tc>
                <a:tc>
                  <a:txBody>
                    <a:bodyPr/>
                    <a:lstStyle/>
                    <a:p>
                      <a:pPr algn="ctr"/>
                      <a:r>
                        <a:rPr sz="1800">
                          <a:solidFill>
                            <a:srgbClr val="000000"/>
                          </a:solidFill>
                          <a:latin typeface="Calibri"/>
                          <a:ea typeface="Calibri"/>
                          <a:cs typeface="Calibri"/>
                        </a:rPr>
                        <a:t>T3</a:t>
                      </a:r>
                    </a:p>
                  </a:txBody>
                  <a:tcPr marL="47625" marR="47625" marT="28575" marB="28575" anchor="ctr">
                    <a:solidFill>
                      <a:srgbClr val="FFFFFF"/>
                    </a:solidFill>
                  </a:tcPr>
                </a:tc>
                <a:extLst>
                  <a:ext uri="{0D108BD9-81ED-4DB2-BD59-A6C34878D82A}">
                    <a16:rowId xmlns:a16="http://schemas.microsoft.com/office/drawing/2014/main" val="10004"/>
                  </a:ext>
                </a:extLst>
              </a:tr>
              <a:tr h="333375">
                <a:tc>
                  <a:txBody>
                    <a:bodyPr/>
                    <a:lstStyle/>
                    <a:p>
                      <a:pPr algn="ctr"/>
                      <a:r>
                        <a:rPr sz="1800">
                          <a:solidFill>
                            <a:srgbClr val="000000"/>
                          </a:solidFill>
                          <a:latin typeface="Calibri"/>
                          <a:ea typeface="Calibri"/>
                          <a:cs typeface="Calibri"/>
                        </a:rPr>
                        <a:t>M3</a:t>
                      </a:r>
                    </a:p>
                  </a:txBody>
                  <a:tcPr marL="47625" marR="47625" marT="28575" marB="28575" anchor="ctr">
                    <a:solidFill>
                      <a:srgbClr val="FFFFFF"/>
                    </a:solidFill>
                  </a:tcPr>
                </a:tc>
                <a:tc>
                  <a:txBody>
                    <a:bodyPr/>
                    <a:lstStyle/>
                    <a:p>
                      <a:pPr algn="ctr"/>
                      <a:r>
                        <a:rPr sz="1800">
                          <a:solidFill>
                            <a:srgbClr val="000000"/>
                          </a:solidFill>
                          <a:latin typeface="Calibri"/>
                          <a:ea typeface="Calibri"/>
                          <a:cs typeface="Calibri"/>
                        </a:rPr>
                        <a:t>T2</a:t>
                      </a:r>
                    </a:p>
                  </a:txBody>
                  <a:tcPr marL="47625" marR="47625" marT="28575" marB="28575" anchor="ctr">
                    <a:solidFill>
                      <a:srgbClr val="FFFFFF"/>
                    </a:solidFill>
                  </a:tcPr>
                </a:tc>
                <a:extLst>
                  <a:ext uri="{0D108BD9-81ED-4DB2-BD59-A6C34878D82A}">
                    <a16:rowId xmlns:a16="http://schemas.microsoft.com/office/drawing/2014/main" val="10005"/>
                  </a:ext>
                </a:extLst>
              </a:tr>
            </a:tbl>
          </a:graphicData>
        </a:graphic>
      </p:graphicFrame>
      <p:sp>
        <p:nvSpPr>
          <p:cNvPr id="6" name="body">
            <a:extLst>
              <a:ext uri="{FF2B5EF4-FFF2-40B4-BE49-F238E27FC236}">
                <a16:creationId xmlns:a16="http://schemas.microsoft.com/office/drawing/2014/main" id="{1BD6D419-4EDA-4509-9EC5-ECF48D200CC4}"/>
              </a:ext>
            </a:extLst>
          </p:cNvPr>
          <p:cNvSpPr>
            <a:spLocks noGrp="1"/>
          </p:cNvSpPr>
          <p:nvPr/>
        </p:nvSpPr>
        <p:spPr>
          <a:xfrm>
            <a:off x="4829175" y="1047750"/>
            <a:ext cx="3143250" cy="361950"/>
          </a:xfrm>
          <a:prstGeom prst="rect">
            <a:avLst/>
          </a:prstGeom>
          <a:noFill/>
          <a:ln w="0">
            <a:noFill/>
          </a:ln>
        </p:spPr>
        <p:txBody>
          <a:bodyPr wrap="square" lIns="0" tIns="0" rIns="0" bIns="0">
            <a:noAutofit/>
          </a:bodyPr>
          <a:lstStyle/>
          <a:p>
            <a:pPr>
              <a:defRPr sz="2250" b="0">
                <a:solidFill>
                  <a:srgbClr val="000000"/>
                </a:solidFill>
                <a:latin typeface="Calibri"/>
                <a:ea typeface="Calibri"/>
                <a:cs typeface="Calibri"/>
              </a:defRPr>
            </a:pPr>
            <a:r>
              <a:rPr sz="2250" b="0">
                <a:solidFill>
                  <a:srgbClr val="000000"/>
                </a:solidFill>
                <a:latin typeface="Calibri"/>
                <a:ea typeface="Calibri"/>
                <a:cs typeface="Calibri"/>
              </a:rPr>
              <a:t>Tool</a:t>
            </a:r>
          </a:p>
        </p:txBody>
      </p:sp>
      <p:graphicFrame>
        <p:nvGraphicFramePr>
          <p:cNvPr id="18" name="表格 17"/>
          <p:cNvGraphicFramePr/>
          <p:nvPr/>
        </p:nvGraphicFramePr>
        <p:xfrm>
          <a:off x="4905375" y="1466850"/>
          <a:ext cx="3143250" cy="1524000"/>
        </p:xfrm>
        <a:graphic>
          <a:graphicData uri="http://schemas.openxmlformats.org/drawingml/2006/table">
            <a:tbl>
              <a:tblPr/>
              <a:tblGrid>
                <a:gridCol w="1571625">
                  <a:extLst>
                    <a:ext uri="{9D8B030D-6E8A-4147-A177-3AD203B41FA5}">
                      <a16:colId xmlns:a16="http://schemas.microsoft.com/office/drawing/2014/main" val="20000"/>
                    </a:ext>
                  </a:extLst>
                </a:gridCol>
                <a:gridCol w="1571625">
                  <a:extLst>
                    <a:ext uri="{9D8B030D-6E8A-4147-A177-3AD203B41FA5}">
                      <a16:colId xmlns:a16="http://schemas.microsoft.com/office/drawing/2014/main" val="20001"/>
                    </a:ext>
                  </a:extLst>
                </a:gridCol>
              </a:tblGrid>
              <a:tr h="381000">
                <a:tc>
                  <a:txBody>
                    <a:bodyPr/>
                    <a:lstStyle/>
                    <a:p>
                      <a:pPr algn="ctr"/>
                      <a:r>
                        <a:rPr sz="1875">
                          <a:solidFill>
                            <a:srgbClr val="000000"/>
                          </a:solidFill>
                          <a:latin typeface="Calibri"/>
                          <a:ea typeface="Calibri"/>
                          <a:cs typeface="Calibri"/>
                        </a:rPr>
                        <a:t>tid</a:t>
                      </a:r>
                    </a:p>
                  </a:txBody>
                  <a:tcPr marL="47625" marR="47625" marT="28575" marB="28575" anchor="ctr">
                    <a:solidFill>
                      <a:srgbClr val="D9D9D9"/>
                    </a:solidFill>
                  </a:tcPr>
                </a:tc>
                <a:tc>
                  <a:txBody>
                    <a:bodyPr/>
                    <a:lstStyle/>
                    <a:p>
                      <a:pPr algn="ctr"/>
                      <a:r>
                        <a:rPr sz="1875">
                          <a:solidFill>
                            <a:srgbClr val="000000"/>
                          </a:solidFill>
                          <a:latin typeface="Calibri"/>
                          <a:ea typeface="Calibri"/>
                          <a:cs typeface="Calibri"/>
                        </a:rPr>
                        <a:t>category</a:t>
                      </a:r>
                    </a:p>
                  </a:txBody>
                  <a:tcPr marL="47625" marR="47625" marT="28575" marB="28575" anchor="ctr">
                    <a:solidFill>
                      <a:srgbClr val="D9D9D9"/>
                    </a:solidFill>
                  </a:tcPr>
                </a:tc>
                <a:extLst>
                  <a:ext uri="{0D108BD9-81ED-4DB2-BD59-A6C34878D82A}">
                    <a16:rowId xmlns:a16="http://schemas.microsoft.com/office/drawing/2014/main" val="10000"/>
                  </a:ext>
                </a:extLst>
              </a:tr>
              <a:tr h="381000">
                <a:tc>
                  <a:txBody>
                    <a:bodyPr/>
                    <a:lstStyle/>
                    <a:p>
                      <a:pPr algn="ctr"/>
                      <a:r>
                        <a:rPr sz="1875">
                          <a:solidFill>
                            <a:srgbClr val="000000"/>
                          </a:solidFill>
                          <a:latin typeface="Calibri"/>
                          <a:ea typeface="Calibri"/>
                          <a:cs typeface="Calibri"/>
                        </a:rPr>
                        <a:t>T1</a:t>
                      </a:r>
                    </a:p>
                  </a:txBody>
                  <a:tcPr marL="47625" marR="47625" marT="28575" marB="28575" anchor="ctr">
                    <a:solidFill>
                      <a:srgbClr val="FFFFFF"/>
                    </a:solidFill>
                  </a:tcPr>
                </a:tc>
                <a:tc>
                  <a:txBody>
                    <a:bodyPr/>
                    <a:lstStyle/>
                    <a:p>
                      <a:pPr algn="ctr"/>
                      <a:r>
                        <a:rPr sz="1875">
                          <a:solidFill>
                            <a:srgbClr val="000000"/>
                          </a:solidFill>
                          <a:latin typeface="Calibri"/>
                          <a:ea typeface="Calibri"/>
                          <a:cs typeface="Calibri"/>
                        </a:rPr>
                        <a:t>Laser</a:t>
                      </a:r>
                    </a:p>
                  </a:txBody>
                  <a:tcPr marL="47625" marR="47625" marT="28575" marB="28575" anchor="ctr">
                    <a:solidFill>
                      <a:srgbClr val="FFFFFF"/>
                    </a:solidFill>
                  </a:tcPr>
                </a:tc>
                <a:extLst>
                  <a:ext uri="{0D108BD9-81ED-4DB2-BD59-A6C34878D82A}">
                    <a16:rowId xmlns:a16="http://schemas.microsoft.com/office/drawing/2014/main" val="10001"/>
                  </a:ext>
                </a:extLst>
              </a:tr>
              <a:tr h="381000">
                <a:tc>
                  <a:txBody>
                    <a:bodyPr/>
                    <a:lstStyle/>
                    <a:p>
                      <a:pPr algn="ctr"/>
                      <a:r>
                        <a:rPr sz="1875">
                          <a:solidFill>
                            <a:srgbClr val="000000"/>
                          </a:solidFill>
                          <a:latin typeface="Calibri"/>
                          <a:ea typeface="Calibri"/>
                          <a:cs typeface="Calibri"/>
                        </a:rPr>
                        <a:t>T2</a:t>
                      </a:r>
                    </a:p>
                  </a:txBody>
                  <a:tcPr marL="47625" marR="47625" marT="28575" marB="28575" anchor="ctr">
                    <a:solidFill>
                      <a:srgbClr val="FFFFFF"/>
                    </a:solidFill>
                  </a:tcPr>
                </a:tc>
                <a:tc>
                  <a:txBody>
                    <a:bodyPr/>
                    <a:lstStyle/>
                    <a:p>
                      <a:pPr algn="ctr"/>
                      <a:r>
                        <a:rPr sz="1875">
                          <a:solidFill>
                            <a:srgbClr val="000000"/>
                          </a:solidFill>
                          <a:latin typeface="Calibri"/>
                          <a:ea typeface="Calibri"/>
                          <a:cs typeface="Calibri"/>
                        </a:rPr>
                        <a:t>Laser</a:t>
                      </a:r>
                    </a:p>
                  </a:txBody>
                  <a:tcPr marL="47625" marR="47625" marT="28575" marB="28575" anchor="ctr">
                    <a:solidFill>
                      <a:srgbClr val="FFFFFF"/>
                    </a:solidFill>
                  </a:tcPr>
                </a:tc>
                <a:extLst>
                  <a:ext uri="{0D108BD9-81ED-4DB2-BD59-A6C34878D82A}">
                    <a16:rowId xmlns:a16="http://schemas.microsoft.com/office/drawing/2014/main" val="10002"/>
                  </a:ext>
                </a:extLst>
              </a:tr>
              <a:tr h="381000">
                <a:tc>
                  <a:txBody>
                    <a:bodyPr/>
                    <a:lstStyle/>
                    <a:p>
                      <a:pPr algn="ctr"/>
                      <a:r>
                        <a:rPr sz="1875">
                          <a:solidFill>
                            <a:srgbClr val="000000"/>
                          </a:solidFill>
                          <a:latin typeface="Calibri"/>
                          <a:ea typeface="Calibri"/>
                          <a:cs typeface="Calibri"/>
                        </a:rPr>
                        <a:t>T3</a:t>
                      </a:r>
                    </a:p>
                  </a:txBody>
                  <a:tcPr marL="47625" marR="47625" marT="28575" marB="28575" anchor="ctr">
                    <a:solidFill>
                      <a:srgbClr val="FFFFFF"/>
                    </a:solidFill>
                  </a:tcPr>
                </a:tc>
                <a:tc>
                  <a:txBody>
                    <a:bodyPr/>
                    <a:lstStyle/>
                    <a:p>
                      <a:pPr algn="ctr"/>
                      <a:r>
                        <a:rPr sz="1875">
                          <a:solidFill>
                            <a:srgbClr val="000000"/>
                          </a:solidFill>
                          <a:latin typeface="Calibri"/>
                          <a:ea typeface="Calibri"/>
                          <a:cs typeface="Calibri"/>
                        </a:rPr>
                        <a:t>CNC</a:t>
                      </a:r>
                    </a:p>
                  </a:txBody>
                  <a:tcPr marL="47625" marR="47625" marT="28575" marB="28575" anchor="ctr">
                    <a:solidFill>
                      <a:srgbClr val="FFFFFF"/>
                    </a:solidFill>
                  </a:tcPr>
                </a:tc>
                <a:extLst>
                  <a:ext uri="{0D108BD9-81ED-4DB2-BD59-A6C34878D82A}">
                    <a16:rowId xmlns:a16="http://schemas.microsoft.com/office/drawing/2014/main" val="10003"/>
                  </a:ext>
                </a:extLst>
              </a:tr>
            </a:tbl>
          </a:graphicData>
        </a:graphic>
      </p:graphicFrame>
      <p:sp>
        <p:nvSpPr>
          <p:cNvPr id="8" name="body">
            <a:extLst>
              <a:ext uri="{FF2B5EF4-FFF2-40B4-BE49-F238E27FC236}">
                <a16:creationId xmlns:a16="http://schemas.microsoft.com/office/drawing/2014/main" id="{EE601266-4DD2-47C4-A3EC-AB42C42BC133}"/>
              </a:ext>
            </a:extLst>
          </p:cNvPr>
          <p:cNvSpPr>
            <a:spLocks noGrp="1"/>
          </p:cNvSpPr>
          <p:nvPr/>
        </p:nvSpPr>
        <p:spPr>
          <a:xfrm>
            <a:off x="4905375" y="3028950"/>
            <a:ext cx="3143250" cy="285750"/>
          </a:xfrm>
          <a:prstGeom prst="rect">
            <a:avLst/>
          </a:prstGeom>
          <a:noFill/>
          <a:ln w="0">
            <a:noFill/>
          </a:ln>
        </p:spPr>
        <p:txBody>
          <a:bodyPr wrap="square" lIns="0" tIns="0" rIns="0" bIns="0">
            <a:noAutofit/>
          </a:bodyPr>
          <a:lstStyle/>
          <a:p>
            <a:pPr>
              <a:defRPr sz="1725" b="0">
                <a:solidFill>
                  <a:srgbClr val="000000"/>
                </a:solidFill>
                <a:latin typeface="Calibri"/>
                <a:ea typeface="Calibri"/>
                <a:cs typeface="Calibri"/>
              </a:defRPr>
            </a:pPr>
            <a:r>
              <a:rPr sz="1725" b="0">
                <a:solidFill>
                  <a:srgbClr val="000000"/>
                </a:solidFill>
                <a:latin typeface="Calibri"/>
                <a:ea typeface="Calibri"/>
                <a:cs typeface="Calibri"/>
              </a:rPr>
              <a:t>Member</a:t>
            </a:r>
          </a:p>
        </p:txBody>
      </p:sp>
      <p:sp>
        <p:nvSpPr>
          <p:cNvPr id="9" name="body">
            <a:extLst>
              <a:ext uri="{FF2B5EF4-FFF2-40B4-BE49-F238E27FC236}">
                <a16:creationId xmlns:a16="http://schemas.microsoft.com/office/drawing/2014/main" id="{B419F73F-9FD5-468D-B833-0668EC4B9087}"/>
              </a:ext>
            </a:extLst>
          </p:cNvPr>
          <p:cNvSpPr>
            <a:spLocks noGrp="1"/>
          </p:cNvSpPr>
          <p:nvPr/>
        </p:nvSpPr>
        <p:spPr>
          <a:xfrm>
            <a:off x="4905375" y="3276600"/>
            <a:ext cx="3238500" cy="552450"/>
          </a:xfrm>
          <a:prstGeom prst="rect">
            <a:avLst/>
          </a:prstGeom>
          <a:noFill/>
          <a:ln w="0">
            <a:noFill/>
          </a:ln>
        </p:spPr>
        <p:txBody>
          <a:bodyPr wrap="square" lIns="0" tIns="0" rIns="0" bIns="0">
            <a:noAutofit/>
          </a:bodyPr>
          <a:lstStyle/>
          <a:p>
            <a:pPr>
              <a:defRPr sz="1650" b="0">
                <a:solidFill>
                  <a:srgbClr val="000000"/>
                </a:solidFill>
                <a:latin typeface="Calibri"/>
                <a:ea typeface="Calibri"/>
                <a:cs typeface="Calibri"/>
              </a:defRPr>
            </a:pPr>
            <a:r>
              <a:rPr sz="1650" b="0">
                <a:solidFill>
                  <a:srgbClr val="000000"/>
                </a:solidFill>
                <a:latin typeface="Calibri"/>
                <a:ea typeface="Calibri"/>
                <a:cs typeface="Calibri"/>
              </a:rPr>
              <a:t>M1 Alex     M2 Mei</a:t>
            </a:r>
          </a:p>
          <a:p>
            <a:pPr>
              <a:defRPr sz="1650" b="0">
                <a:solidFill>
                  <a:srgbClr val="000000"/>
                </a:solidFill>
                <a:latin typeface="Calibri"/>
                <a:ea typeface="Calibri"/>
                <a:cs typeface="Calibri"/>
              </a:defRPr>
            </a:pPr>
            <a:r>
              <a:rPr sz="1650" b="0">
                <a:solidFill>
                  <a:srgbClr val="000000"/>
                </a:solidFill>
                <a:latin typeface="Calibri"/>
                <a:ea typeface="Calibri"/>
                <a:cs typeface="Calibri"/>
              </a:rPr>
              <a:t>M3 Alex     M4 Noor</a:t>
            </a:r>
          </a:p>
        </p:txBody>
      </p:sp>
      <p:sp>
        <p:nvSpPr>
          <p:cNvPr id="10" name="body">
            <a:extLst>
              <a:ext uri="{FF2B5EF4-FFF2-40B4-BE49-F238E27FC236}">
                <a16:creationId xmlns:a16="http://schemas.microsoft.com/office/drawing/2014/main" id="{3A096542-1A98-4B50-B932-96D98BB7A4BA}"/>
              </a:ext>
            </a:extLst>
          </p:cNvPr>
          <p:cNvSpPr>
            <a:spLocks noGrp="1"/>
          </p:cNvSpPr>
          <p:nvPr/>
        </p:nvSpPr>
        <p:spPr>
          <a:xfrm>
            <a:off x="781050" y="3876675"/>
            <a:ext cx="7600950" cy="1238250"/>
          </a:xfrm>
          <a:prstGeom prst="rect">
            <a:avLst/>
          </a:prstGeom>
          <a:noFill/>
          <a:ln w="0">
            <a:noFill/>
          </a:ln>
        </p:spPr>
        <p:txBody>
          <a:bodyPr wrap="square" lIns="0" tIns="0" rIns="0" bIns="0">
            <a:noAutofit/>
          </a:bodyPr>
          <a:lstStyle/>
          <a:p>
            <a:pPr>
              <a:defRPr sz="2175" b="0">
                <a:solidFill>
                  <a:srgbClr val="FF0000"/>
                </a:solidFill>
                <a:latin typeface="Calibri"/>
                <a:ea typeface="Calibri"/>
                <a:cs typeface="Calibri"/>
              </a:defRPr>
            </a:pPr>
            <a:r>
              <a:rPr sz="2175" b="0" dirty="0">
                <a:solidFill>
                  <a:srgbClr val="FF0000"/>
                </a:solidFill>
                <a:latin typeface="Calibri"/>
                <a:ea typeface="Calibri"/>
                <a:cs typeface="Calibri"/>
              </a:rPr>
              <a:t>Find members missing at least one tool in Tool, including members who have never trained.</a:t>
            </a:r>
          </a:p>
        </p:txBody>
      </p:sp>
      <p:sp>
        <p:nvSpPr>
          <p:cNvPr id="11" name="body">
            <a:extLst>
              <a:ext uri="{FF2B5EF4-FFF2-40B4-BE49-F238E27FC236}">
                <a16:creationId xmlns:a16="http://schemas.microsoft.com/office/drawing/2014/main" id="{F8107467-756B-47A8-882D-D6C5F154CD57}"/>
              </a:ext>
            </a:extLst>
          </p:cNvPr>
          <p:cNvSpPr>
            <a:spLocks noGrp="1"/>
          </p:cNvSpPr>
          <p:nvPr/>
        </p:nvSpPr>
        <p:spPr>
          <a:xfrm>
            <a:off x="781050" y="5257800"/>
            <a:ext cx="7600950" cy="495300"/>
          </a:xfrm>
          <a:prstGeom prst="rect">
            <a:avLst/>
          </a:prstGeom>
          <a:noFill/>
          <a:ln w="0">
            <a:noFill/>
          </a:ln>
        </p:spPr>
        <p:txBody>
          <a:bodyPr wrap="square" lIns="0" tIns="0" rIns="0" bIns="0">
            <a:noAutofit/>
          </a:bodyPr>
          <a:lstStyle/>
          <a:p>
            <a:pPr>
              <a:defRPr sz="1950" b="0">
                <a:solidFill>
                  <a:srgbClr val="000000"/>
                </a:solidFill>
                <a:latin typeface="Calibri"/>
                <a:ea typeface="Calibri"/>
                <a:cs typeface="Calibri"/>
              </a:defRPr>
            </a:pPr>
            <a:r>
              <a:rPr sz="1950" b="0">
                <a:solidFill>
                  <a:srgbClr val="000000"/>
                </a:solidFill>
                <a:latin typeface="Calibri"/>
                <a:ea typeface="Calibri"/>
                <a:cs typeface="Calibri"/>
              </a:rPr>
              <a:t>Also identify which returned members have no training records.</a:t>
            </a:r>
          </a:p>
        </p:txBody>
      </p:sp>
      <p:sp>
        <p:nvSpPr>
          <p:cNvPr id="9001" name="Title 1">
            <a:extLst>
              <a:ext uri="{FF2B5EF4-FFF2-40B4-BE49-F238E27FC236}">
                <a16:creationId xmlns:a16="http://schemas.microsoft.com/office/drawing/2014/main" id="{4EF27E5C-9C4D-BDBE-7667-D0B141BCC8F5}"/>
              </a:ext>
            </a:extLst>
          </p:cNvPr>
          <p:cNvSpPr>
            <a:spLocks noGrp="1"/>
          </p:cNvSpPr>
          <p:nvPr>
            <p:ph type="title"/>
          </p:nvPr>
        </p:nvSpPr>
        <p:spPr/>
        <p:txBody>
          <a:bodyPr/>
          <a:lstStyle/>
          <a:p>
            <a:r>
              <a:rPr lang="en-US">
                <a:solidFill>
                  <a:srgbClr val="FF0000"/>
                </a:solidFill>
              </a:rPr>
              <a:t>Practice: </a:t>
            </a:r>
            <a:r>
              <a:rPr lang="en-US">
                <a:solidFill>
                  <a:srgbClr val="3333CC"/>
                </a:solidFill>
              </a:rPr>
              <a:t>Q32</a:t>
            </a:r>
          </a:p>
        </p:txBody>
      </p:sp>
      <p:sp>
        <p:nvSpPr>
          <p:cNvPr id="9002" name="Slide Number Placeholder 1">
            <a:extLst>
              <a:ext uri="{FF2B5EF4-FFF2-40B4-BE49-F238E27FC236}">
                <a16:creationId xmlns:a16="http://schemas.microsoft.com/office/drawing/2014/main" id="{B90139AC-3BDA-723A-097A-000DA0A784C1}"/>
              </a:ext>
            </a:extLst>
          </p:cNvPr>
          <p:cNvSpPr>
            <a:spLocks noGrp="1"/>
          </p:cNvSpPr>
          <p:nvPr>
            <p:ph type="sldNum" sz="quarter" idx="12"/>
          </p:nvPr>
        </p:nvSpPr>
        <p:spPr/>
        <p:txBody>
          <a:bodyPr/>
          <a:lstStyle/>
          <a:p>
            <a:pPr>
              <a:defRPr/>
            </a:pPr>
            <a:fld id="{43CA101F-9E5F-9249-9862-3CE55B3BB777}" type="slidenum">
              <a:rPr lang="en-US" altLang="zh-TW" smtClean="0"/>
              <a:pPr>
                <a:defRPr/>
              </a:pPr>
              <a:t>88</a:t>
            </a:fld>
            <a:endParaRPr lang="en-US" altLang="zh-TW"/>
          </a:p>
        </p:txBody>
      </p:sp>
    </p:spTree>
    <p:extLst>
      <p:ext uri="{BB962C8B-B14F-4D97-AF65-F5344CB8AC3E}">
        <p14:creationId xmlns:p14="http://schemas.microsoft.com/office/powerpoint/2010/main" val="155708553"/>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formula">
            <a:extLst>
              <a:ext uri="{FF2B5EF4-FFF2-40B4-BE49-F238E27FC236}">
                <a16:creationId xmlns:a16="http://schemas.microsoft.com/office/drawing/2014/main" id="{CF50672E-B4B3-45BC-9D4C-C32C1556FBFC}"/>
              </a:ext>
            </a:extLst>
          </p:cNvPr>
          <p:cNvSpPr>
            <a:spLocks noGrp="1"/>
          </p:cNvSpPr>
          <p:nvPr/>
        </p:nvSpPr>
        <p:spPr>
          <a:xfrm>
            <a:off x="781050" y="1047750"/>
            <a:ext cx="7620000" cy="523875"/>
          </a:xfrm>
          <a:prstGeom prst="rect">
            <a:avLst/>
          </a:prstGeom>
          <a:noFill/>
          <a:ln w="0">
            <a:noFill/>
          </a:ln>
        </p:spPr>
        <p:txBody>
          <a:bodyPr wrap="square" lIns="0" tIns="0" rIns="0" bIns="0">
            <a:noAutofit/>
          </a:bodyPr>
          <a:lstStyle/>
          <a:p>
            <a:pPr>
              <a:defRPr sz="2025" b="0">
                <a:solidFill>
                  <a:srgbClr val="000000"/>
                </a:solidFill>
                <a:latin typeface="Cambria Math"/>
                <a:ea typeface="Cambria Math"/>
                <a:cs typeface="Cambria Math"/>
              </a:defRPr>
            </a:pPr>
            <a:r>
              <a:rPr sz="2025" b="0">
                <a:solidFill>
                  <a:srgbClr val="000000"/>
                </a:solidFill>
                <a:latin typeface="Cambria Math"/>
                <a:ea typeface="Cambria Math"/>
                <a:cs typeface="Cambria Math"/>
              </a:rPr>
              <a:t>U ← π</a:t>
            </a:r>
            <a:r>
              <a:rPr sz="1438" b="0" baseline="-25000">
                <a:solidFill>
                  <a:srgbClr val="000000"/>
                </a:solidFill>
                <a:latin typeface="Cambria Math"/>
                <a:ea typeface="Cambria Math"/>
                <a:cs typeface="Cambria Math"/>
              </a:rPr>
              <a:t>mid</a:t>
            </a:r>
            <a:r>
              <a:rPr sz="2025" b="0">
                <a:solidFill>
                  <a:srgbClr val="000000"/>
                </a:solidFill>
                <a:latin typeface="Cambria Math"/>
                <a:ea typeface="Cambria Math"/>
                <a:cs typeface="Cambria Math"/>
              </a:rPr>
              <a:t>(Member) = { (M1), (M2), (M3), (M4) }</a:t>
            </a:r>
          </a:p>
        </p:txBody>
      </p:sp>
      <p:sp>
        <p:nvSpPr>
          <p:cNvPr id="4" name="formula">
            <a:extLst>
              <a:ext uri="{FF2B5EF4-FFF2-40B4-BE49-F238E27FC236}">
                <a16:creationId xmlns:a16="http://schemas.microsoft.com/office/drawing/2014/main" id="{38BB71BC-5949-4B78-9ECC-0B790B4BDC10}"/>
              </a:ext>
            </a:extLst>
          </p:cNvPr>
          <p:cNvSpPr>
            <a:spLocks noGrp="1"/>
          </p:cNvSpPr>
          <p:nvPr/>
        </p:nvSpPr>
        <p:spPr>
          <a:xfrm>
            <a:off x="781050" y="1857375"/>
            <a:ext cx="7620000" cy="523875"/>
          </a:xfrm>
          <a:prstGeom prst="rect">
            <a:avLst/>
          </a:prstGeom>
          <a:noFill/>
          <a:ln w="0">
            <a:noFill/>
          </a:ln>
        </p:spPr>
        <p:txBody>
          <a:bodyPr wrap="square" lIns="0" tIns="0" rIns="0" bIns="0">
            <a:noAutofit/>
          </a:bodyPr>
          <a:lstStyle/>
          <a:p>
            <a:pPr>
              <a:defRPr sz="2025" b="0">
                <a:solidFill>
                  <a:srgbClr val="000000"/>
                </a:solidFill>
                <a:latin typeface="Cambria Math"/>
                <a:ea typeface="Cambria Math"/>
                <a:cs typeface="Cambria Math"/>
              </a:defRPr>
            </a:pPr>
            <a:r>
              <a:rPr sz="2025" b="0">
                <a:solidFill>
                  <a:srgbClr val="000000"/>
                </a:solidFill>
                <a:latin typeface="Cambria Math"/>
                <a:ea typeface="Cambria Math"/>
                <a:cs typeface="Cambria Math"/>
              </a:rPr>
              <a:t>Required ← π</a:t>
            </a:r>
            <a:r>
              <a:rPr sz="1438" b="0" baseline="-25000">
                <a:solidFill>
                  <a:srgbClr val="000000"/>
                </a:solidFill>
                <a:latin typeface="Cambria Math"/>
                <a:ea typeface="Cambria Math"/>
                <a:cs typeface="Cambria Math"/>
              </a:rPr>
              <a:t>tid</a:t>
            </a:r>
            <a:r>
              <a:rPr sz="2025" b="0">
                <a:solidFill>
                  <a:srgbClr val="000000"/>
                </a:solidFill>
                <a:latin typeface="Cambria Math"/>
                <a:ea typeface="Cambria Math"/>
                <a:cs typeface="Cambria Math"/>
              </a:rPr>
              <a:t>(Tool) = { (T1), (T2), (T3) }</a:t>
            </a:r>
          </a:p>
        </p:txBody>
      </p:sp>
      <p:sp>
        <p:nvSpPr>
          <p:cNvPr id="5" name="formula">
            <a:extLst>
              <a:ext uri="{FF2B5EF4-FFF2-40B4-BE49-F238E27FC236}">
                <a16:creationId xmlns:a16="http://schemas.microsoft.com/office/drawing/2014/main" id="{89CCB8E5-7BEB-4327-AE5A-A8D78E5FA4B5}"/>
              </a:ext>
            </a:extLst>
          </p:cNvPr>
          <p:cNvSpPr>
            <a:spLocks noGrp="1"/>
          </p:cNvSpPr>
          <p:nvPr/>
        </p:nvSpPr>
        <p:spPr>
          <a:xfrm>
            <a:off x="781050" y="2647950"/>
            <a:ext cx="7620000" cy="523875"/>
          </a:xfrm>
          <a:prstGeom prst="rect">
            <a:avLst/>
          </a:prstGeom>
          <a:noFill/>
          <a:ln w="0">
            <a:noFill/>
          </a:ln>
        </p:spPr>
        <p:txBody>
          <a:bodyPr wrap="square" lIns="0" tIns="0" rIns="0" bIns="0">
            <a:noAutofit/>
          </a:bodyPr>
          <a:lstStyle/>
          <a:p>
            <a:pPr>
              <a:defRPr sz="2175" b="0">
                <a:solidFill>
                  <a:srgbClr val="000000"/>
                </a:solidFill>
                <a:latin typeface="Cambria Math"/>
                <a:ea typeface="Cambria Math"/>
                <a:cs typeface="Cambria Math"/>
              </a:defRPr>
            </a:pPr>
            <a:r>
              <a:rPr sz="2175" b="0">
                <a:solidFill>
                  <a:srgbClr val="000000"/>
                </a:solidFill>
                <a:latin typeface="Cambria Math"/>
                <a:ea typeface="Cambria Math"/>
                <a:cs typeface="Cambria Math"/>
              </a:rPr>
              <a:t>P ← π</a:t>
            </a:r>
            <a:r>
              <a:rPr sz="1544" b="0" baseline="-25000">
                <a:solidFill>
                  <a:srgbClr val="000000"/>
                </a:solidFill>
                <a:latin typeface="Cambria Math"/>
                <a:ea typeface="Cambria Math"/>
                <a:cs typeface="Cambria Math"/>
              </a:rPr>
              <a:t>mid,tid</a:t>
            </a:r>
            <a:r>
              <a:rPr sz="2175" b="0">
                <a:solidFill>
                  <a:srgbClr val="000000"/>
                </a:solidFill>
                <a:latin typeface="Cambria Math"/>
                <a:ea typeface="Cambria Math"/>
                <a:cs typeface="Cambria Math"/>
              </a:rPr>
              <a:t>(Trained)</a:t>
            </a:r>
          </a:p>
        </p:txBody>
      </p:sp>
      <p:sp>
        <p:nvSpPr>
          <p:cNvPr id="6" name="formula">
            <a:extLst>
              <a:ext uri="{FF2B5EF4-FFF2-40B4-BE49-F238E27FC236}">
                <a16:creationId xmlns:a16="http://schemas.microsoft.com/office/drawing/2014/main" id="{A3EDE566-51E7-4A77-805A-A64113986C03}"/>
              </a:ext>
            </a:extLst>
          </p:cNvPr>
          <p:cNvSpPr>
            <a:spLocks noGrp="1"/>
          </p:cNvSpPr>
          <p:nvPr/>
        </p:nvSpPr>
        <p:spPr>
          <a:xfrm>
            <a:off x="781050" y="3448050"/>
            <a:ext cx="7620000" cy="523875"/>
          </a:xfrm>
          <a:prstGeom prst="rect">
            <a:avLst/>
          </a:prstGeom>
          <a:noFill/>
          <a:ln w="0">
            <a:noFill/>
          </a:ln>
        </p:spPr>
        <p:txBody>
          <a:bodyPr wrap="square" lIns="0" tIns="0" rIns="0" bIns="0">
            <a:noAutofit/>
          </a:bodyPr>
          <a:lstStyle/>
          <a:p>
            <a:pPr>
              <a:defRPr sz="2325" b="0">
                <a:solidFill>
                  <a:srgbClr val="000000"/>
                </a:solidFill>
                <a:latin typeface="Cambria Math"/>
                <a:ea typeface="Cambria Math"/>
                <a:cs typeface="Cambria Math"/>
              </a:defRPr>
            </a:pPr>
            <a:r>
              <a:rPr sz="2325" b="0">
                <a:solidFill>
                  <a:srgbClr val="000000"/>
                </a:solidFill>
                <a:latin typeface="Cambria Math"/>
                <a:ea typeface="Cambria Math"/>
                <a:cs typeface="Cambria Math"/>
              </a:rPr>
              <a:t>Needed ← U × Required</a:t>
            </a:r>
          </a:p>
        </p:txBody>
      </p:sp>
      <p:sp>
        <p:nvSpPr>
          <p:cNvPr id="7" name="body">
            <a:extLst>
              <a:ext uri="{FF2B5EF4-FFF2-40B4-BE49-F238E27FC236}">
                <a16:creationId xmlns:a16="http://schemas.microsoft.com/office/drawing/2014/main" id="{5D9426EA-D3B4-464F-A861-A46C4AC569E8}"/>
              </a:ext>
            </a:extLst>
          </p:cNvPr>
          <p:cNvSpPr>
            <a:spLocks noGrp="1"/>
          </p:cNvSpPr>
          <p:nvPr/>
        </p:nvSpPr>
        <p:spPr>
          <a:xfrm>
            <a:off x="781050" y="4429125"/>
            <a:ext cx="7600950" cy="952500"/>
          </a:xfrm>
          <a:prstGeom prst="rect">
            <a:avLst/>
          </a:prstGeom>
          <a:noFill/>
          <a:ln w="0">
            <a:noFill/>
          </a:ln>
        </p:spPr>
        <p:txBody>
          <a:bodyPr wrap="square" lIns="0" tIns="0" rIns="0" bIns="0">
            <a:noAutofit/>
          </a:bodyPr>
          <a:lstStyle/>
          <a:p>
            <a:pPr>
              <a:defRPr sz="2175" b="0">
                <a:solidFill>
                  <a:srgbClr val="000000"/>
                </a:solidFill>
                <a:latin typeface="Calibri"/>
                <a:ea typeface="Calibri"/>
                <a:cs typeface="Calibri"/>
              </a:defRPr>
            </a:pPr>
            <a:r>
              <a:rPr sz="2175" b="0">
                <a:solidFill>
                  <a:srgbClr val="000000"/>
                </a:solidFill>
                <a:latin typeface="Calibri"/>
                <a:ea typeface="Calibri"/>
                <a:cs typeface="Calibri"/>
              </a:rPr>
              <a:t>Needed(mid, tid) has 4 × 3 = 12 tuples: each member paired with each required tool.</a:t>
            </a:r>
          </a:p>
        </p:txBody>
      </p:sp>
      <p:sp>
        <p:nvSpPr>
          <p:cNvPr id="8" name="body">
            <a:extLst>
              <a:ext uri="{FF2B5EF4-FFF2-40B4-BE49-F238E27FC236}">
                <a16:creationId xmlns:a16="http://schemas.microsoft.com/office/drawing/2014/main" id="{9A6A9CE8-E378-4800-9B6A-702B42B75493}"/>
              </a:ext>
            </a:extLst>
          </p:cNvPr>
          <p:cNvSpPr>
            <a:spLocks noGrp="1"/>
          </p:cNvSpPr>
          <p:nvPr/>
        </p:nvSpPr>
        <p:spPr>
          <a:xfrm>
            <a:off x="781050" y="5467350"/>
            <a:ext cx="7600950" cy="952500"/>
          </a:xfrm>
          <a:prstGeom prst="rect">
            <a:avLst/>
          </a:prstGeom>
          <a:noFill/>
          <a:ln w="0">
            <a:noFill/>
          </a:ln>
        </p:spPr>
        <p:txBody>
          <a:bodyPr wrap="square" lIns="0" tIns="0" rIns="0" bIns="0">
            <a:noAutofit/>
          </a:bodyPr>
          <a:lstStyle/>
          <a:p>
            <a:pPr>
              <a:defRPr sz="2100" b="0">
                <a:solidFill>
                  <a:srgbClr val="FF0000"/>
                </a:solidFill>
                <a:latin typeface="Calibri"/>
                <a:ea typeface="Calibri"/>
                <a:cs typeface="Calibri"/>
              </a:defRPr>
            </a:pPr>
            <a:r>
              <a:rPr sz="2100" b="0">
                <a:solidFill>
                  <a:srgbClr val="FF0000"/>
                </a:solidFill>
                <a:latin typeface="Calibri"/>
                <a:ea typeface="Calibri"/>
                <a:cs typeface="Calibri"/>
              </a:rPr>
              <a:t>M4 stays in U despite having no completed pair in P.</a:t>
            </a:r>
          </a:p>
        </p:txBody>
      </p:sp>
      <p:sp>
        <p:nvSpPr>
          <p:cNvPr id="9001" name="Title 1">
            <a:extLst>
              <a:ext uri="{FF2B5EF4-FFF2-40B4-BE49-F238E27FC236}">
                <a16:creationId xmlns:a16="http://schemas.microsoft.com/office/drawing/2014/main" id="{4EF27E5C-9C4D-BDBE-7667-D0B141BCC8F5}"/>
              </a:ext>
            </a:extLst>
          </p:cNvPr>
          <p:cNvSpPr>
            <a:spLocks noGrp="1"/>
          </p:cNvSpPr>
          <p:nvPr>
            <p:ph type="title"/>
          </p:nvPr>
        </p:nvSpPr>
        <p:spPr/>
        <p:txBody>
          <a:bodyPr/>
          <a:lstStyle/>
          <a:p>
            <a:r>
              <a:rPr lang="en-US">
                <a:solidFill>
                  <a:srgbClr val="FF0000"/>
                </a:solidFill>
              </a:rPr>
              <a:t>Solutions: </a:t>
            </a:r>
            <a:r>
              <a:rPr lang="en-US">
                <a:solidFill>
                  <a:srgbClr val="3333CC"/>
                </a:solidFill>
              </a:rPr>
              <a:t>Q32 (1)</a:t>
            </a:r>
          </a:p>
        </p:txBody>
      </p:sp>
      <p:sp>
        <p:nvSpPr>
          <p:cNvPr id="9002" name="Slide Number Placeholder 1">
            <a:extLst>
              <a:ext uri="{FF2B5EF4-FFF2-40B4-BE49-F238E27FC236}">
                <a16:creationId xmlns:a16="http://schemas.microsoft.com/office/drawing/2014/main" id="{B90139AC-3BDA-723A-097A-000DA0A784C1}"/>
              </a:ext>
            </a:extLst>
          </p:cNvPr>
          <p:cNvSpPr>
            <a:spLocks noGrp="1"/>
          </p:cNvSpPr>
          <p:nvPr>
            <p:ph type="sldNum" sz="quarter" idx="12"/>
          </p:nvPr>
        </p:nvSpPr>
        <p:spPr/>
        <p:txBody>
          <a:bodyPr/>
          <a:lstStyle/>
          <a:p>
            <a:pPr>
              <a:defRPr/>
            </a:pPr>
            <a:fld id="{43CA101F-9E5F-9249-9862-3CE55B3BB777}" type="slidenum">
              <a:rPr lang="en-US" altLang="zh-TW" smtClean="0"/>
              <a:pPr>
                <a:defRPr/>
              </a:pPr>
              <a:t>89</a:t>
            </a:fld>
            <a:endParaRPr lang="en-US" altLang="zh-TW"/>
          </a:p>
        </p:txBody>
      </p:sp>
    </p:spTree>
    <p:extLst>
      <p:ext uri="{BB962C8B-B14F-4D97-AF65-F5344CB8AC3E}">
        <p14:creationId xmlns:p14="http://schemas.microsoft.com/office/powerpoint/2010/main" val="217322517"/>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formula">
            <a:extLst>
              <a:ext uri="{FF2B5EF4-FFF2-40B4-BE49-F238E27FC236}">
                <a16:creationId xmlns:a16="http://schemas.microsoft.com/office/drawing/2014/main" id="{EBA55883-AD1B-4D7D-90CD-AFCAADFD831E}"/>
              </a:ext>
            </a:extLst>
          </p:cNvPr>
          <p:cNvSpPr>
            <a:spLocks noGrp="1"/>
          </p:cNvSpPr>
          <p:nvPr/>
        </p:nvSpPr>
        <p:spPr>
          <a:xfrm>
            <a:off x="781050" y="1028700"/>
            <a:ext cx="7620000" cy="523875"/>
          </a:xfrm>
          <a:prstGeom prst="rect">
            <a:avLst/>
          </a:prstGeom>
          <a:noFill/>
          <a:ln w="0">
            <a:noFill/>
          </a:ln>
        </p:spPr>
        <p:txBody>
          <a:bodyPr wrap="square" lIns="0" tIns="0" rIns="0" bIns="0">
            <a:noAutofit/>
          </a:bodyPr>
          <a:lstStyle/>
          <a:p>
            <a:pPr>
              <a:defRPr sz="2325" b="0">
                <a:solidFill>
                  <a:srgbClr val="000000"/>
                </a:solidFill>
                <a:latin typeface="Cambria Math"/>
                <a:ea typeface="Cambria Math"/>
                <a:cs typeface="Cambria Math"/>
              </a:defRPr>
            </a:pPr>
            <a:r>
              <a:rPr sz="2325" b="0">
                <a:solidFill>
                  <a:srgbClr val="000000"/>
                </a:solidFill>
                <a:latin typeface="Cambria Math"/>
                <a:ea typeface="Cambria Math"/>
                <a:cs typeface="Cambria Math"/>
              </a:rPr>
              <a:t>Missing ← Needed − P</a:t>
            </a:r>
          </a:p>
        </p:txBody>
      </p:sp>
      <p:sp>
        <p:nvSpPr>
          <p:cNvPr id="4" name="body">
            <a:extLst>
              <a:ext uri="{FF2B5EF4-FFF2-40B4-BE49-F238E27FC236}">
                <a16:creationId xmlns:a16="http://schemas.microsoft.com/office/drawing/2014/main" id="{EB1BB6C1-7FA9-4FE4-B2A5-76CD81D9D32C}"/>
              </a:ext>
            </a:extLst>
          </p:cNvPr>
          <p:cNvSpPr>
            <a:spLocks noGrp="1"/>
          </p:cNvSpPr>
          <p:nvPr/>
        </p:nvSpPr>
        <p:spPr>
          <a:xfrm>
            <a:off x="771525" y="1924050"/>
            <a:ext cx="2276475" cy="361950"/>
          </a:xfrm>
          <a:prstGeom prst="rect">
            <a:avLst/>
          </a:prstGeom>
          <a:noFill/>
          <a:ln w="0">
            <a:noFill/>
          </a:ln>
        </p:spPr>
        <p:txBody>
          <a:bodyPr wrap="square" lIns="0" tIns="0" rIns="0" bIns="0">
            <a:noAutofit/>
          </a:bodyPr>
          <a:lstStyle/>
          <a:p>
            <a:pPr>
              <a:defRPr sz="2250" b="0">
                <a:solidFill>
                  <a:srgbClr val="000000"/>
                </a:solidFill>
                <a:latin typeface="Calibri"/>
                <a:ea typeface="Calibri"/>
                <a:cs typeface="Calibri"/>
              </a:defRPr>
            </a:pPr>
            <a:r>
              <a:rPr sz="2250" b="0">
                <a:solidFill>
                  <a:srgbClr val="000000"/>
                </a:solidFill>
                <a:latin typeface="Calibri"/>
                <a:ea typeface="Calibri"/>
                <a:cs typeface="Calibri"/>
              </a:rPr>
              <a:t>Needed: M1–M2</a:t>
            </a:r>
          </a:p>
        </p:txBody>
      </p:sp>
      <p:graphicFrame>
        <p:nvGraphicFramePr>
          <p:cNvPr id="15" name="表格 14"/>
          <p:cNvGraphicFramePr/>
          <p:nvPr/>
        </p:nvGraphicFramePr>
        <p:xfrm>
          <a:off x="847725" y="2343150"/>
          <a:ext cx="2276476" cy="2400300"/>
        </p:xfrm>
        <a:graphic>
          <a:graphicData uri="http://schemas.openxmlformats.org/drawingml/2006/table">
            <a:tbl>
              <a:tblPr/>
              <a:tblGrid>
                <a:gridCol w="1138238">
                  <a:extLst>
                    <a:ext uri="{9D8B030D-6E8A-4147-A177-3AD203B41FA5}">
                      <a16:colId xmlns:a16="http://schemas.microsoft.com/office/drawing/2014/main" val="20000"/>
                    </a:ext>
                  </a:extLst>
                </a:gridCol>
                <a:gridCol w="1138238">
                  <a:extLst>
                    <a:ext uri="{9D8B030D-6E8A-4147-A177-3AD203B41FA5}">
                      <a16:colId xmlns:a16="http://schemas.microsoft.com/office/drawing/2014/main" val="20001"/>
                    </a:ext>
                  </a:extLst>
                </a:gridCol>
              </a:tblGrid>
              <a:tr h="342900">
                <a:tc>
                  <a:txBody>
                    <a:bodyPr/>
                    <a:lstStyle/>
                    <a:p>
                      <a:pPr algn="ctr"/>
                      <a:r>
                        <a:rPr sz="1725">
                          <a:solidFill>
                            <a:srgbClr val="000000"/>
                          </a:solidFill>
                          <a:latin typeface="Calibri"/>
                          <a:ea typeface="Calibri"/>
                          <a:cs typeface="Calibri"/>
                        </a:rPr>
                        <a:t>mid</a:t>
                      </a:r>
                    </a:p>
                  </a:txBody>
                  <a:tcPr marL="47625" marR="47625" marT="28575" marB="28575" anchor="ctr">
                    <a:solidFill>
                      <a:srgbClr val="D9D9D9"/>
                    </a:solidFill>
                  </a:tcPr>
                </a:tc>
                <a:tc>
                  <a:txBody>
                    <a:bodyPr/>
                    <a:lstStyle/>
                    <a:p>
                      <a:pPr algn="ctr"/>
                      <a:r>
                        <a:rPr sz="1725">
                          <a:solidFill>
                            <a:srgbClr val="000000"/>
                          </a:solidFill>
                          <a:latin typeface="Calibri"/>
                          <a:ea typeface="Calibri"/>
                          <a:cs typeface="Calibri"/>
                        </a:rPr>
                        <a:t>tid</a:t>
                      </a:r>
                    </a:p>
                  </a:txBody>
                  <a:tcPr marL="47625" marR="47625" marT="28575" marB="28575" anchor="ctr">
                    <a:solidFill>
                      <a:srgbClr val="D9D9D9"/>
                    </a:solidFill>
                  </a:tcPr>
                </a:tc>
                <a:extLst>
                  <a:ext uri="{0D108BD9-81ED-4DB2-BD59-A6C34878D82A}">
                    <a16:rowId xmlns:a16="http://schemas.microsoft.com/office/drawing/2014/main" val="10000"/>
                  </a:ext>
                </a:extLst>
              </a:tr>
              <a:tr h="342900">
                <a:tc>
                  <a:txBody>
                    <a:bodyPr/>
                    <a:lstStyle/>
                    <a:p>
                      <a:pPr algn="ctr"/>
                      <a:r>
                        <a:rPr sz="1725">
                          <a:solidFill>
                            <a:srgbClr val="000000"/>
                          </a:solidFill>
                          <a:latin typeface="Calibri"/>
                          <a:ea typeface="Calibri"/>
                          <a:cs typeface="Calibri"/>
                        </a:rPr>
                        <a:t>M1</a:t>
                      </a:r>
                    </a:p>
                  </a:txBody>
                  <a:tcPr marL="47625" marR="47625" marT="28575" marB="28575" anchor="ctr">
                    <a:solidFill>
                      <a:srgbClr val="FFFFFF"/>
                    </a:solidFill>
                  </a:tcPr>
                </a:tc>
                <a:tc>
                  <a:txBody>
                    <a:bodyPr/>
                    <a:lstStyle/>
                    <a:p>
                      <a:pPr algn="ctr"/>
                      <a:r>
                        <a:rPr sz="1725">
                          <a:solidFill>
                            <a:srgbClr val="000000"/>
                          </a:solidFill>
                          <a:latin typeface="Calibri"/>
                          <a:ea typeface="Calibri"/>
                          <a:cs typeface="Calibri"/>
                        </a:rPr>
                        <a:t>T1</a:t>
                      </a:r>
                    </a:p>
                  </a:txBody>
                  <a:tcPr marL="47625" marR="47625" marT="28575" marB="28575" anchor="ctr">
                    <a:solidFill>
                      <a:srgbClr val="FFFFFF"/>
                    </a:solidFill>
                  </a:tcPr>
                </a:tc>
                <a:extLst>
                  <a:ext uri="{0D108BD9-81ED-4DB2-BD59-A6C34878D82A}">
                    <a16:rowId xmlns:a16="http://schemas.microsoft.com/office/drawing/2014/main" val="10001"/>
                  </a:ext>
                </a:extLst>
              </a:tr>
              <a:tr h="342900">
                <a:tc>
                  <a:txBody>
                    <a:bodyPr/>
                    <a:lstStyle/>
                    <a:p>
                      <a:pPr algn="ctr"/>
                      <a:r>
                        <a:rPr sz="1725">
                          <a:solidFill>
                            <a:srgbClr val="000000"/>
                          </a:solidFill>
                          <a:latin typeface="Calibri"/>
                          <a:ea typeface="Calibri"/>
                          <a:cs typeface="Calibri"/>
                        </a:rPr>
                        <a:t>M1</a:t>
                      </a:r>
                    </a:p>
                  </a:txBody>
                  <a:tcPr marL="47625" marR="47625" marT="28575" marB="28575" anchor="ctr">
                    <a:solidFill>
                      <a:srgbClr val="FFFFFF"/>
                    </a:solidFill>
                  </a:tcPr>
                </a:tc>
                <a:tc>
                  <a:txBody>
                    <a:bodyPr/>
                    <a:lstStyle/>
                    <a:p>
                      <a:pPr algn="ctr"/>
                      <a:r>
                        <a:rPr sz="1725">
                          <a:solidFill>
                            <a:srgbClr val="000000"/>
                          </a:solidFill>
                          <a:latin typeface="Calibri"/>
                          <a:ea typeface="Calibri"/>
                          <a:cs typeface="Calibri"/>
                        </a:rPr>
                        <a:t>T2</a:t>
                      </a:r>
                    </a:p>
                  </a:txBody>
                  <a:tcPr marL="47625" marR="47625" marT="28575" marB="28575" anchor="ctr">
                    <a:solidFill>
                      <a:srgbClr val="FFFFFF"/>
                    </a:solidFill>
                  </a:tcPr>
                </a:tc>
                <a:extLst>
                  <a:ext uri="{0D108BD9-81ED-4DB2-BD59-A6C34878D82A}">
                    <a16:rowId xmlns:a16="http://schemas.microsoft.com/office/drawing/2014/main" val="10002"/>
                  </a:ext>
                </a:extLst>
              </a:tr>
              <a:tr h="342900">
                <a:tc>
                  <a:txBody>
                    <a:bodyPr/>
                    <a:lstStyle/>
                    <a:p>
                      <a:pPr algn="ctr"/>
                      <a:r>
                        <a:rPr sz="1725">
                          <a:solidFill>
                            <a:srgbClr val="000000"/>
                          </a:solidFill>
                          <a:latin typeface="Calibri"/>
                          <a:ea typeface="Calibri"/>
                          <a:cs typeface="Calibri"/>
                        </a:rPr>
                        <a:t>M1</a:t>
                      </a:r>
                    </a:p>
                  </a:txBody>
                  <a:tcPr marL="47625" marR="47625" marT="28575" marB="28575" anchor="ctr">
                    <a:solidFill>
                      <a:srgbClr val="FFFFFF"/>
                    </a:solidFill>
                  </a:tcPr>
                </a:tc>
                <a:tc>
                  <a:txBody>
                    <a:bodyPr/>
                    <a:lstStyle/>
                    <a:p>
                      <a:pPr algn="ctr"/>
                      <a:r>
                        <a:rPr sz="1725">
                          <a:solidFill>
                            <a:srgbClr val="000000"/>
                          </a:solidFill>
                          <a:latin typeface="Calibri"/>
                          <a:ea typeface="Calibri"/>
                          <a:cs typeface="Calibri"/>
                        </a:rPr>
                        <a:t>T3</a:t>
                      </a:r>
                    </a:p>
                  </a:txBody>
                  <a:tcPr marL="47625" marR="47625" marT="28575" marB="28575" anchor="ctr">
                    <a:solidFill>
                      <a:srgbClr val="FFFFFF"/>
                    </a:solidFill>
                  </a:tcPr>
                </a:tc>
                <a:extLst>
                  <a:ext uri="{0D108BD9-81ED-4DB2-BD59-A6C34878D82A}">
                    <a16:rowId xmlns:a16="http://schemas.microsoft.com/office/drawing/2014/main" val="10003"/>
                  </a:ext>
                </a:extLst>
              </a:tr>
              <a:tr h="342900">
                <a:tc>
                  <a:txBody>
                    <a:bodyPr/>
                    <a:lstStyle/>
                    <a:p>
                      <a:pPr algn="ctr"/>
                      <a:r>
                        <a:rPr sz="1725">
                          <a:solidFill>
                            <a:srgbClr val="000000"/>
                          </a:solidFill>
                          <a:latin typeface="Calibri"/>
                          <a:ea typeface="Calibri"/>
                          <a:cs typeface="Calibri"/>
                        </a:rPr>
                        <a:t>M2</a:t>
                      </a:r>
                    </a:p>
                  </a:txBody>
                  <a:tcPr marL="47625" marR="47625" marT="28575" marB="28575" anchor="ctr">
                    <a:solidFill>
                      <a:srgbClr val="FFFFFF"/>
                    </a:solidFill>
                  </a:tcPr>
                </a:tc>
                <a:tc>
                  <a:txBody>
                    <a:bodyPr/>
                    <a:lstStyle/>
                    <a:p>
                      <a:pPr algn="ctr"/>
                      <a:r>
                        <a:rPr sz="1725">
                          <a:solidFill>
                            <a:srgbClr val="000000"/>
                          </a:solidFill>
                          <a:latin typeface="Calibri"/>
                          <a:ea typeface="Calibri"/>
                          <a:cs typeface="Calibri"/>
                        </a:rPr>
                        <a:t>T1</a:t>
                      </a:r>
                    </a:p>
                  </a:txBody>
                  <a:tcPr marL="47625" marR="47625" marT="28575" marB="28575" anchor="ctr">
                    <a:solidFill>
                      <a:srgbClr val="FFFFFF"/>
                    </a:solidFill>
                  </a:tcPr>
                </a:tc>
                <a:extLst>
                  <a:ext uri="{0D108BD9-81ED-4DB2-BD59-A6C34878D82A}">
                    <a16:rowId xmlns:a16="http://schemas.microsoft.com/office/drawing/2014/main" val="10004"/>
                  </a:ext>
                </a:extLst>
              </a:tr>
              <a:tr h="342900">
                <a:tc>
                  <a:txBody>
                    <a:bodyPr/>
                    <a:lstStyle/>
                    <a:p>
                      <a:pPr algn="ctr"/>
                      <a:r>
                        <a:rPr sz="1725">
                          <a:solidFill>
                            <a:srgbClr val="000000"/>
                          </a:solidFill>
                          <a:latin typeface="Calibri"/>
                          <a:ea typeface="Calibri"/>
                          <a:cs typeface="Calibri"/>
                        </a:rPr>
                        <a:t>M2</a:t>
                      </a:r>
                    </a:p>
                  </a:txBody>
                  <a:tcPr marL="47625" marR="47625" marT="28575" marB="28575" anchor="ctr">
                    <a:solidFill>
                      <a:srgbClr val="FFFFFF"/>
                    </a:solidFill>
                  </a:tcPr>
                </a:tc>
                <a:tc>
                  <a:txBody>
                    <a:bodyPr/>
                    <a:lstStyle/>
                    <a:p>
                      <a:pPr algn="ctr"/>
                      <a:r>
                        <a:rPr sz="1725">
                          <a:solidFill>
                            <a:srgbClr val="000000"/>
                          </a:solidFill>
                          <a:latin typeface="Calibri"/>
                          <a:ea typeface="Calibri"/>
                          <a:cs typeface="Calibri"/>
                        </a:rPr>
                        <a:t>T2</a:t>
                      </a:r>
                    </a:p>
                  </a:txBody>
                  <a:tcPr marL="47625" marR="47625" marT="28575" marB="28575" anchor="ctr">
                    <a:solidFill>
                      <a:srgbClr val="FFFFFF"/>
                    </a:solidFill>
                  </a:tcPr>
                </a:tc>
                <a:extLst>
                  <a:ext uri="{0D108BD9-81ED-4DB2-BD59-A6C34878D82A}">
                    <a16:rowId xmlns:a16="http://schemas.microsoft.com/office/drawing/2014/main" val="10005"/>
                  </a:ext>
                </a:extLst>
              </a:tr>
              <a:tr h="342900">
                <a:tc>
                  <a:txBody>
                    <a:bodyPr/>
                    <a:lstStyle/>
                    <a:p>
                      <a:pPr algn="ctr"/>
                      <a:r>
                        <a:rPr sz="1725">
                          <a:solidFill>
                            <a:srgbClr val="000000"/>
                          </a:solidFill>
                          <a:latin typeface="Calibri"/>
                          <a:ea typeface="Calibri"/>
                          <a:cs typeface="Calibri"/>
                        </a:rPr>
                        <a:t>M2</a:t>
                      </a:r>
                    </a:p>
                  </a:txBody>
                  <a:tcPr marL="47625" marR="47625" marT="28575" marB="28575" anchor="ctr">
                    <a:solidFill>
                      <a:srgbClr val="FFFFFF"/>
                    </a:solidFill>
                  </a:tcPr>
                </a:tc>
                <a:tc>
                  <a:txBody>
                    <a:bodyPr/>
                    <a:lstStyle/>
                    <a:p>
                      <a:pPr algn="ctr"/>
                      <a:r>
                        <a:rPr sz="1725">
                          <a:solidFill>
                            <a:srgbClr val="000000"/>
                          </a:solidFill>
                          <a:latin typeface="Calibri"/>
                          <a:ea typeface="Calibri"/>
                          <a:cs typeface="Calibri"/>
                        </a:rPr>
                        <a:t>T3</a:t>
                      </a:r>
                    </a:p>
                  </a:txBody>
                  <a:tcPr marL="47625" marR="47625" marT="28575" marB="28575" anchor="ctr">
                    <a:solidFill>
                      <a:srgbClr val="FFFFFF"/>
                    </a:solidFill>
                  </a:tcPr>
                </a:tc>
                <a:extLst>
                  <a:ext uri="{0D108BD9-81ED-4DB2-BD59-A6C34878D82A}">
                    <a16:rowId xmlns:a16="http://schemas.microsoft.com/office/drawing/2014/main" val="10006"/>
                  </a:ext>
                </a:extLst>
              </a:tr>
            </a:tbl>
          </a:graphicData>
        </a:graphic>
      </p:graphicFrame>
      <p:sp>
        <p:nvSpPr>
          <p:cNvPr id="6" name="body">
            <a:extLst>
              <a:ext uri="{FF2B5EF4-FFF2-40B4-BE49-F238E27FC236}">
                <a16:creationId xmlns:a16="http://schemas.microsoft.com/office/drawing/2014/main" id="{D9F5CBA7-7C86-4EAE-BD75-114DC07ED33F}"/>
              </a:ext>
            </a:extLst>
          </p:cNvPr>
          <p:cNvSpPr>
            <a:spLocks noGrp="1"/>
          </p:cNvSpPr>
          <p:nvPr/>
        </p:nvSpPr>
        <p:spPr>
          <a:xfrm>
            <a:off x="3295650" y="1924050"/>
            <a:ext cx="2276475" cy="361950"/>
          </a:xfrm>
          <a:prstGeom prst="rect">
            <a:avLst/>
          </a:prstGeom>
          <a:noFill/>
          <a:ln w="0">
            <a:noFill/>
          </a:ln>
        </p:spPr>
        <p:txBody>
          <a:bodyPr wrap="square" lIns="0" tIns="0" rIns="0" bIns="0">
            <a:noAutofit/>
          </a:bodyPr>
          <a:lstStyle/>
          <a:p>
            <a:pPr>
              <a:defRPr sz="2250" b="0">
                <a:solidFill>
                  <a:srgbClr val="000000"/>
                </a:solidFill>
                <a:latin typeface="Calibri"/>
                <a:ea typeface="Calibri"/>
                <a:cs typeface="Calibri"/>
              </a:defRPr>
            </a:pPr>
            <a:r>
              <a:rPr sz="2250" b="0">
                <a:solidFill>
                  <a:srgbClr val="000000"/>
                </a:solidFill>
                <a:latin typeface="Calibri"/>
                <a:ea typeface="Calibri"/>
                <a:cs typeface="Calibri"/>
              </a:rPr>
              <a:t>Needed: M3–M4</a:t>
            </a:r>
          </a:p>
        </p:txBody>
      </p:sp>
      <p:graphicFrame>
        <p:nvGraphicFramePr>
          <p:cNvPr id="17" name="表格 16"/>
          <p:cNvGraphicFramePr/>
          <p:nvPr/>
        </p:nvGraphicFramePr>
        <p:xfrm>
          <a:off x="3371850" y="2343150"/>
          <a:ext cx="2276476" cy="2400300"/>
        </p:xfrm>
        <a:graphic>
          <a:graphicData uri="http://schemas.openxmlformats.org/drawingml/2006/table">
            <a:tbl>
              <a:tblPr/>
              <a:tblGrid>
                <a:gridCol w="1138238">
                  <a:extLst>
                    <a:ext uri="{9D8B030D-6E8A-4147-A177-3AD203B41FA5}">
                      <a16:colId xmlns:a16="http://schemas.microsoft.com/office/drawing/2014/main" val="20000"/>
                    </a:ext>
                  </a:extLst>
                </a:gridCol>
                <a:gridCol w="1138238">
                  <a:extLst>
                    <a:ext uri="{9D8B030D-6E8A-4147-A177-3AD203B41FA5}">
                      <a16:colId xmlns:a16="http://schemas.microsoft.com/office/drawing/2014/main" val="20001"/>
                    </a:ext>
                  </a:extLst>
                </a:gridCol>
              </a:tblGrid>
              <a:tr h="342900">
                <a:tc>
                  <a:txBody>
                    <a:bodyPr/>
                    <a:lstStyle/>
                    <a:p>
                      <a:pPr algn="ctr"/>
                      <a:r>
                        <a:rPr sz="1725">
                          <a:solidFill>
                            <a:srgbClr val="000000"/>
                          </a:solidFill>
                          <a:latin typeface="Calibri"/>
                          <a:ea typeface="Calibri"/>
                          <a:cs typeface="Calibri"/>
                        </a:rPr>
                        <a:t>mid</a:t>
                      </a:r>
                    </a:p>
                  </a:txBody>
                  <a:tcPr marL="47625" marR="47625" marT="28575" marB="28575" anchor="ctr">
                    <a:solidFill>
                      <a:srgbClr val="D9D9D9"/>
                    </a:solidFill>
                  </a:tcPr>
                </a:tc>
                <a:tc>
                  <a:txBody>
                    <a:bodyPr/>
                    <a:lstStyle/>
                    <a:p>
                      <a:pPr algn="ctr"/>
                      <a:r>
                        <a:rPr sz="1725">
                          <a:solidFill>
                            <a:srgbClr val="000000"/>
                          </a:solidFill>
                          <a:latin typeface="Calibri"/>
                          <a:ea typeface="Calibri"/>
                          <a:cs typeface="Calibri"/>
                        </a:rPr>
                        <a:t>tid</a:t>
                      </a:r>
                    </a:p>
                  </a:txBody>
                  <a:tcPr marL="47625" marR="47625" marT="28575" marB="28575" anchor="ctr">
                    <a:solidFill>
                      <a:srgbClr val="D9D9D9"/>
                    </a:solidFill>
                  </a:tcPr>
                </a:tc>
                <a:extLst>
                  <a:ext uri="{0D108BD9-81ED-4DB2-BD59-A6C34878D82A}">
                    <a16:rowId xmlns:a16="http://schemas.microsoft.com/office/drawing/2014/main" val="10000"/>
                  </a:ext>
                </a:extLst>
              </a:tr>
              <a:tr h="342900">
                <a:tc>
                  <a:txBody>
                    <a:bodyPr/>
                    <a:lstStyle/>
                    <a:p>
                      <a:pPr algn="ctr"/>
                      <a:r>
                        <a:rPr sz="1725">
                          <a:solidFill>
                            <a:srgbClr val="000000"/>
                          </a:solidFill>
                          <a:latin typeface="Calibri"/>
                          <a:ea typeface="Calibri"/>
                          <a:cs typeface="Calibri"/>
                        </a:rPr>
                        <a:t>M3</a:t>
                      </a:r>
                    </a:p>
                  </a:txBody>
                  <a:tcPr marL="47625" marR="47625" marT="28575" marB="28575" anchor="ctr">
                    <a:solidFill>
                      <a:srgbClr val="FFFFFF"/>
                    </a:solidFill>
                  </a:tcPr>
                </a:tc>
                <a:tc>
                  <a:txBody>
                    <a:bodyPr/>
                    <a:lstStyle/>
                    <a:p>
                      <a:pPr algn="ctr"/>
                      <a:r>
                        <a:rPr sz="1725">
                          <a:solidFill>
                            <a:srgbClr val="000000"/>
                          </a:solidFill>
                          <a:latin typeface="Calibri"/>
                          <a:ea typeface="Calibri"/>
                          <a:cs typeface="Calibri"/>
                        </a:rPr>
                        <a:t>T1</a:t>
                      </a:r>
                    </a:p>
                  </a:txBody>
                  <a:tcPr marL="47625" marR="47625" marT="28575" marB="28575" anchor="ctr">
                    <a:solidFill>
                      <a:srgbClr val="FFFFFF"/>
                    </a:solidFill>
                  </a:tcPr>
                </a:tc>
                <a:extLst>
                  <a:ext uri="{0D108BD9-81ED-4DB2-BD59-A6C34878D82A}">
                    <a16:rowId xmlns:a16="http://schemas.microsoft.com/office/drawing/2014/main" val="10001"/>
                  </a:ext>
                </a:extLst>
              </a:tr>
              <a:tr h="342900">
                <a:tc>
                  <a:txBody>
                    <a:bodyPr/>
                    <a:lstStyle/>
                    <a:p>
                      <a:pPr algn="ctr"/>
                      <a:r>
                        <a:rPr sz="1725">
                          <a:solidFill>
                            <a:srgbClr val="000000"/>
                          </a:solidFill>
                          <a:latin typeface="Calibri"/>
                          <a:ea typeface="Calibri"/>
                          <a:cs typeface="Calibri"/>
                        </a:rPr>
                        <a:t>M3</a:t>
                      </a:r>
                    </a:p>
                  </a:txBody>
                  <a:tcPr marL="47625" marR="47625" marT="28575" marB="28575" anchor="ctr">
                    <a:solidFill>
                      <a:srgbClr val="FFFFFF"/>
                    </a:solidFill>
                  </a:tcPr>
                </a:tc>
                <a:tc>
                  <a:txBody>
                    <a:bodyPr/>
                    <a:lstStyle/>
                    <a:p>
                      <a:pPr algn="ctr"/>
                      <a:r>
                        <a:rPr sz="1725">
                          <a:solidFill>
                            <a:srgbClr val="000000"/>
                          </a:solidFill>
                          <a:latin typeface="Calibri"/>
                          <a:ea typeface="Calibri"/>
                          <a:cs typeface="Calibri"/>
                        </a:rPr>
                        <a:t>T2</a:t>
                      </a:r>
                    </a:p>
                  </a:txBody>
                  <a:tcPr marL="47625" marR="47625" marT="28575" marB="28575" anchor="ctr">
                    <a:solidFill>
                      <a:srgbClr val="FFFFFF"/>
                    </a:solidFill>
                  </a:tcPr>
                </a:tc>
                <a:extLst>
                  <a:ext uri="{0D108BD9-81ED-4DB2-BD59-A6C34878D82A}">
                    <a16:rowId xmlns:a16="http://schemas.microsoft.com/office/drawing/2014/main" val="10002"/>
                  </a:ext>
                </a:extLst>
              </a:tr>
              <a:tr h="342900">
                <a:tc>
                  <a:txBody>
                    <a:bodyPr/>
                    <a:lstStyle/>
                    <a:p>
                      <a:pPr algn="ctr"/>
                      <a:r>
                        <a:rPr sz="1725">
                          <a:solidFill>
                            <a:srgbClr val="000000"/>
                          </a:solidFill>
                          <a:latin typeface="Calibri"/>
                          <a:ea typeface="Calibri"/>
                          <a:cs typeface="Calibri"/>
                        </a:rPr>
                        <a:t>M3</a:t>
                      </a:r>
                    </a:p>
                  </a:txBody>
                  <a:tcPr marL="47625" marR="47625" marT="28575" marB="28575" anchor="ctr">
                    <a:solidFill>
                      <a:srgbClr val="FFFFFF"/>
                    </a:solidFill>
                  </a:tcPr>
                </a:tc>
                <a:tc>
                  <a:txBody>
                    <a:bodyPr/>
                    <a:lstStyle/>
                    <a:p>
                      <a:pPr algn="ctr"/>
                      <a:r>
                        <a:rPr sz="1725">
                          <a:solidFill>
                            <a:srgbClr val="000000"/>
                          </a:solidFill>
                          <a:latin typeface="Calibri"/>
                          <a:ea typeface="Calibri"/>
                          <a:cs typeface="Calibri"/>
                        </a:rPr>
                        <a:t>T3</a:t>
                      </a:r>
                    </a:p>
                  </a:txBody>
                  <a:tcPr marL="47625" marR="47625" marT="28575" marB="28575" anchor="ctr">
                    <a:solidFill>
                      <a:srgbClr val="FFFFFF"/>
                    </a:solidFill>
                  </a:tcPr>
                </a:tc>
                <a:extLst>
                  <a:ext uri="{0D108BD9-81ED-4DB2-BD59-A6C34878D82A}">
                    <a16:rowId xmlns:a16="http://schemas.microsoft.com/office/drawing/2014/main" val="10003"/>
                  </a:ext>
                </a:extLst>
              </a:tr>
              <a:tr h="342900">
                <a:tc>
                  <a:txBody>
                    <a:bodyPr/>
                    <a:lstStyle/>
                    <a:p>
                      <a:pPr algn="ctr"/>
                      <a:r>
                        <a:rPr sz="1725">
                          <a:solidFill>
                            <a:srgbClr val="000000"/>
                          </a:solidFill>
                          <a:latin typeface="Calibri"/>
                          <a:ea typeface="Calibri"/>
                          <a:cs typeface="Calibri"/>
                        </a:rPr>
                        <a:t>M4</a:t>
                      </a:r>
                    </a:p>
                  </a:txBody>
                  <a:tcPr marL="47625" marR="47625" marT="28575" marB="28575" anchor="ctr">
                    <a:solidFill>
                      <a:srgbClr val="FFFFFF"/>
                    </a:solidFill>
                  </a:tcPr>
                </a:tc>
                <a:tc>
                  <a:txBody>
                    <a:bodyPr/>
                    <a:lstStyle/>
                    <a:p>
                      <a:pPr algn="ctr"/>
                      <a:r>
                        <a:rPr sz="1725">
                          <a:solidFill>
                            <a:srgbClr val="000000"/>
                          </a:solidFill>
                          <a:latin typeface="Calibri"/>
                          <a:ea typeface="Calibri"/>
                          <a:cs typeface="Calibri"/>
                        </a:rPr>
                        <a:t>T1</a:t>
                      </a:r>
                    </a:p>
                  </a:txBody>
                  <a:tcPr marL="47625" marR="47625" marT="28575" marB="28575" anchor="ctr">
                    <a:solidFill>
                      <a:srgbClr val="FFFFFF"/>
                    </a:solidFill>
                  </a:tcPr>
                </a:tc>
                <a:extLst>
                  <a:ext uri="{0D108BD9-81ED-4DB2-BD59-A6C34878D82A}">
                    <a16:rowId xmlns:a16="http://schemas.microsoft.com/office/drawing/2014/main" val="10004"/>
                  </a:ext>
                </a:extLst>
              </a:tr>
              <a:tr h="342900">
                <a:tc>
                  <a:txBody>
                    <a:bodyPr/>
                    <a:lstStyle/>
                    <a:p>
                      <a:pPr algn="ctr"/>
                      <a:r>
                        <a:rPr sz="1725">
                          <a:solidFill>
                            <a:srgbClr val="000000"/>
                          </a:solidFill>
                          <a:latin typeface="Calibri"/>
                          <a:ea typeface="Calibri"/>
                          <a:cs typeface="Calibri"/>
                        </a:rPr>
                        <a:t>M4</a:t>
                      </a:r>
                    </a:p>
                  </a:txBody>
                  <a:tcPr marL="47625" marR="47625" marT="28575" marB="28575" anchor="ctr">
                    <a:solidFill>
                      <a:srgbClr val="FFFFFF"/>
                    </a:solidFill>
                  </a:tcPr>
                </a:tc>
                <a:tc>
                  <a:txBody>
                    <a:bodyPr/>
                    <a:lstStyle/>
                    <a:p>
                      <a:pPr algn="ctr"/>
                      <a:r>
                        <a:rPr sz="1725">
                          <a:solidFill>
                            <a:srgbClr val="000000"/>
                          </a:solidFill>
                          <a:latin typeface="Calibri"/>
                          <a:ea typeface="Calibri"/>
                          <a:cs typeface="Calibri"/>
                        </a:rPr>
                        <a:t>T2</a:t>
                      </a:r>
                    </a:p>
                  </a:txBody>
                  <a:tcPr marL="47625" marR="47625" marT="28575" marB="28575" anchor="ctr">
                    <a:solidFill>
                      <a:srgbClr val="FFFFFF"/>
                    </a:solidFill>
                  </a:tcPr>
                </a:tc>
                <a:extLst>
                  <a:ext uri="{0D108BD9-81ED-4DB2-BD59-A6C34878D82A}">
                    <a16:rowId xmlns:a16="http://schemas.microsoft.com/office/drawing/2014/main" val="10005"/>
                  </a:ext>
                </a:extLst>
              </a:tr>
              <a:tr h="342900">
                <a:tc>
                  <a:txBody>
                    <a:bodyPr/>
                    <a:lstStyle/>
                    <a:p>
                      <a:pPr algn="ctr"/>
                      <a:r>
                        <a:rPr sz="1725">
                          <a:solidFill>
                            <a:srgbClr val="000000"/>
                          </a:solidFill>
                          <a:latin typeface="Calibri"/>
                          <a:ea typeface="Calibri"/>
                          <a:cs typeface="Calibri"/>
                        </a:rPr>
                        <a:t>M4</a:t>
                      </a:r>
                    </a:p>
                  </a:txBody>
                  <a:tcPr marL="47625" marR="47625" marT="28575" marB="28575" anchor="ctr">
                    <a:solidFill>
                      <a:srgbClr val="FFFFFF"/>
                    </a:solidFill>
                  </a:tcPr>
                </a:tc>
                <a:tc>
                  <a:txBody>
                    <a:bodyPr/>
                    <a:lstStyle/>
                    <a:p>
                      <a:pPr algn="ctr"/>
                      <a:r>
                        <a:rPr sz="1725">
                          <a:solidFill>
                            <a:srgbClr val="000000"/>
                          </a:solidFill>
                          <a:latin typeface="Calibri"/>
                          <a:ea typeface="Calibri"/>
                          <a:cs typeface="Calibri"/>
                        </a:rPr>
                        <a:t>T3</a:t>
                      </a:r>
                    </a:p>
                  </a:txBody>
                  <a:tcPr marL="47625" marR="47625" marT="28575" marB="28575" anchor="ctr">
                    <a:solidFill>
                      <a:srgbClr val="FFFFFF"/>
                    </a:solidFill>
                  </a:tcPr>
                </a:tc>
                <a:extLst>
                  <a:ext uri="{0D108BD9-81ED-4DB2-BD59-A6C34878D82A}">
                    <a16:rowId xmlns:a16="http://schemas.microsoft.com/office/drawing/2014/main" val="10006"/>
                  </a:ext>
                </a:extLst>
              </a:tr>
            </a:tbl>
          </a:graphicData>
        </a:graphic>
      </p:graphicFrame>
      <p:sp>
        <p:nvSpPr>
          <p:cNvPr id="8" name="body">
            <a:extLst>
              <a:ext uri="{FF2B5EF4-FFF2-40B4-BE49-F238E27FC236}">
                <a16:creationId xmlns:a16="http://schemas.microsoft.com/office/drawing/2014/main" id="{09997CD1-AA78-4E77-B4FC-CD8C59DA3EC3}"/>
              </a:ext>
            </a:extLst>
          </p:cNvPr>
          <p:cNvSpPr>
            <a:spLocks noGrp="1"/>
          </p:cNvSpPr>
          <p:nvPr/>
        </p:nvSpPr>
        <p:spPr>
          <a:xfrm>
            <a:off x="5829300" y="1924050"/>
            <a:ext cx="2333625" cy="361950"/>
          </a:xfrm>
          <a:prstGeom prst="rect">
            <a:avLst/>
          </a:prstGeom>
          <a:noFill/>
          <a:ln w="0">
            <a:noFill/>
          </a:ln>
        </p:spPr>
        <p:txBody>
          <a:bodyPr wrap="square" lIns="0" tIns="0" rIns="0" bIns="0">
            <a:noAutofit/>
          </a:bodyPr>
          <a:lstStyle/>
          <a:p>
            <a:pPr>
              <a:defRPr sz="2250" b="0">
                <a:solidFill>
                  <a:srgbClr val="000000"/>
                </a:solidFill>
                <a:latin typeface="Calibri"/>
                <a:ea typeface="Calibri"/>
                <a:cs typeface="Calibri"/>
              </a:defRPr>
            </a:pPr>
            <a:r>
              <a:rPr sz="2250" b="0">
                <a:solidFill>
                  <a:srgbClr val="000000"/>
                </a:solidFill>
                <a:latin typeface="Calibri"/>
                <a:ea typeface="Calibri"/>
                <a:cs typeface="Calibri"/>
              </a:rPr>
              <a:t>Missing</a:t>
            </a:r>
          </a:p>
        </p:txBody>
      </p:sp>
      <p:graphicFrame>
        <p:nvGraphicFramePr>
          <p:cNvPr id="19" name="表格 18"/>
          <p:cNvGraphicFramePr/>
          <p:nvPr/>
        </p:nvGraphicFramePr>
        <p:xfrm>
          <a:off x="5905500" y="2343150"/>
          <a:ext cx="2333626" cy="2743200"/>
        </p:xfrm>
        <a:graphic>
          <a:graphicData uri="http://schemas.openxmlformats.org/drawingml/2006/table">
            <a:tbl>
              <a:tblPr/>
              <a:tblGrid>
                <a:gridCol w="1166813">
                  <a:extLst>
                    <a:ext uri="{9D8B030D-6E8A-4147-A177-3AD203B41FA5}">
                      <a16:colId xmlns:a16="http://schemas.microsoft.com/office/drawing/2014/main" val="20000"/>
                    </a:ext>
                  </a:extLst>
                </a:gridCol>
                <a:gridCol w="1166813">
                  <a:extLst>
                    <a:ext uri="{9D8B030D-6E8A-4147-A177-3AD203B41FA5}">
                      <a16:colId xmlns:a16="http://schemas.microsoft.com/office/drawing/2014/main" val="20001"/>
                    </a:ext>
                  </a:extLst>
                </a:gridCol>
              </a:tblGrid>
              <a:tr h="342900">
                <a:tc>
                  <a:txBody>
                    <a:bodyPr/>
                    <a:lstStyle/>
                    <a:p>
                      <a:pPr algn="ctr"/>
                      <a:r>
                        <a:rPr sz="1725">
                          <a:solidFill>
                            <a:srgbClr val="000000"/>
                          </a:solidFill>
                          <a:latin typeface="Calibri"/>
                          <a:ea typeface="Calibri"/>
                          <a:cs typeface="Calibri"/>
                        </a:rPr>
                        <a:t>mid</a:t>
                      </a:r>
                    </a:p>
                  </a:txBody>
                  <a:tcPr marL="47625" marR="47625" marT="28575" marB="28575" anchor="ctr">
                    <a:solidFill>
                      <a:srgbClr val="D9D9D9"/>
                    </a:solidFill>
                  </a:tcPr>
                </a:tc>
                <a:tc>
                  <a:txBody>
                    <a:bodyPr/>
                    <a:lstStyle/>
                    <a:p>
                      <a:pPr algn="ctr"/>
                      <a:r>
                        <a:rPr sz="1725">
                          <a:solidFill>
                            <a:srgbClr val="000000"/>
                          </a:solidFill>
                          <a:latin typeface="Calibri"/>
                          <a:ea typeface="Calibri"/>
                          <a:cs typeface="Calibri"/>
                        </a:rPr>
                        <a:t>tid</a:t>
                      </a:r>
                    </a:p>
                  </a:txBody>
                  <a:tcPr marL="47625" marR="47625" marT="28575" marB="28575" anchor="ctr">
                    <a:solidFill>
                      <a:srgbClr val="D9D9D9"/>
                    </a:solidFill>
                  </a:tcPr>
                </a:tc>
                <a:extLst>
                  <a:ext uri="{0D108BD9-81ED-4DB2-BD59-A6C34878D82A}">
                    <a16:rowId xmlns:a16="http://schemas.microsoft.com/office/drawing/2014/main" val="10000"/>
                  </a:ext>
                </a:extLst>
              </a:tr>
              <a:tr h="342900">
                <a:tc>
                  <a:txBody>
                    <a:bodyPr/>
                    <a:lstStyle/>
                    <a:p>
                      <a:pPr algn="ctr"/>
                      <a:r>
                        <a:rPr sz="1725">
                          <a:solidFill>
                            <a:srgbClr val="000000"/>
                          </a:solidFill>
                          <a:latin typeface="Calibri"/>
                          <a:ea typeface="Calibri"/>
                          <a:cs typeface="Calibri"/>
                        </a:rPr>
                        <a:t>M1</a:t>
                      </a:r>
                    </a:p>
                  </a:txBody>
                  <a:tcPr marL="47625" marR="47625" marT="28575" marB="28575" anchor="ctr">
                    <a:solidFill>
                      <a:srgbClr val="FFFFFF"/>
                    </a:solidFill>
                  </a:tcPr>
                </a:tc>
                <a:tc>
                  <a:txBody>
                    <a:bodyPr/>
                    <a:lstStyle/>
                    <a:p>
                      <a:pPr algn="ctr"/>
                      <a:r>
                        <a:rPr sz="1725">
                          <a:solidFill>
                            <a:srgbClr val="000000"/>
                          </a:solidFill>
                          <a:latin typeface="Calibri"/>
                          <a:ea typeface="Calibri"/>
                          <a:cs typeface="Calibri"/>
                        </a:rPr>
                        <a:t>T2</a:t>
                      </a:r>
                    </a:p>
                  </a:txBody>
                  <a:tcPr marL="47625" marR="47625" marT="28575" marB="28575" anchor="ctr">
                    <a:solidFill>
                      <a:srgbClr val="FFFFFF"/>
                    </a:solidFill>
                  </a:tcPr>
                </a:tc>
                <a:extLst>
                  <a:ext uri="{0D108BD9-81ED-4DB2-BD59-A6C34878D82A}">
                    <a16:rowId xmlns:a16="http://schemas.microsoft.com/office/drawing/2014/main" val="10001"/>
                  </a:ext>
                </a:extLst>
              </a:tr>
              <a:tr h="342900">
                <a:tc>
                  <a:txBody>
                    <a:bodyPr/>
                    <a:lstStyle/>
                    <a:p>
                      <a:pPr algn="ctr"/>
                      <a:r>
                        <a:rPr sz="1725">
                          <a:solidFill>
                            <a:srgbClr val="000000"/>
                          </a:solidFill>
                          <a:latin typeface="Calibri"/>
                          <a:ea typeface="Calibri"/>
                          <a:cs typeface="Calibri"/>
                        </a:rPr>
                        <a:t>M1</a:t>
                      </a:r>
                    </a:p>
                  </a:txBody>
                  <a:tcPr marL="47625" marR="47625" marT="28575" marB="28575" anchor="ctr">
                    <a:solidFill>
                      <a:srgbClr val="FFFFFF"/>
                    </a:solidFill>
                  </a:tcPr>
                </a:tc>
                <a:tc>
                  <a:txBody>
                    <a:bodyPr/>
                    <a:lstStyle/>
                    <a:p>
                      <a:pPr algn="ctr"/>
                      <a:r>
                        <a:rPr sz="1725">
                          <a:solidFill>
                            <a:srgbClr val="000000"/>
                          </a:solidFill>
                          <a:latin typeface="Calibri"/>
                          <a:ea typeface="Calibri"/>
                          <a:cs typeface="Calibri"/>
                        </a:rPr>
                        <a:t>T3</a:t>
                      </a:r>
                    </a:p>
                  </a:txBody>
                  <a:tcPr marL="47625" marR="47625" marT="28575" marB="28575" anchor="ctr">
                    <a:solidFill>
                      <a:srgbClr val="FFFFFF"/>
                    </a:solidFill>
                  </a:tcPr>
                </a:tc>
                <a:extLst>
                  <a:ext uri="{0D108BD9-81ED-4DB2-BD59-A6C34878D82A}">
                    <a16:rowId xmlns:a16="http://schemas.microsoft.com/office/drawing/2014/main" val="10002"/>
                  </a:ext>
                </a:extLst>
              </a:tr>
              <a:tr h="342900">
                <a:tc>
                  <a:txBody>
                    <a:bodyPr/>
                    <a:lstStyle/>
                    <a:p>
                      <a:pPr algn="ctr"/>
                      <a:r>
                        <a:rPr sz="1725">
                          <a:solidFill>
                            <a:srgbClr val="000000"/>
                          </a:solidFill>
                          <a:latin typeface="Calibri"/>
                          <a:ea typeface="Calibri"/>
                          <a:cs typeface="Calibri"/>
                        </a:rPr>
                        <a:t>M3</a:t>
                      </a:r>
                    </a:p>
                  </a:txBody>
                  <a:tcPr marL="47625" marR="47625" marT="28575" marB="28575" anchor="ctr">
                    <a:solidFill>
                      <a:srgbClr val="FFFFFF"/>
                    </a:solidFill>
                  </a:tcPr>
                </a:tc>
                <a:tc>
                  <a:txBody>
                    <a:bodyPr/>
                    <a:lstStyle/>
                    <a:p>
                      <a:pPr algn="ctr"/>
                      <a:r>
                        <a:rPr sz="1725">
                          <a:solidFill>
                            <a:srgbClr val="000000"/>
                          </a:solidFill>
                          <a:latin typeface="Calibri"/>
                          <a:ea typeface="Calibri"/>
                          <a:cs typeface="Calibri"/>
                        </a:rPr>
                        <a:t>T1</a:t>
                      </a:r>
                    </a:p>
                  </a:txBody>
                  <a:tcPr marL="47625" marR="47625" marT="28575" marB="28575" anchor="ctr">
                    <a:solidFill>
                      <a:srgbClr val="FFFFFF"/>
                    </a:solidFill>
                  </a:tcPr>
                </a:tc>
                <a:extLst>
                  <a:ext uri="{0D108BD9-81ED-4DB2-BD59-A6C34878D82A}">
                    <a16:rowId xmlns:a16="http://schemas.microsoft.com/office/drawing/2014/main" val="10003"/>
                  </a:ext>
                </a:extLst>
              </a:tr>
              <a:tr h="342900">
                <a:tc>
                  <a:txBody>
                    <a:bodyPr/>
                    <a:lstStyle/>
                    <a:p>
                      <a:pPr algn="ctr"/>
                      <a:r>
                        <a:rPr sz="1725">
                          <a:solidFill>
                            <a:srgbClr val="000000"/>
                          </a:solidFill>
                          <a:latin typeface="Calibri"/>
                          <a:ea typeface="Calibri"/>
                          <a:cs typeface="Calibri"/>
                        </a:rPr>
                        <a:t>M3</a:t>
                      </a:r>
                    </a:p>
                  </a:txBody>
                  <a:tcPr marL="47625" marR="47625" marT="28575" marB="28575" anchor="ctr">
                    <a:solidFill>
                      <a:srgbClr val="FFFFFF"/>
                    </a:solidFill>
                  </a:tcPr>
                </a:tc>
                <a:tc>
                  <a:txBody>
                    <a:bodyPr/>
                    <a:lstStyle/>
                    <a:p>
                      <a:pPr algn="ctr"/>
                      <a:r>
                        <a:rPr sz="1725">
                          <a:solidFill>
                            <a:srgbClr val="000000"/>
                          </a:solidFill>
                          <a:latin typeface="Calibri"/>
                          <a:ea typeface="Calibri"/>
                          <a:cs typeface="Calibri"/>
                        </a:rPr>
                        <a:t>T3</a:t>
                      </a:r>
                    </a:p>
                  </a:txBody>
                  <a:tcPr marL="47625" marR="47625" marT="28575" marB="28575" anchor="ctr">
                    <a:solidFill>
                      <a:srgbClr val="FFFFFF"/>
                    </a:solidFill>
                  </a:tcPr>
                </a:tc>
                <a:extLst>
                  <a:ext uri="{0D108BD9-81ED-4DB2-BD59-A6C34878D82A}">
                    <a16:rowId xmlns:a16="http://schemas.microsoft.com/office/drawing/2014/main" val="10004"/>
                  </a:ext>
                </a:extLst>
              </a:tr>
              <a:tr h="342900">
                <a:tc>
                  <a:txBody>
                    <a:bodyPr/>
                    <a:lstStyle/>
                    <a:p>
                      <a:pPr algn="ctr"/>
                      <a:r>
                        <a:rPr sz="1725">
                          <a:solidFill>
                            <a:srgbClr val="000000"/>
                          </a:solidFill>
                          <a:latin typeface="Calibri"/>
                          <a:ea typeface="Calibri"/>
                          <a:cs typeface="Calibri"/>
                        </a:rPr>
                        <a:t>M4</a:t>
                      </a:r>
                    </a:p>
                  </a:txBody>
                  <a:tcPr marL="47625" marR="47625" marT="28575" marB="28575" anchor="ctr">
                    <a:solidFill>
                      <a:srgbClr val="FFFFFF"/>
                    </a:solidFill>
                  </a:tcPr>
                </a:tc>
                <a:tc>
                  <a:txBody>
                    <a:bodyPr/>
                    <a:lstStyle/>
                    <a:p>
                      <a:pPr algn="ctr"/>
                      <a:r>
                        <a:rPr sz="1725">
                          <a:solidFill>
                            <a:srgbClr val="000000"/>
                          </a:solidFill>
                          <a:latin typeface="Calibri"/>
                          <a:ea typeface="Calibri"/>
                          <a:cs typeface="Calibri"/>
                        </a:rPr>
                        <a:t>T1</a:t>
                      </a:r>
                    </a:p>
                  </a:txBody>
                  <a:tcPr marL="47625" marR="47625" marT="28575" marB="28575" anchor="ctr">
                    <a:solidFill>
                      <a:srgbClr val="FFFFFF"/>
                    </a:solidFill>
                  </a:tcPr>
                </a:tc>
                <a:extLst>
                  <a:ext uri="{0D108BD9-81ED-4DB2-BD59-A6C34878D82A}">
                    <a16:rowId xmlns:a16="http://schemas.microsoft.com/office/drawing/2014/main" val="10005"/>
                  </a:ext>
                </a:extLst>
              </a:tr>
              <a:tr h="342900">
                <a:tc>
                  <a:txBody>
                    <a:bodyPr/>
                    <a:lstStyle/>
                    <a:p>
                      <a:pPr algn="ctr"/>
                      <a:r>
                        <a:rPr sz="1725">
                          <a:solidFill>
                            <a:srgbClr val="000000"/>
                          </a:solidFill>
                          <a:latin typeface="Calibri"/>
                          <a:ea typeface="Calibri"/>
                          <a:cs typeface="Calibri"/>
                        </a:rPr>
                        <a:t>M4</a:t>
                      </a:r>
                    </a:p>
                  </a:txBody>
                  <a:tcPr marL="47625" marR="47625" marT="28575" marB="28575" anchor="ctr">
                    <a:solidFill>
                      <a:srgbClr val="FFFFFF"/>
                    </a:solidFill>
                  </a:tcPr>
                </a:tc>
                <a:tc>
                  <a:txBody>
                    <a:bodyPr/>
                    <a:lstStyle/>
                    <a:p>
                      <a:pPr algn="ctr"/>
                      <a:r>
                        <a:rPr sz="1725">
                          <a:solidFill>
                            <a:srgbClr val="000000"/>
                          </a:solidFill>
                          <a:latin typeface="Calibri"/>
                          <a:ea typeface="Calibri"/>
                          <a:cs typeface="Calibri"/>
                        </a:rPr>
                        <a:t>T2</a:t>
                      </a:r>
                    </a:p>
                  </a:txBody>
                  <a:tcPr marL="47625" marR="47625" marT="28575" marB="28575" anchor="ctr">
                    <a:solidFill>
                      <a:srgbClr val="FFFFFF"/>
                    </a:solidFill>
                  </a:tcPr>
                </a:tc>
                <a:extLst>
                  <a:ext uri="{0D108BD9-81ED-4DB2-BD59-A6C34878D82A}">
                    <a16:rowId xmlns:a16="http://schemas.microsoft.com/office/drawing/2014/main" val="10006"/>
                  </a:ext>
                </a:extLst>
              </a:tr>
              <a:tr h="342900">
                <a:tc>
                  <a:txBody>
                    <a:bodyPr/>
                    <a:lstStyle/>
                    <a:p>
                      <a:pPr algn="ctr"/>
                      <a:r>
                        <a:rPr sz="1725">
                          <a:solidFill>
                            <a:srgbClr val="000000"/>
                          </a:solidFill>
                          <a:latin typeface="Calibri"/>
                          <a:ea typeface="Calibri"/>
                          <a:cs typeface="Calibri"/>
                        </a:rPr>
                        <a:t>M4</a:t>
                      </a:r>
                    </a:p>
                  </a:txBody>
                  <a:tcPr marL="47625" marR="47625" marT="28575" marB="28575" anchor="ctr">
                    <a:solidFill>
                      <a:srgbClr val="FFFFFF"/>
                    </a:solidFill>
                  </a:tcPr>
                </a:tc>
                <a:tc>
                  <a:txBody>
                    <a:bodyPr/>
                    <a:lstStyle/>
                    <a:p>
                      <a:pPr algn="ctr"/>
                      <a:r>
                        <a:rPr sz="1725">
                          <a:solidFill>
                            <a:srgbClr val="000000"/>
                          </a:solidFill>
                          <a:latin typeface="Calibri"/>
                          <a:ea typeface="Calibri"/>
                          <a:cs typeface="Calibri"/>
                        </a:rPr>
                        <a:t>T3</a:t>
                      </a:r>
                    </a:p>
                  </a:txBody>
                  <a:tcPr marL="47625" marR="47625" marT="28575" marB="28575" anchor="ctr">
                    <a:solidFill>
                      <a:srgbClr val="FFFFFF"/>
                    </a:solidFill>
                  </a:tcPr>
                </a:tc>
                <a:extLst>
                  <a:ext uri="{0D108BD9-81ED-4DB2-BD59-A6C34878D82A}">
                    <a16:rowId xmlns:a16="http://schemas.microsoft.com/office/drawing/2014/main" val="10007"/>
                  </a:ext>
                </a:extLst>
              </a:tr>
            </a:tbl>
          </a:graphicData>
        </a:graphic>
      </p:graphicFrame>
      <p:sp>
        <p:nvSpPr>
          <p:cNvPr id="10" name="body">
            <a:extLst>
              <a:ext uri="{FF2B5EF4-FFF2-40B4-BE49-F238E27FC236}">
                <a16:creationId xmlns:a16="http://schemas.microsoft.com/office/drawing/2014/main" id="{474D1FD2-127C-49F7-8E4A-40098EB3AB9E}"/>
              </a:ext>
            </a:extLst>
          </p:cNvPr>
          <p:cNvSpPr>
            <a:spLocks noGrp="1"/>
          </p:cNvSpPr>
          <p:nvPr/>
        </p:nvSpPr>
        <p:spPr>
          <a:xfrm>
            <a:off x="781050" y="5591175"/>
            <a:ext cx="7600950" cy="952500"/>
          </a:xfrm>
          <a:prstGeom prst="rect">
            <a:avLst/>
          </a:prstGeom>
          <a:noFill/>
          <a:ln w="0">
            <a:noFill/>
          </a:ln>
        </p:spPr>
        <p:txBody>
          <a:bodyPr wrap="square" lIns="0" tIns="0" rIns="0" bIns="0">
            <a:noAutofit/>
          </a:bodyPr>
          <a:lstStyle/>
          <a:p>
            <a:pPr>
              <a:defRPr sz="1950" b="0">
                <a:solidFill>
                  <a:srgbClr val="FF0000"/>
                </a:solidFill>
                <a:latin typeface="Calibri"/>
                <a:ea typeface="Calibri"/>
                <a:cs typeface="Calibri"/>
              </a:defRPr>
            </a:pPr>
            <a:r>
              <a:rPr sz="1950" b="0">
                <a:solidFill>
                  <a:srgbClr val="FF0000"/>
                </a:solidFill>
                <a:latin typeface="Calibri"/>
                <a:ea typeface="Calibri"/>
                <a:cs typeface="Calibri"/>
              </a:rPr>
              <a:t>Needed is shown in two panels. Both operands use (mid, tid).</a:t>
            </a:r>
          </a:p>
        </p:txBody>
      </p:sp>
      <p:sp>
        <p:nvSpPr>
          <p:cNvPr id="9001" name="Title 1">
            <a:extLst>
              <a:ext uri="{FF2B5EF4-FFF2-40B4-BE49-F238E27FC236}">
                <a16:creationId xmlns:a16="http://schemas.microsoft.com/office/drawing/2014/main" id="{4EF27E5C-9C4D-BDBE-7667-D0B141BCC8F5}"/>
              </a:ext>
            </a:extLst>
          </p:cNvPr>
          <p:cNvSpPr>
            <a:spLocks noGrp="1"/>
          </p:cNvSpPr>
          <p:nvPr>
            <p:ph type="title"/>
          </p:nvPr>
        </p:nvSpPr>
        <p:spPr/>
        <p:txBody>
          <a:bodyPr/>
          <a:lstStyle/>
          <a:p>
            <a:r>
              <a:rPr lang="en-US">
                <a:solidFill>
                  <a:srgbClr val="FF0000"/>
                </a:solidFill>
              </a:rPr>
              <a:t>Solutions: </a:t>
            </a:r>
            <a:r>
              <a:rPr lang="en-US">
                <a:solidFill>
                  <a:srgbClr val="3333CC"/>
                </a:solidFill>
              </a:rPr>
              <a:t>Q32 (2)</a:t>
            </a:r>
          </a:p>
        </p:txBody>
      </p:sp>
      <p:sp>
        <p:nvSpPr>
          <p:cNvPr id="9002" name="Slide Number Placeholder 1">
            <a:extLst>
              <a:ext uri="{FF2B5EF4-FFF2-40B4-BE49-F238E27FC236}">
                <a16:creationId xmlns:a16="http://schemas.microsoft.com/office/drawing/2014/main" id="{B90139AC-3BDA-723A-097A-000DA0A784C1}"/>
              </a:ext>
            </a:extLst>
          </p:cNvPr>
          <p:cNvSpPr>
            <a:spLocks noGrp="1"/>
          </p:cNvSpPr>
          <p:nvPr>
            <p:ph type="sldNum" sz="quarter" idx="12"/>
          </p:nvPr>
        </p:nvSpPr>
        <p:spPr/>
        <p:txBody>
          <a:bodyPr/>
          <a:lstStyle/>
          <a:p>
            <a:pPr>
              <a:defRPr/>
            </a:pPr>
            <a:fld id="{43CA101F-9E5F-9249-9862-3CE55B3BB777}" type="slidenum">
              <a:rPr lang="en-US" altLang="zh-TW" smtClean="0"/>
              <a:pPr>
                <a:defRPr/>
              </a:pPr>
              <a:t>90</a:t>
            </a:fld>
            <a:endParaRPr lang="en-US" altLang="zh-TW"/>
          </a:p>
        </p:txBody>
      </p:sp>
    </p:spTree>
    <p:extLst>
      <p:ext uri="{BB962C8B-B14F-4D97-AF65-F5344CB8AC3E}">
        <p14:creationId xmlns:p14="http://schemas.microsoft.com/office/powerpoint/2010/main" val="1060620660"/>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formula">
            <a:extLst>
              <a:ext uri="{FF2B5EF4-FFF2-40B4-BE49-F238E27FC236}">
                <a16:creationId xmlns:a16="http://schemas.microsoft.com/office/drawing/2014/main" id="{953A2370-60AE-435F-8FB3-F265592A6EA0}"/>
              </a:ext>
            </a:extLst>
          </p:cNvPr>
          <p:cNvSpPr>
            <a:spLocks noGrp="1"/>
          </p:cNvSpPr>
          <p:nvPr/>
        </p:nvSpPr>
        <p:spPr>
          <a:xfrm>
            <a:off x="781050" y="1047750"/>
            <a:ext cx="7620000" cy="523875"/>
          </a:xfrm>
          <a:prstGeom prst="rect">
            <a:avLst/>
          </a:prstGeom>
          <a:noFill/>
          <a:ln w="0">
            <a:noFill/>
          </a:ln>
        </p:spPr>
        <p:txBody>
          <a:bodyPr wrap="square" lIns="0" tIns="0" rIns="0" bIns="0">
            <a:noAutofit/>
          </a:bodyPr>
          <a:lstStyle/>
          <a:p>
            <a:pPr>
              <a:defRPr sz="2250" b="0">
                <a:solidFill>
                  <a:srgbClr val="000000"/>
                </a:solidFill>
                <a:latin typeface="Cambria Math"/>
                <a:ea typeface="Cambria Math"/>
                <a:cs typeface="Cambria Math"/>
              </a:defRPr>
            </a:pPr>
            <a:r>
              <a:rPr sz="2250" b="0">
                <a:solidFill>
                  <a:srgbClr val="000000"/>
                </a:solidFill>
                <a:latin typeface="Cambria Math"/>
                <a:ea typeface="Cambria Math"/>
                <a:cs typeface="Cambria Math"/>
              </a:rPr>
              <a:t>Incomplete ← π</a:t>
            </a:r>
            <a:r>
              <a:rPr sz="1598" b="0" baseline="-25000">
                <a:solidFill>
                  <a:srgbClr val="000000"/>
                </a:solidFill>
                <a:latin typeface="Cambria Math"/>
                <a:ea typeface="Cambria Math"/>
                <a:cs typeface="Cambria Math"/>
              </a:rPr>
              <a:t>mid</a:t>
            </a:r>
            <a:r>
              <a:rPr sz="2250" b="0">
                <a:solidFill>
                  <a:srgbClr val="000000"/>
                </a:solidFill>
                <a:latin typeface="Cambria Math"/>
                <a:ea typeface="Cambria Math"/>
                <a:cs typeface="Cambria Math"/>
              </a:rPr>
              <a:t>(Missing)</a:t>
            </a:r>
          </a:p>
        </p:txBody>
      </p:sp>
      <p:sp>
        <p:nvSpPr>
          <p:cNvPr id="4" name="formula">
            <a:extLst>
              <a:ext uri="{FF2B5EF4-FFF2-40B4-BE49-F238E27FC236}">
                <a16:creationId xmlns:a16="http://schemas.microsoft.com/office/drawing/2014/main" id="{4B7313FE-2E73-40A3-9630-D54F4E8E0AE2}"/>
              </a:ext>
            </a:extLst>
          </p:cNvPr>
          <p:cNvSpPr>
            <a:spLocks noGrp="1"/>
          </p:cNvSpPr>
          <p:nvPr/>
        </p:nvSpPr>
        <p:spPr>
          <a:xfrm>
            <a:off x="781050" y="1800225"/>
            <a:ext cx="7620000" cy="523875"/>
          </a:xfrm>
          <a:prstGeom prst="rect">
            <a:avLst/>
          </a:prstGeom>
          <a:noFill/>
          <a:ln w="0">
            <a:noFill/>
          </a:ln>
        </p:spPr>
        <p:txBody>
          <a:bodyPr wrap="square" lIns="0" tIns="0" rIns="0" bIns="0">
            <a:noAutofit/>
          </a:bodyPr>
          <a:lstStyle/>
          <a:p>
            <a:pPr>
              <a:defRPr sz="2175" b="0">
                <a:solidFill>
                  <a:srgbClr val="000000"/>
                </a:solidFill>
                <a:latin typeface="Cambria Math"/>
                <a:ea typeface="Cambria Math"/>
                <a:cs typeface="Cambria Math"/>
              </a:defRPr>
            </a:pPr>
            <a:r>
              <a:rPr sz="2175" b="0">
                <a:solidFill>
                  <a:srgbClr val="000000"/>
                </a:solidFill>
                <a:latin typeface="Cambria Math"/>
                <a:ea typeface="Cambria Math"/>
                <a:cs typeface="Cambria Math"/>
              </a:rPr>
              <a:t>Incomplete = { (M1), (M3), (M4) }</a:t>
            </a:r>
          </a:p>
        </p:txBody>
      </p:sp>
      <p:sp>
        <p:nvSpPr>
          <p:cNvPr id="5" name="formula">
            <a:extLst>
              <a:ext uri="{FF2B5EF4-FFF2-40B4-BE49-F238E27FC236}">
                <a16:creationId xmlns:a16="http://schemas.microsoft.com/office/drawing/2014/main" id="{E72AFDD5-990D-4E29-8ADA-0EE84EAB88FD}"/>
              </a:ext>
            </a:extLst>
          </p:cNvPr>
          <p:cNvSpPr>
            <a:spLocks noGrp="1"/>
          </p:cNvSpPr>
          <p:nvPr/>
        </p:nvSpPr>
        <p:spPr>
          <a:xfrm>
            <a:off x="781050" y="2562225"/>
            <a:ext cx="7620000" cy="523875"/>
          </a:xfrm>
          <a:prstGeom prst="rect">
            <a:avLst/>
          </a:prstGeom>
          <a:noFill/>
          <a:ln w="0">
            <a:noFill/>
          </a:ln>
        </p:spPr>
        <p:txBody>
          <a:bodyPr wrap="square" lIns="0" tIns="0" rIns="0" bIns="0">
            <a:noAutofit/>
          </a:bodyPr>
          <a:lstStyle/>
          <a:p>
            <a:pPr>
              <a:defRPr sz="2025" b="0">
                <a:solidFill>
                  <a:srgbClr val="000000"/>
                </a:solidFill>
                <a:latin typeface="Cambria Math"/>
                <a:ea typeface="Cambria Math"/>
                <a:cs typeface="Cambria Math"/>
              </a:defRPr>
            </a:pPr>
            <a:r>
              <a:rPr sz="2025" b="0">
                <a:solidFill>
                  <a:srgbClr val="000000"/>
                </a:solidFill>
                <a:latin typeface="Cambria Math"/>
                <a:ea typeface="Cambria Math"/>
                <a:cs typeface="Cambria Math"/>
              </a:rPr>
              <a:t>Answer ← π</a:t>
            </a:r>
            <a:r>
              <a:rPr sz="1438" b="0" baseline="-25000">
                <a:solidFill>
                  <a:srgbClr val="000000"/>
                </a:solidFill>
                <a:latin typeface="Cambria Math"/>
                <a:ea typeface="Cambria Math"/>
                <a:cs typeface="Cambria Math"/>
              </a:rPr>
              <a:t>mid,mname</a:t>
            </a:r>
            <a:r>
              <a:rPr sz="2025" b="0">
                <a:solidFill>
                  <a:srgbClr val="000000"/>
                </a:solidFill>
                <a:latin typeface="Cambria Math"/>
                <a:ea typeface="Cambria Math"/>
                <a:cs typeface="Cambria Math"/>
              </a:rPr>
              <a:t>(Member ⋈ Incomplete)</a:t>
            </a:r>
          </a:p>
        </p:txBody>
      </p:sp>
      <p:sp>
        <p:nvSpPr>
          <p:cNvPr id="6" name="body">
            <a:extLst>
              <a:ext uri="{FF2B5EF4-FFF2-40B4-BE49-F238E27FC236}">
                <a16:creationId xmlns:a16="http://schemas.microsoft.com/office/drawing/2014/main" id="{84042292-0E13-456C-BC92-CA90CEAF8591}"/>
              </a:ext>
            </a:extLst>
          </p:cNvPr>
          <p:cNvSpPr>
            <a:spLocks noGrp="1"/>
          </p:cNvSpPr>
          <p:nvPr/>
        </p:nvSpPr>
        <p:spPr>
          <a:xfrm>
            <a:off x="2286000" y="3438525"/>
            <a:ext cx="4429125" cy="361950"/>
          </a:xfrm>
          <a:prstGeom prst="rect">
            <a:avLst/>
          </a:prstGeom>
          <a:noFill/>
          <a:ln w="0">
            <a:noFill/>
          </a:ln>
        </p:spPr>
        <p:txBody>
          <a:bodyPr wrap="square" lIns="0" tIns="0" rIns="0" bIns="0">
            <a:noAutofit/>
          </a:bodyPr>
          <a:lstStyle/>
          <a:p>
            <a:pPr>
              <a:defRPr sz="2250" b="0">
                <a:solidFill>
                  <a:srgbClr val="000000"/>
                </a:solidFill>
                <a:latin typeface="Calibri"/>
                <a:ea typeface="Calibri"/>
                <a:cs typeface="Calibri"/>
              </a:defRPr>
            </a:pPr>
            <a:r>
              <a:rPr sz="2250" b="0">
                <a:solidFill>
                  <a:srgbClr val="000000"/>
                </a:solidFill>
                <a:latin typeface="Calibri"/>
                <a:ea typeface="Calibri"/>
                <a:cs typeface="Calibri"/>
              </a:rPr>
              <a:t>Answer</a:t>
            </a:r>
          </a:p>
        </p:txBody>
      </p:sp>
      <p:graphicFrame>
        <p:nvGraphicFramePr>
          <p:cNvPr id="15" name="表格 14"/>
          <p:cNvGraphicFramePr/>
          <p:nvPr/>
        </p:nvGraphicFramePr>
        <p:xfrm>
          <a:off x="2362200" y="3857625"/>
          <a:ext cx="4429126" cy="1638300"/>
        </p:xfrm>
        <a:graphic>
          <a:graphicData uri="http://schemas.openxmlformats.org/drawingml/2006/table">
            <a:tbl>
              <a:tblPr/>
              <a:tblGrid>
                <a:gridCol w="2214563">
                  <a:extLst>
                    <a:ext uri="{9D8B030D-6E8A-4147-A177-3AD203B41FA5}">
                      <a16:colId xmlns:a16="http://schemas.microsoft.com/office/drawing/2014/main" val="20000"/>
                    </a:ext>
                  </a:extLst>
                </a:gridCol>
                <a:gridCol w="2214563">
                  <a:extLst>
                    <a:ext uri="{9D8B030D-6E8A-4147-A177-3AD203B41FA5}">
                      <a16:colId xmlns:a16="http://schemas.microsoft.com/office/drawing/2014/main" val="20001"/>
                    </a:ext>
                  </a:extLst>
                </a:gridCol>
              </a:tblGrid>
              <a:tr h="409575">
                <a:tc>
                  <a:txBody>
                    <a:bodyPr/>
                    <a:lstStyle/>
                    <a:p>
                      <a:pPr algn="ctr"/>
                      <a:r>
                        <a:rPr sz="2025">
                          <a:solidFill>
                            <a:srgbClr val="000000"/>
                          </a:solidFill>
                          <a:latin typeface="Calibri"/>
                          <a:ea typeface="Calibri"/>
                          <a:cs typeface="Calibri"/>
                        </a:rPr>
                        <a:t>mid</a:t>
                      </a:r>
                    </a:p>
                  </a:txBody>
                  <a:tcPr marL="47625" marR="47625" marT="28575" marB="28575" anchor="ctr">
                    <a:solidFill>
                      <a:srgbClr val="D9D9D9"/>
                    </a:solidFill>
                  </a:tcPr>
                </a:tc>
                <a:tc>
                  <a:txBody>
                    <a:bodyPr/>
                    <a:lstStyle/>
                    <a:p>
                      <a:pPr algn="ctr"/>
                      <a:r>
                        <a:rPr sz="2025">
                          <a:solidFill>
                            <a:srgbClr val="000000"/>
                          </a:solidFill>
                          <a:latin typeface="Calibri"/>
                          <a:ea typeface="Calibri"/>
                          <a:cs typeface="Calibri"/>
                        </a:rPr>
                        <a:t>mname</a:t>
                      </a:r>
                    </a:p>
                  </a:txBody>
                  <a:tcPr marL="47625" marR="47625" marT="28575" marB="28575" anchor="ctr">
                    <a:solidFill>
                      <a:srgbClr val="D9D9D9"/>
                    </a:solidFill>
                  </a:tcPr>
                </a:tc>
                <a:extLst>
                  <a:ext uri="{0D108BD9-81ED-4DB2-BD59-A6C34878D82A}">
                    <a16:rowId xmlns:a16="http://schemas.microsoft.com/office/drawing/2014/main" val="10000"/>
                  </a:ext>
                </a:extLst>
              </a:tr>
              <a:tr h="409575">
                <a:tc>
                  <a:txBody>
                    <a:bodyPr/>
                    <a:lstStyle/>
                    <a:p>
                      <a:pPr algn="ctr"/>
                      <a:r>
                        <a:rPr sz="2025">
                          <a:solidFill>
                            <a:srgbClr val="000000"/>
                          </a:solidFill>
                          <a:latin typeface="Calibri"/>
                          <a:ea typeface="Calibri"/>
                          <a:cs typeface="Calibri"/>
                        </a:rPr>
                        <a:t>M1</a:t>
                      </a:r>
                    </a:p>
                  </a:txBody>
                  <a:tcPr marL="47625" marR="47625" marT="28575" marB="28575" anchor="ctr">
                    <a:solidFill>
                      <a:srgbClr val="FFFFFF"/>
                    </a:solidFill>
                  </a:tcPr>
                </a:tc>
                <a:tc>
                  <a:txBody>
                    <a:bodyPr/>
                    <a:lstStyle/>
                    <a:p>
                      <a:pPr algn="ctr"/>
                      <a:r>
                        <a:rPr sz="2025">
                          <a:solidFill>
                            <a:srgbClr val="000000"/>
                          </a:solidFill>
                          <a:latin typeface="Calibri"/>
                          <a:ea typeface="Calibri"/>
                          <a:cs typeface="Calibri"/>
                        </a:rPr>
                        <a:t>Alex</a:t>
                      </a:r>
                    </a:p>
                  </a:txBody>
                  <a:tcPr marL="47625" marR="47625" marT="28575" marB="28575" anchor="ctr">
                    <a:solidFill>
                      <a:srgbClr val="FFFFFF"/>
                    </a:solidFill>
                  </a:tcPr>
                </a:tc>
                <a:extLst>
                  <a:ext uri="{0D108BD9-81ED-4DB2-BD59-A6C34878D82A}">
                    <a16:rowId xmlns:a16="http://schemas.microsoft.com/office/drawing/2014/main" val="10001"/>
                  </a:ext>
                </a:extLst>
              </a:tr>
              <a:tr h="409575">
                <a:tc>
                  <a:txBody>
                    <a:bodyPr/>
                    <a:lstStyle/>
                    <a:p>
                      <a:pPr algn="ctr"/>
                      <a:r>
                        <a:rPr sz="2025">
                          <a:solidFill>
                            <a:srgbClr val="000000"/>
                          </a:solidFill>
                          <a:latin typeface="Calibri"/>
                          <a:ea typeface="Calibri"/>
                          <a:cs typeface="Calibri"/>
                        </a:rPr>
                        <a:t>M3</a:t>
                      </a:r>
                    </a:p>
                  </a:txBody>
                  <a:tcPr marL="47625" marR="47625" marT="28575" marB="28575" anchor="ctr">
                    <a:solidFill>
                      <a:srgbClr val="FFFFFF"/>
                    </a:solidFill>
                  </a:tcPr>
                </a:tc>
                <a:tc>
                  <a:txBody>
                    <a:bodyPr/>
                    <a:lstStyle/>
                    <a:p>
                      <a:pPr algn="ctr"/>
                      <a:r>
                        <a:rPr sz="2025">
                          <a:solidFill>
                            <a:srgbClr val="000000"/>
                          </a:solidFill>
                          <a:latin typeface="Calibri"/>
                          <a:ea typeface="Calibri"/>
                          <a:cs typeface="Calibri"/>
                        </a:rPr>
                        <a:t>Alex</a:t>
                      </a:r>
                    </a:p>
                  </a:txBody>
                  <a:tcPr marL="47625" marR="47625" marT="28575" marB="28575" anchor="ctr">
                    <a:solidFill>
                      <a:srgbClr val="FFFFFF"/>
                    </a:solidFill>
                  </a:tcPr>
                </a:tc>
                <a:extLst>
                  <a:ext uri="{0D108BD9-81ED-4DB2-BD59-A6C34878D82A}">
                    <a16:rowId xmlns:a16="http://schemas.microsoft.com/office/drawing/2014/main" val="10002"/>
                  </a:ext>
                </a:extLst>
              </a:tr>
              <a:tr h="409575">
                <a:tc>
                  <a:txBody>
                    <a:bodyPr/>
                    <a:lstStyle/>
                    <a:p>
                      <a:pPr algn="ctr"/>
                      <a:r>
                        <a:rPr sz="2025">
                          <a:solidFill>
                            <a:srgbClr val="000000"/>
                          </a:solidFill>
                          <a:latin typeface="Calibri"/>
                          <a:ea typeface="Calibri"/>
                          <a:cs typeface="Calibri"/>
                        </a:rPr>
                        <a:t>M4</a:t>
                      </a:r>
                    </a:p>
                  </a:txBody>
                  <a:tcPr marL="47625" marR="47625" marT="28575" marB="28575" anchor="ctr">
                    <a:solidFill>
                      <a:srgbClr val="FFFFFF"/>
                    </a:solidFill>
                  </a:tcPr>
                </a:tc>
                <a:tc>
                  <a:txBody>
                    <a:bodyPr/>
                    <a:lstStyle/>
                    <a:p>
                      <a:pPr algn="ctr"/>
                      <a:r>
                        <a:rPr sz="2025">
                          <a:solidFill>
                            <a:srgbClr val="000000"/>
                          </a:solidFill>
                          <a:latin typeface="Calibri"/>
                          <a:ea typeface="Calibri"/>
                          <a:cs typeface="Calibri"/>
                        </a:rPr>
                        <a:t>Noor</a:t>
                      </a:r>
                    </a:p>
                  </a:txBody>
                  <a:tcPr marL="47625" marR="47625" marT="28575" marB="28575" anchor="ctr">
                    <a:solidFill>
                      <a:srgbClr val="FFFFFF"/>
                    </a:solidFill>
                  </a:tcPr>
                </a:tc>
                <a:extLst>
                  <a:ext uri="{0D108BD9-81ED-4DB2-BD59-A6C34878D82A}">
                    <a16:rowId xmlns:a16="http://schemas.microsoft.com/office/drawing/2014/main" val="10003"/>
                  </a:ext>
                </a:extLst>
              </a:tr>
            </a:tbl>
          </a:graphicData>
        </a:graphic>
      </p:graphicFrame>
      <p:sp>
        <p:nvSpPr>
          <p:cNvPr id="8" name="body">
            <a:extLst>
              <a:ext uri="{FF2B5EF4-FFF2-40B4-BE49-F238E27FC236}">
                <a16:creationId xmlns:a16="http://schemas.microsoft.com/office/drawing/2014/main" id="{6609C529-3801-4E19-B557-CBC22E4981AE}"/>
              </a:ext>
            </a:extLst>
          </p:cNvPr>
          <p:cNvSpPr>
            <a:spLocks noGrp="1"/>
          </p:cNvSpPr>
          <p:nvPr/>
        </p:nvSpPr>
        <p:spPr>
          <a:xfrm>
            <a:off x="781050" y="5715000"/>
            <a:ext cx="7600950" cy="952500"/>
          </a:xfrm>
          <a:prstGeom prst="rect">
            <a:avLst/>
          </a:prstGeom>
          <a:noFill/>
          <a:ln w="0">
            <a:noFill/>
          </a:ln>
        </p:spPr>
        <p:txBody>
          <a:bodyPr wrap="square" lIns="0" tIns="0" rIns="0" bIns="0">
            <a:noAutofit/>
          </a:bodyPr>
          <a:lstStyle/>
          <a:p>
            <a:pPr>
              <a:defRPr sz="2025" b="0">
                <a:solidFill>
                  <a:srgbClr val="FF0000"/>
                </a:solidFill>
                <a:latin typeface="Calibri"/>
                <a:ea typeface="Calibri"/>
                <a:cs typeface="Calibri"/>
              </a:defRPr>
            </a:pPr>
            <a:r>
              <a:rPr sz="2025" b="0">
                <a:solidFill>
                  <a:srgbClr val="FF0000"/>
                </a:solidFill>
                <a:latin typeface="Calibri"/>
                <a:ea typeface="Calibri"/>
                <a:cs typeface="Calibri"/>
              </a:rPr>
              <a:t>M2 has no missing pair and is absent from this result.</a:t>
            </a:r>
          </a:p>
        </p:txBody>
      </p:sp>
      <p:sp>
        <p:nvSpPr>
          <p:cNvPr id="9001" name="Title 1">
            <a:extLst>
              <a:ext uri="{FF2B5EF4-FFF2-40B4-BE49-F238E27FC236}">
                <a16:creationId xmlns:a16="http://schemas.microsoft.com/office/drawing/2014/main" id="{4EF27E5C-9C4D-BDBE-7667-D0B141BCC8F5}"/>
              </a:ext>
            </a:extLst>
          </p:cNvPr>
          <p:cNvSpPr>
            <a:spLocks noGrp="1"/>
          </p:cNvSpPr>
          <p:nvPr>
            <p:ph type="title"/>
          </p:nvPr>
        </p:nvSpPr>
        <p:spPr/>
        <p:txBody>
          <a:bodyPr/>
          <a:lstStyle/>
          <a:p>
            <a:r>
              <a:rPr lang="en-US">
                <a:solidFill>
                  <a:srgbClr val="FF0000"/>
                </a:solidFill>
              </a:rPr>
              <a:t>Solutions: </a:t>
            </a:r>
            <a:r>
              <a:rPr lang="en-US">
                <a:solidFill>
                  <a:srgbClr val="3333CC"/>
                </a:solidFill>
              </a:rPr>
              <a:t>Q32 (3)</a:t>
            </a:r>
          </a:p>
        </p:txBody>
      </p:sp>
      <p:sp>
        <p:nvSpPr>
          <p:cNvPr id="9002" name="Slide Number Placeholder 1">
            <a:extLst>
              <a:ext uri="{FF2B5EF4-FFF2-40B4-BE49-F238E27FC236}">
                <a16:creationId xmlns:a16="http://schemas.microsoft.com/office/drawing/2014/main" id="{B90139AC-3BDA-723A-097A-000DA0A784C1}"/>
              </a:ext>
            </a:extLst>
          </p:cNvPr>
          <p:cNvSpPr>
            <a:spLocks noGrp="1"/>
          </p:cNvSpPr>
          <p:nvPr>
            <p:ph type="sldNum" sz="quarter" idx="12"/>
          </p:nvPr>
        </p:nvSpPr>
        <p:spPr/>
        <p:txBody>
          <a:bodyPr/>
          <a:lstStyle/>
          <a:p>
            <a:pPr>
              <a:defRPr/>
            </a:pPr>
            <a:fld id="{43CA101F-9E5F-9249-9862-3CE55B3BB777}" type="slidenum">
              <a:rPr lang="en-US" altLang="zh-TW" smtClean="0"/>
              <a:pPr>
                <a:defRPr/>
              </a:pPr>
              <a:t>91</a:t>
            </a:fld>
            <a:endParaRPr lang="en-US" altLang="zh-TW"/>
          </a:p>
        </p:txBody>
      </p:sp>
    </p:spTree>
    <p:extLst>
      <p:ext uri="{BB962C8B-B14F-4D97-AF65-F5344CB8AC3E}">
        <p14:creationId xmlns:p14="http://schemas.microsoft.com/office/powerpoint/2010/main" val="454719569"/>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formula">
            <a:extLst>
              <a:ext uri="{FF2B5EF4-FFF2-40B4-BE49-F238E27FC236}">
                <a16:creationId xmlns:a16="http://schemas.microsoft.com/office/drawing/2014/main" id="{2EA2E26A-7E3E-408B-A103-D3F4C6527221}"/>
              </a:ext>
            </a:extLst>
          </p:cNvPr>
          <p:cNvSpPr>
            <a:spLocks noGrp="1"/>
          </p:cNvSpPr>
          <p:nvPr/>
        </p:nvSpPr>
        <p:spPr>
          <a:xfrm>
            <a:off x="781050" y="1057275"/>
            <a:ext cx="7620000" cy="523875"/>
          </a:xfrm>
          <a:prstGeom prst="rect">
            <a:avLst/>
          </a:prstGeom>
          <a:noFill/>
          <a:ln w="0">
            <a:noFill/>
          </a:ln>
        </p:spPr>
        <p:txBody>
          <a:bodyPr wrap="square" lIns="0" tIns="0" rIns="0" bIns="0">
            <a:noAutofit/>
          </a:bodyPr>
          <a:lstStyle/>
          <a:p>
            <a:pPr>
              <a:defRPr sz="2175" b="0">
                <a:solidFill>
                  <a:srgbClr val="000000"/>
                </a:solidFill>
                <a:latin typeface="Cambria Math"/>
                <a:ea typeface="Cambria Math"/>
                <a:cs typeface="Cambria Math"/>
              </a:defRPr>
            </a:pPr>
            <a:r>
              <a:rPr sz="2175" b="0">
                <a:solidFill>
                  <a:srgbClr val="000000"/>
                </a:solidFill>
                <a:latin typeface="Cambria Math"/>
                <a:ea typeface="Cambria Math"/>
                <a:cs typeface="Cambria Math"/>
              </a:rPr>
              <a:t>Never ← U − π</a:t>
            </a:r>
            <a:r>
              <a:rPr sz="1544" b="0" baseline="-25000">
                <a:solidFill>
                  <a:srgbClr val="000000"/>
                </a:solidFill>
                <a:latin typeface="Cambria Math"/>
                <a:ea typeface="Cambria Math"/>
                <a:cs typeface="Cambria Math"/>
              </a:rPr>
              <a:t>mid</a:t>
            </a:r>
            <a:r>
              <a:rPr sz="2175" b="0">
                <a:solidFill>
                  <a:srgbClr val="000000"/>
                </a:solidFill>
                <a:latin typeface="Cambria Math"/>
                <a:ea typeface="Cambria Math"/>
                <a:cs typeface="Cambria Math"/>
              </a:rPr>
              <a:t>(P) = { (M4) }</a:t>
            </a:r>
          </a:p>
        </p:txBody>
      </p:sp>
      <p:sp>
        <p:nvSpPr>
          <p:cNvPr id="4" name="formula">
            <a:extLst>
              <a:ext uri="{FF2B5EF4-FFF2-40B4-BE49-F238E27FC236}">
                <a16:creationId xmlns:a16="http://schemas.microsoft.com/office/drawing/2014/main" id="{BF63A9E2-4715-4790-9DE4-5B6C2089EB7C}"/>
              </a:ext>
            </a:extLst>
          </p:cNvPr>
          <p:cNvSpPr>
            <a:spLocks noGrp="1"/>
          </p:cNvSpPr>
          <p:nvPr/>
        </p:nvSpPr>
        <p:spPr>
          <a:xfrm>
            <a:off x="781050" y="1781175"/>
            <a:ext cx="7620000" cy="523875"/>
          </a:xfrm>
          <a:prstGeom prst="rect">
            <a:avLst/>
          </a:prstGeom>
          <a:noFill/>
          <a:ln w="0">
            <a:noFill/>
          </a:ln>
        </p:spPr>
        <p:txBody>
          <a:bodyPr wrap="square" lIns="0" tIns="0" rIns="0" bIns="0">
            <a:noAutofit/>
          </a:bodyPr>
          <a:lstStyle/>
          <a:p>
            <a:pPr>
              <a:defRPr sz="2025" b="0">
                <a:solidFill>
                  <a:srgbClr val="000000"/>
                </a:solidFill>
                <a:latin typeface="Cambria Math"/>
                <a:ea typeface="Cambria Math"/>
                <a:cs typeface="Cambria Math"/>
              </a:defRPr>
            </a:pPr>
            <a:r>
              <a:rPr sz="2025" b="0">
                <a:solidFill>
                  <a:srgbClr val="000000"/>
                </a:solidFill>
                <a:latin typeface="Cambria Math"/>
                <a:ea typeface="Cambria Math"/>
                <a:cs typeface="Cambria Math"/>
              </a:rPr>
              <a:t>NeverTrained ← π</a:t>
            </a:r>
            <a:r>
              <a:rPr sz="1438" b="0" baseline="-25000">
                <a:solidFill>
                  <a:srgbClr val="000000"/>
                </a:solidFill>
                <a:latin typeface="Cambria Math"/>
                <a:ea typeface="Cambria Math"/>
                <a:cs typeface="Cambria Math"/>
              </a:rPr>
              <a:t>mid,mname</a:t>
            </a:r>
            <a:r>
              <a:rPr sz="2025" b="0">
                <a:solidFill>
                  <a:srgbClr val="000000"/>
                </a:solidFill>
                <a:latin typeface="Cambria Math"/>
                <a:ea typeface="Cambria Math"/>
                <a:cs typeface="Cambria Math"/>
              </a:rPr>
              <a:t>(Member ⋈ Never)</a:t>
            </a:r>
          </a:p>
        </p:txBody>
      </p:sp>
      <p:sp>
        <p:nvSpPr>
          <p:cNvPr id="5" name="body">
            <a:extLst>
              <a:ext uri="{FF2B5EF4-FFF2-40B4-BE49-F238E27FC236}">
                <a16:creationId xmlns:a16="http://schemas.microsoft.com/office/drawing/2014/main" id="{FBEFA64D-803D-4485-9112-F2ED65999FC4}"/>
              </a:ext>
            </a:extLst>
          </p:cNvPr>
          <p:cNvSpPr>
            <a:spLocks noGrp="1"/>
          </p:cNvSpPr>
          <p:nvPr/>
        </p:nvSpPr>
        <p:spPr>
          <a:xfrm>
            <a:off x="2257425" y="2419350"/>
            <a:ext cx="4476750" cy="361950"/>
          </a:xfrm>
          <a:prstGeom prst="rect">
            <a:avLst/>
          </a:prstGeom>
          <a:noFill/>
          <a:ln w="0">
            <a:noFill/>
          </a:ln>
        </p:spPr>
        <p:txBody>
          <a:bodyPr wrap="square" lIns="0" tIns="0" rIns="0" bIns="0">
            <a:noAutofit/>
          </a:bodyPr>
          <a:lstStyle/>
          <a:p>
            <a:pPr>
              <a:defRPr sz="2250" b="0">
                <a:solidFill>
                  <a:srgbClr val="000000"/>
                </a:solidFill>
                <a:latin typeface="Calibri"/>
                <a:ea typeface="Calibri"/>
                <a:cs typeface="Calibri"/>
              </a:defRPr>
            </a:pPr>
            <a:r>
              <a:rPr sz="2250" b="0">
                <a:solidFill>
                  <a:srgbClr val="000000"/>
                </a:solidFill>
                <a:latin typeface="Calibri"/>
                <a:ea typeface="Calibri"/>
                <a:cs typeface="Calibri"/>
              </a:rPr>
              <a:t>NeverTrained</a:t>
            </a:r>
          </a:p>
        </p:txBody>
      </p:sp>
      <p:graphicFrame>
        <p:nvGraphicFramePr>
          <p:cNvPr id="15" name="表格 14"/>
          <p:cNvGraphicFramePr/>
          <p:nvPr/>
        </p:nvGraphicFramePr>
        <p:xfrm>
          <a:off x="2333625" y="2838450"/>
          <a:ext cx="4476750" cy="800100"/>
        </p:xfrm>
        <a:graphic>
          <a:graphicData uri="http://schemas.openxmlformats.org/drawingml/2006/table">
            <a:tbl>
              <a:tblPr/>
              <a:tblGrid>
                <a:gridCol w="2238375">
                  <a:extLst>
                    <a:ext uri="{9D8B030D-6E8A-4147-A177-3AD203B41FA5}">
                      <a16:colId xmlns:a16="http://schemas.microsoft.com/office/drawing/2014/main" val="20000"/>
                    </a:ext>
                  </a:extLst>
                </a:gridCol>
                <a:gridCol w="2238375">
                  <a:extLst>
                    <a:ext uri="{9D8B030D-6E8A-4147-A177-3AD203B41FA5}">
                      <a16:colId xmlns:a16="http://schemas.microsoft.com/office/drawing/2014/main" val="20001"/>
                    </a:ext>
                  </a:extLst>
                </a:gridCol>
              </a:tblGrid>
              <a:tr h="400050">
                <a:tc>
                  <a:txBody>
                    <a:bodyPr/>
                    <a:lstStyle/>
                    <a:p>
                      <a:pPr algn="ctr"/>
                      <a:r>
                        <a:rPr sz="2025">
                          <a:solidFill>
                            <a:srgbClr val="000000"/>
                          </a:solidFill>
                          <a:latin typeface="Calibri"/>
                          <a:ea typeface="Calibri"/>
                          <a:cs typeface="Calibri"/>
                        </a:rPr>
                        <a:t>mid</a:t>
                      </a:r>
                    </a:p>
                  </a:txBody>
                  <a:tcPr marL="47625" marR="47625" marT="28575" marB="28575" anchor="ctr">
                    <a:solidFill>
                      <a:srgbClr val="D9D9D9"/>
                    </a:solidFill>
                  </a:tcPr>
                </a:tc>
                <a:tc>
                  <a:txBody>
                    <a:bodyPr/>
                    <a:lstStyle/>
                    <a:p>
                      <a:pPr algn="ctr"/>
                      <a:r>
                        <a:rPr sz="2025">
                          <a:solidFill>
                            <a:srgbClr val="000000"/>
                          </a:solidFill>
                          <a:latin typeface="Calibri"/>
                          <a:ea typeface="Calibri"/>
                          <a:cs typeface="Calibri"/>
                        </a:rPr>
                        <a:t>mname</a:t>
                      </a:r>
                    </a:p>
                  </a:txBody>
                  <a:tcPr marL="47625" marR="47625" marT="28575" marB="28575" anchor="ctr">
                    <a:solidFill>
                      <a:srgbClr val="D9D9D9"/>
                    </a:solidFill>
                  </a:tcPr>
                </a:tc>
                <a:extLst>
                  <a:ext uri="{0D108BD9-81ED-4DB2-BD59-A6C34878D82A}">
                    <a16:rowId xmlns:a16="http://schemas.microsoft.com/office/drawing/2014/main" val="10000"/>
                  </a:ext>
                </a:extLst>
              </a:tr>
              <a:tr h="400050">
                <a:tc>
                  <a:txBody>
                    <a:bodyPr/>
                    <a:lstStyle/>
                    <a:p>
                      <a:pPr algn="ctr"/>
                      <a:r>
                        <a:rPr sz="2025">
                          <a:solidFill>
                            <a:srgbClr val="000000"/>
                          </a:solidFill>
                          <a:latin typeface="Calibri"/>
                          <a:ea typeface="Calibri"/>
                          <a:cs typeface="Calibri"/>
                        </a:rPr>
                        <a:t>M4</a:t>
                      </a:r>
                    </a:p>
                  </a:txBody>
                  <a:tcPr marL="47625" marR="47625" marT="28575" marB="28575" anchor="ctr">
                    <a:solidFill>
                      <a:srgbClr val="FFFFFF"/>
                    </a:solidFill>
                  </a:tcPr>
                </a:tc>
                <a:tc>
                  <a:txBody>
                    <a:bodyPr/>
                    <a:lstStyle/>
                    <a:p>
                      <a:pPr algn="ctr"/>
                      <a:r>
                        <a:rPr sz="2025">
                          <a:solidFill>
                            <a:srgbClr val="000000"/>
                          </a:solidFill>
                          <a:latin typeface="Calibri"/>
                          <a:ea typeface="Calibri"/>
                          <a:cs typeface="Calibri"/>
                        </a:rPr>
                        <a:t>Noor</a:t>
                      </a:r>
                    </a:p>
                  </a:txBody>
                  <a:tcPr marL="47625" marR="47625" marT="28575" marB="28575" anchor="ctr">
                    <a:solidFill>
                      <a:srgbClr val="FFFFFF"/>
                    </a:solidFill>
                  </a:tcPr>
                </a:tc>
                <a:extLst>
                  <a:ext uri="{0D108BD9-81ED-4DB2-BD59-A6C34878D82A}">
                    <a16:rowId xmlns:a16="http://schemas.microsoft.com/office/drawing/2014/main" val="10001"/>
                  </a:ext>
                </a:extLst>
              </a:tr>
            </a:tbl>
          </a:graphicData>
        </a:graphic>
      </p:graphicFrame>
      <p:sp>
        <p:nvSpPr>
          <p:cNvPr id="7" name="formula">
            <a:extLst>
              <a:ext uri="{FF2B5EF4-FFF2-40B4-BE49-F238E27FC236}">
                <a16:creationId xmlns:a16="http://schemas.microsoft.com/office/drawing/2014/main" id="{E35D6317-D817-4614-B12F-F2FE9CFA17B3}"/>
              </a:ext>
            </a:extLst>
          </p:cNvPr>
          <p:cNvSpPr>
            <a:spLocks noGrp="1"/>
          </p:cNvSpPr>
          <p:nvPr/>
        </p:nvSpPr>
        <p:spPr>
          <a:xfrm>
            <a:off x="781050" y="4352925"/>
            <a:ext cx="7620000" cy="523875"/>
          </a:xfrm>
          <a:prstGeom prst="rect">
            <a:avLst/>
          </a:prstGeom>
          <a:noFill/>
          <a:ln w="0">
            <a:noFill/>
          </a:ln>
        </p:spPr>
        <p:txBody>
          <a:bodyPr wrap="square" lIns="0" tIns="0" rIns="0" bIns="0">
            <a:noAutofit/>
          </a:bodyPr>
          <a:lstStyle/>
          <a:p>
            <a:pPr>
              <a:defRPr sz="2100" b="0">
                <a:solidFill>
                  <a:srgbClr val="000000"/>
                </a:solidFill>
                <a:latin typeface="Cambria Math"/>
                <a:ea typeface="Cambria Math"/>
                <a:cs typeface="Cambria Math"/>
              </a:defRPr>
            </a:pPr>
            <a:r>
              <a:rPr sz="2100" b="0">
                <a:solidFill>
                  <a:srgbClr val="000000"/>
                </a:solidFill>
                <a:latin typeface="Cambria Math"/>
                <a:ea typeface="Cambria Math"/>
                <a:cs typeface="Cambria Math"/>
              </a:rPr>
              <a:t>SomeButIncomplete ← Incomplete − Never</a:t>
            </a:r>
          </a:p>
        </p:txBody>
      </p:sp>
      <p:sp>
        <p:nvSpPr>
          <p:cNvPr id="8" name="body">
            <a:extLst>
              <a:ext uri="{FF2B5EF4-FFF2-40B4-BE49-F238E27FC236}">
                <a16:creationId xmlns:a16="http://schemas.microsoft.com/office/drawing/2014/main" id="{6F07B8F6-8548-4A54-8FBC-4C119D5A3787}"/>
              </a:ext>
            </a:extLst>
          </p:cNvPr>
          <p:cNvSpPr>
            <a:spLocks noGrp="1"/>
          </p:cNvSpPr>
          <p:nvPr/>
        </p:nvSpPr>
        <p:spPr>
          <a:xfrm>
            <a:off x="781050" y="5029200"/>
            <a:ext cx="7600950" cy="952500"/>
          </a:xfrm>
          <a:prstGeom prst="rect">
            <a:avLst/>
          </a:prstGeom>
          <a:noFill/>
          <a:ln w="0">
            <a:noFill/>
          </a:ln>
        </p:spPr>
        <p:txBody>
          <a:bodyPr wrap="square" lIns="0" tIns="0" rIns="0" bIns="0">
            <a:noAutofit/>
          </a:bodyPr>
          <a:lstStyle/>
          <a:p>
            <a:pPr>
              <a:defRPr sz="2100" b="0">
                <a:solidFill>
                  <a:srgbClr val="000000"/>
                </a:solidFill>
                <a:latin typeface="Calibri"/>
                <a:ea typeface="Calibri"/>
                <a:cs typeface="Calibri"/>
              </a:defRPr>
            </a:pPr>
            <a:r>
              <a:rPr sz="2100" b="0">
                <a:solidFill>
                  <a:srgbClr val="000000"/>
                </a:solidFill>
                <a:latin typeface="Calibri"/>
                <a:ea typeface="Calibri"/>
                <a:cs typeface="Calibri"/>
              </a:rPr>
              <a:t>SomeButIncomplete(mid) = { (M1), (M3) }</a:t>
            </a:r>
          </a:p>
        </p:txBody>
      </p:sp>
      <p:sp>
        <p:nvSpPr>
          <p:cNvPr id="9" name="body">
            <a:extLst>
              <a:ext uri="{FF2B5EF4-FFF2-40B4-BE49-F238E27FC236}">
                <a16:creationId xmlns:a16="http://schemas.microsoft.com/office/drawing/2014/main" id="{177A5BCF-E6AF-4CE8-A414-718AF36AA924}"/>
              </a:ext>
            </a:extLst>
          </p:cNvPr>
          <p:cNvSpPr>
            <a:spLocks noGrp="1"/>
          </p:cNvSpPr>
          <p:nvPr/>
        </p:nvSpPr>
        <p:spPr>
          <a:xfrm>
            <a:off x="781050" y="5734050"/>
            <a:ext cx="7600950" cy="952500"/>
          </a:xfrm>
          <a:prstGeom prst="rect">
            <a:avLst/>
          </a:prstGeom>
          <a:noFill/>
          <a:ln w="0">
            <a:noFill/>
          </a:ln>
        </p:spPr>
        <p:txBody>
          <a:bodyPr wrap="square" lIns="0" tIns="0" rIns="0" bIns="0">
            <a:noAutofit/>
          </a:bodyPr>
          <a:lstStyle/>
          <a:p>
            <a:pPr>
              <a:defRPr sz="2025" b="0">
                <a:solidFill>
                  <a:srgbClr val="FF0000"/>
                </a:solidFill>
                <a:latin typeface="Calibri"/>
                <a:ea typeface="Calibri"/>
                <a:cs typeface="Calibri"/>
              </a:defRPr>
            </a:pPr>
            <a:r>
              <a:rPr sz="2025" b="0">
                <a:solidFill>
                  <a:srgbClr val="FF0000"/>
                </a:solidFill>
                <a:latin typeface="Calibri"/>
                <a:ea typeface="Calibri"/>
                <a:cs typeface="Calibri"/>
              </a:rPr>
              <a:t>Starting from πmid(P) would incorrectly omit Noor.</a:t>
            </a:r>
          </a:p>
        </p:txBody>
      </p:sp>
      <p:sp>
        <p:nvSpPr>
          <p:cNvPr id="9001" name="Title 1">
            <a:extLst>
              <a:ext uri="{FF2B5EF4-FFF2-40B4-BE49-F238E27FC236}">
                <a16:creationId xmlns:a16="http://schemas.microsoft.com/office/drawing/2014/main" id="{4EF27E5C-9C4D-BDBE-7667-D0B141BCC8F5}"/>
              </a:ext>
            </a:extLst>
          </p:cNvPr>
          <p:cNvSpPr>
            <a:spLocks noGrp="1"/>
          </p:cNvSpPr>
          <p:nvPr>
            <p:ph type="title"/>
          </p:nvPr>
        </p:nvSpPr>
        <p:spPr/>
        <p:txBody>
          <a:bodyPr/>
          <a:lstStyle/>
          <a:p>
            <a:r>
              <a:rPr lang="en-US">
                <a:solidFill>
                  <a:srgbClr val="FF0000"/>
                </a:solidFill>
              </a:rPr>
              <a:t>Solutions: </a:t>
            </a:r>
            <a:r>
              <a:rPr lang="en-US">
                <a:solidFill>
                  <a:srgbClr val="3333CC"/>
                </a:solidFill>
              </a:rPr>
              <a:t>Q32 (4)</a:t>
            </a:r>
          </a:p>
        </p:txBody>
      </p:sp>
      <p:sp>
        <p:nvSpPr>
          <p:cNvPr id="9002" name="Slide Number Placeholder 1">
            <a:extLst>
              <a:ext uri="{FF2B5EF4-FFF2-40B4-BE49-F238E27FC236}">
                <a16:creationId xmlns:a16="http://schemas.microsoft.com/office/drawing/2014/main" id="{B90139AC-3BDA-723A-097A-000DA0A784C1}"/>
              </a:ext>
            </a:extLst>
          </p:cNvPr>
          <p:cNvSpPr>
            <a:spLocks noGrp="1"/>
          </p:cNvSpPr>
          <p:nvPr>
            <p:ph type="sldNum" sz="quarter" idx="12"/>
          </p:nvPr>
        </p:nvSpPr>
        <p:spPr/>
        <p:txBody>
          <a:bodyPr/>
          <a:lstStyle/>
          <a:p>
            <a:pPr>
              <a:defRPr/>
            </a:pPr>
            <a:fld id="{43CA101F-9E5F-9249-9862-3CE55B3BB777}" type="slidenum">
              <a:rPr lang="en-US" altLang="zh-TW" smtClean="0"/>
              <a:pPr>
                <a:defRPr/>
              </a:pPr>
              <a:t>92</a:t>
            </a:fld>
            <a:endParaRPr lang="en-US" altLang="zh-TW"/>
          </a:p>
        </p:txBody>
      </p:sp>
    </p:spTree>
    <p:extLst>
      <p:ext uri="{BB962C8B-B14F-4D97-AF65-F5344CB8AC3E}">
        <p14:creationId xmlns:p14="http://schemas.microsoft.com/office/powerpoint/2010/main" val="1488645880"/>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body">
            <a:extLst>
              <a:ext uri="{FF2B5EF4-FFF2-40B4-BE49-F238E27FC236}">
                <a16:creationId xmlns:a16="http://schemas.microsoft.com/office/drawing/2014/main" id="{73862D75-A4A4-44AB-826C-60D3BA13FD44}"/>
              </a:ext>
            </a:extLst>
          </p:cNvPr>
          <p:cNvSpPr>
            <a:spLocks noGrp="1"/>
          </p:cNvSpPr>
          <p:nvPr/>
        </p:nvSpPr>
        <p:spPr>
          <a:xfrm>
            <a:off x="781050" y="1047750"/>
            <a:ext cx="219075" cy="400050"/>
          </a:xfrm>
          <a:prstGeom prst="rect">
            <a:avLst/>
          </a:prstGeom>
          <a:noFill/>
          <a:ln w="0">
            <a:noFill/>
          </a:ln>
        </p:spPr>
        <p:txBody>
          <a:bodyPr wrap="square" lIns="0" tIns="0" rIns="0" bIns="0">
            <a:noAutofit/>
          </a:bodyPr>
          <a:lstStyle/>
          <a:p>
            <a:pPr>
              <a:defRPr sz="2250" b="0">
                <a:solidFill>
                  <a:srgbClr val="000000"/>
                </a:solidFill>
                <a:latin typeface="Calibri"/>
                <a:ea typeface="Calibri"/>
                <a:cs typeface="Calibri"/>
              </a:defRPr>
            </a:pPr>
            <a:r>
              <a:rPr sz="2250" b="0">
                <a:solidFill>
                  <a:srgbClr val="000000"/>
                </a:solidFill>
                <a:latin typeface="Calibri"/>
                <a:ea typeface="Calibri"/>
                <a:cs typeface="Calibri"/>
              </a:rPr>
              <a:t>•</a:t>
            </a:r>
          </a:p>
        </p:txBody>
      </p:sp>
      <p:sp>
        <p:nvSpPr>
          <p:cNvPr id="4" name="body">
            <a:extLst>
              <a:ext uri="{FF2B5EF4-FFF2-40B4-BE49-F238E27FC236}">
                <a16:creationId xmlns:a16="http://schemas.microsoft.com/office/drawing/2014/main" id="{2A9CEE43-442A-4915-A745-540CB3CA0BBF}"/>
              </a:ext>
            </a:extLst>
          </p:cNvPr>
          <p:cNvSpPr>
            <a:spLocks noGrp="1"/>
          </p:cNvSpPr>
          <p:nvPr/>
        </p:nvSpPr>
        <p:spPr>
          <a:xfrm>
            <a:off x="1104900" y="1047750"/>
            <a:ext cx="7239000" cy="952500"/>
          </a:xfrm>
          <a:prstGeom prst="rect">
            <a:avLst/>
          </a:prstGeom>
          <a:noFill/>
          <a:ln w="0">
            <a:noFill/>
          </a:ln>
        </p:spPr>
        <p:txBody>
          <a:bodyPr wrap="square" lIns="0" tIns="0" rIns="0" bIns="0">
            <a:noAutofit/>
          </a:bodyPr>
          <a:lstStyle/>
          <a:p>
            <a:pPr>
              <a:defRPr sz="2250" b="0">
                <a:solidFill>
                  <a:srgbClr val="000000"/>
                </a:solidFill>
                <a:latin typeface="Calibri"/>
                <a:ea typeface="Calibri"/>
                <a:cs typeface="Calibri"/>
              </a:defRPr>
            </a:pPr>
            <a:r>
              <a:rPr sz="2250" b="0">
                <a:solidFill>
                  <a:srgbClr val="000000"/>
                </a:solidFill>
                <a:latin typeface="Calibri"/>
                <a:ea typeface="Calibri"/>
                <a:cs typeface="Calibri"/>
              </a:rPr>
              <a:t>Selection changes rows. Projection changes columns and removes duplicates.</a:t>
            </a:r>
          </a:p>
        </p:txBody>
      </p:sp>
      <p:sp>
        <p:nvSpPr>
          <p:cNvPr id="5" name="body">
            <a:extLst>
              <a:ext uri="{FF2B5EF4-FFF2-40B4-BE49-F238E27FC236}">
                <a16:creationId xmlns:a16="http://schemas.microsoft.com/office/drawing/2014/main" id="{738ABAFF-F247-45B5-BB22-FCCFEEEFCE2D}"/>
              </a:ext>
            </a:extLst>
          </p:cNvPr>
          <p:cNvSpPr>
            <a:spLocks noGrp="1"/>
          </p:cNvSpPr>
          <p:nvPr/>
        </p:nvSpPr>
        <p:spPr>
          <a:xfrm>
            <a:off x="781050" y="2133600"/>
            <a:ext cx="219075" cy="400050"/>
          </a:xfrm>
          <a:prstGeom prst="rect">
            <a:avLst/>
          </a:prstGeom>
          <a:noFill/>
          <a:ln w="0">
            <a:noFill/>
          </a:ln>
        </p:spPr>
        <p:txBody>
          <a:bodyPr wrap="square" lIns="0" tIns="0" rIns="0" bIns="0">
            <a:noAutofit/>
          </a:bodyPr>
          <a:lstStyle/>
          <a:p>
            <a:pPr>
              <a:defRPr sz="2250" b="0">
                <a:solidFill>
                  <a:srgbClr val="000000"/>
                </a:solidFill>
                <a:latin typeface="Calibri"/>
                <a:ea typeface="Calibri"/>
                <a:cs typeface="Calibri"/>
              </a:defRPr>
            </a:pPr>
            <a:r>
              <a:rPr sz="2250" b="0">
                <a:solidFill>
                  <a:srgbClr val="000000"/>
                </a:solidFill>
                <a:latin typeface="Calibri"/>
                <a:ea typeface="Calibri"/>
                <a:cs typeface="Calibri"/>
              </a:rPr>
              <a:t>•</a:t>
            </a:r>
          </a:p>
        </p:txBody>
      </p:sp>
      <p:sp>
        <p:nvSpPr>
          <p:cNvPr id="6" name="body">
            <a:extLst>
              <a:ext uri="{FF2B5EF4-FFF2-40B4-BE49-F238E27FC236}">
                <a16:creationId xmlns:a16="http://schemas.microsoft.com/office/drawing/2014/main" id="{B85E7840-415E-4290-A079-18F70BD5F604}"/>
              </a:ext>
            </a:extLst>
          </p:cNvPr>
          <p:cNvSpPr>
            <a:spLocks noGrp="1"/>
          </p:cNvSpPr>
          <p:nvPr/>
        </p:nvSpPr>
        <p:spPr>
          <a:xfrm>
            <a:off x="1104900" y="2133600"/>
            <a:ext cx="7239000" cy="952500"/>
          </a:xfrm>
          <a:prstGeom prst="rect">
            <a:avLst/>
          </a:prstGeom>
          <a:noFill/>
          <a:ln w="0">
            <a:noFill/>
          </a:ln>
        </p:spPr>
        <p:txBody>
          <a:bodyPr wrap="square" lIns="0" tIns="0" rIns="0" bIns="0">
            <a:noAutofit/>
          </a:bodyPr>
          <a:lstStyle/>
          <a:p>
            <a:pPr>
              <a:defRPr sz="2250" b="0">
                <a:solidFill>
                  <a:srgbClr val="000000"/>
                </a:solidFill>
                <a:latin typeface="Calibri"/>
                <a:ea typeface="Calibri"/>
                <a:cs typeface="Calibri"/>
              </a:defRPr>
            </a:pPr>
            <a:r>
              <a:rPr sz="2250" b="0">
                <a:solidFill>
                  <a:srgbClr val="000000"/>
                </a:solidFill>
                <a:latin typeface="Calibri"/>
                <a:ea typeface="Calibri"/>
                <a:cs typeface="Calibri"/>
              </a:rPr>
              <a:t>Set operations require compatible schemas. Difference has a direction.</a:t>
            </a:r>
          </a:p>
        </p:txBody>
      </p:sp>
      <p:sp>
        <p:nvSpPr>
          <p:cNvPr id="7" name="body">
            <a:extLst>
              <a:ext uri="{FF2B5EF4-FFF2-40B4-BE49-F238E27FC236}">
                <a16:creationId xmlns:a16="http://schemas.microsoft.com/office/drawing/2014/main" id="{F000E99D-D61C-486A-BF02-F257894B9A8D}"/>
              </a:ext>
            </a:extLst>
          </p:cNvPr>
          <p:cNvSpPr>
            <a:spLocks noGrp="1"/>
          </p:cNvSpPr>
          <p:nvPr/>
        </p:nvSpPr>
        <p:spPr>
          <a:xfrm>
            <a:off x="781050" y="3228975"/>
            <a:ext cx="219075" cy="400050"/>
          </a:xfrm>
          <a:prstGeom prst="rect">
            <a:avLst/>
          </a:prstGeom>
          <a:noFill/>
          <a:ln w="0">
            <a:noFill/>
          </a:ln>
        </p:spPr>
        <p:txBody>
          <a:bodyPr wrap="square" lIns="0" tIns="0" rIns="0" bIns="0">
            <a:noAutofit/>
          </a:bodyPr>
          <a:lstStyle/>
          <a:p>
            <a:pPr>
              <a:defRPr sz="2250" b="0">
                <a:solidFill>
                  <a:srgbClr val="000000"/>
                </a:solidFill>
                <a:latin typeface="Calibri"/>
                <a:ea typeface="Calibri"/>
                <a:cs typeface="Calibri"/>
              </a:defRPr>
            </a:pPr>
            <a:r>
              <a:rPr sz="2250" b="0">
                <a:solidFill>
                  <a:srgbClr val="000000"/>
                </a:solidFill>
                <a:latin typeface="Calibri"/>
                <a:ea typeface="Calibri"/>
                <a:cs typeface="Calibri"/>
              </a:rPr>
              <a:t>•</a:t>
            </a:r>
          </a:p>
        </p:txBody>
      </p:sp>
      <p:sp>
        <p:nvSpPr>
          <p:cNvPr id="8" name="body">
            <a:extLst>
              <a:ext uri="{FF2B5EF4-FFF2-40B4-BE49-F238E27FC236}">
                <a16:creationId xmlns:a16="http://schemas.microsoft.com/office/drawing/2014/main" id="{F41D0A82-28A5-4799-80FC-8175F6C2B659}"/>
              </a:ext>
            </a:extLst>
          </p:cNvPr>
          <p:cNvSpPr>
            <a:spLocks noGrp="1"/>
          </p:cNvSpPr>
          <p:nvPr/>
        </p:nvSpPr>
        <p:spPr>
          <a:xfrm>
            <a:off x="1104900" y="3228975"/>
            <a:ext cx="7239000" cy="952500"/>
          </a:xfrm>
          <a:prstGeom prst="rect">
            <a:avLst/>
          </a:prstGeom>
          <a:noFill/>
          <a:ln w="0">
            <a:noFill/>
          </a:ln>
        </p:spPr>
        <p:txBody>
          <a:bodyPr wrap="square" lIns="0" tIns="0" rIns="0" bIns="0">
            <a:noAutofit/>
          </a:bodyPr>
          <a:lstStyle/>
          <a:p>
            <a:pPr>
              <a:defRPr sz="2250" b="0">
                <a:solidFill>
                  <a:srgbClr val="000000"/>
                </a:solidFill>
                <a:latin typeface="Calibri"/>
                <a:ea typeface="Calibri"/>
                <a:cs typeface="Calibri"/>
              </a:defRPr>
            </a:pPr>
            <a:r>
              <a:rPr sz="2250" b="0">
                <a:solidFill>
                  <a:srgbClr val="000000"/>
                </a:solidFill>
                <a:latin typeface="Calibri"/>
                <a:ea typeface="Calibri"/>
                <a:cs typeface="Calibri"/>
              </a:rPr>
              <a:t>A natural join uses all shared attribute names.</a:t>
            </a:r>
          </a:p>
        </p:txBody>
      </p:sp>
      <p:sp>
        <p:nvSpPr>
          <p:cNvPr id="9" name="body">
            <a:extLst>
              <a:ext uri="{FF2B5EF4-FFF2-40B4-BE49-F238E27FC236}">
                <a16:creationId xmlns:a16="http://schemas.microsoft.com/office/drawing/2014/main" id="{2608CF95-7D3E-4928-96A5-77677203C00E}"/>
              </a:ext>
            </a:extLst>
          </p:cNvPr>
          <p:cNvSpPr>
            <a:spLocks noGrp="1"/>
          </p:cNvSpPr>
          <p:nvPr/>
        </p:nvSpPr>
        <p:spPr>
          <a:xfrm>
            <a:off x="781050" y="4095750"/>
            <a:ext cx="219075" cy="400050"/>
          </a:xfrm>
          <a:prstGeom prst="rect">
            <a:avLst/>
          </a:prstGeom>
          <a:noFill/>
          <a:ln w="0">
            <a:noFill/>
          </a:ln>
        </p:spPr>
        <p:txBody>
          <a:bodyPr wrap="square" lIns="0" tIns="0" rIns="0" bIns="0">
            <a:noAutofit/>
          </a:bodyPr>
          <a:lstStyle/>
          <a:p>
            <a:pPr>
              <a:defRPr sz="2250" b="0">
                <a:solidFill>
                  <a:srgbClr val="000000"/>
                </a:solidFill>
                <a:latin typeface="Calibri"/>
                <a:ea typeface="Calibri"/>
                <a:cs typeface="Calibri"/>
              </a:defRPr>
            </a:pPr>
            <a:r>
              <a:rPr sz="2250" b="0">
                <a:solidFill>
                  <a:srgbClr val="000000"/>
                </a:solidFill>
                <a:latin typeface="Calibri"/>
                <a:ea typeface="Calibri"/>
                <a:cs typeface="Calibri"/>
              </a:rPr>
              <a:t>•</a:t>
            </a:r>
          </a:p>
        </p:txBody>
      </p:sp>
      <p:sp>
        <p:nvSpPr>
          <p:cNvPr id="10" name="body">
            <a:extLst>
              <a:ext uri="{FF2B5EF4-FFF2-40B4-BE49-F238E27FC236}">
                <a16:creationId xmlns:a16="http://schemas.microsoft.com/office/drawing/2014/main" id="{685488F8-96D1-4679-A1FA-6508D3B90510}"/>
              </a:ext>
            </a:extLst>
          </p:cNvPr>
          <p:cNvSpPr>
            <a:spLocks noGrp="1"/>
          </p:cNvSpPr>
          <p:nvPr/>
        </p:nvSpPr>
        <p:spPr>
          <a:xfrm>
            <a:off x="1104900" y="4095750"/>
            <a:ext cx="7239000" cy="952500"/>
          </a:xfrm>
          <a:prstGeom prst="rect">
            <a:avLst/>
          </a:prstGeom>
          <a:noFill/>
          <a:ln w="0">
            <a:noFill/>
          </a:ln>
        </p:spPr>
        <p:txBody>
          <a:bodyPr wrap="square" lIns="0" tIns="0" rIns="0" bIns="0">
            <a:noAutofit/>
          </a:bodyPr>
          <a:lstStyle/>
          <a:p>
            <a:pPr>
              <a:defRPr sz="2250" b="0">
                <a:solidFill>
                  <a:srgbClr val="000000"/>
                </a:solidFill>
                <a:latin typeface="Calibri"/>
                <a:ea typeface="Calibri"/>
                <a:cs typeface="Calibri"/>
              </a:defRPr>
            </a:pPr>
            <a:r>
              <a:rPr sz="2250" b="0">
                <a:solidFill>
                  <a:srgbClr val="000000"/>
                </a:solidFill>
                <a:latin typeface="Calibri"/>
                <a:ea typeface="Calibri"/>
                <a:cs typeface="Calibri"/>
              </a:rPr>
              <a:t>Division means every requirement. Extra matches are allowed.</a:t>
            </a:r>
          </a:p>
        </p:txBody>
      </p:sp>
      <p:sp>
        <p:nvSpPr>
          <p:cNvPr id="11" name="body">
            <a:extLst>
              <a:ext uri="{FF2B5EF4-FFF2-40B4-BE49-F238E27FC236}">
                <a16:creationId xmlns:a16="http://schemas.microsoft.com/office/drawing/2014/main" id="{BE5C7E3B-6423-474D-A3AE-C35C31799E0A}"/>
              </a:ext>
            </a:extLst>
          </p:cNvPr>
          <p:cNvSpPr>
            <a:spLocks noGrp="1"/>
          </p:cNvSpPr>
          <p:nvPr/>
        </p:nvSpPr>
        <p:spPr>
          <a:xfrm>
            <a:off x="781050" y="5248275"/>
            <a:ext cx="7600950" cy="952500"/>
          </a:xfrm>
          <a:prstGeom prst="rect">
            <a:avLst/>
          </a:prstGeom>
          <a:noFill/>
          <a:ln w="0">
            <a:noFill/>
          </a:ln>
        </p:spPr>
        <p:txBody>
          <a:bodyPr wrap="square" lIns="0" tIns="0" rIns="0" bIns="0">
            <a:noAutofit/>
          </a:bodyPr>
          <a:lstStyle/>
          <a:p>
            <a:pPr>
              <a:defRPr sz="2175" b="0">
                <a:solidFill>
                  <a:srgbClr val="FF0000"/>
                </a:solidFill>
                <a:latin typeface="Calibri"/>
                <a:ea typeface="Calibri"/>
                <a:cs typeface="Calibri"/>
              </a:defRPr>
            </a:pPr>
            <a:r>
              <a:rPr sz="2175" b="0">
                <a:solidFill>
                  <a:srgbClr val="FF0000"/>
                </a:solidFill>
                <a:latin typeface="Calibri"/>
                <a:ea typeface="Calibri"/>
                <a:cs typeface="Calibri"/>
              </a:rPr>
              <a:t>Before finishing: check the schema, identity keys and boundary cases.</a:t>
            </a:r>
          </a:p>
        </p:txBody>
      </p:sp>
      <p:sp>
        <p:nvSpPr>
          <p:cNvPr id="9001" name="Title 1">
            <a:extLst>
              <a:ext uri="{FF2B5EF4-FFF2-40B4-BE49-F238E27FC236}">
                <a16:creationId xmlns:a16="http://schemas.microsoft.com/office/drawing/2014/main" id="{4EF27E5C-9C4D-BDBE-7667-D0B141BCC8F5}"/>
              </a:ext>
            </a:extLst>
          </p:cNvPr>
          <p:cNvSpPr>
            <a:spLocks noGrp="1"/>
          </p:cNvSpPr>
          <p:nvPr>
            <p:ph type="title"/>
          </p:nvPr>
        </p:nvSpPr>
        <p:spPr/>
        <p:txBody>
          <a:bodyPr/>
          <a:lstStyle/>
          <a:p>
            <a:r>
              <a:rPr lang="en-US">
                <a:solidFill>
                  <a:srgbClr val="3333CC"/>
                </a:solidFill>
              </a:rPr>
              <a:t>Remarks</a:t>
            </a:r>
          </a:p>
        </p:txBody>
      </p:sp>
      <p:sp>
        <p:nvSpPr>
          <p:cNvPr id="9002" name="Slide Number Placeholder 1">
            <a:extLst>
              <a:ext uri="{FF2B5EF4-FFF2-40B4-BE49-F238E27FC236}">
                <a16:creationId xmlns:a16="http://schemas.microsoft.com/office/drawing/2014/main" id="{B90139AC-3BDA-723A-097A-000DA0A784C1}"/>
              </a:ext>
            </a:extLst>
          </p:cNvPr>
          <p:cNvSpPr>
            <a:spLocks noGrp="1"/>
          </p:cNvSpPr>
          <p:nvPr>
            <p:ph type="sldNum" sz="quarter" idx="12"/>
          </p:nvPr>
        </p:nvSpPr>
        <p:spPr/>
        <p:txBody>
          <a:bodyPr/>
          <a:lstStyle/>
          <a:p>
            <a:pPr>
              <a:defRPr/>
            </a:pPr>
            <a:fld id="{43CA101F-9E5F-9249-9862-3CE55B3BB777}" type="slidenum">
              <a:rPr lang="en-US" altLang="zh-TW" smtClean="0"/>
              <a:pPr>
                <a:defRPr/>
              </a:pPr>
              <a:t>93</a:t>
            </a:fld>
            <a:endParaRPr lang="en-US" altLang="zh-TW"/>
          </a:p>
        </p:txBody>
      </p:sp>
    </p:spTree>
    <p:extLst>
      <p:ext uri="{BB962C8B-B14F-4D97-AF65-F5344CB8AC3E}">
        <p14:creationId xmlns:p14="http://schemas.microsoft.com/office/powerpoint/2010/main" val="1328791576"/>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body">
            <a:extLst>
              <a:ext uri="{FF2B5EF4-FFF2-40B4-BE49-F238E27FC236}">
                <a16:creationId xmlns:a16="http://schemas.microsoft.com/office/drawing/2014/main" id="{A593BA2B-2772-4266-B6BC-0AEFFFC4AA92}"/>
              </a:ext>
            </a:extLst>
          </p:cNvPr>
          <p:cNvSpPr>
            <a:spLocks noGrp="1"/>
          </p:cNvSpPr>
          <p:nvPr/>
        </p:nvSpPr>
        <p:spPr>
          <a:xfrm>
            <a:off x="781050" y="1076325"/>
            <a:ext cx="219075" cy="400050"/>
          </a:xfrm>
          <a:prstGeom prst="rect">
            <a:avLst/>
          </a:prstGeom>
          <a:noFill/>
          <a:ln w="0">
            <a:noFill/>
          </a:ln>
        </p:spPr>
        <p:txBody>
          <a:bodyPr wrap="square" lIns="0" tIns="0" rIns="0" bIns="0">
            <a:noAutofit/>
          </a:bodyPr>
          <a:lstStyle/>
          <a:p>
            <a:pPr>
              <a:defRPr sz="2250" b="0">
                <a:solidFill>
                  <a:srgbClr val="000000"/>
                </a:solidFill>
                <a:latin typeface="Calibri"/>
                <a:ea typeface="Calibri"/>
                <a:cs typeface="Calibri"/>
              </a:defRPr>
            </a:pPr>
            <a:r>
              <a:rPr sz="2250" b="0">
                <a:solidFill>
                  <a:srgbClr val="000000"/>
                </a:solidFill>
                <a:latin typeface="Calibri"/>
                <a:ea typeface="Calibri"/>
                <a:cs typeface="Calibri"/>
              </a:rPr>
              <a:t>•</a:t>
            </a:r>
          </a:p>
        </p:txBody>
      </p:sp>
      <p:sp>
        <p:nvSpPr>
          <p:cNvPr id="4" name="body">
            <a:extLst>
              <a:ext uri="{FF2B5EF4-FFF2-40B4-BE49-F238E27FC236}">
                <a16:creationId xmlns:a16="http://schemas.microsoft.com/office/drawing/2014/main" id="{C728D9B6-471C-4ABB-8BB9-8D4565519CA1}"/>
              </a:ext>
            </a:extLst>
          </p:cNvPr>
          <p:cNvSpPr>
            <a:spLocks noGrp="1"/>
          </p:cNvSpPr>
          <p:nvPr/>
        </p:nvSpPr>
        <p:spPr>
          <a:xfrm>
            <a:off x="1104900" y="1076325"/>
            <a:ext cx="7239000" cy="952500"/>
          </a:xfrm>
          <a:prstGeom prst="rect">
            <a:avLst/>
          </a:prstGeom>
          <a:noFill/>
          <a:ln w="0">
            <a:noFill/>
          </a:ln>
        </p:spPr>
        <p:txBody>
          <a:bodyPr wrap="square" lIns="0" tIns="0" rIns="0" bIns="0">
            <a:noAutofit/>
          </a:bodyPr>
          <a:lstStyle/>
          <a:p>
            <a:pPr>
              <a:defRPr sz="2250" b="0">
                <a:solidFill>
                  <a:srgbClr val="000000"/>
                </a:solidFill>
                <a:latin typeface="Calibri"/>
                <a:ea typeface="Calibri"/>
                <a:cs typeface="Calibri"/>
              </a:defRPr>
            </a:pPr>
            <a:r>
              <a:rPr sz="2250" b="0">
                <a:solidFill>
                  <a:srgbClr val="000000"/>
                </a:solidFill>
                <a:latin typeface="Calibri"/>
                <a:ea typeface="Calibri"/>
                <a:cs typeface="Calibri"/>
              </a:rPr>
              <a:t>Lecture: 4 Relational Algebra</a:t>
            </a:r>
          </a:p>
        </p:txBody>
      </p:sp>
      <p:sp>
        <p:nvSpPr>
          <p:cNvPr id="5" name="body">
            <a:extLst>
              <a:ext uri="{FF2B5EF4-FFF2-40B4-BE49-F238E27FC236}">
                <a16:creationId xmlns:a16="http://schemas.microsoft.com/office/drawing/2014/main" id="{0812E286-EEE7-4CA5-B2C5-6B3134040DAD}"/>
              </a:ext>
            </a:extLst>
          </p:cNvPr>
          <p:cNvSpPr>
            <a:spLocks noGrp="1"/>
          </p:cNvSpPr>
          <p:nvPr/>
        </p:nvSpPr>
        <p:spPr>
          <a:xfrm>
            <a:off x="781050" y="2047875"/>
            <a:ext cx="219075" cy="400050"/>
          </a:xfrm>
          <a:prstGeom prst="rect">
            <a:avLst/>
          </a:prstGeom>
          <a:noFill/>
          <a:ln w="0">
            <a:noFill/>
          </a:ln>
        </p:spPr>
        <p:txBody>
          <a:bodyPr wrap="square" lIns="0" tIns="0" rIns="0" bIns="0">
            <a:noAutofit/>
          </a:bodyPr>
          <a:lstStyle/>
          <a:p>
            <a:pPr>
              <a:defRPr sz="2250" b="0">
                <a:solidFill>
                  <a:srgbClr val="000000"/>
                </a:solidFill>
                <a:latin typeface="Calibri"/>
                <a:ea typeface="Calibri"/>
                <a:cs typeface="Calibri"/>
              </a:defRPr>
            </a:pPr>
            <a:r>
              <a:rPr sz="2250" b="0">
                <a:solidFill>
                  <a:srgbClr val="000000"/>
                </a:solidFill>
                <a:latin typeface="Calibri"/>
                <a:ea typeface="Calibri"/>
                <a:cs typeface="Calibri"/>
              </a:rPr>
              <a:t>•</a:t>
            </a:r>
          </a:p>
        </p:txBody>
      </p:sp>
      <p:sp>
        <p:nvSpPr>
          <p:cNvPr id="6" name="body">
            <a:extLst>
              <a:ext uri="{FF2B5EF4-FFF2-40B4-BE49-F238E27FC236}">
                <a16:creationId xmlns:a16="http://schemas.microsoft.com/office/drawing/2014/main" id="{46F5E750-3390-445D-8227-1A16379E004C}"/>
              </a:ext>
            </a:extLst>
          </p:cNvPr>
          <p:cNvSpPr>
            <a:spLocks noGrp="1"/>
          </p:cNvSpPr>
          <p:nvPr/>
        </p:nvSpPr>
        <p:spPr>
          <a:xfrm>
            <a:off x="1104900" y="2047875"/>
            <a:ext cx="7239000" cy="952500"/>
          </a:xfrm>
          <a:prstGeom prst="rect">
            <a:avLst/>
          </a:prstGeom>
          <a:noFill/>
          <a:ln w="0">
            <a:noFill/>
          </a:ln>
        </p:spPr>
        <p:txBody>
          <a:bodyPr wrap="square" lIns="0" tIns="0" rIns="0" bIns="0">
            <a:noAutofit/>
          </a:bodyPr>
          <a:lstStyle/>
          <a:p>
            <a:pPr>
              <a:defRPr sz="2250" b="0">
                <a:solidFill>
                  <a:srgbClr val="000000"/>
                </a:solidFill>
                <a:latin typeface="Calibri"/>
                <a:ea typeface="Calibri"/>
                <a:cs typeface="Calibri"/>
              </a:defRPr>
            </a:pPr>
            <a:r>
              <a:rPr sz="2250" b="0">
                <a:solidFill>
                  <a:srgbClr val="000000"/>
                </a:solidFill>
                <a:latin typeface="Calibri"/>
                <a:ea typeface="Calibri"/>
                <a:cs typeface="Calibri"/>
              </a:rPr>
              <a:t>Original practice slides: Michael Yu</a:t>
            </a:r>
          </a:p>
        </p:txBody>
      </p:sp>
      <p:sp>
        <p:nvSpPr>
          <p:cNvPr id="7" name="body">
            <a:extLst>
              <a:ext uri="{FF2B5EF4-FFF2-40B4-BE49-F238E27FC236}">
                <a16:creationId xmlns:a16="http://schemas.microsoft.com/office/drawing/2014/main" id="{EADFF20C-82D3-4F99-99C7-5F30C81AB77F}"/>
              </a:ext>
            </a:extLst>
          </p:cNvPr>
          <p:cNvSpPr>
            <a:spLocks noGrp="1"/>
          </p:cNvSpPr>
          <p:nvPr/>
        </p:nvSpPr>
        <p:spPr>
          <a:xfrm>
            <a:off x="781050" y="3009900"/>
            <a:ext cx="219075" cy="400050"/>
          </a:xfrm>
          <a:prstGeom prst="rect">
            <a:avLst/>
          </a:prstGeom>
          <a:noFill/>
          <a:ln w="0">
            <a:noFill/>
          </a:ln>
        </p:spPr>
        <p:txBody>
          <a:bodyPr wrap="square" lIns="0" tIns="0" rIns="0" bIns="0">
            <a:noAutofit/>
          </a:bodyPr>
          <a:lstStyle/>
          <a:p>
            <a:pPr>
              <a:defRPr sz="2250" b="0">
                <a:solidFill>
                  <a:srgbClr val="000000"/>
                </a:solidFill>
                <a:latin typeface="Calibri"/>
                <a:ea typeface="Calibri"/>
                <a:cs typeface="Calibri"/>
              </a:defRPr>
            </a:pPr>
            <a:r>
              <a:rPr sz="2250" b="0">
                <a:solidFill>
                  <a:srgbClr val="000000"/>
                </a:solidFill>
                <a:latin typeface="Calibri"/>
                <a:ea typeface="Calibri"/>
                <a:cs typeface="Calibri"/>
              </a:rPr>
              <a:t>•</a:t>
            </a:r>
          </a:p>
        </p:txBody>
      </p:sp>
      <p:sp>
        <p:nvSpPr>
          <p:cNvPr id="8" name="body">
            <a:extLst>
              <a:ext uri="{FF2B5EF4-FFF2-40B4-BE49-F238E27FC236}">
                <a16:creationId xmlns:a16="http://schemas.microsoft.com/office/drawing/2014/main" id="{0D5A9620-746F-40A0-ACD2-BDD00027C6F8}"/>
              </a:ext>
            </a:extLst>
          </p:cNvPr>
          <p:cNvSpPr>
            <a:spLocks noGrp="1"/>
          </p:cNvSpPr>
          <p:nvPr/>
        </p:nvSpPr>
        <p:spPr>
          <a:xfrm>
            <a:off x="1104900" y="3009900"/>
            <a:ext cx="7239000" cy="952500"/>
          </a:xfrm>
          <a:prstGeom prst="rect">
            <a:avLst/>
          </a:prstGeom>
          <a:noFill/>
          <a:ln w="0">
            <a:noFill/>
          </a:ln>
        </p:spPr>
        <p:txBody>
          <a:bodyPr wrap="square" lIns="0" tIns="0" rIns="0" bIns="0">
            <a:noAutofit/>
          </a:bodyPr>
          <a:lstStyle/>
          <a:p>
            <a:pPr>
              <a:defRPr sz="2250" b="0">
                <a:solidFill>
                  <a:srgbClr val="000000"/>
                </a:solidFill>
                <a:latin typeface="Calibri"/>
                <a:ea typeface="Calibri"/>
                <a:cs typeface="Calibri"/>
              </a:defRPr>
            </a:pPr>
            <a:r>
              <a:rPr sz="2250" b="0">
                <a:solidFill>
                  <a:srgbClr val="000000"/>
                </a:solidFill>
                <a:latin typeface="Calibri"/>
                <a:ea typeface="Calibri"/>
                <a:cs typeface="Calibri"/>
              </a:rPr>
              <a:t>Some slides adapted from Database System Concepts, 6th Edition, by Silberschatz, Korth and Sudarshan.</a:t>
            </a:r>
          </a:p>
        </p:txBody>
      </p:sp>
      <p:sp>
        <p:nvSpPr>
          <p:cNvPr id="9" name="body">
            <a:extLst>
              <a:ext uri="{FF2B5EF4-FFF2-40B4-BE49-F238E27FC236}">
                <a16:creationId xmlns:a16="http://schemas.microsoft.com/office/drawing/2014/main" id="{27114E1E-43EB-42EF-ACDE-BB80B49C4A6A}"/>
              </a:ext>
            </a:extLst>
          </p:cNvPr>
          <p:cNvSpPr>
            <a:spLocks noGrp="1"/>
          </p:cNvSpPr>
          <p:nvPr/>
        </p:nvSpPr>
        <p:spPr>
          <a:xfrm>
            <a:off x="781050" y="4914900"/>
            <a:ext cx="7600950" cy="952500"/>
          </a:xfrm>
          <a:prstGeom prst="rect">
            <a:avLst/>
          </a:prstGeom>
          <a:noFill/>
          <a:ln w="0">
            <a:noFill/>
          </a:ln>
        </p:spPr>
        <p:txBody>
          <a:bodyPr wrap="square" lIns="0" tIns="0" rIns="0" bIns="0">
            <a:noAutofit/>
          </a:bodyPr>
          <a:lstStyle/>
          <a:p>
            <a:pPr>
              <a:defRPr sz="2175" b="0">
                <a:solidFill>
                  <a:srgbClr val="FF0000"/>
                </a:solidFill>
                <a:latin typeface="Calibri"/>
                <a:ea typeface="Calibri"/>
                <a:cs typeface="Calibri"/>
              </a:defRPr>
            </a:pPr>
            <a:r>
              <a:rPr sz="2175" b="0">
                <a:solidFill>
                  <a:srgbClr val="FF0000"/>
                </a:solidFill>
                <a:latin typeface="Calibri"/>
                <a:ea typeface="Calibri"/>
                <a:cs typeface="Calibri"/>
              </a:rPr>
              <a:t>The following challenge is optional and outside the 90-minute session.</a:t>
            </a:r>
          </a:p>
        </p:txBody>
      </p:sp>
      <p:sp>
        <p:nvSpPr>
          <p:cNvPr id="9001" name="Title 1">
            <a:extLst>
              <a:ext uri="{FF2B5EF4-FFF2-40B4-BE49-F238E27FC236}">
                <a16:creationId xmlns:a16="http://schemas.microsoft.com/office/drawing/2014/main" id="{4EF27E5C-9C4D-BDBE-7667-D0B141BCC8F5}"/>
              </a:ext>
            </a:extLst>
          </p:cNvPr>
          <p:cNvSpPr>
            <a:spLocks noGrp="1"/>
          </p:cNvSpPr>
          <p:nvPr>
            <p:ph type="title"/>
          </p:nvPr>
        </p:nvSpPr>
        <p:spPr/>
        <p:txBody>
          <a:bodyPr/>
          <a:lstStyle/>
          <a:p>
            <a:r>
              <a:rPr lang="en-US">
                <a:solidFill>
                  <a:srgbClr val="3333CC"/>
                </a:solidFill>
              </a:rPr>
              <a:t>Reference</a:t>
            </a:r>
          </a:p>
        </p:txBody>
      </p:sp>
      <p:sp>
        <p:nvSpPr>
          <p:cNvPr id="9002" name="Slide Number Placeholder 1">
            <a:extLst>
              <a:ext uri="{FF2B5EF4-FFF2-40B4-BE49-F238E27FC236}">
                <a16:creationId xmlns:a16="http://schemas.microsoft.com/office/drawing/2014/main" id="{B90139AC-3BDA-723A-097A-000DA0A784C1}"/>
              </a:ext>
            </a:extLst>
          </p:cNvPr>
          <p:cNvSpPr>
            <a:spLocks noGrp="1"/>
          </p:cNvSpPr>
          <p:nvPr>
            <p:ph type="sldNum" sz="quarter" idx="12"/>
          </p:nvPr>
        </p:nvSpPr>
        <p:spPr/>
        <p:txBody>
          <a:bodyPr/>
          <a:lstStyle/>
          <a:p>
            <a:pPr>
              <a:defRPr/>
            </a:pPr>
            <a:fld id="{43CA101F-9E5F-9249-9862-3CE55B3BB777}" type="slidenum">
              <a:rPr lang="en-US" altLang="zh-TW" smtClean="0"/>
              <a:pPr>
                <a:defRPr/>
              </a:pPr>
              <a:t>94</a:t>
            </a:fld>
            <a:endParaRPr lang="en-US" altLang="zh-TW"/>
          </a:p>
        </p:txBody>
      </p:sp>
    </p:spTree>
    <p:extLst>
      <p:ext uri="{BB962C8B-B14F-4D97-AF65-F5344CB8AC3E}">
        <p14:creationId xmlns:p14="http://schemas.microsoft.com/office/powerpoint/2010/main" val="978700891"/>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body">
            <a:extLst>
              <a:ext uri="{FF2B5EF4-FFF2-40B4-BE49-F238E27FC236}">
                <a16:creationId xmlns:a16="http://schemas.microsoft.com/office/drawing/2014/main" id="{CCC82B8B-C523-48E0-8AD6-9B4A5A5A483F}"/>
              </a:ext>
            </a:extLst>
          </p:cNvPr>
          <p:cNvSpPr>
            <a:spLocks noGrp="1"/>
          </p:cNvSpPr>
          <p:nvPr/>
        </p:nvSpPr>
        <p:spPr>
          <a:xfrm>
            <a:off x="781050" y="5876925"/>
            <a:ext cx="7620000" cy="285750"/>
          </a:xfrm>
          <a:prstGeom prst="rect">
            <a:avLst/>
          </a:prstGeom>
          <a:noFill/>
          <a:ln w="0">
            <a:noFill/>
          </a:ln>
        </p:spPr>
        <p:txBody>
          <a:bodyPr wrap="square" lIns="0" tIns="0" rIns="0" bIns="0">
            <a:noAutofit/>
          </a:bodyPr>
          <a:lstStyle/>
          <a:p>
            <a:pPr>
              <a:defRPr sz="1725" b="0">
                <a:solidFill>
                  <a:srgbClr val="3333CC"/>
                </a:solidFill>
                <a:latin typeface="Calibri"/>
                <a:ea typeface="Calibri"/>
                <a:cs typeface="Calibri"/>
              </a:defRPr>
            </a:pPr>
            <a:r>
              <a:rPr sz="1725" b="0">
                <a:solidFill>
                  <a:srgbClr val="3333CC"/>
                </a:solidFill>
                <a:latin typeface="Calibri"/>
                <a:ea typeface="Calibri"/>
                <a:cs typeface="Calibri"/>
              </a:rPr>
              <a:t>Optional: 30 s</a:t>
            </a:r>
          </a:p>
        </p:txBody>
      </p:sp>
      <p:sp>
        <p:nvSpPr>
          <p:cNvPr id="4" name="body">
            <a:extLst>
              <a:ext uri="{FF2B5EF4-FFF2-40B4-BE49-F238E27FC236}">
                <a16:creationId xmlns:a16="http://schemas.microsoft.com/office/drawing/2014/main" id="{7137EAB8-C603-4812-9DA4-F9021F6FAEA9}"/>
              </a:ext>
            </a:extLst>
          </p:cNvPr>
          <p:cNvSpPr>
            <a:spLocks noGrp="1"/>
          </p:cNvSpPr>
          <p:nvPr/>
        </p:nvSpPr>
        <p:spPr>
          <a:xfrm>
            <a:off x="1066800" y="1181100"/>
            <a:ext cx="3333750" cy="361950"/>
          </a:xfrm>
          <a:prstGeom prst="rect">
            <a:avLst/>
          </a:prstGeom>
          <a:noFill/>
          <a:ln w="0">
            <a:noFill/>
          </a:ln>
        </p:spPr>
        <p:txBody>
          <a:bodyPr wrap="square" lIns="0" tIns="0" rIns="0" bIns="0">
            <a:noAutofit/>
          </a:bodyPr>
          <a:lstStyle/>
          <a:p>
            <a:pPr>
              <a:defRPr sz="2250" b="0">
                <a:solidFill>
                  <a:srgbClr val="000000"/>
                </a:solidFill>
                <a:latin typeface="Calibri"/>
                <a:ea typeface="Calibri"/>
                <a:cs typeface="Calibri"/>
              </a:defRPr>
            </a:pPr>
            <a:r>
              <a:rPr sz="2250" b="0">
                <a:solidFill>
                  <a:srgbClr val="000000"/>
                </a:solidFill>
                <a:latin typeface="Calibri"/>
                <a:ea typeface="Calibri"/>
                <a:cs typeface="Calibri"/>
              </a:rPr>
              <a:t>Member</a:t>
            </a:r>
          </a:p>
        </p:txBody>
      </p:sp>
      <p:graphicFrame>
        <p:nvGraphicFramePr>
          <p:cNvPr id="14" name="表格 13"/>
          <p:cNvGraphicFramePr/>
          <p:nvPr/>
        </p:nvGraphicFramePr>
        <p:xfrm>
          <a:off x="1143000" y="1600200"/>
          <a:ext cx="3333750" cy="1762125"/>
        </p:xfrm>
        <a:graphic>
          <a:graphicData uri="http://schemas.openxmlformats.org/drawingml/2006/table">
            <a:tbl>
              <a:tblPr/>
              <a:tblGrid>
                <a:gridCol w="1666875">
                  <a:extLst>
                    <a:ext uri="{9D8B030D-6E8A-4147-A177-3AD203B41FA5}">
                      <a16:colId xmlns:a16="http://schemas.microsoft.com/office/drawing/2014/main" val="20000"/>
                    </a:ext>
                  </a:extLst>
                </a:gridCol>
                <a:gridCol w="1666875">
                  <a:extLst>
                    <a:ext uri="{9D8B030D-6E8A-4147-A177-3AD203B41FA5}">
                      <a16:colId xmlns:a16="http://schemas.microsoft.com/office/drawing/2014/main" val="20001"/>
                    </a:ext>
                  </a:extLst>
                </a:gridCol>
              </a:tblGrid>
              <a:tr h="352425">
                <a:tc>
                  <a:txBody>
                    <a:bodyPr/>
                    <a:lstStyle/>
                    <a:p>
                      <a:pPr algn="ctr"/>
                      <a:r>
                        <a:rPr sz="1875">
                          <a:solidFill>
                            <a:srgbClr val="000000"/>
                          </a:solidFill>
                          <a:latin typeface="Calibri"/>
                          <a:ea typeface="Calibri"/>
                          <a:cs typeface="Calibri"/>
                        </a:rPr>
                        <a:t>mid</a:t>
                      </a:r>
                    </a:p>
                  </a:txBody>
                  <a:tcPr marL="47625" marR="47625" marT="28575" marB="28575" anchor="ctr">
                    <a:solidFill>
                      <a:srgbClr val="D9D9D9"/>
                    </a:solidFill>
                  </a:tcPr>
                </a:tc>
                <a:tc>
                  <a:txBody>
                    <a:bodyPr/>
                    <a:lstStyle/>
                    <a:p>
                      <a:pPr algn="ctr"/>
                      <a:r>
                        <a:rPr sz="1875">
                          <a:solidFill>
                            <a:srgbClr val="000000"/>
                          </a:solidFill>
                          <a:latin typeface="Calibri"/>
                          <a:ea typeface="Calibri"/>
                          <a:cs typeface="Calibri"/>
                        </a:rPr>
                        <a:t>mname</a:t>
                      </a:r>
                    </a:p>
                  </a:txBody>
                  <a:tcPr marL="47625" marR="47625" marT="28575" marB="28575" anchor="ctr">
                    <a:solidFill>
                      <a:srgbClr val="D9D9D9"/>
                    </a:solidFill>
                  </a:tcPr>
                </a:tc>
                <a:extLst>
                  <a:ext uri="{0D108BD9-81ED-4DB2-BD59-A6C34878D82A}">
                    <a16:rowId xmlns:a16="http://schemas.microsoft.com/office/drawing/2014/main" val="10000"/>
                  </a:ext>
                </a:extLst>
              </a:tr>
              <a:tr h="352425">
                <a:tc>
                  <a:txBody>
                    <a:bodyPr/>
                    <a:lstStyle/>
                    <a:p>
                      <a:pPr algn="ctr"/>
                      <a:r>
                        <a:rPr sz="1875">
                          <a:solidFill>
                            <a:srgbClr val="000000"/>
                          </a:solidFill>
                          <a:latin typeface="Calibri"/>
                          <a:ea typeface="Calibri"/>
                          <a:cs typeface="Calibri"/>
                        </a:rPr>
                        <a:t>M1</a:t>
                      </a:r>
                    </a:p>
                  </a:txBody>
                  <a:tcPr marL="47625" marR="47625" marT="28575" marB="28575" anchor="ctr">
                    <a:solidFill>
                      <a:srgbClr val="FFFFFF"/>
                    </a:solidFill>
                  </a:tcPr>
                </a:tc>
                <a:tc>
                  <a:txBody>
                    <a:bodyPr/>
                    <a:lstStyle/>
                    <a:p>
                      <a:pPr algn="ctr"/>
                      <a:r>
                        <a:rPr sz="1875">
                          <a:solidFill>
                            <a:srgbClr val="000000"/>
                          </a:solidFill>
                          <a:latin typeface="Calibri"/>
                          <a:ea typeface="Calibri"/>
                          <a:cs typeface="Calibri"/>
                        </a:rPr>
                        <a:t>Alex</a:t>
                      </a:r>
                    </a:p>
                  </a:txBody>
                  <a:tcPr marL="47625" marR="47625" marT="28575" marB="28575" anchor="ctr">
                    <a:solidFill>
                      <a:srgbClr val="FFFFFF"/>
                    </a:solidFill>
                  </a:tcPr>
                </a:tc>
                <a:extLst>
                  <a:ext uri="{0D108BD9-81ED-4DB2-BD59-A6C34878D82A}">
                    <a16:rowId xmlns:a16="http://schemas.microsoft.com/office/drawing/2014/main" val="10001"/>
                  </a:ext>
                </a:extLst>
              </a:tr>
              <a:tr h="352425">
                <a:tc>
                  <a:txBody>
                    <a:bodyPr/>
                    <a:lstStyle/>
                    <a:p>
                      <a:pPr algn="ctr"/>
                      <a:r>
                        <a:rPr sz="1875">
                          <a:solidFill>
                            <a:srgbClr val="000000"/>
                          </a:solidFill>
                          <a:latin typeface="Calibri"/>
                          <a:ea typeface="Calibri"/>
                          <a:cs typeface="Calibri"/>
                        </a:rPr>
                        <a:t>M2</a:t>
                      </a:r>
                    </a:p>
                  </a:txBody>
                  <a:tcPr marL="47625" marR="47625" marT="28575" marB="28575" anchor="ctr">
                    <a:solidFill>
                      <a:srgbClr val="FFFFFF"/>
                    </a:solidFill>
                  </a:tcPr>
                </a:tc>
                <a:tc>
                  <a:txBody>
                    <a:bodyPr/>
                    <a:lstStyle/>
                    <a:p>
                      <a:pPr algn="ctr"/>
                      <a:r>
                        <a:rPr sz="1875">
                          <a:solidFill>
                            <a:srgbClr val="000000"/>
                          </a:solidFill>
                          <a:latin typeface="Calibri"/>
                          <a:ea typeface="Calibri"/>
                          <a:cs typeface="Calibri"/>
                        </a:rPr>
                        <a:t>Mei</a:t>
                      </a:r>
                    </a:p>
                  </a:txBody>
                  <a:tcPr marL="47625" marR="47625" marT="28575" marB="28575" anchor="ctr">
                    <a:solidFill>
                      <a:srgbClr val="FFFFFF"/>
                    </a:solidFill>
                  </a:tcPr>
                </a:tc>
                <a:extLst>
                  <a:ext uri="{0D108BD9-81ED-4DB2-BD59-A6C34878D82A}">
                    <a16:rowId xmlns:a16="http://schemas.microsoft.com/office/drawing/2014/main" val="10002"/>
                  </a:ext>
                </a:extLst>
              </a:tr>
              <a:tr h="352425">
                <a:tc>
                  <a:txBody>
                    <a:bodyPr/>
                    <a:lstStyle/>
                    <a:p>
                      <a:pPr algn="ctr"/>
                      <a:r>
                        <a:rPr sz="1875">
                          <a:solidFill>
                            <a:srgbClr val="000000"/>
                          </a:solidFill>
                          <a:latin typeface="Calibri"/>
                          <a:ea typeface="Calibri"/>
                          <a:cs typeface="Calibri"/>
                        </a:rPr>
                        <a:t>M3</a:t>
                      </a:r>
                    </a:p>
                  </a:txBody>
                  <a:tcPr marL="47625" marR="47625" marT="28575" marB="28575" anchor="ctr">
                    <a:solidFill>
                      <a:srgbClr val="FFFFFF"/>
                    </a:solidFill>
                  </a:tcPr>
                </a:tc>
                <a:tc>
                  <a:txBody>
                    <a:bodyPr/>
                    <a:lstStyle/>
                    <a:p>
                      <a:pPr algn="ctr"/>
                      <a:r>
                        <a:rPr sz="1875">
                          <a:solidFill>
                            <a:srgbClr val="000000"/>
                          </a:solidFill>
                          <a:latin typeface="Calibri"/>
                          <a:ea typeface="Calibri"/>
                          <a:cs typeface="Calibri"/>
                        </a:rPr>
                        <a:t>Alex</a:t>
                      </a:r>
                    </a:p>
                  </a:txBody>
                  <a:tcPr marL="47625" marR="47625" marT="28575" marB="28575" anchor="ctr">
                    <a:solidFill>
                      <a:srgbClr val="FFFFFF"/>
                    </a:solidFill>
                  </a:tcPr>
                </a:tc>
                <a:extLst>
                  <a:ext uri="{0D108BD9-81ED-4DB2-BD59-A6C34878D82A}">
                    <a16:rowId xmlns:a16="http://schemas.microsoft.com/office/drawing/2014/main" val="10003"/>
                  </a:ext>
                </a:extLst>
              </a:tr>
              <a:tr h="352425">
                <a:tc>
                  <a:txBody>
                    <a:bodyPr/>
                    <a:lstStyle/>
                    <a:p>
                      <a:pPr algn="ctr"/>
                      <a:r>
                        <a:rPr sz="1875">
                          <a:solidFill>
                            <a:srgbClr val="000000"/>
                          </a:solidFill>
                          <a:latin typeface="Calibri"/>
                          <a:ea typeface="Calibri"/>
                          <a:cs typeface="Calibri"/>
                        </a:rPr>
                        <a:t>M4</a:t>
                      </a:r>
                    </a:p>
                  </a:txBody>
                  <a:tcPr marL="47625" marR="47625" marT="28575" marB="28575" anchor="ctr">
                    <a:solidFill>
                      <a:srgbClr val="FFFFFF"/>
                    </a:solidFill>
                  </a:tcPr>
                </a:tc>
                <a:tc>
                  <a:txBody>
                    <a:bodyPr/>
                    <a:lstStyle/>
                    <a:p>
                      <a:pPr algn="ctr"/>
                      <a:r>
                        <a:rPr sz="1875">
                          <a:solidFill>
                            <a:srgbClr val="000000"/>
                          </a:solidFill>
                          <a:latin typeface="Calibri"/>
                          <a:ea typeface="Calibri"/>
                          <a:cs typeface="Calibri"/>
                        </a:rPr>
                        <a:t>Noor</a:t>
                      </a:r>
                    </a:p>
                  </a:txBody>
                  <a:tcPr marL="47625" marR="47625" marT="28575" marB="28575" anchor="ctr">
                    <a:solidFill>
                      <a:srgbClr val="FFFFFF"/>
                    </a:solidFill>
                  </a:tcPr>
                </a:tc>
                <a:extLst>
                  <a:ext uri="{0D108BD9-81ED-4DB2-BD59-A6C34878D82A}">
                    <a16:rowId xmlns:a16="http://schemas.microsoft.com/office/drawing/2014/main" val="10004"/>
                  </a:ext>
                </a:extLst>
              </a:tr>
            </a:tbl>
          </a:graphicData>
        </a:graphic>
      </p:graphicFrame>
      <p:sp>
        <p:nvSpPr>
          <p:cNvPr id="6" name="body">
            <a:extLst>
              <a:ext uri="{FF2B5EF4-FFF2-40B4-BE49-F238E27FC236}">
                <a16:creationId xmlns:a16="http://schemas.microsoft.com/office/drawing/2014/main" id="{2691E26E-9C72-40BE-84B1-B4EC13CBB3C1}"/>
              </a:ext>
            </a:extLst>
          </p:cNvPr>
          <p:cNvSpPr>
            <a:spLocks noGrp="1"/>
          </p:cNvSpPr>
          <p:nvPr/>
        </p:nvSpPr>
        <p:spPr>
          <a:xfrm>
            <a:off x="4914900" y="1609725"/>
            <a:ext cx="3238500" cy="838200"/>
          </a:xfrm>
          <a:prstGeom prst="rect">
            <a:avLst/>
          </a:prstGeom>
          <a:noFill/>
          <a:ln w="0">
            <a:noFill/>
          </a:ln>
        </p:spPr>
        <p:txBody>
          <a:bodyPr wrap="square" lIns="0" tIns="0" rIns="0" bIns="0">
            <a:noAutofit/>
          </a:bodyPr>
          <a:lstStyle/>
          <a:p>
            <a:pPr>
              <a:defRPr sz="2175" b="0">
                <a:solidFill>
                  <a:srgbClr val="FF0000"/>
                </a:solidFill>
                <a:latin typeface="Calibri"/>
                <a:ea typeface="Calibri"/>
                <a:cs typeface="Calibri"/>
              </a:defRPr>
            </a:pPr>
            <a:r>
              <a:rPr sz="2175" b="0">
                <a:solidFill>
                  <a:srgbClr val="FF0000"/>
                </a:solidFill>
                <a:latin typeface="Calibri"/>
                <a:ea typeface="Calibri"/>
                <a:cs typeface="Calibri"/>
              </a:rPr>
              <a:t>No tool has category = Robotics.</a:t>
            </a:r>
          </a:p>
        </p:txBody>
      </p:sp>
      <p:sp>
        <p:nvSpPr>
          <p:cNvPr id="7" name="body">
            <a:extLst>
              <a:ext uri="{FF2B5EF4-FFF2-40B4-BE49-F238E27FC236}">
                <a16:creationId xmlns:a16="http://schemas.microsoft.com/office/drawing/2014/main" id="{67D99F71-ACC0-438C-902B-5F94D1A3BAFF}"/>
              </a:ext>
            </a:extLst>
          </p:cNvPr>
          <p:cNvSpPr>
            <a:spLocks noGrp="1"/>
          </p:cNvSpPr>
          <p:nvPr/>
        </p:nvSpPr>
        <p:spPr>
          <a:xfrm>
            <a:off x="4914900" y="2667000"/>
            <a:ext cx="3238500" cy="1047750"/>
          </a:xfrm>
          <a:prstGeom prst="rect">
            <a:avLst/>
          </a:prstGeom>
          <a:noFill/>
          <a:ln w="0">
            <a:noFill/>
          </a:ln>
        </p:spPr>
        <p:txBody>
          <a:bodyPr wrap="square" lIns="0" tIns="0" rIns="0" bIns="0">
            <a:noAutofit/>
          </a:bodyPr>
          <a:lstStyle/>
          <a:p>
            <a:pPr>
              <a:defRPr sz="2025" b="0">
                <a:solidFill>
                  <a:srgbClr val="000000"/>
                </a:solidFill>
                <a:latin typeface="Calibri"/>
                <a:ea typeface="Calibri"/>
                <a:cs typeface="Calibri"/>
              </a:defRPr>
            </a:pPr>
            <a:r>
              <a:rPr sz="2025" b="0">
                <a:solidFill>
                  <a:srgbClr val="000000"/>
                </a:solidFill>
                <a:latin typeface="Calibri"/>
                <a:ea typeface="Calibri"/>
                <a:cs typeface="Calibri"/>
              </a:rPr>
              <a:t>R contains training pairs for M1, M2 and M3 only.</a:t>
            </a:r>
          </a:p>
        </p:txBody>
      </p:sp>
      <p:sp>
        <p:nvSpPr>
          <p:cNvPr id="8" name="body">
            <a:extLst>
              <a:ext uri="{FF2B5EF4-FFF2-40B4-BE49-F238E27FC236}">
                <a16:creationId xmlns:a16="http://schemas.microsoft.com/office/drawing/2014/main" id="{B9B15A50-06C0-45AB-ACC7-D1F3C67E4A7D}"/>
              </a:ext>
            </a:extLst>
          </p:cNvPr>
          <p:cNvSpPr>
            <a:spLocks noGrp="1"/>
          </p:cNvSpPr>
          <p:nvPr/>
        </p:nvSpPr>
        <p:spPr>
          <a:xfrm>
            <a:off x="781050" y="3981450"/>
            <a:ext cx="7600950" cy="952500"/>
          </a:xfrm>
          <a:prstGeom prst="rect">
            <a:avLst/>
          </a:prstGeom>
          <a:noFill/>
          <a:ln w="0">
            <a:noFill/>
          </a:ln>
        </p:spPr>
        <p:txBody>
          <a:bodyPr wrap="square" lIns="0" tIns="0" rIns="0" bIns="0">
            <a:noAutofit/>
          </a:bodyPr>
          <a:lstStyle/>
          <a:p>
            <a:pPr>
              <a:defRPr sz="2175" b="0">
                <a:solidFill>
                  <a:srgbClr val="FF0000"/>
                </a:solidFill>
                <a:latin typeface="Calibri"/>
                <a:ea typeface="Calibri"/>
                <a:cs typeface="Calibri"/>
              </a:defRPr>
            </a:pPr>
            <a:r>
              <a:rPr sz="2175" b="0">
                <a:solidFill>
                  <a:srgbClr val="FF0000"/>
                </a:solidFill>
                <a:latin typeface="Calibri"/>
                <a:ea typeface="Calibri"/>
                <a:cs typeface="Calibri"/>
              </a:rPr>
              <a:t>Find all members trained on every Robotics tool, using all members as candidates.</a:t>
            </a:r>
          </a:p>
        </p:txBody>
      </p:sp>
      <p:sp>
        <p:nvSpPr>
          <p:cNvPr id="9" name="body">
            <a:extLst>
              <a:ext uri="{FF2B5EF4-FFF2-40B4-BE49-F238E27FC236}">
                <a16:creationId xmlns:a16="http://schemas.microsoft.com/office/drawing/2014/main" id="{39485AB2-5440-40B2-B54F-0F0EA829D969}"/>
              </a:ext>
            </a:extLst>
          </p:cNvPr>
          <p:cNvSpPr>
            <a:spLocks noGrp="1"/>
          </p:cNvSpPr>
          <p:nvPr/>
        </p:nvSpPr>
        <p:spPr>
          <a:xfrm>
            <a:off x="781050" y="5143500"/>
            <a:ext cx="7600950" cy="952500"/>
          </a:xfrm>
          <a:prstGeom prst="rect">
            <a:avLst/>
          </a:prstGeom>
          <a:noFill/>
          <a:ln w="0">
            <a:noFill/>
          </a:ln>
        </p:spPr>
        <p:txBody>
          <a:bodyPr wrap="square" lIns="0" tIns="0" rIns="0" bIns="0">
            <a:noAutofit/>
          </a:bodyPr>
          <a:lstStyle/>
          <a:p>
            <a:pPr>
              <a:defRPr sz="2100" b="0">
                <a:solidFill>
                  <a:srgbClr val="000000"/>
                </a:solidFill>
                <a:latin typeface="Calibri"/>
                <a:ea typeface="Calibri"/>
                <a:cs typeface="Calibri"/>
              </a:defRPr>
            </a:pPr>
            <a:r>
              <a:rPr sz="2100" b="0">
                <a:solidFill>
                  <a:srgbClr val="000000"/>
                </a:solidFill>
                <a:latin typeface="Calibri"/>
                <a:ea typeface="Calibri"/>
                <a:cs typeface="Calibri"/>
              </a:rPr>
              <a:t>Explain why R / ∅ gives a different answer.</a:t>
            </a:r>
          </a:p>
        </p:txBody>
      </p:sp>
      <p:sp>
        <p:nvSpPr>
          <p:cNvPr id="9001" name="Title 1">
            <a:extLst>
              <a:ext uri="{FF2B5EF4-FFF2-40B4-BE49-F238E27FC236}">
                <a16:creationId xmlns:a16="http://schemas.microsoft.com/office/drawing/2014/main" id="{4EF27E5C-9C4D-BDBE-7667-D0B141BCC8F5}"/>
              </a:ext>
            </a:extLst>
          </p:cNvPr>
          <p:cNvSpPr>
            <a:spLocks noGrp="1"/>
          </p:cNvSpPr>
          <p:nvPr>
            <p:ph type="title"/>
          </p:nvPr>
        </p:nvSpPr>
        <p:spPr/>
        <p:txBody>
          <a:bodyPr/>
          <a:lstStyle/>
          <a:p>
            <a:r>
              <a:rPr lang="en-US">
                <a:solidFill>
                  <a:srgbClr val="FF0000"/>
                </a:solidFill>
              </a:rPr>
              <a:t>Practice: </a:t>
            </a:r>
            <a:r>
              <a:rPr lang="en-US">
                <a:solidFill>
                  <a:srgbClr val="3333CC"/>
                </a:solidFill>
              </a:rPr>
              <a:t>Optional Challenge</a:t>
            </a:r>
          </a:p>
        </p:txBody>
      </p:sp>
      <p:sp>
        <p:nvSpPr>
          <p:cNvPr id="9002" name="Slide Number Placeholder 1">
            <a:extLst>
              <a:ext uri="{FF2B5EF4-FFF2-40B4-BE49-F238E27FC236}">
                <a16:creationId xmlns:a16="http://schemas.microsoft.com/office/drawing/2014/main" id="{B90139AC-3BDA-723A-097A-000DA0A784C1}"/>
              </a:ext>
            </a:extLst>
          </p:cNvPr>
          <p:cNvSpPr>
            <a:spLocks noGrp="1"/>
          </p:cNvSpPr>
          <p:nvPr>
            <p:ph type="sldNum" sz="quarter" idx="12"/>
          </p:nvPr>
        </p:nvSpPr>
        <p:spPr/>
        <p:txBody>
          <a:bodyPr/>
          <a:lstStyle/>
          <a:p>
            <a:pPr>
              <a:defRPr/>
            </a:pPr>
            <a:fld id="{43CA101F-9E5F-9249-9862-3CE55B3BB777}" type="slidenum">
              <a:rPr lang="en-US" altLang="zh-TW" smtClean="0"/>
              <a:pPr>
                <a:defRPr/>
              </a:pPr>
              <a:t>95</a:t>
            </a:fld>
            <a:endParaRPr lang="en-US" altLang="zh-TW"/>
          </a:p>
        </p:txBody>
      </p:sp>
    </p:spTree>
    <p:extLst>
      <p:ext uri="{BB962C8B-B14F-4D97-AF65-F5344CB8AC3E}">
        <p14:creationId xmlns:p14="http://schemas.microsoft.com/office/powerpoint/2010/main" val="1082388075"/>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formula">
            <a:extLst>
              <a:ext uri="{FF2B5EF4-FFF2-40B4-BE49-F238E27FC236}">
                <a16:creationId xmlns:a16="http://schemas.microsoft.com/office/drawing/2014/main" id="{5C60D3B2-40C6-482F-8C6D-2364AFDAD8DC}"/>
              </a:ext>
            </a:extLst>
          </p:cNvPr>
          <p:cNvSpPr>
            <a:spLocks noGrp="1"/>
          </p:cNvSpPr>
          <p:nvPr/>
        </p:nvSpPr>
        <p:spPr>
          <a:xfrm>
            <a:off x="781050" y="1047750"/>
            <a:ext cx="7715250" cy="523875"/>
          </a:xfrm>
          <a:prstGeom prst="rect">
            <a:avLst/>
          </a:prstGeom>
          <a:noFill/>
          <a:ln w="0">
            <a:noFill/>
          </a:ln>
        </p:spPr>
        <p:txBody>
          <a:bodyPr wrap="square" lIns="0" tIns="0" rIns="0" bIns="0">
            <a:noAutofit/>
          </a:bodyPr>
          <a:lstStyle/>
          <a:p>
            <a:pPr>
              <a:defRPr sz="2175" b="0">
                <a:solidFill>
                  <a:srgbClr val="000000"/>
                </a:solidFill>
                <a:latin typeface="Cambria Math"/>
                <a:ea typeface="Cambria Math"/>
                <a:cs typeface="Cambria Math"/>
              </a:defRPr>
            </a:pPr>
            <a:r>
              <a:rPr sz="2175" b="0">
                <a:solidFill>
                  <a:srgbClr val="000000"/>
                </a:solidFill>
                <a:latin typeface="Cambria Math"/>
                <a:ea typeface="Cambria Math"/>
                <a:cs typeface="Cambria Math"/>
              </a:rPr>
              <a:t>S₀(tid) = ∅       C_all ← π</a:t>
            </a:r>
            <a:r>
              <a:rPr sz="1544" b="0" baseline="-25000">
                <a:solidFill>
                  <a:srgbClr val="000000"/>
                </a:solidFill>
                <a:latin typeface="Cambria Math"/>
                <a:ea typeface="Cambria Math"/>
                <a:cs typeface="Cambria Math"/>
              </a:rPr>
              <a:t>mid</a:t>
            </a:r>
            <a:r>
              <a:rPr sz="2175" b="0">
                <a:solidFill>
                  <a:srgbClr val="000000"/>
                </a:solidFill>
                <a:latin typeface="Cambria Math"/>
                <a:ea typeface="Cambria Math"/>
                <a:cs typeface="Cambria Math"/>
              </a:rPr>
              <a:t>(Member)</a:t>
            </a:r>
          </a:p>
        </p:txBody>
      </p:sp>
      <p:sp>
        <p:nvSpPr>
          <p:cNvPr id="4" name="formula">
            <a:extLst>
              <a:ext uri="{FF2B5EF4-FFF2-40B4-BE49-F238E27FC236}">
                <a16:creationId xmlns:a16="http://schemas.microsoft.com/office/drawing/2014/main" id="{99B2CA2C-831E-4980-B1F5-64128700A6F7}"/>
              </a:ext>
            </a:extLst>
          </p:cNvPr>
          <p:cNvSpPr>
            <a:spLocks noGrp="1"/>
          </p:cNvSpPr>
          <p:nvPr/>
        </p:nvSpPr>
        <p:spPr>
          <a:xfrm>
            <a:off x="781050" y="1704975"/>
            <a:ext cx="7715250" cy="523875"/>
          </a:xfrm>
          <a:prstGeom prst="rect">
            <a:avLst/>
          </a:prstGeom>
          <a:noFill/>
          <a:ln w="0">
            <a:noFill/>
          </a:ln>
        </p:spPr>
        <p:txBody>
          <a:bodyPr wrap="square" lIns="0" tIns="0" rIns="0" bIns="0">
            <a:noAutofit/>
          </a:bodyPr>
          <a:lstStyle/>
          <a:p>
            <a:pPr>
              <a:defRPr sz="2325" b="0">
                <a:solidFill>
                  <a:srgbClr val="000000"/>
                </a:solidFill>
                <a:latin typeface="Cambria Math"/>
                <a:ea typeface="Cambria Math"/>
                <a:cs typeface="Cambria Math"/>
              </a:defRPr>
            </a:pPr>
            <a:r>
              <a:rPr sz="2325" b="0">
                <a:solidFill>
                  <a:srgbClr val="000000"/>
                </a:solidFill>
                <a:latin typeface="Cambria Math"/>
                <a:ea typeface="Cambria Math"/>
                <a:cs typeface="Cambria Math"/>
              </a:rPr>
              <a:t>C_all × S₀ = ∅</a:t>
            </a:r>
          </a:p>
        </p:txBody>
      </p:sp>
      <p:sp>
        <p:nvSpPr>
          <p:cNvPr id="5" name="formula">
            <a:extLst>
              <a:ext uri="{FF2B5EF4-FFF2-40B4-BE49-F238E27FC236}">
                <a16:creationId xmlns:a16="http://schemas.microsoft.com/office/drawing/2014/main" id="{07991AC8-A5D8-4EFD-8D70-F75475644924}"/>
              </a:ext>
            </a:extLst>
          </p:cNvPr>
          <p:cNvSpPr>
            <a:spLocks noGrp="1"/>
          </p:cNvSpPr>
          <p:nvPr/>
        </p:nvSpPr>
        <p:spPr>
          <a:xfrm>
            <a:off x="781050" y="2362200"/>
            <a:ext cx="7715250" cy="523875"/>
          </a:xfrm>
          <a:prstGeom prst="rect">
            <a:avLst/>
          </a:prstGeom>
          <a:noFill/>
          <a:ln w="0">
            <a:noFill/>
          </a:ln>
        </p:spPr>
        <p:txBody>
          <a:bodyPr wrap="square" lIns="0" tIns="0" rIns="0" bIns="0">
            <a:noAutofit/>
          </a:bodyPr>
          <a:lstStyle/>
          <a:p>
            <a:pPr>
              <a:defRPr sz="2100" b="0">
                <a:solidFill>
                  <a:srgbClr val="000000"/>
                </a:solidFill>
                <a:latin typeface="Cambria Math"/>
                <a:ea typeface="Cambria Math"/>
                <a:cs typeface="Cambria Math"/>
              </a:defRPr>
            </a:pPr>
            <a:r>
              <a:rPr sz="2100" b="0">
                <a:solidFill>
                  <a:srgbClr val="000000"/>
                </a:solidFill>
                <a:latin typeface="Cambria Math"/>
                <a:ea typeface="Cambria Math"/>
                <a:cs typeface="Cambria Math"/>
              </a:rPr>
              <a:t>C_all − π</a:t>
            </a:r>
            <a:r>
              <a:rPr sz="1491" b="0" baseline="-25000">
                <a:solidFill>
                  <a:srgbClr val="000000"/>
                </a:solidFill>
                <a:latin typeface="Cambria Math"/>
                <a:ea typeface="Cambria Math"/>
                <a:cs typeface="Cambria Math"/>
              </a:rPr>
              <a:t>mid</a:t>
            </a:r>
            <a:r>
              <a:rPr sz="2100" b="0">
                <a:solidFill>
                  <a:srgbClr val="000000"/>
                </a:solidFill>
                <a:latin typeface="Cambria Math"/>
                <a:ea typeface="Cambria Math"/>
                <a:cs typeface="Cambria Math"/>
              </a:rPr>
              <a:t>((C_all × S₀) − R) = C_all</a:t>
            </a:r>
          </a:p>
        </p:txBody>
      </p:sp>
      <p:sp>
        <p:nvSpPr>
          <p:cNvPr id="6" name="formula">
            <a:extLst>
              <a:ext uri="{FF2B5EF4-FFF2-40B4-BE49-F238E27FC236}">
                <a16:creationId xmlns:a16="http://schemas.microsoft.com/office/drawing/2014/main" id="{0356CF49-F5DB-409F-BE9F-82D1F4652961}"/>
              </a:ext>
            </a:extLst>
          </p:cNvPr>
          <p:cNvSpPr>
            <a:spLocks noGrp="1"/>
          </p:cNvSpPr>
          <p:nvPr/>
        </p:nvSpPr>
        <p:spPr>
          <a:xfrm>
            <a:off x="781050" y="3000375"/>
            <a:ext cx="7715250" cy="523875"/>
          </a:xfrm>
          <a:prstGeom prst="rect">
            <a:avLst/>
          </a:prstGeom>
          <a:noFill/>
          <a:ln w="0">
            <a:noFill/>
          </a:ln>
        </p:spPr>
        <p:txBody>
          <a:bodyPr wrap="square" lIns="0" tIns="0" rIns="0" bIns="0">
            <a:noAutofit/>
          </a:bodyPr>
          <a:lstStyle/>
          <a:p>
            <a:pPr>
              <a:defRPr sz="2025" b="0">
                <a:solidFill>
                  <a:srgbClr val="000000"/>
                </a:solidFill>
                <a:latin typeface="Cambria Math"/>
                <a:ea typeface="Cambria Math"/>
                <a:cs typeface="Cambria Math"/>
              </a:defRPr>
            </a:pPr>
            <a:r>
              <a:rPr sz="2025" b="0">
                <a:solidFill>
                  <a:srgbClr val="000000"/>
                </a:solidFill>
                <a:latin typeface="Cambria Math"/>
                <a:ea typeface="Cambria Math"/>
                <a:cs typeface="Cambria Math"/>
              </a:rPr>
              <a:t>Answer ← Member ⋈ C_all</a:t>
            </a:r>
          </a:p>
        </p:txBody>
      </p:sp>
      <p:graphicFrame>
        <p:nvGraphicFramePr>
          <p:cNvPr id="16" name="表格 15"/>
          <p:cNvGraphicFramePr/>
          <p:nvPr/>
        </p:nvGraphicFramePr>
        <p:xfrm>
          <a:off x="2343150" y="3486150"/>
          <a:ext cx="4467226" cy="1762125"/>
        </p:xfrm>
        <a:graphic>
          <a:graphicData uri="http://schemas.openxmlformats.org/drawingml/2006/table">
            <a:tbl>
              <a:tblPr/>
              <a:tblGrid>
                <a:gridCol w="2233613">
                  <a:extLst>
                    <a:ext uri="{9D8B030D-6E8A-4147-A177-3AD203B41FA5}">
                      <a16:colId xmlns:a16="http://schemas.microsoft.com/office/drawing/2014/main" val="20000"/>
                    </a:ext>
                  </a:extLst>
                </a:gridCol>
                <a:gridCol w="2233613">
                  <a:extLst>
                    <a:ext uri="{9D8B030D-6E8A-4147-A177-3AD203B41FA5}">
                      <a16:colId xmlns:a16="http://schemas.microsoft.com/office/drawing/2014/main" val="20001"/>
                    </a:ext>
                  </a:extLst>
                </a:gridCol>
              </a:tblGrid>
              <a:tr h="352425">
                <a:tc>
                  <a:txBody>
                    <a:bodyPr/>
                    <a:lstStyle/>
                    <a:p>
                      <a:pPr algn="ctr"/>
                      <a:r>
                        <a:rPr sz="1875">
                          <a:solidFill>
                            <a:srgbClr val="000000"/>
                          </a:solidFill>
                          <a:latin typeface="Calibri"/>
                          <a:ea typeface="Calibri"/>
                          <a:cs typeface="Calibri"/>
                        </a:rPr>
                        <a:t>mid</a:t>
                      </a:r>
                    </a:p>
                  </a:txBody>
                  <a:tcPr marL="47625" marR="47625" marT="28575" marB="28575" anchor="ctr">
                    <a:solidFill>
                      <a:srgbClr val="D9D9D9"/>
                    </a:solidFill>
                  </a:tcPr>
                </a:tc>
                <a:tc>
                  <a:txBody>
                    <a:bodyPr/>
                    <a:lstStyle/>
                    <a:p>
                      <a:pPr algn="ctr"/>
                      <a:r>
                        <a:rPr sz="1875">
                          <a:solidFill>
                            <a:srgbClr val="000000"/>
                          </a:solidFill>
                          <a:latin typeface="Calibri"/>
                          <a:ea typeface="Calibri"/>
                          <a:cs typeface="Calibri"/>
                        </a:rPr>
                        <a:t>mname</a:t>
                      </a:r>
                    </a:p>
                  </a:txBody>
                  <a:tcPr marL="47625" marR="47625" marT="28575" marB="28575" anchor="ctr">
                    <a:solidFill>
                      <a:srgbClr val="D9D9D9"/>
                    </a:solidFill>
                  </a:tcPr>
                </a:tc>
                <a:extLst>
                  <a:ext uri="{0D108BD9-81ED-4DB2-BD59-A6C34878D82A}">
                    <a16:rowId xmlns:a16="http://schemas.microsoft.com/office/drawing/2014/main" val="10000"/>
                  </a:ext>
                </a:extLst>
              </a:tr>
              <a:tr h="352425">
                <a:tc>
                  <a:txBody>
                    <a:bodyPr/>
                    <a:lstStyle/>
                    <a:p>
                      <a:pPr algn="ctr"/>
                      <a:r>
                        <a:rPr sz="1875">
                          <a:solidFill>
                            <a:srgbClr val="000000"/>
                          </a:solidFill>
                          <a:latin typeface="Calibri"/>
                          <a:ea typeface="Calibri"/>
                          <a:cs typeface="Calibri"/>
                        </a:rPr>
                        <a:t>M1</a:t>
                      </a:r>
                    </a:p>
                  </a:txBody>
                  <a:tcPr marL="47625" marR="47625" marT="28575" marB="28575" anchor="ctr">
                    <a:solidFill>
                      <a:srgbClr val="FFFFFF"/>
                    </a:solidFill>
                  </a:tcPr>
                </a:tc>
                <a:tc>
                  <a:txBody>
                    <a:bodyPr/>
                    <a:lstStyle/>
                    <a:p>
                      <a:pPr algn="ctr"/>
                      <a:r>
                        <a:rPr sz="1875">
                          <a:solidFill>
                            <a:srgbClr val="000000"/>
                          </a:solidFill>
                          <a:latin typeface="Calibri"/>
                          <a:ea typeface="Calibri"/>
                          <a:cs typeface="Calibri"/>
                        </a:rPr>
                        <a:t>Alex</a:t>
                      </a:r>
                    </a:p>
                  </a:txBody>
                  <a:tcPr marL="47625" marR="47625" marT="28575" marB="28575" anchor="ctr">
                    <a:solidFill>
                      <a:srgbClr val="FFFFFF"/>
                    </a:solidFill>
                  </a:tcPr>
                </a:tc>
                <a:extLst>
                  <a:ext uri="{0D108BD9-81ED-4DB2-BD59-A6C34878D82A}">
                    <a16:rowId xmlns:a16="http://schemas.microsoft.com/office/drawing/2014/main" val="10001"/>
                  </a:ext>
                </a:extLst>
              </a:tr>
              <a:tr h="352425">
                <a:tc>
                  <a:txBody>
                    <a:bodyPr/>
                    <a:lstStyle/>
                    <a:p>
                      <a:pPr algn="ctr"/>
                      <a:r>
                        <a:rPr sz="1875">
                          <a:solidFill>
                            <a:srgbClr val="000000"/>
                          </a:solidFill>
                          <a:latin typeface="Calibri"/>
                          <a:ea typeface="Calibri"/>
                          <a:cs typeface="Calibri"/>
                        </a:rPr>
                        <a:t>M2</a:t>
                      </a:r>
                    </a:p>
                  </a:txBody>
                  <a:tcPr marL="47625" marR="47625" marT="28575" marB="28575" anchor="ctr">
                    <a:solidFill>
                      <a:srgbClr val="FFFFFF"/>
                    </a:solidFill>
                  </a:tcPr>
                </a:tc>
                <a:tc>
                  <a:txBody>
                    <a:bodyPr/>
                    <a:lstStyle/>
                    <a:p>
                      <a:pPr algn="ctr"/>
                      <a:r>
                        <a:rPr sz="1875">
                          <a:solidFill>
                            <a:srgbClr val="000000"/>
                          </a:solidFill>
                          <a:latin typeface="Calibri"/>
                          <a:ea typeface="Calibri"/>
                          <a:cs typeface="Calibri"/>
                        </a:rPr>
                        <a:t>Mei</a:t>
                      </a:r>
                    </a:p>
                  </a:txBody>
                  <a:tcPr marL="47625" marR="47625" marT="28575" marB="28575" anchor="ctr">
                    <a:solidFill>
                      <a:srgbClr val="FFFFFF"/>
                    </a:solidFill>
                  </a:tcPr>
                </a:tc>
                <a:extLst>
                  <a:ext uri="{0D108BD9-81ED-4DB2-BD59-A6C34878D82A}">
                    <a16:rowId xmlns:a16="http://schemas.microsoft.com/office/drawing/2014/main" val="10002"/>
                  </a:ext>
                </a:extLst>
              </a:tr>
              <a:tr h="352425">
                <a:tc>
                  <a:txBody>
                    <a:bodyPr/>
                    <a:lstStyle/>
                    <a:p>
                      <a:pPr algn="ctr"/>
                      <a:r>
                        <a:rPr sz="1875">
                          <a:solidFill>
                            <a:srgbClr val="000000"/>
                          </a:solidFill>
                          <a:latin typeface="Calibri"/>
                          <a:ea typeface="Calibri"/>
                          <a:cs typeface="Calibri"/>
                        </a:rPr>
                        <a:t>M3</a:t>
                      </a:r>
                    </a:p>
                  </a:txBody>
                  <a:tcPr marL="47625" marR="47625" marT="28575" marB="28575" anchor="ctr">
                    <a:solidFill>
                      <a:srgbClr val="FFFFFF"/>
                    </a:solidFill>
                  </a:tcPr>
                </a:tc>
                <a:tc>
                  <a:txBody>
                    <a:bodyPr/>
                    <a:lstStyle/>
                    <a:p>
                      <a:pPr algn="ctr"/>
                      <a:r>
                        <a:rPr sz="1875">
                          <a:solidFill>
                            <a:srgbClr val="000000"/>
                          </a:solidFill>
                          <a:latin typeface="Calibri"/>
                          <a:ea typeface="Calibri"/>
                          <a:cs typeface="Calibri"/>
                        </a:rPr>
                        <a:t>Alex</a:t>
                      </a:r>
                    </a:p>
                  </a:txBody>
                  <a:tcPr marL="47625" marR="47625" marT="28575" marB="28575" anchor="ctr">
                    <a:solidFill>
                      <a:srgbClr val="FFFFFF"/>
                    </a:solidFill>
                  </a:tcPr>
                </a:tc>
                <a:extLst>
                  <a:ext uri="{0D108BD9-81ED-4DB2-BD59-A6C34878D82A}">
                    <a16:rowId xmlns:a16="http://schemas.microsoft.com/office/drawing/2014/main" val="10003"/>
                  </a:ext>
                </a:extLst>
              </a:tr>
              <a:tr h="352425">
                <a:tc>
                  <a:txBody>
                    <a:bodyPr/>
                    <a:lstStyle/>
                    <a:p>
                      <a:pPr algn="ctr"/>
                      <a:r>
                        <a:rPr sz="1875">
                          <a:solidFill>
                            <a:srgbClr val="000000"/>
                          </a:solidFill>
                          <a:latin typeface="Calibri"/>
                          <a:ea typeface="Calibri"/>
                          <a:cs typeface="Calibri"/>
                        </a:rPr>
                        <a:t>M4</a:t>
                      </a:r>
                    </a:p>
                  </a:txBody>
                  <a:tcPr marL="47625" marR="47625" marT="28575" marB="28575" anchor="ctr">
                    <a:solidFill>
                      <a:srgbClr val="FFFFFF"/>
                    </a:solidFill>
                  </a:tcPr>
                </a:tc>
                <a:tc>
                  <a:txBody>
                    <a:bodyPr/>
                    <a:lstStyle/>
                    <a:p>
                      <a:pPr algn="ctr"/>
                      <a:r>
                        <a:rPr sz="1875">
                          <a:solidFill>
                            <a:srgbClr val="000000"/>
                          </a:solidFill>
                          <a:latin typeface="Calibri"/>
                          <a:ea typeface="Calibri"/>
                          <a:cs typeface="Calibri"/>
                        </a:rPr>
                        <a:t>Noor</a:t>
                      </a:r>
                    </a:p>
                  </a:txBody>
                  <a:tcPr marL="47625" marR="47625" marT="28575" marB="28575" anchor="ctr">
                    <a:solidFill>
                      <a:srgbClr val="FFFFFF"/>
                    </a:solidFill>
                  </a:tcPr>
                </a:tc>
                <a:extLst>
                  <a:ext uri="{0D108BD9-81ED-4DB2-BD59-A6C34878D82A}">
                    <a16:rowId xmlns:a16="http://schemas.microsoft.com/office/drawing/2014/main" val="10004"/>
                  </a:ext>
                </a:extLst>
              </a:tr>
            </a:tbl>
          </a:graphicData>
        </a:graphic>
      </p:graphicFrame>
      <p:sp>
        <p:nvSpPr>
          <p:cNvPr id="8" name="body">
            <a:extLst>
              <a:ext uri="{FF2B5EF4-FFF2-40B4-BE49-F238E27FC236}">
                <a16:creationId xmlns:a16="http://schemas.microsoft.com/office/drawing/2014/main" id="{A7E3FB05-4B06-4BCA-87AE-BE460BCC8FEA}"/>
              </a:ext>
            </a:extLst>
          </p:cNvPr>
          <p:cNvSpPr>
            <a:spLocks noGrp="1"/>
          </p:cNvSpPr>
          <p:nvPr/>
        </p:nvSpPr>
        <p:spPr>
          <a:xfrm>
            <a:off x="781050" y="5286375"/>
            <a:ext cx="7600950" cy="952500"/>
          </a:xfrm>
          <a:prstGeom prst="rect">
            <a:avLst/>
          </a:prstGeom>
          <a:noFill/>
          <a:ln w="0">
            <a:noFill/>
          </a:ln>
        </p:spPr>
        <p:txBody>
          <a:bodyPr wrap="square" lIns="0" tIns="0" rIns="0" bIns="0">
            <a:noAutofit/>
          </a:bodyPr>
          <a:lstStyle/>
          <a:p>
            <a:pPr>
              <a:defRPr sz="2100" b="0">
                <a:solidFill>
                  <a:srgbClr val="FF0000"/>
                </a:solidFill>
                <a:latin typeface="Calibri"/>
                <a:ea typeface="Calibri"/>
                <a:cs typeface="Calibri"/>
              </a:defRPr>
            </a:pPr>
            <a:r>
              <a:rPr sz="2100" b="0">
                <a:solidFill>
                  <a:srgbClr val="FF0000"/>
                </a:solidFill>
                <a:latin typeface="Calibri"/>
                <a:ea typeface="Calibri"/>
                <a:cs typeface="Calibri"/>
              </a:rPr>
              <a:t>All four members qualify, including Noor.</a:t>
            </a:r>
          </a:p>
        </p:txBody>
      </p:sp>
      <p:sp>
        <p:nvSpPr>
          <p:cNvPr id="9" name="formula">
            <a:extLst>
              <a:ext uri="{FF2B5EF4-FFF2-40B4-BE49-F238E27FC236}">
                <a16:creationId xmlns:a16="http://schemas.microsoft.com/office/drawing/2014/main" id="{5E26F39C-3881-4DA2-AC6C-E7ADECC56331}"/>
              </a:ext>
            </a:extLst>
          </p:cNvPr>
          <p:cNvSpPr>
            <a:spLocks noGrp="1"/>
          </p:cNvSpPr>
          <p:nvPr/>
        </p:nvSpPr>
        <p:spPr>
          <a:xfrm>
            <a:off x="781050" y="5781675"/>
            <a:ext cx="7715250" cy="523875"/>
          </a:xfrm>
          <a:prstGeom prst="rect">
            <a:avLst/>
          </a:prstGeom>
          <a:noFill/>
          <a:ln w="0">
            <a:noFill/>
          </a:ln>
        </p:spPr>
        <p:txBody>
          <a:bodyPr wrap="square" lIns="0" tIns="0" rIns="0" bIns="0">
            <a:noAutofit/>
          </a:bodyPr>
          <a:lstStyle/>
          <a:p>
            <a:pPr>
              <a:defRPr sz="1875" b="0">
                <a:solidFill>
                  <a:srgbClr val="000000"/>
                </a:solidFill>
                <a:latin typeface="Cambria Math"/>
                <a:ea typeface="Cambria Math"/>
                <a:cs typeface="Cambria Math"/>
              </a:defRPr>
            </a:pPr>
            <a:r>
              <a:rPr sz="1875" b="0">
                <a:solidFill>
                  <a:srgbClr val="000000"/>
                </a:solidFill>
                <a:latin typeface="Cambria Math"/>
                <a:ea typeface="Cambria Math"/>
                <a:cs typeface="Cambria Math"/>
              </a:rPr>
              <a:t>R / ∅ = π</a:t>
            </a:r>
            <a:r>
              <a:rPr sz="1331" b="0" baseline="-25000">
                <a:solidFill>
                  <a:srgbClr val="000000"/>
                </a:solidFill>
                <a:latin typeface="Cambria Math"/>
                <a:ea typeface="Cambria Math"/>
                <a:cs typeface="Cambria Math"/>
              </a:rPr>
              <a:t>mid</a:t>
            </a:r>
            <a:r>
              <a:rPr sz="1875" b="0">
                <a:solidFill>
                  <a:srgbClr val="000000"/>
                </a:solidFill>
                <a:latin typeface="Cambria Math"/>
                <a:ea typeface="Cambria Math"/>
                <a:cs typeface="Cambria Math"/>
              </a:rPr>
              <a:t>(R) = { (M1), (M2), (M3) }</a:t>
            </a:r>
          </a:p>
        </p:txBody>
      </p:sp>
      <p:sp>
        <p:nvSpPr>
          <p:cNvPr id="9001" name="Title 1">
            <a:extLst>
              <a:ext uri="{FF2B5EF4-FFF2-40B4-BE49-F238E27FC236}">
                <a16:creationId xmlns:a16="http://schemas.microsoft.com/office/drawing/2014/main" id="{4EF27E5C-9C4D-BDBE-7667-D0B141BCC8F5}"/>
              </a:ext>
            </a:extLst>
          </p:cNvPr>
          <p:cNvSpPr>
            <a:spLocks noGrp="1"/>
          </p:cNvSpPr>
          <p:nvPr>
            <p:ph type="title"/>
          </p:nvPr>
        </p:nvSpPr>
        <p:spPr/>
        <p:txBody>
          <a:bodyPr/>
          <a:lstStyle/>
          <a:p>
            <a:r>
              <a:rPr lang="en-US">
                <a:solidFill>
                  <a:srgbClr val="FF0000"/>
                </a:solidFill>
              </a:rPr>
              <a:t>Solutions: </a:t>
            </a:r>
            <a:r>
              <a:rPr lang="en-US">
                <a:solidFill>
                  <a:srgbClr val="3333CC"/>
                </a:solidFill>
              </a:rPr>
              <a:t>Optional Challenge</a:t>
            </a:r>
          </a:p>
        </p:txBody>
      </p:sp>
      <p:sp>
        <p:nvSpPr>
          <p:cNvPr id="9002" name="Slide Number Placeholder 1">
            <a:extLst>
              <a:ext uri="{FF2B5EF4-FFF2-40B4-BE49-F238E27FC236}">
                <a16:creationId xmlns:a16="http://schemas.microsoft.com/office/drawing/2014/main" id="{B90139AC-3BDA-723A-097A-000DA0A784C1}"/>
              </a:ext>
            </a:extLst>
          </p:cNvPr>
          <p:cNvSpPr>
            <a:spLocks noGrp="1"/>
          </p:cNvSpPr>
          <p:nvPr>
            <p:ph type="sldNum" sz="quarter" idx="12"/>
          </p:nvPr>
        </p:nvSpPr>
        <p:spPr/>
        <p:txBody>
          <a:bodyPr/>
          <a:lstStyle/>
          <a:p>
            <a:pPr>
              <a:defRPr/>
            </a:pPr>
            <a:fld id="{43CA101F-9E5F-9249-9862-3CE55B3BB777}" type="slidenum">
              <a:rPr lang="en-US" altLang="zh-TW" smtClean="0"/>
              <a:pPr>
                <a:defRPr/>
              </a:pPr>
              <a:t>96</a:t>
            </a:fld>
            <a:endParaRPr lang="en-US" altLang="zh-TW"/>
          </a:p>
        </p:txBody>
      </p:sp>
    </p:spTree>
    <p:extLst>
      <p:ext uri="{BB962C8B-B14F-4D97-AF65-F5344CB8AC3E}">
        <p14:creationId xmlns:p14="http://schemas.microsoft.com/office/powerpoint/2010/main" val="773400489"/>
      </p:ext>
    </p:extLst>
  </p:cSld>
  <p:clrMapOvr>
    <a:masterClrMapping/>
  </p:clrMapOvr>
</p:sld>
</file>

<file path=ppt/theme/theme1.xml><?xml version="1.0" encoding="utf-8"?>
<a:theme xmlns:a="http://schemas.openxmlformats.org/drawingml/2006/main" name="mystyle">
  <a:themeElements>
    <a:clrScheme name="mystyle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mystyle">
      <a:majorFont>
        <a:latin typeface="Times New Roman"/>
        <a:ea typeface="新細明體"/>
        <a:cs typeface=""/>
      </a:majorFont>
      <a:minorFont>
        <a:latin typeface="Times New Roman"/>
        <a:ea typeface="新細明體"/>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1" lang="en-US" sz="2400" b="0" i="0" u="none" strike="noStrike" cap="none" normalizeH="0" baseline="0" smtClean="0">
            <a:ln>
              <a:noFill/>
            </a:ln>
            <a:solidFill>
              <a:schemeClr val="tx1"/>
            </a:solidFill>
            <a:effectLst/>
            <a:latin typeface="Times New Roman" pitchFamily="18" charset="0"/>
            <a:ea typeface="新細明體" pitchFamily="18" charset="-12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1" lang="en-US" sz="2400" b="0" i="0" u="none" strike="noStrike" cap="none" normalizeH="0" baseline="0" smtClean="0">
            <a:ln>
              <a:noFill/>
            </a:ln>
            <a:solidFill>
              <a:schemeClr val="tx1"/>
            </a:solidFill>
            <a:effectLst/>
            <a:latin typeface="Times New Roman" pitchFamily="18" charset="0"/>
            <a:ea typeface="新細明體" pitchFamily="18" charset="-120"/>
          </a:defRPr>
        </a:defPPr>
      </a:lstStyle>
    </a:lnDef>
  </a:objectDefaults>
  <a:extraClrSchemeLst>
    <a:extraClrScheme>
      <a:clrScheme name="mystyle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mystyle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mystyle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mystyle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mystyl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mystyl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mystyl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41</TotalTime>
  <Words>7706</Words>
  <Application>Microsoft Office PowerPoint</Application>
  <DocSecurity>0</DocSecurity>
  <PresentationFormat>全屏显示(4:3)</PresentationFormat>
  <Paragraphs>1956</Paragraphs>
  <Slides>96</Slides>
  <Notes>96</Notes>
  <HiddenSlides>0</HiddenSlides>
  <MMClips>0</MMClips>
  <ScaleCrop>false</ScaleCrop>
  <HeadingPairs>
    <vt:vector size="6" baseType="variant">
      <vt:variant>
        <vt:lpstr>已用的字体</vt:lpstr>
      </vt:variant>
      <vt:variant>
        <vt:i4>5</vt:i4>
      </vt:variant>
      <vt:variant>
        <vt:lpstr>主题</vt:lpstr>
      </vt:variant>
      <vt:variant>
        <vt:i4>1</vt:i4>
      </vt:variant>
      <vt:variant>
        <vt:lpstr>幻灯片标题</vt:lpstr>
      </vt:variant>
      <vt:variant>
        <vt:i4>96</vt:i4>
      </vt:variant>
    </vt:vector>
  </HeadingPairs>
  <TitlesOfParts>
    <vt:vector size="102" baseType="lpstr">
      <vt:lpstr>微软雅黑</vt:lpstr>
      <vt:lpstr>Calibri</vt:lpstr>
      <vt:lpstr>Cambria Math</vt:lpstr>
      <vt:lpstr>Times New Roman</vt:lpstr>
      <vt:lpstr>Wingdings</vt:lpstr>
      <vt:lpstr>mystyle</vt:lpstr>
      <vt:lpstr>PowerPoint 演示文稿</vt:lpstr>
      <vt:lpstr>Session Plan</vt:lpstr>
      <vt:lpstr>Basic Operators</vt:lpstr>
      <vt:lpstr>Select Operation</vt:lpstr>
      <vt:lpstr>Practice: Q1</vt:lpstr>
      <vt:lpstr>Solutions: Q1</vt:lpstr>
      <vt:lpstr>Practice: Q2</vt:lpstr>
      <vt:lpstr>Solutions: Q2</vt:lpstr>
      <vt:lpstr>Practice: Q3</vt:lpstr>
      <vt:lpstr>Solutions: Q3</vt:lpstr>
      <vt:lpstr>Project Operation</vt:lpstr>
      <vt:lpstr>Practice: Q4</vt:lpstr>
      <vt:lpstr>Solutions: Q4</vt:lpstr>
      <vt:lpstr>Practice: Q5</vt:lpstr>
      <vt:lpstr>Solutions: Q5</vt:lpstr>
      <vt:lpstr>Composition and Assignment</vt:lpstr>
      <vt:lpstr>Practice: Q6</vt:lpstr>
      <vt:lpstr>Solutions: Q6</vt:lpstr>
      <vt:lpstr>Union Operation</vt:lpstr>
      <vt:lpstr>Practice: Q7</vt:lpstr>
      <vt:lpstr>Solutions: Q7</vt:lpstr>
      <vt:lpstr>Practice: Q8</vt:lpstr>
      <vt:lpstr>Solutions: Q8</vt:lpstr>
      <vt:lpstr>Set Difference Operation</vt:lpstr>
      <vt:lpstr>Practice: Q9</vt:lpstr>
      <vt:lpstr>Solutions: Q9</vt:lpstr>
      <vt:lpstr>Practice: Q10</vt:lpstr>
      <vt:lpstr>Solutions: Q10</vt:lpstr>
      <vt:lpstr>Set-Intersection Operation</vt:lpstr>
      <vt:lpstr>Practice: Q11</vt:lpstr>
      <vt:lpstr>Solutions: Q11</vt:lpstr>
      <vt:lpstr>Practice: Q12</vt:lpstr>
      <vt:lpstr>Solutions: Q12 (1)</vt:lpstr>
      <vt:lpstr>Solutions: Q12 (2)</vt:lpstr>
      <vt:lpstr>Rename Operation</vt:lpstr>
      <vt:lpstr>Practice: Q13</vt:lpstr>
      <vt:lpstr>Solutions: Q13</vt:lpstr>
      <vt:lpstr>Practice: Q14</vt:lpstr>
      <vt:lpstr>Solutions: Q14</vt:lpstr>
      <vt:lpstr>Cartesian-Product Operation</vt:lpstr>
      <vt:lpstr>Practice: Q15</vt:lpstr>
      <vt:lpstr>Solutions: Q15</vt:lpstr>
      <vt:lpstr>Practice: Q16</vt:lpstr>
      <vt:lpstr>Solutions: Q16</vt:lpstr>
      <vt:lpstr>Theta Join</vt:lpstr>
      <vt:lpstr>Practice: Q17</vt:lpstr>
      <vt:lpstr>Solutions: Q17</vt:lpstr>
      <vt:lpstr>Equijoin</vt:lpstr>
      <vt:lpstr>Practice: Q19</vt:lpstr>
      <vt:lpstr>Solutions: Q19</vt:lpstr>
      <vt:lpstr>Practice: Q20</vt:lpstr>
      <vt:lpstr>Solutions: Q20 (1)</vt:lpstr>
      <vt:lpstr>Solutions: Q20 (2)</vt:lpstr>
      <vt:lpstr>Natural Join</vt:lpstr>
      <vt:lpstr>Practice: Q21</vt:lpstr>
      <vt:lpstr>Solutions: Q21</vt:lpstr>
      <vt:lpstr>Practice: Q22</vt:lpstr>
      <vt:lpstr>Solutions: Q22 (1)</vt:lpstr>
      <vt:lpstr>Solutions: Q22 (2)</vt:lpstr>
      <vt:lpstr>Division (/)</vt:lpstr>
      <vt:lpstr>Practice: Makerspace Schema</vt:lpstr>
      <vt:lpstr>Practice: Q23</vt:lpstr>
      <vt:lpstr>Solutions: Q23 (1)</vt:lpstr>
      <vt:lpstr>Practice: Q25</vt:lpstr>
      <vt:lpstr>Solutions: Q25 (1)</vt:lpstr>
      <vt:lpstr>Solutions: Q25 (2)</vt:lpstr>
      <vt:lpstr>Practice: Q26</vt:lpstr>
      <vt:lpstr>Solutions: Q26 (1)</vt:lpstr>
      <vt:lpstr>Solutions: Q26 (2)</vt:lpstr>
      <vt:lpstr>Practice: Q27</vt:lpstr>
      <vt:lpstr>Solutions: Q27 (1)</vt:lpstr>
      <vt:lpstr>Solutions: Q27 (2)</vt:lpstr>
      <vt:lpstr>Solutions: Q27 (3)</vt:lpstr>
      <vt:lpstr>Practice: Q28</vt:lpstr>
      <vt:lpstr>Solutions: Q28 (1)</vt:lpstr>
      <vt:lpstr>Solutions: Q28 (2)</vt:lpstr>
      <vt:lpstr>Practice: Q29</vt:lpstr>
      <vt:lpstr>Solutions: Q29 (1)</vt:lpstr>
      <vt:lpstr>Solutions: Q29 (2)</vt:lpstr>
      <vt:lpstr>Solutions: Q29 (3)</vt:lpstr>
      <vt:lpstr>Practice: Q30</vt:lpstr>
      <vt:lpstr>Solutions: Q30 (1)</vt:lpstr>
      <vt:lpstr>Solutions: Q30 (2)</vt:lpstr>
      <vt:lpstr>Solutions: Q30 (3)</vt:lpstr>
      <vt:lpstr>Practice: Q31</vt:lpstr>
      <vt:lpstr>Solutions: Q31 (1)</vt:lpstr>
      <vt:lpstr>Solutions: Q31 (2)</vt:lpstr>
      <vt:lpstr>Practice: Q32</vt:lpstr>
      <vt:lpstr>Solutions: Q32 (1)</vt:lpstr>
      <vt:lpstr>Solutions: Q32 (2)</vt:lpstr>
      <vt:lpstr>Solutions: Q32 (3)</vt:lpstr>
      <vt:lpstr>Solutions: Q32 (4)</vt:lpstr>
      <vt:lpstr>Remarks</vt:lpstr>
      <vt:lpstr>Reference</vt:lpstr>
      <vt:lpstr>Practice: Optional Challenge</vt:lpstr>
      <vt:lpstr>Solutions: Optional Challenge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潇 晏</cp:lastModifiedBy>
  <cp:revision>4</cp:revision>
  <dcterms:created xsi:type="dcterms:W3CDTF">2026-09-16T13:05:22Z</dcterms:created>
  <dcterms:modified xsi:type="dcterms:W3CDTF">2026-09-19T13:03:38Z</dcterms:modified>
</cp:coreProperties>
</file>