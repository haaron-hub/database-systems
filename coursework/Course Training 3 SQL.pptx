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4"/>
  </p:notes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  <p:sldId id="359" r:id="rId98"/>
    <p:sldId id="360" r:id="rId99"/>
    <p:sldId id="361" r:id="rId100"/>
    <p:sldId id="362" r:id="rId101"/>
    <p:sldId id="363" r:id="rId102"/>
    <p:sldId id="364" r:id="rId10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636" autoAdjust="0"/>
  </p:normalViewPr>
  <p:slideViewPr>
    <p:cSldViewPr snapToGrid="0">
      <p:cViewPr varScale="1">
        <p:scale>
          <a:sx n="73" d="100"/>
          <a:sy n="73" d="100"/>
        </p:scale>
        <p:origin x="21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9DFA76-17E1-2A4B-8D83-44130AB258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7518D5-A903-7E4D-A070-D430055F4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676B5C-E66B-2C47-9925-8BC16A750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C4514-1EF6-6C41-8DFC-B806BCA421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9172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15C33E-6E44-8048-96EA-7E5216EF6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439DA1-139F-6E49-BC6C-723244AB5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1F6A1A-F545-CB42-989D-AC5E94349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A101F-9E5F-9249-9862-3CE55B3BB7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146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CEF168-925F-4A4E-BF36-AAA7083EE2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2D204-F6E4-AE4A-A3F2-AAA670614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30C2C2-E356-4348-ADCF-01A081D513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5CF63-A36F-AE4B-A58B-F454462B6A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012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D260DF-ED74-9B43-8173-4915E55E6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8D145-F6DA-784A-A6CA-0417FD938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5C589-6E07-BA43-962D-6CFAEEC41A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27A75-7A4E-F64C-9170-1B654406372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365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A0C8DB-0B4C-7A44-8129-D2F6EBB2C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872DF0-5535-0547-B313-49A4E30F0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8BB327-D5D0-214C-A9A4-7391D65315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7C1E0-6E68-684B-9630-74530A4FBB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006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7FA61D-892F-B94D-B117-A4BF5FF04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3359DB-8F88-3F4D-BDA9-EE49A00054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19CF00-ADA4-E749-9A5E-E4F099BC2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F21DE-5039-9D4E-8265-B24C97B74B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586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A7652A2-99B0-F240-817F-38053C14CF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68AFBCB-615F-754E-9067-3A9485171B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B9179F-6BCB-D845-A5AA-33B2F3FB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90635-80B8-CA47-B91D-2166049991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994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C832E-A2F0-4A4E-B8FC-7CAAC10B9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B49AC-8830-8249-A1F0-1C14D9CE9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3BB7D4-FFDB-8F49-9F2C-B440FAC48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0A29B-6602-BD46-91DC-EE3C884B36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1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045A4-645B-4F46-A743-32BC13EC6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F8289-2910-5747-920C-3CB47EF0A2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1206C-4E9B-4D4A-9FE6-6EF147ED3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48F38-48C3-5848-9921-88530550C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150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8D41BE-28F7-1B4C-8B4F-370633654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CAB8BD-F2E2-9A46-BEA3-8A6A6BCADD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0A649A-F8E1-BB4D-9388-50BBBA33E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983D2-769A-6444-B561-8008FFE756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379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840955-0547-5842-853E-B2BE8CD0B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23D349-BA33-5A4C-ACC6-675404AD3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1D6A3A-B4D6-514A-A0F8-7E92AE259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65FBB-89EC-FA43-A717-36F7A464B0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706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FBCA1E-1D87-1A45-AED3-1B9FABB02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test</a:t>
            </a:r>
            <a:endParaRPr lang="zh-TW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EEA3F3-01F3-274B-969B-6284A563E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test</a:t>
            </a:r>
            <a:endParaRPr lang="zh-TW" altLang="en-US"/>
          </a:p>
          <a:p>
            <a:pPr lvl="1"/>
            <a:r>
              <a:rPr lang="en-US" altLang="zh-TW"/>
              <a:t>test</a:t>
            </a:r>
            <a:endParaRPr lang="zh-TW" altLang="en-US"/>
          </a:p>
          <a:p>
            <a:pPr lvl="2"/>
            <a:r>
              <a:rPr lang="en-US" altLang="zh-TW"/>
              <a:t>test</a:t>
            </a:r>
            <a:endParaRPr lang="zh-TW" altLang="en-US"/>
          </a:p>
          <a:p>
            <a:pPr lvl="3"/>
            <a:r>
              <a:rPr lang="en-US" altLang="zh-TW"/>
              <a:t>test</a:t>
            </a:r>
            <a:endParaRPr lang="zh-TW" altLang="en-US"/>
          </a:p>
          <a:p>
            <a:pPr lvl="4"/>
            <a:r>
              <a:rPr lang="en-US" altLang="zh-TW"/>
              <a:t>test</a:t>
            </a:r>
            <a:endParaRPr lang="zh-TW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442E8C3-D3C6-9844-A17A-1E602C139F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61D2FF-B36B-C742-A48A-A379E60971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fr-FR" altLang="zh-TW"/>
              <a:t>2024-2025 T1 (Michael Yu's Slides) v_1.0</a:t>
            </a: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7D0037C-8401-2E44-8C9D-71562E60B5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452281B-98BA-454B-9A62-151AF73D11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363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DCD9830D-D17A-D842-B75F-E999D36B31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34662" y="29337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Calibri" panose="020F0502020204030204" pitchFamily="34" charset="0"/>
              </a:rPr>
              <a:t>SQL Practice</a:t>
            </a:r>
            <a:endParaRPr lang="en-US" altLang="zh-TW" dirty="0"/>
          </a:p>
        </p:txBody>
      </p:sp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CB246A48-997A-2D44-B0B4-4840AAC0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DA2459-8ABC-454D-AAF4-F2B75D230C46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254F077-5995-3932-6796-4948E9EE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685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marL="4572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2pPr>
            <a:lvl3pPr marL="9144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3pPr>
            <a:lvl4pPr marL="1371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4pPr>
            <a:lvl5pPr marL="18288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kumimoji="1" sz="4400" b="1" kern="1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新細明體"/>
                <a:cs typeface="+mj-cs"/>
              </a:rPr>
              <a:t>Design, Implementation and Management of Database Systems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2156725-164A-06C1-B537-8B4F62733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8145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0677FF5-6426-4FD8-9E6B-3B16721C961B}"/>
              </a:ext>
            </a:extLst>
          </p:cNvPr>
          <p:cNvSpPr>
            <a:spLocks noGrp="1"/>
          </p:cNvSpPr>
          <p:nvPr/>
        </p:nvSpPr>
        <p:spPr>
          <a:xfrm>
            <a:off x="876300" y="905111"/>
            <a:ext cx="7391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  <a:r>
              <a:rPr lang="en-US" sz="19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(mid, name, home, level)</a:t>
            </a:r>
            <a:endParaRPr sz="195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2835623895"/>
              </p:ext>
            </p:extLst>
          </p:nvPr>
        </p:nvGraphicFramePr>
        <p:xfrm>
          <a:off x="876300" y="1238486"/>
          <a:ext cx="7391400" cy="2600325"/>
        </p:xfrm>
        <a:graphic>
          <a:graphicData uri="http://schemas.openxmlformats.org/drawingml/2006/table">
            <a:tbl>
              <a:tblPr/>
              <a:tblGrid>
                <a:gridCol w="1642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3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7" y="147778"/>
            <a:ext cx="7772400" cy="533400"/>
          </a:xfrm>
        </p:spPr>
        <p:txBody>
          <a:bodyPr/>
          <a:lstStyle/>
          <a:p>
            <a:r>
              <a:rPr lang="en-US" dirty="0">
                <a:solidFill>
                  <a:srgbClr val="3333CC"/>
                </a:solidFill>
              </a:rPr>
              <a:t>Members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61E2F93-8FE9-3CAB-46C7-26F5E4668B1E}"/>
              </a:ext>
            </a:extLst>
          </p:cNvPr>
          <p:cNvSpPr>
            <a:spLocks noGrp="1"/>
          </p:cNvSpPr>
          <p:nvPr/>
        </p:nvSpPr>
        <p:spPr>
          <a:xfrm>
            <a:off x="1028700" y="4596144"/>
            <a:ext cx="7391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</a:t>
            </a:r>
            <a:r>
              <a:rPr lang="en-US"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(gid, item, kind, home, fee)</a:t>
            </a:r>
            <a:endParaRPr sz="195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4B1A0C3-BE51-1119-78C1-6F2C7B464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5715649"/>
              </p:ext>
            </p:extLst>
          </p:nvPr>
        </p:nvGraphicFramePr>
        <p:xfrm>
          <a:off x="1028700" y="4929519"/>
          <a:ext cx="7391400" cy="1857375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kind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Tripod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Saw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2B9860D-15F9-9319-A567-F03C747926BE}"/>
              </a:ext>
            </a:extLst>
          </p:cNvPr>
          <p:cNvSpPr txBox="1">
            <a:spLocks/>
          </p:cNvSpPr>
          <p:nvPr/>
        </p:nvSpPr>
        <p:spPr bwMode="auto">
          <a:xfrm>
            <a:off x="213732" y="398145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kern="0" dirty="0">
                <a:solidFill>
                  <a:srgbClr val="3333CC"/>
                </a:solidFill>
              </a:rPr>
              <a:t>Gear</a:t>
            </a:r>
          </a:p>
        </p:txBody>
      </p:sp>
    </p:spTree>
    <p:extLst>
      <p:ext uri="{BB962C8B-B14F-4D97-AF65-F5344CB8AC3E}">
        <p14:creationId xmlns:p14="http://schemas.microsoft.com/office/powerpoint/2010/main" val="77973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BDD237D-EE84-4AA5-B56D-A9C3A27D682F}"/>
              </a:ext>
            </a:extLst>
          </p:cNvPr>
          <p:cNvSpPr>
            <a:spLocks noGrp="1"/>
          </p:cNvSpPr>
          <p:nvPr/>
        </p:nvSpPr>
        <p:spPr>
          <a:xfrm>
            <a:off x="876300" y="1143000"/>
            <a:ext cx="7391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</a:t>
            </a:r>
            <a:r>
              <a:rPr lang="en-US" sz="19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(hid, mid, gid, day)</a:t>
            </a:r>
            <a:endParaRPr sz="195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876300" y="1476375"/>
          <a:ext cx="7391400" cy="3714750"/>
        </p:xfrm>
        <a:graphic>
          <a:graphicData uri="http://schemas.openxmlformats.org/drawingml/2006/table">
            <a:tbl>
              <a:tblPr/>
              <a:tblGrid>
                <a:gridCol w="134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9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day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108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2026-09-03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CC"/>
                </a:solidFill>
              </a:rPr>
              <a:t>Hires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755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CC457BE-07E8-4CA4-9F61-CA3C22133619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17191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chooses output columns.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identifies source tables.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keeps rows whose condition is TRUE.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1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 result is a set of records and contains </a:t>
            </a:r>
            <a:r>
              <a:rPr lang="en-US" altLang="zh-CN" sz="21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duplicates by default.</a:t>
            </a:r>
            <a:r>
              <a:rPr lang="en-US" sz="21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altLang="zh-CN" sz="21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DISTINCT checks the output rows and eliminate duplicates.</a:t>
            </a: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SELECT and DISTINCT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9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BCF506F-C0CB-46C2-AED5-A7F3204F2BE3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Projection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4129CDA-CB51-46E7-A060-56462EA5E0FD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46B1585B-95CD-4FDD-A85B-B9392FC159F7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each member ID and name. Keep the two people called Alex.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966B5DB2-46ED-48F8-9779-AFCF82C00389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72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C4D3BD0-A0E6-46B9-944D-C16793200A86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Projection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FC99941D-C2FE-42AD-939C-BE5ABB07C3EC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4048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 FROM Member;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6C71F63-4EE9-47B8-8309-59AFD78038EF}"/>
              </a:ext>
            </a:extLst>
          </p:cNvPr>
          <p:cNvSpPr>
            <a:spLocks noGrp="1"/>
          </p:cNvSpPr>
          <p:nvPr/>
        </p:nvSpPr>
        <p:spPr>
          <a:xfrm>
            <a:off x="952500" y="192881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262188"/>
          <a:ext cx="7239000" cy="210693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8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75E2D8F-B44D-436E-A149-179C9C9B5541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Duplicates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61F523E-0B21-499F-97C8-B67ECD8B1CFF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3B52A1B-3BEA-41B3-871F-632FE61EB5A6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Predict </a:t>
            </a:r>
            <a:r>
              <a:rPr lang="en-US"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results of </a:t>
            </a: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SELECT home and SELECT DISTINCT home. How many rows does each return?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506F5468-00CD-47C8-BBA6-833CAC38D142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252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D4351B1-4D82-4DE4-A9AD-25E29E312BB4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Duplicates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5F92082D-308F-403E-98A1-E728298F0344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4048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home FROM Member;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9D5ADCA-1196-41BF-81A2-AA61698DBCAC}"/>
              </a:ext>
            </a:extLst>
          </p:cNvPr>
          <p:cNvSpPr>
            <a:spLocks noGrp="1"/>
          </p:cNvSpPr>
          <p:nvPr/>
        </p:nvSpPr>
        <p:spPr>
          <a:xfrm>
            <a:off x="952500" y="192881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2262188"/>
          <a:ext cx="7239000" cy="210693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44ED28B8-D0C1-4F68-A141-851096575E8D}"/>
              </a:ext>
            </a:extLst>
          </p:cNvPr>
          <p:cNvSpPr>
            <a:spLocks noGrp="1"/>
          </p:cNvSpPr>
          <p:nvPr/>
        </p:nvSpPr>
        <p:spPr>
          <a:xfrm>
            <a:off x="781050" y="440531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default retains one result row per member. North occurs three times.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763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0167092-569A-41DE-9D34-B7280BD6C9B7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Duplicates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FE7C4E85-A68A-46CC-A07C-48B40EE47C11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4048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DISTINCT home FROM Member;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274B0C1-F1F8-4192-A3EC-BBDC04F4638C}"/>
              </a:ext>
            </a:extLst>
          </p:cNvPr>
          <p:cNvSpPr>
            <a:spLocks noGrp="1"/>
          </p:cNvSpPr>
          <p:nvPr/>
        </p:nvSpPr>
        <p:spPr>
          <a:xfrm>
            <a:off x="952500" y="192881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2262188"/>
          <a:ext cx="7239000" cy="120396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EC5BE31-BAE7-442E-9AD2-C5EF12834F1A}"/>
              </a:ext>
            </a:extLst>
          </p:cNvPr>
          <p:cNvSpPr>
            <a:spLocks noGrp="1"/>
          </p:cNvSpPr>
          <p:nvPr/>
        </p:nvSpPr>
        <p:spPr>
          <a:xfrm>
            <a:off x="781050" y="35480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DISTINCT reduces six values to three different homes.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158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3469CF6-4A71-448B-913F-C216CD695F70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requires both conditions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to be true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 requires at least one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condition to be true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Parentheses make the intended grouping explicit.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62E0BAB-6924-410D-BACF-8392AFD79B85}"/>
              </a:ext>
            </a:extLst>
          </p:cNvPr>
          <p:cNvSpPr>
            <a:spLocks noGrp="1"/>
          </p:cNvSpPr>
          <p:nvPr/>
        </p:nvSpPr>
        <p:spPr>
          <a:xfrm>
            <a:off x="740162" y="235505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single quotes for text. Double an internal quote: '</a:t>
            </a:r>
            <a:r>
              <a:rPr sz="2175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Mia''s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kit'.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28B0281-6888-4158-8C2D-C5CD38363118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comparison involving NULL is normally UNKNOWN. WHERE keeps only TRUE, so use IS NULL 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rather </a:t>
            </a:r>
            <a:r>
              <a:rPr lang="en-US" sz="21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than FALSE 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missing values.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WHERE and String Literals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066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0AF7A8E-2D38-4207-9CD0-FFA4E9D6EC12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AND and OR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D6347AA-78D8-43C8-A985-CA1847DDCD62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F777B960-9777-4ADE-B7D7-8F896032B4A0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from North or South whose level is at least 3. Return mid and name.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3E744024-292A-4858-A33F-DD6C338C3293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064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A0C61A3-7AB7-4826-A546-3A2050E9EA0C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AND and OR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97B926A8-FC1F-4D28-8F5C-2E7CF869A587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(home = 'North' OR home = 'South')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AND level &gt;= 3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E5F7297-3670-463D-81B9-42FEDB03D067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0" cy="120396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491C81BC-CC12-48BF-8F48-D257595C8FDC}"/>
              </a:ext>
            </a:extLst>
          </p:cNvPr>
          <p:cNvSpPr>
            <a:spLocks noGrp="1"/>
          </p:cNvSpPr>
          <p:nvPr/>
        </p:nvSpPr>
        <p:spPr>
          <a:xfrm>
            <a:off x="781050" y="47101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First select North/South members, then apply level &gt;= 3.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7F784D0-9B57-4034-8A22-02008721B7E1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Without parentheses, AND binds first and would also admit member 3.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497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8C0E958-1075-4D35-80EB-21A48A1A49C8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Escaping a quote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8C3897E-414B-4802-9D1F-ADAD1FBF99CF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Label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1874520"/>
        </p:xfrm>
        <a:graphic>
          <a:graphicData uri="http://schemas.openxmlformats.org/drawingml/2006/table">
            <a:tbl>
              <a:tblPr/>
              <a:tblGrid>
                <a:gridCol w="22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1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BULB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Mia's kit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E5315A05-B50C-4D9D-9117-A5597D8296A7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the row whose label is Mia's kit. Write a valid string literal.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83AA77C-08F0-47AE-8875-9EBA9359A3D1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78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7EDBC1E-3876-4779-9DED-1B9E5A9947F9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Escaping a quote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3E1D9E5-3247-4C5E-A358-E43BC34E3F0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pid, label FROM Label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label = 'Mia''s kit';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E9D015F-9FA6-4C95-9ABB-AB56D10E014F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552700"/>
          <a:ext cx="7239000" cy="601980"/>
        </p:xfrm>
        <a:graphic>
          <a:graphicData uri="http://schemas.openxmlformats.org/drawingml/2006/table">
            <a:tbl>
              <a:tblPr/>
              <a:tblGrid>
                <a:gridCol w="22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1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Mia's kit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FEF50C69-CF19-41A5-9F6E-193A196DCF5E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two adjacent single quotes represent one apostrophe in the stored text.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2482C79-D18D-43DF-B085-2519C925BBD6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value remains Mia's kit, with one apostrophe.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877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0F694C3-F259-412E-823E-9C0E9ADD14B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expression computes a value for each row.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 names the result column.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23C13DB-3FAB-461A-9185-846BCEC70415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quoted constant can appear in every output row.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column alias does not rename the stored column.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A4C3278D-5BE5-4B0E-97E5-5C6344BFFD2C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LIKE, _ matches exactly one character and % matches zero or more characters.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2471FA4-BE72-4A1A-AA68-065B96E66770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Case sensitivity depends on the database and collation. Our pattern examples use uppercase labels.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Expressions, AS and LIKE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1705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420188F-03BF-452B-BC69-710E59D1BE29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Computed columns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5CFC6A7-F695-4D81-B22D-DE9C26DC187C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1562100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kind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Tripod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Saw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F75141E9-AA1C-4203-86D1-F7ED1255C061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For Media gear, return item, fee * 3 AS total and the constant Rental AS </a:t>
            </a:r>
            <a:r>
              <a:rPr lang="en-US"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purpose</a:t>
            </a:r>
            <a:r>
              <a:rPr lang="en-US"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column</a:t>
            </a: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9AFA18E2-40F6-475B-B04C-068C7E1AC7A1}"/>
              </a:ext>
            </a:extLst>
          </p:cNvPr>
          <p:cNvSpPr>
            <a:spLocks noGrp="1"/>
          </p:cNvSpPr>
          <p:nvPr/>
        </p:nvSpPr>
        <p:spPr>
          <a:xfrm>
            <a:off x="809625" y="59626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436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A168FFF-7D6D-479F-B7CF-87522672C1FD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Computed columns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69CF123-7595-4551-AE74-D4649E26829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item, fee * 3 AS total, 'Rental' AS purpose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Gear WHERE kind = 'Media'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891BE0A-A962-4C60-A593-B72E5224F28B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0" cy="90297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Rental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Tripod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Rental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EED9649-6642-43F6-A642-522F69465491}"/>
              </a:ext>
            </a:extLst>
          </p:cNvPr>
          <p:cNvSpPr>
            <a:spLocks noGrp="1"/>
          </p:cNvSpPr>
          <p:nvPr/>
        </p:nvSpPr>
        <p:spPr>
          <a:xfrm>
            <a:off x="781050" y="384333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 the multiplication separately for each gear row.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955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477413B-A433-4F4B-ABC4-C7EB90D89779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LIKE patterns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E22F149-E932-4258-9090-B849FF71DBCE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Label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1874520"/>
        </p:xfrm>
        <a:graphic>
          <a:graphicData uri="http://schemas.openxmlformats.org/drawingml/2006/table">
            <a:tbl>
              <a:tblPr/>
              <a:tblGrid>
                <a:gridCol w="22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1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BULB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Mia's kit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9466BA61-6CDF-450F-B241-EB7B9B6FE4A7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Which labels match LIKE 'B_%B'? Explain whether BB matches.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F286B42-8C66-4E07-9DA0-F8BBFA39F1E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27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F35D018-451D-49D2-8A74-2DD99D0C6098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LIKE patterns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E8E25EE5-7F7B-4ED3-B1EF-E950BB8E326C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pid, label FROM Label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label LIKE 'B_%B' ORDER BY pid;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41988AA-BFF1-4E83-9243-31B1C06D47AD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552700"/>
          <a:ext cx="7239000" cy="902970"/>
        </p:xfrm>
        <a:graphic>
          <a:graphicData uri="http://schemas.openxmlformats.org/drawingml/2006/table">
            <a:tbl>
              <a:tblPr/>
              <a:tblGrid>
                <a:gridCol w="32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1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label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BULB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546CED9-A811-43AA-8C2A-395D6F1982EE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first and last B are literal characters. _ requires a character between them.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E08A184-4048-49B5-924E-259B43916AB0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BOB and BULB match. BB has only two characters. % may match zero characters.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702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3823FD6-C282-45E1-BE86-26429464D916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determines display order.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ASC means ascending and is the default.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DESC means descending.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CA6B8A3-F7E0-41B9-8A39-A383A66D2390}"/>
              </a:ext>
            </a:extLst>
          </p:cNvPr>
          <p:cNvSpPr>
            <a:spLocks noGrp="1"/>
          </p:cNvSpPr>
          <p:nvPr/>
        </p:nvSpPr>
        <p:spPr>
          <a:xfrm>
            <a:off x="781050" y="235505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Multiple keys apply left to right. A unique final key resolves ties.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F9AF80C-ED15-4427-9263-9B07616B20E5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Sorting changes row order. It does not remove duplicates or change the stored table.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ORDER BY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306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A306CB2-1436-403D-97F6-39316B451354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Sorting ties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6076C97-427D-443F-8F93-3BE12B82D3FE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1139AE1-0C3E-4AB7-9EDB-A1044B7BBDC4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mid, name and level, ordered by level descending, then mid ascending.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E8807B6-25C2-4D06-88FD-3AEA6694E11D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2176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920F037-8C56-466C-B512-230E126DEB1E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Sorting ties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FBE53CBF-4D13-48D8-8F9C-B0C317A79143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name, level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level DESC, mid ASC;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7085A1B-94BF-4A05-ACDD-4AC95A1CD7E7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1" cy="2106930"/>
        </p:xfrm>
        <a:graphic>
          <a:graphicData uri="http://schemas.openxmlformats.org/drawingml/2006/table">
            <a:tbl>
              <a:tblPr/>
              <a:tblGrid>
                <a:gridCol w="22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6FF88680-465A-400A-A689-BDDE7441FC8F}"/>
              </a:ext>
            </a:extLst>
          </p:cNvPr>
          <p:cNvSpPr>
            <a:spLocks noGrp="1"/>
          </p:cNvSpPr>
          <p:nvPr/>
        </p:nvSpPr>
        <p:spPr>
          <a:xfrm>
            <a:off x="781050" y="498633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Level 4 gives members 2 and 4. Level 3 gives 1 and 6.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3402950-10C0-4F1F-B5DC-9BB88413FE7A}"/>
              </a:ext>
            </a:extLst>
          </p:cNvPr>
          <p:cNvSpPr>
            <a:spLocks noGrp="1"/>
          </p:cNvSpPr>
          <p:nvPr/>
        </p:nvSpPr>
        <p:spPr>
          <a:xfrm>
            <a:off x="781050" y="54864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second key determines order within each tied level.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8824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B81A442-B825-464B-87C3-BDDF849C4862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tables without a join condition produce every possible row pair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(i.e., product)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0673BED-76C8-4A72-AE6F-9227E17554FB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inner join keeps matching pairs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on the join condition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One member can match several hires.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0C709021-456B-446B-BD3C-11EE7968D50F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Distinguish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shared column names with table aliases. Join primary keys to the intended foreign keys.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FROM and INNER JOIN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0069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DB142F6-0C33-431D-8092-E966F80C9733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Missing join condition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3A39D80-3C54-4ACD-8795-48C61766F7FA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7185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h.hid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m, Hire AS h;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37B602F-CCCE-4446-A638-5C6DB4387442}"/>
              </a:ext>
            </a:extLst>
          </p:cNvPr>
          <p:cNvSpPr>
            <a:spLocks noGrp="1"/>
          </p:cNvSpPr>
          <p:nvPr/>
        </p:nvSpPr>
        <p:spPr>
          <a:xfrm>
            <a:off x="781050" y="2290191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Member has 6 rows and Hire has 9 rows. How many rows does this query return? Repair the missing condition.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2A921F3-A323-4DFE-9F50-55EA5D2BF918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3602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76547CC-7994-49B7-AB4D-C57A45B6FF99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Missing join condition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9BA178D0-C6BD-42C6-8C96-A44D025D7A64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h.hid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 JOIN Hire AS h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ON m.mid = h.mid;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E9D1148-AF0C-4D21-880C-C73B30F30ABD}"/>
              </a:ext>
            </a:extLst>
          </p:cNvPr>
          <p:cNvSpPr>
            <a:spLocks noGrp="1"/>
          </p:cNvSpPr>
          <p:nvPr/>
        </p:nvSpPr>
        <p:spPr>
          <a:xfrm>
            <a:off x="781050" y="250983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Every member pairs with every hire: 6 × 9 = 54 rows.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32701CA-5135-4227-A902-7DAA08D4A17E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Add m.mid = h.mid to associate each hire with its actual member.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CB10328-304B-4808-AF66-DDAC34D3C378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All nine hires have a matching member, so the repaired query returns 9 rows.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6006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13258A2-6117-4858-922B-2DCE6DAC7ACE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two-table 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F2BD7A0-9674-4B77-9184-D7D34DD8C0AF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28956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108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826791ED-4E95-4590-A293-F1947799D044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2026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A53ACC9D-174B-469A-ADD1-4F7BD636F3B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hire IDs and member names for hires of gear 10.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4B1655F3-ACE9-4747-97F5-6E3F8E461899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2198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C912F39-9432-4BD9-8FBB-DE3150A0775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two-table join</a:t>
            </a:r>
            <a:r>
              <a:rPr lang="en-US" sz="2175" b="0" dirty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 with filter</a:t>
            </a:r>
            <a:endParaRPr sz="2175" b="0" dirty="0">
              <a:solidFill>
                <a:srgbClr val="3333C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A6FE25B-4C84-4B97-BAF0-E7B73F70577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h.hid, m.name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 JOIN Hire AS h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ON m.mid = h.mid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h.gid = 10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h.hid;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190D162-22AE-4AA7-9201-9306FAE6BCFA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0" cy="15049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0AACFEBF-75F9-4085-9C8B-877BAE7D61D8}"/>
              </a:ext>
            </a:extLst>
          </p:cNvPr>
          <p:cNvSpPr>
            <a:spLocks noGrp="1"/>
          </p:cNvSpPr>
          <p:nvPr/>
        </p:nvSpPr>
        <p:spPr>
          <a:xfrm>
            <a:off x="781050" y="49958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Match each hire to its member, then keep gid = 10.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CBAD0FB-3C1E-4963-AB8A-9F92ADAF4316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Alex appears twice because member 1 hired gear 10 twice.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3381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4E56E0C-21BB-466A-BED0-3D961B1FD86B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three-table 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39C88F1-8CCA-4E1F-B5FD-D9BD171F1487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Member(mid, name, home, level)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6288084-9028-4A31-8365-4B6A7131C070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Gear(gid, item, kind, home, fee)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63CE6523-3087-4844-BE4E-4AE791632A05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Hire(hid, mid, gid, day)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00B1122-C6EE-4D3B-A753-5B03E37026B9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shared data on slides </a:t>
            </a:r>
            <a:r>
              <a:rPr lang="en-US"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</a:t>
            </a:r>
            <a:r>
              <a:rPr lang="en-US"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Member.mid and </a:t>
            </a:r>
            <a:r>
              <a:rPr sz="195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Gear.gid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primary keys.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22B768E-C016-4574-B122-16CD958C7011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each member who hired Media gear. Return distinct mid and name.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1E52D288-6D17-41AA-ABEB-F10CE250935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0999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723E01A-20C5-47F2-9A12-46074097C2B9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three-table join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A039FE69-5870-4632-949F-7EB467C924F3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DISTINCT m.mid, m.name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 Hire AS h ON m.mid = h.mid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 Gear AS g ON h.gid = g.gid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g.kind = 'Media'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C9270D3-6F98-423D-B5AA-4D583A45D59F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3714750"/>
          <a:ext cx="7239000" cy="15049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BE04F99-FF6B-48E9-8572-9AD87AB8087A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DISTINCT applies to (mid, name), preserving both members called Alex.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Solutions: </a:t>
            </a:r>
            <a:r>
              <a:rPr lang="en-US" dirty="0">
                <a:solidFill>
                  <a:srgbClr val="3333CC"/>
                </a:solidFill>
              </a:rPr>
              <a:t>Q10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277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A38D5C6-7F48-49D2-A826-C27C0635AE42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NATURAL JOIN equates every shared column name and retains one copy of each shared column.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9029767-536F-404F-BA37-B7E6F102613A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Careful for attribute name with the same name but different meanings: </a:t>
            </a:r>
            <a:r>
              <a:rPr sz="2175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Member.home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means a person’s home. </a:t>
            </a:r>
            <a:r>
              <a:rPr sz="2175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Gear.home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means the storage location. Equating them changes the question.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3708ECE-ABAC-4A72-85DD-C44DEDDA0DE9}"/>
              </a:ext>
            </a:extLst>
          </p:cNvPr>
          <p:cNvSpPr>
            <a:spLocks noGrp="1"/>
          </p:cNvSpPr>
          <p:nvPr/>
        </p:nvSpPr>
        <p:spPr>
          <a:xfrm>
            <a:off x="685800" y="3247095"/>
            <a:ext cx="7581900" cy="11120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self-join uses two aliases for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two copies for the same row from 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table. The condition a.mid &lt; b.mid removes self-pairs and reversed pairs.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NATURAL JOIN and Self-joins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4235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AF16196-DE52-4BE5-9202-77E683AEFE65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 unintended natural 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2A0707E-3FC2-4988-877D-F28A084E984E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Member(mid, name, home, level)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95EEFC2-8854-48BC-B46B-69657E48C4F7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Gear(gid, item, kind, home, fee)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88FF375-0302-4498-B91A-1C5D9FC15728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Hire(hid, mid, gid, day)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392245A-F759-4034-B9CB-8A55602E520D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shared data on slides </a:t>
            </a:r>
            <a:r>
              <a:rPr lang="en-US"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2-3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Member.mid and </a:t>
            </a:r>
            <a:r>
              <a:rPr sz="195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Gear.gid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primary keys.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F7357C5-7278-4617-9F4E-B70717280C34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7581900" cy="719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every (mid, gid) hire pair. Why does the query below lose valid hires?</a:t>
            </a:r>
          </a:p>
        </p:txBody>
      </p:sp>
      <p:sp>
        <p:nvSpPr>
          <p:cNvPr id="9" name="sql">
            <a:extLst>
              <a:ext uri="{FF2B5EF4-FFF2-40B4-BE49-F238E27FC236}">
                <a16:creationId xmlns:a16="http://schemas.microsoft.com/office/drawing/2014/main" id="{85F88995-8FC9-4B5F-AA1A-54E27A0E8AD6}"/>
              </a:ext>
            </a:extLst>
          </p:cNvPr>
          <p:cNvSpPr>
            <a:spLocks noGrp="1"/>
          </p:cNvSpPr>
          <p:nvPr/>
        </p:nvSpPr>
        <p:spPr>
          <a:xfrm>
            <a:off x="781050" y="4776788"/>
            <a:ext cx="7667625" cy="6720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DISTINCT mid, gid</a:t>
            </a:r>
          </a:p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NATURAL JOIN Hire NATURAL JOIN Gear;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56E05459-7865-4FEF-95F6-952241103038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4482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58D03AC-0FF3-4C63-ACD5-61687AFDF232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 unintended natural join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7552318-63BE-4DDD-A6A8-8CDF0170F5D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DISTINCT mid, gid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NATURAL JOIN Hire NATURAL JOIN Gear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mid, gid;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A8AD988-236D-4FD4-A64D-9A1E30FA00E8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0" cy="15049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982AA7B-44E9-4ED6-B7DC-3E116379BB41}"/>
              </a:ext>
            </a:extLst>
          </p:cNvPr>
          <p:cNvSpPr>
            <a:spLocks noGrp="1"/>
          </p:cNvSpPr>
          <p:nvPr/>
        </p:nvSpPr>
        <p:spPr>
          <a:xfrm>
            <a:off x="781050" y="441483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 and Gear share home, so the natural join also requires equal home values.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66BDF0D-9C1C-4948-8F8E-5EBDA96318A7}"/>
              </a:ext>
            </a:extLst>
          </p:cNvPr>
          <p:cNvSpPr>
            <a:spLocks noGrp="1"/>
          </p:cNvSpPr>
          <p:nvPr/>
        </p:nvSpPr>
        <p:spPr>
          <a:xfrm>
            <a:off x="781050" y="52244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 keeps only four distinct pairs. The intended join has eight.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Q11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5969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C940D96-D282-4FCD-9DFC-2EE6B2312BFF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 unintended natural join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B787200-2CF9-4716-BA00-F10BDF918D96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DISTINCT m.mid, h.gid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 Hire AS h ON m.mid = h.mid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 Gear AS g ON h.gid = g.gid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m.mid, h.gid;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2553718-B4CF-4F74-A645-2E0734F352A5}"/>
              </a:ext>
            </a:extLst>
          </p:cNvPr>
          <p:cNvSpPr>
            <a:spLocks noGrp="1"/>
          </p:cNvSpPr>
          <p:nvPr/>
        </p:nvSpPr>
        <p:spPr>
          <a:xfrm>
            <a:off x="781050" y="30908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explicit conditions match only the intended keys.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Q11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2944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6B0B45F-6540-4EFC-B495-7A11DDA8C972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 unintended natural 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B249AD3-F881-428E-96BF-A16E3434A663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52500" y="1762125"/>
          <a:ext cx="7239000" cy="270891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5B1961AC-897E-4DA5-8445-668AFD095387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 1 can hire the Camera even though their home differs from its storage location.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Q11 (2) Result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4865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DF36D32-271A-4846-BE65-F2818C84FB9E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self-join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81E4650-AAA7-43F1-AA03-4D2369BD57FE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31EE6E5B-EBBC-4A1F-9AB0-65903F1F6159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unordered pairs of different members with the same home. Return their two IDs once per pair.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607F93E-E4E9-4D5E-A582-CED6D15BF85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3001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E8AB9EB-D5B0-44CB-86C3-54782AA675C6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self-join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5A51E8F-2E50-463C-AA7A-67A187DA1C0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a.mid AS first_id, b.mid AS second_id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a JOIN Member AS b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ON a.home = b.home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a.mid &lt; b.mid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a.mid, b.mid;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5FE5323-FFE8-448B-8F68-EA030FA74A2C}"/>
              </a:ext>
            </a:extLst>
          </p:cNvPr>
          <p:cNvSpPr>
            <a:spLocks noGrp="1"/>
          </p:cNvSpPr>
          <p:nvPr/>
        </p:nvSpPr>
        <p:spPr>
          <a:xfrm>
            <a:off x="781050" y="30908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a.mid &lt; b.mid excludes (x,x) and keeps one orientation of each pair.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248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8CB16C0-EE38-40DC-BBC4-5AFE8BB18227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self-join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98F0C52-2AAF-4FE2-904A-1B5E49C46BFB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52500" y="1762125"/>
          <a:ext cx="7239000" cy="1504950"/>
        </p:xfrm>
        <a:graphic>
          <a:graphicData uri="http://schemas.openxmlformats.org/drawingml/2006/table">
            <a:tbl>
              <a:tblPr/>
              <a:tblGrid>
                <a:gridCol w="340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first_id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second_id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7B1C0D9-AE83-4855-BCAE-7040196819DE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IDs rather than names so the two Alex members can still form a pair.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Q12 Result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3140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9EB06F9-6C13-4AEE-9CAE-2922D07EF0AC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 combines distinct rows. </a:t>
            </a:r>
            <a:endParaRPr lang="en-US"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 ALL preserves every occurrence.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6630C1-60B3-4F93-9FB9-12BCCA5D67ED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INTERSECT returns rows present in both inputs. EXCEPT returns left-side rows absent from the right.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71EE22F-BF63-4A48-A664-A309C60EBF05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Inputs need the same number of columns and compatible corresponding types. Align column meanings too.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F323719-64AB-416C-BF2E-43DD981FE1EA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INTERSECT ALL and EXCEPT ALL depend on the dialect. SQLite supports only the distinct forms.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UNION, INTERSECT and EXCEPT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1556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A69427A-0D66-4461-9452-A9676F3EDD6A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UNION versus UNION ALL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75CB56E-42D2-4735-A2B9-7ABA42A61EB3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VisitA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1447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C7BE4D1D-93B0-44E2-B6A7-375ADCD77548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VisitB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1447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756F4CD3-55B2-4FEC-9416-613BC3851113}"/>
              </a:ext>
            </a:extLst>
          </p:cNvPr>
          <p:cNvSpPr>
            <a:spLocks noGrp="1"/>
          </p:cNvSpPr>
          <p:nvPr/>
        </p:nvSpPr>
        <p:spPr>
          <a:xfrm>
            <a:off x="781050" y="3343275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Combine both attendance lists. Predict the output multiplicities with UNION and UNION ALL.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FC77B92E-C816-4088-AFEC-9AACBF4E683C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0754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97783DF-5DDF-47B0-9E96-BB35861F859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UNION versus UNION ALL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D60E5B7-6A8A-4983-8B6D-83BF9BFDED66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VisitA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8BEB7B5-C30E-4541-A0D7-6EE872FFE2E2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3133725"/>
          <a:ext cx="7239000" cy="150495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DEFD937-ECE5-4B9E-8A5D-FA9F504F93C5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 compares whole rows and keeps each member once.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Q13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1282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6EAA546E-EA06-481F-AA2C-2B39E07DBB84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UNION versus UNION ALL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498922D4-5331-4B3A-A71F-640871555E31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VisitA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 ALL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784A4CE-3960-4F89-9242-D7E9EB8193BD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 ALL adds multiplicities: 1 occurs twice, 2 twice, 3 once and 4 three times.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Q13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3409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4A836C8-828D-4555-8DC6-304ACD052AE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UNION versus UNION ALL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CB2C842-3585-46C1-B76D-07F4722C8EF5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952500" y="1762125"/>
          <a:ext cx="7239000" cy="270891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Q13 (2) Result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6971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E5CB8D5-0B3C-453C-ABDD-750CF4D241AA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Intersection and difference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E20D485-8F2D-461B-9B83-4D282D41CF5A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VisitA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1447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B634FBC-A07F-4AA7-B857-24D91A8A8F38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VisitB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14478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3FB2D046-3E87-4BDA-BA86-1ACEB14FC716}"/>
              </a:ext>
            </a:extLst>
          </p:cNvPr>
          <p:cNvSpPr>
            <a:spLocks noGrp="1"/>
          </p:cNvSpPr>
          <p:nvPr/>
        </p:nvSpPr>
        <p:spPr>
          <a:xfrm>
            <a:off x="781050" y="3343275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IDs in both lists, then IDs in A but not B. Does reversing EXCEPT matter?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C525ECD1-3B08-4DD7-A9C9-F273298CCD0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9961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52FF5C0-6D27-4F68-B021-9E9AA04616D7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Intersection and difference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B562C20-E5CA-4A9E-881C-B4F478529ED7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VisitA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INTERSECT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BE60B66-6FE6-415A-B32E-9C509A63A787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3133725"/>
          <a:ext cx="7239000" cy="90297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4B2F4E36-7429-4EB7-9011-1A14721BD4A8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Shared IDs are 2 and 4. Duplicate occurrences collapse.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Q14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703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418D111-8D64-46AF-BB65-A79EC7428BA8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Intersection and difference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1E77F7D9-7F15-479D-B072-7E8BCF09F642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VisitA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EXCEPT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0B91BF5-DDAD-4E99-BB4E-1B29058E5889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2843213"/>
          <a:ext cx="7239000" cy="60198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2B02620A-AF74-4116-A266-1BC1BC801F71}"/>
              </a:ext>
            </a:extLst>
          </p:cNvPr>
          <p:cNvSpPr>
            <a:spLocks noGrp="1"/>
          </p:cNvSpPr>
          <p:nvPr/>
        </p:nvSpPr>
        <p:spPr>
          <a:xfrm>
            <a:off x="781050" y="355758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EXCEPT B returns 1. Reversing the operands returns 3.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Q14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6833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C772AFE-9631-48EF-8C2D-712A4797C0CA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Set compatibility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6A5FCEE8-6E0D-4B55-9DF2-34162F7F3D1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0206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'A' AS source FROM VisitA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DCCC24D-7D0B-45DB-9C53-F1863C61C240}"/>
              </a:ext>
            </a:extLst>
          </p:cNvPr>
          <p:cNvSpPr>
            <a:spLocks noGrp="1"/>
          </p:cNvSpPr>
          <p:nvPr/>
        </p:nvSpPr>
        <p:spPr>
          <a:xfrm>
            <a:off x="781050" y="2592324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Explain the error in this query. Rewrite it to return member IDs found in either list.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0609E51-B819-4143-9115-7E59AC9E8DC3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8922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A75F6C6-85A8-4909-824B-DAD545E4F4CF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Set compatibility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546955A7-1F73-4D81-86B7-8D0C608FC6F8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VisitA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UNION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VisitB;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DD263B2-E798-4848-9E64-7D1680178BBC}"/>
              </a:ext>
            </a:extLst>
          </p:cNvPr>
          <p:cNvSpPr>
            <a:spLocks noGrp="1"/>
          </p:cNvSpPr>
          <p:nvPr/>
        </p:nvSpPr>
        <p:spPr>
          <a:xfrm>
            <a:off x="781050" y="250983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The original left SELECT returns two columns, while the right returns one.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78C001F-9C47-4435-BCAA-574FE7328B68}"/>
              </a:ext>
            </a:extLst>
          </p:cNvPr>
          <p:cNvSpPr>
            <a:spLocks noGrp="1"/>
          </p:cNvSpPr>
          <p:nvPr/>
        </p:nvSpPr>
        <p:spPr>
          <a:xfrm>
            <a:off x="781050" y="33194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UNION requires equal arity. Select mid on both sides.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8F8EA7C-3536-4A51-9C7F-91C172BE54D5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The repaired result is {1, 2, 3, 4}.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331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780BDAC-F249-4105-B44C-89C437E86DD4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COUNT(*) counts rows. COUNT(x) counts non-NULL x values. COUNT(DISTINCT x) counts distinct non-NULL values.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04A8ACD-8FAB-4C2C-8344-7D1840E4DCCA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SUM and AVG use non-NULL numeric values. MIN and MAX also work with other comparable types.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AF79F54-1F80-45DC-8B92-C73FD306B66C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no non-NULL input exists, COUNT(x) returns 0 while SUM, AVG, MIN and MAX return NULL.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B49FD8F-CA2E-433C-9EFB-7FA9E67811C3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AVG(DISTINCT x) gives one vote to each different value, rather than each recorded value.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Aggregate Functions and NULL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88085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61DE2BE-9A39-44A6-9A94-C3C8319B6137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Counting missing values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2070B7E-36B2-4D80-B6EC-2293EA757BAD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DC022E2-8EB5-4FFD-85C2-4E7114681E9F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Predict COUNT(*), COUNT(amount), COUNT(DISTINCT amount), SUM(amount) and AVG(amount).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F8A120A-3615-4160-93DB-02B7CBA5E2FF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014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B367B22-0873-4AAF-AF8F-E07E90BE45E1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Counting missing values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BC5EAB6-5C20-41B8-849F-AFDF15560707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COUNT(*) AS rows_n, COUNT(amount) AS known_n,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COUNT(DISTINCT amount) AS distinct_n,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SUM(amount) AS total, AVG(amount) AS mean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A57131F3-159D-474F-AFEE-D2719474472C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1" cy="601980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rows_n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known_n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distinct_n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mean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729D4A0F-3CF0-484B-9538-DF379A173CBC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Six rows exist, but only four have known amounts: 10, 10, 40, 20.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AA14E45-DF2D-4AC3-9B90-27A5E806DDBE}"/>
              </a:ext>
            </a:extLst>
          </p:cNvPr>
          <p:cNvSpPr>
            <a:spLocks noGrp="1"/>
          </p:cNvSpPr>
          <p:nvPr/>
        </p:nvSpPr>
        <p:spPr>
          <a:xfrm>
            <a:off x="781050" y="465772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sum is 80. AVG divides by 4, not 6.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71890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643A47F3-48B6-42B9-A47B-CCB3CBBB87AD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AVG and AVG(DISTINCT)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50A965A-A03E-433C-9694-33941E5DA8CB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D4EC193-0767-4A53-9745-BDD988E328F9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lang="en-US" sz="21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C</a:t>
            </a:r>
            <a:r>
              <a:rPr sz="2100" b="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ompare AVG(amount) and AVG(DISTINCT amount). Predict SUM and COUNT(amount) for West.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BCD3EFA-7765-490B-9536-4890902DCE55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64257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F215462-8587-47BE-AE65-B603A9A65C9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AVG and AVG(DISTINCT)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E6A85EC9-A225-4FBA-A30B-CB6904C5773D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AVG(amount) AS mean,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AVG(DISTINCT amount) AS distinct_mean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 WHERE shop = 'North';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07BC7C6D-7D1A-436B-95E3-ADA1912109D9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0" cy="601980"/>
        </p:xfrm>
        <a:graphic>
          <a:graphicData uri="http://schemas.openxmlformats.org/drawingml/2006/table">
            <a:tbl>
              <a:tblPr/>
              <a:tblGrid>
                <a:gridCol w="1703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5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mean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distinct_mean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596A435-9F80-4EB5-94BF-7747A51DCB81}"/>
              </a:ext>
            </a:extLst>
          </p:cNvPr>
          <p:cNvSpPr>
            <a:spLocks noGrp="1"/>
          </p:cNvSpPr>
          <p:nvPr/>
        </p:nvSpPr>
        <p:spPr>
          <a:xfrm>
            <a:off x="781050" y="355758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Ordinary mean = (10 + 10 + 40) / 3 = 20.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9689377-33E2-4334-A728-1E4C23383036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Distinct mean = (10 + 40) / 2 = 25. West has SUM = NULL and COUNT(amount) = 0.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31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F140583-7BA2-4791-97B6-ECD74C5E4E3E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partitions the filtered rows. Aggregates produce one result per group.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955BE94-DB8D-47E0-8969-B2BA105E7FE0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filters input rows before grouping. HAVING filters groups using group-level conditions.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48DBB824-FD58-4484-AC1B-69B5C4617A21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introductory SQL, group every selected non-aggregate column.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96DCD8C-1C34-46F2-8168-DAD2442C2445}"/>
              </a:ext>
            </a:extLst>
          </p:cNvPr>
          <p:cNvSpPr>
            <a:spLocks noGrp="1"/>
          </p:cNvSpPr>
          <p:nvPr/>
        </p:nvSpPr>
        <p:spPr>
          <a:xfrm>
            <a:off x="781050" y="3563164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Logical order: FROM/JOIN, WHERE, GROUP BY, HAVING, SELECT/DISTINCT, ORDER BY.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GROUP BY and HAVING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294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62D86FE3-B341-46D1-8727-CD043F5314E5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One result per group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0F95B06-1F26-47B2-9604-25D9E51E4B41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43D1BC7-2765-4AD8-9791-9D8CC5DC17DD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For each shop, return its row count, known amount count and average amount.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7875DF40-73CD-4D5A-9C8A-CACF1F53ED7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00494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E677262-B970-4888-9BFC-D036137CEB74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One result per group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EA51A6FB-34FC-4806-9072-4DA80AF9DB1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shop, COUNT(*) AS rows_n,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COUNT(amount) AS known_n, AVG(amount) AS mean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shop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shop;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F247605-789A-4D30-AEA8-E82665EC3B5F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0" cy="1203960"/>
        </p:xfrm>
        <a:graphic>
          <a:graphicData uri="http://schemas.openxmlformats.org/drawingml/2006/table">
            <a:tbl>
              <a:tblPr/>
              <a:tblGrid>
                <a:gridCol w="1645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rows_n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known_n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mean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433523B-458A-403F-AF19-E1CFC17933C5}"/>
              </a:ext>
            </a:extLst>
          </p:cNvPr>
          <p:cNvSpPr>
            <a:spLocks noGrp="1"/>
          </p:cNvSpPr>
          <p:nvPr/>
        </p:nvSpPr>
        <p:spPr>
          <a:xfrm>
            <a:off x="781050" y="471011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South contributes two rows but only one amount, so its mean is 20.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7DCDD75-C877-415A-86B7-F202386A0761}"/>
              </a:ext>
            </a:extLst>
          </p:cNvPr>
          <p:cNvSpPr>
            <a:spLocks noGrp="1"/>
          </p:cNvSpPr>
          <p:nvPr/>
        </p:nvSpPr>
        <p:spPr>
          <a:xfrm>
            <a:off x="781050" y="551973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West is a real group even though its only amount is NULL.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417362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9A27819-7AAD-4038-BF35-785B282A0F96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Filtering groups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7A94534-5F4D-471B-9F3C-AC1636C17B72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0F1916DF-C6E1-4DB3-822F-D07ADABCA00D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shops with at least two known amounts, together with their average amount.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676D7DC8-9957-43E3-ABE2-19612E8A47ED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Q19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58672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F116827-11A9-4FF9-8E72-572AE8FCAF5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Filtering groups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A980577-8E19-4362-A317-7CBE59539E36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shop, AVG(amount) AS mean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shop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HAVING COUNT(amount) &gt;= 2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shop;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C69A2881-079A-4940-A3AA-5A344CE2996D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0" cy="601980"/>
        </p:xfrm>
        <a:graphic>
          <a:graphicData uri="http://schemas.openxmlformats.org/drawingml/2006/table">
            <a:tbl>
              <a:tblPr/>
              <a:tblGrid>
                <a:gridCol w="4021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mean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A1FC2D3A-2665-4DE6-A882-FEDC68619647}"/>
              </a:ext>
            </a:extLst>
          </p:cNvPr>
          <p:cNvSpPr>
            <a:spLocks noGrp="1"/>
          </p:cNvSpPr>
          <p:nvPr/>
        </p:nvSpPr>
        <p:spPr>
          <a:xfrm>
            <a:off x="781050" y="413861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COUNT(amount) ignores NULL. Only North has at least two known amounts.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AE86FD7D-0E58-4864-9C1D-4B5659D7018F}"/>
              </a:ext>
            </a:extLst>
          </p:cNvPr>
          <p:cNvSpPr>
            <a:spLocks noGrp="1"/>
          </p:cNvSpPr>
          <p:nvPr/>
        </p:nvSpPr>
        <p:spPr>
          <a:xfrm>
            <a:off x="781050" y="494823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COUNT(*) &gt;= 2 would also include South and answer a different question.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Q19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39629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E14297C-F5E1-416C-A8C0-03EB119352EB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WHERE versus HAVING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9C6EB2B-AF1A-440E-BA4F-1166E22B74F1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B6B46C6E-4A4C-4C9C-B701-153DD1FB8F52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Keep sales with amount &gt;= 20, then return shops whose remaining sum is &gt;= 30. Show the intermediate rows.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0BCA267F-0F2B-418D-8887-EAC32FD331F5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56283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0F5FC6E-290F-485D-BEFC-EA9FC273AFF8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WHERE versus HAVING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951928D6-C107-4492-B303-18D7E17D5100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sid, shop, amount FROM Sale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amount &gt;= 20 ORDER BY sid;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36BE645-92EA-4A26-8ECE-2C5EB3B3C5D0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2552700"/>
          <a:ext cx="7239000" cy="90297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D1D03BC5-B490-46E5-93BB-7D993E48CBC9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Step 1: WHERE retains North 40 and South 20. NULL does not pass the comparison.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Q20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6741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2528951-8049-4000-A47F-B09C8BF1574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WHERE versus HAVING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8086B7D8-3A33-4706-BC7F-89D4ECF2CEB8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shop, SUM(amount) AS total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 WHERE amount &gt;= 20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shop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HAVING SUM(amount) &gt;= 30;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4AAC637-7FC9-4680-BA6D-451744205DA8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0" cy="60198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62B4515-7300-4A20-A1D7-CAEA66F25006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Step 2: grouped sums are North 40 and South 20.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D553EC5-B1F6-474B-9E95-A434530D0EC4}"/>
              </a:ext>
            </a:extLst>
          </p:cNvPr>
          <p:cNvSpPr>
            <a:spLocks noGrp="1"/>
          </p:cNvSpPr>
          <p:nvPr/>
        </p:nvSpPr>
        <p:spPr>
          <a:xfrm>
            <a:off x="781050" y="43481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Step 3: HAVING retains North. The original North total of 60 no longer applies.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Q20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94175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E9D7222-F7E2-47F6-B4E2-DFBDFF864797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Repairing GROUP BY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BA4CDC3-7E79-45BE-9268-774D4C459D80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Sale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amount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C95E41D0-B104-4B72-8E71-72C6A4174E65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719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The goal is one minimum amount per shop. Diagnose and correct this query.</a:t>
            </a:r>
          </a:p>
        </p:txBody>
      </p:sp>
      <p:sp>
        <p:nvSpPr>
          <p:cNvPr id="7" name="sql">
            <a:extLst>
              <a:ext uri="{FF2B5EF4-FFF2-40B4-BE49-F238E27FC236}">
                <a16:creationId xmlns:a16="http://schemas.microsoft.com/office/drawing/2014/main" id="{8AC76AF0-7912-4581-8C6A-59C79AA26913}"/>
              </a:ext>
            </a:extLst>
          </p:cNvPr>
          <p:cNvSpPr>
            <a:spLocks noGrp="1"/>
          </p:cNvSpPr>
          <p:nvPr/>
        </p:nvSpPr>
        <p:spPr>
          <a:xfrm>
            <a:off x="781050" y="4891088"/>
            <a:ext cx="7667625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shop, MIN(amount) FROM Sale;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B74352B-2A29-4026-AB7D-9EC3FD807968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69666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8700D2A-15FF-442F-89DC-B9123E40C53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Repairing GROUP BY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08B4278E-A867-4617-AD2E-5D6E6779DFC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shop, MIN(amount) AS minimum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Sale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shop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shop;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E9ED3A2-18A2-453A-BDA6-4E9F06CD86CA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0" cy="1203960"/>
        </p:xfrm>
        <a:graphic>
          <a:graphicData uri="http://schemas.openxmlformats.org/drawingml/2006/table">
            <a:tbl>
              <a:tblPr/>
              <a:tblGrid>
                <a:gridCol w="301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shop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minimum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034C408-D542-424B-9E8B-70C2953DEC18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Without GROUP BY, the aggregate describes the entire input, not each shop.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E3DE284-E68A-4C6C-AB41-0D95F2AEA53F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Some databases reject the original. SQLite permits bare columns, but that does not give one result per shop.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156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8379469-EA96-41E7-9B30-BAB85B0CC395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Aggregation after a join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2BD452B-93E0-4378-BAF9-314F648F8EB1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2026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C4C37F9-0955-4F2A-92F2-0001D3831988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28956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108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5BAFFF8D-1996-4F04-9E06-1E0E2567BC0C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75819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For each member with hires, count distinct gear IDs. Return only members who hired at least two different gear items.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3F85F678-960F-441D-8EC3-921848FEA376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95516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A4E15B6-BD5A-4AEB-89E9-BE77EC30287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Aggregation after a join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581C679-C5F3-4E90-8AF7-4EE725782900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m.name, COUNT(DISTINCT h.gid) AS gear_n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 JOIN Hire AS h ON m.mid = h.mid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m.mid, m.name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HAVING COUNT(DISTINCT h.gid) &gt;= 2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DC73948-A176-46E4-8527-77E89518B07A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1" cy="1203960"/>
        </p:xfrm>
        <a:graphic>
          <a:graphicData uri="http://schemas.openxmlformats.org/drawingml/2006/table">
            <a:tbl>
              <a:tblPr/>
              <a:tblGrid>
                <a:gridCol w="206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gear_n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84CD278-986F-42BC-AD43-027A12E0EA34}"/>
              </a:ext>
            </a:extLst>
          </p:cNvPr>
          <p:cNvSpPr>
            <a:spLocks noGrp="1"/>
          </p:cNvSpPr>
          <p:nvPr/>
        </p:nvSpPr>
        <p:spPr>
          <a:xfrm>
            <a:off x="781050" y="47101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Grouping by mid and name keeps the two Alex members separate.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436B7E2-ABC6-4333-A121-61241BA2618D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inner join omits members 5 and 6, who have no hires.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Solutions: </a:t>
            </a:r>
            <a:r>
              <a:rPr lang="en-US" dirty="0">
                <a:solidFill>
                  <a:srgbClr val="3333CC"/>
                </a:solidFill>
              </a:rPr>
              <a:t>Q22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79253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70835C2-427D-4270-BDBD-BC4D06E357DD}"/>
              </a:ext>
            </a:extLst>
          </p:cNvPr>
          <p:cNvSpPr>
            <a:spLocks noGrp="1"/>
          </p:cNvSpPr>
          <p:nvPr/>
        </p:nvSpPr>
        <p:spPr>
          <a:xfrm>
            <a:off x="685800" y="129063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scalar subquery supplies one value. 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73FB80A-C051-4726-A7D2-79AC7AF2ED0A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aggregate such as MAX without GROUP BY yields one row, so it is useful for scalar comparisons.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00E743A-F0E0-4AFE-A062-3950DD9A5646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tests membership in a set of values. A row-value IN comparison matches a complete tuple.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E898B73F-D868-473A-8AFC-050DBAFF036C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11120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non-correlated subquery has no outer reference. Its written nesting does not dictate the physical execution plan.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Scalar Subqueries and IN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41191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BF09CAE-E874-46EF-81C0-1689A9B4096F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scalar comparison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8A5E600-8EEB-4834-B3F5-355C6B9AA4CF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1562100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kind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Tripod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Saw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B05B1CD-949E-451D-BC28-6A77ED7D5916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all gear with the same fee as gear 10. Include gear 10 itself.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4C8AE6B7-6848-46C0-BBC0-40A7D9FE73B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59119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41B94EB-8785-4BC5-8E6E-B40C30A360B1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scalar comparison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79AACAA9-25AF-4EF3-B109-7E1E20FA7B76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gid, item, fee FROM Gear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fee = (SELECT fee FROM Gear WHERE gid = 10)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gid;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95DC8B5-9CB1-45DC-99B8-17847862767E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1" cy="902970"/>
        </p:xfrm>
        <a:graphic>
          <a:graphicData uri="http://schemas.openxmlformats.org/drawingml/2006/table">
            <a:tbl>
              <a:tblPr/>
              <a:tblGrid>
                <a:gridCol w="206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8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7A9AB44C-D1E7-474B-B9FA-6C94DCB9D7B1}"/>
              </a:ext>
            </a:extLst>
          </p:cNvPr>
          <p:cNvSpPr>
            <a:spLocks noGrp="1"/>
          </p:cNvSpPr>
          <p:nvPr/>
        </p:nvSpPr>
        <p:spPr>
          <a:xfrm>
            <a:off x="781050" y="384333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inner query uses the primary key and returns exactly one fee: 20.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6088F8C-99A7-427D-A020-A488E56FE35B}"/>
              </a:ext>
            </a:extLst>
          </p:cNvPr>
          <p:cNvSpPr>
            <a:spLocks noGrp="1"/>
          </p:cNvSpPr>
          <p:nvPr/>
        </p:nvSpPr>
        <p:spPr>
          <a:xfrm>
            <a:off x="781050" y="46529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outer query matches both Camera and Drill.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41479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4272773-C43B-4A53-8CE1-4737101315F5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The maximum and ties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8092E5A-C20D-4EED-BF84-60B2A62E0A43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C313C2F7-93C7-4C53-8A5D-27438D5E5B48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every member with the highest level. Include all ties.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9C42101F-F531-41EC-BF9C-5C26AD17594D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04322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FA02852-5585-4B8E-99AB-B78CC34FEF1C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The maximum and ties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4C0E1A80-615A-484E-8896-67C902B2A462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name, level 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level = (SELECT MAX(level) FROM Member)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C42251F-DF9F-49AC-93BA-F0C75FF76A27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1" cy="902970"/>
        </p:xfrm>
        <a:graphic>
          <a:graphicData uri="http://schemas.openxmlformats.org/drawingml/2006/table">
            <a:tbl>
              <a:tblPr/>
              <a:tblGrid>
                <a:gridCol w="222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5C3C13C2-0CF6-4EB7-A653-7ACB6647B248}"/>
              </a:ext>
            </a:extLst>
          </p:cNvPr>
          <p:cNvSpPr>
            <a:spLocks noGrp="1"/>
          </p:cNvSpPr>
          <p:nvPr/>
        </p:nvSpPr>
        <p:spPr>
          <a:xfrm>
            <a:off x="781050" y="384333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MAX(level) returns 4. The outer query retains both matching rows.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13A245B-D6AD-45C6-B11A-04C5B22BD057}"/>
              </a:ext>
            </a:extLst>
          </p:cNvPr>
          <p:cNvSpPr>
            <a:spLocks noGrp="1"/>
          </p:cNvSpPr>
          <p:nvPr/>
        </p:nvSpPr>
        <p:spPr>
          <a:xfrm>
            <a:off x="781050" y="46529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name, MAX(level) cannot reliably return every tied member.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69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464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43A3BD7-150A-4EFD-BE83-098898C4BC63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Membership with IN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86787CF-8B76-4ACD-8E91-B500522A4C5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2026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A1C6AC23-3118-46C1-B27D-09099077BB4A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28956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108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C30AB448-6DF9-44CF-ACAE-E08BA0B2A9EF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Return members who hired gear 10 at least once. Each member should occur once.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75B0A8C-A9F4-4212-BD9C-4DB6B664CB84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4098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5254DF3-DF53-4108-BFD7-27AAAAF57E5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Membership with IN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82B3A8E6-2E6A-4C5B-A6B4-63D8F5B40DA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 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mid IN (SELECT mid FROM Hire WHERE gid = 10)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E8D44DA-238E-4274-8B5F-81C9DBA531D7}"/>
              </a:ext>
            </a:extLst>
          </p:cNvPr>
          <p:cNvSpPr>
            <a:spLocks noGrp="1"/>
          </p:cNvSpPr>
          <p:nvPr/>
        </p:nvSpPr>
        <p:spPr>
          <a:xfrm>
            <a:off x="952500" y="2509838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2843213"/>
          <a:ext cx="7239000" cy="120396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F84B1536-F271-4926-8B83-340120BA35EA}"/>
              </a:ext>
            </a:extLst>
          </p:cNvPr>
          <p:cNvSpPr>
            <a:spLocks noGrp="1"/>
          </p:cNvSpPr>
          <p:nvPr/>
        </p:nvSpPr>
        <p:spPr>
          <a:xfrm>
            <a:off x="781050" y="412908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subquery returns 1, 1, 2 and 4. IN tests membership, so repeated 1 adds no output row.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B132BF1-77C7-463C-8273-616F3D045AE0}"/>
              </a:ext>
            </a:extLst>
          </p:cNvPr>
          <p:cNvSpPr>
            <a:spLocks noGrp="1"/>
          </p:cNvSpPr>
          <p:nvPr/>
        </p:nvSpPr>
        <p:spPr>
          <a:xfrm>
            <a:off x="781050" y="49387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outer Member table already has one row per ID.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1718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42E18F1-B480-46D9-848E-873D33706124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EXISTS is TRUE when its subquery returns at least one row. NOT EXISTS is TRUE when </a:t>
            </a:r>
            <a:r>
              <a:rPr lang="en-US"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subquery</a:t>
            </a: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returns none.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BCDB838-7220-4460-A50B-22C11198EF9C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correlated subquery refers to the outer row, such as h.mid = m.mid.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78C6739-FF40-4BEE-813E-47F953E79BB1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1 is enough when only existence matters. It does not count the rows.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17522A5-F4B5-4995-BBC1-59D72ADE3FDA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 IN can become UNKNOWN when its input contains NULL. A correlated NOT EXISTS tests matches directly.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33CC"/>
                </a:solidFill>
              </a:rPr>
              <a:t>EXISTS and Correlation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55359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452CD48-D0DE-43DA-A730-683871573501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Two existence conditions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346E2C1-1D98-43BE-BE00-F1BDAC0464A7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Member(mid, name, home, level)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362D63C-0A0A-4A0B-BD88-5588F6B08C71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Gear(gid, item, kind, home, fee)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E3CEE540-2A93-4B13-A48C-903301065B1B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Hire(hid, mid, gid, day)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D177EE3-5F23-445D-8800-23FEED4A0B6A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shared data on slides .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Member.mid and </a:t>
            </a:r>
            <a:r>
              <a:rPr sz="195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Gear.gid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primary keys.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FBD9BC2-6109-4C2C-B394-C09F5EAE9895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who hired both Media gear and Tool gear.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8B8479B-3654-44AA-9B32-B9938453FA87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Q27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18214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A7E6E25-65A6-408E-BB96-2B2AAD3ABCE5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Two existence conditions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D0B40D4-70BF-4128-87E8-A80C57E7B50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Media hires belong to members {1, 2, 3, 4}.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D0B8D21-E02C-4A7D-8C4E-DD4409D95F3C}"/>
              </a:ext>
            </a:extLst>
          </p:cNvPr>
          <p:cNvSpPr>
            <a:spLocks noGrp="1"/>
          </p:cNvSpPr>
          <p:nvPr/>
        </p:nvSpPr>
        <p:spPr>
          <a:xfrm>
            <a:off x="781050" y="19288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Tool hires belong to members {2, 4}.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78D28CB-2976-497F-AC3F-1B8F46747360}"/>
              </a:ext>
            </a:extLst>
          </p:cNvPr>
          <p:cNvSpPr>
            <a:spLocks noGrp="1"/>
          </p:cNvSpPr>
          <p:nvPr/>
        </p:nvSpPr>
        <p:spPr>
          <a:xfrm>
            <a:off x="781050" y="242887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Keep outer members that satisfy both existence tests: {2, 4}.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Q27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3220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7959362-1ED7-4485-8657-19AC1060CF37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Two existence conditions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E9348AC-4CE5-4F1D-91DE-6A3EDC8D19C2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22524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 FROM Member AS m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EXISTS (SELECT 1 FROM Hire AS h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JOIN Gear AS g ON h.gid = g.gid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WHERE h.mid = m.mid AND g.kind = 'Media')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EXISTS (SELECT 1 FROM Hire AS h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JOIN Gear AS g ON h.gid = g.gid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WHERE h.mid = m.mid AND g.kind = 'Tool')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DCDAC17-6031-4768-B84C-066008B5B927}"/>
              </a:ext>
            </a:extLst>
          </p:cNvPr>
          <p:cNvSpPr>
            <a:spLocks noGrp="1"/>
          </p:cNvSpPr>
          <p:nvPr/>
        </p:nvSpPr>
        <p:spPr>
          <a:xfrm>
            <a:off x="952500" y="3776472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4109847"/>
          <a:ext cx="7239000" cy="90297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C54E3868-B470-4E12-BC6D-EEEBFB2EC3F0}"/>
              </a:ext>
            </a:extLst>
          </p:cNvPr>
          <p:cNvSpPr>
            <a:spLocks noGrp="1"/>
          </p:cNvSpPr>
          <p:nvPr/>
        </p:nvSpPr>
        <p:spPr>
          <a:xfrm>
            <a:off x="781050" y="5109972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subqueries refer to the same outer member m.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Q27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8859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A223A7D4-49EB-48A6-8416-CCA6675D2552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NOT IN and NULL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AA25BBF-2B58-47AC-988A-3697EBD05B0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Blocked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781050" y="1762125"/>
          <a:ext cx="3714750" cy="86868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E41CD027-908B-4895-9D82-1C03DA3BA420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7" name="表格 16"/>
          <p:cNvGraphicFramePr/>
          <p:nvPr>
            <p:extLst>
              <p:ext uri="{D42A27DB-BD31-4B8C-83A1-F6EECF244321}">
                <p14:modId xmlns:p14="http://schemas.microsoft.com/office/powerpoint/2010/main" val="2415362780"/>
              </p:ext>
            </p:extLst>
          </p:nvPr>
        </p:nvGraphicFramePr>
        <p:xfrm>
          <a:off x="4705350" y="1762125"/>
          <a:ext cx="3714750" cy="2026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2BDD95A7-D46C-48FD-8793-91B4247D02D7}"/>
              </a:ext>
            </a:extLst>
          </p:cNvPr>
          <p:cNvSpPr>
            <a:spLocks noGrp="1"/>
          </p:cNvSpPr>
          <p:nvPr/>
        </p:nvSpPr>
        <p:spPr>
          <a:xfrm>
            <a:off x="781050" y="3743325"/>
            <a:ext cx="7581900" cy="719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Blocked contains 2 and NULL. Predict the query below, then safely return members with no matching blocked ID.</a:t>
            </a:r>
          </a:p>
        </p:txBody>
      </p:sp>
      <p:sp>
        <p:nvSpPr>
          <p:cNvPr id="9" name="sql">
            <a:extLst>
              <a:ext uri="{FF2B5EF4-FFF2-40B4-BE49-F238E27FC236}">
                <a16:creationId xmlns:a16="http://schemas.microsoft.com/office/drawing/2014/main" id="{C2E1225E-A5BA-4C88-875C-D9D8E6B1584F}"/>
              </a:ext>
            </a:extLst>
          </p:cNvPr>
          <p:cNvSpPr>
            <a:spLocks noGrp="1"/>
          </p:cNvSpPr>
          <p:nvPr/>
        </p:nvSpPr>
        <p:spPr>
          <a:xfrm>
            <a:off x="781050" y="4576763"/>
            <a:ext cx="7667625" cy="6720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 FROM Member</a:t>
            </a:r>
          </a:p>
          <a:p>
            <a:pPr>
              <a:defRPr sz="18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mid NOT IN (SELECT mid FROM Blocked);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EC64501A-34E3-4FFD-8BD9-08FE3CFC614F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Q28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55875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688ED48-4DC2-4997-832D-7A6C1D4BB058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NOT IN and NULL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5B2AD0FB-350F-4929-9406-D21B985307EB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mid, name 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mid NOT IN (SELECT mid FROM Blocked);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8229A45E-5347-47E6-9BA2-F7CCA9738D05}"/>
              </a:ext>
            </a:extLst>
          </p:cNvPr>
          <p:cNvSpPr>
            <a:spLocks noGrp="1"/>
          </p:cNvSpPr>
          <p:nvPr/>
        </p:nvSpPr>
        <p:spPr>
          <a:xfrm>
            <a:off x="952500" y="22193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A3C6445-E957-4194-B776-6342BBA19638}"/>
              </a:ext>
            </a:extLst>
          </p:cNvPr>
          <p:cNvSpPr>
            <a:spLocks noGrp="1"/>
          </p:cNvSpPr>
          <p:nvPr/>
        </p:nvSpPr>
        <p:spPr>
          <a:xfrm>
            <a:off x="952500" y="2552700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No rows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C1BD03D-DF74-4449-A238-F4A8815FAB30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result is empty. ID 2 fails, while all other IDs yield UNKNOWN because of NULL.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C8F0BC7-AE1D-4285-8639-9F04CE593A40}"/>
              </a:ext>
            </a:extLst>
          </p:cNvPr>
          <p:cNvSpPr>
            <a:spLocks noGrp="1"/>
          </p:cNvSpPr>
          <p:nvPr/>
        </p:nvSpPr>
        <p:spPr>
          <a:xfrm>
            <a:off x="781050" y="383857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retains only TRUE. No member passes.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Q28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30195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8D9864E-00F1-4A23-97EE-DD28F7751C0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NOT IN and NULL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CE91F7C-A2C9-45B3-9269-4C0C6A7E39B3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 FROM Member AS 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NOT EXISTS (SELECT 1 FROM Blocked AS b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          WHERE b.mid = m.mid)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1A5D375-B7AA-468D-92FB-A8A9A2E44D08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52500" y="3133725"/>
          <a:ext cx="7239000" cy="180594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8C879BB-FCB5-44C1-AD11-28BF901FFF9B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 an equal blocked ID excludes a member. NULL matches none of these non-NULL IDs.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Q28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83870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9127311D-1BE4-4198-838B-10A5EEF11A61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The only row in a group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405FE86-27DE-47DF-A361-86D755BB1A85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218694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945E3342-E228-41D0-AFD7-B34DBCF4E59F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members who are the only member from their home location. Use NOT EXISTS.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B56F1009-533C-418B-9A34-465A7758701D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Q29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79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3446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4864720-2D7E-4564-866C-046D9637811B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The only row in a group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1528123-D3D0-4747-A2F8-29E47BC324FC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m.name, m.home FROM Member AS 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NOT EXISTS (SELECT 1 FROM Member AS other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WHERE other.home = m.home AND other.mid &lt;&gt; m.mid)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BF1FB0FB-5B00-4F3E-AE79-7A36F610F1E1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0" cy="60198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500DA520-7CFE-451B-81C5-7A5A3F68D969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Search for a different member with the same home.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47D87AA-8D72-4F15-8BA2-9990E212DC75}"/>
              </a:ext>
            </a:extLst>
          </p:cNvPr>
          <p:cNvSpPr>
            <a:spLocks noGrp="1"/>
          </p:cNvSpPr>
          <p:nvPr/>
        </p:nvSpPr>
        <p:spPr>
          <a:xfrm>
            <a:off x="781050" y="43481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Dina has no such competitor. Testing a different home and the same ID reverses the intended logic.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Q29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68247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11E258B-D996-49E5-ACA6-E9804EEC728A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 &gt; ANY(S) asks whether at least one comparison is TRUE. SOME is a synonym for ANY.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58667A7-A495-4A0E-8C16-C473A88EDE29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 &gt; ALL(S) requires every comparison to be TRUE. On an empty input, ALL is TRUE and ANY is FALSE.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8725735-DAC7-46D0-931F-D7ACF8B0BC5B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is equivalent to = ANY. NOT IN is equivalent to &lt;&gt; ALL. = ALL does not mean IN.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E2A33C0-BF65-4E7B-A9CF-EA40A4AC1ED7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2175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ANY, SOME and ALL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65955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E55FED6-93BE-4682-A74D-1293AC9148F0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ANY versus ALL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7580208-BB06-4FB7-85F6-6DDE0F7DDFAA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202692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level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Eli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4A50633A-4856-43E8-BAB1-B681FD612AFD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86868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B2FA7DD7-D313-4352-8915-FDB7344F3BC1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Target values are {2, 4}. Find member IDs for level &gt; ANY(Target), then level &gt; ALL(Target).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846FF928-608D-4C2D-809C-64A44CA7D47F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4326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EC29224-1A7E-4E9B-9FE6-0B151EAAA24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ANY versus ALL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19D52C8-C8FE-44CC-BB85-EC5484FC3EAE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level &gt; ANY (SELECT v FROM Target);</a:t>
            </a:r>
          </a:p>
          <a:p>
            <a:endParaRPr sz="1875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mid FROM Member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level &gt; ALL (SELECT v FROM Target);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0788E94D-D02B-4A79-A743-49CBF3C74DCD}"/>
              </a:ext>
            </a:extLst>
          </p:cNvPr>
          <p:cNvSpPr>
            <a:spLocks noGrp="1"/>
          </p:cNvSpPr>
          <p:nvPr/>
        </p:nvSpPr>
        <p:spPr>
          <a:xfrm>
            <a:off x="781050" y="30908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ANY: beating 2 is enough, so IDs are 1, 2, 4 and 6.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E6E997F-3DE7-4E16-A6F6-B6F95072CD0B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ALL: a level must exceed 4, so the result is empty.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3A64CFF-ECC0-4A5D-8990-796220F8B805}"/>
              </a:ext>
            </a:extLst>
          </p:cNvPr>
          <p:cNvSpPr>
            <a:spLocks noGrp="1"/>
          </p:cNvSpPr>
          <p:nvPr/>
        </p:nvSpPr>
        <p:spPr>
          <a:xfrm>
            <a:off x="781050" y="409098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this nonempty, non-NULL target only, &gt; MIN(v) and &gt; MAX(v) give the same answers.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Q30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60348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05006EBA-F4C4-4E13-8D8D-1DA56B4A324E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Equality and quantified comparisons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7D3E4C3-0F87-45F4-A55E-36929C8F0228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With S = {2, 4}, evaluate 2 IN S, 2 = ALL(S), 2 &lt;&gt; ANY(S), and 2 NOT IN S.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F4885D16-AA12-4E32-A92F-88D528230B72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61342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14E5CEF7-A7B6-487D-A3F6-2D613E07DF20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Equality and quantified comparisons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4B19740-950B-401F-8C3B-168D4068BC42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Truth values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04875" y="1762125"/>
          <a:ext cx="7334250" cy="2000250"/>
        </p:xfrm>
        <a:graphic>
          <a:graphicData uri="http://schemas.openxmlformats.org/drawingml/2006/table">
            <a:tbl>
              <a:tblPr/>
              <a:tblGrid>
                <a:gridCol w="2241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Expression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Reason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IN S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TRUE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matches a value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= ALL(S)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FALSE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is not equal to 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&lt;&gt; ANY(S)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TRUE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differs from 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NOT IN S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FALSE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occurs in S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F47CDC5A-1790-40F6-B4C3-5955DFE24FDE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 ANY and IN agree. &lt;&gt; ANY and NOT IN do not agree.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2E356AA-FC64-4C1A-BA0D-D7DF73193D8F}"/>
              </a:ext>
            </a:extLst>
          </p:cNvPr>
          <p:cNvSpPr>
            <a:spLocks noGrp="1"/>
          </p:cNvSpPr>
          <p:nvPr/>
        </p:nvSpPr>
        <p:spPr>
          <a:xfrm>
            <a:off x="781050" y="44053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universal counterpart of NOT IN is &lt;&gt; ALL.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Q31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98414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8B956D0-B526-40CC-96BF-D78BF0DA920A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Empty input and NULL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E2327AE-4893-4214-A1C2-9D70F94372AB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Evaluate 5 &gt; ANY(S) and 5 &gt; ALL(S) for S = {}, {2, NULL}, and {7, NULL}.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9A89C0E4-FAC9-4D91-9389-CA492576F5D8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828053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B4260A8-76D0-43A6-B8D3-B235FF9CF0A4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Empty input and NULL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AB25C881-7EE3-496F-9E23-0618919BE0DD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Three-valued results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904875" y="1762125"/>
          <a:ext cx="7334251" cy="1600200"/>
        </p:xfrm>
        <a:graphic>
          <a:graphicData uri="http://schemas.openxmlformats.org/drawingml/2006/table">
            <a:tbl>
              <a:tblPr/>
              <a:tblGrid>
                <a:gridCol w="2276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 &gt; ANY(S)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 &gt; ALL(S)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empty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FALSE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TRUE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{2, NULL}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TRUE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UNKNOWN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{7, NULL}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UNKNOWN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FALSE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F40AF294-F11B-40FC-9291-CBADE1F4EC4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TRUE comparison settles ANY. A FALSE comparison settles ALL.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84F3A5D-1DF8-49B3-8C60-D20BDA2FE722}"/>
              </a:ext>
            </a:extLst>
          </p:cNvPr>
          <p:cNvSpPr>
            <a:spLocks noGrp="1"/>
          </p:cNvSpPr>
          <p:nvPr/>
        </p:nvSpPr>
        <p:spPr>
          <a:xfrm>
            <a:off x="781050" y="40052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Otherwise a NULL comparison can leave UNKNOWN. WHERE discards UNKNOWN.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2DED41B-43DC-4D78-A440-0DC31A5966CD}"/>
              </a:ext>
            </a:extLst>
          </p:cNvPr>
          <p:cNvSpPr>
            <a:spLocks noGrp="1"/>
          </p:cNvSpPr>
          <p:nvPr/>
        </p:nvSpPr>
        <p:spPr>
          <a:xfrm>
            <a:off x="781050" y="4814888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MAX(empty) is NULL, so replacing ALL with MAX fails for empty inputs.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Q32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461543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4E6B409-874F-46C7-BC9B-CEC00ABBD1CE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one candidate, form Required IDs EXCEPT that candidate’s hired IDs.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1304E5A-3D91-489A-9CA9-864B461B3112}"/>
              </a:ext>
            </a:extLst>
          </p:cNvPr>
          <p:cNvSpPr>
            <a:spLocks noGrp="1"/>
          </p:cNvSpPr>
          <p:nvPr/>
        </p:nvSpPr>
        <p:spPr>
          <a:xfrm>
            <a:off x="781050" y="2024063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empty missing set means the candidate hired every required item. Extra hires are allowed.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107A6C0-465A-4D0F-967D-DF0895574FAD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distinct HiredPairs(mid, gid), HiredPairs / Required expresses the division idea.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7C1D52B-2224-4AFC-82B1-3B3BC19B559B}"/>
              </a:ext>
            </a:extLst>
          </p:cNvPr>
          <p:cNvSpPr>
            <a:spLocks noGrp="1"/>
          </p:cNvSpPr>
          <p:nvPr/>
        </p:nvSpPr>
        <p:spPr>
          <a:xfrm>
            <a:off x="781050" y="3786188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 expresses this with NOT EXISTS around EXCEPT, or with two nested NOT EXISTS tests.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Division: Every Required Item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4704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3D2486C-68F2-4F36-9B63-A4F7D4096DC2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All required gear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4688DB9-F029-4895-A67F-3236CCFAA22E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Required(gid)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7B5E00C7-9A92-4E21-B464-FEFDF156766F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Hire(hid, mid, gid, day)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73262BD4-726A-4DB9-BAA3-CA01C3350862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Member(mid, name, home, level)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8EA835D-9B00-4C76-B251-81BC9306C06A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shared data on slides </a:t>
            </a:r>
            <a:r>
              <a:rPr lang="en-US" sz="19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2-3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Member.mid and </a:t>
            </a:r>
            <a:r>
              <a:rPr sz="195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Gear.gid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primary keys.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D62E5BB-2858-40BE-B03D-D3FD2BBA1D42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Required = {10, 20}. Return members who hired every required gear ID. Repeated hires should not affect the answer.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1D87AE5-24E1-4113-97DD-2C16F7933B76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Q33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89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7929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6CCE6FF-E01C-4075-9E87-A38C378F86F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All required gear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8BCFB2E-1D3B-41DE-BE88-2D100871244F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7334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Missing required IDs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04875" y="1762125"/>
          <a:ext cx="7334250" cy="280035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Distinct hired IDs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Missing IDs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10, 20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10, 30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10, 20, 30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10, 20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10, 20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43D52B8C-5CD1-41AD-9E0B-53A41CDE9A31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Compute Required EXCEPT Hired for each member.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9267ADE-B4CA-417E-8142-54CF48A87D60}"/>
              </a:ext>
            </a:extLst>
          </p:cNvPr>
          <p:cNvSpPr>
            <a:spLocks noGrp="1"/>
          </p:cNvSpPr>
          <p:nvPr/>
        </p:nvSpPr>
        <p:spPr>
          <a:xfrm>
            <a:off x="781050" y="520541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Only members 1 and 4 have an empty missing set.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Q33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91868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C70EC40-1ADB-4F20-B8A3-8C1061785EA4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All required gear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E75A15FC-3807-40D1-A4E4-E2762C6EA160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98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 FROM Member AS m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NOT EXISTS (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SELECT gid FROM Required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EXCEPT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SELECT h.gid FROM Hire AS h WHERE h.mid = m.mid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9472CC1-6164-46AD-AADA-EA795603E155}"/>
              </a:ext>
            </a:extLst>
          </p:cNvPr>
          <p:cNvSpPr>
            <a:spLocks noGrp="1"/>
          </p:cNvSpPr>
          <p:nvPr/>
        </p:nvSpPr>
        <p:spPr>
          <a:xfrm>
            <a:off x="952500" y="35092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842575"/>
          <a:ext cx="7239000" cy="90297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1EBFC753-1AFC-4ED2-A80C-E463F9A65EF9}"/>
              </a:ext>
            </a:extLst>
          </p:cNvPr>
          <p:cNvSpPr>
            <a:spLocks noGrp="1"/>
          </p:cNvSpPr>
          <p:nvPr/>
        </p:nvSpPr>
        <p:spPr>
          <a:xfrm>
            <a:off x="781050" y="4842701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 EXISTS tests whether the difference contains no row.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BFE937A-4DD2-4AB1-9B80-8E90C8A97A82}"/>
              </a:ext>
            </a:extLst>
          </p:cNvPr>
          <p:cNvSpPr>
            <a:spLocks noGrp="1"/>
          </p:cNvSpPr>
          <p:nvPr/>
        </p:nvSpPr>
        <p:spPr>
          <a:xfrm>
            <a:off x="781050" y="53427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outer Member table defines the candidate population.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Q33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84956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3E1C5EA7-6F42-44A7-82FC-AFAF4F837E40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Double NOT EXISTS and an empty target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0085D7E-0934-47FA-830C-6A1BE16F6E92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952500" y="1743075"/>
          <a:ext cx="7239000" cy="937260"/>
        </p:xfrm>
        <a:graphic>
          <a:graphicData uri="http://schemas.openxmlformats.org/drawingml/2006/table">
            <a:tbl>
              <a:tblPr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7168E930-514C-4545-9C0F-D55C9244D61E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Rewrite Q33 using two NOT EXISTS tests. If Required becomes empty, who qualifies?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CD4A89A4-BA54-4492-80BF-77CA269B821E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Q34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77326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2E2B0A84-25EC-47E3-B567-F938966D8D30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Double NOT EXISTS and an empty target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1A9804B0-7F6C-4930-97B0-9BADA460CB59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5668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 FROM Member AS m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NOT EXISTS (SELECT 1 FROM Required AS r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WHERE NOT EXISTS (SELECT 1 FROM Hire AS h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WHERE h.mid = m.mid AND h.gid = r.gid))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7E75E00-30B3-45B5-BC4A-C5D68616E1F4}"/>
              </a:ext>
            </a:extLst>
          </p:cNvPr>
          <p:cNvSpPr>
            <a:spLocks noGrp="1"/>
          </p:cNvSpPr>
          <p:nvPr/>
        </p:nvSpPr>
        <p:spPr>
          <a:xfrm>
            <a:off x="952500" y="3090863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424238"/>
          <a:ext cx="7239000" cy="90297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3C5F2A7A-FEE0-484C-83C9-7FDDDA8A65CA}"/>
              </a:ext>
            </a:extLst>
          </p:cNvPr>
          <p:cNvSpPr>
            <a:spLocks noGrp="1"/>
          </p:cNvSpPr>
          <p:nvPr/>
        </p:nvSpPr>
        <p:spPr>
          <a:xfrm>
            <a:off x="781050" y="4424363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inside out: the inner test finds a required item the member has never hired.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259D352-75DF-49FA-9A7E-1CE6AE5081EE}"/>
              </a:ext>
            </a:extLst>
          </p:cNvPr>
          <p:cNvSpPr>
            <a:spLocks noGrp="1"/>
          </p:cNvSpPr>
          <p:nvPr/>
        </p:nvSpPr>
        <p:spPr>
          <a:xfrm>
            <a:off x="781050" y="523398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outer test rejects any member with such a missing item.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Q34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853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DE0A0183-9E96-44E8-A5D0-CAA450A5CD8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Double NOT EXISTS and an empty target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A56D12B-5F0F-4E47-87C6-6D9345EF8305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Required is empty, there is no required item to miss. All six members qualify.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06EC4B8-9346-453A-9F2D-EDC30FFC0F50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Starting from Hire instead would omit members 5 and 6, even in the empty-target case.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C139333-BB65-4B62-AC99-3A68DCBD6019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declared candidate population controls this boundary case. No database edits are needed to answer.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Q34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38413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C975A91-7BD0-40D0-ABB6-FDBF29E2D72F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7581900" cy="11120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 non-NULL values, UNIQUE(subquery) tests whether the result has no duplicate rows. It is different from a UNIQUE table constraint.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B2ADD83-C625-45E0-A920-C45F6FF92A1F}"/>
              </a:ext>
            </a:extLst>
          </p:cNvPr>
          <p:cNvSpPr>
            <a:spLocks noGrp="1"/>
          </p:cNvSpPr>
          <p:nvPr/>
        </p:nvSpPr>
        <p:spPr>
          <a:xfrm>
            <a:off x="781050" y="2369344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When a correlated subquery repeats the same outer key, uniqueness means its row count is at most one.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4859ACA3-425A-4AC4-A9FF-83095B2F128D}"/>
              </a:ext>
            </a:extLst>
          </p:cNvPr>
          <p:cNvSpPr>
            <a:spLocks noGrp="1"/>
          </p:cNvSpPr>
          <p:nvPr/>
        </p:nvSpPr>
        <p:spPr>
          <a:xfrm>
            <a:off x="781050" y="3250406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SQLite has no UNIQUE(subquery) predicate. A correlated COUNT(*) comparison expresses this exercise.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8686AAD-F1A0-42ED-A027-6066ADF30875}"/>
              </a:ext>
            </a:extLst>
          </p:cNvPr>
          <p:cNvSpPr>
            <a:spLocks noGrp="1"/>
          </p:cNvSpPr>
          <p:nvPr/>
        </p:nvSpPr>
        <p:spPr>
          <a:xfrm>
            <a:off x="781050" y="4131469"/>
            <a:ext cx="7581900" cy="766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subquery in FROM is a derived table. Give it an alias and name its calculated columns.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33CC"/>
                </a:solidFill>
              </a:rPr>
              <a:t>Cardinality and Derived Tables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51665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76FC542F-1626-47C5-95AE-958753EFD46D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At most one occurrence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E09FFFE-3A71-483F-87BD-32E0929D8635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781050" y="1762125"/>
          <a:ext cx="3714750" cy="1447800"/>
        </p:xfrm>
        <a:graphic>
          <a:graphicData uri="http://schemas.openxmlformats.org/drawingml/2006/table">
            <a:tbl>
              <a:tblPr/>
              <a:tblGrid>
                <a:gridCol w="61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kind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home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Camera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Tripod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Drill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Saw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85194EC3-D599-469E-9D1B-33838DFDF7DB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4705350" y="1762125"/>
          <a:ext cx="3714750" cy="289560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108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109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9596E5BC-9A94-4528-A08A-856B296A619C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75819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Find gear hired at most once, including gear never hired. Relate your answer to UNIQUE(subquery).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F92A0D92-AEC2-4AE0-B55B-A5F68A34EA00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Q35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536998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EA4BDA8E-7DE2-409D-A017-61853BBEDF53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At most one occurrence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157376D-BD27-475F-8D1C-B9615AD0B7C8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g.gid, g.item FROM Gear AS g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(SELECT COUNT(*) FROM Hire AS h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WHERE h.gid = g.gid) &lt;= 1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g.gid;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DB62889-93A5-4790-89B9-4A4D65D39825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0" cy="60198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Saw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D08E360B-BE98-4631-9144-09AFF6627246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 counts for gear 10, 20, 30 and 40 are 4, 3, 2 and 0.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9F3424B-6833-4D60-8FC8-417244940A07}"/>
              </a:ext>
            </a:extLst>
          </p:cNvPr>
          <p:cNvSpPr>
            <a:spLocks noGrp="1"/>
          </p:cNvSpPr>
          <p:nvPr/>
        </p:nvSpPr>
        <p:spPr>
          <a:xfrm>
            <a:off x="781050" y="4348163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 Saw qualifies. At most one includes zero occurrences.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Q35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07857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57F1690E-9818-4068-BA2E-9D55C55C2F5D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At most one occurrence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A38CD83-E117-4CE8-A2D7-DFF444BB63D0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9858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g.gid, g.item FROM Gear AS g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UNIQUE (SELECT h.gid FROM Hire AS h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      WHERE h.gid = g.gid);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33B7676C-4A03-4263-AA00-3B3962939E0F}"/>
              </a:ext>
            </a:extLst>
          </p:cNvPr>
          <p:cNvSpPr>
            <a:spLocks noGrp="1"/>
          </p:cNvSpPr>
          <p:nvPr/>
        </p:nvSpPr>
        <p:spPr>
          <a:xfrm>
            <a:off x="781050" y="2509838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Lecture notation only: each inner row has the same gid.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80D40727-3141-49C8-92AC-DB8C63BE8B73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or more rows repeat that gid and fail UNIQUE. Zero or one row has no duplicate.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12B78B96-DA55-468F-9618-52A199B10038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COUNT version on the previous slide is the runnable SQLite alternative.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Q35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462500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B9FAA2F0-B14C-4B8E-A630-D46C30EF1B6F}"/>
              </a:ext>
            </a:extLst>
          </p:cNvPr>
          <p:cNvSpPr>
            <a:spLocks noGrp="1"/>
          </p:cNvSpPr>
          <p:nvPr/>
        </p:nvSpPr>
        <p:spPr>
          <a:xfrm>
            <a:off x="781050" y="9906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derived table with aggregation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5A32E3D9-987D-4D99-91D5-63FB5C2D28F7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Member(mid, name, home, level)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A0E65D17-2597-4C25-B098-C45DA1AE01C8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Hire(hid, mid, gid, day)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DD5FEF00-2729-43DB-AE6A-F388BA15F147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75819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Gear(gid, item, kind, home, fee)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7E5E82AF-26F3-48FD-8273-4FCA09AF45D2}"/>
              </a:ext>
            </a:extLst>
          </p:cNvPr>
          <p:cNvSpPr>
            <a:spLocks noGrp="1"/>
          </p:cNvSpPr>
          <p:nvPr/>
        </p:nvSpPr>
        <p:spPr>
          <a:xfrm>
            <a:off x="781050" y="3095625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 the shared data on slides </a:t>
            </a:r>
            <a:r>
              <a:rPr lang="en-US"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2-3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Member.mid and </a:t>
            </a:r>
            <a:r>
              <a:rPr sz="195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Gear.gid</a:t>
            </a:r>
            <a:r>
              <a:rPr sz="19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primary keys.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FB63330-2DCE-4DB8-A510-E244C0931F29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75819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 b="0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For each member with at least two hires, calculate the average fee per hire. Return those with an average &gt; 15. Use a derived table.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47E1DA2-32AF-4E85-AAB9-D9E96A31963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Think: 30 s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Practice: </a:t>
            </a:r>
            <a:r>
              <a:rPr lang="en-US">
                <a:solidFill>
                  <a:srgbClr val="3333CC"/>
                </a:solidFill>
              </a:rPr>
              <a:t>Q36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99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1358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419F354B-0369-486B-9E3C-44E27D914211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derived table with aggregation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F8A8F354-44F8-4471-940B-FD159ECA295C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h.mid, COUNT(*) AS hires_n, AVG(g.fee) AS avg_fee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Hire AS h JOIN Gear AS g ON h.gid = g.gid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 BY h.mid HAVING COUNT(*) &gt;= 2</a:t>
            </a:r>
          </a:p>
          <a:p>
            <a:pPr>
              <a:defRPr sz="187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h.mid;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60921B9E-D272-4B86-A100-97BA9B289342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952500" y="3133725"/>
          <a:ext cx="7239001" cy="1203960"/>
        </p:xfrm>
        <a:graphic>
          <a:graphicData uri="http://schemas.openxmlformats.org/drawingml/2006/table">
            <a:tbl>
              <a:tblPr/>
              <a:tblGrid>
                <a:gridCol w="160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hires_n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avg_fee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16.6667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16.6667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D7FC2AEB-5682-48BC-BBFB-808C1C072C0C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Join each hire to its gear fee. Repeated hires each contribute once.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4A525CE-0D13-4E38-B2D2-E8624E7AF6B5}"/>
              </a:ext>
            </a:extLst>
          </p:cNvPr>
          <p:cNvSpPr>
            <a:spLocks noGrp="1"/>
          </p:cNvSpPr>
          <p:nvPr/>
        </p:nvSpPr>
        <p:spPr>
          <a:xfrm>
            <a:off x="781050" y="5229225"/>
            <a:ext cx="758190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Members 1, 2 and 4 meet the hire-count condition.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Q36 (1)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71904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8BC442DF-0BE0-4303-BC48-123DB73E47CD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derived table with aggregation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B42ADB5A-7CE9-461C-B999-3A562773A77C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7667625" cy="22524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 m.mid, m.name, d.avg_fee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Member AS m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 (SELECT h.mid, AVG(g.fee) AS avg_fee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FROM Hire AS h JOIN Gear AS g ON h.gid = g.gid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GROUP BY h.mid HAVING COUNT(*) &gt;= 2) AS 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ON m.mid = d.mid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d.avg_fee &gt; 15</a:t>
            </a:r>
          </a:p>
          <a:p>
            <a:pPr>
              <a:defRPr sz="1725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ORDER BY m.mid;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31141D8-24FB-4BD6-840C-6544C567BE2F}"/>
              </a:ext>
            </a:extLst>
          </p:cNvPr>
          <p:cNvSpPr>
            <a:spLocks noGrp="1"/>
          </p:cNvSpPr>
          <p:nvPr/>
        </p:nvSpPr>
        <p:spPr>
          <a:xfrm>
            <a:off x="781050" y="3776472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d holds one row per eligible member. Join the names after aggregation.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Q36 (2)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3226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F992ED70-03C0-4BC0-B4D5-731D5DAA05AA}"/>
              </a:ext>
            </a:extLst>
          </p:cNvPr>
          <p:cNvSpPr>
            <a:spLocks noGrp="1"/>
          </p:cNvSpPr>
          <p:nvPr/>
        </p:nvSpPr>
        <p:spPr>
          <a:xfrm>
            <a:off x="781050" y="9715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75" b="0">
                <a:solidFill>
                  <a:srgbClr val="3333CC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33CC"/>
                </a:solidFill>
                <a:latin typeface="Calibri"/>
                <a:ea typeface="Calibri"/>
                <a:cs typeface="Calibri"/>
              </a:rPr>
              <a:t>A derived table with aggregation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59E2650-EDBA-485D-8B60-328F0CF9C6F8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52500" y="1762125"/>
          <a:ext cx="7239000" cy="1203960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mid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avg_fee</a:t>
                      </a:r>
                    </a:p>
                  </a:txBody>
                  <a:tcPr marL="38100" marR="38100" marT="19050" marB="1905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16.6667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Dina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16.6667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DFC4A6F2-440D-44B2-8436-282C129A2780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7581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Filter d.avg_fee in the outer WHERE. Values shown are rounded for display only.</a:t>
            </a:r>
          </a:p>
        </p:txBody>
      </p:sp>
      <p:sp>
        <p:nvSpPr>
          <p:cNvPr id="9001" name="Title 1">
            <a:extLst>
              <a:ext uri="{FF2B5EF4-FFF2-40B4-BE49-F238E27FC236}">
                <a16:creationId xmlns:a16="http://schemas.microsoft.com/office/drawing/2014/main" id="{4EF27E5C-9C4D-BDBE-7667-D0B141B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Solutions: </a:t>
            </a:r>
            <a:r>
              <a:rPr lang="en-US">
                <a:solidFill>
                  <a:srgbClr val="3333CC"/>
                </a:solidFill>
              </a:rPr>
              <a:t>Q36 (2) Result</a:t>
            </a:r>
          </a:p>
        </p:txBody>
      </p:sp>
      <p:sp>
        <p:nvSpPr>
          <p:cNvPr id="9002" name="Slide Number Placeholder 1">
            <a:extLst>
              <a:ext uri="{FF2B5EF4-FFF2-40B4-BE49-F238E27FC236}">
                <a16:creationId xmlns:a16="http://schemas.microsoft.com/office/drawing/2014/main" id="{B90139AC-3BDA-723A-097A-000DA0A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101F-9E5F-9249-9862-3CE55B3BB777}" type="slidenum">
              <a:rPr lang="en-US" altLang="zh-TW" smtClean="0"/>
              <a:pPr>
                <a:defRPr/>
              </a:pPr>
              <a:t>102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8748777"/>
      </p:ext>
    </p:extLst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6691</Words>
  <Application>Microsoft Office PowerPoint</Application>
  <DocSecurity>0</DocSecurity>
  <PresentationFormat>全屏显示(4:3)</PresentationFormat>
  <Paragraphs>1902</Paragraphs>
  <Slides>102</Slides>
  <Notes>102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102</vt:i4>
      </vt:variant>
    </vt:vector>
  </HeadingPairs>
  <TitlesOfParts>
    <vt:vector size="108" baseType="lpstr">
      <vt:lpstr>微软雅黑</vt:lpstr>
      <vt:lpstr>Aptos</vt:lpstr>
      <vt:lpstr>Calibri</vt:lpstr>
      <vt:lpstr>Times New Roman</vt:lpstr>
      <vt:lpstr>Wingdings</vt:lpstr>
      <vt:lpstr>mystyle</vt:lpstr>
      <vt:lpstr>PowerPoint 演示文稿</vt:lpstr>
      <vt:lpstr>Members</vt:lpstr>
      <vt:lpstr>Hires</vt:lpstr>
      <vt:lpstr>SELECT and DISTINCT</vt:lpstr>
      <vt:lpstr>Practice: Q1</vt:lpstr>
      <vt:lpstr>Solutions: Q1</vt:lpstr>
      <vt:lpstr>Practice: Q2</vt:lpstr>
      <vt:lpstr>Solutions: Q2 (1)</vt:lpstr>
      <vt:lpstr>Solutions: Q2 (2)</vt:lpstr>
      <vt:lpstr>WHERE and String Literals</vt:lpstr>
      <vt:lpstr>Practice: Q3</vt:lpstr>
      <vt:lpstr>Solutions: Q3</vt:lpstr>
      <vt:lpstr>Practice: Q4</vt:lpstr>
      <vt:lpstr>Solutions: Q4</vt:lpstr>
      <vt:lpstr>Expressions, AS and LIKE</vt:lpstr>
      <vt:lpstr>Practice: Q5</vt:lpstr>
      <vt:lpstr>Solutions: Q5</vt:lpstr>
      <vt:lpstr>Practice: Q6</vt:lpstr>
      <vt:lpstr>Solutions: Q6</vt:lpstr>
      <vt:lpstr>ORDER BY</vt:lpstr>
      <vt:lpstr>Practice: Q7</vt:lpstr>
      <vt:lpstr>Solutions: Q7</vt:lpstr>
      <vt:lpstr>FROM and INNER JOIN</vt:lpstr>
      <vt:lpstr>Practice: Q8</vt:lpstr>
      <vt:lpstr>Solutions: Q8</vt:lpstr>
      <vt:lpstr>Practice: Q9</vt:lpstr>
      <vt:lpstr>Solutions: Q9</vt:lpstr>
      <vt:lpstr>Practice: Q10</vt:lpstr>
      <vt:lpstr>Solutions: Q10</vt:lpstr>
      <vt:lpstr>NATURAL JOIN and Self-joins</vt:lpstr>
      <vt:lpstr>Practice: Q11</vt:lpstr>
      <vt:lpstr>Solutions: Q11 (1)</vt:lpstr>
      <vt:lpstr>Solutions: Q11 (2)</vt:lpstr>
      <vt:lpstr>Solutions: Q11 (2) Result</vt:lpstr>
      <vt:lpstr>Practice: Q12</vt:lpstr>
      <vt:lpstr>Solutions: Q12</vt:lpstr>
      <vt:lpstr>Solutions: Q12 Result</vt:lpstr>
      <vt:lpstr>UNION, INTERSECT and EXCEPT</vt:lpstr>
      <vt:lpstr>Practice: Q13</vt:lpstr>
      <vt:lpstr>Solutions: Q13 (1)</vt:lpstr>
      <vt:lpstr>Solutions: Q13 (2)</vt:lpstr>
      <vt:lpstr>Solutions: Q13 (2) Result</vt:lpstr>
      <vt:lpstr>Practice: Q14</vt:lpstr>
      <vt:lpstr>Solutions: Q14 (1)</vt:lpstr>
      <vt:lpstr>Solutions: Q14 (2)</vt:lpstr>
      <vt:lpstr>Practice: Q15</vt:lpstr>
      <vt:lpstr>Solutions: Q15</vt:lpstr>
      <vt:lpstr>Aggregate Functions and NULL</vt:lpstr>
      <vt:lpstr>Practice: Q16</vt:lpstr>
      <vt:lpstr>Solutions: Q16</vt:lpstr>
      <vt:lpstr>Practice: Q17</vt:lpstr>
      <vt:lpstr>Solutions: Q17</vt:lpstr>
      <vt:lpstr>GROUP BY and HAVING</vt:lpstr>
      <vt:lpstr>Practice: Q18</vt:lpstr>
      <vt:lpstr>Solutions: Q18</vt:lpstr>
      <vt:lpstr>Practice: Q19</vt:lpstr>
      <vt:lpstr>Solutions: Q19</vt:lpstr>
      <vt:lpstr>Practice: Q20</vt:lpstr>
      <vt:lpstr>Solutions: Q20 (1)</vt:lpstr>
      <vt:lpstr>Solutions: Q20 (2)</vt:lpstr>
      <vt:lpstr>Practice: Q21</vt:lpstr>
      <vt:lpstr>Solutions: Q21</vt:lpstr>
      <vt:lpstr>Practice: Q22</vt:lpstr>
      <vt:lpstr>Solutions: Q22</vt:lpstr>
      <vt:lpstr>Scalar Subqueries and IN</vt:lpstr>
      <vt:lpstr>Practice: Q23</vt:lpstr>
      <vt:lpstr>Solutions: Q23</vt:lpstr>
      <vt:lpstr>Practice: Q24</vt:lpstr>
      <vt:lpstr>Solutions: Q24</vt:lpstr>
      <vt:lpstr>Practice: Q25</vt:lpstr>
      <vt:lpstr>Solutions: Q25</vt:lpstr>
      <vt:lpstr>EXISTS and Correlation</vt:lpstr>
      <vt:lpstr>Practice: Q27</vt:lpstr>
      <vt:lpstr>Solutions: Q27 (1)</vt:lpstr>
      <vt:lpstr>Solutions: Q27 (2)</vt:lpstr>
      <vt:lpstr>Practice: Q28</vt:lpstr>
      <vt:lpstr>Solutions: Q28 (1)</vt:lpstr>
      <vt:lpstr>Solutions: Q28 (2)</vt:lpstr>
      <vt:lpstr>Practice: Q29</vt:lpstr>
      <vt:lpstr>Solutions: Q29</vt:lpstr>
      <vt:lpstr>ANY, SOME and ALL</vt:lpstr>
      <vt:lpstr>Practice: Q30</vt:lpstr>
      <vt:lpstr>Solutions: Q30</vt:lpstr>
      <vt:lpstr>Practice: Q31</vt:lpstr>
      <vt:lpstr>Solutions: Q31</vt:lpstr>
      <vt:lpstr>Practice: Q32</vt:lpstr>
      <vt:lpstr>Solutions: Q32</vt:lpstr>
      <vt:lpstr>Division: Every Required Item</vt:lpstr>
      <vt:lpstr>Practice: Q33</vt:lpstr>
      <vt:lpstr>Solutions: Q33 (1)</vt:lpstr>
      <vt:lpstr>Solutions: Q33 (2)</vt:lpstr>
      <vt:lpstr>Practice: Q34</vt:lpstr>
      <vt:lpstr>Solutions: Q34 (1)</vt:lpstr>
      <vt:lpstr>Solutions: Q34 (2)</vt:lpstr>
      <vt:lpstr>Cardinality and Derived Tables</vt:lpstr>
      <vt:lpstr>Practice: Q35</vt:lpstr>
      <vt:lpstr>Solutions: Q35 (1)</vt:lpstr>
      <vt:lpstr>Solutions: Q35 (2)</vt:lpstr>
      <vt:lpstr>Practice: Q36</vt:lpstr>
      <vt:lpstr>Solutions: Q36 (1)</vt:lpstr>
      <vt:lpstr>Solutions: Q36 (2)</vt:lpstr>
      <vt:lpstr>Solutions: Q36 (2)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潇 晏</cp:lastModifiedBy>
  <cp:revision>4</cp:revision>
  <dcterms:created xsi:type="dcterms:W3CDTF">2026-09-29T03:49:33Z</dcterms:created>
  <dcterms:modified xsi:type="dcterms:W3CDTF">2026-10-12T13:52:17Z</dcterms:modified>
</cp:coreProperties>
</file>