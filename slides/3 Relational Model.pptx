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9" r:id="rId16"/>
    <p:sldId id="270" r:id="rId17"/>
    <p:sldId id="276" r:id="rId18"/>
    <p:sldId id="272" r:id="rId19"/>
    <p:sldId id="273" r:id="rId20"/>
    <p:sldId id="274" r:id="rId21"/>
    <p:sldId id="275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2661F-A94E-E245-9EDB-01B6BC121B33}" v="1" dt="2020-01-21T08:08:09.3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33" autoAdjust="0"/>
    <p:restoredTop sz="90901"/>
  </p:normalViewPr>
  <p:slideViewPr>
    <p:cSldViewPr>
      <p:cViewPr varScale="1">
        <p:scale>
          <a:sx n="82" d="100"/>
          <a:sy n="82" d="100"/>
        </p:scale>
        <p:origin x="138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 Hon Wong (CSD)" userId="8fba6e85-6ca5-468f-9934-ec14d6b7184c" providerId="ADAL" clId="{4992661F-A94E-E245-9EDB-01B6BC121B33}"/>
    <pc:docChg chg="custSel modSld">
      <pc:chgData name="Man Hon Wong (CSD)" userId="8fba6e85-6ca5-468f-9934-ec14d6b7184c" providerId="ADAL" clId="{4992661F-A94E-E245-9EDB-01B6BC121B33}" dt="2020-01-21T08:12:21.643" v="12" actId="5793"/>
      <pc:docMkLst>
        <pc:docMk/>
      </pc:docMkLst>
      <pc:sldChg chg="modSp">
        <pc:chgData name="Man Hon Wong (CSD)" userId="8fba6e85-6ca5-468f-9934-ec14d6b7184c" providerId="ADAL" clId="{4992661F-A94E-E245-9EDB-01B6BC121B33}" dt="2020-01-21T08:01:21.086" v="5" actId="20577"/>
        <pc:sldMkLst>
          <pc:docMk/>
          <pc:sldMk cId="0" sldId="287"/>
        </pc:sldMkLst>
        <pc:spChg chg="mod">
          <ac:chgData name="Man Hon Wong (CSD)" userId="8fba6e85-6ca5-468f-9934-ec14d6b7184c" providerId="ADAL" clId="{4992661F-A94E-E245-9EDB-01B6BC121B33}" dt="2020-01-21T08:01:21.086" v="5" actId="20577"/>
          <ac:spMkLst>
            <pc:docMk/>
            <pc:sldMk cId="0" sldId="287"/>
            <ac:spMk id="45058" creationId="{92B33112-F50C-1F4B-96DA-6C7B70CF2102}"/>
          </ac:spMkLst>
        </pc:spChg>
      </pc:sldChg>
      <pc:sldChg chg="addSp modSp">
        <pc:chgData name="Man Hon Wong (CSD)" userId="8fba6e85-6ca5-468f-9934-ec14d6b7184c" providerId="ADAL" clId="{4992661F-A94E-E245-9EDB-01B6BC121B33}" dt="2020-01-21T08:08:09.384" v="6"/>
        <pc:sldMkLst>
          <pc:docMk/>
          <pc:sldMk cId="0" sldId="291"/>
        </pc:sldMkLst>
        <pc:spChg chg="mod">
          <ac:chgData name="Man Hon Wong (CSD)" userId="8fba6e85-6ca5-468f-9934-ec14d6b7184c" providerId="ADAL" clId="{4992661F-A94E-E245-9EDB-01B6BC121B33}" dt="2020-01-21T08:08:09.384" v="6"/>
          <ac:spMkLst>
            <pc:docMk/>
            <pc:sldMk cId="0" sldId="291"/>
            <ac:spMk id="49154" creationId="{B80A1679-72B9-864C-9CC1-7B48A495A2AC}"/>
          </ac:spMkLst>
        </pc:spChg>
        <pc:picChg chg="add">
          <ac:chgData name="Man Hon Wong (CSD)" userId="8fba6e85-6ca5-468f-9934-ec14d6b7184c" providerId="ADAL" clId="{4992661F-A94E-E245-9EDB-01B6BC121B33}" dt="2020-01-21T08:08:09.384" v="6"/>
          <ac:picMkLst>
            <pc:docMk/>
            <pc:sldMk cId="0" sldId="291"/>
            <ac:picMk id="2" creationId="{A4749074-C72D-6B42-89F8-403251E89177}"/>
          </ac:picMkLst>
        </pc:picChg>
      </pc:sldChg>
      <pc:sldChg chg="modSp">
        <pc:chgData name="Man Hon Wong (CSD)" userId="8fba6e85-6ca5-468f-9934-ec14d6b7184c" providerId="ADAL" clId="{4992661F-A94E-E245-9EDB-01B6BC121B33}" dt="2020-01-21T08:12:14.946" v="9" actId="5793"/>
        <pc:sldMkLst>
          <pc:docMk/>
          <pc:sldMk cId="0" sldId="294"/>
        </pc:sldMkLst>
        <pc:spChg chg="mod">
          <ac:chgData name="Man Hon Wong (CSD)" userId="8fba6e85-6ca5-468f-9934-ec14d6b7184c" providerId="ADAL" clId="{4992661F-A94E-E245-9EDB-01B6BC121B33}" dt="2020-01-21T08:12:14.946" v="9" actId="5793"/>
          <ac:spMkLst>
            <pc:docMk/>
            <pc:sldMk cId="0" sldId="294"/>
            <ac:spMk id="52234" creationId="{22A35B3C-37E8-1B4A-94B1-0DDF5756B96D}"/>
          </ac:spMkLst>
        </pc:spChg>
      </pc:sldChg>
      <pc:sldChg chg="modSp">
        <pc:chgData name="Man Hon Wong (CSD)" userId="8fba6e85-6ca5-468f-9934-ec14d6b7184c" providerId="ADAL" clId="{4992661F-A94E-E245-9EDB-01B6BC121B33}" dt="2020-01-21T08:12:21.643" v="12" actId="5793"/>
        <pc:sldMkLst>
          <pc:docMk/>
          <pc:sldMk cId="0" sldId="295"/>
        </pc:sldMkLst>
        <pc:spChg chg="mod">
          <ac:chgData name="Man Hon Wong (CSD)" userId="8fba6e85-6ca5-468f-9934-ec14d6b7184c" providerId="ADAL" clId="{4992661F-A94E-E245-9EDB-01B6BC121B33}" dt="2020-01-21T08:12:21.643" v="12" actId="5793"/>
          <ac:spMkLst>
            <pc:docMk/>
            <pc:sldMk cId="0" sldId="295"/>
            <ac:spMk id="53255" creationId="{6F3AE413-5B71-8E4B-B605-EF6D63ECD36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C725094-5C30-D049-ADB4-92F605850C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8129AB1E-3B06-CE4B-902B-77DD6909F8D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D08217D-AD88-1C4F-8E6E-C8C86382EC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97F14A8E-9134-EF42-9E8F-E7E5A537D10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C69C0212-8AD5-E446-BC93-13F0BCC6893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5AD8E8EA-DC50-6443-96B8-7EFC7DABD4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49AADE7-A0D3-F348-ADD7-33A0FCFA13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F7E873EA-CFEC-E513-EBBE-158BBAFF3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30DC7171-BEED-B983-9D14-97E5F048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273197D2-6BC4-7960-F732-08BB7BA88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811A2E6-4093-4081-B2B0-306BB180A303}" type="slidenum">
              <a:rPr lang="en-US" altLang="en-US" smtClean="0">
                <a:latin typeface="Times New Roman" panose="02020603050405020304" pitchFamily="18" charset="0"/>
                <a:ea typeface="新細明體" panose="02020500000000000000" pitchFamily="18" charset="-12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62C355-ECE8-7C4B-9974-D7C8F3C248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43F07F-B668-F146-8CE1-8D498D1204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E2F5677-7F83-6348-A841-E05AF6E793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31343E-D564-B148-B9E8-74C4A87BA5F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5115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C9F5D4-3819-894E-8546-1A37784A2C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0057F7-43EB-1C43-8519-850BC9B397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A41BBCF-115A-B64E-949A-954D40BF44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DC07DA-A5AB-6A41-B720-4B74BA39482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7180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E115F3-11B8-C849-8970-BE8B20C537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9354A6-68A6-2A4C-91B7-BE4C44FA86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5DFBE92-E8B6-D34D-A003-049EA0BF3D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F3904-3558-034F-8F57-FBF6E0DDC8A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9133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BE8EF-C661-B145-8F0F-124EF2D8F7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DFD8F8-F8D1-AC4C-B93C-FF4283EC5D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9DA904-C41D-9A40-99D3-9687704899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9002CB-45FD-6544-8F18-1017516C6E4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05026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0370C84-8257-BB49-8869-912C8B1404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5AE6600-5D86-844E-B409-1E0765FE6E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684D645-B9EA-8F45-9FC6-604E22E85DC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8FBB9-59C6-EB4B-BE24-786A5EB1E7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1045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258FA26-C0B0-D24C-9F0E-09460E86EF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76A7EE7-3BB9-9D47-AB19-E2A2E65B10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4E2AED7-9894-FA47-AF24-D4911D6AA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25777-B816-8947-8491-93D366E708D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2285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53F8F1F-129A-854F-A516-DC585CE884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85F2491-0930-024D-A56F-9FFBDFA70D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7C03E0-6060-BB4D-A0B4-C86DECB002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61E1B-D50C-F84D-BA84-77A348F42D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69428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47E120-9A1C-BC4E-A2F8-44DCB79422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E9E44C-CFA0-794B-A0C1-9D7631FA4CD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D11EB-6C30-CB41-B042-F71C9658B6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DCFC2B-FCF4-574C-A8F8-183A478009E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6091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2B8835-7C0B-4346-BB40-3F8C7D295A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46588E-105E-424A-BA87-E643D9D147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08F27-22B2-1A41-8179-61724B7AC1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25737-5046-FA40-8B65-E2CED7F5C67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413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D2F7D4-4993-AA4F-BA7F-D293D29E6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E164043-06D4-EC4C-A2CC-3B5A2CAF6D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E3F092E-DD60-8943-9A9E-8B09BA1A02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D5D56-48D1-BF4A-A335-F94244EE986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0832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4642BC-249E-9A48-817E-28323C42E6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6141151-A23D-E246-8C5E-E4815A04F0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F99BD73-1E99-1249-AE07-21AE76E9CC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F25124-E90D-2F42-8607-0B8F79B753F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660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3FE00B-4ECC-D344-A37C-BD85DCABD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98DDFE-CE76-3249-BFBD-542049E9F3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80D9DEB-B815-2E49-9FD9-16823598EA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80352C76-0EE6-9841-B956-025AF1831E7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+mn-lt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D4F41E8-7D96-0A48-A5F1-36CAC5370D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C293595-D73E-8347-AB7E-B68FF6F49C3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id="{4DFDF1B9-8E54-76DE-C422-9C9205DE6E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A66E23-9543-4669-B847-B53E9C63F297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TW" sz="1400"/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FE7F181-716D-AE66-878A-AED477EFF1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5240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/>
              <a:t>Design, Implementation and Management of Database Systems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5826542-3F4D-84E2-E156-F9FF1E0F97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295400" y="2819400"/>
            <a:ext cx="6400800" cy="533400"/>
          </a:xfrm>
        </p:spPr>
        <p:txBody>
          <a:bodyPr/>
          <a:lstStyle/>
          <a:p>
            <a:pPr eaLnBrk="1" hangingPunct="1"/>
            <a:r>
              <a:rPr lang="en-US" altLang="zh-CN" b="1"/>
              <a:t>Relational Model</a:t>
            </a:r>
            <a:endParaRPr lang="en-US" altLang="zh-TW" b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B7038FD-CBBC-3043-D3FE-6F7083BCC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3860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kern="0" dirty="0"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A046AD2F-665D-564E-8A9B-D424F1F26F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356AA6-330E-D943-9029-92A5D22B366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56C8079F-CA81-804F-A17D-BCFD4ABCB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History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D9F2F89-E0BE-FD46-B015-DD2D410287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/>
              <a:t>The relational model was proposed by Codd in 1970. (At that time most databases were based on the hierarchical model or the network model.)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Prototype relational DBMSs were developed in IBM and UC-Berkeley by the mid-1970s.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The relational model attracted a lot of attention at that time because it is simple and elegant.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/>
              <a:t>Today, the relational model is by far the dominant data model and the foundation for the leading DBMS.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E16F7BB3-A05B-0C41-A293-292878051F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59FC37-FB32-AF43-90E5-B7E28113CEE9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/>
          </a:p>
        </p:txBody>
      </p:sp>
      <p:sp>
        <p:nvSpPr>
          <p:cNvPr id="1026" name="Rectangle 2">
            <a:extLst>
              <a:ext uri="{FF2B5EF4-FFF2-40B4-BE49-F238E27FC236}">
                <a16:creationId xmlns:a16="http://schemas.microsoft.com/office/drawing/2014/main" id="{2A304285-B297-3A49-B010-0784578FA0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Introduction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9A6A6056-887D-374D-B32F-9A7C57F73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main construct for representing data in the relational model is a set of </a:t>
            </a:r>
            <a:r>
              <a:rPr lang="en-US" altLang="zh-TW">
                <a:solidFill>
                  <a:schemeClr val="accent2"/>
                </a:solidFill>
              </a:rPr>
              <a:t>relations</a:t>
            </a:r>
            <a:r>
              <a:rPr lang="en-US" altLang="zh-TW"/>
              <a:t>.</a:t>
            </a:r>
          </a:p>
          <a:p>
            <a:pPr eaLnBrk="1" hangingPunct="1"/>
            <a:r>
              <a:rPr lang="en-US" altLang="zh-TW"/>
              <a:t>A relation consists of </a:t>
            </a:r>
            <a:r>
              <a:rPr lang="en-US" altLang="zh-TW">
                <a:solidFill>
                  <a:schemeClr val="accent2"/>
                </a:solidFill>
              </a:rPr>
              <a:t>relation schema</a:t>
            </a:r>
            <a:r>
              <a:rPr lang="en-US" altLang="zh-TW"/>
              <a:t> and </a:t>
            </a:r>
            <a:r>
              <a:rPr lang="en-US" altLang="zh-TW">
                <a:solidFill>
                  <a:schemeClr val="accent2"/>
                </a:solidFill>
              </a:rPr>
              <a:t>relation instance</a:t>
            </a:r>
            <a:r>
              <a:rPr lang="en-US" altLang="zh-TW"/>
              <a:t>.</a:t>
            </a:r>
          </a:p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Relation instance</a:t>
            </a:r>
          </a:p>
          <a:p>
            <a:pPr lvl="1" eaLnBrk="1" hangingPunct="1"/>
            <a:r>
              <a:rPr lang="en-US" altLang="zh-TW"/>
              <a:t>Simply a table with rows and columns.</a:t>
            </a:r>
          </a:p>
          <a:p>
            <a:pPr lvl="2" eaLnBrk="1" hangingPunct="1"/>
            <a:r>
              <a:rPr lang="en-US" altLang="zh-TW"/>
              <a:t>Row = tuple or record</a:t>
            </a:r>
          </a:p>
          <a:p>
            <a:pPr lvl="2" eaLnBrk="1" hangingPunct="1"/>
            <a:r>
              <a:rPr lang="en-US" altLang="zh-TW"/>
              <a:t>Column = field or attribute</a:t>
            </a:r>
          </a:p>
          <a:p>
            <a:pPr lvl="1" eaLnBrk="1" hangingPunct="1"/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Number Placeholder 5">
            <a:extLst>
              <a:ext uri="{FF2B5EF4-FFF2-40B4-BE49-F238E27FC236}">
                <a16:creationId xmlns:a16="http://schemas.microsoft.com/office/drawing/2014/main" id="{2F0C8C68-0A5B-9C40-B26E-063D950761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463F41-A47B-B44E-B027-D128FDBE27E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400"/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90AA8FB4-E4D8-D741-82DA-6DDDBFB11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7912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Relation schema</a:t>
            </a:r>
          </a:p>
          <a:p>
            <a:pPr lvl="1" eaLnBrk="1" hangingPunct="1"/>
            <a:r>
              <a:rPr lang="en-US" altLang="zh-TW"/>
              <a:t>Describes the column heads for the table.</a:t>
            </a:r>
          </a:p>
          <a:p>
            <a:pPr lvl="1" eaLnBrk="1" hangingPunct="1"/>
            <a:r>
              <a:rPr lang="en-US" altLang="zh-TW"/>
              <a:t>Specifies the relation’s name, the name of each field, and the </a:t>
            </a:r>
            <a:r>
              <a:rPr lang="en-US" altLang="zh-TW">
                <a:solidFill>
                  <a:schemeClr val="accent2"/>
                </a:solidFill>
              </a:rPr>
              <a:t>domain</a:t>
            </a:r>
            <a:r>
              <a:rPr lang="en-US" altLang="zh-TW"/>
              <a:t> of each field.</a:t>
            </a:r>
          </a:p>
          <a:p>
            <a:pPr lvl="2" eaLnBrk="1" hangingPunct="1"/>
            <a:r>
              <a:rPr lang="en-US" altLang="zh-TW"/>
              <a:t>A domain is referred to by the </a:t>
            </a:r>
            <a:r>
              <a:rPr lang="en-US" altLang="zh-TW">
                <a:solidFill>
                  <a:schemeClr val="accent2"/>
                </a:solidFill>
              </a:rPr>
              <a:t>domain name</a:t>
            </a:r>
            <a:r>
              <a:rPr lang="en-US" altLang="zh-TW"/>
              <a:t> and has a set of associated </a:t>
            </a:r>
            <a:r>
              <a:rPr lang="en-US" altLang="zh-TW">
                <a:solidFill>
                  <a:schemeClr val="accent2"/>
                </a:solidFill>
              </a:rPr>
              <a:t>value</a:t>
            </a:r>
            <a:r>
              <a:rPr lang="en-US" altLang="zh-TW"/>
              <a:t>s.</a:t>
            </a:r>
          </a:p>
          <a:p>
            <a:pPr lvl="1" eaLnBrk="1" hangingPunct="1">
              <a:buFontTx/>
              <a:buNone/>
            </a:pPr>
            <a:r>
              <a:rPr lang="en-US" altLang="zh-TW"/>
              <a:t>	Example:</a:t>
            </a:r>
          </a:p>
          <a:p>
            <a:pPr lvl="1" eaLnBrk="1" hangingPunct="1">
              <a:buFontTx/>
              <a:buNone/>
            </a:pPr>
            <a:r>
              <a:rPr lang="en-US" altLang="zh-TW"/>
              <a:t>	Students(</a:t>
            </a:r>
            <a:r>
              <a:rPr lang="en-US" altLang="zh-TW" i="1" u="sng"/>
              <a:t>sid</a:t>
            </a:r>
            <a:r>
              <a:rPr lang="en-US" altLang="zh-TW"/>
              <a:t>: string, </a:t>
            </a:r>
            <a:r>
              <a:rPr lang="en-US" altLang="zh-TW" i="1"/>
              <a:t>name</a:t>
            </a:r>
            <a:r>
              <a:rPr lang="en-US" altLang="zh-TW"/>
              <a:t>: string, </a:t>
            </a:r>
            <a:r>
              <a:rPr lang="en-US" altLang="zh-TW" i="1"/>
              <a:t>login</a:t>
            </a:r>
            <a:r>
              <a:rPr lang="en-US" altLang="zh-TW"/>
              <a:t>: string, </a:t>
            </a:r>
            <a:r>
              <a:rPr lang="en-US" altLang="zh-TW" i="1"/>
              <a:t>age</a:t>
            </a:r>
            <a:r>
              <a:rPr lang="en-US" altLang="zh-TW"/>
              <a:t>: integer, </a:t>
            </a:r>
            <a:r>
              <a:rPr lang="en-US" altLang="zh-TW" i="1"/>
              <a:t>gpa</a:t>
            </a:r>
            <a:r>
              <a:rPr lang="en-US" altLang="zh-TW"/>
              <a:t>: real)</a:t>
            </a:r>
          </a:p>
          <a:p>
            <a:pPr lvl="1" eaLnBrk="1" hangingPunct="1"/>
            <a:r>
              <a:rPr lang="en-US" altLang="zh-TW"/>
              <a:t>We can also represent the schema in the following way</a:t>
            </a:r>
          </a:p>
        </p:txBody>
      </p:sp>
      <p:graphicFrame>
        <p:nvGraphicFramePr>
          <p:cNvPr id="8220" name="Group 28">
            <a:extLst>
              <a:ext uri="{FF2B5EF4-FFF2-40B4-BE49-F238E27FC236}">
                <a16:creationId xmlns:a16="http://schemas.microsoft.com/office/drawing/2014/main" id="{BE7A7D37-B338-DD4F-B258-E281E9810DBB}"/>
              </a:ext>
            </a:extLst>
          </p:cNvPr>
          <p:cNvGraphicFramePr>
            <a:graphicFrameLocks noGrp="1"/>
          </p:cNvGraphicFramePr>
          <p:nvPr/>
        </p:nvGraphicFramePr>
        <p:xfrm>
          <a:off x="2971800" y="5999163"/>
          <a:ext cx="4572000" cy="401637"/>
        </p:xfrm>
        <a:graphic>
          <a:graphicData uri="http://schemas.openxmlformats.org/drawingml/2006/table">
            <a:tbl>
              <a:tblPr/>
              <a:tblGrid>
                <a:gridCol w="914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4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6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6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  <a:endParaRPr kumimoji="1" lang="en-US" altLang="zh-TW" sz="20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490" marB="454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marT="45490" marB="454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login</a:t>
                      </a:r>
                    </a:p>
                  </a:txBody>
                  <a:tcPr marT="45490" marB="454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marT="45490" marB="454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gpa</a:t>
                      </a:r>
                      <a:endParaRPr kumimoji="1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marT="45490" marB="454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428" name="Line 29">
            <a:extLst>
              <a:ext uri="{FF2B5EF4-FFF2-40B4-BE49-F238E27FC236}">
                <a16:creationId xmlns:a16="http://schemas.microsoft.com/office/drawing/2014/main" id="{A25707F7-27DA-7348-ADA9-66EB606D99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6362700"/>
            <a:ext cx="1828800" cy="190500"/>
          </a:xfrm>
          <a:prstGeom prst="line">
            <a:avLst/>
          </a:prstGeom>
          <a:noFill/>
          <a:ln w="9525">
            <a:solidFill>
              <a:srgbClr val="FF00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29" name="Text Box 30">
            <a:extLst>
              <a:ext uri="{FF2B5EF4-FFF2-40B4-BE49-F238E27FC236}">
                <a16:creationId xmlns:a16="http://schemas.microsoft.com/office/drawing/2014/main" id="{16FE4FC3-3EB8-CB40-913D-68A77D273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6172200"/>
            <a:ext cx="1381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FF0066"/>
                </a:solidFill>
              </a:rPr>
              <a:t>The primary key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400">
                <a:solidFill>
                  <a:srgbClr val="FF0066"/>
                </a:solidFill>
              </a:rPr>
              <a:t>is underlined</a:t>
            </a:r>
          </a:p>
        </p:txBody>
      </p:sp>
      <p:sp>
        <p:nvSpPr>
          <p:cNvPr id="17430" name="TextBox 1">
            <a:extLst>
              <a:ext uri="{FF2B5EF4-FFF2-40B4-BE49-F238E27FC236}">
                <a16:creationId xmlns:a16="http://schemas.microsoft.com/office/drawing/2014/main" id="{292B9063-3762-A242-941A-71E1D815B3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6000750"/>
            <a:ext cx="1195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000">
                <a:latin typeface="Arial" panose="020B0604020202020204" pitchFamily="34" charset="0"/>
              </a:rPr>
              <a:t>Students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7DF4D440-E0EF-DA43-9D2C-D6CF6451817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6335FAD-255B-E040-9445-C712C25B6DB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400"/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B72F0327-06C3-124E-AE94-4B371E237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zh-TW"/>
              <a:t>An example of the corresponding relational instance is as follows:</a:t>
            </a:r>
          </a:p>
        </p:txBody>
      </p:sp>
      <p:graphicFrame>
        <p:nvGraphicFramePr>
          <p:cNvPr id="9315" name="Group 99">
            <a:extLst>
              <a:ext uri="{FF2B5EF4-FFF2-40B4-BE49-F238E27FC236}">
                <a16:creationId xmlns:a16="http://schemas.microsoft.com/office/drawing/2014/main" id="{257277FA-E9D6-7C47-98C0-E132E9D5FF61}"/>
              </a:ext>
            </a:extLst>
          </p:cNvPr>
          <p:cNvGraphicFramePr>
            <a:graphicFrameLocks noGrp="1"/>
          </p:cNvGraphicFramePr>
          <p:nvPr/>
        </p:nvGraphicFramePr>
        <p:xfrm>
          <a:off x="1524000" y="2133600"/>
          <a:ext cx="6096000" cy="3470275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smith#@ee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smith@math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5">
            <a:extLst>
              <a:ext uri="{FF2B5EF4-FFF2-40B4-BE49-F238E27FC236}">
                <a16:creationId xmlns:a16="http://schemas.microsoft.com/office/drawing/2014/main" id="{653EFB68-1ED1-6D4E-866A-E5473E7B39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354829-E354-914F-ABC5-F7415029128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/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3462FED8-5736-644D-AA46-3CE88E7419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zh-TW" sz="2800"/>
              <a:t>The relation model requires that no two rows are identical. (</a:t>
            </a:r>
            <a:r>
              <a:rPr lang="en-US" altLang="zh-TW" sz="2800">
                <a:solidFill>
                  <a:srgbClr val="FF0066"/>
                </a:solidFill>
              </a:rPr>
              <a:t>In practice, some commercial systems may allow tables to have duplicate rows).</a:t>
            </a:r>
          </a:p>
          <a:p>
            <a:pPr eaLnBrk="1" hangingPunct="1"/>
            <a:r>
              <a:rPr lang="en-US" altLang="zh-TW" sz="2800"/>
              <a:t>Each relation is defined to be a set of unique tuples or rows.</a:t>
            </a:r>
          </a:p>
          <a:p>
            <a:pPr eaLnBrk="1" hangingPunct="1"/>
            <a:r>
              <a:rPr lang="en-US" altLang="zh-TW" sz="2800"/>
              <a:t>The order in which the rows are listed is not important.</a:t>
            </a:r>
          </a:p>
          <a:p>
            <a:pPr eaLnBrk="1" hangingPunct="1"/>
            <a:r>
              <a:rPr lang="en-US" altLang="zh-TW" sz="2800"/>
              <a:t>The order or the fields is not important too.</a:t>
            </a:r>
          </a:p>
          <a:p>
            <a:pPr eaLnBrk="1" hangingPunct="1"/>
            <a:r>
              <a:rPr lang="en-US" altLang="zh-TW" sz="2800"/>
              <a:t>However, an alternative convention is to list fields in a specific order and refer to a field by its position.</a:t>
            </a:r>
          </a:p>
          <a:p>
            <a:pPr eaLnBrk="1" hangingPunct="1"/>
            <a:endParaRPr lang="en-US" altLang="zh-TW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CDB28022-7494-4642-A3C8-A30D1EDEF5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022E72-749B-AF41-A02E-1E97D53D7CF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1400"/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1C5296CA-8A19-3A45-8E44-46FEC2CBA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791200"/>
          </a:xfrm>
        </p:spPr>
        <p:txBody>
          <a:bodyPr/>
          <a:lstStyle/>
          <a:p>
            <a:pPr eaLnBrk="1" hangingPunct="1"/>
            <a:r>
              <a:rPr lang="en-US" altLang="zh-TW" sz="2000"/>
              <a:t>The values that appear in a column must be drawn from the domain (domain constraints) associated with that column.</a:t>
            </a:r>
          </a:p>
          <a:p>
            <a:pPr eaLnBrk="1" hangingPunct="1"/>
            <a:r>
              <a:rPr lang="en-US" altLang="zh-TW" sz="2000"/>
              <a:t>Thus, the domain of a field is essentially the type of that field, and restricts the values that can appear in the field.</a:t>
            </a:r>
          </a:p>
          <a:p>
            <a:pPr eaLnBrk="1" hangingPunct="1"/>
            <a:r>
              <a:rPr lang="en-US" altLang="zh-TW" sz="2000"/>
              <a:t>Formally</a:t>
            </a:r>
          </a:p>
          <a:p>
            <a:pPr eaLnBrk="1" hangingPunct="1"/>
            <a:endParaRPr lang="en-US" altLang="zh-TW" sz="2000"/>
          </a:p>
          <a:p>
            <a:pPr eaLnBrk="1" hangingPunct="1"/>
            <a:endParaRPr lang="en-US" altLang="zh-TW" sz="2000"/>
          </a:p>
          <a:p>
            <a:pPr eaLnBrk="1" hangingPunct="1"/>
            <a:endParaRPr lang="en-US" altLang="zh-TW" sz="2000"/>
          </a:p>
          <a:p>
            <a:pPr eaLnBrk="1" hangingPunct="1"/>
            <a:endParaRPr lang="en-US" altLang="zh-TW" sz="2000"/>
          </a:p>
          <a:p>
            <a:pPr eaLnBrk="1" hangingPunct="1"/>
            <a:endParaRPr lang="en-US" altLang="zh-TW" sz="2000"/>
          </a:p>
          <a:p>
            <a:pPr eaLnBrk="1" hangingPunct="1"/>
            <a:endParaRPr lang="en-US" altLang="zh-TW" sz="2000"/>
          </a:p>
          <a:p>
            <a:pPr eaLnBrk="1" hangingPunct="1"/>
            <a:endParaRPr lang="en-US" altLang="zh-TW" sz="2000"/>
          </a:p>
          <a:p>
            <a:pPr eaLnBrk="1" hangingPunct="1"/>
            <a:endParaRPr lang="en-US" altLang="zh-TW" sz="2000"/>
          </a:p>
          <a:p>
            <a:pPr eaLnBrk="1" hangingPunct="1"/>
            <a:r>
              <a:rPr lang="en-US" altLang="zh-TW" sz="2000"/>
              <a:t>Using this notation (</a:t>
            </a:r>
            <a:r>
              <a:rPr lang="en-US" altLang="zh-TW" sz="2000">
                <a:solidFill>
                  <a:schemeClr val="accent2"/>
                </a:solidFill>
              </a:rPr>
              <a:t>named fields convention</a:t>
            </a:r>
            <a:r>
              <a:rPr lang="en-US" altLang="zh-TW" sz="2000"/>
              <a:t>) the first tuple in the previous table is written as: </a:t>
            </a:r>
          </a:p>
          <a:p>
            <a:pPr eaLnBrk="1" hangingPunct="1">
              <a:buFontTx/>
              <a:buNone/>
            </a:pPr>
            <a:r>
              <a:rPr lang="en-US" altLang="zh-TW" sz="2000"/>
              <a:t>	&lt;sid:50000, name:Dave, login: dave@cs,age:19,gpa:3.3&gt;</a:t>
            </a:r>
          </a:p>
          <a:p>
            <a:pPr eaLnBrk="1" hangingPunct="1"/>
            <a:endParaRPr lang="en-US" altLang="zh-TW" sz="2000"/>
          </a:p>
        </p:txBody>
      </p:sp>
      <p:graphicFrame>
        <p:nvGraphicFramePr>
          <p:cNvPr id="20483" name="Object 4">
            <a:extLst>
              <a:ext uri="{FF2B5EF4-FFF2-40B4-BE49-F238E27FC236}">
                <a16:creationId xmlns:a16="http://schemas.microsoft.com/office/drawing/2014/main" id="{2F988B08-55A2-9147-BF12-BC191660BB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7400" y="2667000"/>
          <a:ext cx="4648200" cy="265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6116200" imgH="37744400" progId="Equation.3">
                  <p:embed/>
                </p:oleObj>
              </mc:Choice>
              <mc:Fallback>
                <p:oleObj name="Equation" r:id="rId2" imgW="66116200" imgH="37744400" progId="Equation.3">
                  <p:embed/>
                  <p:pic>
                    <p:nvPicPr>
                      <p:cNvPr id="20483" name="Object 4">
                        <a:extLst>
                          <a:ext uri="{FF2B5EF4-FFF2-40B4-BE49-F238E27FC236}">
                            <a16:creationId xmlns:a16="http://schemas.microsoft.com/office/drawing/2014/main" id="{2F988B08-55A2-9147-BF12-BC191660BBC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2667000"/>
                        <a:ext cx="4648200" cy="2652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23507784-6BB7-0C45-A4A4-D97ADEEE9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91B957-A37E-0F43-A4DD-080FEC2945E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1400"/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F26264E5-AFD7-8641-922B-F623A88DA6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 sz="2800"/>
              <a:t>The </a:t>
            </a:r>
            <a:r>
              <a:rPr lang="en-US" altLang="zh-TW" sz="2800">
                <a:solidFill>
                  <a:schemeClr val="accent2"/>
                </a:solidFill>
              </a:rPr>
              <a:t>degree</a:t>
            </a:r>
            <a:r>
              <a:rPr lang="en-US" altLang="zh-TW" sz="2800"/>
              <a:t>, also called </a:t>
            </a:r>
            <a:r>
              <a:rPr lang="en-US" altLang="zh-TW" sz="2800">
                <a:solidFill>
                  <a:schemeClr val="accent2"/>
                </a:solidFill>
              </a:rPr>
              <a:t>arity</a:t>
            </a:r>
            <a:r>
              <a:rPr lang="en-US" altLang="zh-TW" sz="2800"/>
              <a:t>, of a relation is the number of fields.</a:t>
            </a:r>
          </a:p>
          <a:p>
            <a:pPr eaLnBrk="1" hangingPunct="1"/>
            <a:r>
              <a:rPr lang="en-US" altLang="zh-TW" sz="2800"/>
              <a:t>The </a:t>
            </a:r>
            <a:r>
              <a:rPr lang="en-US" altLang="zh-TW" sz="2800">
                <a:solidFill>
                  <a:schemeClr val="accent2"/>
                </a:solidFill>
              </a:rPr>
              <a:t>cardinality</a:t>
            </a:r>
            <a:r>
              <a:rPr lang="en-US" altLang="zh-TW" sz="2800"/>
              <a:t> of a relation instance is the number of tuples.</a:t>
            </a:r>
          </a:p>
          <a:p>
            <a:pPr eaLnBrk="1" hangingPunct="1"/>
            <a:r>
              <a:rPr lang="en-US" altLang="zh-TW" sz="2800"/>
              <a:t>A </a:t>
            </a:r>
            <a:r>
              <a:rPr lang="en-US" altLang="zh-TW" sz="2800">
                <a:solidFill>
                  <a:schemeClr val="accent2"/>
                </a:solidFill>
              </a:rPr>
              <a:t>relational database</a:t>
            </a:r>
            <a:r>
              <a:rPr lang="en-US" altLang="zh-TW" sz="2800"/>
              <a:t> is a collection of relations with distinct relation names.</a:t>
            </a:r>
          </a:p>
          <a:p>
            <a:pPr eaLnBrk="1" hangingPunct="1"/>
            <a:r>
              <a:rPr lang="en-US" altLang="zh-TW" sz="2800"/>
              <a:t>The </a:t>
            </a:r>
            <a:r>
              <a:rPr lang="en-US" altLang="zh-TW" sz="2800">
                <a:solidFill>
                  <a:schemeClr val="accent2"/>
                </a:solidFill>
              </a:rPr>
              <a:t>relational database schema</a:t>
            </a:r>
            <a:r>
              <a:rPr lang="en-US" altLang="zh-TW" sz="2800"/>
              <a:t> is the collection of schemas for the relations in the database.</a:t>
            </a:r>
          </a:p>
          <a:p>
            <a:pPr eaLnBrk="1" hangingPunct="1"/>
            <a:r>
              <a:rPr lang="en-US" altLang="zh-TW" sz="2800"/>
              <a:t>An </a:t>
            </a:r>
            <a:r>
              <a:rPr lang="en-US" altLang="zh-TW" sz="2800">
                <a:solidFill>
                  <a:schemeClr val="accent2"/>
                </a:solidFill>
              </a:rPr>
              <a:t>instance</a:t>
            </a:r>
            <a:r>
              <a:rPr lang="en-US" altLang="zh-TW" sz="2800"/>
              <a:t> of a relational database is a collection of relation instances (one per relation schema).</a:t>
            </a:r>
          </a:p>
          <a:p>
            <a:pPr eaLnBrk="1" hangingPunct="1"/>
            <a:endParaRPr lang="en-US" altLang="zh-TW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>
            <a:extLst>
              <a:ext uri="{FF2B5EF4-FFF2-40B4-BE49-F238E27FC236}">
                <a16:creationId xmlns:a16="http://schemas.microsoft.com/office/drawing/2014/main" id="{1B353AD8-8235-6845-A855-8E0BBD26E7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5F9C7F-5C73-4D43-A0B5-E668E119CC6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/>
          </a:p>
        </p:txBody>
      </p:sp>
      <p:sp>
        <p:nvSpPr>
          <p:cNvPr id="13314" name="Rectangle 2">
            <a:extLst>
              <a:ext uri="{FF2B5EF4-FFF2-40B4-BE49-F238E27FC236}">
                <a16:creationId xmlns:a16="http://schemas.microsoft.com/office/drawing/2014/main" id="{66DFDBBA-51E0-E54E-A91D-43D6CE993D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Creating and Modifying Relations using SQL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A94A2E0-C6CB-AE48-A392-0EB1178B93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526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zh-TW"/>
              <a:t>The subset of SQL that supports the creation, deletion, and modification of tables is called the </a:t>
            </a:r>
            <a:r>
              <a:rPr lang="en-US" altLang="zh-TW">
                <a:solidFill>
                  <a:schemeClr val="accent2"/>
                </a:solidFill>
              </a:rPr>
              <a:t>Data Definition Language (DDL).</a:t>
            </a:r>
          </a:p>
          <a:p>
            <a:pPr eaLnBrk="1" hangingPunct="1"/>
            <a:r>
              <a:rPr lang="en-US" altLang="zh-TW"/>
              <a:t>To </a:t>
            </a:r>
            <a:r>
              <a:rPr lang="en-US" altLang="zh-TW">
                <a:solidFill>
                  <a:schemeClr val="accent2"/>
                </a:solidFill>
              </a:rPr>
              <a:t>create</a:t>
            </a:r>
            <a:r>
              <a:rPr lang="en-US" altLang="zh-TW"/>
              <a:t> the Student relation:</a:t>
            </a:r>
          </a:p>
          <a:p>
            <a:pPr eaLnBrk="1" hangingPunct="1">
              <a:buFontTx/>
              <a:buNone/>
            </a:pPr>
            <a:r>
              <a:rPr lang="en-US" altLang="zh-TW"/>
              <a:t>						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FF620C41-68DB-A344-9E23-6841926EC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419600"/>
            <a:ext cx="5883275" cy="204152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Create table Students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(sid	CHAR(20),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name	CHAR(30),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login	CHAR(20),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age	INTEGER,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gpa	REAL)</a:t>
            </a:r>
            <a:endParaRPr lang="zh-TW" alt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2001B4F5-566E-6244-B2EF-6AB57A5AE8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F5B50D-CF08-6349-ACF6-45094BDBCA28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/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1937D84A-7729-4F47-869E-88FAE176EC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zh-TW"/>
              <a:t>To </a:t>
            </a:r>
            <a:r>
              <a:rPr lang="en-US" altLang="zh-TW">
                <a:solidFill>
                  <a:schemeClr val="accent2"/>
                </a:solidFill>
              </a:rPr>
              <a:t>insert </a:t>
            </a:r>
            <a:r>
              <a:rPr lang="en-US" altLang="zh-TW"/>
              <a:t>a single tuple:</a:t>
            </a:r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Note that we can optimally omit the list of column names in the INTO clause and list the values in the appropriate order.</a:t>
            </a:r>
          </a:p>
          <a:p>
            <a:pPr eaLnBrk="1" hangingPunct="1"/>
            <a:r>
              <a:rPr lang="en-US" altLang="zh-TW"/>
              <a:t>It is a good style to be explicit about column names.</a:t>
            </a:r>
          </a:p>
        </p:txBody>
      </p:sp>
      <p:sp>
        <p:nvSpPr>
          <p:cNvPr id="23555" name="Text Box 4">
            <a:extLst>
              <a:ext uri="{FF2B5EF4-FFF2-40B4-BE49-F238E27FC236}">
                <a16:creationId xmlns:a16="http://schemas.microsoft.com/office/drawing/2014/main" id="{9D6D6822-A668-D043-9459-61910FA9D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219200"/>
            <a:ext cx="5006975" cy="112712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000"/>
              <a:t>Insert</a:t>
            </a:r>
          </a:p>
          <a:p>
            <a:pPr eaLnBrk="1" hangingPunct="1">
              <a:buFontTx/>
              <a:buNone/>
            </a:pPr>
            <a:r>
              <a:rPr lang="en-US" altLang="zh-TW" sz="2000"/>
              <a:t>into	 Students  (sid, name, login, age, gpa)</a:t>
            </a:r>
          </a:p>
          <a:p>
            <a:pPr eaLnBrk="1" hangingPunct="1">
              <a:buFontTx/>
              <a:buNone/>
            </a:pPr>
            <a:r>
              <a:rPr lang="en-US" altLang="zh-TW" sz="2000"/>
              <a:t>Values	 (53688, ‘Smith’, ‘smith@ee’, 18, 3.2)</a:t>
            </a:r>
            <a:endParaRPr lang="zh-TW" altLang="en-US" sz="2400"/>
          </a:p>
        </p:txBody>
      </p:sp>
      <p:sp>
        <p:nvSpPr>
          <p:cNvPr id="23556" name="Line 5">
            <a:extLst>
              <a:ext uri="{FF2B5EF4-FFF2-40B4-BE49-F238E27FC236}">
                <a16:creationId xmlns:a16="http://schemas.microsoft.com/office/drawing/2014/main" id="{8F117AB5-5BE0-2940-98AD-0AAA80B4AA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19800" y="1828800"/>
            <a:ext cx="533400" cy="304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57" name="Text Box 6">
            <a:extLst>
              <a:ext uri="{FF2B5EF4-FFF2-40B4-BE49-F238E27FC236}">
                <a16:creationId xmlns:a16="http://schemas.microsoft.com/office/drawing/2014/main" id="{BF294601-0349-1840-9371-FF064C788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1943100"/>
            <a:ext cx="222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The list of column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800">
                <a:solidFill>
                  <a:srgbClr val="FF0000"/>
                </a:solidFill>
              </a:rPr>
              <a:t>names can be omitted</a:t>
            </a:r>
            <a:r>
              <a:rPr lang="en-US" altLang="zh-TW" sz="1800">
                <a:solidFill>
                  <a:srgbClr val="FF0066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346085CE-A4E3-C248-927B-6C8E376EC9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8FDB29-67B6-F341-A73D-B3D71F170A9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/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D0E7D914-030B-EC49-A4D9-3DC0B9E93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TW"/>
              <a:t>Delete tuples using the </a:t>
            </a:r>
            <a:r>
              <a:rPr lang="en-US" altLang="zh-TW">
                <a:solidFill>
                  <a:schemeClr val="accent2"/>
                </a:solidFill>
              </a:rPr>
              <a:t>DELETE</a:t>
            </a:r>
            <a:r>
              <a:rPr lang="en-US" altLang="zh-TW"/>
              <a:t> command:</a:t>
            </a:r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Modify the column values in an existing row using the </a:t>
            </a:r>
            <a:r>
              <a:rPr lang="en-US" altLang="zh-TW">
                <a:solidFill>
                  <a:schemeClr val="accent2"/>
                </a:solidFill>
              </a:rPr>
              <a:t>UPDATE </a:t>
            </a:r>
            <a:r>
              <a:rPr lang="en-US" altLang="zh-TW"/>
              <a:t>command:</a:t>
            </a:r>
          </a:p>
          <a:p>
            <a:pPr eaLnBrk="1" hangingPunct="1"/>
            <a:endParaRPr lang="en-US" altLang="zh-TW" sz="2000"/>
          </a:p>
        </p:txBody>
      </p:sp>
      <p:sp>
        <p:nvSpPr>
          <p:cNvPr id="24579" name="Text Box 4">
            <a:extLst>
              <a:ext uri="{FF2B5EF4-FFF2-40B4-BE49-F238E27FC236}">
                <a16:creationId xmlns:a16="http://schemas.microsoft.com/office/drawing/2014/main" id="{21D8A28A-433A-294B-9DAC-5E4C762907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447800"/>
            <a:ext cx="3013075" cy="10064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DELETE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FROM	  Students 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WHERE  S.name = ‘Smith’</a:t>
            </a:r>
          </a:p>
        </p:txBody>
      </p:sp>
      <p:sp>
        <p:nvSpPr>
          <p:cNvPr id="24580" name="Text Box 5">
            <a:extLst>
              <a:ext uri="{FF2B5EF4-FFF2-40B4-BE49-F238E27FC236}">
                <a16:creationId xmlns:a16="http://schemas.microsoft.com/office/drawing/2014/main" id="{D063D20C-249B-BF48-BB4C-D8FFE858D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281488"/>
            <a:ext cx="4927600" cy="10064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UPDATE Students 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SET 	  S.age = S.age + 1, S.gpa = S.gpa –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WHERE  S.sid = 53688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9EBA3670-7F2D-B44D-94D8-5811D64925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B81EB9A-197E-7641-A9B4-3F3597CDF4B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/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A9C98555-9BA5-214B-8394-A9104A50A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zh-TW"/>
              <a:t>Note that</a:t>
            </a:r>
          </a:p>
          <a:p>
            <a:pPr lvl="1" eaLnBrk="1" hangingPunct="1"/>
            <a:r>
              <a:rPr lang="en-US" altLang="zh-TW"/>
              <a:t>The WHERE clause is applied first and determines which rows are to be modified.</a:t>
            </a:r>
          </a:p>
          <a:p>
            <a:pPr lvl="1" eaLnBrk="1" hangingPunct="1"/>
            <a:r>
              <a:rPr lang="en-US" altLang="zh-TW"/>
              <a:t>The set clause then determines how the rows are to be modified.</a:t>
            </a:r>
          </a:p>
          <a:p>
            <a:pPr lvl="1" eaLnBrk="1" hangingPunct="1"/>
            <a:r>
              <a:rPr lang="en-US" altLang="zh-TW"/>
              <a:t>The expression on the right side of equals is the old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3">
            <a:extLst>
              <a:ext uri="{FF2B5EF4-FFF2-40B4-BE49-F238E27FC236}">
                <a16:creationId xmlns:a16="http://schemas.microsoft.com/office/drawing/2014/main" id="{E7D7A651-9A58-E74D-9E2F-61AED31F16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1E7943-AEEE-6E49-B611-24A50D94EFC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/>
          </a:p>
        </p:txBody>
      </p:sp>
      <p:graphicFrame>
        <p:nvGraphicFramePr>
          <p:cNvPr id="17469" name="Group 61">
            <a:extLst>
              <a:ext uri="{FF2B5EF4-FFF2-40B4-BE49-F238E27FC236}">
                <a16:creationId xmlns:a16="http://schemas.microsoft.com/office/drawing/2014/main" id="{E1F4C1A3-DE09-974E-8273-58D7204157D2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457200"/>
          <a:ext cx="5867400" cy="2133600"/>
        </p:xfrm>
        <a:graphic>
          <a:graphicData uri="http://schemas.openxmlformats.org/drawingml/2006/table">
            <a:tbl>
              <a:tblPr/>
              <a:tblGrid>
                <a:gridCol w="9540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7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79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8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smith#@ee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smith@math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522" name="Group 114">
            <a:extLst>
              <a:ext uri="{FF2B5EF4-FFF2-40B4-BE49-F238E27FC236}">
                <a16:creationId xmlns:a16="http://schemas.microsoft.com/office/drawing/2014/main" id="{1AE7DB48-F48D-FB4C-9728-BD30F1BD3320}"/>
              </a:ext>
            </a:extLst>
          </p:cNvPr>
          <p:cNvGraphicFramePr>
            <a:graphicFrameLocks noGrp="1"/>
          </p:cNvGraphicFramePr>
          <p:nvPr/>
        </p:nvGraphicFramePr>
        <p:xfrm>
          <a:off x="1911350" y="4572000"/>
          <a:ext cx="5943600" cy="2138363"/>
        </p:xfrm>
        <a:graphic>
          <a:graphicData uri="http://schemas.openxmlformats.org/drawingml/2006/table">
            <a:tbl>
              <a:tblPr/>
              <a:tblGrid>
                <a:gridCol w="9664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8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85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92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  <a:endParaRPr kumimoji="1" lang="en-US" altLang="zh-TW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smith#@ee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smith@math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6728" name="Text Box 115">
            <a:extLst>
              <a:ext uri="{FF2B5EF4-FFF2-40B4-BE49-F238E27FC236}">
                <a16:creationId xmlns:a16="http://schemas.microsoft.com/office/drawing/2014/main" id="{713D5D45-13F8-9749-9445-EDB3CDA29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276600"/>
            <a:ext cx="3319463" cy="10064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UPDATE  Students 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SET           S.gpa = S.gpa – 0.1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WHERE	    S.gpa &gt;= 3.3</a:t>
            </a:r>
          </a:p>
        </p:txBody>
      </p:sp>
      <p:sp>
        <p:nvSpPr>
          <p:cNvPr id="26729" name="Freeform 116">
            <a:extLst>
              <a:ext uri="{FF2B5EF4-FFF2-40B4-BE49-F238E27FC236}">
                <a16:creationId xmlns:a16="http://schemas.microsoft.com/office/drawing/2014/main" id="{23CF0623-942E-6843-9DEB-853E4DD7EB05}"/>
              </a:ext>
            </a:extLst>
          </p:cNvPr>
          <p:cNvSpPr>
            <a:spLocks/>
          </p:cNvSpPr>
          <p:nvPr/>
        </p:nvSpPr>
        <p:spPr bwMode="auto">
          <a:xfrm>
            <a:off x="917575" y="2649538"/>
            <a:ext cx="987425" cy="3370262"/>
          </a:xfrm>
          <a:custGeom>
            <a:avLst/>
            <a:gdLst>
              <a:gd name="T0" fmla="*/ 0 w 1235"/>
              <a:gd name="T1" fmla="*/ 0 h 2123"/>
              <a:gd name="T2" fmla="*/ 2147483646 w 1235"/>
              <a:gd name="T3" fmla="*/ 2147483646 h 2123"/>
              <a:gd name="T4" fmla="*/ 2147483646 w 1235"/>
              <a:gd name="T5" fmla="*/ 2147483646 h 2123"/>
              <a:gd name="T6" fmla="*/ 0 60000 65536"/>
              <a:gd name="T7" fmla="*/ 0 60000 65536"/>
              <a:gd name="T8" fmla="*/ 0 60000 65536"/>
              <a:gd name="T9" fmla="*/ 0 w 1235"/>
              <a:gd name="T10" fmla="*/ 0 h 2123"/>
              <a:gd name="T11" fmla="*/ 1235 w 1235"/>
              <a:gd name="T12" fmla="*/ 2123 h 21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35" h="2123">
                <a:moveTo>
                  <a:pt x="0" y="0"/>
                </a:moveTo>
                <a:lnTo>
                  <a:pt x="6" y="2123"/>
                </a:lnTo>
                <a:lnTo>
                  <a:pt x="1235" y="2119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F11C8913-DD41-1342-89F3-9853B0B3ED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DE517A-AABA-584E-8287-37F6638FAB2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TW" sz="1400"/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53497311-F4AF-7043-8777-F1FD30F9B5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dirty="0"/>
              <a:t>Integrity Constraints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EFC95316-0CAC-6442-9A2B-513B9B5605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An </a:t>
            </a:r>
            <a:r>
              <a:rPr lang="en-US" altLang="zh-TW">
                <a:solidFill>
                  <a:schemeClr val="accent2"/>
                </a:solidFill>
              </a:rPr>
              <a:t>integrity constraint (IC)</a:t>
            </a:r>
            <a:r>
              <a:rPr lang="en-US" altLang="zh-TW"/>
              <a:t> is </a:t>
            </a:r>
          </a:p>
          <a:p>
            <a:pPr lvl="1" eaLnBrk="1" hangingPunct="1"/>
            <a:r>
              <a:rPr lang="en-US" altLang="zh-TW"/>
              <a:t>a </a:t>
            </a:r>
            <a:r>
              <a:rPr lang="en-US" altLang="zh-TW">
                <a:solidFill>
                  <a:schemeClr val="accent1"/>
                </a:solidFill>
              </a:rPr>
              <a:t>condition</a:t>
            </a:r>
            <a:r>
              <a:rPr lang="en-US" altLang="zh-TW"/>
              <a:t> that is specified on a database schema, and </a:t>
            </a:r>
          </a:p>
          <a:p>
            <a:pPr lvl="1" eaLnBrk="1" hangingPunct="1"/>
            <a:r>
              <a:rPr lang="en-US" altLang="zh-TW">
                <a:solidFill>
                  <a:schemeClr val="accent1"/>
                </a:solidFill>
              </a:rPr>
              <a:t>restricts</a:t>
            </a:r>
            <a:r>
              <a:rPr lang="en-US" altLang="zh-TW"/>
              <a:t> the data that can be stored in an instance of the database.</a:t>
            </a:r>
          </a:p>
          <a:p>
            <a:pPr eaLnBrk="1" hangingPunct="1"/>
            <a:r>
              <a:rPr lang="en-US" altLang="zh-TW"/>
              <a:t>ICs are specified and enforced at different times.</a:t>
            </a:r>
          </a:p>
          <a:p>
            <a:pPr lvl="1" eaLnBrk="1" hangingPunct="1"/>
            <a:r>
              <a:rPr lang="en-US" altLang="zh-TW"/>
              <a:t>Specified when the schema is defined.</a:t>
            </a:r>
          </a:p>
          <a:p>
            <a:pPr lvl="1" eaLnBrk="1" hangingPunct="1"/>
            <a:r>
              <a:rPr lang="en-US" altLang="zh-TW"/>
              <a:t>Checked when relations are modified.</a:t>
            </a:r>
          </a:p>
          <a:p>
            <a:pPr eaLnBrk="1" hangingPunct="1"/>
            <a:endParaRPr lang="en-US" altLang="zh-TW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7A201-AEBC-ED1D-2B0C-80BD3CDB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00693C3B-5826-79AB-C77E-DCC9C65441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DE517A-AABA-584E-8287-37F6638FAB2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1036D68-0A6D-A9ED-8DE0-AE74CC66B2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9010" y="152400"/>
            <a:ext cx="7772400" cy="4572000"/>
          </a:xfrm>
        </p:spPr>
        <p:txBody>
          <a:bodyPr/>
          <a:lstStyle/>
          <a:p>
            <a:pPr eaLnBrk="1" hangingPunct="1"/>
            <a:r>
              <a:rPr lang="en-US" altLang="zh-TW" dirty="0"/>
              <a:t>Domain constraints</a:t>
            </a:r>
          </a:p>
          <a:p>
            <a:pPr lvl="1" eaLnBrk="1" hangingPunct="1"/>
            <a:r>
              <a:rPr lang="en-US" altLang="zh-TW" dirty="0"/>
              <a:t>Specify the values an attribute can take ICs are specified and enforced at different times.</a:t>
            </a:r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lvl="1" eaLnBrk="1" hangingPunct="1"/>
            <a:endParaRPr lang="en-US" altLang="zh-TW" dirty="0"/>
          </a:p>
          <a:p>
            <a:pPr marL="342900" lvl="1" indent="-342900" eaLnBrk="1" hangingPunct="1">
              <a:buChar char="•"/>
            </a:pPr>
            <a:r>
              <a:rPr lang="en-US" altLang="zh-TW" sz="3200" dirty="0">
                <a:cs typeface="+mn-cs"/>
              </a:rPr>
              <a:t>Not NULL constraint </a:t>
            </a:r>
          </a:p>
          <a:p>
            <a:pPr marL="0" indent="0" eaLnBrk="1" hangingPunct="1">
              <a:buNone/>
            </a:pPr>
            <a:endParaRPr lang="en-US" altLang="zh-TW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555E23-E142-09CE-92B2-BF80DC808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828800"/>
            <a:ext cx="5964382" cy="17145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809C476-57BA-4C23-AE81-63DAFE2E4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4533846"/>
            <a:ext cx="5704846" cy="156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2459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2D8CFDE3-DD71-2D47-A57C-FFDE2F300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C46FD3-3848-7B41-B162-25AD75737EB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2E320083-EE9D-704A-8B80-47C3C1E8EA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Key Constraints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D5A53752-30B1-F04C-96F3-7D48024671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>
                <a:solidFill>
                  <a:schemeClr val="accent2"/>
                </a:solidFill>
              </a:rPr>
              <a:t>Key constraint</a:t>
            </a:r>
            <a:r>
              <a:rPr lang="en-US" altLang="zh-TW"/>
              <a:t> </a:t>
            </a:r>
          </a:p>
          <a:p>
            <a:pPr lvl="1" eaLnBrk="1" hangingPunct="1"/>
            <a:r>
              <a:rPr lang="en-US" altLang="zh-TW"/>
              <a:t>Certain minimal subset of the fields (candidate key) of a relation is a unique identifier for  a tuple.</a:t>
            </a:r>
          </a:p>
          <a:p>
            <a:pPr lvl="1" eaLnBrk="1" hangingPunct="1"/>
            <a:r>
              <a:rPr lang="en-US" altLang="zh-TW"/>
              <a:t>Out of all the available candidate keys, a database designer can identify a primary key.</a:t>
            </a:r>
          </a:p>
          <a:p>
            <a:pPr lvl="2" eaLnBrk="1" hangingPunct="1"/>
            <a:r>
              <a:rPr lang="en-US" altLang="zh-TW"/>
              <a:t>The DBMS may create an index with the primary key.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5F75E6E6-1E3D-FF4E-80C9-3DB3DB3ED5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B103E2-6944-BC49-AE0C-FCE2C4D2324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14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636DFE64-4597-884B-AE79-64873BC0A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TW"/>
              <a:t>In SQL, we can declare</a:t>
            </a:r>
          </a:p>
          <a:p>
            <a:pPr lvl="1" eaLnBrk="1" hangingPunct="1"/>
            <a:r>
              <a:rPr lang="en-US" altLang="zh-TW"/>
              <a:t>a key by the </a:t>
            </a:r>
            <a:r>
              <a:rPr lang="en-US" altLang="zh-TW">
                <a:solidFill>
                  <a:schemeClr val="accent2"/>
                </a:solidFill>
              </a:rPr>
              <a:t>UNIQUE</a:t>
            </a:r>
            <a:r>
              <a:rPr lang="en-US" altLang="zh-TW"/>
              <a:t> command</a:t>
            </a:r>
          </a:p>
          <a:p>
            <a:pPr lvl="1" eaLnBrk="1" hangingPunct="1"/>
            <a:r>
              <a:rPr lang="en-US" altLang="zh-TW"/>
              <a:t>a primary key by the </a:t>
            </a:r>
            <a:r>
              <a:rPr lang="en-US" altLang="zh-TW">
                <a:solidFill>
                  <a:schemeClr val="accent2"/>
                </a:solidFill>
              </a:rPr>
              <a:t>PRIMARY KEY</a:t>
            </a:r>
            <a:r>
              <a:rPr lang="en-US" altLang="zh-TW"/>
              <a:t> constraint.</a:t>
            </a:r>
          </a:p>
        </p:txBody>
      </p:sp>
      <p:sp>
        <p:nvSpPr>
          <p:cNvPr id="29699" name="Text Box 3">
            <a:extLst>
              <a:ext uri="{FF2B5EF4-FFF2-40B4-BE49-F238E27FC236}">
                <a16:creationId xmlns:a16="http://schemas.microsoft.com/office/drawing/2014/main" id="{BF6B7473-16B3-0449-A983-CAF5EBFBE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819400"/>
            <a:ext cx="7239000" cy="271145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CREATE TABLE Students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(sid	CHAR(20),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name	CHAR(30),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login	CHAR(20),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age	INTEGER,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gpa	REAL,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TW" altLang="en-US" sz="2000"/>
              <a:t>	 </a:t>
            </a:r>
            <a:r>
              <a:rPr lang="en-US" altLang="zh-TW" sz="2000"/>
              <a:t>UNIQUE (name, age),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/>
              <a:t>	 CONSTRAINT StudentsKey PRIMARY KEY (</a:t>
            </a:r>
            <a:r>
              <a:rPr lang="zh-TW" altLang="en-US" sz="2000"/>
              <a:t> </a:t>
            </a:r>
            <a:r>
              <a:rPr lang="en-US" altLang="zh-TW" sz="2000"/>
              <a:t>sid))</a:t>
            </a:r>
            <a:endParaRPr lang="en-US" altLang="zh-TW" sz="2400"/>
          </a:p>
        </p:txBody>
      </p:sp>
      <p:sp>
        <p:nvSpPr>
          <p:cNvPr id="29700" name="Line 4">
            <a:extLst>
              <a:ext uri="{FF2B5EF4-FFF2-40B4-BE49-F238E27FC236}">
                <a16:creationId xmlns:a16="http://schemas.microsoft.com/office/drawing/2014/main" id="{E83803BB-A2B3-CA40-98B2-FF84720298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24400" y="4343400"/>
            <a:ext cx="6096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1" name="Line 5">
            <a:extLst>
              <a:ext uri="{FF2B5EF4-FFF2-40B4-BE49-F238E27FC236}">
                <a16:creationId xmlns:a16="http://schemas.microsoft.com/office/drawing/2014/main" id="{D29EC867-B0D7-324A-8158-719105A8306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4343400"/>
            <a:ext cx="22098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2" name="Text Box 6">
            <a:extLst>
              <a:ext uri="{FF2B5EF4-FFF2-40B4-BE49-F238E27FC236}">
                <a16:creationId xmlns:a16="http://schemas.microsoft.com/office/drawing/2014/main" id="{ADB938CD-1808-F545-AF33-93EB80D2C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3948113"/>
            <a:ext cx="477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600">
                <a:solidFill>
                  <a:srgbClr val="FF0000"/>
                </a:solidFill>
              </a:rPr>
              <a:t>key</a:t>
            </a:r>
          </a:p>
        </p:txBody>
      </p:sp>
      <p:sp>
        <p:nvSpPr>
          <p:cNvPr id="29703" name="Line 7">
            <a:extLst>
              <a:ext uri="{FF2B5EF4-FFF2-40B4-BE49-F238E27FC236}">
                <a16:creationId xmlns:a16="http://schemas.microsoft.com/office/drawing/2014/main" id="{9B9336F9-9371-5F4C-9866-5A7A34B2385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3733800"/>
            <a:ext cx="1066800" cy="1447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4" name="Text Box 8">
            <a:extLst>
              <a:ext uri="{FF2B5EF4-FFF2-40B4-BE49-F238E27FC236}">
                <a16:creationId xmlns:a16="http://schemas.microsoft.com/office/drawing/2014/main" id="{0C8F938D-B2D6-E74F-8AE1-E778D10A3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3925" y="3262313"/>
            <a:ext cx="11858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600">
                <a:solidFill>
                  <a:srgbClr val="FF0000"/>
                </a:solidFill>
              </a:rPr>
              <a:t>Primary key</a:t>
            </a:r>
          </a:p>
        </p:txBody>
      </p:sp>
      <p:sp>
        <p:nvSpPr>
          <p:cNvPr id="29705" name="Line 9">
            <a:extLst>
              <a:ext uri="{FF2B5EF4-FFF2-40B4-BE49-F238E27FC236}">
                <a16:creationId xmlns:a16="http://schemas.microsoft.com/office/drawing/2014/main" id="{C5D58D96-3877-BA4F-9343-0A9B8BE3B6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5486400"/>
            <a:ext cx="228600" cy="457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706" name="Text Box 10">
            <a:extLst>
              <a:ext uri="{FF2B5EF4-FFF2-40B4-BE49-F238E27FC236}">
                <a16:creationId xmlns:a16="http://schemas.microsoft.com/office/drawing/2014/main" id="{230D63B1-659D-624B-9207-D2F179771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6005513"/>
            <a:ext cx="63642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600">
                <a:solidFill>
                  <a:srgbClr val="FF0000"/>
                </a:solidFill>
              </a:rPr>
              <a:t>Constraint name (optional): if the constraint is violated, the constraint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600">
                <a:solidFill>
                  <a:srgbClr val="FF0000"/>
                </a:solidFill>
              </a:rPr>
              <a:t>is returned and can be used to identify the error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9442DF37-1B52-AF40-AA76-FEEC4F4A07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76008B-225B-CA49-A75C-1385E5148A62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400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3C5067A2-A9C5-C141-BEAC-1DAA1040E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Foreign key constraints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A4006DF1-8513-F146-BC33-C358A2E1C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Sometimes, the information stored in a relation is linked to the information stored in another relation.</a:t>
            </a:r>
          </a:p>
          <a:p>
            <a:pPr eaLnBrk="1" hangingPunct="1"/>
            <a:r>
              <a:rPr lang="en-US" altLang="zh-TW"/>
              <a:t>If one of the relations is modified</a:t>
            </a:r>
          </a:p>
          <a:p>
            <a:pPr lvl="1" eaLnBrk="1" hangingPunct="1"/>
            <a:r>
              <a:rPr lang="en-US" altLang="zh-TW"/>
              <a:t>The other must be checked,</a:t>
            </a:r>
          </a:p>
          <a:p>
            <a:pPr lvl="1" eaLnBrk="1" hangingPunct="1"/>
            <a:r>
              <a:rPr lang="en-US" altLang="zh-TW"/>
              <a:t>Perhaps modified, to keep the data consistent.</a:t>
            </a:r>
          </a:p>
          <a:p>
            <a:pPr eaLnBrk="1" hangingPunct="1"/>
            <a:r>
              <a:rPr lang="en-US" altLang="zh-TW"/>
              <a:t>The most common IC involving two relations is a </a:t>
            </a:r>
            <a:r>
              <a:rPr lang="en-US" altLang="zh-TW">
                <a:solidFill>
                  <a:schemeClr val="accent2"/>
                </a:solidFill>
              </a:rPr>
              <a:t>foreign key</a:t>
            </a:r>
            <a:r>
              <a:rPr lang="en-US" altLang="zh-TW"/>
              <a:t> constraint.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7024108D-015F-4445-9C62-9240DCBF6B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9BD043-8BA7-1E47-8842-EF546E27DEE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TW" sz="1400"/>
          </a:p>
        </p:txBody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07A3FB51-764C-BB41-A532-0B9082F042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/>
              <a:t>Besides Students, suppose we have the following relation:</a:t>
            </a:r>
          </a:p>
          <a:p>
            <a:pPr marL="0" indent="0" eaLnBrk="1" hangingPunct="1">
              <a:lnSpc>
                <a:spcPct val="90000"/>
              </a:lnSpc>
              <a:spcBef>
                <a:spcPts val="1200"/>
              </a:spcBef>
              <a:buNone/>
            </a:pPr>
            <a:r>
              <a:rPr lang="en-US" altLang="zh-CN" sz="2000" dirty="0"/>
              <a:t>   Student(</a:t>
            </a:r>
            <a:r>
              <a:rPr lang="en-US" altLang="zh-CN" sz="2000" dirty="0" err="1"/>
              <a:t>sid</a:t>
            </a:r>
            <a:r>
              <a:rPr lang="en-US" altLang="zh-CN" sz="2000" dirty="0"/>
              <a:t>: string, name: string, login: string, age: int, </a:t>
            </a:r>
            <a:r>
              <a:rPr lang="en-US" altLang="zh-CN" sz="2000" dirty="0" err="1"/>
              <a:t>gpa:float</a:t>
            </a:r>
            <a:r>
              <a:rPr lang="en-US" altLang="zh-CN" sz="2000" dirty="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To ensure that only genuine students can enroll in courses, any value that appears in the </a:t>
            </a:r>
            <a:r>
              <a:rPr lang="en-US" altLang="zh-TW" dirty="0" err="1"/>
              <a:t>sid</a:t>
            </a:r>
            <a:r>
              <a:rPr lang="en-US" altLang="zh-TW" dirty="0"/>
              <a:t> field of the Enrolled relation should also appear in the </a:t>
            </a:r>
            <a:r>
              <a:rPr lang="en-US" altLang="zh-TW" dirty="0" err="1"/>
              <a:t>sid</a:t>
            </a:r>
            <a:r>
              <a:rPr lang="en-US" altLang="zh-TW" dirty="0"/>
              <a:t> field of some tuple in the Students relation.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/>
              <a:t>The </a:t>
            </a:r>
            <a:r>
              <a:rPr lang="en-US" altLang="zh-TW" dirty="0" err="1"/>
              <a:t>sid</a:t>
            </a:r>
            <a:r>
              <a:rPr lang="en-US" altLang="zh-TW" dirty="0"/>
              <a:t> field of Enrolled is called a </a:t>
            </a:r>
            <a:r>
              <a:rPr lang="en-US" altLang="zh-TW" dirty="0">
                <a:solidFill>
                  <a:schemeClr val="accent2"/>
                </a:solidFill>
              </a:rPr>
              <a:t>foreign key</a:t>
            </a:r>
            <a:r>
              <a:rPr lang="en-US" altLang="zh-TW" dirty="0"/>
              <a:t> and refers to Students.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</a:pPr>
            <a:endParaRPr lang="en-US" altLang="zh-TW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000" dirty="0"/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80009F72-ED00-FC4A-9B50-F6635A520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209800"/>
            <a:ext cx="5705475" cy="457200"/>
          </a:xfrm>
          <a:prstGeom prst="rect">
            <a:avLst/>
          </a:pr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400" dirty="0"/>
              <a:t>Enrolled(</a:t>
            </a:r>
            <a:r>
              <a:rPr lang="en-US" altLang="zh-TW" sz="2400" dirty="0" err="1"/>
              <a:t>sid</a:t>
            </a:r>
            <a:r>
              <a:rPr lang="en-US" altLang="zh-TW" sz="2400" dirty="0"/>
              <a:t>: string, cid: string, grade: string)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F8008AF3-6DE5-4F4B-8D7E-0D4C7AC8C1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E4FBBA-2E9A-1642-9AE0-F01A1BF55C0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TW" sz="1400"/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1A28F073-0FA3-FA4F-B965-A3710F880A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 dirty="0"/>
              <a:t>Formally, a </a:t>
            </a:r>
            <a:r>
              <a:rPr lang="en-US" altLang="zh-TW" dirty="0">
                <a:solidFill>
                  <a:schemeClr val="accent2"/>
                </a:solidFill>
              </a:rPr>
              <a:t>foreign key</a:t>
            </a:r>
            <a:r>
              <a:rPr lang="en-US" altLang="zh-TW" dirty="0"/>
              <a:t> is a set of fields in one relation </a:t>
            </a:r>
            <a:r>
              <a:rPr lang="en-US" altLang="zh-TW" b="1" dirty="0"/>
              <a:t>r </a:t>
            </a:r>
            <a:r>
              <a:rPr lang="en-US" altLang="zh-TW" dirty="0"/>
              <a:t>that is used to “refer” to a tuple in another relation </a:t>
            </a:r>
            <a:r>
              <a:rPr lang="en-US" altLang="zh-TW" b="1" dirty="0"/>
              <a:t>s</a:t>
            </a:r>
            <a:r>
              <a:rPr lang="en-US" altLang="zh-TW" dirty="0"/>
              <a:t>. </a:t>
            </a:r>
          </a:p>
          <a:p>
            <a:pPr lvl="1" eaLnBrk="1" hangingPunct="1"/>
            <a:r>
              <a:rPr lang="en-US" altLang="zh-TW" dirty="0"/>
              <a:t>It must correspond to the primary key of s.</a:t>
            </a:r>
          </a:p>
          <a:p>
            <a:pPr lvl="1" eaLnBrk="1" hangingPunct="1"/>
            <a:r>
              <a:rPr lang="en-US" altLang="zh-TW" dirty="0"/>
              <a:t>E.g. the foreign key in referencing relation, Enrolled, must match the primary key of the referenced relation, Students.</a:t>
            </a:r>
          </a:p>
          <a:p>
            <a:pPr lvl="2" eaLnBrk="1" hangingPunct="1"/>
            <a:r>
              <a:rPr lang="en-US" altLang="zh-TW" dirty="0"/>
              <a:t>i.e., same number of columns and compatible data types (may have different names).</a:t>
            </a:r>
          </a:p>
          <a:p>
            <a:pPr eaLnBrk="1" hangingPunct="1"/>
            <a:r>
              <a:rPr lang="en-US" altLang="zh-TW" dirty="0"/>
              <a:t>The foreign key condition specifies a referential integrity constraint.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7D4B7E03-A385-2D44-81D0-BEFF67E1B9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94BD73-BDAF-634E-8FE3-438A5C4AECD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TW" sz="1400"/>
          </a:p>
        </p:txBody>
      </p:sp>
      <p:graphicFrame>
        <p:nvGraphicFramePr>
          <p:cNvPr id="24755" name="Group 179">
            <a:extLst>
              <a:ext uri="{FF2B5EF4-FFF2-40B4-BE49-F238E27FC236}">
                <a16:creationId xmlns:a16="http://schemas.microsoft.com/office/drawing/2014/main" id="{CA380B9A-FF06-0E43-8589-CE6EF1C6A4F5}"/>
              </a:ext>
            </a:extLst>
          </p:cNvPr>
          <p:cNvGraphicFramePr>
            <a:graphicFrameLocks noGrp="1"/>
          </p:cNvGraphicFramePr>
          <p:nvPr>
            <p:ph type="body" idx="1"/>
          </p:nvPr>
        </p:nvGraphicFramePr>
        <p:xfrm>
          <a:off x="4572000" y="838200"/>
          <a:ext cx="3886200" cy="2438402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smith#@ee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smith@math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4754" name="Group 178">
            <a:extLst>
              <a:ext uri="{FF2B5EF4-FFF2-40B4-BE49-F238E27FC236}">
                <a16:creationId xmlns:a16="http://schemas.microsoft.com/office/drawing/2014/main" id="{87D696B9-D342-084C-841E-9FF804A76AAA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295400"/>
          <a:ext cx="2895600" cy="1649413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grade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CSC101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ERG202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IEE321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PSY203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74" name="Line 168">
            <a:extLst>
              <a:ext uri="{FF2B5EF4-FFF2-40B4-BE49-F238E27FC236}">
                <a16:creationId xmlns:a16="http://schemas.microsoft.com/office/drawing/2014/main" id="{3FB584FF-B801-9246-A213-90391A865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828800"/>
            <a:ext cx="99060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5" name="Line 169">
            <a:extLst>
              <a:ext uri="{FF2B5EF4-FFF2-40B4-BE49-F238E27FC236}">
                <a16:creationId xmlns:a16="http://schemas.microsoft.com/office/drawing/2014/main" id="{E8F18BBD-6822-A34E-A559-C2DC3D3FC69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2098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6" name="Line 170">
            <a:extLst>
              <a:ext uri="{FF2B5EF4-FFF2-40B4-BE49-F238E27FC236}">
                <a16:creationId xmlns:a16="http://schemas.microsoft.com/office/drawing/2014/main" id="{BD407AC4-2800-AC4B-8A0E-4B3DB9B04A5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7" name="Line 171">
            <a:extLst>
              <a:ext uri="{FF2B5EF4-FFF2-40B4-BE49-F238E27FC236}">
                <a16:creationId xmlns:a16="http://schemas.microsoft.com/office/drawing/2014/main" id="{3DCCFB36-06A5-404C-B4E9-3D119F5481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1752600"/>
            <a:ext cx="99060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3878" name="Text Box 172">
            <a:extLst>
              <a:ext uri="{FF2B5EF4-FFF2-40B4-BE49-F238E27FC236}">
                <a16:creationId xmlns:a16="http://schemas.microsoft.com/office/drawing/2014/main" id="{78078885-0F81-4A43-A5E7-F1D4787777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914400"/>
            <a:ext cx="1038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400"/>
              <a:t>Foreign key</a:t>
            </a:r>
          </a:p>
        </p:txBody>
      </p:sp>
      <p:sp>
        <p:nvSpPr>
          <p:cNvPr id="33879" name="Text Box 173">
            <a:extLst>
              <a:ext uri="{FF2B5EF4-FFF2-40B4-BE49-F238E27FC236}">
                <a16:creationId xmlns:a16="http://schemas.microsoft.com/office/drawing/2014/main" id="{2C62E6D3-A6EC-BE46-835A-9D1CBC9FA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33400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400"/>
              <a:t>Primary key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EB9AF1-FA01-24EE-997F-4E17F769FE91}"/>
              </a:ext>
            </a:extLst>
          </p:cNvPr>
          <p:cNvSpPr txBox="1"/>
          <p:nvPr/>
        </p:nvSpPr>
        <p:spPr>
          <a:xfrm>
            <a:off x="1311168" y="3076547"/>
            <a:ext cx="1127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Enrolled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7DF632-9121-8F42-8E36-72C7B47BDD5C}"/>
              </a:ext>
            </a:extLst>
          </p:cNvPr>
          <p:cNvSpPr txBox="1"/>
          <p:nvPr/>
        </p:nvSpPr>
        <p:spPr>
          <a:xfrm>
            <a:off x="6096000" y="3492155"/>
            <a:ext cx="1067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Student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82327F25-38FB-5B46-9158-E64710251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6BD4D2-62E0-E940-A920-C3BD035B610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TW" sz="1400"/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6957661F-E931-5B44-8CD4-143D7D03F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3657600"/>
            <a:ext cx="7772400" cy="2743200"/>
          </a:xfrm>
        </p:spPr>
        <p:txBody>
          <a:bodyPr/>
          <a:lstStyle/>
          <a:p>
            <a:pPr eaLnBrk="1" hangingPunct="1"/>
            <a:r>
              <a:rPr lang="en-US" altLang="zh-TW" sz="2400" dirty="0"/>
              <a:t>Cannot insert &lt;55555, ART104, A&gt; into Enroll, as there is no tuple in Students with </a:t>
            </a:r>
            <a:r>
              <a:rPr lang="en-US" altLang="zh-TW" sz="2400" dirty="0" err="1"/>
              <a:t>sid</a:t>
            </a:r>
            <a:r>
              <a:rPr lang="en-US" altLang="zh-TW" sz="2400" dirty="0"/>
              <a:t> = 55555.</a:t>
            </a:r>
          </a:p>
          <a:p>
            <a:pPr eaLnBrk="1" hangingPunct="1"/>
            <a:r>
              <a:rPr lang="en-US" altLang="zh-TW" sz="2400" dirty="0"/>
              <a:t>Cannot delete &lt;53666, Jones, </a:t>
            </a:r>
            <a:r>
              <a:rPr lang="en-US" altLang="zh-TW" sz="2400" dirty="0" err="1"/>
              <a:t>jones@cs</a:t>
            </a:r>
            <a:r>
              <a:rPr lang="en-US" altLang="zh-TW" sz="2400" dirty="0"/>
              <a:t>, 18,3.4&gt; from Students; since there is a tuple in Enroll with </a:t>
            </a:r>
            <a:r>
              <a:rPr lang="en-US" altLang="zh-TW" sz="2400" dirty="0" err="1"/>
              <a:t>sid</a:t>
            </a:r>
            <a:r>
              <a:rPr lang="en-US" altLang="zh-TW" sz="2400" dirty="0"/>
              <a:t> = 53666.</a:t>
            </a:r>
          </a:p>
        </p:txBody>
      </p:sp>
      <p:graphicFrame>
        <p:nvGraphicFramePr>
          <p:cNvPr id="26628" name="Group 4">
            <a:extLst>
              <a:ext uri="{FF2B5EF4-FFF2-40B4-BE49-F238E27FC236}">
                <a16:creationId xmlns:a16="http://schemas.microsoft.com/office/drawing/2014/main" id="{371838B2-61FA-B341-8C0F-B422C77211EB}"/>
              </a:ext>
            </a:extLst>
          </p:cNvPr>
          <p:cNvGraphicFramePr>
            <a:graphicFrameLocks noGrp="1"/>
          </p:cNvGraphicFramePr>
          <p:nvPr>
            <p:ph type="tbl" idx="1"/>
          </p:nvPr>
        </p:nvGraphicFramePr>
        <p:xfrm>
          <a:off x="4572000" y="838200"/>
          <a:ext cx="3886200" cy="2438402"/>
        </p:xfrm>
        <a:graphic>
          <a:graphicData uri="http://schemas.openxmlformats.org/drawingml/2006/table">
            <a:tbl>
              <a:tblPr/>
              <a:tblGrid>
                <a:gridCol w="6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login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gpa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50000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dave@cs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jones@cs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53688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smith#@ee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smith@math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madayan@music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guldu@music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6680" name="Group 56">
            <a:extLst>
              <a:ext uri="{FF2B5EF4-FFF2-40B4-BE49-F238E27FC236}">
                <a16:creationId xmlns:a16="http://schemas.microsoft.com/office/drawing/2014/main" id="{DEFA6B08-FC20-4346-9DAE-E83FD1757AF8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295400"/>
          <a:ext cx="2895600" cy="1649413"/>
        </p:xfrm>
        <a:graphic>
          <a:graphicData uri="http://schemas.openxmlformats.org/drawingml/2006/table">
            <a:tbl>
              <a:tblPr/>
              <a:tblGrid>
                <a:gridCol w="96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6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grade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CSC101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ERG202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53832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IEE321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PSY203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53666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899" name="Line 85">
            <a:extLst>
              <a:ext uri="{FF2B5EF4-FFF2-40B4-BE49-F238E27FC236}">
                <a16:creationId xmlns:a16="http://schemas.microsoft.com/office/drawing/2014/main" id="{25987184-90FD-FF4A-83F6-BA6E5CEED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1828800"/>
            <a:ext cx="990600" cy="9144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0" name="Line 86">
            <a:extLst>
              <a:ext uri="{FF2B5EF4-FFF2-40B4-BE49-F238E27FC236}">
                <a16:creationId xmlns:a16="http://schemas.microsoft.com/office/drawing/2014/main" id="{0CB5D768-E36E-E24B-8403-FBAB02E17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2098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1" name="Line 87">
            <a:extLst>
              <a:ext uri="{FF2B5EF4-FFF2-40B4-BE49-F238E27FC236}">
                <a16:creationId xmlns:a16="http://schemas.microsoft.com/office/drawing/2014/main" id="{A1DD77AD-F517-8544-80CA-FB128EE6D9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438400"/>
            <a:ext cx="1066800" cy="762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2" name="Line 88">
            <a:extLst>
              <a:ext uri="{FF2B5EF4-FFF2-40B4-BE49-F238E27FC236}">
                <a16:creationId xmlns:a16="http://schemas.microsoft.com/office/drawing/2014/main" id="{7BF599E5-2BBD-F548-96AE-747B5D82AF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1752600"/>
            <a:ext cx="990600" cy="1066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4903" name="Text Box 89">
            <a:extLst>
              <a:ext uri="{FF2B5EF4-FFF2-40B4-BE49-F238E27FC236}">
                <a16:creationId xmlns:a16="http://schemas.microsoft.com/office/drawing/2014/main" id="{81B35677-D025-124C-846B-929FA766B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914400"/>
            <a:ext cx="1038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400"/>
              <a:t>Foreign key</a:t>
            </a:r>
          </a:p>
        </p:txBody>
      </p:sp>
      <p:sp>
        <p:nvSpPr>
          <p:cNvPr id="34904" name="Text Box 90">
            <a:extLst>
              <a:ext uri="{FF2B5EF4-FFF2-40B4-BE49-F238E27FC236}">
                <a16:creationId xmlns:a16="http://schemas.microsoft.com/office/drawing/2014/main" id="{D0818345-EA46-F64A-9A4D-E0E1AF115D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33400"/>
            <a:ext cx="1057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400"/>
              <a:t>Primary key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35E8CE02-4A89-7041-AE1C-40E1FE97B3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0094580-A0A9-3247-B815-07165092A414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TW" sz="1400"/>
          </a:p>
        </p:txBody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8E301426-7EE6-F847-8D81-CA7A8C4BB7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zh-TW"/>
              <a:t>We can specify the foreign key constraints in SQL as follows:</a:t>
            </a:r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foreign key constraint states that every sid value in Enrolled must also appear in Students.</a:t>
            </a:r>
          </a:p>
        </p:txBody>
      </p:sp>
      <p:sp>
        <p:nvSpPr>
          <p:cNvPr id="35843" name="Text Box 4">
            <a:extLst>
              <a:ext uri="{FF2B5EF4-FFF2-40B4-BE49-F238E27FC236}">
                <a16:creationId xmlns:a16="http://schemas.microsoft.com/office/drawing/2014/main" id="{FA23E28A-0618-5A43-AC07-3D54E61C6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1919288"/>
            <a:ext cx="6913563" cy="19208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CREATE TABLE Enrolled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		sid       CHAR(20),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		cid       CHAR(20),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		grade   CHAR(10),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		PRIMARY KEY (sid, cid),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2000"/>
              <a:t>		FOREIGN KEY (sid) REFERENCES Students)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D9CC72D0-3F0C-AC4D-90AB-9C2D8173C8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17A53C-2465-A849-9E64-7142E032CD58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TW" sz="1400"/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3D046193-BF35-9344-A92E-EF778552CC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marL="609600" indent="-609600" eaLnBrk="1" hangingPunct="1"/>
            <a:r>
              <a:rPr lang="en-US" altLang="en-US" sz="2800"/>
              <a:t>SQL Provides several alternative ways to handle foreign key violations:</a:t>
            </a:r>
          </a:p>
          <a:p>
            <a:pPr marL="990600" lvl="1" indent="-533400" eaLnBrk="1" hangingPunct="1"/>
            <a:r>
              <a:rPr lang="en-US" altLang="en-US" sz="2400"/>
              <a:t>What should we do if an Enrolled row is inserted, with a sid column value that does not appear in any row of the Students table?</a:t>
            </a:r>
          </a:p>
          <a:p>
            <a:pPr marL="1371600" lvl="2" indent="-457200" eaLnBrk="1" hangingPunct="1"/>
            <a:r>
              <a:rPr lang="en-US" altLang="en-US" sz="2000"/>
              <a:t>The INSERT is simply reject.</a:t>
            </a:r>
          </a:p>
          <a:p>
            <a:pPr marL="990600" lvl="1" indent="-533400" eaLnBrk="1" hangingPunct="1"/>
            <a:r>
              <a:rPr lang="en-US" altLang="en-US" sz="2400"/>
              <a:t>What should we do if a Students row is deleted?</a:t>
            </a:r>
          </a:p>
          <a:p>
            <a:pPr marL="1371600" lvl="2" indent="-457200" eaLnBrk="1" hangingPunct="1">
              <a:buFontTx/>
              <a:buAutoNum type="arabicPeriod"/>
            </a:pPr>
            <a:r>
              <a:rPr lang="en-US" altLang="en-US" sz="2000"/>
              <a:t>Delete all Enrolled rows that refer to the deleted Students row.</a:t>
            </a:r>
          </a:p>
          <a:p>
            <a:pPr marL="1371600" lvl="2" indent="-457200" eaLnBrk="1" hangingPunct="1">
              <a:buFontTx/>
              <a:buAutoNum type="arabicPeriod"/>
            </a:pPr>
            <a:r>
              <a:rPr lang="en-US" altLang="en-US" sz="2000"/>
              <a:t>Disallow the deletion of the Students row if an Enrolled row refers to it.</a:t>
            </a:r>
          </a:p>
          <a:p>
            <a:pPr marL="1371600" lvl="2" indent="-457200" eaLnBrk="1" hangingPunct="1">
              <a:buFontTx/>
              <a:buAutoNum type="arabicPeriod"/>
            </a:pPr>
            <a:r>
              <a:rPr lang="en-US" altLang="en-US" sz="2000"/>
              <a:t>Set the sid column to the sid of some existing ‘default’ student, for every Enrolled row that refers to the deleted Student row.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>
            <a:extLst>
              <a:ext uri="{FF2B5EF4-FFF2-40B4-BE49-F238E27FC236}">
                <a16:creationId xmlns:a16="http://schemas.microsoft.com/office/drawing/2014/main" id="{0EDEA7E2-0438-C345-9845-2BBB2AECA3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CBEF71-5824-3440-9AE8-58B2379388D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TW" sz="1400"/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3B05A043-760B-1C4E-A1AD-358E594A8A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marL="1371600" lvl="2" indent="-457200" eaLnBrk="1" hangingPunct="1">
              <a:buFontTx/>
              <a:buAutoNum type="arabicPeriod" startAt="4"/>
            </a:pPr>
            <a:r>
              <a:rPr lang="en-US" altLang="en-US" sz="2000"/>
              <a:t>For every Enrolled row that refers to it, set the sid column to null.</a:t>
            </a:r>
          </a:p>
          <a:p>
            <a:pPr marL="990600" lvl="1" indent="-533400" eaLnBrk="1" hangingPunct="1"/>
            <a:r>
              <a:rPr lang="en-US" altLang="en-US" sz="2400"/>
              <a:t>What should we do if the primary key value of a Students row is updated?</a:t>
            </a:r>
          </a:p>
          <a:p>
            <a:pPr marL="1371600" lvl="2" indent="-457200" eaLnBrk="1" hangingPunct="1"/>
            <a:r>
              <a:rPr lang="en-US" altLang="en-US" sz="2000"/>
              <a:t>The options here are similar to the previous case.</a:t>
            </a:r>
          </a:p>
          <a:p>
            <a:pPr marL="609600" indent="-609600" eaLnBrk="1" hangingPunct="1"/>
            <a:r>
              <a:rPr lang="en-US" altLang="en-US" sz="2800"/>
              <a:t>SQL allows us to choose any of the four options on DELETE and UPDATE.</a:t>
            </a:r>
          </a:p>
          <a:p>
            <a:pPr marL="1371600" lvl="2" indent="-457200" eaLnBrk="1" hangingPunct="1"/>
            <a:endParaRPr lang="en-US" altLang="en-US" sz="2000"/>
          </a:p>
        </p:txBody>
      </p:sp>
      <p:sp>
        <p:nvSpPr>
          <p:cNvPr id="37891" name="Text Box 4">
            <a:extLst>
              <a:ext uri="{FF2B5EF4-FFF2-40B4-BE49-F238E27FC236}">
                <a16:creationId xmlns:a16="http://schemas.microsoft.com/office/drawing/2014/main" id="{81BC60A2-DBF6-F64C-867D-DA7F8EEE4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5725" y="3595688"/>
            <a:ext cx="6819900" cy="25304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CREATE TABLE Enrolled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sid</a:t>
            </a:r>
            <a:r>
              <a:rPr lang="en-US" altLang="en-US" sz="2000" dirty="0"/>
              <a:t>      CHAR(20),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	</a:t>
            </a:r>
            <a:r>
              <a:rPr lang="en-US" altLang="en-US" sz="2000" dirty="0" err="1"/>
              <a:t>cid</a:t>
            </a:r>
            <a:r>
              <a:rPr lang="en-US" altLang="en-US" sz="2000" dirty="0"/>
              <a:t>      CHAR(20),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	grade  CHAR(10),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	PRIMARY KEY (</a:t>
            </a:r>
            <a:r>
              <a:rPr lang="en-US" altLang="en-US" sz="2000" dirty="0" err="1"/>
              <a:t>sid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cid</a:t>
            </a:r>
            <a:r>
              <a:rPr lang="en-US" altLang="en-US" sz="2000" dirty="0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	FOREIGN KEY (</a:t>
            </a:r>
            <a:r>
              <a:rPr lang="en-US" altLang="en-US" sz="2000" dirty="0" err="1"/>
              <a:t>sid</a:t>
            </a:r>
            <a:r>
              <a:rPr lang="en-US" altLang="en-US" sz="2000" dirty="0"/>
              <a:t>) REFERENCES Students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				ON DELETE CASCADE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dirty="0"/>
              <a:t>				ON UPDATE NO ACTION)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F4598BDB-C0FD-1440-9713-6641286C4A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7B8B7E-BE1D-6042-BFD1-834F029622E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TW" sz="1400"/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F7357711-4F94-B34D-98A8-557D0DCD8E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options are specified as part of the foreign key declaration: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accent2"/>
                </a:solidFill>
              </a:rPr>
              <a:t>NO ACTION</a:t>
            </a:r>
            <a:r>
              <a:rPr lang="en-US" altLang="en-US" sz="2400" dirty="0"/>
              <a:t> (default)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The action (DELETE or UPDATE) is to be rejected.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accent2"/>
                </a:solidFill>
              </a:rPr>
              <a:t>CASCADE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If a Students row is deleted, all Enrolled rows that refer to it are to be deleted as well.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accent2"/>
                </a:solidFill>
              </a:rPr>
              <a:t>SET DEFAULT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Switch the enrollment to a ‘default’ student.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The default student is specified as part of the definition of the </a:t>
            </a:r>
            <a:r>
              <a:rPr lang="en-US" altLang="en-US" sz="2000" dirty="0" err="1"/>
              <a:t>sid</a:t>
            </a:r>
            <a:r>
              <a:rPr lang="en-US" altLang="en-US" sz="2000" dirty="0"/>
              <a:t> field in Enrolled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sz="2000" dirty="0"/>
              <a:t>	E.g., </a:t>
            </a:r>
            <a:r>
              <a:rPr lang="en-US" altLang="en-US" sz="2000" dirty="0" err="1"/>
              <a:t>sid</a:t>
            </a:r>
            <a:r>
              <a:rPr lang="en-US" altLang="en-US" sz="2000" dirty="0"/>
              <a:t> CHAR(20) DEFAULT ‘53666’.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accent2"/>
                </a:solidFill>
              </a:rPr>
              <a:t>SET NULL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Allows the use of null as the default value.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C88B49DD-580F-C84D-8E5B-A9777B5CC3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B15CB7-2918-3A48-B16F-01EA105D6EC7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TW" sz="14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4C2FF245-DA77-A44E-BA10-8BA0D2A10D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Logical Database Design:</a:t>
            </a:r>
            <a:br>
              <a:rPr lang="en-US"/>
            </a:br>
            <a:r>
              <a:rPr lang="en-US"/>
              <a:t>ER to Relational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4774E6F2-AC51-6E4C-9CD4-1F60B5E0D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7772400" cy="4191000"/>
          </a:xfrm>
        </p:spPr>
        <p:txBody>
          <a:bodyPr/>
          <a:lstStyle/>
          <a:p>
            <a:pPr eaLnBrk="1" hangingPunct="1"/>
            <a:r>
              <a:rPr lang="en-US" altLang="en-US"/>
              <a:t>The ER model is convenient for representing an initial, high-level database design.</a:t>
            </a:r>
          </a:p>
          <a:p>
            <a:pPr eaLnBrk="1" hangingPunct="1"/>
            <a:r>
              <a:rPr lang="en-US" altLang="en-US"/>
              <a:t>Given an ER diagram describing a database, a standard approach is taken to generate a relational database schema that closely approximates the ER design.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B3720168-C330-E641-A18B-CC7D58B221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C1A0688-0656-A946-B19C-1A4E9F48A13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TW" sz="1400"/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2C256B12-2303-4D4A-98D7-D76BEF8EA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22098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Entity Sets to Tables</a:t>
            </a:r>
          </a:p>
          <a:p>
            <a:pPr lvl="1" eaLnBrk="1" hangingPunct="1"/>
            <a:r>
              <a:rPr lang="en-US" altLang="en-US"/>
              <a:t>An entity set is mapped to a relation in a straightforward way:</a:t>
            </a:r>
          </a:p>
          <a:p>
            <a:pPr lvl="2" eaLnBrk="1" hangingPunct="1"/>
            <a:r>
              <a:rPr lang="en-US" altLang="en-US"/>
              <a:t>attribute of entity set </a:t>
            </a:r>
            <a:r>
              <a:rPr lang="en-US" altLang="en-US">
                <a:sym typeface="Wingdings" pitchFamily="2" charset="2"/>
              </a:rPr>
              <a:t> attribute of table.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40963" name="Line 4">
            <a:extLst>
              <a:ext uri="{FF2B5EF4-FFF2-40B4-BE49-F238E27FC236}">
                <a16:creationId xmlns:a16="http://schemas.microsoft.com/office/drawing/2014/main" id="{7CC54563-DA02-824A-B785-1CF76475CD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8200" y="4419600"/>
            <a:ext cx="11430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" name="Rectangle 7">
            <a:extLst>
              <a:ext uri="{FF2B5EF4-FFF2-40B4-BE49-F238E27FC236}">
                <a16:creationId xmlns:a16="http://schemas.microsoft.com/office/drawing/2014/main" id="{FA8787EC-7E14-B042-BA8E-0A3A9AA0C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4800600"/>
            <a:ext cx="12954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Employees</a:t>
            </a:r>
          </a:p>
        </p:txBody>
      </p:sp>
      <p:sp>
        <p:nvSpPr>
          <p:cNvPr id="40965" name="Oval 8">
            <a:extLst>
              <a:ext uri="{FF2B5EF4-FFF2-40B4-BE49-F238E27FC236}">
                <a16:creationId xmlns:a16="http://schemas.microsoft.com/office/drawing/2014/main" id="{AFD447FD-EC57-3944-8C91-D00A64F3A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9624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40966" name="Line 12">
            <a:extLst>
              <a:ext uri="{FF2B5EF4-FFF2-40B4-BE49-F238E27FC236}">
                <a16:creationId xmlns:a16="http://schemas.microsoft.com/office/drawing/2014/main" id="{46C3AFC5-4B4D-2F4A-94DA-46A23CD8F2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4343400"/>
            <a:ext cx="12954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7" name="Oval 13">
            <a:extLst>
              <a:ext uri="{FF2B5EF4-FFF2-40B4-BE49-F238E27FC236}">
                <a16:creationId xmlns:a16="http://schemas.microsoft.com/office/drawing/2014/main" id="{B5E16E8B-E24A-844F-865A-ECD93CD26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39624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lot</a:t>
            </a:r>
          </a:p>
        </p:txBody>
      </p:sp>
      <p:sp>
        <p:nvSpPr>
          <p:cNvPr id="40968" name="Line 14">
            <a:extLst>
              <a:ext uri="{FF2B5EF4-FFF2-40B4-BE49-F238E27FC236}">
                <a16:creationId xmlns:a16="http://schemas.microsoft.com/office/drawing/2014/main" id="{8986D6C5-56F7-A243-8082-866B2561FD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8100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9" name="Oval 6">
            <a:extLst>
              <a:ext uri="{FF2B5EF4-FFF2-40B4-BE49-F238E27FC236}">
                <a16:creationId xmlns:a16="http://schemas.microsoft.com/office/drawing/2014/main" id="{38B70C1C-AAF0-B543-91EF-E1BB6BF11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352800"/>
            <a:ext cx="1143000" cy="533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40970" name="Text Box 15">
            <a:extLst>
              <a:ext uri="{FF2B5EF4-FFF2-40B4-BE49-F238E27FC236}">
                <a16:creationId xmlns:a16="http://schemas.microsoft.com/office/drawing/2014/main" id="{0B2D0B19-EC16-614C-BFEF-20F367210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581400"/>
            <a:ext cx="3397250" cy="16160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CREATE TABLE Employees 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	id	CHAR(11),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	name	CHAR(30),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	lot	INTEGER,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	PRIMARY KEY (id))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9A96FA43-B047-4F46-9517-37C99B5309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DFF072-5C2B-2A41-9B7D-611862A66840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TW" sz="1400"/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CC205B1A-C3BF-1A47-9D6C-5A136D336B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Relationship Sets (without Constraints) to tables</a:t>
            </a:r>
          </a:p>
          <a:p>
            <a:pPr lvl="1" eaLnBrk="1" hangingPunct="1"/>
            <a:r>
              <a:rPr lang="en-US" altLang="en-US" sz="2400"/>
              <a:t>Suppose there is no key and participation constraints.</a:t>
            </a:r>
          </a:p>
          <a:p>
            <a:pPr lvl="1" eaLnBrk="1" hangingPunct="1"/>
            <a:r>
              <a:rPr lang="en-US" altLang="en-US" sz="2400"/>
              <a:t>Must be able to identify each participating entity and give values to the descriptive attributes of the relationship.</a:t>
            </a:r>
          </a:p>
          <a:p>
            <a:pPr lvl="1" eaLnBrk="1" hangingPunct="1"/>
            <a:r>
              <a:rPr lang="en-US" altLang="en-US" sz="2400"/>
              <a:t>The attributes of the relation include:</a:t>
            </a:r>
          </a:p>
          <a:p>
            <a:pPr lvl="2" eaLnBrk="1" hangingPunct="1"/>
            <a:r>
              <a:rPr lang="en-US" altLang="en-US" sz="2000"/>
              <a:t>The primary key attributes of each participating entity set, as foreign key fields.</a:t>
            </a:r>
          </a:p>
          <a:p>
            <a:pPr lvl="2" eaLnBrk="1" hangingPunct="1"/>
            <a:r>
              <a:rPr lang="en-US" altLang="en-US" sz="2000"/>
              <a:t>The descriptive attributes of the relationship set.</a:t>
            </a:r>
          </a:p>
          <a:p>
            <a:pPr lvl="1" eaLnBrk="1" hangingPunct="1"/>
            <a:r>
              <a:rPr lang="en-US" altLang="en-US" sz="2400"/>
              <a:t>The set of nondescriptive attributes is a superkey for the relation.</a:t>
            </a:r>
          </a:p>
          <a:p>
            <a:pPr lvl="2" eaLnBrk="1" hangingPunct="1"/>
            <a:r>
              <a:rPr lang="en-US" altLang="en-US" sz="2000"/>
              <a:t>If there is no key constraints, this set of attributes is a candidate key.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>
            <a:extLst>
              <a:ext uri="{FF2B5EF4-FFF2-40B4-BE49-F238E27FC236}">
                <a16:creationId xmlns:a16="http://schemas.microsoft.com/office/drawing/2014/main" id="{E01D8992-1EE7-BB40-8638-C07228CF21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601585-4963-B148-ADA9-29CF18FF1741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TW" sz="1400"/>
          </a:p>
        </p:txBody>
      </p:sp>
      <p:sp>
        <p:nvSpPr>
          <p:cNvPr id="43010" name="Line 4">
            <a:extLst>
              <a:ext uri="{FF2B5EF4-FFF2-40B4-BE49-F238E27FC236}">
                <a16:creationId xmlns:a16="http://schemas.microsoft.com/office/drawing/2014/main" id="{AE7887F1-C876-174D-8D89-904DFCDE88C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789113" y="1706563"/>
            <a:ext cx="992187" cy="312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1" name="Line 5">
            <a:extLst>
              <a:ext uri="{FF2B5EF4-FFF2-40B4-BE49-F238E27FC236}">
                <a16:creationId xmlns:a16="http://schemas.microsoft.com/office/drawing/2014/main" id="{1E6701C9-F8B4-5C4D-8175-624E0B63A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2550" y="2268538"/>
            <a:ext cx="5953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2" name="Line 6">
            <a:extLst>
              <a:ext uri="{FF2B5EF4-FFF2-40B4-BE49-F238E27FC236}">
                <a16:creationId xmlns:a16="http://schemas.microsoft.com/office/drawing/2014/main" id="{11216D34-8009-A04D-887B-73E029E8C9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5050" y="2268538"/>
            <a:ext cx="5953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3" name="Rectangle 8">
            <a:extLst>
              <a:ext uri="{FF2B5EF4-FFF2-40B4-BE49-F238E27FC236}">
                <a16:creationId xmlns:a16="http://schemas.microsoft.com/office/drawing/2014/main" id="{32CED370-12D5-2042-805D-30DBB6170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513" y="2019300"/>
            <a:ext cx="1125537" cy="5000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Employees</a:t>
            </a:r>
          </a:p>
        </p:txBody>
      </p:sp>
      <p:sp>
        <p:nvSpPr>
          <p:cNvPr id="43014" name="Rectangle 9">
            <a:extLst>
              <a:ext uri="{FF2B5EF4-FFF2-40B4-BE49-F238E27FC236}">
                <a16:creationId xmlns:a16="http://schemas.microsoft.com/office/drawing/2014/main" id="{38E64CA8-F738-CD46-8EB2-93D1F14D8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2019300"/>
            <a:ext cx="1123950" cy="5000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Departments</a:t>
            </a:r>
          </a:p>
        </p:txBody>
      </p:sp>
      <p:sp>
        <p:nvSpPr>
          <p:cNvPr id="43015" name="Oval 10">
            <a:extLst>
              <a:ext uri="{FF2B5EF4-FFF2-40B4-BE49-F238E27FC236}">
                <a16:creationId xmlns:a16="http://schemas.microsoft.com/office/drawing/2014/main" id="{5ABCC620-62BB-7543-B2EF-DE64B4990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331913"/>
            <a:ext cx="992188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43016" name="Oval 11">
            <a:extLst>
              <a:ext uri="{FF2B5EF4-FFF2-40B4-BE49-F238E27FC236}">
                <a16:creationId xmlns:a16="http://schemas.microsoft.com/office/drawing/2014/main" id="{E3DCE571-BBC5-9244-A84D-E85488C33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3143250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 u="sng">
                <a:latin typeface="Arial" panose="020B0604020202020204" pitchFamily="34" charset="0"/>
              </a:rPr>
              <a:t>address</a:t>
            </a:r>
          </a:p>
        </p:txBody>
      </p:sp>
      <p:sp>
        <p:nvSpPr>
          <p:cNvPr id="43017" name="Line 16">
            <a:extLst>
              <a:ext uri="{FF2B5EF4-FFF2-40B4-BE49-F238E27FC236}">
                <a16:creationId xmlns:a16="http://schemas.microsoft.com/office/drawing/2014/main" id="{664138DE-D937-0249-86A6-929A06C8FF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8175" y="1644650"/>
            <a:ext cx="1123950" cy="374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8" name="Line 17">
            <a:extLst>
              <a:ext uri="{FF2B5EF4-FFF2-40B4-BE49-F238E27FC236}">
                <a16:creationId xmlns:a16="http://schemas.microsoft.com/office/drawing/2014/main" id="{88471F1A-D23D-9E40-88CB-E228BE754E0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57863" y="1770063"/>
            <a:ext cx="396875" cy="249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19" name="Line 18">
            <a:extLst>
              <a:ext uri="{FF2B5EF4-FFF2-40B4-BE49-F238E27FC236}">
                <a16:creationId xmlns:a16="http://schemas.microsoft.com/office/drawing/2014/main" id="{869F61D3-B8DC-6D41-A101-99C2A0D8A4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84938" y="1770063"/>
            <a:ext cx="463550" cy="249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0" name="Oval 19">
            <a:extLst>
              <a:ext uri="{FF2B5EF4-FFF2-40B4-BE49-F238E27FC236}">
                <a16:creationId xmlns:a16="http://schemas.microsoft.com/office/drawing/2014/main" id="{DFF4BB5F-3FD6-8549-9E67-C1597668A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1331913"/>
            <a:ext cx="992188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lot</a:t>
            </a:r>
          </a:p>
        </p:txBody>
      </p:sp>
      <p:sp>
        <p:nvSpPr>
          <p:cNvPr id="43021" name="Line 20">
            <a:extLst>
              <a:ext uri="{FF2B5EF4-FFF2-40B4-BE49-F238E27FC236}">
                <a16:creationId xmlns:a16="http://schemas.microsoft.com/office/drawing/2014/main" id="{80D03F69-88B3-1A41-AE77-E388BC87279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3600" y="895350"/>
            <a:ext cx="0" cy="9366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22" name="Oval 21">
            <a:extLst>
              <a:ext uri="{FF2B5EF4-FFF2-40B4-BE49-F238E27FC236}">
                <a16:creationId xmlns:a16="http://schemas.microsoft.com/office/drawing/2014/main" id="{CDB3E8BE-A59B-0346-A67D-A000DA917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363" y="457200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Since</a:t>
            </a:r>
          </a:p>
        </p:txBody>
      </p:sp>
      <p:sp>
        <p:nvSpPr>
          <p:cNvPr id="43023" name="AutoShape 22">
            <a:extLst>
              <a:ext uri="{FF2B5EF4-FFF2-40B4-BE49-F238E27FC236}">
                <a16:creationId xmlns:a16="http://schemas.microsoft.com/office/drawing/2014/main" id="{08DB510D-E907-054B-8AB5-02C29A5BE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363" y="1831975"/>
            <a:ext cx="992187" cy="874713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08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Work_in2</a:t>
            </a:r>
          </a:p>
        </p:txBody>
      </p:sp>
      <p:sp>
        <p:nvSpPr>
          <p:cNvPr id="43024" name="Rectangle 23">
            <a:extLst>
              <a:ext uri="{FF2B5EF4-FFF2-40B4-BE49-F238E27FC236}">
                <a16:creationId xmlns:a16="http://schemas.microsoft.com/office/drawing/2014/main" id="{7958E744-4094-F842-BC77-6E7123FDC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3081338"/>
            <a:ext cx="1125537" cy="50006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Locations</a:t>
            </a:r>
          </a:p>
        </p:txBody>
      </p:sp>
      <p:sp>
        <p:nvSpPr>
          <p:cNvPr id="43025" name="Oval 24">
            <a:extLst>
              <a:ext uri="{FF2B5EF4-FFF2-40B4-BE49-F238E27FC236}">
                <a16:creationId xmlns:a16="http://schemas.microsoft.com/office/drawing/2014/main" id="{39FFAE18-4FF9-864B-A644-4C6E26F77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88" y="831850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43026" name="Oval 25">
            <a:extLst>
              <a:ext uri="{FF2B5EF4-FFF2-40B4-BE49-F238E27FC236}">
                <a16:creationId xmlns:a16="http://schemas.microsoft.com/office/drawing/2014/main" id="{5B6A7B06-8D12-2442-969A-FD13A7BC6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9625" y="3143250"/>
            <a:ext cx="992188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capacity</a:t>
            </a:r>
          </a:p>
        </p:txBody>
      </p:sp>
      <p:sp>
        <p:nvSpPr>
          <p:cNvPr id="43027" name="Line 26">
            <a:extLst>
              <a:ext uri="{FF2B5EF4-FFF2-40B4-BE49-F238E27FC236}">
                <a16:creationId xmlns:a16="http://schemas.microsoft.com/office/drawing/2014/main" id="{BD6B15E3-6C70-064D-8C38-5062CB33F9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5050" y="3394075"/>
            <a:ext cx="5286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8" name="Line 27">
            <a:extLst>
              <a:ext uri="{FF2B5EF4-FFF2-40B4-BE49-F238E27FC236}">
                <a16:creationId xmlns:a16="http://schemas.microsoft.com/office/drawing/2014/main" id="{6BEF4943-373E-C740-87FB-D15D6F9A1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9225" y="3332163"/>
            <a:ext cx="66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9" name="Line 28">
            <a:extLst>
              <a:ext uri="{FF2B5EF4-FFF2-40B4-BE49-F238E27FC236}">
                <a16:creationId xmlns:a16="http://schemas.microsoft.com/office/drawing/2014/main" id="{7EEDEC9D-FF3F-BE47-9926-FB90077B36A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9000" y="2706688"/>
            <a:ext cx="0" cy="374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0" name="Oval 29">
            <a:extLst>
              <a:ext uri="{FF2B5EF4-FFF2-40B4-BE49-F238E27FC236}">
                <a16:creationId xmlns:a16="http://schemas.microsoft.com/office/drawing/2014/main" id="{67E77F7E-A316-BA4A-BD8D-9CB356CE1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88" y="1331913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 u="sng">
                <a:latin typeface="Arial" panose="020B0604020202020204" pitchFamily="34" charset="0"/>
              </a:rPr>
              <a:t>did</a:t>
            </a:r>
          </a:p>
        </p:txBody>
      </p:sp>
      <p:sp>
        <p:nvSpPr>
          <p:cNvPr id="43031" name="Oval 30">
            <a:extLst>
              <a:ext uri="{FF2B5EF4-FFF2-40B4-BE49-F238E27FC236}">
                <a16:creationId xmlns:a16="http://schemas.microsoft.com/office/drawing/2014/main" id="{A0FA4E4D-58A7-FD44-AE1C-6BB3011C6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4538" y="831850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43032" name="Oval 31">
            <a:extLst>
              <a:ext uri="{FF2B5EF4-FFF2-40B4-BE49-F238E27FC236}">
                <a16:creationId xmlns:a16="http://schemas.microsoft.com/office/drawing/2014/main" id="{2A1FD9A4-1280-1347-8CBF-CE2A3A410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1613" y="1331913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budget</a:t>
            </a:r>
          </a:p>
        </p:txBody>
      </p:sp>
      <p:sp>
        <p:nvSpPr>
          <p:cNvPr id="43033" name="Line 32">
            <a:extLst>
              <a:ext uri="{FF2B5EF4-FFF2-40B4-BE49-F238E27FC236}">
                <a16:creationId xmlns:a16="http://schemas.microsoft.com/office/drawing/2014/main" id="{7A84F2CE-ECD1-0248-AB09-EF029D2ED0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4825" y="1270000"/>
            <a:ext cx="0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4" name="Line 33">
            <a:extLst>
              <a:ext uri="{FF2B5EF4-FFF2-40B4-BE49-F238E27FC236}">
                <a16:creationId xmlns:a16="http://schemas.microsoft.com/office/drawing/2014/main" id="{09D42977-24A3-C046-878C-42275689BFA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53175" y="1270000"/>
            <a:ext cx="0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5" name="Text Box 35">
            <a:extLst>
              <a:ext uri="{FF2B5EF4-FFF2-40B4-BE49-F238E27FC236}">
                <a16:creationId xmlns:a16="http://schemas.microsoft.com/office/drawing/2014/main" id="{8BB1D706-FB9C-A045-8449-EA2F45566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4038600"/>
            <a:ext cx="6019800" cy="2563813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CREATE TABLE Works_In2(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id	CHAR(11),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did	INTEGER,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address	CHAR(20),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since	DATE,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PRIMARY KEY (</a:t>
            </a:r>
            <a:r>
              <a:rPr lang="en-US" altLang="en-US" sz="1800" dirty="0" err="1"/>
              <a:t>id,did,address</a:t>
            </a:r>
            <a:r>
              <a:rPr lang="en-US" altLang="en-US" sz="1800" dirty="0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FOREIGN KEY (id) REFERENCES Employees,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FOREIGN KEY (address) REFERENCES Locations,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	FOREIGN KEY (did) REFERENCES Departments)</a:t>
            </a:r>
          </a:p>
        </p:txBody>
      </p:sp>
      <p:sp>
        <p:nvSpPr>
          <p:cNvPr id="43036" name="Line 36">
            <a:extLst>
              <a:ext uri="{FF2B5EF4-FFF2-40B4-BE49-F238E27FC236}">
                <a16:creationId xmlns:a16="http://schemas.microsoft.com/office/drawing/2014/main" id="{3714550C-13D3-C74E-B552-A790B3CD18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4953000"/>
            <a:ext cx="12954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7" name="Line 37">
            <a:extLst>
              <a:ext uri="{FF2B5EF4-FFF2-40B4-BE49-F238E27FC236}">
                <a16:creationId xmlns:a16="http://schemas.microsoft.com/office/drawing/2014/main" id="{3BD29A42-DA71-6A46-BA3C-6A0F32EA808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4953000"/>
            <a:ext cx="10668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8" name="Line 38">
            <a:extLst>
              <a:ext uri="{FF2B5EF4-FFF2-40B4-BE49-F238E27FC236}">
                <a16:creationId xmlns:a16="http://schemas.microsoft.com/office/drawing/2014/main" id="{A454A719-B097-3049-86AD-1A07CA0153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4953000"/>
            <a:ext cx="7620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39" name="Text Box 39">
            <a:extLst>
              <a:ext uri="{FF2B5EF4-FFF2-40B4-BE49-F238E27FC236}">
                <a16:creationId xmlns:a16="http://schemas.microsoft.com/office/drawing/2014/main" id="{3D0D56D4-E069-4847-BF5F-750DC0D1A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0525" y="4583113"/>
            <a:ext cx="2082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</a:rPr>
              <a:t>Cannot take on null values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3">
            <a:extLst>
              <a:ext uri="{FF2B5EF4-FFF2-40B4-BE49-F238E27FC236}">
                <a16:creationId xmlns:a16="http://schemas.microsoft.com/office/drawing/2014/main" id="{239FBD02-226E-C940-A985-B1CFCFBD68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EDB006-ACD8-644A-8914-7C49ECA1785F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TW" sz="1400"/>
          </a:p>
        </p:txBody>
      </p:sp>
      <p:sp>
        <p:nvSpPr>
          <p:cNvPr id="44034" name="AutoShape 15">
            <a:extLst>
              <a:ext uri="{FF2B5EF4-FFF2-40B4-BE49-F238E27FC236}">
                <a16:creationId xmlns:a16="http://schemas.microsoft.com/office/drawing/2014/main" id="{5E9026B0-CBFD-B54E-8209-D06A4FEA0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754313"/>
            <a:ext cx="1066800" cy="1066800"/>
          </a:xfrm>
          <a:prstGeom prst="diamond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Reports_to</a:t>
            </a:r>
          </a:p>
        </p:txBody>
      </p:sp>
      <p:sp>
        <p:nvSpPr>
          <p:cNvPr id="44035" name="Line 16">
            <a:extLst>
              <a:ext uri="{FF2B5EF4-FFF2-40B4-BE49-F238E27FC236}">
                <a16:creationId xmlns:a16="http://schemas.microsoft.com/office/drawing/2014/main" id="{7DF227E6-1553-D34C-9512-29E5D4AC5C67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2220913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6" name="Line 17">
            <a:extLst>
              <a:ext uri="{FF2B5EF4-FFF2-40B4-BE49-F238E27FC236}">
                <a16:creationId xmlns:a16="http://schemas.microsoft.com/office/drawing/2014/main" id="{CDE4478C-C480-B948-880C-F81BE756566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2220913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7" name="Text Box 18">
            <a:extLst>
              <a:ext uri="{FF2B5EF4-FFF2-40B4-BE49-F238E27FC236}">
                <a16:creationId xmlns:a16="http://schemas.microsoft.com/office/drawing/2014/main" id="{5EC9C854-1F81-6645-A937-DA1A5B183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449513"/>
            <a:ext cx="1033463" cy="3365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supervisor</a:t>
            </a:r>
          </a:p>
        </p:txBody>
      </p:sp>
      <p:sp>
        <p:nvSpPr>
          <p:cNvPr id="44038" name="Text Box 19">
            <a:extLst>
              <a:ext uri="{FF2B5EF4-FFF2-40B4-BE49-F238E27FC236}">
                <a16:creationId xmlns:a16="http://schemas.microsoft.com/office/drawing/2014/main" id="{24AA1438-15D9-ED43-B116-7A03A3D23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449513"/>
            <a:ext cx="1135063" cy="33655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subordinate</a:t>
            </a:r>
          </a:p>
        </p:txBody>
      </p:sp>
      <p:sp>
        <p:nvSpPr>
          <p:cNvPr id="44039" name="Line 20">
            <a:extLst>
              <a:ext uri="{FF2B5EF4-FFF2-40B4-BE49-F238E27FC236}">
                <a16:creationId xmlns:a16="http://schemas.microsoft.com/office/drawing/2014/main" id="{B1C74F22-BDE3-1844-ADD0-5D49440AB37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55950" y="1331913"/>
            <a:ext cx="992188" cy="3127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0" name="Rectangle 22">
            <a:extLst>
              <a:ext uri="{FF2B5EF4-FFF2-40B4-BE49-F238E27FC236}">
                <a16:creationId xmlns:a16="http://schemas.microsoft.com/office/drawing/2014/main" id="{67B3D6B4-C776-1348-8048-47852CC04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0" y="1644650"/>
            <a:ext cx="1125538" cy="5000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Employees</a:t>
            </a:r>
          </a:p>
        </p:txBody>
      </p:sp>
      <p:sp>
        <p:nvSpPr>
          <p:cNvPr id="44041" name="Oval 23">
            <a:extLst>
              <a:ext uri="{FF2B5EF4-FFF2-40B4-BE49-F238E27FC236}">
                <a16:creationId xmlns:a16="http://schemas.microsoft.com/office/drawing/2014/main" id="{687A916C-CE82-A54B-97F7-3379CF55B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957263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44042" name="Line 24">
            <a:extLst>
              <a:ext uri="{FF2B5EF4-FFF2-40B4-BE49-F238E27FC236}">
                <a16:creationId xmlns:a16="http://schemas.microsoft.com/office/drawing/2014/main" id="{8F94F6CF-D684-384C-901F-ABC21581AE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5013" y="1270000"/>
            <a:ext cx="1123950" cy="3746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43" name="Oval 25">
            <a:extLst>
              <a:ext uri="{FF2B5EF4-FFF2-40B4-BE49-F238E27FC236}">
                <a16:creationId xmlns:a16="http://schemas.microsoft.com/office/drawing/2014/main" id="{3212D2FD-5BDF-334D-8E04-CC5DD5B0B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5213" y="957263"/>
            <a:ext cx="992187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lot</a:t>
            </a:r>
          </a:p>
        </p:txBody>
      </p:sp>
      <p:sp>
        <p:nvSpPr>
          <p:cNvPr id="44044" name="Oval 26">
            <a:extLst>
              <a:ext uri="{FF2B5EF4-FFF2-40B4-BE49-F238E27FC236}">
                <a16:creationId xmlns:a16="http://schemas.microsoft.com/office/drawing/2014/main" id="{8168D19B-C51D-D542-96CF-9B8715139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3025" y="457200"/>
            <a:ext cx="992188" cy="438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44045" name="Line 27">
            <a:extLst>
              <a:ext uri="{FF2B5EF4-FFF2-40B4-BE49-F238E27FC236}">
                <a16:creationId xmlns:a16="http://schemas.microsoft.com/office/drawing/2014/main" id="{9B2F0B78-DE88-5E49-AE19-C5CE48725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1663" y="895350"/>
            <a:ext cx="0" cy="749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6" name="Text Box 28">
            <a:extLst>
              <a:ext uri="{FF2B5EF4-FFF2-40B4-BE49-F238E27FC236}">
                <a16:creationId xmlns:a16="http://schemas.microsoft.com/office/drawing/2014/main" id="{CBEBEB29-EE4F-E74C-A045-BB47C061D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886200"/>
            <a:ext cx="7156450" cy="17399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CREATE TABLE Reports_To(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supervisor_id	CHAR(11),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subordinate_id	CHAR(11),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PRIMARY KEY (supervisor_id, subordinate_id),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FOREIGN KEY (supervisor_id) REFERENCES Employees(id),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	FOREIGN KEY (subordinate_id) REFERENCES Employees(id))</a:t>
            </a:r>
          </a:p>
        </p:txBody>
      </p:sp>
      <p:sp>
        <p:nvSpPr>
          <p:cNvPr id="44047" name="Text Box 30">
            <a:extLst>
              <a:ext uri="{FF2B5EF4-FFF2-40B4-BE49-F238E27FC236}">
                <a16:creationId xmlns:a16="http://schemas.microsoft.com/office/drawing/2014/main" id="{8892D8ED-1934-2C44-AF90-20B4332AF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6172200"/>
            <a:ext cx="66595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We need to explicitly name the referenced field of Employees because the field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name differs from the name(s) of the referring field(s).</a:t>
            </a:r>
          </a:p>
        </p:txBody>
      </p:sp>
      <p:sp>
        <p:nvSpPr>
          <p:cNvPr id="44048" name="Line 31">
            <a:extLst>
              <a:ext uri="{FF2B5EF4-FFF2-40B4-BE49-F238E27FC236}">
                <a16:creationId xmlns:a16="http://schemas.microsoft.com/office/drawing/2014/main" id="{AA78E31E-7E96-BF4F-8FA5-FB7CEC091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5562600"/>
            <a:ext cx="13716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9" name="Line 32">
            <a:extLst>
              <a:ext uri="{FF2B5EF4-FFF2-40B4-BE49-F238E27FC236}">
                <a16:creationId xmlns:a16="http://schemas.microsoft.com/office/drawing/2014/main" id="{DF9D36A0-9BF7-4741-B4CF-4AB4EFE714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24600" y="5257800"/>
            <a:ext cx="1219200" cy="762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E781AD57-D9AD-A248-842B-5F4286B707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1B881D-8F7D-CE42-BBEA-53E08150CDC7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TW" sz="1400"/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92B33112-F50C-1F4B-96DA-6C7B70CF2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Translating Relationship Sets with Key Constraints</a:t>
            </a:r>
          </a:p>
          <a:p>
            <a:pPr lvl="1" eaLnBrk="1" hangingPunct="1"/>
            <a:r>
              <a:rPr lang="en-US" altLang="en-US" dirty="0"/>
              <a:t>If a relationship set involves </a:t>
            </a:r>
            <a:r>
              <a:rPr lang="en-US" altLang="en-US" i="1" dirty="0"/>
              <a:t>n</a:t>
            </a:r>
            <a:r>
              <a:rPr lang="en-US" altLang="en-US" dirty="0"/>
              <a:t> entity sets and some </a:t>
            </a:r>
            <a:r>
              <a:rPr lang="en-US" altLang="en-US" i="1" dirty="0"/>
              <a:t>m </a:t>
            </a:r>
            <a:r>
              <a:rPr lang="en-US" altLang="en-US" dirty="0"/>
              <a:t>of them are linked via arrows in the ER diagram.</a:t>
            </a:r>
          </a:p>
          <a:p>
            <a:pPr lvl="2" eaLnBrk="1" hangingPunct="1"/>
            <a:r>
              <a:rPr lang="en-US" altLang="en-US" dirty="0"/>
              <a:t>The key of any one of these </a:t>
            </a:r>
            <a:r>
              <a:rPr lang="en-US" altLang="en-US" i="1" dirty="0"/>
              <a:t>m</a:t>
            </a:r>
            <a:r>
              <a:rPr lang="en-US" altLang="en-US" dirty="0"/>
              <a:t> entity sets constitutes a key for the relation to which the relationship set is mapped.</a:t>
            </a:r>
          </a:p>
          <a:p>
            <a:pPr lvl="2" eaLnBrk="1" hangingPunct="1"/>
            <a:r>
              <a:rPr lang="en-US" altLang="en-US" dirty="0"/>
              <a:t>Hence, we have </a:t>
            </a:r>
            <a:r>
              <a:rPr lang="en-US" altLang="en-US" i="1" dirty="0"/>
              <a:t>m</a:t>
            </a:r>
            <a:r>
              <a:rPr lang="en-US" altLang="en-US" dirty="0"/>
              <a:t> candidate keys, and one of these should be designated as the primary key.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3">
            <a:extLst>
              <a:ext uri="{FF2B5EF4-FFF2-40B4-BE49-F238E27FC236}">
                <a16:creationId xmlns:a16="http://schemas.microsoft.com/office/drawing/2014/main" id="{582E337E-A9BF-8E43-BAE1-40B1BD5441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A33D73-15D1-0149-AB12-2BCDD7DDA15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TW" sz="1400"/>
          </a:p>
        </p:txBody>
      </p:sp>
      <p:sp>
        <p:nvSpPr>
          <p:cNvPr id="46082" name="Line 21">
            <a:extLst>
              <a:ext uri="{FF2B5EF4-FFF2-40B4-BE49-F238E27FC236}">
                <a16:creationId xmlns:a16="http://schemas.microsoft.com/office/drawing/2014/main" id="{CC5F39A7-47E0-CB42-A48B-79D2C937521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1981200"/>
            <a:ext cx="0" cy="838200"/>
          </a:xfrm>
          <a:prstGeom prst="line">
            <a:avLst/>
          </a:prstGeom>
          <a:noFill/>
          <a:ln>
            <a:noFill/>
          </a:ln>
          <a:effectLst>
            <a:outerShdw dist="117088" dir="2436078" algn="ctr" rotWithShape="0">
              <a:schemeClr val="accent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3" name="Line 22">
            <a:extLst>
              <a:ext uri="{FF2B5EF4-FFF2-40B4-BE49-F238E27FC236}">
                <a16:creationId xmlns:a16="http://schemas.microsoft.com/office/drawing/2014/main" id="{0B6CD6A6-C513-3E4D-A30C-FC0CD5D74E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29400" y="1905000"/>
            <a:ext cx="0" cy="914400"/>
          </a:xfrm>
          <a:prstGeom prst="line">
            <a:avLst/>
          </a:prstGeom>
          <a:noFill/>
          <a:ln>
            <a:noFill/>
          </a:ln>
          <a:effectLst>
            <a:outerShdw dist="117088" dir="2436078" algn="ctr" rotWithShape="0">
              <a:schemeClr val="accent1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4" name="Line 2">
            <a:extLst>
              <a:ext uri="{FF2B5EF4-FFF2-40B4-BE49-F238E27FC236}">
                <a16:creationId xmlns:a16="http://schemas.microsoft.com/office/drawing/2014/main" id="{EDA954CC-EEF4-2948-BD91-F11875BB72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28738" y="1743075"/>
            <a:ext cx="985837" cy="2889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5" name="Line 3">
            <a:extLst>
              <a:ext uri="{FF2B5EF4-FFF2-40B4-BE49-F238E27FC236}">
                <a16:creationId xmlns:a16="http://schemas.microsoft.com/office/drawing/2014/main" id="{C863475A-6400-2F40-B56B-2059EF63ADD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8363" y="2262188"/>
            <a:ext cx="590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6" name="Line 4">
            <a:extLst>
              <a:ext uri="{FF2B5EF4-FFF2-40B4-BE49-F238E27FC236}">
                <a16:creationId xmlns:a16="http://schemas.microsoft.com/office/drawing/2014/main" id="{F20A21FB-73B1-AC41-A306-46C5ED2BAB47}"/>
              </a:ext>
            </a:extLst>
          </p:cNvPr>
          <p:cNvSpPr>
            <a:spLocks noChangeShapeType="1"/>
          </p:cNvSpPr>
          <p:nvPr/>
        </p:nvSpPr>
        <p:spPr bwMode="auto">
          <a:xfrm>
            <a:off x="3101975" y="2262188"/>
            <a:ext cx="5905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87" name="AutoShape 6">
            <a:extLst>
              <a:ext uri="{FF2B5EF4-FFF2-40B4-BE49-F238E27FC236}">
                <a16:creationId xmlns:a16="http://schemas.microsoft.com/office/drawing/2014/main" id="{48B3835B-6F38-7B40-8BD6-F91AAC12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1858963"/>
            <a:ext cx="985838" cy="808037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08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manages</a:t>
            </a:r>
          </a:p>
        </p:txBody>
      </p:sp>
      <p:sp>
        <p:nvSpPr>
          <p:cNvPr id="46088" name="Rectangle 7">
            <a:extLst>
              <a:ext uri="{FF2B5EF4-FFF2-40B4-BE49-F238E27FC236}">
                <a16:creationId xmlns:a16="http://schemas.microsoft.com/office/drawing/2014/main" id="{E467462B-65EE-BD4D-B04E-73C1C2119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5963" y="2032000"/>
            <a:ext cx="1116012" cy="4619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Employees</a:t>
            </a:r>
          </a:p>
        </p:txBody>
      </p:sp>
      <p:sp>
        <p:nvSpPr>
          <p:cNvPr id="46089" name="Rectangle 8">
            <a:extLst>
              <a:ext uri="{FF2B5EF4-FFF2-40B4-BE49-F238E27FC236}">
                <a16:creationId xmlns:a16="http://schemas.microsoft.com/office/drawing/2014/main" id="{6D2BBBD2-BECB-AB41-920B-E2EB021EC3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8913" y="2032000"/>
            <a:ext cx="1116012" cy="4619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Departments</a:t>
            </a:r>
          </a:p>
        </p:txBody>
      </p:sp>
      <p:sp>
        <p:nvSpPr>
          <p:cNvPr id="46090" name="Oval 9">
            <a:extLst>
              <a:ext uri="{FF2B5EF4-FFF2-40B4-BE49-F238E27FC236}">
                <a16:creationId xmlns:a16="http://schemas.microsoft.com/office/drawing/2014/main" id="{2550F72C-58C5-424A-A2FC-DC34CED7B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397000"/>
            <a:ext cx="984250" cy="4048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46091" name="Oval 10">
            <a:extLst>
              <a:ext uri="{FF2B5EF4-FFF2-40B4-BE49-F238E27FC236}">
                <a16:creationId xmlns:a16="http://schemas.microsoft.com/office/drawing/2014/main" id="{4A9C09B2-BFDC-FF4D-8B5F-872F2D029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935038"/>
            <a:ext cx="985838" cy="4048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46092" name="Oval 11">
            <a:extLst>
              <a:ext uri="{FF2B5EF4-FFF2-40B4-BE49-F238E27FC236}">
                <a16:creationId xmlns:a16="http://schemas.microsoft.com/office/drawing/2014/main" id="{BC50E32C-EF51-5D4E-AAFA-C1D1749F6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3275" y="1397000"/>
            <a:ext cx="984250" cy="4048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 u="sng">
                <a:latin typeface="Arial" panose="020B0604020202020204" pitchFamily="34" charset="0"/>
              </a:rPr>
              <a:t>did</a:t>
            </a:r>
          </a:p>
        </p:txBody>
      </p:sp>
      <p:sp>
        <p:nvSpPr>
          <p:cNvPr id="46093" name="Oval 12">
            <a:extLst>
              <a:ext uri="{FF2B5EF4-FFF2-40B4-BE49-F238E27FC236}">
                <a16:creationId xmlns:a16="http://schemas.microsoft.com/office/drawing/2014/main" id="{C18A78E3-C0D5-E641-B210-472DB7988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454150"/>
            <a:ext cx="984250" cy="4048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budget</a:t>
            </a:r>
          </a:p>
        </p:txBody>
      </p:sp>
      <p:sp>
        <p:nvSpPr>
          <p:cNvPr id="46094" name="Line 15">
            <a:extLst>
              <a:ext uri="{FF2B5EF4-FFF2-40B4-BE49-F238E27FC236}">
                <a16:creationId xmlns:a16="http://schemas.microsoft.com/office/drawing/2014/main" id="{7F347DCC-74EB-074D-8E0D-9BB03CF7AC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08275" y="1685925"/>
            <a:ext cx="1116013" cy="3460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5" name="Line 16">
            <a:extLst>
              <a:ext uri="{FF2B5EF4-FFF2-40B4-BE49-F238E27FC236}">
                <a16:creationId xmlns:a16="http://schemas.microsoft.com/office/drawing/2014/main" id="{2B397F12-E6AB-4342-9DFD-6E025D78B25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68913" y="1801813"/>
            <a:ext cx="393700" cy="230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6" name="Line 17">
            <a:extLst>
              <a:ext uri="{FF2B5EF4-FFF2-40B4-BE49-F238E27FC236}">
                <a16:creationId xmlns:a16="http://schemas.microsoft.com/office/drawing/2014/main" id="{3FC8ADC5-C601-5641-8DE7-3A523CABCA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91225" y="1801813"/>
            <a:ext cx="460375" cy="2301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097" name="Oval 18">
            <a:extLst>
              <a:ext uri="{FF2B5EF4-FFF2-40B4-BE49-F238E27FC236}">
                <a16:creationId xmlns:a16="http://schemas.microsoft.com/office/drawing/2014/main" id="{4374B26E-C727-154C-85F5-A66268999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1397000"/>
            <a:ext cx="984250" cy="4048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lot</a:t>
            </a:r>
          </a:p>
        </p:txBody>
      </p:sp>
      <p:sp>
        <p:nvSpPr>
          <p:cNvPr id="46098" name="Oval 19">
            <a:extLst>
              <a:ext uri="{FF2B5EF4-FFF2-40B4-BE49-F238E27FC236}">
                <a16:creationId xmlns:a16="http://schemas.microsoft.com/office/drawing/2014/main" id="{AA7E5344-8056-544D-8F29-B96F80194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00675" y="992188"/>
            <a:ext cx="984250" cy="40481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46099" name="Line 25">
            <a:extLst>
              <a:ext uri="{FF2B5EF4-FFF2-40B4-BE49-F238E27FC236}">
                <a16:creationId xmlns:a16="http://schemas.microsoft.com/office/drawing/2014/main" id="{1CB0E459-37A0-E24A-94A3-562A42503C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59463" y="1397000"/>
            <a:ext cx="0" cy="63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00" name="Line 26">
            <a:extLst>
              <a:ext uri="{FF2B5EF4-FFF2-40B4-BE49-F238E27FC236}">
                <a16:creationId xmlns:a16="http://schemas.microsoft.com/office/drawing/2014/main" id="{B496ABEB-D077-8F4C-83C0-BF7DF4982E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1425" y="1339850"/>
            <a:ext cx="0" cy="692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01" name="Line 27">
            <a:extLst>
              <a:ext uri="{FF2B5EF4-FFF2-40B4-BE49-F238E27FC236}">
                <a16:creationId xmlns:a16="http://schemas.microsoft.com/office/drawing/2014/main" id="{E722BA0E-D7D5-5A4E-BD33-C375CD84D7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17988" y="1166813"/>
            <a:ext cx="0" cy="692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02" name="Oval 28">
            <a:extLst>
              <a:ext uri="{FF2B5EF4-FFF2-40B4-BE49-F238E27FC236}">
                <a16:creationId xmlns:a16="http://schemas.microsoft.com/office/drawing/2014/main" id="{557DB6AA-2916-394E-AE9B-E03A1A4F80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2525" y="762000"/>
            <a:ext cx="985838" cy="4048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200">
                <a:latin typeface="Arial" panose="020B0604020202020204" pitchFamily="34" charset="0"/>
              </a:rPr>
              <a:t>since</a:t>
            </a:r>
          </a:p>
        </p:txBody>
      </p:sp>
      <p:sp>
        <p:nvSpPr>
          <p:cNvPr id="46103" name="Text Box 29">
            <a:extLst>
              <a:ext uri="{FF2B5EF4-FFF2-40B4-BE49-F238E27FC236}">
                <a16:creationId xmlns:a16="http://schemas.microsoft.com/office/drawing/2014/main" id="{A2928604-4008-F647-873F-A667819724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971800"/>
            <a:ext cx="5410200" cy="18034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latin typeface="新細明體" panose="02020500000000000000" pitchFamily="18" charset="-120"/>
              </a:rPr>
              <a:t>CREATE TABLE Manages 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latin typeface="新細明體" panose="02020500000000000000" pitchFamily="18" charset="-120"/>
              </a:rPr>
              <a:t>	</a:t>
            </a:r>
            <a:r>
              <a:rPr kumimoji="0" lang="en-US" altLang="zh-CN" sz="1600" dirty="0" err="1">
                <a:latin typeface="新細明體" panose="02020500000000000000" pitchFamily="18" charset="-120"/>
              </a:rPr>
              <a:t>e</a:t>
            </a:r>
            <a:r>
              <a:rPr kumimoji="0" lang="en-US" altLang="en-US" sz="1600" dirty="0" err="1">
                <a:latin typeface="新細明體" panose="02020500000000000000" pitchFamily="18" charset="-120"/>
              </a:rPr>
              <a:t>id</a:t>
            </a:r>
            <a:r>
              <a:rPr kumimoji="0" lang="en-US" altLang="en-US" sz="1600" dirty="0">
                <a:latin typeface="新細明體" panose="02020500000000000000" pitchFamily="18" charset="-120"/>
              </a:rPr>
              <a:t>	CHAR(11),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latin typeface="新細明體" panose="02020500000000000000" pitchFamily="18" charset="-120"/>
              </a:rPr>
              <a:t>	did	INTEGER,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latin typeface="新細明體" panose="02020500000000000000" pitchFamily="18" charset="-120"/>
              </a:rPr>
              <a:t>	since	DATE,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latin typeface="新細明體" panose="02020500000000000000" pitchFamily="18" charset="-120"/>
              </a:rPr>
              <a:t>	</a:t>
            </a:r>
            <a:r>
              <a:rPr kumimoji="0" lang="en-US" altLang="en-US" sz="1600" b="1" dirty="0">
                <a:solidFill>
                  <a:schemeClr val="accent1"/>
                </a:solidFill>
                <a:latin typeface="新細明體" panose="02020500000000000000" pitchFamily="18" charset="-120"/>
              </a:rPr>
              <a:t>PRIMARY KEY (did),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latin typeface="新細明體" panose="02020500000000000000" pitchFamily="18" charset="-120"/>
              </a:rPr>
              <a:t>	FOREIGN KEY (id) REFERENCES Employees,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latin typeface="新細明體" panose="02020500000000000000" pitchFamily="18" charset="-120"/>
              </a:rPr>
              <a:t>	FOREIGN KEY (did) REFERENCES Departments)</a:t>
            </a:r>
          </a:p>
        </p:txBody>
      </p:sp>
      <p:sp>
        <p:nvSpPr>
          <p:cNvPr id="46104" name="Text Box 31">
            <a:extLst>
              <a:ext uri="{FF2B5EF4-FFF2-40B4-BE49-F238E27FC236}">
                <a16:creationId xmlns:a16="http://schemas.microsoft.com/office/drawing/2014/main" id="{8959C00B-FB95-174C-BFB4-16B97228B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257800"/>
            <a:ext cx="745331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As each department has at most one manager, no two tuples can have the same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did value but differ on the id value. Therefore, did is itself a key for Manages;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indeed, the set {did, id} is not a key because it is not minimal.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2FD8402A-2B4C-9947-85A4-1BF9625DDD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3FB3F6-661C-204C-B999-77824175225A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TW" sz="1400"/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140CC08C-AD29-2344-9BF2-749303E28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en-US" sz="2800"/>
              <a:t>The other approach is to include the information about the relationship set in the table corresponding to the entity set with the key.</a:t>
            </a:r>
          </a:p>
          <a:p>
            <a:pPr lvl="1" eaLnBrk="1" hangingPunct="1"/>
            <a:r>
              <a:rPr lang="en-US" altLang="en-US" sz="2400"/>
              <a:t>Avoids creating a distinct table for the relationship.</a:t>
            </a:r>
          </a:p>
          <a:p>
            <a:pPr lvl="1" eaLnBrk="1" hangingPunct="1"/>
            <a:r>
              <a:rPr lang="en-US" altLang="en-US" sz="2400"/>
              <a:t>The drawback to this approach is that space could be waste if a lot of departments have no managers.</a:t>
            </a:r>
          </a:p>
        </p:txBody>
      </p:sp>
      <p:sp>
        <p:nvSpPr>
          <p:cNvPr id="47107" name="Text Box 4">
            <a:extLst>
              <a:ext uri="{FF2B5EF4-FFF2-40B4-BE49-F238E27FC236}">
                <a16:creationId xmlns:a16="http://schemas.microsoft.com/office/drawing/2014/main" id="{01FD30C2-5FEF-7548-BA39-476F69DE52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0050" y="3730625"/>
            <a:ext cx="5949950" cy="22891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latin typeface="Arial" panose="020B0604020202020204" pitchFamily="34" charset="0"/>
              </a:rPr>
              <a:t>CREATE TABLE </a:t>
            </a:r>
            <a:r>
              <a:rPr kumimoji="0" lang="en-US" altLang="en-US" sz="1800" dirty="0" err="1">
                <a:latin typeface="Arial" panose="020B0604020202020204" pitchFamily="34" charset="0"/>
              </a:rPr>
              <a:t>Dept_Mgr</a:t>
            </a:r>
            <a:r>
              <a:rPr kumimoji="0" lang="en-US" altLang="en-US" sz="1800" dirty="0">
                <a:latin typeface="Arial" panose="020B0604020202020204" pitchFamily="34" charset="0"/>
              </a:rPr>
              <a:t> 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latin typeface="Arial" panose="020B0604020202020204" pitchFamily="34" charset="0"/>
              </a:rPr>
              <a:t>	did	INTEGER,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latin typeface="Arial" panose="020B0604020202020204" pitchFamily="34" charset="0"/>
              </a:rPr>
              <a:t>	</a:t>
            </a:r>
            <a:r>
              <a:rPr kumimoji="0" lang="en-US" altLang="en-US" sz="1800" dirty="0" err="1">
                <a:solidFill>
                  <a:schemeClr val="accent1"/>
                </a:solidFill>
                <a:latin typeface="Arial" panose="020B0604020202020204" pitchFamily="34" charset="0"/>
              </a:rPr>
              <a:t>dname</a:t>
            </a:r>
            <a:r>
              <a:rPr kumimoji="0"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	CHAR(20),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solidFill>
                  <a:schemeClr val="accent1"/>
                </a:solidFill>
                <a:latin typeface="Arial" panose="020B0604020202020204" pitchFamily="34" charset="0"/>
              </a:rPr>
              <a:t>	budget	REAL</a:t>
            </a:r>
            <a:r>
              <a:rPr kumimoji="0" lang="en-US" altLang="en-US" sz="1800" dirty="0">
                <a:latin typeface="Arial" panose="020B0604020202020204" pitchFamily="34" charset="0"/>
              </a:rPr>
              <a:t>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latin typeface="Arial" panose="020B0604020202020204" pitchFamily="34" charset="0"/>
              </a:rPr>
              <a:t>	id	CHAR(11),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latin typeface="Arial" panose="020B0604020202020204" pitchFamily="34" charset="0"/>
              </a:rPr>
              <a:t>	since	DATE,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latin typeface="Arial" panose="020B0604020202020204" pitchFamily="34" charset="0"/>
              </a:rPr>
              <a:t>	PRIMARY KEY (did),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800" dirty="0">
                <a:latin typeface="Arial" panose="020B0604020202020204" pitchFamily="34" charset="0"/>
              </a:rPr>
              <a:t>	FOREIGN KEY (id) REFERENCES Employees)</a:t>
            </a:r>
          </a:p>
        </p:txBody>
      </p:sp>
      <p:sp>
        <p:nvSpPr>
          <p:cNvPr id="3" name="Text Box 31">
            <a:extLst>
              <a:ext uri="{FF2B5EF4-FFF2-40B4-BE49-F238E27FC236}">
                <a16:creationId xmlns:a16="http://schemas.microsoft.com/office/drawing/2014/main" id="{24E5EB8D-3563-48F9-9F34-2D3A694CF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6079123"/>
            <a:ext cx="452078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 dirty="0">
                <a:solidFill>
                  <a:srgbClr val="FF0000"/>
                </a:solidFill>
                <a:latin typeface="Arial" panose="020B0604020202020204" pitchFamily="34" charset="0"/>
              </a:rPr>
              <a:t>Merge into the department table in this example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>
            <a:extLst>
              <a:ext uri="{FF2B5EF4-FFF2-40B4-BE49-F238E27FC236}">
                <a16:creationId xmlns:a16="http://schemas.microsoft.com/office/drawing/2014/main" id="{6B4AFB84-9426-DD4E-B751-63C82CBC61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36D5FF-A901-804A-974B-64A75C93AEE5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TW" sz="1400"/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B322213E-C4B4-534E-A0CB-F2BA8523C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381000"/>
            <a:ext cx="8229600" cy="5715000"/>
          </a:xfrm>
        </p:spPr>
        <p:txBody>
          <a:bodyPr/>
          <a:lstStyle/>
          <a:p>
            <a:pPr eaLnBrk="1" hangingPunct="1"/>
            <a:r>
              <a:rPr lang="en-US" altLang="en-US" sz="2400">
                <a:solidFill>
                  <a:schemeClr val="accent2"/>
                </a:solidFill>
              </a:rPr>
              <a:t>Translating Relationship Sets with Participation Constraints</a:t>
            </a:r>
          </a:p>
          <a:p>
            <a:pPr lvl="1" eaLnBrk="1" hangingPunct="1">
              <a:buFontTx/>
              <a:buNone/>
            </a:pPr>
            <a:endParaRPr lang="en-US" altLang="en-US" sz="2400">
              <a:solidFill>
                <a:schemeClr val="accent2"/>
              </a:solidFill>
            </a:endParaRPr>
          </a:p>
        </p:txBody>
      </p:sp>
      <p:grpSp>
        <p:nvGrpSpPr>
          <p:cNvPr id="48131" name="Group 32">
            <a:extLst>
              <a:ext uri="{FF2B5EF4-FFF2-40B4-BE49-F238E27FC236}">
                <a16:creationId xmlns:a16="http://schemas.microsoft.com/office/drawing/2014/main" id="{1D1D5FFE-4722-6D47-B8D5-FAFB8AF5D61D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219200"/>
            <a:ext cx="5715000" cy="2057400"/>
            <a:chOff x="960" y="624"/>
            <a:chExt cx="3360" cy="829"/>
          </a:xfrm>
        </p:grpSpPr>
        <p:sp>
          <p:nvSpPr>
            <p:cNvPr id="48133" name="Line 4">
              <a:extLst>
                <a:ext uri="{FF2B5EF4-FFF2-40B4-BE49-F238E27FC236}">
                  <a16:creationId xmlns:a16="http://schemas.microsoft.com/office/drawing/2014/main" id="{F845E401-5953-BC43-B317-15A412B8B1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3" y="1051"/>
              <a:ext cx="536" cy="12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4" name="Line 5">
              <a:extLst>
                <a:ext uri="{FF2B5EF4-FFF2-40B4-BE49-F238E27FC236}">
                  <a16:creationId xmlns:a16="http://schemas.microsoft.com/office/drawing/2014/main" id="{2D75B972-DCBF-284E-873A-AA76BCE18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6" y="1277"/>
              <a:ext cx="32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5" name="Line 6">
              <a:extLst>
                <a:ext uri="{FF2B5EF4-FFF2-40B4-BE49-F238E27FC236}">
                  <a16:creationId xmlns:a16="http://schemas.microsoft.com/office/drawing/2014/main" id="{5D046371-085A-5742-910D-E7E2323236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8" y="1277"/>
              <a:ext cx="32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36" name="AutoShape 7">
              <a:extLst>
                <a:ext uri="{FF2B5EF4-FFF2-40B4-BE49-F238E27FC236}">
                  <a16:creationId xmlns:a16="http://schemas.microsoft.com/office/drawing/2014/main" id="{0850B42B-DC37-5D4A-9BF8-422D126D8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9" y="1101"/>
              <a:ext cx="537" cy="352"/>
            </a:xfrm>
            <a:prstGeom prst="diamond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508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latin typeface="Arial" panose="020B0604020202020204" pitchFamily="34" charset="0"/>
                </a:rPr>
                <a:t>manages</a:t>
              </a:r>
            </a:p>
          </p:txBody>
        </p:sp>
        <p:sp>
          <p:nvSpPr>
            <p:cNvPr id="48137" name="Rectangle 8">
              <a:extLst>
                <a:ext uri="{FF2B5EF4-FFF2-40B4-BE49-F238E27FC236}">
                  <a16:creationId xmlns:a16="http://schemas.microsoft.com/office/drawing/2014/main" id="{5B756351-51A7-9347-B27F-D594C31DF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1177"/>
              <a:ext cx="608" cy="2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latin typeface="Arial" panose="020B0604020202020204" pitchFamily="34" charset="0"/>
                </a:rPr>
                <a:t>Employees</a:t>
              </a:r>
            </a:p>
          </p:txBody>
        </p:sp>
        <p:sp>
          <p:nvSpPr>
            <p:cNvPr id="48138" name="Rectangle 9">
              <a:extLst>
                <a:ext uri="{FF2B5EF4-FFF2-40B4-BE49-F238E27FC236}">
                  <a16:creationId xmlns:a16="http://schemas.microsoft.com/office/drawing/2014/main" id="{0297B2B3-6CBE-F443-83D3-88FBAF5A8A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8" y="1177"/>
              <a:ext cx="608" cy="201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400">
                  <a:latin typeface="Arial" panose="020B0604020202020204" pitchFamily="34" charset="0"/>
                </a:rPr>
                <a:t>Departments</a:t>
              </a:r>
            </a:p>
          </p:txBody>
        </p:sp>
        <p:sp>
          <p:nvSpPr>
            <p:cNvPr id="48139" name="Oval 10">
              <a:extLst>
                <a:ext uri="{FF2B5EF4-FFF2-40B4-BE49-F238E27FC236}">
                  <a16:creationId xmlns:a16="http://schemas.microsoft.com/office/drawing/2014/main" id="{7299ED5D-DF8A-144F-B241-8FA09CB6B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00"/>
              <a:ext cx="536" cy="17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200" u="sng">
                  <a:latin typeface="Arial" panose="020B0604020202020204" pitchFamily="34" charset="0"/>
                </a:rPr>
                <a:t>id</a:t>
              </a:r>
            </a:p>
          </p:txBody>
        </p:sp>
        <p:sp>
          <p:nvSpPr>
            <p:cNvPr id="48140" name="Oval 11">
              <a:extLst>
                <a:ext uri="{FF2B5EF4-FFF2-40B4-BE49-F238E27FC236}">
                  <a16:creationId xmlns:a16="http://schemas.microsoft.com/office/drawing/2014/main" id="{434F21B3-5944-604C-B9CF-1CD8049B9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699"/>
              <a:ext cx="537" cy="17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200">
                  <a:latin typeface="Arial" panose="020B0604020202020204" pitchFamily="34" charset="0"/>
                </a:rPr>
                <a:t>name</a:t>
              </a:r>
            </a:p>
          </p:txBody>
        </p:sp>
        <p:sp>
          <p:nvSpPr>
            <p:cNvPr id="48141" name="Oval 12">
              <a:extLst>
                <a:ext uri="{FF2B5EF4-FFF2-40B4-BE49-F238E27FC236}">
                  <a16:creationId xmlns:a16="http://schemas.microsoft.com/office/drawing/2014/main" id="{1E6F50A0-4AE3-AC47-912B-19C31D596E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" y="900"/>
              <a:ext cx="535" cy="17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200" u="sng">
                  <a:latin typeface="Arial" panose="020B0604020202020204" pitchFamily="34" charset="0"/>
                </a:rPr>
                <a:t>did</a:t>
              </a:r>
            </a:p>
          </p:txBody>
        </p:sp>
        <p:sp>
          <p:nvSpPr>
            <p:cNvPr id="48142" name="Oval 13">
              <a:extLst>
                <a:ext uri="{FF2B5EF4-FFF2-40B4-BE49-F238E27FC236}">
                  <a16:creationId xmlns:a16="http://schemas.microsoft.com/office/drawing/2014/main" id="{91F59ECB-06F7-2641-9FAE-7461EE4020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4" y="925"/>
              <a:ext cx="536" cy="17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200">
                  <a:latin typeface="Arial" panose="020B0604020202020204" pitchFamily="34" charset="0"/>
                </a:rPr>
                <a:t>budget</a:t>
              </a:r>
            </a:p>
          </p:txBody>
        </p:sp>
        <p:sp>
          <p:nvSpPr>
            <p:cNvPr id="48143" name="Line 14">
              <a:extLst>
                <a:ext uri="{FF2B5EF4-FFF2-40B4-BE49-F238E27FC236}">
                  <a16:creationId xmlns:a16="http://schemas.microsoft.com/office/drawing/2014/main" id="{C2FE635B-3D6B-1A4C-8AE7-26F5DA1C43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4" y="1026"/>
              <a:ext cx="607" cy="15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4" name="Line 15">
              <a:extLst>
                <a:ext uri="{FF2B5EF4-FFF2-40B4-BE49-F238E27FC236}">
                  <a16:creationId xmlns:a16="http://schemas.microsoft.com/office/drawing/2014/main" id="{16E9AA2B-7466-244F-89B8-3CB75304D7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48" y="1077"/>
              <a:ext cx="214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5" name="Line 16">
              <a:extLst>
                <a:ext uri="{FF2B5EF4-FFF2-40B4-BE49-F238E27FC236}">
                  <a16:creationId xmlns:a16="http://schemas.microsoft.com/office/drawing/2014/main" id="{A3695B16-7CBC-D440-86C8-09DA8B2B69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1" y="1077"/>
              <a:ext cx="250" cy="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6" name="Oval 17">
              <a:extLst>
                <a:ext uri="{FF2B5EF4-FFF2-40B4-BE49-F238E27FC236}">
                  <a16:creationId xmlns:a16="http://schemas.microsoft.com/office/drawing/2014/main" id="{32532613-A917-E94A-B027-30F0BF797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900"/>
              <a:ext cx="536" cy="177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200">
                  <a:latin typeface="Arial" panose="020B0604020202020204" pitchFamily="34" charset="0"/>
                </a:rPr>
                <a:t>lot</a:t>
              </a:r>
            </a:p>
          </p:txBody>
        </p:sp>
        <p:sp>
          <p:nvSpPr>
            <p:cNvPr id="48147" name="Oval 18">
              <a:extLst>
                <a:ext uri="{FF2B5EF4-FFF2-40B4-BE49-F238E27FC236}">
                  <a16:creationId xmlns:a16="http://schemas.microsoft.com/office/drawing/2014/main" id="{BD233334-1E94-D540-BDC6-7FBC8BC40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724"/>
              <a:ext cx="536" cy="17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200">
                  <a:latin typeface="Arial" panose="020B0604020202020204" pitchFamily="34" charset="0"/>
                </a:rPr>
                <a:t>dname</a:t>
              </a:r>
            </a:p>
          </p:txBody>
        </p:sp>
        <p:sp>
          <p:nvSpPr>
            <p:cNvPr id="48148" name="Line 19">
              <a:extLst>
                <a:ext uri="{FF2B5EF4-FFF2-40B4-BE49-F238E27FC236}">
                  <a16:creationId xmlns:a16="http://schemas.microsoft.com/office/drawing/2014/main" id="{B0B9CA03-02A5-F943-88A9-2C4D122DA0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69" y="900"/>
              <a:ext cx="0" cy="27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49" name="Line 20">
              <a:extLst>
                <a:ext uri="{FF2B5EF4-FFF2-40B4-BE49-F238E27FC236}">
                  <a16:creationId xmlns:a16="http://schemas.microsoft.com/office/drawing/2014/main" id="{EBEAC77C-1F9C-B949-85AA-FE6EC2CC60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6" y="876"/>
              <a:ext cx="0" cy="3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0" name="Line 21">
              <a:extLst>
                <a:ext uri="{FF2B5EF4-FFF2-40B4-BE49-F238E27FC236}">
                  <a16:creationId xmlns:a16="http://schemas.microsoft.com/office/drawing/2014/main" id="{FF8B6C0C-1811-1B4A-BDAC-26DF53C4BC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5" y="800"/>
              <a:ext cx="0" cy="3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151" name="Oval 22">
              <a:extLst>
                <a:ext uri="{FF2B5EF4-FFF2-40B4-BE49-F238E27FC236}">
                  <a16:creationId xmlns:a16="http://schemas.microsoft.com/office/drawing/2014/main" id="{6A1B7420-E72E-2E4E-90F3-92870045D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9" y="624"/>
              <a:ext cx="537" cy="17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200">
                  <a:latin typeface="Arial" panose="020B0604020202020204" pitchFamily="34" charset="0"/>
                </a:rPr>
                <a:t>since</a:t>
              </a:r>
            </a:p>
          </p:txBody>
        </p:sp>
      </p:grpSp>
      <p:sp>
        <p:nvSpPr>
          <p:cNvPr id="48132" name="Text Box 31">
            <a:extLst>
              <a:ext uri="{FF2B5EF4-FFF2-40B4-BE49-F238E27FC236}">
                <a16:creationId xmlns:a16="http://schemas.microsoft.com/office/drawing/2014/main" id="{B62A6BE2-9FA2-844F-8895-92FD41C5C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803650"/>
            <a:ext cx="5337175" cy="229235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Create TABLE Dept_Mgr(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did	INTEGER,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dname	CHAR(20),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budget	REAL,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id	CHAR(11) NOT NULL,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since	DATE,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PRIMARY KEY (did),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FOREIGN KEY (id) REFERENCES Employees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	ON DELETE NO ACTION)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F0BE6222-3520-DA4B-826B-0060211A6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FF574A5-D161-FF4C-80B8-EFFDE14D809D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TW" sz="1400"/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B80A1679-72B9-864C-9CC1-7B48A495A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2"/>
                </a:solidFill>
              </a:rPr>
              <a:t>Translating weak entity sets</a:t>
            </a:r>
          </a:p>
          <a:p>
            <a:pPr lvl="1" eaLnBrk="1" hangingPunct="1"/>
            <a:r>
              <a:rPr lang="en-US" altLang="en-US" dirty="0"/>
              <a:t>The weak entity set always </a:t>
            </a:r>
          </a:p>
          <a:p>
            <a:pPr lvl="2" eaLnBrk="1" hangingPunct="1"/>
            <a:r>
              <a:rPr lang="en-US" altLang="en-US" dirty="0"/>
              <a:t>participates in a one-to-many binary relationship,</a:t>
            </a:r>
          </a:p>
          <a:p>
            <a:pPr lvl="2" eaLnBrk="1" hangingPunct="1"/>
            <a:r>
              <a:rPr lang="en-US" altLang="en-US" dirty="0"/>
              <a:t>has a key constraint </a:t>
            </a:r>
          </a:p>
          <a:p>
            <a:pPr lvl="2" eaLnBrk="1" hangingPunct="1"/>
            <a:r>
              <a:rPr lang="en-US" altLang="en-US" dirty="0"/>
              <a:t>has total participation.</a:t>
            </a:r>
          </a:p>
          <a:p>
            <a:pPr lvl="1" eaLnBrk="1" hangingPunct="1"/>
            <a:r>
              <a:rPr lang="en-US" altLang="en-US" dirty="0"/>
              <a:t>The 2</a:t>
            </a:r>
            <a:r>
              <a:rPr lang="en-US" altLang="en-US" baseline="30000" dirty="0"/>
              <a:t>nd</a:t>
            </a:r>
            <a:r>
              <a:rPr lang="en-US" altLang="en-US" dirty="0"/>
              <a:t> approach (p.33) for translation relationship with key constraint can be used.</a:t>
            </a:r>
          </a:p>
          <a:p>
            <a:pPr lvl="1" eaLnBrk="1" hangingPunct="1"/>
            <a:r>
              <a:rPr lang="en-US" altLang="en-US" dirty="0"/>
              <a:t>We must take into account that the weak entity has only a partial key.</a:t>
            </a:r>
          </a:p>
          <a:p>
            <a:pPr lvl="1" eaLnBrk="1" hangingPunct="1"/>
            <a:r>
              <a:rPr lang="en-US" altLang="en-US" dirty="0"/>
              <a:t>Also when an owner entity is deleted, we may want all owned weak entities to be deleted. </a:t>
            </a:r>
          </a:p>
          <a:p>
            <a:pPr lvl="1" eaLnBrk="1" hangingPunct="1"/>
            <a:endParaRPr lang="en-US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4749074-C72D-6B42-89F8-403251E89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3">
            <a:extLst>
              <a:ext uri="{FF2B5EF4-FFF2-40B4-BE49-F238E27FC236}">
                <a16:creationId xmlns:a16="http://schemas.microsoft.com/office/drawing/2014/main" id="{A5C0BCCA-3B9A-CE4F-B6F8-A58611343C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049668-E761-7741-BDA6-A25408B5BC2D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TW" sz="1400"/>
          </a:p>
        </p:txBody>
      </p:sp>
      <p:sp>
        <p:nvSpPr>
          <p:cNvPr id="50178" name="Line 2">
            <a:extLst>
              <a:ext uri="{FF2B5EF4-FFF2-40B4-BE49-F238E27FC236}">
                <a16:creationId xmlns:a16="http://schemas.microsoft.com/office/drawing/2014/main" id="{28E17CA0-3F2B-2A49-B7DA-57A813562B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74800" y="2178050"/>
            <a:ext cx="1047750" cy="349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79" name="Line 3">
            <a:extLst>
              <a:ext uri="{FF2B5EF4-FFF2-40B4-BE49-F238E27FC236}">
                <a16:creationId xmlns:a16="http://schemas.microsoft.com/office/drawing/2014/main" id="{1B23195E-8E9D-5F49-B410-0E52316881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37150" y="2817813"/>
            <a:ext cx="628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0" name="Line 4">
            <a:extLst>
              <a:ext uri="{FF2B5EF4-FFF2-40B4-BE49-F238E27FC236}">
                <a16:creationId xmlns:a16="http://schemas.microsoft.com/office/drawing/2014/main" id="{F4E50464-D8E4-3F44-9EDB-6EA391FA6C1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60750" y="2806700"/>
            <a:ext cx="6286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1" name="Oval 5">
            <a:extLst>
              <a:ext uri="{FF2B5EF4-FFF2-40B4-BE49-F238E27FC236}">
                <a16:creationId xmlns:a16="http://schemas.microsoft.com/office/drawing/2014/main" id="{E55F4B37-C29A-5E43-88C7-60D146029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5" y="1311275"/>
            <a:ext cx="1047750" cy="4889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50182" name="Oval 6">
            <a:extLst>
              <a:ext uri="{FF2B5EF4-FFF2-40B4-BE49-F238E27FC236}">
                <a16:creationId xmlns:a16="http://schemas.microsoft.com/office/drawing/2014/main" id="{A0570BB9-FF02-9346-A91A-B6B3F6C07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760538"/>
            <a:ext cx="1047750" cy="4889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50183" name="Oval 8">
            <a:extLst>
              <a:ext uri="{FF2B5EF4-FFF2-40B4-BE49-F238E27FC236}">
                <a16:creationId xmlns:a16="http://schemas.microsoft.com/office/drawing/2014/main" id="{B71A754C-084C-8840-AB80-03EFDBB90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7450" y="1760538"/>
            <a:ext cx="1327150" cy="4889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prstDash val="sysDot"/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pname</a:t>
            </a:r>
          </a:p>
        </p:txBody>
      </p:sp>
      <p:sp>
        <p:nvSpPr>
          <p:cNvPr id="50184" name="Oval 9">
            <a:extLst>
              <a:ext uri="{FF2B5EF4-FFF2-40B4-BE49-F238E27FC236}">
                <a16:creationId xmlns:a16="http://schemas.microsoft.com/office/drawing/2014/main" id="{5258F1BB-33B8-0D48-BFAC-42EC77E9E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4000" y="1760538"/>
            <a:ext cx="1047750" cy="4889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age</a:t>
            </a:r>
          </a:p>
        </p:txBody>
      </p:sp>
      <p:sp>
        <p:nvSpPr>
          <p:cNvPr id="50185" name="Line 12">
            <a:extLst>
              <a:ext uri="{FF2B5EF4-FFF2-40B4-BE49-F238E27FC236}">
                <a16:creationId xmlns:a16="http://schemas.microsoft.com/office/drawing/2014/main" id="{736E8AAA-978F-9A47-BFD7-A0BA2E34FF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1650" y="2108200"/>
            <a:ext cx="118745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Line 13">
            <a:extLst>
              <a:ext uri="{FF2B5EF4-FFF2-40B4-BE49-F238E27FC236}">
                <a16:creationId xmlns:a16="http://schemas.microsoft.com/office/drawing/2014/main" id="{6D952242-B3D3-C84E-86A9-D20195B444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65800" y="2249488"/>
            <a:ext cx="419100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7" name="Line 14">
            <a:extLst>
              <a:ext uri="{FF2B5EF4-FFF2-40B4-BE49-F238E27FC236}">
                <a16:creationId xmlns:a16="http://schemas.microsoft.com/office/drawing/2014/main" id="{B06BA9EC-0532-DC4C-BA40-5A3EE5E853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4150" y="2249488"/>
            <a:ext cx="488950" cy="277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Oval 15">
            <a:extLst>
              <a:ext uri="{FF2B5EF4-FFF2-40B4-BE49-F238E27FC236}">
                <a16:creationId xmlns:a16="http://schemas.microsoft.com/office/drawing/2014/main" id="{54740306-0E28-A245-8099-1F13A67D9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1760538"/>
            <a:ext cx="1047750" cy="4889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lot</a:t>
            </a:r>
          </a:p>
        </p:txBody>
      </p:sp>
      <p:sp>
        <p:nvSpPr>
          <p:cNvPr id="50189" name="Line 16">
            <a:extLst>
              <a:ext uri="{FF2B5EF4-FFF2-40B4-BE49-F238E27FC236}">
                <a16:creationId xmlns:a16="http://schemas.microsoft.com/office/drawing/2014/main" id="{F156942F-0BB9-0A41-AA94-97D73A3FB32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17888" y="2803525"/>
            <a:ext cx="668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0190" name="Rectangle 17">
            <a:extLst>
              <a:ext uri="{FF2B5EF4-FFF2-40B4-BE49-F238E27FC236}">
                <a16:creationId xmlns:a16="http://schemas.microsoft.com/office/drawing/2014/main" id="{951D0C6F-3059-8A45-8906-DC6D9EA23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2527300"/>
            <a:ext cx="1187450" cy="5588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Employees</a:t>
            </a:r>
          </a:p>
        </p:txBody>
      </p:sp>
      <p:sp>
        <p:nvSpPr>
          <p:cNvPr id="50191" name="Rectangle 18">
            <a:extLst>
              <a:ext uri="{FF2B5EF4-FFF2-40B4-BE49-F238E27FC236}">
                <a16:creationId xmlns:a16="http://schemas.microsoft.com/office/drawing/2014/main" id="{CAA095DF-1A89-5545-A2D3-14D9DA96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5800" y="2527300"/>
            <a:ext cx="1187450" cy="558800"/>
          </a:xfrm>
          <a:prstGeom prst="rect">
            <a:avLst/>
          </a:prstGeom>
          <a:solidFill>
            <a:schemeClr val="hlink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Dependents</a:t>
            </a:r>
          </a:p>
        </p:txBody>
      </p:sp>
      <p:sp>
        <p:nvSpPr>
          <p:cNvPr id="50192" name="AutoShape 19">
            <a:extLst>
              <a:ext uri="{FF2B5EF4-FFF2-40B4-BE49-F238E27FC236}">
                <a16:creationId xmlns:a16="http://schemas.microsoft.com/office/drawing/2014/main" id="{8398B6C4-E327-5248-93C6-37B0EADB39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2263775"/>
            <a:ext cx="1231900" cy="1089025"/>
          </a:xfrm>
          <a:prstGeom prst="diamond">
            <a:avLst/>
          </a:prstGeom>
          <a:solidFill>
            <a:schemeClr val="hlink"/>
          </a:solidFill>
          <a:ln w="31750">
            <a:solidFill>
              <a:schemeClr val="tx1"/>
            </a:solidFill>
            <a:miter lim="800000"/>
            <a:headEnd/>
            <a:tailEnd/>
          </a:ln>
          <a:effectLst>
            <a:outerShdw dist="508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Policy</a:t>
            </a:r>
          </a:p>
        </p:txBody>
      </p:sp>
      <p:sp>
        <p:nvSpPr>
          <p:cNvPr id="50193" name="Line 20">
            <a:extLst>
              <a:ext uri="{FF2B5EF4-FFF2-40B4-BE49-F238E27FC236}">
                <a16:creationId xmlns:a16="http://schemas.microsoft.com/office/drawing/2014/main" id="{65347881-7F30-A942-AE29-787F1609E2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10100" y="1243013"/>
            <a:ext cx="0" cy="10033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4" name="Oval 21">
            <a:extLst>
              <a:ext uri="{FF2B5EF4-FFF2-40B4-BE49-F238E27FC236}">
                <a16:creationId xmlns:a16="http://schemas.microsoft.com/office/drawing/2014/main" id="{C91E1B04-A49A-3C41-8980-34213ADC1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685800"/>
            <a:ext cx="1047750" cy="4889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600">
                <a:latin typeface="Arial" panose="020B0604020202020204" pitchFamily="34" charset="0"/>
              </a:rPr>
              <a:t>cost</a:t>
            </a:r>
          </a:p>
        </p:txBody>
      </p:sp>
      <p:sp>
        <p:nvSpPr>
          <p:cNvPr id="50195" name="Line 22">
            <a:extLst>
              <a:ext uri="{FF2B5EF4-FFF2-40B4-BE49-F238E27FC236}">
                <a16:creationId xmlns:a16="http://schemas.microsoft.com/office/drawing/2014/main" id="{443DA935-B592-9047-A20C-13EEB4A614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02263" y="2079625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96" name="Line 25">
            <a:extLst>
              <a:ext uri="{FF2B5EF4-FFF2-40B4-BE49-F238E27FC236}">
                <a16:creationId xmlns:a16="http://schemas.microsoft.com/office/drawing/2014/main" id="{22FAD2B6-09C4-4047-8880-73B36AF2D3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3213" y="1800225"/>
            <a:ext cx="0" cy="725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50197" name="Text Box 27">
            <a:extLst>
              <a:ext uri="{FF2B5EF4-FFF2-40B4-BE49-F238E27FC236}">
                <a16:creationId xmlns:a16="http://schemas.microsoft.com/office/drawing/2014/main" id="{D3C5F900-CA07-EE43-BE67-1D556987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733800"/>
            <a:ext cx="5337175" cy="2047875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CREATE TABLE Dep_Policy (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pname	CHAR(20),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age	INTEGER,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cost	REAL,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id	CHAR(11),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PRIMARY KEY (pname,id),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FOREIGN KEY (id) REFERENCES Employees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		ON DELETE CASCADE)</a:t>
            </a:r>
          </a:p>
        </p:txBody>
      </p:sp>
      <p:sp>
        <p:nvSpPr>
          <p:cNvPr id="50198" name="Text Box 28">
            <a:extLst>
              <a:ext uri="{FF2B5EF4-FFF2-40B4-BE49-F238E27FC236}">
                <a16:creationId xmlns:a16="http://schemas.microsoft.com/office/drawing/2014/main" id="{8C768891-1CE9-AC42-972A-15A7ADE36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352800"/>
            <a:ext cx="334645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The primary key is &lt;</a:t>
            </a:r>
            <a:r>
              <a:rPr kumimoji="0"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pname,id</a:t>
            </a: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&gt;,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 since dependents is a weak entity.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We have to ensure that every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dependents entity is associated with an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Employees entity (the owner), as per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the total participation constraint, </a:t>
            </a:r>
            <a:r>
              <a:rPr kumimoji="0" lang="en-US" altLang="en-US" sz="1400" dirty="0" err="1">
                <a:solidFill>
                  <a:srgbClr val="FF0000"/>
                </a:solidFill>
                <a:latin typeface="Arial" panose="020B0604020202020204" pitchFamily="34" charset="0"/>
              </a:rPr>
              <a:t>ie</a:t>
            </a: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id cannot be null.  This is ensured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because id is part of  the primary key.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The CASCADE option ensures that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 information about an employee’s policy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 and dependents is deleted if the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 corresponding Employees tuple is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1400" dirty="0">
                <a:solidFill>
                  <a:srgbClr val="FF0000"/>
                </a:solidFill>
                <a:latin typeface="Arial" panose="020B0604020202020204" pitchFamily="34" charset="0"/>
              </a:rPr>
              <a:t>  deleted.</a:t>
            </a:r>
          </a:p>
          <a:p>
            <a:pPr>
              <a:spcBef>
                <a:spcPct val="0"/>
              </a:spcBef>
            </a:pPr>
            <a:endParaRPr kumimoji="0" lang="en-US" altLang="en-US" sz="14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2BC05427-6C62-9749-BDAC-067BA31443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4858CB-2C49-E147-816E-7B9E0BEA9FDC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TW" sz="1400"/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E8630F45-26A0-3144-973F-4DFE96EF9F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Translating Class Hierarchies</a:t>
            </a:r>
          </a:p>
          <a:p>
            <a:pPr lvl="1" eaLnBrk="1" hangingPunct="1"/>
            <a:endParaRPr lang="en-US" altLang="en-US"/>
          </a:p>
        </p:txBody>
      </p:sp>
      <p:sp>
        <p:nvSpPr>
          <p:cNvPr id="51203" name="Line 4">
            <a:extLst>
              <a:ext uri="{FF2B5EF4-FFF2-40B4-BE49-F238E27FC236}">
                <a16:creationId xmlns:a16="http://schemas.microsoft.com/office/drawing/2014/main" id="{C8BE78B0-0B01-2E47-BB8E-062B5D7F75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46900" y="4316413"/>
            <a:ext cx="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4" name="Line 5">
            <a:extLst>
              <a:ext uri="{FF2B5EF4-FFF2-40B4-BE49-F238E27FC236}">
                <a16:creationId xmlns:a16="http://schemas.microsoft.com/office/drawing/2014/main" id="{12530028-C1C2-B546-B958-036FBD136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370138"/>
            <a:ext cx="0" cy="509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5" name="Line 6">
            <a:extLst>
              <a:ext uri="{FF2B5EF4-FFF2-40B4-BE49-F238E27FC236}">
                <a16:creationId xmlns:a16="http://schemas.microsoft.com/office/drawing/2014/main" id="{9B746E65-CE90-8145-94FA-776E23F947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24400" y="3328988"/>
            <a:ext cx="0" cy="4778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6" name="Line 7">
            <a:extLst>
              <a:ext uri="{FF2B5EF4-FFF2-40B4-BE49-F238E27FC236}">
                <a16:creationId xmlns:a16="http://schemas.microsoft.com/office/drawing/2014/main" id="{31A9D712-827A-E741-8330-C946AD4469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447800" y="4344988"/>
            <a:ext cx="515938" cy="390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Line 8">
            <a:extLst>
              <a:ext uri="{FF2B5EF4-FFF2-40B4-BE49-F238E27FC236}">
                <a16:creationId xmlns:a16="http://schemas.microsoft.com/office/drawing/2014/main" id="{12C73CA6-ED2D-DD42-8775-E70023520BF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8600" y="4645025"/>
            <a:ext cx="790575" cy="90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8" name="Line 9">
            <a:extLst>
              <a:ext uri="{FF2B5EF4-FFF2-40B4-BE49-F238E27FC236}">
                <a16:creationId xmlns:a16="http://schemas.microsoft.com/office/drawing/2014/main" id="{E0C2353B-04B7-4D49-993F-8B944699DC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52813" y="4645025"/>
            <a:ext cx="685800" cy="90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9" name="Oval 10">
            <a:extLst>
              <a:ext uri="{FF2B5EF4-FFF2-40B4-BE49-F238E27FC236}">
                <a16:creationId xmlns:a16="http://schemas.microsoft.com/office/drawing/2014/main" id="{DFCEE414-AFC7-1744-86AA-BBB1F3325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106863"/>
            <a:ext cx="1171575" cy="5207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Hour_wages</a:t>
            </a:r>
          </a:p>
        </p:txBody>
      </p:sp>
      <p:sp>
        <p:nvSpPr>
          <p:cNvPr id="51210" name="Oval 11">
            <a:extLst>
              <a:ext uri="{FF2B5EF4-FFF2-40B4-BE49-F238E27FC236}">
                <a16:creationId xmlns:a16="http://schemas.microsoft.com/office/drawing/2014/main" id="{7E1385AE-37C5-2D4A-BAE0-792D0E259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9525" y="3917950"/>
            <a:ext cx="1173163" cy="5207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Contract_ID</a:t>
            </a:r>
          </a:p>
        </p:txBody>
      </p:sp>
      <p:sp>
        <p:nvSpPr>
          <p:cNvPr id="51211" name="Line 12">
            <a:extLst>
              <a:ext uri="{FF2B5EF4-FFF2-40B4-BE49-F238E27FC236}">
                <a16:creationId xmlns:a16="http://schemas.microsoft.com/office/drawing/2014/main" id="{C1160515-7F33-1D4F-807B-7B1BBCE6540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600450" y="2579688"/>
            <a:ext cx="71120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Rectangle 13">
            <a:extLst>
              <a:ext uri="{FF2B5EF4-FFF2-40B4-BE49-F238E27FC236}">
                <a16:creationId xmlns:a16="http://schemas.microsoft.com/office/drawing/2014/main" id="{ABB9D5DD-8336-3F4F-93DF-B3D44AE58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5" y="4735513"/>
            <a:ext cx="1673225" cy="59531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Contract_Emps</a:t>
            </a:r>
          </a:p>
        </p:txBody>
      </p:sp>
      <p:sp>
        <p:nvSpPr>
          <p:cNvPr id="51213" name="AutoShape 14">
            <a:extLst>
              <a:ext uri="{FF2B5EF4-FFF2-40B4-BE49-F238E27FC236}">
                <a16:creationId xmlns:a16="http://schemas.microsoft.com/office/drawing/2014/main" id="{D79D4BFC-BFB5-994D-A7DB-C6AB739DD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8613" y="3748088"/>
            <a:ext cx="1169987" cy="898525"/>
          </a:xfrm>
          <a:prstGeom prst="triangle">
            <a:avLst>
              <a:gd name="adj" fmla="val 50000"/>
            </a:avLst>
          </a:prstGeom>
          <a:solidFill>
            <a:schemeClr val="hlink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 b="1">
                <a:latin typeface="Arial" panose="020B0604020202020204" pitchFamily="34" charset="0"/>
              </a:rPr>
              <a:t>ISA</a:t>
            </a:r>
          </a:p>
        </p:txBody>
      </p:sp>
      <p:sp>
        <p:nvSpPr>
          <p:cNvPr id="51214" name="Rectangle 15">
            <a:extLst>
              <a:ext uri="{FF2B5EF4-FFF2-40B4-BE49-F238E27FC236}">
                <a16:creationId xmlns:a16="http://schemas.microsoft.com/office/drawing/2014/main" id="{BED5443F-D43D-4A4A-A2E4-B9E4DFDE7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7013" y="2879725"/>
            <a:ext cx="1330325" cy="59531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Employees</a:t>
            </a:r>
          </a:p>
        </p:txBody>
      </p:sp>
      <p:sp>
        <p:nvSpPr>
          <p:cNvPr id="51215" name="Oval 16">
            <a:extLst>
              <a:ext uri="{FF2B5EF4-FFF2-40B4-BE49-F238E27FC236}">
                <a16:creationId xmlns:a16="http://schemas.microsoft.com/office/drawing/2014/main" id="{0565DCF8-AC08-1540-9E3D-F44DF7337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275" y="1981200"/>
            <a:ext cx="1171575" cy="5207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51216" name="Oval 17">
            <a:extLst>
              <a:ext uri="{FF2B5EF4-FFF2-40B4-BE49-F238E27FC236}">
                <a16:creationId xmlns:a16="http://schemas.microsoft.com/office/drawing/2014/main" id="{B0EFAE09-6ACF-E44B-A725-FE5C7E10F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2220913"/>
            <a:ext cx="1173162" cy="5207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51217" name="Line 18">
            <a:extLst>
              <a:ext uri="{FF2B5EF4-FFF2-40B4-BE49-F238E27FC236}">
                <a16:creationId xmlns:a16="http://schemas.microsoft.com/office/drawing/2014/main" id="{5E03ACE3-C0F6-0B41-9807-BBE4D1964C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02225" y="2579688"/>
            <a:ext cx="711200" cy="296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8" name="Oval 19">
            <a:extLst>
              <a:ext uri="{FF2B5EF4-FFF2-40B4-BE49-F238E27FC236}">
                <a16:creationId xmlns:a16="http://schemas.microsoft.com/office/drawing/2014/main" id="{DF6C23C0-A9E7-D44E-82B2-89FEB003F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2220913"/>
            <a:ext cx="1171575" cy="5207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lot</a:t>
            </a:r>
          </a:p>
        </p:txBody>
      </p:sp>
      <p:sp>
        <p:nvSpPr>
          <p:cNvPr id="51219" name="Line 20">
            <a:extLst>
              <a:ext uri="{FF2B5EF4-FFF2-40B4-BE49-F238E27FC236}">
                <a16:creationId xmlns:a16="http://schemas.microsoft.com/office/drawing/2014/main" id="{559789A6-B657-7243-B547-23756B42B9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49538" y="4319588"/>
            <a:ext cx="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20" name="Rectangle 21">
            <a:extLst>
              <a:ext uri="{FF2B5EF4-FFF2-40B4-BE49-F238E27FC236}">
                <a16:creationId xmlns:a16="http://schemas.microsoft.com/office/drawing/2014/main" id="{A8C30057-7D4D-8847-A2D0-9A563170D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3" y="4738688"/>
            <a:ext cx="1673225" cy="59531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Hourly-Emps</a:t>
            </a:r>
          </a:p>
        </p:txBody>
      </p:sp>
      <p:sp>
        <p:nvSpPr>
          <p:cNvPr id="51221" name="Oval 22">
            <a:extLst>
              <a:ext uri="{FF2B5EF4-FFF2-40B4-BE49-F238E27FC236}">
                <a16:creationId xmlns:a16="http://schemas.microsoft.com/office/drawing/2014/main" id="{4DCBF1EC-1CA8-734D-A125-965179AFC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2163" y="3806825"/>
            <a:ext cx="1173162" cy="5207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600">
                <a:latin typeface="Arial" panose="020B0604020202020204" pitchFamily="34" charset="0"/>
              </a:rPr>
              <a:t>Hour_worked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47526050-446B-CC47-9FBD-D575050A85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11C4D4-7574-074A-B9A3-6A9A731C520E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TW" sz="1400"/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58051ACD-7A32-D844-87C0-A1239B74A4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marL="609600" indent="-609600" eaLnBrk="1" hangingPunct="1"/>
            <a:r>
              <a:rPr lang="en-US" altLang="en-US"/>
              <a:t>There are two approaches: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en-US"/>
              <a:t>Map each of the entity sets Employees, Hourly-Emps, and Contract-Emps to a distinct relation.</a:t>
            </a:r>
          </a:p>
          <a:p>
            <a:pPr marL="609600" indent="-609600" eaLnBrk="1" hangingPunct="1"/>
            <a:endParaRPr lang="en-US" altLang="en-US"/>
          </a:p>
        </p:txBody>
      </p:sp>
      <p:sp>
        <p:nvSpPr>
          <p:cNvPr id="52227" name="Rectangle 5">
            <a:extLst>
              <a:ext uri="{FF2B5EF4-FFF2-40B4-BE49-F238E27FC236}">
                <a16:creationId xmlns:a16="http://schemas.microsoft.com/office/drawing/2014/main" id="{016C2895-7411-4144-B228-26A3AEC00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3086100"/>
            <a:ext cx="541337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52228" name="Rectangle 6">
            <a:extLst>
              <a:ext uri="{FF2B5EF4-FFF2-40B4-BE49-F238E27FC236}">
                <a16:creationId xmlns:a16="http://schemas.microsoft.com/office/drawing/2014/main" id="{90736D94-DB96-BA4F-A227-F9C790060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3048000"/>
            <a:ext cx="152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EMPLOYEE</a:t>
            </a:r>
          </a:p>
        </p:txBody>
      </p:sp>
      <p:sp>
        <p:nvSpPr>
          <p:cNvPr id="52229" name="Rectangle 7">
            <a:extLst>
              <a:ext uri="{FF2B5EF4-FFF2-40B4-BE49-F238E27FC236}">
                <a16:creationId xmlns:a16="http://schemas.microsoft.com/office/drawing/2014/main" id="{BDA55EB8-3F29-9F4A-B6F8-EFD866503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086100"/>
            <a:ext cx="803275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52230" name="Rectangle 8">
            <a:extLst>
              <a:ext uri="{FF2B5EF4-FFF2-40B4-BE49-F238E27FC236}">
                <a16:creationId xmlns:a16="http://schemas.microsoft.com/office/drawing/2014/main" id="{352ECC95-1278-524D-A868-C10B08118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3086100"/>
            <a:ext cx="1114425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address</a:t>
            </a:r>
          </a:p>
        </p:txBody>
      </p:sp>
      <p:sp>
        <p:nvSpPr>
          <p:cNvPr id="52231" name="Rectangle 9">
            <a:extLst>
              <a:ext uri="{FF2B5EF4-FFF2-40B4-BE49-F238E27FC236}">
                <a16:creationId xmlns:a16="http://schemas.microsoft.com/office/drawing/2014/main" id="{8B132577-92E9-EE40-B85B-741952487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263" y="3811588"/>
            <a:ext cx="12668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HOURLY-EMP</a:t>
            </a:r>
          </a:p>
        </p:txBody>
      </p:sp>
      <p:sp>
        <p:nvSpPr>
          <p:cNvPr id="52232" name="Rectangle 10">
            <a:extLst>
              <a:ext uri="{FF2B5EF4-FFF2-40B4-BE49-F238E27FC236}">
                <a16:creationId xmlns:a16="http://schemas.microsoft.com/office/drawing/2014/main" id="{A7BF0417-2C31-8648-96AC-0524BCEF4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4551363"/>
            <a:ext cx="1905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CONTRACT-EMP</a:t>
            </a:r>
          </a:p>
        </p:txBody>
      </p:sp>
      <p:sp>
        <p:nvSpPr>
          <p:cNvPr id="52233" name="Rectangle 11">
            <a:extLst>
              <a:ext uri="{FF2B5EF4-FFF2-40B4-BE49-F238E27FC236}">
                <a16:creationId xmlns:a16="http://schemas.microsoft.com/office/drawing/2014/main" id="{9E589B96-ED04-724F-B839-DF56ECF14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2263" y="4598988"/>
            <a:ext cx="609600" cy="533400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52234" name="Rectangle 12">
            <a:extLst>
              <a:ext uri="{FF2B5EF4-FFF2-40B4-BE49-F238E27FC236}">
                <a16:creationId xmlns:a16="http://schemas.microsoft.com/office/drawing/2014/main" id="{22A35B3C-37E8-1B4A-94B1-0DDF5756B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1863" y="4598988"/>
            <a:ext cx="1981200" cy="533400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 dirty="0" err="1">
                <a:latin typeface="Arial" panose="020B0604020202020204" pitchFamily="34" charset="0"/>
              </a:rPr>
              <a:t>Contract_id</a:t>
            </a:r>
            <a:endParaRPr kumimoji="0" lang="en-US" altLang="en-US" sz="1800" dirty="0">
              <a:latin typeface="Arial" panose="020B0604020202020204" pitchFamily="34" charset="0"/>
            </a:endParaRPr>
          </a:p>
        </p:txBody>
      </p:sp>
      <p:sp>
        <p:nvSpPr>
          <p:cNvPr id="52235" name="Rectangle 13">
            <a:extLst>
              <a:ext uri="{FF2B5EF4-FFF2-40B4-BE49-F238E27FC236}">
                <a16:creationId xmlns:a16="http://schemas.microsoft.com/office/drawing/2014/main" id="{A76E498D-6D2B-714C-8E6C-6A2574700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238" y="3849688"/>
            <a:ext cx="596900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52236" name="Rectangle 14">
            <a:extLst>
              <a:ext uri="{FF2B5EF4-FFF2-40B4-BE49-F238E27FC236}">
                <a16:creationId xmlns:a16="http://schemas.microsoft.com/office/drawing/2014/main" id="{F3A75088-0988-8F43-808C-75120A1A8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3" y="3849688"/>
            <a:ext cx="1709737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hours_worked</a:t>
            </a:r>
          </a:p>
        </p:txBody>
      </p:sp>
      <p:sp>
        <p:nvSpPr>
          <p:cNvPr id="52237" name="Rectangle 15">
            <a:extLst>
              <a:ext uri="{FF2B5EF4-FFF2-40B4-BE49-F238E27FC236}">
                <a16:creationId xmlns:a16="http://schemas.microsoft.com/office/drawing/2014/main" id="{2F834B19-3C04-F74F-888E-F192446FF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8700" y="3849688"/>
            <a:ext cx="1709738" cy="542925"/>
          </a:xfrm>
          <a:prstGeom prst="rect">
            <a:avLst/>
          </a:prstGeom>
          <a:solidFill>
            <a:srgbClr val="FFE0E0"/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800">
                <a:latin typeface="Arial" panose="020B0604020202020204" pitchFamily="34" charset="0"/>
              </a:rPr>
              <a:t>hours_wages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5">
            <a:extLst>
              <a:ext uri="{FF2B5EF4-FFF2-40B4-BE49-F238E27FC236}">
                <a16:creationId xmlns:a16="http://schemas.microsoft.com/office/drawing/2014/main" id="{FBE5FF15-7FAD-F54D-A660-E41E942F05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7AA8AB-D339-A047-80DE-9BCC91D955D9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TW" sz="1400"/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B22D4D94-5AAA-6946-9BA7-1FCE847F70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 marL="990600" lvl="1" indent="-533400" eaLnBrk="1" hangingPunct="1">
              <a:buFontTx/>
              <a:buAutoNum type="arabicPeriod" startAt="2"/>
            </a:pPr>
            <a:r>
              <a:rPr lang="en-US" altLang="en-US" dirty="0"/>
              <a:t>Create two relations, corresponding to </a:t>
            </a:r>
            <a:r>
              <a:rPr lang="en-US" altLang="en-US" dirty="0" err="1"/>
              <a:t>Hourly_Emps</a:t>
            </a:r>
            <a:r>
              <a:rPr lang="en-US" altLang="en-US" dirty="0"/>
              <a:t> and </a:t>
            </a:r>
            <a:r>
              <a:rPr lang="en-US" altLang="en-US" dirty="0" err="1"/>
              <a:t>Contract_Emps</a:t>
            </a:r>
            <a:r>
              <a:rPr lang="en-US" altLang="en-US" dirty="0"/>
              <a:t>.</a:t>
            </a:r>
          </a:p>
        </p:txBody>
      </p:sp>
      <p:grpSp>
        <p:nvGrpSpPr>
          <p:cNvPr id="53251" name="Group 15">
            <a:extLst>
              <a:ext uri="{FF2B5EF4-FFF2-40B4-BE49-F238E27FC236}">
                <a16:creationId xmlns:a16="http://schemas.microsoft.com/office/drawing/2014/main" id="{060E81F9-6D0B-1744-B1F7-3D61E82581B8}"/>
              </a:ext>
            </a:extLst>
          </p:cNvPr>
          <p:cNvGrpSpPr>
            <a:grpSpLocks/>
          </p:cNvGrpSpPr>
          <p:nvPr/>
        </p:nvGrpSpPr>
        <p:grpSpPr bwMode="auto">
          <a:xfrm>
            <a:off x="923925" y="1981200"/>
            <a:ext cx="7229475" cy="1377950"/>
            <a:chOff x="582" y="1628"/>
            <a:chExt cx="4935" cy="889"/>
          </a:xfrm>
        </p:grpSpPr>
        <p:sp>
          <p:nvSpPr>
            <p:cNvPr id="53252" name="Rectangle 4">
              <a:extLst>
                <a:ext uri="{FF2B5EF4-FFF2-40B4-BE49-F238E27FC236}">
                  <a16:creationId xmlns:a16="http://schemas.microsoft.com/office/drawing/2014/main" id="{516D6460-A5B2-6644-9DFD-02904B5D9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1628"/>
              <a:ext cx="798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en-US" sz="2000" b="1">
                  <a:latin typeface="Arial" panose="020B0604020202020204" pitchFamily="34" charset="0"/>
                </a:rPr>
                <a:t>HOURLY-EMP</a:t>
              </a:r>
            </a:p>
          </p:txBody>
        </p:sp>
        <p:sp>
          <p:nvSpPr>
            <p:cNvPr id="53253" name="Rectangle 5">
              <a:extLst>
                <a:ext uri="{FF2B5EF4-FFF2-40B4-BE49-F238E27FC236}">
                  <a16:creationId xmlns:a16="http://schemas.microsoft.com/office/drawing/2014/main" id="{85CD94A0-3F48-C544-801A-41DF5B153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" y="2133"/>
              <a:ext cx="1200" cy="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en-US" sz="2000" b="1">
                  <a:latin typeface="Arial" panose="020B0604020202020204" pitchFamily="34" charset="0"/>
                </a:rPr>
                <a:t>CONTRACT-EMP</a:t>
              </a:r>
            </a:p>
          </p:txBody>
        </p:sp>
        <p:sp>
          <p:nvSpPr>
            <p:cNvPr id="53254" name="Rectangle 6">
              <a:extLst>
                <a:ext uri="{FF2B5EF4-FFF2-40B4-BE49-F238E27FC236}">
                  <a16:creationId xmlns:a16="http://schemas.microsoft.com/office/drawing/2014/main" id="{27BE5999-C217-E442-A756-19F204441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2160"/>
              <a:ext cx="384" cy="339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 u="sng">
                  <a:latin typeface="Arial" panose="020B0604020202020204" pitchFamily="34" charset="0"/>
                </a:rPr>
                <a:t>id</a:t>
              </a:r>
            </a:p>
          </p:txBody>
        </p:sp>
        <p:sp>
          <p:nvSpPr>
            <p:cNvPr id="53255" name="Rectangle 7">
              <a:extLst>
                <a:ext uri="{FF2B5EF4-FFF2-40B4-BE49-F238E27FC236}">
                  <a16:creationId xmlns:a16="http://schemas.microsoft.com/office/drawing/2014/main" id="{6F3AE413-5B71-8E4B-B605-EF6D63ECD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2163"/>
              <a:ext cx="1248" cy="338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 dirty="0" err="1">
                  <a:latin typeface="Arial" panose="020B0604020202020204" pitchFamily="34" charset="0"/>
                </a:rPr>
                <a:t>Contract_id</a:t>
              </a:r>
              <a:endParaRPr kumimoji="0" lang="en-US" altLang="en-US" sz="1800" dirty="0">
                <a:latin typeface="Arial" panose="020B0604020202020204" pitchFamily="34" charset="0"/>
              </a:endParaRPr>
            </a:p>
          </p:txBody>
        </p:sp>
        <p:sp>
          <p:nvSpPr>
            <p:cNvPr id="53256" name="Rectangle 8">
              <a:extLst>
                <a:ext uri="{FF2B5EF4-FFF2-40B4-BE49-F238E27FC236}">
                  <a16:creationId xmlns:a16="http://schemas.microsoft.com/office/drawing/2014/main" id="{6745D22D-1E90-E540-9689-BF6B7C16A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6" y="1655"/>
              <a:ext cx="376" cy="339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 u="sng">
                  <a:latin typeface="Arial" panose="020B0604020202020204" pitchFamily="34" charset="0"/>
                </a:rPr>
                <a:t>id</a:t>
              </a:r>
            </a:p>
          </p:txBody>
        </p:sp>
        <p:sp>
          <p:nvSpPr>
            <p:cNvPr id="53257" name="Rectangle 9">
              <a:extLst>
                <a:ext uri="{FF2B5EF4-FFF2-40B4-BE49-F238E27FC236}">
                  <a16:creationId xmlns:a16="http://schemas.microsoft.com/office/drawing/2014/main" id="{7FEAF3A7-1EB9-2648-B5DA-A393B282C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3" y="1655"/>
              <a:ext cx="1077" cy="342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latin typeface="Arial" panose="020B0604020202020204" pitchFamily="34" charset="0"/>
                </a:rPr>
                <a:t>hours_worked</a:t>
              </a:r>
            </a:p>
          </p:txBody>
        </p:sp>
        <p:sp>
          <p:nvSpPr>
            <p:cNvPr id="53258" name="Rectangle 10">
              <a:extLst>
                <a:ext uri="{FF2B5EF4-FFF2-40B4-BE49-F238E27FC236}">
                  <a16:creationId xmlns:a16="http://schemas.microsoft.com/office/drawing/2014/main" id="{84F51C49-6A5B-6043-B802-0E9C356730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" y="1655"/>
              <a:ext cx="1077" cy="342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latin typeface="Arial" panose="020B0604020202020204" pitchFamily="34" charset="0"/>
                </a:rPr>
                <a:t>hours_wages</a:t>
              </a:r>
            </a:p>
          </p:txBody>
        </p:sp>
        <p:sp>
          <p:nvSpPr>
            <p:cNvPr id="53259" name="Rectangle 11">
              <a:extLst>
                <a:ext uri="{FF2B5EF4-FFF2-40B4-BE49-F238E27FC236}">
                  <a16:creationId xmlns:a16="http://schemas.microsoft.com/office/drawing/2014/main" id="{1B914CC0-9C87-FE47-BE65-52E084988E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0" y="1655"/>
              <a:ext cx="496" cy="342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latin typeface="Arial" panose="020B0604020202020204" pitchFamily="34" charset="0"/>
                </a:rPr>
                <a:t>name</a:t>
              </a:r>
            </a:p>
          </p:txBody>
        </p:sp>
        <p:sp>
          <p:nvSpPr>
            <p:cNvPr id="53260" name="Rectangle 12">
              <a:extLst>
                <a:ext uri="{FF2B5EF4-FFF2-40B4-BE49-F238E27FC236}">
                  <a16:creationId xmlns:a16="http://schemas.microsoft.com/office/drawing/2014/main" id="{59E0BD50-D0A7-F44A-9A58-9D4F36354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6" y="1655"/>
              <a:ext cx="678" cy="342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latin typeface="Arial" panose="020B0604020202020204" pitchFamily="34" charset="0"/>
                </a:rPr>
                <a:t>address</a:t>
              </a:r>
            </a:p>
          </p:txBody>
        </p:sp>
        <p:sp>
          <p:nvSpPr>
            <p:cNvPr id="53261" name="Rectangle 13">
              <a:extLst>
                <a:ext uri="{FF2B5EF4-FFF2-40B4-BE49-F238E27FC236}">
                  <a16:creationId xmlns:a16="http://schemas.microsoft.com/office/drawing/2014/main" id="{D592915F-FEC2-9D41-84D9-F09956FF5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0" y="2163"/>
              <a:ext cx="496" cy="336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latin typeface="Arial" panose="020B0604020202020204" pitchFamily="34" charset="0"/>
                </a:rPr>
                <a:t>name</a:t>
              </a:r>
            </a:p>
          </p:txBody>
        </p:sp>
        <p:sp>
          <p:nvSpPr>
            <p:cNvPr id="53262" name="Rectangle 14">
              <a:extLst>
                <a:ext uri="{FF2B5EF4-FFF2-40B4-BE49-F238E27FC236}">
                  <a16:creationId xmlns:a16="http://schemas.microsoft.com/office/drawing/2014/main" id="{18B6BCAC-176E-C64C-B926-F364E96B3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6" y="2163"/>
              <a:ext cx="678" cy="336"/>
            </a:xfrm>
            <a:prstGeom prst="rect">
              <a:avLst/>
            </a:prstGeom>
            <a:solidFill>
              <a:srgbClr val="FFE0E0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en-US" sz="1800">
                  <a:latin typeface="Arial" panose="020B0604020202020204" pitchFamily="34" charset="0"/>
                </a:rPr>
                <a:t>address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>
            <a:extLst>
              <a:ext uri="{FF2B5EF4-FFF2-40B4-BE49-F238E27FC236}">
                <a16:creationId xmlns:a16="http://schemas.microsoft.com/office/drawing/2014/main" id="{83A74C6D-22B6-7E43-9261-E9149BF60B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3AF878-DD32-8446-BD5C-A5FDE4A5249B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TW" sz="1400"/>
          </a:p>
        </p:txBody>
      </p:sp>
      <p:sp>
        <p:nvSpPr>
          <p:cNvPr id="54274" name="Rectangle 3">
            <a:extLst>
              <a:ext uri="{FF2B5EF4-FFF2-40B4-BE49-F238E27FC236}">
                <a16:creationId xmlns:a16="http://schemas.microsoft.com/office/drawing/2014/main" id="{EC86DD9E-2220-F348-920D-DF71084E0C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en-US" sz="2800"/>
              <a:t>The first method is more general. </a:t>
            </a:r>
          </a:p>
          <a:p>
            <a:pPr lvl="1" eaLnBrk="1" hangingPunct="1"/>
            <a:r>
              <a:rPr lang="en-US" altLang="en-US" sz="2400"/>
              <a:t>Disadvantage: an extra relation is needed.  </a:t>
            </a:r>
          </a:p>
          <a:p>
            <a:pPr lvl="1" eaLnBrk="1" hangingPunct="1"/>
            <a:r>
              <a:rPr lang="en-US" altLang="en-US" sz="2400"/>
              <a:t>More operation may be necessary when we need to get the employee information</a:t>
            </a:r>
          </a:p>
          <a:p>
            <a:pPr lvl="1" eaLnBrk="1" hangingPunct="1"/>
            <a:r>
              <a:rPr lang="en-US" altLang="en-US" sz="2400"/>
              <a:t>(e.g. looking up two relations).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The second method is not always possible. </a:t>
            </a:r>
          </a:p>
          <a:p>
            <a:pPr lvl="1" eaLnBrk="1" hangingPunct="1"/>
            <a:r>
              <a:rPr lang="en-US" altLang="en-US" sz="2400"/>
              <a:t>Advantage : information of each employee is more easily accessible (usually only one relation look up). </a:t>
            </a:r>
          </a:p>
          <a:p>
            <a:pPr lvl="1" eaLnBrk="1" hangingPunct="1"/>
            <a:r>
              <a:rPr lang="en-US" altLang="en-US" sz="2400"/>
              <a:t>However, if an employee can be both hourly and contract based, then information of the employee will be stored twice.</a:t>
            </a:r>
          </a:p>
          <a:p>
            <a:pPr eaLnBrk="1" hangingPunct="1"/>
            <a:endParaRPr lang="en-US" altLang="en-US" sz="2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E1988B89-5D2E-A14F-A933-8EAD785A043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2BD815-F7D1-624D-9E67-8706A7086BD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TW" sz="1400"/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E47A8479-15BE-8345-B3BE-1A571162FD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chemeClr val="accent2"/>
                </a:solidFill>
              </a:rPr>
              <a:t>Translating ER diagrams with aggregation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translation is essentially the standard mapping for the relationship.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endParaRPr lang="en-US" altLang="en-US"/>
          </a:p>
        </p:txBody>
      </p:sp>
      <p:sp>
        <p:nvSpPr>
          <p:cNvPr id="55299" name="Rectangle 4">
            <a:extLst>
              <a:ext uri="{FF2B5EF4-FFF2-40B4-BE49-F238E27FC236}">
                <a16:creationId xmlns:a16="http://schemas.microsoft.com/office/drawing/2014/main" id="{CD920995-6322-C848-A0C7-8E97773BE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41675"/>
            <a:ext cx="5899150" cy="1406525"/>
          </a:xfrm>
          <a:prstGeom prst="rect">
            <a:avLst/>
          </a:prstGeom>
          <a:solidFill>
            <a:schemeClr val="hlink">
              <a:alpha val="25098"/>
            </a:schemeClr>
          </a:solidFill>
          <a:ln w="12700" algn="ctr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en-US" altLang="en-US" sz="2000">
              <a:latin typeface="Arial" panose="020B0604020202020204" pitchFamily="34" charset="0"/>
            </a:endParaRPr>
          </a:p>
        </p:txBody>
      </p:sp>
      <p:sp>
        <p:nvSpPr>
          <p:cNvPr id="55300" name="Line 5">
            <a:extLst>
              <a:ext uri="{FF2B5EF4-FFF2-40B4-BE49-F238E27FC236}">
                <a16:creationId xmlns:a16="http://schemas.microsoft.com/office/drawing/2014/main" id="{7BB11D91-F8D4-3245-890C-6ED274C65B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59288" y="2921000"/>
            <a:ext cx="0" cy="320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1" name="Line 6">
            <a:extLst>
              <a:ext uri="{FF2B5EF4-FFF2-40B4-BE49-F238E27FC236}">
                <a16:creationId xmlns:a16="http://schemas.microsoft.com/office/drawing/2014/main" id="{0C619872-3E5F-EF48-90FD-3D2675E3F0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62338" y="3736975"/>
            <a:ext cx="346075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2" name="Line 7">
            <a:extLst>
              <a:ext uri="{FF2B5EF4-FFF2-40B4-BE49-F238E27FC236}">
                <a16:creationId xmlns:a16="http://schemas.microsoft.com/office/drawing/2014/main" id="{F5A8A71A-D22A-DE47-BAE1-2B039E45538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2463" y="1654175"/>
            <a:ext cx="0" cy="338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3" name="Line 8">
            <a:extLst>
              <a:ext uri="{FF2B5EF4-FFF2-40B4-BE49-F238E27FC236}">
                <a16:creationId xmlns:a16="http://schemas.microsoft.com/office/drawing/2014/main" id="{62D335FF-9DDF-D849-A258-D9A733600E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62463" y="2293938"/>
            <a:ext cx="0" cy="3190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4" name="Line 9">
            <a:extLst>
              <a:ext uri="{FF2B5EF4-FFF2-40B4-BE49-F238E27FC236}">
                <a16:creationId xmlns:a16="http://schemas.microsoft.com/office/drawing/2014/main" id="{589B8093-0456-3B4B-A5F9-C81AD668B2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01863" y="3730625"/>
            <a:ext cx="346075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5" name="Line 10">
            <a:extLst>
              <a:ext uri="{FF2B5EF4-FFF2-40B4-BE49-F238E27FC236}">
                <a16:creationId xmlns:a16="http://schemas.microsoft.com/office/drawing/2014/main" id="{F5E9ABC4-9DCB-664C-B9DF-756898A23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4681538" y="2841625"/>
            <a:ext cx="554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6" name="Oval 11">
            <a:extLst>
              <a:ext uri="{FF2B5EF4-FFF2-40B4-BE49-F238E27FC236}">
                <a16:creationId xmlns:a16="http://schemas.microsoft.com/office/drawing/2014/main" id="{8C39F38C-B1DE-DD4D-8F45-5796C0238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1488" y="3571875"/>
            <a:ext cx="785812" cy="3492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 u="sng">
                <a:latin typeface="Arial" panose="020B0604020202020204" pitchFamily="34" charset="0"/>
              </a:rPr>
              <a:t>pid</a:t>
            </a:r>
          </a:p>
        </p:txBody>
      </p:sp>
      <p:sp>
        <p:nvSpPr>
          <p:cNvPr id="55307" name="Oval 12">
            <a:extLst>
              <a:ext uri="{FF2B5EF4-FFF2-40B4-BE49-F238E27FC236}">
                <a16:creationId xmlns:a16="http://schemas.microsoft.com/office/drawing/2014/main" id="{C04A443A-CB16-004A-9EC1-27D9F725BF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4763" y="2660650"/>
            <a:ext cx="787400" cy="34766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until</a:t>
            </a:r>
          </a:p>
        </p:txBody>
      </p:sp>
      <p:sp>
        <p:nvSpPr>
          <p:cNvPr id="55308" name="Line 13">
            <a:extLst>
              <a:ext uri="{FF2B5EF4-FFF2-40B4-BE49-F238E27FC236}">
                <a16:creationId xmlns:a16="http://schemas.microsoft.com/office/drawing/2014/main" id="{C8D9D749-3C64-5C42-827B-5347504DF0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708400" y="1793875"/>
            <a:ext cx="476250" cy="198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09" name="Rectangle 14">
            <a:extLst>
              <a:ext uri="{FF2B5EF4-FFF2-40B4-BE49-F238E27FC236}">
                <a16:creationId xmlns:a16="http://schemas.microsoft.com/office/drawing/2014/main" id="{98867272-7E08-014B-A867-2E9B5E491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2088" y="1992313"/>
            <a:ext cx="890587" cy="39846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Employees</a:t>
            </a:r>
          </a:p>
        </p:txBody>
      </p:sp>
      <p:sp>
        <p:nvSpPr>
          <p:cNvPr id="55310" name="Oval 15">
            <a:extLst>
              <a:ext uri="{FF2B5EF4-FFF2-40B4-BE49-F238E27FC236}">
                <a16:creationId xmlns:a16="http://schemas.microsoft.com/office/drawing/2014/main" id="{A4AA4643-1BFC-B74C-99A5-2E3F384B2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38" y="1554163"/>
            <a:ext cx="785812" cy="3476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 u="sng">
                <a:latin typeface="Arial" panose="020B0604020202020204" pitchFamily="34" charset="0"/>
              </a:rPr>
              <a:t>ID</a:t>
            </a:r>
          </a:p>
        </p:txBody>
      </p:sp>
      <p:sp>
        <p:nvSpPr>
          <p:cNvPr id="55311" name="Line 16">
            <a:extLst>
              <a:ext uri="{FF2B5EF4-FFF2-40B4-BE49-F238E27FC236}">
                <a16:creationId xmlns:a16="http://schemas.microsoft.com/office/drawing/2014/main" id="{B4FDCE10-CC70-304F-AF1F-89D4B8B619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1793875"/>
            <a:ext cx="476250" cy="1984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2" name="Oval 17">
            <a:extLst>
              <a:ext uri="{FF2B5EF4-FFF2-40B4-BE49-F238E27FC236}">
                <a16:creationId xmlns:a16="http://schemas.microsoft.com/office/drawing/2014/main" id="{84B1753B-3AD6-3F48-B393-2C72EF524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6650" y="1554163"/>
            <a:ext cx="787400" cy="3476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address</a:t>
            </a:r>
          </a:p>
        </p:txBody>
      </p:sp>
      <p:sp>
        <p:nvSpPr>
          <p:cNvPr id="55313" name="Line 18">
            <a:extLst>
              <a:ext uri="{FF2B5EF4-FFF2-40B4-BE49-F238E27FC236}">
                <a16:creationId xmlns:a16="http://schemas.microsoft.com/office/drawing/2014/main" id="{5B5F211F-B2BF-B244-8C8B-7001BF78CC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4500" y="3713163"/>
            <a:ext cx="0" cy="2809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4" name="Oval 19">
            <a:extLst>
              <a:ext uri="{FF2B5EF4-FFF2-40B4-BE49-F238E27FC236}">
                <a16:creationId xmlns:a16="http://schemas.microsoft.com/office/drawing/2014/main" id="{B2E98541-54FD-C94F-885C-3C6E07C21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9213" y="3371850"/>
            <a:ext cx="788987" cy="3492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started-on</a:t>
            </a:r>
          </a:p>
        </p:txBody>
      </p:sp>
      <p:sp>
        <p:nvSpPr>
          <p:cNvPr id="55315" name="AutoShape 20">
            <a:extLst>
              <a:ext uri="{FF2B5EF4-FFF2-40B4-BE49-F238E27FC236}">
                <a16:creationId xmlns:a16="http://schemas.microsoft.com/office/drawing/2014/main" id="{1054ED95-0FDC-7048-855D-2ABDA5A47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9388" y="2590800"/>
            <a:ext cx="939800" cy="495300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08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Monitors</a:t>
            </a:r>
          </a:p>
        </p:txBody>
      </p:sp>
      <p:sp>
        <p:nvSpPr>
          <p:cNvPr id="55316" name="Line 21">
            <a:extLst>
              <a:ext uri="{FF2B5EF4-FFF2-40B4-BE49-F238E27FC236}">
                <a16:creationId xmlns:a16="http://schemas.microsoft.com/office/drawing/2014/main" id="{7BD8B235-226B-9E44-B516-BC06AC26852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37113" y="4219575"/>
            <a:ext cx="5540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7" name="Line 22">
            <a:extLst>
              <a:ext uri="{FF2B5EF4-FFF2-40B4-BE49-F238E27FC236}">
                <a16:creationId xmlns:a16="http://schemas.microsoft.com/office/drawing/2014/main" id="{5C4B53FC-7818-CC4F-AE67-40A882B4F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6475" y="4205288"/>
            <a:ext cx="554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18" name="Rectangle 23">
            <a:extLst>
              <a:ext uri="{FF2B5EF4-FFF2-40B4-BE49-F238E27FC236}">
                <a16:creationId xmlns:a16="http://schemas.microsoft.com/office/drawing/2014/main" id="{BB9458BB-CF63-DD4F-BFAF-C1AD28809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813" y="3995738"/>
            <a:ext cx="1123950" cy="396875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Projects</a:t>
            </a:r>
          </a:p>
        </p:txBody>
      </p:sp>
      <p:sp>
        <p:nvSpPr>
          <p:cNvPr id="55319" name="Oval 24">
            <a:extLst>
              <a:ext uri="{FF2B5EF4-FFF2-40B4-BE49-F238E27FC236}">
                <a16:creationId xmlns:a16="http://schemas.microsoft.com/office/drawing/2014/main" id="{6DC03301-FFBD-A548-82E0-B305BBD4E39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435350" y="3570288"/>
            <a:ext cx="785813" cy="347662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pbudget</a:t>
            </a:r>
          </a:p>
        </p:txBody>
      </p:sp>
      <p:sp>
        <p:nvSpPr>
          <p:cNvPr id="55320" name="Line 25">
            <a:extLst>
              <a:ext uri="{FF2B5EF4-FFF2-40B4-BE49-F238E27FC236}">
                <a16:creationId xmlns:a16="http://schemas.microsoft.com/office/drawing/2014/main" id="{5376E8EF-21EE-B749-BFE1-E5894B4758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15088" y="3762375"/>
            <a:ext cx="346075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1" name="Line 26">
            <a:extLst>
              <a:ext uri="{FF2B5EF4-FFF2-40B4-BE49-F238E27FC236}">
                <a16:creationId xmlns:a16="http://schemas.microsoft.com/office/drawing/2014/main" id="{C3AC1E94-065B-D84A-B62A-45B7BB5AE1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54613" y="3757613"/>
            <a:ext cx="346075" cy="260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2" name="Oval 27">
            <a:extLst>
              <a:ext uri="{FF2B5EF4-FFF2-40B4-BE49-F238E27FC236}">
                <a16:creationId xmlns:a16="http://schemas.microsoft.com/office/drawing/2014/main" id="{DD7EACD1-1159-AF43-AC4B-85A8FFD29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238" y="3597275"/>
            <a:ext cx="785812" cy="3492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 u="sng">
                <a:latin typeface="Arial" panose="020B0604020202020204" pitchFamily="34" charset="0"/>
              </a:rPr>
              <a:t>did</a:t>
            </a:r>
          </a:p>
        </p:txBody>
      </p:sp>
      <p:sp>
        <p:nvSpPr>
          <p:cNvPr id="55323" name="Line 28">
            <a:extLst>
              <a:ext uri="{FF2B5EF4-FFF2-40B4-BE49-F238E27FC236}">
                <a16:creationId xmlns:a16="http://schemas.microsoft.com/office/drawing/2014/main" id="{48B52F51-703F-4C46-B3BE-B1FA0EA3AC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37250" y="3740150"/>
            <a:ext cx="0" cy="280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324" name="Oval 29">
            <a:extLst>
              <a:ext uri="{FF2B5EF4-FFF2-40B4-BE49-F238E27FC236}">
                <a16:creationId xmlns:a16="http://schemas.microsoft.com/office/drawing/2014/main" id="{277A78A2-F171-4343-BB35-EB53869CC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1963" y="3397250"/>
            <a:ext cx="788987" cy="3492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55325" name="Oval 30">
            <a:extLst>
              <a:ext uri="{FF2B5EF4-FFF2-40B4-BE49-F238E27FC236}">
                <a16:creationId xmlns:a16="http://schemas.microsoft.com/office/drawing/2014/main" id="{DE8A2E7D-5D15-3C42-9AC8-3D703D4D778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386513" y="3595688"/>
            <a:ext cx="787400" cy="3492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budget</a:t>
            </a:r>
          </a:p>
        </p:txBody>
      </p:sp>
      <p:sp>
        <p:nvSpPr>
          <p:cNvPr id="55326" name="Rectangle 32">
            <a:extLst>
              <a:ext uri="{FF2B5EF4-FFF2-40B4-BE49-F238E27FC236}">
                <a16:creationId xmlns:a16="http://schemas.microsoft.com/office/drawing/2014/main" id="{0D334AD9-18AC-9740-AAC7-AB118C307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4022725"/>
            <a:ext cx="1125538" cy="398463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Departments</a:t>
            </a:r>
          </a:p>
        </p:txBody>
      </p:sp>
      <p:sp>
        <p:nvSpPr>
          <p:cNvPr id="55327" name="Oval 33">
            <a:extLst>
              <a:ext uri="{FF2B5EF4-FFF2-40B4-BE49-F238E27FC236}">
                <a16:creationId xmlns:a16="http://schemas.microsoft.com/office/drawing/2014/main" id="{7A17DBD1-74BC-0A45-961B-25395945B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5113" y="1295400"/>
            <a:ext cx="785812" cy="34766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name</a:t>
            </a:r>
          </a:p>
        </p:txBody>
      </p:sp>
      <p:sp>
        <p:nvSpPr>
          <p:cNvPr id="55328" name="Oval 35">
            <a:extLst>
              <a:ext uri="{FF2B5EF4-FFF2-40B4-BE49-F238E27FC236}">
                <a16:creationId xmlns:a16="http://schemas.microsoft.com/office/drawing/2014/main" id="{E7B124E6-10D4-384F-B392-538A58F6C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308350"/>
            <a:ext cx="788988" cy="3492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since</a:t>
            </a:r>
          </a:p>
        </p:txBody>
      </p:sp>
      <p:sp>
        <p:nvSpPr>
          <p:cNvPr id="55329" name="Line 36">
            <a:extLst>
              <a:ext uri="{FF2B5EF4-FFF2-40B4-BE49-F238E27FC236}">
                <a16:creationId xmlns:a16="http://schemas.microsoft.com/office/drawing/2014/main" id="{61DC6C80-A90C-7A45-961C-9AD958F1DA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3657600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55330" name="AutoShape 31">
            <a:extLst>
              <a:ext uri="{FF2B5EF4-FFF2-40B4-BE49-F238E27FC236}">
                <a16:creationId xmlns:a16="http://schemas.microsoft.com/office/drawing/2014/main" id="{5FD4FBE0-07B6-B04B-B2A8-CBB471691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3363" y="3905250"/>
            <a:ext cx="858837" cy="611188"/>
          </a:xfrm>
          <a:prstGeom prst="diamond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508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1200">
                <a:latin typeface="Arial" panose="020B0604020202020204" pitchFamily="34" charset="0"/>
              </a:rPr>
              <a:t>Sponsors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5">
            <a:extLst>
              <a:ext uri="{FF2B5EF4-FFF2-40B4-BE49-F238E27FC236}">
                <a16:creationId xmlns:a16="http://schemas.microsoft.com/office/drawing/2014/main" id="{D4749FD5-4E58-034F-AE79-A5FC7377F4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25CD9F-23F4-1443-AA4F-AD1ADECE4046}" type="slidenum">
              <a:rPr lang="en-US" altLang="zh-TW" sz="140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TW" sz="1400"/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36164B14-3580-6449-9928-67393B735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924800" cy="54864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The Employees, Projects and Departments entity sets and the Sponsors relationship set are mapped as described previously.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For the Monitors relationship set, we create relation with (</a:t>
            </a:r>
            <a:r>
              <a:rPr lang="en-US" altLang="en-US" sz="2400" i="1"/>
              <a:t>id, did, pid, until</a:t>
            </a:r>
            <a:r>
              <a:rPr lang="en-US" altLang="en-US" sz="2400"/>
              <a:t>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Consider the sponsors relation: it has attributes </a:t>
            </a:r>
            <a:r>
              <a:rPr lang="en-US" altLang="en-US" sz="2400" i="1"/>
              <a:t>pid, did</a:t>
            </a:r>
            <a:r>
              <a:rPr lang="en-US" altLang="en-US" sz="2400"/>
              <a:t> and </a:t>
            </a:r>
            <a:r>
              <a:rPr lang="en-US" altLang="en-US" sz="2400" i="1"/>
              <a:t>since. </a:t>
            </a:r>
            <a:r>
              <a:rPr lang="en-US" altLang="en-US" sz="2400"/>
              <a:t>We need this relation because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To record the descriptive attributes of the sponsor relationship (since).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Not every sponsorship has a monitor, and thus some &lt;pid,did&gt; pairs in the Sponsors relation may not appear in the Monitor relation.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If Sponsors has no descriptive attributes and has total participation in Monitors, every possible instance of the Sponsors relation can be obtained from the </a:t>
            </a:r>
            <a:r>
              <a:rPr lang="en-US" altLang="en-US" sz="2400" i="1"/>
              <a:t>&lt;pid, did&gt;, </a:t>
            </a:r>
            <a:r>
              <a:rPr lang="en-US" altLang="en-US" sz="2400"/>
              <a:t>columns of Monitors </a:t>
            </a:r>
            <a:r>
              <a:rPr lang="en-US" altLang="en-US" sz="2400">
                <a:sym typeface="Wingdings" pitchFamily="2" charset="2"/>
              </a:rPr>
              <a:t> sponsors can be dropped.</a:t>
            </a:r>
            <a:endParaRPr lang="en-US" altLang="en-US" sz="24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Settings\mhwong\Application Data\Microsoft\Templates\mystyle.pot</Template>
  <TotalTime>979</TotalTime>
  <Words>3623</Words>
  <Application>Microsoft Office PowerPoint</Application>
  <PresentationFormat>全屏显示(4:3)</PresentationFormat>
  <Paragraphs>677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0" baseType="lpstr">
      <vt:lpstr>新細明體</vt:lpstr>
      <vt:lpstr>微软雅黑</vt:lpstr>
      <vt:lpstr>Arial</vt:lpstr>
      <vt:lpstr>Times New Roman</vt:lpstr>
      <vt:lpstr>Wingdings</vt:lpstr>
      <vt:lpstr>mystyle</vt:lpstr>
      <vt:lpstr>Equation</vt:lpstr>
      <vt:lpstr>Design, Implementation and Management of Database Systems</vt:lpstr>
      <vt:lpstr>History</vt:lpstr>
      <vt:lpstr>Introduction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Creating and Modifying Relations using SQL</vt:lpstr>
      <vt:lpstr>PowerPoint 演示文稿</vt:lpstr>
      <vt:lpstr>PowerPoint 演示文稿</vt:lpstr>
      <vt:lpstr>PowerPoint 演示文稿</vt:lpstr>
      <vt:lpstr>PowerPoint 演示文稿</vt:lpstr>
      <vt:lpstr>Integrity Constraints</vt:lpstr>
      <vt:lpstr>PowerPoint 演示文稿</vt:lpstr>
      <vt:lpstr>Key Constraints</vt:lpstr>
      <vt:lpstr>PowerPoint 演示文稿</vt:lpstr>
      <vt:lpstr>Foreign key constraints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Logical Database Design: ER to Relational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潇 晏</cp:lastModifiedBy>
  <cp:revision>56</cp:revision>
  <dcterms:created xsi:type="dcterms:W3CDTF">1601-01-01T00:00:00Z</dcterms:created>
  <dcterms:modified xsi:type="dcterms:W3CDTF">2026-09-14T01:17:32Z</dcterms:modified>
</cp:coreProperties>
</file>