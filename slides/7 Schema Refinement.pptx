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61" r:id="rId2"/>
  </p:sldMasterIdLst>
  <p:notesMasterIdLst>
    <p:notesMasterId r:id="rId89"/>
  </p:notesMasterIdLst>
  <p:sldIdLst>
    <p:sldId id="352" r:id="rId3"/>
    <p:sldId id="347" r:id="rId4"/>
    <p:sldId id="348" r:id="rId5"/>
    <p:sldId id="349" r:id="rId6"/>
    <p:sldId id="350" r:id="rId7"/>
    <p:sldId id="351" r:id="rId8"/>
    <p:sldId id="257" r:id="rId9"/>
    <p:sldId id="260" r:id="rId10"/>
    <p:sldId id="261" r:id="rId11"/>
    <p:sldId id="262" r:id="rId12"/>
    <p:sldId id="263" r:id="rId13"/>
    <p:sldId id="264" r:id="rId14"/>
    <p:sldId id="269" r:id="rId15"/>
    <p:sldId id="265" r:id="rId16"/>
    <p:sldId id="266" r:id="rId17"/>
    <p:sldId id="267" r:id="rId18"/>
    <p:sldId id="268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9" r:id="rId36"/>
    <p:sldId id="288" r:id="rId37"/>
    <p:sldId id="290" r:id="rId38"/>
    <p:sldId id="294" r:id="rId39"/>
    <p:sldId id="291" r:id="rId40"/>
    <p:sldId id="296" r:id="rId41"/>
    <p:sldId id="298" r:id="rId42"/>
    <p:sldId id="299" r:id="rId43"/>
    <p:sldId id="300" r:id="rId44"/>
    <p:sldId id="301" r:id="rId45"/>
    <p:sldId id="302" r:id="rId46"/>
    <p:sldId id="346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4" r:id="rId87"/>
    <p:sldId id="345" r:id="rId88"/>
  </p:sldIdLst>
  <p:sldSz cx="9144000" cy="6858000" type="screen4x3"/>
  <p:notesSz cx="6794500" cy="9906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1A911F-55BA-C740-BBC6-6E7DD108B9AF}" v="19" dt="2020-03-09T09:32:31.2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787"/>
    <p:restoredTop sz="94242"/>
  </p:normalViewPr>
  <p:slideViewPr>
    <p:cSldViewPr>
      <p:cViewPr varScale="1">
        <p:scale>
          <a:sx n="85" d="100"/>
          <a:sy n="85" d="100"/>
        </p:scale>
        <p:origin x="1300" y="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  <p:sld r:id="rId19" collapse="1"/>
      <p:sld r:id="rId20" collapse="1"/>
      <p:sld r:id="rId21" collapse="1"/>
      <p:sld r:id="rId22" collapse="1"/>
      <p:sld r:id="rId23" collapse="1"/>
      <p:sld r:id="rId24" collapse="1"/>
      <p:sld r:id="rId25" collapse="1"/>
      <p:sld r:id="rId26" collapse="1"/>
      <p:sld r:id="rId27" collapse="1"/>
      <p:sld r:id="rId28" collapse="1"/>
      <p:sld r:id="rId29" collapse="1"/>
      <p:sld r:id="rId30" collapse="1"/>
      <p:sld r:id="rId31" collapse="1"/>
      <p:sld r:id="rId32" collapse="1"/>
      <p:sld r:id="rId33" collapse="1"/>
      <p:sld r:id="rId34" collapse="1"/>
      <p:sld r:id="rId35" collapse="1"/>
      <p:sld r:id="rId36" collapse="1"/>
      <p:sld r:id="rId37" collapse="1"/>
      <p:sld r:id="rId38" collapse="1"/>
      <p:sld r:id="rId39" collapse="1"/>
      <p:sld r:id="rId40" collapse="1"/>
      <p:sld r:id="rId41" collapse="1"/>
      <p:sld r:id="rId42" collapse="1"/>
      <p:sld r:id="rId43" collapse="1"/>
      <p:sld r:id="rId44" collapse="1"/>
      <p:sld r:id="rId45" collapse="1"/>
      <p:sld r:id="rId46" collapse="1"/>
      <p:sld r:id="rId47" collapse="1"/>
      <p:sld r:id="rId48" collapse="1"/>
      <p:sld r:id="rId49" collapse="1"/>
      <p:sld r:id="rId50" collapse="1"/>
      <p:sld r:id="rId51" collapse="1"/>
      <p:sld r:id="rId52" collapse="1"/>
      <p:sld r:id="rId53" collapse="1"/>
      <p:sld r:id="rId54" collapse="1"/>
      <p:sld r:id="rId55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5" Type="http://schemas.openxmlformats.org/officeDocument/2006/relationships/slide" Target="slides/slide3.xml"/><Relationship Id="rId90" Type="http://schemas.openxmlformats.org/officeDocument/2006/relationships/presProps" Target="presProps.xml"/><Relationship Id="rId95" Type="http://schemas.microsoft.com/office/2015/10/relationships/revisionInfo" Target="revisionInfo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/Relationships>
</file>

<file path=ppt/_rels/viewProps.xml.rels><?xml version="1.0" encoding="UTF-8" standalone="yes"?>
<Relationships xmlns="http://schemas.openxmlformats.org/package/2006/relationships"><Relationship Id="rId13" Type="http://schemas.openxmlformats.org/officeDocument/2006/relationships/slide" Target="slides/slide26.xml"/><Relationship Id="rId18" Type="http://schemas.openxmlformats.org/officeDocument/2006/relationships/slide" Target="slides/slide32.xml"/><Relationship Id="rId26" Type="http://schemas.openxmlformats.org/officeDocument/2006/relationships/slide" Target="slides/slide42.xml"/><Relationship Id="rId39" Type="http://schemas.openxmlformats.org/officeDocument/2006/relationships/slide" Target="slides/slide67.xml"/><Relationship Id="rId21" Type="http://schemas.openxmlformats.org/officeDocument/2006/relationships/slide" Target="slides/slide36.xml"/><Relationship Id="rId34" Type="http://schemas.openxmlformats.org/officeDocument/2006/relationships/slide" Target="slides/slide57.xml"/><Relationship Id="rId42" Type="http://schemas.openxmlformats.org/officeDocument/2006/relationships/slide" Target="slides/slide71.xml"/><Relationship Id="rId47" Type="http://schemas.openxmlformats.org/officeDocument/2006/relationships/slide" Target="slides/slide76.xml"/><Relationship Id="rId50" Type="http://schemas.openxmlformats.org/officeDocument/2006/relationships/slide" Target="slides/slide79.xml"/><Relationship Id="rId55" Type="http://schemas.openxmlformats.org/officeDocument/2006/relationships/slide" Target="slides/slide85.xml"/><Relationship Id="rId7" Type="http://schemas.openxmlformats.org/officeDocument/2006/relationships/slide" Target="slides/slide17.xml"/><Relationship Id="rId2" Type="http://schemas.openxmlformats.org/officeDocument/2006/relationships/slide" Target="slides/slide12.xml"/><Relationship Id="rId16" Type="http://schemas.openxmlformats.org/officeDocument/2006/relationships/slide" Target="slides/slide30.xml"/><Relationship Id="rId29" Type="http://schemas.openxmlformats.org/officeDocument/2006/relationships/slide" Target="slides/slide49.xml"/><Relationship Id="rId11" Type="http://schemas.openxmlformats.org/officeDocument/2006/relationships/slide" Target="slides/slide23.xml"/><Relationship Id="rId24" Type="http://schemas.openxmlformats.org/officeDocument/2006/relationships/slide" Target="slides/slide39.xml"/><Relationship Id="rId32" Type="http://schemas.openxmlformats.org/officeDocument/2006/relationships/slide" Target="slides/slide53.xml"/><Relationship Id="rId37" Type="http://schemas.openxmlformats.org/officeDocument/2006/relationships/slide" Target="slides/slide61.xml"/><Relationship Id="rId40" Type="http://schemas.openxmlformats.org/officeDocument/2006/relationships/slide" Target="slides/slide69.xml"/><Relationship Id="rId45" Type="http://schemas.openxmlformats.org/officeDocument/2006/relationships/slide" Target="slides/slide74.xml"/><Relationship Id="rId53" Type="http://schemas.openxmlformats.org/officeDocument/2006/relationships/slide" Target="slides/slide83.xml"/><Relationship Id="rId5" Type="http://schemas.openxmlformats.org/officeDocument/2006/relationships/slide" Target="slides/slide15.xml"/><Relationship Id="rId10" Type="http://schemas.openxmlformats.org/officeDocument/2006/relationships/slide" Target="slides/slide21.xml"/><Relationship Id="rId19" Type="http://schemas.openxmlformats.org/officeDocument/2006/relationships/slide" Target="slides/slide34.xml"/><Relationship Id="rId31" Type="http://schemas.openxmlformats.org/officeDocument/2006/relationships/slide" Target="slides/slide52.xml"/><Relationship Id="rId44" Type="http://schemas.openxmlformats.org/officeDocument/2006/relationships/slide" Target="slides/slide73.xml"/><Relationship Id="rId52" Type="http://schemas.openxmlformats.org/officeDocument/2006/relationships/slide" Target="slides/slide81.xml"/><Relationship Id="rId4" Type="http://schemas.openxmlformats.org/officeDocument/2006/relationships/slide" Target="slides/slide14.xml"/><Relationship Id="rId9" Type="http://schemas.openxmlformats.org/officeDocument/2006/relationships/slide" Target="slides/slide20.xml"/><Relationship Id="rId14" Type="http://schemas.openxmlformats.org/officeDocument/2006/relationships/slide" Target="slides/slide27.xml"/><Relationship Id="rId22" Type="http://schemas.openxmlformats.org/officeDocument/2006/relationships/slide" Target="slides/slide37.xml"/><Relationship Id="rId27" Type="http://schemas.openxmlformats.org/officeDocument/2006/relationships/slide" Target="slides/slide46.xml"/><Relationship Id="rId30" Type="http://schemas.openxmlformats.org/officeDocument/2006/relationships/slide" Target="slides/slide51.xml"/><Relationship Id="rId35" Type="http://schemas.openxmlformats.org/officeDocument/2006/relationships/slide" Target="slides/slide58.xml"/><Relationship Id="rId43" Type="http://schemas.openxmlformats.org/officeDocument/2006/relationships/slide" Target="slides/slide72.xml"/><Relationship Id="rId48" Type="http://schemas.openxmlformats.org/officeDocument/2006/relationships/slide" Target="slides/slide77.xml"/><Relationship Id="rId8" Type="http://schemas.openxmlformats.org/officeDocument/2006/relationships/slide" Target="slides/slide18.xml"/><Relationship Id="rId51" Type="http://schemas.openxmlformats.org/officeDocument/2006/relationships/slide" Target="slides/slide80.xml"/><Relationship Id="rId3" Type="http://schemas.openxmlformats.org/officeDocument/2006/relationships/slide" Target="slides/slide13.xml"/><Relationship Id="rId12" Type="http://schemas.openxmlformats.org/officeDocument/2006/relationships/slide" Target="slides/slide24.xml"/><Relationship Id="rId17" Type="http://schemas.openxmlformats.org/officeDocument/2006/relationships/slide" Target="slides/slide31.xml"/><Relationship Id="rId25" Type="http://schemas.openxmlformats.org/officeDocument/2006/relationships/slide" Target="slides/slide41.xml"/><Relationship Id="rId33" Type="http://schemas.openxmlformats.org/officeDocument/2006/relationships/slide" Target="slides/slide54.xml"/><Relationship Id="rId38" Type="http://schemas.openxmlformats.org/officeDocument/2006/relationships/slide" Target="slides/slide63.xml"/><Relationship Id="rId46" Type="http://schemas.openxmlformats.org/officeDocument/2006/relationships/slide" Target="slides/slide75.xml"/><Relationship Id="rId20" Type="http://schemas.openxmlformats.org/officeDocument/2006/relationships/slide" Target="slides/slide35.xml"/><Relationship Id="rId41" Type="http://schemas.openxmlformats.org/officeDocument/2006/relationships/slide" Target="slides/slide70.xml"/><Relationship Id="rId54" Type="http://schemas.openxmlformats.org/officeDocument/2006/relationships/slide" Target="slides/slide84.xml"/><Relationship Id="rId1" Type="http://schemas.openxmlformats.org/officeDocument/2006/relationships/slide" Target="slides/slide11.xml"/><Relationship Id="rId6" Type="http://schemas.openxmlformats.org/officeDocument/2006/relationships/slide" Target="slides/slide16.xml"/><Relationship Id="rId15" Type="http://schemas.openxmlformats.org/officeDocument/2006/relationships/slide" Target="slides/slide28.xml"/><Relationship Id="rId23" Type="http://schemas.openxmlformats.org/officeDocument/2006/relationships/slide" Target="slides/slide38.xml"/><Relationship Id="rId28" Type="http://schemas.openxmlformats.org/officeDocument/2006/relationships/slide" Target="slides/slide47.xml"/><Relationship Id="rId36" Type="http://schemas.openxmlformats.org/officeDocument/2006/relationships/slide" Target="slides/slide60.xml"/><Relationship Id="rId49" Type="http://schemas.openxmlformats.org/officeDocument/2006/relationships/slide" Target="slides/slide7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 Hon Wong (CSD)" userId="8fba6e85-6ca5-468f-9934-ec14d6b7184c" providerId="ADAL" clId="{5D1A911F-55BA-C740-BBC6-6E7DD108B9AF}"/>
    <pc:docChg chg="custSel modSld">
      <pc:chgData name="Man Hon Wong (CSD)" userId="8fba6e85-6ca5-468f-9934-ec14d6b7184c" providerId="ADAL" clId="{5D1A911F-55BA-C740-BBC6-6E7DD108B9AF}" dt="2020-03-09T09:32:31.204" v="64" actId="1036"/>
      <pc:docMkLst>
        <pc:docMk/>
      </pc:docMkLst>
      <pc:sldChg chg="modSp">
        <pc:chgData name="Man Hon Wong (CSD)" userId="8fba6e85-6ca5-468f-9934-ec14d6b7184c" providerId="ADAL" clId="{5D1A911F-55BA-C740-BBC6-6E7DD108B9AF}" dt="2020-02-29T10:42:46.036" v="16" actId="207"/>
        <pc:sldMkLst>
          <pc:docMk/>
          <pc:sldMk cId="0" sldId="263"/>
        </pc:sldMkLst>
        <pc:spChg chg="mod">
          <ac:chgData name="Man Hon Wong (CSD)" userId="8fba6e85-6ca5-468f-9934-ec14d6b7184c" providerId="ADAL" clId="{5D1A911F-55BA-C740-BBC6-6E7DD108B9AF}" dt="2020-02-29T10:42:46.036" v="16" actId="207"/>
          <ac:spMkLst>
            <pc:docMk/>
            <pc:sldMk cId="0" sldId="263"/>
            <ac:spMk id="24579" creationId="{09F59AED-FC20-874F-B983-792F37769DD9}"/>
          </ac:spMkLst>
        </pc:spChg>
      </pc:sldChg>
      <pc:sldChg chg="addSp modSp">
        <pc:chgData name="Man Hon Wong (CSD)" userId="8fba6e85-6ca5-468f-9934-ec14d6b7184c" providerId="ADAL" clId="{5D1A911F-55BA-C740-BBC6-6E7DD108B9AF}" dt="2020-02-29T11:12:00.991" v="17"/>
        <pc:sldMkLst>
          <pc:docMk/>
          <pc:sldMk cId="0" sldId="264"/>
        </pc:sldMkLst>
        <pc:spChg chg="mod">
          <ac:chgData name="Man Hon Wong (CSD)" userId="8fba6e85-6ca5-468f-9934-ec14d6b7184c" providerId="ADAL" clId="{5D1A911F-55BA-C740-BBC6-6E7DD108B9AF}" dt="2020-02-29T11:12:00.991" v="17"/>
          <ac:spMkLst>
            <pc:docMk/>
            <pc:sldMk cId="0" sldId="264"/>
            <ac:spMk id="25604" creationId="{649BD8FD-2014-C14D-ACB0-5367D7D7B35C}"/>
          </ac:spMkLst>
        </pc:spChg>
        <pc:picChg chg="add">
          <ac:chgData name="Man Hon Wong (CSD)" userId="8fba6e85-6ca5-468f-9934-ec14d6b7184c" providerId="ADAL" clId="{5D1A911F-55BA-C740-BBC6-6E7DD108B9AF}" dt="2020-02-29T11:12:00.991" v="17"/>
          <ac:picMkLst>
            <pc:docMk/>
            <pc:sldMk cId="0" sldId="264"/>
            <ac:picMk id="2" creationId="{44CC6B48-1DE1-3E41-B169-C3FBD1FA63A9}"/>
          </ac:picMkLst>
        </pc:picChg>
      </pc:sldChg>
      <pc:sldChg chg="modSp">
        <pc:chgData name="Man Hon Wong (CSD)" userId="8fba6e85-6ca5-468f-9934-ec14d6b7184c" providerId="ADAL" clId="{5D1A911F-55BA-C740-BBC6-6E7DD108B9AF}" dt="2020-02-29T12:04:46.152" v="45" actId="313"/>
        <pc:sldMkLst>
          <pc:docMk/>
          <pc:sldMk cId="0" sldId="273"/>
        </pc:sldMkLst>
        <pc:spChg chg="mod">
          <ac:chgData name="Man Hon Wong (CSD)" userId="8fba6e85-6ca5-468f-9934-ec14d6b7184c" providerId="ADAL" clId="{5D1A911F-55BA-C740-BBC6-6E7DD108B9AF}" dt="2020-02-29T12:04:46.152" v="45" actId="313"/>
          <ac:spMkLst>
            <pc:docMk/>
            <pc:sldMk cId="0" sldId="273"/>
            <ac:spMk id="32772" creationId="{E2692612-B378-4A47-AD98-AA06C9BBEFBF}"/>
          </ac:spMkLst>
        </pc:spChg>
      </pc:sldChg>
      <pc:sldChg chg="modSp">
        <pc:chgData name="Man Hon Wong (CSD)" userId="8fba6e85-6ca5-468f-9934-ec14d6b7184c" providerId="ADAL" clId="{5D1A911F-55BA-C740-BBC6-6E7DD108B9AF}" dt="2020-03-09T09:31:58.932" v="54" actId="1035"/>
        <pc:sldMkLst>
          <pc:docMk/>
          <pc:sldMk cId="0" sldId="315"/>
        </pc:sldMkLst>
        <pc:spChg chg="mod">
          <ac:chgData name="Man Hon Wong (CSD)" userId="8fba6e85-6ca5-468f-9934-ec14d6b7184c" providerId="ADAL" clId="{5D1A911F-55BA-C740-BBC6-6E7DD108B9AF}" dt="2020-03-09T09:31:58.932" v="54" actId="1035"/>
          <ac:spMkLst>
            <pc:docMk/>
            <pc:sldMk cId="0" sldId="315"/>
            <ac:spMk id="71688" creationId="{2B3D4560-812E-A243-9CBD-EF5CB852288E}"/>
          </ac:spMkLst>
        </pc:spChg>
      </pc:sldChg>
      <pc:sldChg chg="modSp">
        <pc:chgData name="Man Hon Wong (CSD)" userId="8fba6e85-6ca5-468f-9934-ec14d6b7184c" providerId="ADAL" clId="{5D1A911F-55BA-C740-BBC6-6E7DD108B9AF}" dt="2020-03-09T09:32:31.204" v="64" actId="1036"/>
        <pc:sldMkLst>
          <pc:docMk/>
          <pc:sldMk cId="0" sldId="319"/>
        </pc:sldMkLst>
        <pc:spChg chg="mod">
          <ac:chgData name="Man Hon Wong (CSD)" userId="8fba6e85-6ca5-468f-9934-ec14d6b7184c" providerId="ADAL" clId="{5D1A911F-55BA-C740-BBC6-6E7DD108B9AF}" dt="2020-03-09T09:32:31.204" v="64" actId="1036"/>
          <ac:spMkLst>
            <pc:docMk/>
            <pc:sldMk cId="0" sldId="319"/>
            <ac:spMk id="74760" creationId="{982B1DD9-CD30-3047-9AE7-A52336781C6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A18D80B5-9EBF-8640-A4FB-A01C358F853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0"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DF639953-D4FC-2840-B27A-9428E998FC6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48100" y="0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4585C52D-A4BC-5546-866F-77AFB115573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0" y="742950"/>
            <a:ext cx="4953000" cy="3714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5" name="Rectangle 5">
            <a:extLst>
              <a:ext uri="{FF2B5EF4-FFF2-40B4-BE49-F238E27FC236}">
                <a16:creationId xmlns:a16="http://schemas.microsoft.com/office/drawing/2014/main" id="{F8916E51-9850-6446-9847-E6C11E02426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05350"/>
            <a:ext cx="5435600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2406" name="Rectangle 6">
            <a:extLst>
              <a:ext uri="{FF2B5EF4-FFF2-40B4-BE49-F238E27FC236}">
                <a16:creationId xmlns:a16="http://schemas.microsoft.com/office/drawing/2014/main" id="{55D206E3-92C5-0641-A4E6-4A5502BA294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09113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kumimoji="0"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7" name="Rectangle 7">
            <a:extLst>
              <a:ext uri="{FF2B5EF4-FFF2-40B4-BE49-F238E27FC236}">
                <a16:creationId xmlns:a16="http://schemas.microsoft.com/office/drawing/2014/main" id="{11CBF531-CD5C-1847-83C6-51A858792B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8100" y="9409113"/>
            <a:ext cx="29448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kumimoji="0" sz="1200"/>
            </a:lvl1pPr>
          </a:lstStyle>
          <a:p>
            <a:pPr>
              <a:defRPr/>
            </a:pPr>
            <a:fld id="{7BFC12C2-BA87-0A40-84F0-110D75D0460A}" type="slidenum">
              <a:rPr lang="en-US" altLang="zh-HK"/>
              <a:pPr>
                <a:defRPr/>
              </a:pPr>
              <a:t>‹#›</a:t>
            </a:fld>
            <a:endParaRPr lang="en-US" altLang="zh-HK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F7E873EA-CFEC-E513-EBBE-158BBAFF3E0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30DC7171-BEED-B983-9D14-97E5F048A7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273197D2-6BC4-7960-F732-08BB7BA88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811A2E6-4093-4081-B2B0-306BB180A303}" type="slidenum">
              <a:rPr kumimoji="1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A696F2C-E686-D047-8AB9-831FFCC6C0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8645E0-C8ED-E341-B2E2-76087D5C01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04B5BE-CCE1-3049-85AE-5B13475567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537980-BBFB-AB4B-A567-5C8C2B66B1F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60190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BA4C616-5C8D-BB47-A4DB-9474B458D2F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C689881-0B4C-884F-9A63-F275BE6B64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D0BD85-9A14-E046-A632-439539A1F8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5A8CE4-BBD0-E14A-8056-ABAB6E64E80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40653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9ACDD8-5EC5-5547-933F-71227F4E1D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7883649-0BFD-A742-9FF6-4E7B0A4089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9B0350A-1F7D-624E-993C-B1863361F4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96E3E4-742A-3446-8D25-64535AEAACF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13896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E7D950-5F1A-7A41-9875-48AF546EAF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4AAB1-9F3D-BE4E-8F61-1EC8A257E5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AF02B3D-AD35-3048-BB9B-F2024DACF3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247A88-8911-E14C-AB26-3B7D0DAFF5C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44757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CB27176-733B-4041-9767-6092407548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3C11959-68AC-BC44-8F26-85C83558E4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57F2C08-7C21-BB40-9238-2FC37B9BA2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C64D6-0D29-4246-A0A9-97D87C5C3CF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3482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816C17D-A48B-9144-8C1E-A7B059E14D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A792B5A-CDB4-0E4B-81CD-9BB63481AC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CF1E8E6-045A-8B43-B4F3-4D7EBEC288F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E7A757-7696-F743-BF64-A503E942DF7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056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30652F6-030A-9940-94FA-C6014182BC7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4B53571-ABDE-884B-B253-9CB119E026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8F6A94D-2B27-5F4D-85BB-82C0A590B5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2A01A-B8BB-544B-A17B-6A716384637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90697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4845C1-3F84-5346-9637-465900324E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B2FAE33-61EC-F747-8E69-66597EFE05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948130-D30A-984A-8928-CB5B2D5A54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3069D2-2B28-3B48-9F14-9E0C591CC11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1721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508538-4354-D349-8FBD-3A1AB214A0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F79B1A-00CA-2845-BF32-6D0CF125F7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38EEE8-1083-9F48-85C7-74B003E66B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9C2823-7379-6841-BB3C-4BB75B9F06C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19944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CDC6C16-3910-DE48-AF84-9BA4D7D7E5C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55387E6-A58C-A64D-B47B-961C17C82C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FB8DD80-FCF8-F340-8BCD-86C415237DB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794AE0-D2D5-AF4F-840F-9D91BCC62CC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732207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6050" y="228600"/>
            <a:ext cx="196215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73405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2B0E648-7D8B-9D46-ADBE-35534A6808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7182B89-B3D5-BD48-ACE9-A953CD79E7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444D1A7-58AA-874E-AFDE-E8F1E39D647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0953C-BC57-2444-8158-14CBD590C8B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452641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679E180-EA21-F831-642D-28009B4B31D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61A99F-405E-46BB-8666-81EE2DCA8E80}" type="datetime1">
              <a:rPr lang="en-US" altLang="en-US"/>
              <a:pPr>
                <a:defRPr/>
              </a:pPr>
              <a:t>9/21/2026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5CB4434-3339-75B9-4801-BF37265167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C38F1FB-2E4B-EF68-C4BB-C91EF0595E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284547-488A-4800-93CE-553270BA604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99506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48F2DD2-5F33-0D56-24EC-3CFBB3F2B4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40355E-C896-487A-A087-F3C9208039D9}" type="datetime1">
              <a:rPr lang="en-US" altLang="en-US"/>
              <a:pPr>
                <a:defRPr/>
              </a:pPr>
              <a:t>9/21/2026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B442399-CBC2-922C-B58D-9400336127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9C5D374-A25C-73A2-1FE1-EE164E8B2F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DD2539-7EE1-4C4B-A8B8-239486CCB3E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77038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2E9DC37-68D2-66A0-9A44-2E614A7B1C0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D6A748-E863-44B5-A222-09D13BBE852C}" type="datetime1">
              <a:rPr lang="en-US" altLang="en-US"/>
              <a:pPr>
                <a:defRPr/>
              </a:pPr>
              <a:t>9/21/2026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8F47915-0D04-0464-945C-3B51FCF7BED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00B4BCD-AD20-C073-F503-6CEDC0262AC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EF7F52-9BB4-4AE6-AEFD-CB2742BB8EF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61171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F6158A-0E42-D500-5075-CF8F025906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CE8792-1E28-4652-98AE-2B89C569E209}" type="datetime1">
              <a:rPr lang="en-US" altLang="en-US"/>
              <a:pPr>
                <a:defRPr/>
              </a:pPr>
              <a:t>9/21/2026</a:t>
            </a:fld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105787-006E-187F-A49E-962C4D1940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19F266-E867-905F-CFAC-5579EF8F08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7395D-7346-4734-BE59-D003331FF36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47358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91D8563-F396-D798-FBDD-42E519B182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EE11E5-F567-40EE-BB67-CF6AA43208EA}" type="datetime1">
              <a:rPr lang="en-US" altLang="en-US"/>
              <a:pPr>
                <a:defRPr/>
              </a:pPr>
              <a:t>9/21/2026</a:t>
            </a:fld>
            <a:endParaRPr lang="en-US" altLang="zh-TW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8C42FA2-7998-2511-2D59-260E96CCBE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735AB8B-4E01-5C06-93EC-CFE52774162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E4C22E-13BA-493B-9C9F-14423B76B4A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771388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A4BA765A-7E07-11A8-3476-6B890AC6D3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72E28F-10F2-4E73-831A-EA71E323AD36}" type="datetime1">
              <a:rPr lang="en-US" altLang="en-US"/>
              <a:pPr>
                <a:defRPr/>
              </a:pPr>
              <a:t>9/21/2026</a:t>
            </a:fld>
            <a:endParaRPr lang="en-US" altLang="zh-TW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8F204DF-6A1C-673D-7403-1E4FA628C6C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BAC1161-8404-8A1F-7549-C0678D1F2C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635520-3B69-440F-A347-9A0E1E0AD0C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26171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A2A7C3A-71EB-DC83-7CC8-C094C736D5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9D2634-D4E1-486E-83A7-D914F59E399D}" type="datetime1">
              <a:rPr lang="en-US" altLang="en-US"/>
              <a:pPr>
                <a:defRPr/>
              </a:pPr>
              <a:t>9/21/2026</a:t>
            </a:fld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BEF0F36-F09D-E92E-A6A4-189458B256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CDC9D62-EED0-611E-BC1C-B2C809A80E6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508A1C-78D4-44D7-981B-A38F7682CD5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20194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8646210-12EC-C993-831B-D722F563D0F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A9C6D-C264-49AE-A2B5-BFAF0FDD17C3}" type="datetime1">
              <a:rPr lang="en-US" altLang="en-US"/>
              <a:pPr>
                <a:defRPr/>
              </a:pPr>
              <a:t>9/21/2026</a:t>
            </a:fld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04B186F-8F30-53F6-7E33-D90EAE10A2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31824D-9228-8E86-EFF7-A6C20BC636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D967E9-F664-4DD8-92F8-3F4FF04F366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826371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2E1255-19AF-116D-1E02-7EE672C4798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495D8E-A8AD-4ABC-A28E-B95B805D0D83}" type="datetime1">
              <a:rPr lang="en-US" altLang="en-US"/>
              <a:pPr>
                <a:defRPr/>
              </a:pPr>
              <a:t>9/21/2026</a:t>
            </a:fld>
            <a:endParaRPr lang="en-US" altLang="zh-TW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A9ED73-376B-A93C-D72D-C6EA3DE0155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86851B-876D-4A95-5946-64B036B3F2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824BA6-E1D2-415F-AA23-F1A321AEF9F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609903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8E04317-C017-62E2-9DE8-79AF4EEB989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7659DB-E824-493A-9487-78F1FEFD6A4A}" type="datetime1">
              <a:rPr lang="en-US" altLang="en-US"/>
              <a:pPr>
                <a:defRPr/>
              </a:pPr>
              <a:t>9/21/2026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F60AD18-7F1D-9AAA-20D6-A93D6E3F21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D49898E-F005-0380-F79B-EA319F2221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BC2788-0D58-4D7C-AEAE-15703C001A2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545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6050" y="228600"/>
            <a:ext cx="1962150" cy="5867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573405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32A7D9D-2F28-ECBF-0F43-0A5EAD5C62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B2A9AF-DECA-498E-BC2E-4F6176BFE085}" type="datetime1">
              <a:rPr lang="en-US" altLang="en-US"/>
              <a:pPr>
                <a:defRPr/>
              </a:pPr>
              <a:t>9/21/2026</a:t>
            </a:fld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8F4641B-8F1F-343F-1C70-1E80176071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DD435EC-FD84-244E-74AB-0752AF158C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650E86-3AC6-4630-995A-C314CF11945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38978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200F68D-AD3F-0347-8BB5-C5D1D6EBEE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FEE1960-BA71-7D49-AAA6-7C801173A0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033A5C90-7F87-A344-B108-DB7CBAF1547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DE2CAB88-885B-9E4C-9024-6D8A9720EA2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6F131878-421B-E544-8D28-F8DA9D51D0D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9FE356B-60CF-8E4C-AADC-A18BB275848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7BA39E4-E372-9DDE-C8BF-7A8C161B49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28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F361820-1603-E336-D3F8-192D5BF7B1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5240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E229A7C6-3BED-CDB9-F63D-1914BF36E6B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1C3B2E95-C8A4-4195-AE8B-04448AE37B98}" type="datetime1">
              <a:rPr lang="en-US" altLang="en-US"/>
              <a:pPr>
                <a:defRPr/>
              </a:pPr>
              <a:t>9/21/2026</a:t>
            </a:fld>
            <a:endParaRPr lang="en-US" altLang="zh-TW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FB059F80-871D-B80E-018A-30AF1F120FE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75BABC28-AFD2-A94D-53F8-8F1CB591D21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33A9110-E496-4C22-8133-31534D50DFB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7297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新細明體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新細明體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新細明體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新細明體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新細明體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新細明體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5" Type="http://schemas.openxmlformats.org/officeDocument/2006/relationships/oleObject" Target="../embeddings/oleObject11.bin"/><Relationship Id="rId4" Type="http://schemas.openxmlformats.org/officeDocument/2006/relationships/oleObject" Target="../embeddings/oleObject10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7" Type="http://schemas.openxmlformats.org/officeDocument/2006/relationships/image" Target="../media/image12.e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1.emf"/><Relationship Id="rId4" Type="http://schemas.openxmlformats.org/officeDocument/2006/relationships/oleObject" Target="../embeddings/oleObject13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image" Target="../media/image10.emf"/><Relationship Id="rId7" Type="http://schemas.openxmlformats.org/officeDocument/2006/relationships/image" Target="../media/image14.e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6.bin"/><Relationship Id="rId9" Type="http://schemas.openxmlformats.org/officeDocument/2006/relationships/image" Target="../media/image9.e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9.emf"/><Relationship Id="rId3" Type="http://schemas.openxmlformats.org/officeDocument/2006/relationships/image" Target="../media/image15.emf"/><Relationship Id="rId7" Type="http://schemas.openxmlformats.org/officeDocument/2006/relationships/image" Target="../media/image17.emf"/><Relationship Id="rId12" Type="http://schemas.openxmlformats.org/officeDocument/2006/relationships/oleObject" Target="../embeddings/oleObject24.bin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18.emf"/><Relationship Id="rId5" Type="http://schemas.openxmlformats.org/officeDocument/2006/relationships/image" Target="../media/image16.e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10.emf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3" Type="http://schemas.openxmlformats.org/officeDocument/2006/relationships/image" Target="../media/image19.emf"/><Relationship Id="rId7" Type="http://schemas.openxmlformats.org/officeDocument/2006/relationships/image" Target="../media/image21.emf"/><Relationship Id="rId2" Type="http://schemas.openxmlformats.org/officeDocument/2006/relationships/oleObject" Target="../embeddings/oleObject2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7.bin"/><Relationship Id="rId5" Type="http://schemas.openxmlformats.org/officeDocument/2006/relationships/image" Target="../media/image20.e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22.emf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image" Target="../media/image23.emf"/><Relationship Id="rId7" Type="http://schemas.openxmlformats.org/officeDocument/2006/relationships/image" Target="../media/image25.emf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24.e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26.e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image" Target="../media/image27.emf"/><Relationship Id="rId7" Type="http://schemas.openxmlformats.org/officeDocument/2006/relationships/oleObject" Target="../embeddings/oleObject36.bin"/><Relationship Id="rId2" Type="http://schemas.openxmlformats.org/officeDocument/2006/relationships/oleObject" Target="../embeddings/oleObject3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5.bin"/><Relationship Id="rId5" Type="http://schemas.openxmlformats.org/officeDocument/2006/relationships/image" Target="../media/image28.emf"/><Relationship Id="rId10" Type="http://schemas.openxmlformats.org/officeDocument/2006/relationships/image" Target="../media/image30.emf"/><Relationship Id="rId4" Type="http://schemas.openxmlformats.org/officeDocument/2006/relationships/oleObject" Target="../embeddings/oleObject34.bin"/><Relationship Id="rId9" Type="http://schemas.openxmlformats.org/officeDocument/2006/relationships/oleObject" Target="../embeddings/oleObject37.bin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emf"/><Relationship Id="rId13" Type="http://schemas.openxmlformats.org/officeDocument/2006/relationships/oleObject" Target="../embeddings/oleObject44.bin"/><Relationship Id="rId3" Type="http://schemas.openxmlformats.org/officeDocument/2006/relationships/image" Target="../media/image27.emf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34.emf"/><Relationship Id="rId2" Type="http://schemas.openxmlformats.org/officeDocument/2006/relationships/oleObject" Target="../embeddings/oleObject38.bin"/><Relationship Id="rId16" Type="http://schemas.openxmlformats.org/officeDocument/2006/relationships/image" Target="../media/image36.e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0.bin"/><Relationship Id="rId11" Type="http://schemas.openxmlformats.org/officeDocument/2006/relationships/oleObject" Target="../embeddings/oleObject43.bin"/><Relationship Id="rId5" Type="http://schemas.openxmlformats.org/officeDocument/2006/relationships/image" Target="../media/image31.emf"/><Relationship Id="rId15" Type="http://schemas.openxmlformats.org/officeDocument/2006/relationships/oleObject" Target="../embeddings/oleObject45.bin"/><Relationship Id="rId10" Type="http://schemas.openxmlformats.org/officeDocument/2006/relationships/image" Target="../media/image33.emf"/><Relationship Id="rId4" Type="http://schemas.openxmlformats.org/officeDocument/2006/relationships/oleObject" Target="../embeddings/oleObject39.bin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35.emf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6">
            <a:extLst>
              <a:ext uri="{FF2B5EF4-FFF2-40B4-BE49-F238E27FC236}">
                <a16:creationId xmlns:a16="http://schemas.microsoft.com/office/drawing/2014/main" id="{4DFDF1B9-8E54-76DE-C422-9C9205DE6E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0A66E23-9543-4669-B847-B53E9C63F297}" type="slidenum">
              <a:rPr kumimoji="1" lang="en-US" altLang="zh-TW" sz="14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9FE7F181-716D-AE66-878A-AED477EFF17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1524000"/>
            <a:ext cx="91440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dirty="0"/>
              <a:t>Design, Implementation and Management of Database Systems</a:t>
            </a:r>
          </a:p>
        </p:txBody>
      </p:sp>
      <p:sp>
        <p:nvSpPr>
          <p:cNvPr id="3076" name="Rectangle 3">
            <a:extLst>
              <a:ext uri="{FF2B5EF4-FFF2-40B4-BE49-F238E27FC236}">
                <a16:creationId xmlns:a16="http://schemas.microsoft.com/office/drawing/2014/main" id="{45826542-3F4D-84E2-E156-F9FF1E0F97F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6200" y="2819400"/>
            <a:ext cx="9067800" cy="533400"/>
          </a:xfrm>
        </p:spPr>
        <p:txBody>
          <a:bodyPr/>
          <a:lstStyle/>
          <a:p>
            <a:pPr eaLnBrk="1" hangingPunct="1"/>
            <a:r>
              <a:rPr lang="en-US" altLang="zh-CN" b="1" dirty="0"/>
              <a:t>Schema Refinement and Normal Forms</a:t>
            </a:r>
            <a:endParaRPr lang="en-US" altLang="zh-TW" b="1" dirty="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B7038FD-CBBC-3043-D3FE-6F7083BCC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038600"/>
            <a:ext cx="9144000" cy="14097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32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8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4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  <a:cs typeface="新細明體" charset="0"/>
              </a:defRPr>
            </a:lvl5pPr>
            <a:lvl6pPr marL="22860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7432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2004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657600" indent="0" algn="ctr" rtl="0" fontAlgn="base">
              <a:spcBef>
                <a:spcPct val="20000"/>
              </a:spcBef>
              <a:spcAft>
                <a:spcPct val="0"/>
              </a:spcAft>
              <a:buNone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Times New Roman" panose="02020603050405020304" pitchFamily="18" charset="0"/>
              </a:rPr>
              <a:t>Dr. Xiao Yan</a:t>
            </a:r>
          </a:p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Times New Roman" panose="02020603050405020304" pitchFamily="18" charset="0"/>
              </a:rPr>
              <a:t>School of Computer Science </a:t>
            </a:r>
          </a:p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Times New Roman" panose="02020603050405020304" pitchFamily="18" charset="0"/>
              </a:rPr>
              <a:t>yanxiaosunny@whu.edu.cn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E38C-F600-5543-8186-1EC02F39C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Motivation Example</a:t>
            </a:r>
          </a:p>
        </p:txBody>
      </p:sp>
      <p:sp>
        <p:nvSpPr>
          <p:cNvPr id="15362" name="Slide Number Placeholder 3">
            <a:extLst>
              <a:ext uri="{FF2B5EF4-FFF2-40B4-BE49-F238E27FC236}">
                <a16:creationId xmlns:a16="http://schemas.microsoft.com/office/drawing/2014/main" id="{D5D05007-B336-F940-A94D-661450F6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C3221C-C131-DB4B-8BB4-0845B8781A27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TW" sz="1400"/>
          </a:p>
        </p:txBody>
      </p:sp>
      <p:graphicFrame>
        <p:nvGraphicFramePr>
          <p:cNvPr id="5" name="Group 221">
            <a:extLst>
              <a:ext uri="{FF2B5EF4-FFF2-40B4-BE49-F238E27FC236}">
                <a16:creationId xmlns:a16="http://schemas.microsoft.com/office/drawing/2014/main" id="{5692E010-D7D0-744C-8714-C430A77B419E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657350"/>
          <a:ext cx="6324600" cy="184785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rating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Hourly_wages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Hours_worked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123-22-3666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Peter</a:t>
                      </a:r>
                      <a:endParaRPr kumimoji="1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231-31-5368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Paul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131-24-3650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434-26-3751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David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5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612-67-4134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Ada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414" name="TextBox 5">
            <a:extLst>
              <a:ext uri="{FF2B5EF4-FFF2-40B4-BE49-F238E27FC236}">
                <a16:creationId xmlns:a16="http://schemas.microsoft.com/office/drawing/2014/main" id="{101F8FDB-FAB1-8945-9694-030878F6A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4038600"/>
            <a:ext cx="35766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Observe these two columns</a:t>
            </a:r>
          </a:p>
        </p:txBody>
      </p:sp>
      <p:cxnSp>
        <p:nvCxnSpPr>
          <p:cNvPr id="15415" name="Straight Arrow Connector 7">
            <a:extLst>
              <a:ext uri="{FF2B5EF4-FFF2-40B4-BE49-F238E27FC236}">
                <a16:creationId xmlns:a16="http://schemas.microsoft.com/office/drawing/2014/main" id="{C70C9ABF-761A-334E-AF65-F5E81303739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4800600" y="3581400"/>
            <a:ext cx="0" cy="53340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416" name="Straight Arrow Connector 9">
            <a:extLst>
              <a:ext uri="{FF2B5EF4-FFF2-40B4-BE49-F238E27FC236}">
                <a16:creationId xmlns:a16="http://schemas.microsoft.com/office/drawing/2014/main" id="{B25E81BE-7CE1-ED43-A396-9629C4DB73E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5791200" y="3581400"/>
            <a:ext cx="0" cy="533400"/>
          </a:xfrm>
          <a:prstGeom prst="straightConnector1">
            <a:avLst/>
          </a:prstGeom>
          <a:noFill/>
          <a:ln w="28575" algn="ctr">
            <a:solidFill>
              <a:srgbClr val="FF000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7" name="Rectangle 3">
            <a:extLst>
              <a:ext uri="{FF2B5EF4-FFF2-40B4-BE49-F238E27FC236}">
                <a16:creationId xmlns:a16="http://schemas.microsoft.com/office/drawing/2014/main" id="{0227C937-53D2-B848-85B6-17F3C8E00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576763"/>
            <a:ext cx="7772400" cy="151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altLang="zh-TW" sz="2400" kern="0" dirty="0"/>
              <a:t>The values of </a:t>
            </a:r>
            <a:r>
              <a:rPr lang="en-US" altLang="zh-TW" sz="2400" kern="0" dirty="0" err="1"/>
              <a:t>hourly_wages</a:t>
            </a:r>
            <a:r>
              <a:rPr lang="en-US" altLang="zh-TW" sz="2400" kern="0" dirty="0"/>
              <a:t> depend on that of rating.</a:t>
            </a:r>
          </a:p>
          <a:p>
            <a:pPr lvl="1" eaLnBrk="1" hangingPunct="1">
              <a:defRPr/>
            </a:pPr>
            <a:r>
              <a:rPr lang="en-US" altLang="zh-TW" sz="2000" kern="0" dirty="0"/>
              <a:t>Rating = 8 </a:t>
            </a:r>
            <a:r>
              <a:rPr lang="en-US" altLang="zh-TW" sz="2000" kern="0" dirty="0">
                <a:sym typeface="Wingdings" panose="05000000000000000000" pitchFamily="2" charset="2"/>
              </a:rPr>
              <a:t> </a:t>
            </a:r>
            <a:r>
              <a:rPr lang="en-US" altLang="zh-TW" sz="2000" kern="0" dirty="0" err="1">
                <a:sym typeface="Wingdings" panose="05000000000000000000" pitchFamily="2" charset="2"/>
              </a:rPr>
              <a:t>hourly_wages</a:t>
            </a:r>
            <a:r>
              <a:rPr lang="en-US" altLang="zh-TW" sz="2000" kern="0" dirty="0">
                <a:sym typeface="Wingdings" panose="05000000000000000000" pitchFamily="2" charset="2"/>
              </a:rPr>
              <a:t> = 10</a:t>
            </a:r>
          </a:p>
          <a:p>
            <a:pPr lvl="1" eaLnBrk="1" hangingPunct="1">
              <a:defRPr/>
            </a:pPr>
            <a:r>
              <a:rPr lang="en-US" altLang="zh-TW" sz="2000" kern="0" dirty="0">
                <a:sym typeface="Wingdings" panose="05000000000000000000" pitchFamily="2" charset="2"/>
              </a:rPr>
              <a:t>Rating = 5  </a:t>
            </a:r>
            <a:r>
              <a:rPr lang="en-US" altLang="zh-TW" sz="2000" kern="0" dirty="0" err="1">
                <a:sym typeface="Wingdings" panose="05000000000000000000" pitchFamily="2" charset="2"/>
              </a:rPr>
              <a:t>hourly_wages</a:t>
            </a:r>
            <a:r>
              <a:rPr lang="en-US" altLang="zh-TW" sz="2000" kern="0" dirty="0">
                <a:sym typeface="Wingdings" panose="05000000000000000000" pitchFamily="2" charset="2"/>
              </a:rPr>
              <a:t> = 7</a:t>
            </a:r>
            <a:endParaRPr lang="en-US" altLang="zh-TW" sz="2000" kern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A3B9B-572D-FD4B-A652-98B73E41B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Motivation Example</a:t>
            </a:r>
          </a:p>
        </p:txBody>
      </p:sp>
      <p:sp>
        <p:nvSpPr>
          <p:cNvPr id="16386" name="Slide Number Placeholder 3">
            <a:extLst>
              <a:ext uri="{FF2B5EF4-FFF2-40B4-BE49-F238E27FC236}">
                <a16:creationId xmlns:a16="http://schemas.microsoft.com/office/drawing/2014/main" id="{D100CC9C-9502-9E4F-9528-B1D60F12D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AEDAC85-154A-384B-BBB2-B307ACBB3A33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TW" sz="1400"/>
          </a:p>
        </p:txBody>
      </p:sp>
      <p:graphicFrame>
        <p:nvGraphicFramePr>
          <p:cNvPr id="5" name="Group 221">
            <a:extLst>
              <a:ext uri="{FF2B5EF4-FFF2-40B4-BE49-F238E27FC236}">
                <a16:creationId xmlns:a16="http://schemas.microsoft.com/office/drawing/2014/main" id="{C9D5616C-63CB-B04F-8710-E469C140C63B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657350"/>
          <a:ext cx="6324600" cy="184785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rating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Hourly_wages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Hours_worked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123-22-3666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Peter</a:t>
                      </a:r>
                      <a:endParaRPr kumimoji="1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231-31-5368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Paul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131-24-3650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434-26-3751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David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5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612-67-4134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Ada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Rectangle 3">
            <a:extLst>
              <a:ext uri="{FF2B5EF4-FFF2-40B4-BE49-F238E27FC236}">
                <a16:creationId xmlns:a16="http://schemas.microsoft.com/office/drawing/2014/main" id="{81D119CC-1A16-2A41-ACC3-F0244E3280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962400"/>
            <a:ext cx="77724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defRPr/>
            </a:pPr>
            <a:r>
              <a:rPr lang="en-US" altLang="zh-TW" sz="2800" dirty="0">
                <a:solidFill>
                  <a:srgbClr val="000099"/>
                </a:solidFill>
              </a:rPr>
              <a:t>Redundant Storage</a:t>
            </a:r>
          </a:p>
          <a:p>
            <a:pPr lvl="1" eaLnBrk="1" hangingPunct="1">
              <a:defRPr/>
            </a:pPr>
            <a:r>
              <a:rPr lang="en-US" altLang="zh-TW" sz="2400" dirty="0"/>
              <a:t>The rating value 8 corresponds to the hourly wage 10, and this association is repeated three times.</a:t>
            </a:r>
          </a:p>
          <a:p>
            <a:pPr lvl="1" eaLnBrk="1" hangingPunct="1">
              <a:defRPr/>
            </a:pPr>
            <a:r>
              <a:rPr lang="en-US" altLang="zh-TW" sz="2400" dirty="0"/>
              <a:t>Storage is not used efficiently.</a:t>
            </a:r>
          </a:p>
          <a:p>
            <a:pPr marL="457200" lvl="1" indent="0" eaLnBrk="1" hangingPunct="1">
              <a:buFontTx/>
              <a:buNone/>
              <a:defRPr/>
            </a:pPr>
            <a:endParaRPr lang="en-US" altLang="zh-TW" sz="2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2D006C-C952-2B4D-A866-D904CDF3A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Motivation Example</a:t>
            </a:r>
          </a:p>
        </p:txBody>
      </p:sp>
      <p:sp>
        <p:nvSpPr>
          <p:cNvPr id="17410" name="Slide Number Placeholder 3">
            <a:extLst>
              <a:ext uri="{FF2B5EF4-FFF2-40B4-BE49-F238E27FC236}">
                <a16:creationId xmlns:a16="http://schemas.microsoft.com/office/drawing/2014/main" id="{ED7C27FB-54CE-DF45-8439-4B6AF077A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BCE786-C858-D447-85EA-50F6D42136FF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TW" sz="1400"/>
          </a:p>
        </p:txBody>
      </p:sp>
      <p:graphicFrame>
        <p:nvGraphicFramePr>
          <p:cNvPr id="5" name="Group 221">
            <a:extLst>
              <a:ext uri="{FF2B5EF4-FFF2-40B4-BE49-F238E27FC236}">
                <a16:creationId xmlns:a16="http://schemas.microsoft.com/office/drawing/2014/main" id="{00D526CE-E9F7-3446-BF85-CC4EF7D73977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657350"/>
          <a:ext cx="6324600" cy="184785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rating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Hourly_wages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Hours_worked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123-22-3666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Peter</a:t>
                      </a:r>
                      <a:endParaRPr kumimoji="1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231-31-5368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Paul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131-24-3650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434-26-3751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David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5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612-67-4134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Ada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462" name="Rectangle 3">
            <a:extLst>
              <a:ext uri="{FF2B5EF4-FFF2-40B4-BE49-F238E27FC236}">
                <a16:creationId xmlns:a16="http://schemas.microsoft.com/office/drawing/2014/main" id="{AD1E0B3C-8419-734F-A296-E417136788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962400"/>
            <a:ext cx="77724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800">
                <a:solidFill>
                  <a:srgbClr val="000099"/>
                </a:solidFill>
              </a:rPr>
              <a:t>Update Anomalies</a:t>
            </a:r>
          </a:p>
          <a:p>
            <a:pPr lvl="1" eaLnBrk="1" hangingPunct="1"/>
            <a:r>
              <a:rPr lang="en-US" altLang="zh-TW" sz="2400"/>
              <a:t>The hourly_wages in the first tuple could be updated without making a similar change in the second tuple.</a:t>
            </a:r>
          </a:p>
          <a:p>
            <a:pPr lvl="1" eaLnBrk="1" hangingPunct="1"/>
            <a:r>
              <a:rPr lang="en-US" altLang="zh-TW" sz="2400"/>
              <a:t>Therefore, updates may cause inconsistency.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45465-ABC8-E947-A229-D758FF3CC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Motivation Example</a:t>
            </a:r>
          </a:p>
        </p:txBody>
      </p:sp>
      <p:sp>
        <p:nvSpPr>
          <p:cNvPr id="18434" name="Slide Number Placeholder 3">
            <a:extLst>
              <a:ext uri="{FF2B5EF4-FFF2-40B4-BE49-F238E27FC236}">
                <a16:creationId xmlns:a16="http://schemas.microsoft.com/office/drawing/2014/main" id="{2F29EE61-B351-A245-968D-1BDEE4761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CD2432-C413-7443-AD6A-26EEEEB15299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TW" sz="1400"/>
          </a:p>
        </p:txBody>
      </p:sp>
      <p:graphicFrame>
        <p:nvGraphicFramePr>
          <p:cNvPr id="5" name="Group 221">
            <a:extLst>
              <a:ext uri="{FF2B5EF4-FFF2-40B4-BE49-F238E27FC236}">
                <a16:creationId xmlns:a16="http://schemas.microsoft.com/office/drawing/2014/main" id="{774800B1-28E6-CD49-8C9D-2E7139AF425C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657350"/>
          <a:ext cx="6324600" cy="184785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rating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Hourly_wages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Hours_worked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123-22-3666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Peter</a:t>
                      </a:r>
                      <a:endParaRPr kumimoji="1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231-31-5368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Paul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131-24-3650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434-26-3751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David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5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612-67-4134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Ada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486" name="Rectangle 3">
            <a:extLst>
              <a:ext uri="{FF2B5EF4-FFF2-40B4-BE49-F238E27FC236}">
                <a16:creationId xmlns:a16="http://schemas.microsoft.com/office/drawing/2014/main" id="{8F540CAE-8191-674B-A759-C02FD38A1D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962400"/>
            <a:ext cx="77724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800">
                <a:solidFill>
                  <a:srgbClr val="000099"/>
                </a:solidFill>
              </a:rPr>
              <a:t>Insertion Anomalies</a:t>
            </a:r>
          </a:p>
          <a:p>
            <a:pPr lvl="1" eaLnBrk="1" hangingPunct="1"/>
            <a:r>
              <a:rPr lang="en-US" altLang="zh-TW" sz="2400"/>
              <a:t>We cannot insert a tuple for an employee unless we know the hourly wage for the employee’s rating value.</a:t>
            </a:r>
          </a:p>
          <a:p>
            <a:pPr lvl="1" eaLnBrk="1" hangingPunct="1"/>
            <a:r>
              <a:rPr lang="en-US" altLang="zh-TW" sz="2400"/>
              <a:t>Otherwise, null values may appear in the 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82EE3-BF51-0C47-AFB6-BFCD59D6A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Motivation Example</a:t>
            </a:r>
          </a:p>
        </p:txBody>
      </p:sp>
      <p:sp>
        <p:nvSpPr>
          <p:cNvPr id="19458" name="Slide Number Placeholder 3">
            <a:extLst>
              <a:ext uri="{FF2B5EF4-FFF2-40B4-BE49-F238E27FC236}">
                <a16:creationId xmlns:a16="http://schemas.microsoft.com/office/drawing/2014/main" id="{1B649250-650D-5E4A-8371-077A7952C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E734950-7792-C74F-9B1C-3E72F01608FD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TW" sz="1400"/>
          </a:p>
        </p:txBody>
      </p:sp>
      <p:graphicFrame>
        <p:nvGraphicFramePr>
          <p:cNvPr id="5" name="Group 221">
            <a:extLst>
              <a:ext uri="{FF2B5EF4-FFF2-40B4-BE49-F238E27FC236}">
                <a16:creationId xmlns:a16="http://schemas.microsoft.com/office/drawing/2014/main" id="{5DD1BF89-86FC-7146-972D-2E6D91845414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1657350"/>
          <a:ext cx="6324600" cy="184785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rating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Hourly_wages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Hours_worked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123-22-3666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Peter</a:t>
                      </a:r>
                      <a:endParaRPr kumimoji="1" lang="en-US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231-31-5368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Paul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131-24-3650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434-26-3751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David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5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612-67-4134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Ada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510" name="Rectangle 3">
            <a:extLst>
              <a:ext uri="{FF2B5EF4-FFF2-40B4-BE49-F238E27FC236}">
                <a16:creationId xmlns:a16="http://schemas.microsoft.com/office/drawing/2014/main" id="{8B20F289-6484-F543-AAF6-40C2708F0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962400"/>
            <a:ext cx="77724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800">
                <a:solidFill>
                  <a:srgbClr val="000099"/>
                </a:solidFill>
              </a:rPr>
              <a:t>Deletion Anomalies</a:t>
            </a:r>
          </a:p>
          <a:p>
            <a:pPr lvl="1" eaLnBrk="1" hangingPunct="1"/>
            <a:r>
              <a:rPr lang="en-US" altLang="zh-TW" sz="2400"/>
              <a:t>If we delete all tuples with a given rating value (e.g. tuples of Mary and David) we lose the association between the rating value and its hourly_wage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Number Placeholder 5">
            <a:extLst>
              <a:ext uri="{FF2B5EF4-FFF2-40B4-BE49-F238E27FC236}">
                <a16:creationId xmlns:a16="http://schemas.microsoft.com/office/drawing/2014/main" id="{CD33EDC2-9FC9-4044-B097-9A69E4E78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5F7694-88DE-8F4D-944D-F635A35F2A6F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TW" sz="1400"/>
          </a:p>
        </p:txBody>
      </p:sp>
      <p:sp>
        <p:nvSpPr>
          <p:cNvPr id="7170" name="Rectangle 2">
            <a:extLst>
              <a:ext uri="{FF2B5EF4-FFF2-40B4-BE49-F238E27FC236}">
                <a16:creationId xmlns:a16="http://schemas.microsoft.com/office/drawing/2014/main" id="{59E78457-1E1C-1342-AEAE-FC5ACD6FDD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4000"/>
              <a:t>Problems caused by redundancy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68F3CE6E-C4F6-C945-AA3F-72897B454A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848600" cy="48006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b="1">
                <a:solidFill>
                  <a:srgbClr val="000099"/>
                </a:solidFill>
              </a:rPr>
              <a:t>Redundant Storage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/>
              <a:t>Some information is stored repeatedly.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>
                <a:solidFill>
                  <a:srgbClr val="000099"/>
                </a:solidFill>
              </a:rPr>
              <a:t>Update Anomalies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/>
              <a:t>If one copy of such repeated data is updated, an inconsistency is created, unless all copies are similarly updated.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>
                <a:solidFill>
                  <a:srgbClr val="000099"/>
                </a:solidFill>
              </a:rPr>
              <a:t>Insertion anomalies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/>
              <a:t>It may not be possible to store certain information unless some other, unrelated, information is stored.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b="1">
                <a:solidFill>
                  <a:srgbClr val="000099"/>
                </a:solidFill>
              </a:rPr>
              <a:t>Deletion Anomalies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/>
              <a:t>It may not be possible to delete certain information without losing some other, unrelated, information.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Number Placeholder 5">
            <a:extLst>
              <a:ext uri="{FF2B5EF4-FFF2-40B4-BE49-F238E27FC236}">
                <a16:creationId xmlns:a16="http://schemas.microsoft.com/office/drawing/2014/main" id="{78A79312-9275-B54F-BE6B-82A8F9CAE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DC7AAC-C339-874F-8445-FD859999DE38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TW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A23F1DB-66D5-3E47-8835-5F92235360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Decompositions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3A1513C-946D-1344-BAF5-D286CBDF40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800"/>
              <a:t>Intuitively, redundancy arise when a relational schema forces an association between attributes that is not natural.</a:t>
            </a:r>
          </a:p>
          <a:p>
            <a:pPr eaLnBrk="1" hangingPunct="1"/>
            <a:r>
              <a:rPr lang="en-US" altLang="zh-TW" sz="2800">
                <a:solidFill>
                  <a:srgbClr val="000099"/>
                </a:solidFill>
              </a:rPr>
              <a:t>Functional dependencies</a:t>
            </a:r>
            <a:r>
              <a:rPr lang="en-US" altLang="zh-TW" sz="2800"/>
              <a:t> can be used to identify such situations and suggest refinements to the schema.</a:t>
            </a:r>
          </a:p>
          <a:p>
            <a:pPr eaLnBrk="1" hangingPunct="1"/>
            <a:r>
              <a:rPr lang="en-US" altLang="zh-TW" sz="2800"/>
              <a:t>The essential idea is that many problems arising from redundancy can be addressed by replacing a relation with a collection of ‘smaller’ relation.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3">
            <a:extLst>
              <a:ext uri="{FF2B5EF4-FFF2-40B4-BE49-F238E27FC236}">
                <a16:creationId xmlns:a16="http://schemas.microsoft.com/office/drawing/2014/main" id="{99D08ABC-C5FE-E64C-BEBE-F68D9728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19CEBE-2F9F-5645-B40D-B5D7E64AC2D4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TW" sz="1400"/>
          </a:p>
        </p:txBody>
      </p:sp>
      <p:graphicFrame>
        <p:nvGraphicFramePr>
          <p:cNvPr id="10405" name="Group 165">
            <a:extLst>
              <a:ext uri="{FF2B5EF4-FFF2-40B4-BE49-F238E27FC236}">
                <a16:creationId xmlns:a16="http://schemas.microsoft.com/office/drawing/2014/main" id="{71D965BF-6E0B-AC44-9340-99D0BA68D5CF}"/>
              </a:ext>
            </a:extLst>
          </p:cNvPr>
          <p:cNvGraphicFramePr>
            <a:graphicFrameLocks noGrp="1"/>
          </p:cNvGraphicFramePr>
          <p:nvPr/>
        </p:nvGraphicFramePr>
        <p:xfrm>
          <a:off x="1447800" y="609600"/>
          <a:ext cx="6324600" cy="184785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rating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Hourly_wages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Hours_worked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123-22-3666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Peter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231-31-5368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Paul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131-24-3650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434-26-3751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David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5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612-67-4134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Ada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344" name="Group 104">
            <a:extLst>
              <a:ext uri="{FF2B5EF4-FFF2-40B4-BE49-F238E27FC236}">
                <a16:creationId xmlns:a16="http://schemas.microsoft.com/office/drawing/2014/main" id="{486763D5-2452-414C-B4A0-A24B63D68F6B}"/>
              </a:ext>
            </a:extLst>
          </p:cNvPr>
          <p:cNvGraphicFramePr>
            <a:graphicFrameLocks noGrp="1"/>
          </p:cNvGraphicFramePr>
          <p:nvPr/>
        </p:nvGraphicFramePr>
        <p:xfrm>
          <a:off x="609600" y="3276600"/>
          <a:ext cx="5105400" cy="1847851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Id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name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age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rating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Hours_worked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123-22-3666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Peter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5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231-31-5368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Paul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131-24-3650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Mary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434-26-3751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David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5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612-67-4134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Ada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0406" name="Group 166">
            <a:extLst>
              <a:ext uri="{FF2B5EF4-FFF2-40B4-BE49-F238E27FC236}">
                <a16:creationId xmlns:a16="http://schemas.microsoft.com/office/drawing/2014/main" id="{4A6FF05B-4E37-9C49-9C6F-2A2D15C2B0E6}"/>
              </a:ext>
            </a:extLst>
          </p:cNvPr>
          <p:cNvGraphicFramePr>
            <a:graphicFrameLocks noGrp="1"/>
          </p:cNvGraphicFramePr>
          <p:nvPr/>
        </p:nvGraphicFramePr>
        <p:xfrm>
          <a:off x="6400800" y="3276600"/>
          <a:ext cx="1981200" cy="920750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rating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Hourly_wages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9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639" name="Line 160">
            <a:extLst>
              <a:ext uri="{FF2B5EF4-FFF2-40B4-BE49-F238E27FC236}">
                <a16:creationId xmlns:a16="http://schemas.microsoft.com/office/drawing/2014/main" id="{DFC92375-4470-5645-88BD-6BD08766A10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57600" y="2590800"/>
            <a:ext cx="9144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640" name="Line 161">
            <a:extLst>
              <a:ext uri="{FF2B5EF4-FFF2-40B4-BE49-F238E27FC236}">
                <a16:creationId xmlns:a16="http://schemas.microsoft.com/office/drawing/2014/main" id="{AC41CB4D-8081-8847-84F5-FAE738FF5B5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57800" y="2590800"/>
            <a:ext cx="198120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641" name="Text Box 162">
            <a:extLst>
              <a:ext uri="{FF2B5EF4-FFF2-40B4-BE49-F238E27FC236}">
                <a16:creationId xmlns:a16="http://schemas.microsoft.com/office/drawing/2014/main" id="{4EF81EA9-FD50-7D41-9D2F-009DCCF147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5334000"/>
            <a:ext cx="673735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A </a:t>
            </a:r>
            <a:r>
              <a:rPr lang="en-US" altLang="en-US" sz="2000">
                <a:solidFill>
                  <a:srgbClr val="000099"/>
                </a:solidFill>
              </a:rPr>
              <a:t>decomposition of a relation schema</a:t>
            </a:r>
            <a:r>
              <a:rPr lang="en-US" altLang="en-US" sz="2000"/>
              <a:t> R consists of replacing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the relation schema by two (or more) relation schemas that each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contains a subset of attributes of R and together include all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/>
              <a:t>attributes in R</a:t>
            </a:r>
          </a:p>
        </p:txBody>
      </p:sp>
      <p:sp>
        <p:nvSpPr>
          <p:cNvPr id="22642" name="Text Box 167">
            <a:extLst>
              <a:ext uri="{FF2B5EF4-FFF2-40B4-BE49-F238E27FC236}">
                <a16:creationId xmlns:a16="http://schemas.microsoft.com/office/drawing/2014/main" id="{3A297C51-F54D-A349-9C54-CB5A15945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9325" y="4524375"/>
            <a:ext cx="2962275" cy="581025"/>
          </a:xfrm>
          <a:prstGeom prst="rect">
            <a:avLst/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CC0000"/>
                </a:solidFill>
              </a:rPr>
              <a:t>Functional dependency: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CC0000"/>
                </a:solidFill>
              </a:rPr>
              <a:t>- rating determines Hourly_wages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5">
            <a:extLst>
              <a:ext uri="{FF2B5EF4-FFF2-40B4-BE49-F238E27FC236}">
                <a16:creationId xmlns:a16="http://schemas.microsoft.com/office/drawing/2014/main" id="{0AD15DB9-1EAD-014E-B5B7-3B2A51FE1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B305C9-9C8B-5446-92B6-AE595E6BFF05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TW" sz="1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A50E091-3042-7845-B358-BE8CBB9517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772400" cy="914400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TW" sz="4000"/>
              <a:t>Functional Dependencies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7FCE02B2-CE0E-074D-AB79-709DE210BD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5486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400"/>
              <a:t>A functional dependency (FD) is a kind of IC that generalizes the concept of a key.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/>
          </a:p>
          <a:p>
            <a:pPr eaLnBrk="1" hangingPunct="1">
              <a:lnSpc>
                <a:spcPct val="90000"/>
              </a:lnSpc>
            </a:pPr>
            <a:endParaRPr lang="en-US" altLang="zh-TW" sz="2400"/>
          </a:p>
          <a:p>
            <a:pPr eaLnBrk="1" hangingPunct="1">
              <a:lnSpc>
                <a:spcPct val="90000"/>
              </a:lnSpc>
            </a:pPr>
            <a:endParaRPr lang="en-US" altLang="zh-TW" sz="2400"/>
          </a:p>
          <a:p>
            <a:pPr eaLnBrk="1" hangingPunct="1">
              <a:lnSpc>
                <a:spcPct val="90000"/>
              </a:lnSpc>
            </a:pPr>
            <a:endParaRPr lang="en-US" altLang="zh-TW" sz="2400"/>
          </a:p>
          <a:p>
            <a:pPr eaLnBrk="1" hangingPunct="1">
              <a:lnSpc>
                <a:spcPct val="90000"/>
              </a:lnSpc>
            </a:pPr>
            <a:endParaRPr lang="en-US" altLang="zh-TW" sz="2400"/>
          </a:p>
          <a:p>
            <a:pPr eaLnBrk="1" hangingPunct="1">
              <a:lnSpc>
                <a:spcPct val="90000"/>
              </a:lnSpc>
            </a:pPr>
            <a:endParaRPr lang="en-US" altLang="zh-TW" sz="2400"/>
          </a:p>
          <a:p>
            <a:pPr eaLnBrk="1" hangingPunct="1">
              <a:lnSpc>
                <a:spcPct val="90000"/>
              </a:lnSpc>
            </a:pPr>
            <a:endParaRPr lang="en-US" altLang="zh-TW" sz="2400"/>
          </a:p>
          <a:p>
            <a:pPr eaLnBrk="1" hangingPunct="1">
              <a:lnSpc>
                <a:spcPct val="90000"/>
              </a:lnSpc>
            </a:pPr>
            <a:endParaRPr lang="en-US" altLang="zh-TW" sz="2400"/>
          </a:p>
          <a:p>
            <a:pPr eaLnBrk="1" hangingPunct="1">
              <a:lnSpc>
                <a:spcPct val="90000"/>
              </a:lnSpc>
            </a:pPr>
            <a:r>
              <a:rPr lang="en-US" altLang="zh-TW" sz="2400"/>
              <a:t>An FD X</a:t>
            </a:r>
            <a:r>
              <a:rPr lang="en-US" altLang="zh-TW" sz="2400">
                <a:sym typeface="Wingdings" pitchFamily="2" charset="2"/>
              </a:rPr>
              <a:t> Y essentially says that if two tuples agree on the values in attributes X, they must also agree on the values in attributes Y.</a:t>
            </a:r>
            <a:endParaRPr lang="en-US" altLang="zh-TW" sz="2400"/>
          </a:p>
        </p:txBody>
      </p:sp>
      <p:grpSp>
        <p:nvGrpSpPr>
          <p:cNvPr id="23556" name="Group 8">
            <a:extLst>
              <a:ext uri="{FF2B5EF4-FFF2-40B4-BE49-F238E27FC236}">
                <a16:creationId xmlns:a16="http://schemas.microsoft.com/office/drawing/2014/main" id="{927F47AB-022A-E549-A20C-B706EFC90836}"/>
              </a:ext>
            </a:extLst>
          </p:cNvPr>
          <p:cNvGrpSpPr>
            <a:grpSpLocks/>
          </p:cNvGrpSpPr>
          <p:nvPr/>
        </p:nvGrpSpPr>
        <p:grpSpPr bwMode="auto">
          <a:xfrm>
            <a:off x="1127125" y="1981200"/>
            <a:ext cx="7178675" cy="3046413"/>
            <a:chOff x="710" y="1488"/>
            <a:chExt cx="4522" cy="1919"/>
          </a:xfrm>
        </p:grpSpPr>
        <p:sp>
          <p:nvSpPr>
            <p:cNvPr id="23557" name="Text Box 4">
              <a:extLst>
                <a:ext uri="{FF2B5EF4-FFF2-40B4-BE49-F238E27FC236}">
                  <a16:creationId xmlns:a16="http://schemas.microsoft.com/office/drawing/2014/main" id="{7FDE354F-4BCE-244E-BBAC-4FF48F5966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" y="1488"/>
              <a:ext cx="4522" cy="1919"/>
            </a:xfrm>
            <a:prstGeom prst="rect">
              <a:avLst/>
            </a:pr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Let R be a relation schema and let X and Y be nonempty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sets of attributes in R.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We say that an instance </a:t>
              </a:r>
              <a:r>
                <a:rPr lang="en-US" altLang="en-US" sz="2400" i="1"/>
                <a:t>r</a:t>
              </a:r>
              <a:r>
                <a:rPr lang="en-US" altLang="en-US" sz="2400"/>
                <a:t> of </a:t>
              </a:r>
              <a:r>
                <a:rPr lang="en-US" altLang="en-US" sz="2400" i="1"/>
                <a:t>R</a:t>
              </a:r>
              <a:r>
                <a:rPr lang="en-US" altLang="en-US" sz="2400"/>
                <a:t> satisfies the FD </a:t>
              </a:r>
              <a:r>
                <a:rPr lang="en-US" altLang="en-US" sz="2400" i="1"/>
                <a:t>X</a:t>
              </a:r>
              <a:r>
                <a:rPr lang="en-US" altLang="en-US" sz="2400" i="1">
                  <a:sym typeface="Wingdings" pitchFamily="2" charset="2"/>
                </a:rPr>
                <a:t> Y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ym typeface="Wingdings" pitchFamily="2" charset="2"/>
                </a:rPr>
                <a:t>If the following holds for every pair of tuples </a:t>
              </a:r>
              <a:r>
                <a:rPr lang="en-US" altLang="en-US" sz="2400" i="1">
                  <a:sym typeface="Wingdings" pitchFamily="2" charset="2"/>
                </a:rPr>
                <a:t>t1</a:t>
              </a:r>
              <a:r>
                <a:rPr lang="en-US" altLang="en-US" sz="2400">
                  <a:sym typeface="Wingdings" pitchFamily="2" charset="2"/>
                </a:rPr>
                <a:t> and </a:t>
              </a:r>
              <a:r>
                <a:rPr lang="en-US" altLang="en-US" sz="2400" i="1">
                  <a:sym typeface="Wingdings" pitchFamily="2" charset="2"/>
                </a:rPr>
                <a:t>t2</a:t>
              </a:r>
              <a:r>
                <a:rPr lang="en-US" altLang="en-US" sz="2400">
                  <a:sym typeface="Wingdings" pitchFamily="2" charset="2"/>
                </a:rPr>
                <a:t> 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ym typeface="Wingdings" pitchFamily="2" charset="2"/>
                </a:rPr>
                <a:t>in </a:t>
              </a:r>
              <a:r>
                <a:rPr lang="en-US" altLang="en-US" sz="2400" i="1">
                  <a:sym typeface="Wingdings" pitchFamily="2" charset="2"/>
                </a:rPr>
                <a:t>r</a:t>
              </a: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i="1">
                <a:sym typeface="Wingdings" pitchFamily="2" charset="2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i="1">
                <a:sym typeface="Wingdings" pitchFamily="2" charset="2"/>
              </a:endParaRPr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2400" i="1">
                <a:sym typeface="Wingdings" pitchFamily="2" charset="2"/>
              </a:endParaRPr>
            </a:p>
          </p:txBody>
        </p:sp>
        <p:sp>
          <p:nvSpPr>
            <p:cNvPr id="23558" name="Text Box 5">
              <a:extLst>
                <a:ext uri="{FF2B5EF4-FFF2-40B4-BE49-F238E27FC236}">
                  <a16:creationId xmlns:a16="http://schemas.microsoft.com/office/drawing/2014/main" id="{37F7C632-BD3F-F04B-9063-A0456DFD44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8" y="2736"/>
              <a:ext cx="2518" cy="288"/>
            </a:xfrm>
            <a:prstGeom prst="rect">
              <a:avLst/>
            </a:prstGeom>
            <a:solidFill>
              <a:srgbClr val="FF99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/>
                <a:t>If t1.X = t2.X, then t1.Y = t2.Y</a:t>
              </a:r>
            </a:p>
          </p:txBody>
        </p:sp>
        <p:sp>
          <p:nvSpPr>
            <p:cNvPr id="23559" name="Text Box 6">
              <a:extLst>
                <a:ext uri="{FF2B5EF4-FFF2-40B4-BE49-F238E27FC236}">
                  <a16:creationId xmlns:a16="http://schemas.microsoft.com/office/drawing/2014/main" id="{A2EB9D5D-9100-0246-8522-DC29DE721C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6" y="3100"/>
              <a:ext cx="399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>
                  <a:solidFill>
                    <a:srgbClr val="CC0000"/>
                  </a:solidFill>
                </a:rPr>
                <a:t>The notation t1.X refers to the projection of tuple t1 onto the attributes in X</a:t>
              </a:r>
            </a:p>
          </p:txBody>
        </p:sp>
        <p:sp>
          <p:nvSpPr>
            <p:cNvPr id="23560" name="Line 7">
              <a:extLst>
                <a:ext uri="{FF2B5EF4-FFF2-40B4-BE49-F238E27FC236}">
                  <a16:creationId xmlns:a16="http://schemas.microsoft.com/office/drawing/2014/main" id="{4668285F-2FE5-E242-8261-062695CDBE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104" y="2976"/>
              <a:ext cx="144" cy="144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3">
            <a:extLst>
              <a:ext uri="{FF2B5EF4-FFF2-40B4-BE49-F238E27FC236}">
                <a16:creationId xmlns:a16="http://schemas.microsoft.com/office/drawing/2014/main" id="{B105AB30-5B42-5F48-8C1B-08C9D6225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6C15FB9-1808-5A40-B467-A476FCE25788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TW" sz="1400"/>
          </a:p>
        </p:txBody>
      </p:sp>
      <p:graphicFrame>
        <p:nvGraphicFramePr>
          <p:cNvPr id="24578" name="Object 2">
            <a:extLst>
              <a:ext uri="{FF2B5EF4-FFF2-40B4-BE49-F238E27FC236}">
                <a16:creationId xmlns:a16="http://schemas.microsoft.com/office/drawing/2014/main" id="{662227F3-3295-7B45-8340-A26B5E365B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989013"/>
          <a:ext cx="6327775" cy="1525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416300" imgH="774700" progId="Excel.Sheet.8">
                  <p:embed/>
                </p:oleObj>
              </mc:Choice>
              <mc:Fallback>
                <p:oleObj name="Worksheet" r:id="rId2" imgW="3416300" imgH="774700" progId="Excel.Sheet.8">
                  <p:embed/>
                  <p:pic>
                    <p:nvPicPr>
                      <p:cNvPr id="24578" name="Object 2">
                        <a:extLst>
                          <a:ext uri="{FF2B5EF4-FFF2-40B4-BE49-F238E27FC236}">
                            <a16:creationId xmlns:a16="http://schemas.microsoft.com/office/drawing/2014/main" id="{662227F3-3295-7B45-8340-A26B5E365B6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500" b="-1660"/>
                      <a:stretch>
                        <a:fillRect/>
                      </a:stretch>
                    </p:blipFill>
                    <p:spPr bwMode="auto">
                      <a:xfrm>
                        <a:off x="1219200" y="989013"/>
                        <a:ext cx="6327775" cy="1525587"/>
                      </a:xfrm>
                      <a:prstGeom prst="rect">
                        <a:avLst/>
                      </a:prstGeom>
                      <a:solidFill>
                        <a:schemeClr val="folHlink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79" name="Rectangle 3">
            <a:extLst>
              <a:ext uri="{FF2B5EF4-FFF2-40B4-BE49-F238E27FC236}">
                <a16:creationId xmlns:a16="http://schemas.microsoft.com/office/drawing/2014/main" id="{09F59AED-FC20-874F-B983-792F37769D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819400"/>
            <a:ext cx="78486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 typeface="Symbol" pitchFamily="2" charset="2"/>
              <a:buNone/>
            </a:pPr>
            <a:endParaRPr lang="en-US" altLang="zh-TW" sz="2400" dirty="0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400" dirty="0">
                <a:sym typeface="Symbol" pitchFamily="2" charset="2"/>
              </a:rPr>
              <a:t>if any two rows </a:t>
            </a:r>
            <a:r>
              <a:rPr lang="en-US" altLang="zh-TW" sz="2400" b="1" dirty="0">
                <a:sym typeface="Symbol" pitchFamily="2" charset="2"/>
              </a:rPr>
              <a:t>never</a:t>
            </a:r>
            <a:r>
              <a:rPr lang="en-US" altLang="zh-TW" sz="2400" dirty="0">
                <a:sym typeface="Symbol" pitchFamily="2" charset="2"/>
              </a:rPr>
              <a:t> agree on </a:t>
            </a:r>
            <a:r>
              <a:rPr lang="en-US" altLang="zh-TW" sz="2400" i="1" dirty="0">
                <a:sym typeface="Symbol" pitchFamily="2" charset="2"/>
              </a:rPr>
              <a:t></a:t>
            </a:r>
            <a:r>
              <a:rPr lang="en-US" altLang="zh-TW" sz="2400" dirty="0">
                <a:sym typeface="Symbol" pitchFamily="2" charset="2"/>
              </a:rPr>
              <a:t> value, then </a:t>
            </a:r>
          </a:p>
          <a:p>
            <a:pPr eaLnBrk="1" hangingPunct="1">
              <a:buFont typeface="Symbol" pitchFamily="2" charset="2"/>
              <a:buChar char="a"/>
            </a:pPr>
            <a:r>
              <a:rPr lang="en-US" altLang="zh-TW" sz="2400" dirty="0">
                <a:sym typeface="Symbol" pitchFamily="2" charset="2"/>
              </a:rPr>
              <a:t> </a:t>
            </a:r>
            <a:r>
              <a:rPr lang="en-US" altLang="zh-TW" sz="2400" i="1" dirty="0">
                <a:sym typeface="Symbol" pitchFamily="2" charset="2"/>
              </a:rPr>
              <a:t>  </a:t>
            </a:r>
            <a:r>
              <a:rPr lang="en-US" altLang="zh-TW" sz="2400" dirty="0">
                <a:sym typeface="Symbol" pitchFamily="2" charset="2"/>
              </a:rPr>
              <a:t>is </a:t>
            </a:r>
            <a:r>
              <a:rPr lang="en-US" altLang="zh-TW" sz="2400" i="1" dirty="0">
                <a:solidFill>
                  <a:srgbClr val="A50021"/>
                </a:solidFill>
                <a:sym typeface="Symbol" pitchFamily="2" charset="2"/>
              </a:rPr>
              <a:t>trivially</a:t>
            </a:r>
            <a:r>
              <a:rPr lang="en-US" altLang="zh-TW" sz="2400" i="1" dirty="0">
                <a:sym typeface="Symbol" pitchFamily="2" charset="2"/>
              </a:rPr>
              <a:t> preserved</a:t>
            </a:r>
            <a:r>
              <a:rPr lang="en-US" altLang="zh-TW" sz="2400" dirty="0">
                <a:sym typeface="Symbol" pitchFamily="2" charset="2"/>
              </a:rPr>
              <a:t>.</a:t>
            </a:r>
          </a:p>
          <a:p>
            <a:pPr eaLnBrk="1" hangingPunct="1">
              <a:buFont typeface="Symbol" pitchFamily="2" charset="2"/>
              <a:buChar char="a"/>
            </a:pPr>
            <a:endParaRPr lang="en-US" altLang="zh-TW" sz="2400" dirty="0">
              <a:sym typeface="Symbol" pitchFamily="2" charset="2"/>
            </a:endParaRPr>
          </a:p>
          <a:p>
            <a:pPr eaLnBrk="1" hangingPunct="1">
              <a:buFont typeface="Symbol" pitchFamily="2" charset="2"/>
              <a:buNone/>
            </a:pPr>
            <a:r>
              <a:rPr lang="en-US" altLang="zh-TW" sz="2400" dirty="0">
                <a:sym typeface="Symbol" pitchFamily="2" charset="2"/>
              </a:rPr>
              <a:t>e.g. </a:t>
            </a:r>
            <a:r>
              <a:rPr lang="en-US" altLang="zh-TW" sz="2400" dirty="0" err="1">
                <a:sym typeface="Symbol" pitchFamily="2" charset="2"/>
              </a:rPr>
              <a:t>course_ID</a:t>
            </a:r>
            <a:r>
              <a:rPr lang="en-US" altLang="zh-TW" sz="2400" dirty="0">
                <a:sym typeface="Symbol" pitchFamily="2" charset="2"/>
              </a:rPr>
              <a:t>  </a:t>
            </a:r>
            <a:r>
              <a:rPr lang="en-US" altLang="zh-TW" sz="2400" dirty="0" err="1">
                <a:sym typeface="Symbol" pitchFamily="2" charset="2"/>
              </a:rPr>
              <a:t>course_name</a:t>
            </a:r>
            <a:r>
              <a:rPr lang="en-US" altLang="zh-TW" sz="2400" dirty="0">
                <a:sym typeface="Symbol" pitchFamily="2" charset="2"/>
              </a:rPr>
              <a:t> is preserved, but </a:t>
            </a:r>
            <a:r>
              <a:rPr lang="en-US" altLang="zh-TW" sz="2400" dirty="0">
                <a:solidFill>
                  <a:srgbClr val="FF0000"/>
                </a:solidFill>
                <a:sym typeface="Symbol" pitchFamily="2" charset="2"/>
              </a:rPr>
              <a:t>not trivially </a:t>
            </a:r>
            <a:r>
              <a:rPr lang="en-US" altLang="zh-TW" sz="2400" dirty="0">
                <a:sym typeface="Symbol" pitchFamily="2" charset="2"/>
              </a:rPr>
              <a:t>preserved.</a:t>
            </a:r>
          </a:p>
          <a:p>
            <a:pPr eaLnBrk="1" hangingPunct="1">
              <a:buFont typeface="Symbol" pitchFamily="2" charset="2"/>
              <a:buNone/>
            </a:pPr>
            <a:r>
              <a:rPr lang="en-US" altLang="zh-TW" sz="2400" dirty="0">
                <a:sym typeface="Symbol" pitchFamily="2" charset="2"/>
              </a:rPr>
              <a:t>e.g. </a:t>
            </a:r>
            <a:r>
              <a:rPr lang="en-US" altLang="zh-TW" sz="2400" dirty="0" err="1">
                <a:sym typeface="Symbol" pitchFamily="2" charset="2"/>
              </a:rPr>
              <a:t>student_ID</a:t>
            </a:r>
            <a:r>
              <a:rPr lang="en-US" altLang="zh-TW" sz="2400" dirty="0">
                <a:sym typeface="Symbol" pitchFamily="2" charset="2"/>
              </a:rPr>
              <a:t>, </a:t>
            </a:r>
            <a:r>
              <a:rPr lang="en-US" altLang="zh-TW" sz="2400" dirty="0" err="1">
                <a:sym typeface="Symbol" pitchFamily="2" charset="2"/>
              </a:rPr>
              <a:t>course_ID</a:t>
            </a:r>
            <a:r>
              <a:rPr lang="en-US" altLang="zh-TW" sz="2400" dirty="0">
                <a:sym typeface="Symbol" pitchFamily="2" charset="2"/>
              </a:rPr>
              <a:t>  </a:t>
            </a:r>
            <a:r>
              <a:rPr lang="en-US" altLang="zh-TW" sz="2400" dirty="0" err="1">
                <a:sym typeface="Symbol" pitchFamily="2" charset="2"/>
              </a:rPr>
              <a:t>course_name</a:t>
            </a:r>
            <a:r>
              <a:rPr lang="en-US" altLang="zh-TW" sz="2400" dirty="0">
                <a:sym typeface="Symbol" pitchFamily="2" charset="2"/>
              </a:rPr>
              <a:t>  is trivially          preserved, because we cannot find two rows with the same values in </a:t>
            </a:r>
            <a:r>
              <a:rPr lang="en-US" altLang="zh-TW" sz="2400" dirty="0" err="1">
                <a:sym typeface="Symbol" pitchFamily="2" charset="2"/>
              </a:rPr>
              <a:t>student_ID</a:t>
            </a:r>
            <a:r>
              <a:rPr lang="en-US" altLang="zh-TW" sz="2400" dirty="0">
                <a:sym typeface="Symbol" pitchFamily="2" charset="2"/>
              </a:rPr>
              <a:t> and </a:t>
            </a:r>
            <a:r>
              <a:rPr lang="en-US" altLang="zh-TW" sz="2400" dirty="0" err="1">
                <a:sym typeface="Symbol" pitchFamily="2" charset="2"/>
              </a:rPr>
              <a:t>course_ID</a:t>
            </a:r>
            <a:r>
              <a:rPr lang="en-US" altLang="zh-TW" sz="2400" dirty="0">
                <a:sym typeface="Symbol" pitchFamily="2" charset="2"/>
              </a:rPr>
              <a:t>.</a:t>
            </a:r>
          </a:p>
          <a:p>
            <a:pPr eaLnBrk="1" hangingPunct="1">
              <a:buFont typeface="Symbol" pitchFamily="2" charset="2"/>
              <a:buNone/>
            </a:pPr>
            <a:endParaRPr lang="en-US" altLang="zh-TW" sz="2400" dirty="0"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Number Placeholder 3">
            <a:extLst>
              <a:ext uri="{FF2B5EF4-FFF2-40B4-BE49-F238E27FC236}">
                <a16:creationId xmlns:a16="http://schemas.microsoft.com/office/drawing/2014/main" id="{A4101B27-F86A-2B43-A8AD-769A413B6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003214-19C8-FC48-A634-7D1F45B74111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TW" sz="1400"/>
          </a:p>
        </p:txBody>
      </p:sp>
      <p:graphicFrame>
        <p:nvGraphicFramePr>
          <p:cNvPr id="25602" name="Object 2">
            <a:extLst>
              <a:ext uri="{FF2B5EF4-FFF2-40B4-BE49-F238E27FC236}">
                <a16:creationId xmlns:a16="http://schemas.microsoft.com/office/drawing/2014/main" id="{6D812893-A45D-0A41-A0B2-0A2C96A17F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1071563"/>
          <a:ext cx="6310313" cy="1519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594100" imgH="876300" progId="Excel.Sheet.8">
                  <p:embed/>
                </p:oleObj>
              </mc:Choice>
              <mc:Fallback>
                <p:oleObj name="Worksheet" r:id="rId2" imgW="3594100" imgH="876300" progId="Excel.Sheet.8">
                  <p:embed/>
                  <p:pic>
                    <p:nvPicPr>
                      <p:cNvPr id="25602" name="Object 2">
                        <a:extLst>
                          <a:ext uri="{FF2B5EF4-FFF2-40B4-BE49-F238E27FC236}">
                            <a16:creationId xmlns:a16="http://schemas.microsoft.com/office/drawing/2014/main" id="{6D812893-A45D-0A41-A0B2-0A2C96A17F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500" b="-1660"/>
                      <a:stretch>
                        <a:fillRect/>
                      </a:stretch>
                    </p:blipFill>
                    <p:spPr bwMode="auto">
                      <a:xfrm>
                        <a:off x="1447800" y="1071563"/>
                        <a:ext cx="6310313" cy="1519237"/>
                      </a:xfrm>
                      <a:prstGeom prst="rect">
                        <a:avLst/>
                      </a:prstGeom>
                      <a:solidFill>
                        <a:schemeClr val="folHlink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3" name="Rectangle 3">
            <a:extLst>
              <a:ext uri="{FF2B5EF4-FFF2-40B4-BE49-F238E27FC236}">
                <a16:creationId xmlns:a16="http://schemas.microsoft.com/office/drawing/2014/main" id="{04FFBBCA-ED3A-9543-9691-CAC29D2388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3641725"/>
            <a:ext cx="7696200" cy="268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663300"/>
              </a:buClr>
              <a:buFontTx/>
              <a:buNone/>
            </a:pP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The table instance satisfies the following</a:t>
            </a:r>
          </a:p>
          <a:p>
            <a:pPr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Char char="n"/>
            </a:pP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student_name  student_name (</a:t>
            </a:r>
            <a:r>
              <a:rPr kumimoji="0" lang="en-US" altLang="zh-TW" sz="2000" i="1">
                <a:solidFill>
                  <a:srgbClr val="6600CC"/>
                </a:solidFill>
                <a:latin typeface="Arial" panose="020B0604020202020204" pitchFamily="34" charset="0"/>
                <a:sym typeface="Symbol" pitchFamily="2" charset="2"/>
              </a:rPr>
              <a:t>a trivial dependency</a:t>
            </a: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)</a:t>
            </a:r>
          </a:p>
          <a:p>
            <a:pPr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Char char="n"/>
            </a:pP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student_name, course_name  student_name (</a:t>
            </a:r>
            <a:r>
              <a:rPr kumimoji="0" lang="en-US" altLang="zh-TW" sz="2000" i="1">
                <a:solidFill>
                  <a:srgbClr val="6600CC"/>
                </a:solidFill>
                <a:latin typeface="Arial" panose="020B0604020202020204" pitchFamily="34" charset="0"/>
                <a:sym typeface="Symbol" pitchFamily="2" charset="2"/>
              </a:rPr>
              <a:t>also trivial</a:t>
            </a: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)</a:t>
            </a:r>
          </a:p>
          <a:p>
            <a:pPr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Char char="n"/>
            </a:pP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student_ID, course_ID  </a:t>
            </a:r>
          </a:p>
          <a:p>
            <a:pPr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	(student_ID, student_name, course_ID, course_Name )</a:t>
            </a:r>
          </a:p>
          <a:p>
            <a:pPr eaLnBrk="1" hangingPunct="1">
              <a:spcBef>
                <a:spcPct val="50000"/>
              </a:spcBef>
              <a:buClr>
                <a:srgbClr val="663300"/>
              </a:buClr>
              <a:buFontTx/>
              <a:buChar char="-"/>
            </a:pPr>
            <a:endParaRPr kumimoji="0" lang="zh-TW" altLang="en-US" sz="2000">
              <a:latin typeface="Arial" panose="020B0604020202020204" pitchFamily="34" charset="0"/>
              <a:sym typeface="Symbol" pitchFamily="2" charset="2"/>
            </a:endParaRPr>
          </a:p>
        </p:txBody>
      </p:sp>
      <p:sp>
        <p:nvSpPr>
          <p:cNvPr id="25604" name="Text Box 4">
            <a:extLst>
              <a:ext uri="{FF2B5EF4-FFF2-40B4-BE49-F238E27FC236}">
                <a16:creationId xmlns:a16="http://schemas.microsoft.com/office/drawing/2014/main" id="{649BD8FD-2014-C14D-ACB0-5367D7D7B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3048000"/>
            <a:ext cx="4354513" cy="457200"/>
          </a:xfrm>
          <a:prstGeom prst="rect">
            <a:avLst/>
          </a:prstGeom>
          <a:solidFill>
            <a:srgbClr val="FF7C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dirty="0"/>
              <a:t>Attributes on the right hand side of the arrow is a subset of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200" dirty="0"/>
              <a:t>that on the left hand side.  Don’t mix it up with “trivially preserved”</a:t>
            </a:r>
          </a:p>
        </p:txBody>
      </p:sp>
      <p:sp>
        <p:nvSpPr>
          <p:cNvPr id="25605" name="Line 5">
            <a:extLst>
              <a:ext uri="{FF2B5EF4-FFF2-40B4-BE49-F238E27FC236}">
                <a16:creationId xmlns:a16="http://schemas.microsoft.com/office/drawing/2014/main" id="{75EF73E3-97D5-4E4D-A7DE-5B761C9C8BC9}"/>
              </a:ext>
            </a:extLst>
          </p:cNvPr>
          <p:cNvSpPr>
            <a:spLocks noChangeShapeType="1"/>
          </p:cNvSpPr>
          <p:nvPr/>
        </p:nvSpPr>
        <p:spPr bwMode="auto">
          <a:xfrm>
            <a:off x="6477000" y="3505200"/>
            <a:ext cx="0" cy="685800"/>
          </a:xfrm>
          <a:prstGeom prst="line">
            <a:avLst/>
          </a:prstGeom>
          <a:noFill/>
          <a:ln w="28575">
            <a:solidFill>
              <a:srgbClr val="FF505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44CC6B48-1DE1-3E41-B169-C3FBD1FA6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Number Placeholder 3">
            <a:extLst>
              <a:ext uri="{FF2B5EF4-FFF2-40B4-BE49-F238E27FC236}">
                <a16:creationId xmlns:a16="http://schemas.microsoft.com/office/drawing/2014/main" id="{04DF642C-33A9-4047-80A0-03A8ECCEE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9659AC-D916-5241-AA9F-8AE019990C48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TW" sz="1400"/>
          </a:p>
        </p:txBody>
      </p:sp>
      <p:sp>
        <p:nvSpPr>
          <p:cNvPr id="26626" name="Rectangle 2">
            <a:extLst>
              <a:ext uri="{FF2B5EF4-FFF2-40B4-BE49-F238E27FC236}">
                <a16:creationId xmlns:a16="http://schemas.microsoft.com/office/drawing/2014/main" id="{49A5968C-F4A9-E844-915E-5ED4F29A1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219200"/>
            <a:ext cx="85344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zh-TW" altLang="en-US" sz="2000" i="1">
                <a:sym typeface="Symbol" pitchFamily="2" charset="2"/>
              </a:rPr>
              <a:t></a:t>
            </a:r>
            <a:r>
              <a:rPr lang="zh-TW" altLang="en-US" sz="2000">
                <a:sym typeface="Symbol" pitchFamily="2" charset="2"/>
              </a:rPr>
              <a:t> </a:t>
            </a:r>
            <a:r>
              <a:rPr lang="en-US" altLang="zh-TW" sz="2000">
                <a:sym typeface="Symbol" pitchFamily="2" charset="2"/>
              </a:rPr>
              <a:t>is a superkey for R iff </a:t>
            </a:r>
            <a:r>
              <a:rPr lang="en-US" altLang="zh-TW" sz="2000" i="1">
                <a:sym typeface="Symbol" pitchFamily="2" charset="2"/>
              </a:rPr>
              <a:t></a:t>
            </a:r>
            <a:r>
              <a:rPr lang="en-US" altLang="zh-TW" sz="2000">
                <a:sym typeface="Symbol" pitchFamily="2" charset="2"/>
              </a:rPr>
              <a:t>  </a:t>
            </a:r>
            <a:r>
              <a:rPr lang="en-US" altLang="zh-TW" sz="2000" i="1">
                <a:sym typeface="Symbol" pitchFamily="2" charset="2"/>
              </a:rPr>
              <a:t>R</a:t>
            </a:r>
            <a:r>
              <a:rPr lang="en-US" altLang="zh-TW" sz="2000">
                <a:sym typeface="Symbol" pitchFamily="2" charset="2"/>
              </a:rPr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000">
                <a:sym typeface="Symbol" pitchFamily="2" charset="2"/>
              </a:rPr>
              <a:t>     where </a:t>
            </a:r>
            <a:r>
              <a:rPr lang="en-US" altLang="zh-TW" sz="2000" i="1">
                <a:sym typeface="Symbol" pitchFamily="2" charset="2"/>
              </a:rPr>
              <a:t>R </a:t>
            </a:r>
            <a:r>
              <a:rPr lang="en-US" altLang="zh-TW" sz="2000">
                <a:sym typeface="Symbol" pitchFamily="2" charset="2"/>
              </a:rPr>
              <a:t>is taken as the schema for relation R.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i="1">
                <a:sym typeface="Symbol" pitchFamily="2" charset="2"/>
              </a:rPr>
              <a:t></a:t>
            </a:r>
            <a:r>
              <a:rPr lang="en-US" altLang="zh-TW" sz="2000">
                <a:sym typeface="Symbol" pitchFamily="2" charset="2"/>
              </a:rPr>
              <a:t> is a candidate key for R iff</a:t>
            </a:r>
          </a:p>
          <a:p>
            <a:pPr lvl="1" eaLnBrk="1" hangingPunct="1">
              <a:lnSpc>
                <a:spcPct val="90000"/>
              </a:lnSpc>
              <a:buFont typeface="Symbol" pitchFamily="2" charset="2"/>
              <a:buChar char="-"/>
            </a:pPr>
            <a:r>
              <a:rPr lang="en-US" altLang="zh-TW" sz="2000" i="1">
                <a:sym typeface="Symbol" pitchFamily="2" charset="2"/>
              </a:rPr>
              <a:t></a:t>
            </a:r>
            <a:r>
              <a:rPr lang="en-US" altLang="zh-TW" sz="2000">
                <a:sym typeface="Symbol" pitchFamily="2" charset="2"/>
              </a:rPr>
              <a:t>  </a:t>
            </a:r>
            <a:r>
              <a:rPr lang="en-US" altLang="zh-TW" sz="2000" i="1">
                <a:sym typeface="Symbol" pitchFamily="2" charset="2"/>
              </a:rPr>
              <a:t>R</a:t>
            </a:r>
            <a:r>
              <a:rPr lang="en-US" altLang="zh-TW" sz="2000">
                <a:sym typeface="Symbol" pitchFamily="2" charset="2"/>
              </a:rPr>
              <a:t>, and</a:t>
            </a:r>
          </a:p>
          <a:p>
            <a:pPr lvl="1" eaLnBrk="1" hangingPunct="1">
              <a:lnSpc>
                <a:spcPct val="90000"/>
              </a:lnSpc>
              <a:buFont typeface="Symbol" pitchFamily="2" charset="2"/>
              <a:buChar char="-"/>
            </a:pPr>
            <a:r>
              <a:rPr lang="en-US" altLang="zh-TW" sz="2000">
                <a:sym typeface="Symbol" pitchFamily="2" charset="2"/>
              </a:rPr>
              <a:t>for no </a:t>
            </a:r>
            <a:r>
              <a:rPr lang="en-US" altLang="zh-TW" sz="2000" i="1">
                <a:sym typeface="Symbol" pitchFamily="2" charset="2"/>
              </a:rPr>
              <a:t></a:t>
            </a:r>
            <a:r>
              <a:rPr lang="en-US" altLang="zh-TW" sz="2000">
                <a:sym typeface="Symbol" pitchFamily="2" charset="2"/>
              </a:rPr>
              <a:t> that is a proper subset of </a:t>
            </a:r>
            <a:r>
              <a:rPr lang="en-US" altLang="zh-TW" sz="2000" i="1">
                <a:sym typeface="Symbol" pitchFamily="2" charset="2"/>
              </a:rPr>
              <a:t>, </a:t>
            </a:r>
            <a:r>
              <a:rPr lang="en-US" altLang="zh-TW" sz="2000">
                <a:sym typeface="Symbol" pitchFamily="2" charset="2"/>
              </a:rPr>
              <a:t>  </a:t>
            </a:r>
            <a:r>
              <a:rPr lang="en-US" altLang="zh-TW" sz="2000" i="1">
                <a:sym typeface="Symbol" pitchFamily="2" charset="2"/>
              </a:rPr>
              <a:t>R  </a:t>
            </a:r>
            <a:r>
              <a:rPr lang="en-US" altLang="zh-TW" sz="2000">
                <a:solidFill>
                  <a:srgbClr val="FF0000"/>
                </a:solidFill>
                <a:sym typeface="Symbol" pitchFamily="2" charset="2"/>
              </a:rPr>
              <a:t>(minimal property)</a:t>
            </a:r>
            <a:r>
              <a:rPr lang="en-US" altLang="zh-TW" sz="2000">
                <a:sym typeface="Symbol" pitchFamily="2" charset="2"/>
              </a:rPr>
              <a:t>.</a:t>
            </a:r>
          </a:p>
          <a:p>
            <a:pPr lvl="1" eaLnBrk="1" hangingPunct="1">
              <a:lnSpc>
                <a:spcPct val="90000"/>
              </a:lnSpc>
              <a:buFont typeface="Symbol" pitchFamily="2" charset="2"/>
              <a:buNone/>
            </a:pPr>
            <a:endParaRPr lang="en-US" altLang="zh-TW" sz="2000">
              <a:sym typeface="Symbol" pitchFamily="2" charset="2"/>
            </a:endParaRPr>
          </a:p>
          <a:p>
            <a:pPr lvl="1" eaLnBrk="1" hangingPunct="1">
              <a:lnSpc>
                <a:spcPct val="90000"/>
              </a:lnSpc>
              <a:buFont typeface="Symbol" pitchFamily="2" charset="2"/>
              <a:buNone/>
            </a:pPr>
            <a:endParaRPr lang="en-US" altLang="zh-TW" sz="2000">
              <a:sym typeface="Symbol" pitchFamily="2" charset="2"/>
            </a:endParaRPr>
          </a:p>
          <a:p>
            <a:pPr lvl="1" eaLnBrk="1" hangingPunct="1">
              <a:lnSpc>
                <a:spcPct val="90000"/>
              </a:lnSpc>
              <a:buFont typeface="Symbol" pitchFamily="2" charset="2"/>
              <a:buChar char="-"/>
            </a:pPr>
            <a:endParaRPr lang="en-US" altLang="zh-TW" sz="2000">
              <a:sym typeface="Symbol" pitchFamily="2" charset="2"/>
            </a:endParaRPr>
          </a:p>
          <a:p>
            <a:pPr lvl="1" eaLnBrk="1" hangingPunct="1">
              <a:lnSpc>
                <a:spcPct val="90000"/>
              </a:lnSpc>
              <a:buFont typeface="Symbol" pitchFamily="2" charset="2"/>
              <a:buChar char="-"/>
            </a:pPr>
            <a:endParaRPr lang="en-US" altLang="zh-TW" sz="2000">
              <a:sym typeface="Symbol" pitchFamily="2" charset="2"/>
            </a:endParaRPr>
          </a:p>
          <a:p>
            <a:pPr lvl="1" eaLnBrk="1" hangingPunct="1">
              <a:lnSpc>
                <a:spcPct val="90000"/>
              </a:lnSpc>
              <a:buFont typeface="Symbol" pitchFamily="2" charset="2"/>
              <a:buNone/>
            </a:pPr>
            <a:endParaRPr lang="en-US" altLang="zh-TW" sz="2000">
              <a:sym typeface="Symbol" pitchFamily="2" charset="2"/>
            </a:endParaRPr>
          </a:p>
          <a:p>
            <a:pPr lvl="1" eaLnBrk="1" hangingPunct="1">
              <a:lnSpc>
                <a:spcPct val="90000"/>
              </a:lnSpc>
              <a:buFont typeface="Symbol" pitchFamily="2" charset="2"/>
              <a:buNone/>
            </a:pPr>
            <a:endParaRPr lang="en-US" altLang="zh-TW" sz="200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 typeface="Symbol" pitchFamily="2" charset="2"/>
              <a:buNone/>
            </a:pPr>
            <a:r>
              <a:rPr lang="en-US" altLang="zh-TW" sz="2000">
                <a:sym typeface="Symbol" pitchFamily="2" charset="2"/>
              </a:rPr>
              <a:t>(student_ID, course_ID) is a candidate key</a:t>
            </a:r>
          </a:p>
          <a:p>
            <a:pPr eaLnBrk="1" hangingPunct="1">
              <a:lnSpc>
                <a:spcPct val="90000"/>
              </a:lnSpc>
              <a:buFont typeface="Symbol" pitchFamily="2" charset="2"/>
              <a:buNone/>
            </a:pPr>
            <a:r>
              <a:rPr lang="en-US" altLang="zh-TW" sz="2000">
                <a:sym typeface="Symbol" pitchFamily="2" charset="2"/>
              </a:rPr>
              <a:t>(student_ID, course_ID, course_name) is not a candidate key</a:t>
            </a:r>
          </a:p>
        </p:txBody>
      </p:sp>
      <p:graphicFrame>
        <p:nvGraphicFramePr>
          <p:cNvPr id="26627" name="Object 3">
            <a:extLst>
              <a:ext uri="{FF2B5EF4-FFF2-40B4-BE49-F238E27FC236}">
                <a16:creationId xmlns:a16="http://schemas.microsoft.com/office/drawing/2014/main" id="{591B902B-FF98-8E45-BB0F-9D60B5B33C7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47800" y="3200400"/>
          <a:ext cx="6310313" cy="151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606800" imgH="876300" progId="Excel.Sheet.8">
                  <p:embed/>
                </p:oleObj>
              </mc:Choice>
              <mc:Fallback>
                <p:oleObj name="Worksheet" r:id="rId2" imgW="3606800" imgH="876300" progId="Excel.Sheet.8">
                  <p:embed/>
                  <p:pic>
                    <p:nvPicPr>
                      <p:cNvPr id="26627" name="Object 3">
                        <a:extLst>
                          <a:ext uri="{FF2B5EF4-FFF2-40B4-BE49-F238E27FC236}">
                            <a16:creationId xmlns:a16="http://schemas.microsoft.com/office/drawing/2014/main" id="{591B902B-FF98-8E45-BB0F-9D60B5B33C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500" b="-1662"/>
                      <a:stretch>
                        <a:fillRect/>
                      </a:stretch>
                    </p:blipFill>
                    <p:spPr bwMode="auto">
                      <a:xfrm>
                        <a:off x="1447800" y="3200400"/>
                        <a:ext cx="6310313" cy="1519238"/>
                      </a:xfrm>
                      <a:prstGeom prst="rect">
                        <a:avLst/>
                      </a:prstGeom>
                      <a:solidFill>
                        <a:srgbClr val="FFFFCC">
                          <a:alpha val="50195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Number Placeholder 3">
            <a:extLst>
              <a:ext uri="{FF2B5EF4-FFF2-40B4-BE49-F238E27FC236}">
                <a16:creationId xmlns:a16="http://schemas.microsoft.com/office/drawing/2014/main" id="{C5D80008-21EA-904A-B186-06B9627C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F72B3E-D8D0-B248-B100-795FDA1BB02A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TW" sz="1400"/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A109543D-D00B-F648-8BA0-93B07BA0B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19200"/>
            <a:ext cx="81534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400" b="1">
                <a:solidFill>
                  <a:srgbClr val="000099"/>
                </a:solidFill>
                <a:sym typeface="Symbol" pitchFamily="2" charset="2"/>
              </a:rPr>
              <a:t>Note</a:t>
            </a:r>
            <a:r>
              <a:rPr lang="en-US" altLang="zh-TW" sz="2400">
                <a:solidFill>
                  <a:srgbClr val="000099"/>
                </a:solidFill>
                <a:sym typeface="Symbol" pitchFamily="2" charset="2"/>
              </a:rPr>
              <a:t>:</a:t>
            </a:r>
          </a:p>
          <a:p>
            <a:pPr eaLnBrk="1" hangingPunct="1"/>
            <a:r>
              <a:rPr lang="en-US" altLang="zh-TW" sz="2400">
                <a:sym typeface="Symbol" pitchFamily="2" charset="2"/>
              </a:rPr>
              <a:t>A functional dependency must be identified based on 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	</a:t>
            </a:r>
            <a:r>
              <a:rPr lang="en-US" altLang="zh-TW" sz="2400" b="1">
                <a:sym typeface="Symbol" pitchFamily="2" charset="2"/>
              </a:rPr>
              <a:t>semantics</a:t>
            </a:r>
            <a:r>
              <a:rPr lang="en-US" altLang="zh-TW" sz="2400">
                <a:sym typeface="Symbol" pitchFamily="2" charset="2"/>
              </a:rPr>
              <a:t> of applications, not on individual relation instances.</a:t>
            </a:r>
          </a:p>
          <a:p>
            <a:pPr eaLnBrk="1" hangingPunct="1"/>
            <a:r>
              <a:rPr lang="en-US" altLang="zh-TW" sz="2400">
                <a:sym typeface="Symbol" pitchFamily="2" charset="2"/>
              </a:rPr>
              <a:t>Given an instance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>
                <a:sym typeface="Symbol" pitchFamily="2" charset="2"/>
              </a:rPr>
              <a:t> of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>
                <a:sym typeface="Symbol" pitchFamily="2" charset="2"/>
              </a:rPr>
              <a:t>, we can check if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>
                <a:sym typeface="Symbol" pitchFamily="2" charset="2"/>
              </a:rPr>
              <a:t> violates some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	functional dependency </a:t>
            </a:r>
            <a:r>
              <a:rPr lang="en-US" altLang="zh-TW" sz="2400" i="1">
                <a:sym typeface="Symbol" pitchFamily="2" charset="2"/>
              </a:rPr>
              <a:t>f</a:t>
            </a:r>
            <a:r>
              <a:rPr lang="en-US" altLang="zh-TW" sz="2400">
                <a:sym typeface="Symbol" pitchFamily="2" charset="2"/>
              </a:rPr>
              <a:t>, but we cannot tell if </a:t>
            </a:r>
            <a:r>
              <a:rPr lang="en-US" altLang="zh-TW" sz="2400" i="1">
                <a:sym typeface="Symbol" pitchFamily="2" charset="2"/>
              </a:rPr>
              <a:t>f</a:t>
            </a:r>
            <a:r>
              <a:rPr lang="en-US" altLang="zh-TW" sz="2400">
                <a:sym typeface="Symbol" pitchFamily="2" charset="2"/>
              </a:rPr>
              <a:t> holds over R. </a:t>
            </a:r>
          </a:p>
          <a:p>
            <a:pPr eaLnBrk="1" hangingPunct="1">
              <a:buFontTx/>
              <a:buNone/>
            </a:pPr>
            <a:endParaRPr lang="en-US" altLang="zh-TW" sz="2400">
              <a:sym typeface="Symbol" pitchFamily="2" charset="2"/>
            </a:endParaRPr>
          </a:p>
          <a:p>
            <a:pPr eaLnBrk="1" hangingPunct="1">
              <a:buFontTx/>
              <a:buNone/>
            </a:pPr>
            <a:endParaRPr lang="en-US" altLang="zh-TW">
              <a:sym typeface="Symbol" pitchFamily="2" charset="2"/>
            </a:endParaRPr>
          </a:p>
          <a:p>
            <a:pPr eaLnBrk="1" hangingPunct="1">
              <a:buFontTx/>
              <a:buNone/>
            </a:pPr>
            <a:endParaRPr lang="en-US" altLang="zh-TW">
              <a:sym typeface="Symbol" pitchFamily="2" charset="2"/>
            </a:endParaRPr>
          </a:p>
          <a:p>
            <a:pPr eaLnBrk="1" hangingPunct="1">
              <a:buFontTx/>
              <a:buNone/>
            </a:pPr>
            <a:endParaRPr lang="en-US" altLang="zh-TW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      course_ID  student_name ?</a:t>
            </a:r>
          </a:p>
          <a:p>
            <a:pPr eaLnBrk="1" hangingPunct="1">
              <a:buFontTx/>
              <a:buNone/>
            </a:pPr>
            <a:endParaRPr lang="en-US" altLang="zh-TW" sz="2000">
              <a:sym typeface="Symbol" pitchFamily="2" charset="2"/>
            </a:endParaRPr>
          </a:p>
        </p:txBody>
      </p:sp>
      <p:graphicFrame>
        <p:nvGraphicFramePr>
          <p:cNvPr id="27651" name="Object 3">
            <a:extLst>
              <a:ext uri="{FF2B5EF4-FFF2-40B4-BE49-F238E27FC236}">
                <a16:creationId xmlns:a16="http://schemas.microsoft.com/office/drawing/2014/main" id="{2F9B1278-5222-C947-87FA-1B3F390310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6800" y="3740150"/>
          <a:ext cx="5867400" cy="151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3708400" imgH="965200" progId="Excel.Sheet.8">
                  <p:embed/>
                </p:oleObj>
              </mc:Choice>
              <mc:Fallback>
                <p:oleObj name="Worksheet" r:id="rId2" imgW="3708400" imgH="965200" progId="Excel.Sheet.8">
                  <p:embed/>
                  <p:pic>
                    <p:nvPicPr>
                      <p:cNvPr id="27651" name="Object 3">
                        <a:extLst>
                          <a:ext uri="{FF2B5EF4-FFF2-40B4-BE49-F238E27FC236}">
                            <a16:creationId xmlns:a16="http://schemas.microsoft.com/office/drawing/2014/main" id="{2F9B1278-5222-C947-87FA-1B3F390310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454" b="-1495"/>
                      <a:stretch>
                        <a:fillRect/>
                      </a:stretch>
                    </p:blipFill>
                    <p:spPr bwMode="auto">
                      <a:xfrm>
                        <a:off x="1066800" y="3740150"/>
                        <a:ext cx="5867400" cy="1517650"/>
                      </a:xfrm>
                      <a:prstGeom prst="rect">
                        <a:avLst/>
                      </a:prstGeom>
                      <a:solidFill>
                        <a:schemeClr val="folHlink">
                          <a:alpha val="50195"/>
                        </a:scheme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Number Placeholder 3">
            <a:extLst>
              <a:ext uri="{FF2B5EF4-FFF2-40B4-BE49-F238E27FC236}">
                <a16:creationId xmlns:a16="http://schemas.microsoft.com/office/drawing/2014/main" id="{256EE897-C30F-1343-8A5B-AEE9A5B4F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E24823-EFC6-3846-9A22-85A4EBBAF09C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TW" sz="1400"/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9597047D-98A2-224C-B7B0-06434DE65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990600"/>
            <a:ext cx="84582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endParaRPr lang="en-US" altLang="zh-TW" sz="2800">
              <a:sym typeface="Symbol" pitchFamily="2" charset="2"/>
            </a:endParaRPr>
          </a:p>
          <a:p>
            <a:pPr eaLnBrk="1" hangingPunct="1"/>
            <a:r>
              <a:rPr lang="en-US" altLang="zh-TW" sz="2800">
                <a:sym typeface="Symbol" pitchFamily="2" charset="2"/>
              </a:rPr>
              <a:t>The semantics of an application is a set of constraints</a:t>
            </a:r>
          </a:p>
          <a:p>
            <a:pPr eaLnBrk="1" hangingPunct="1">
              <a:buFontTx/>
              <a:buNone/>
            </a:pPr>
            <a:r>
              <a:rPr lang="en-US" altLang="zh-TW" sz="2800" i="1">
                <a:sym typeface="Symbol" pitchFamily="2" charset="2"/>
              </a:rPr>
              <a:t>	imposed by the application</a:t>
            </a:r>
            <a:r>
              <a:rPr lang="en-US" altLang="zh-TW" sz="2800">
                <a:sym typeface="Symbol" pitchFamily="2" charset="2"/>
              </a:rPr>
              <a:t>.</a:t>
            </a:r>
          </a:p>
          <a:p>
            <a:pPr eaLnBrk="1" hangingPunct="1"/>
            <a:r>
              <a:rPr lang="en-US" altLang="zh-TW" sz="2800">
                <a:sym typeface="Symbol" pitchFamily="2" charset="2"/>
              </a:rPr>
              <a:t>This set of constraints are set up either explicitly or</a:t>
            </a:r>
          </a:p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	implicitly.</a:t>
            </a:r>
          </a:p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	Explicitly: by domain experts</a:t>
            </a:r>
          </a:p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	Implicitly: by </a:t>
            </a:r>
            <a:r>
              <a:rPr lang="en-US" altLang="zh-TW" sz="2800">
                <a:latin typeface="Arial" panose="020B0604020202020204" pitchFamily="34" charset="0"/>
                <a:sym typeface="Symbol" pitchFamily="2" charset="2"/>
              </a:rPr>
              <a:t>‘</a:t>
            </a:r>
            <a:r>
              <a:rPr lang="en-US" altLang="zh-TW" sz="2800">
                <a:sym typeface="Symbol" pitchFamily="2" charset="2"/>
              </a:rPr>
              <a:t>common sense</a:t>
            </a:r>
            <a:r>
              <a:rPr lang="en-US" altLang="zh-TW" sz="2800">
                <a:latin typeface="Arial" panose="020B0604020202020204" pitchFamily="34" charset="0"/>
                <a:sym typeface="Symbol" pitchFamily="2" charset="2"/>
              </a:rPr>
              <a:t>’</a:t>
            </a:r>
            <a:endParaRPr lang="en-US" altLang="zh-TW" sz="2800"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Number Placeholder 3">
            <a:extLst>
              <a:ext uri="{FF2B5EF4-FFF2-40B4-BE49-F238E27FC236}">
                <a16:creationId xmlns:a16="http://schemas.microsoft.com/office/drawing/2014/main" id="{EE4849F5-E616-794E-A16D-A841FE188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F5448E-F031-104B-BC91-0D88D17BBD52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TW" sz="140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259EF127-AB46-1B4C-9F08-3C4BF9F412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95400"/>
            <a:ext cx="83058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Example:</a:t>
            </a:r>
            <a:endParaRPr lang="en-US" altLang="zh-TW" sz="1000">
              <a:sym typeface="Symbol" pitchFamily="2" charset="2"/>
            </a:endParaRPr>
          </a:p>
          <a:p>
            <a:pPr eaLnBrk="1" hangingPunct="1"/>
            <a:r>
              <a:rPr lang="en-US" altLang="zh-TW" sz="2400">
                <a:sym typeface="Symbol" pitchFamily="2" charset="2"/>
              </a:rPr>
              <a:t>Application is to keep track of information about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	employees in a company.</a:t>
            </a:r>
          </a:p>
          <a:p>
            <a:pPr eaLnBrk="1" hangingPunct="1"/>
            <a:r>
              <a:rPr lang="en-US" altLang="zh-TW" sz="2400">
                <a:sym typeface="Symbol" pitchFamily="2" charset="2"/>
              </a:rPr>
              <a:t>Information to be kept track of includes: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		</a:t>
            </a:r>
            <a:r>
              <a:rPr lang="en-US" altLang="zh-TW" sz="2000" b="1">
                <a:sym typeface="Symbol" pitchFamily="2" charset="2"/>
              </a:rPr>
              <a:t>eid</a:t>
            </a:r>
            <a:r>
              <a:rPr lang="en-US" altLang="zh-TW" sz="2000">
                <a:sym typeface="Symbol" pitchFamily="2" charset="2"/>
              </a:rPr>
              <a:t>:  	  employee</a:t>
            </a:r>
            <a:r>
              <a:rPr lang="en-US" altLang="zh-TW" sz="2000">
                <a:latin typeface="Arial" panose="020B0604020202020204" pitchFamily="34" charset="0"/>
                <a:sym typeface="Symbol" pitchFamily="2" charset="2"/>
              </a:rPr>
              <a:t>’</a:t>
            </a:r>
            <a:r>
              <a:rPr lang="en-US" altLang="zh-TW" sz="2000">
                <a:sym typeface="Symbol" pitchFamily="2" charset="2"/>
              </a:rPr>
              <a:t>s id number</a:t>
            </a:r>
          </a:p>
          <a:p>
            <a:pPr eaLnBrk="1" hangingPunct="1">
              <a:buFontTx/>
              <a:buNone/>
            </a:pPr>
            <a:r>
              <a:rPr lang="en-US" altLang="zh-TW" sz="2000">
                <a:sym typeface="Symbol" pitchFamily="2" charset="2"/>
              </a:rPr>
              <a:t>		</a:t>
            </a:r>
            <a:r>
              <a:rPr lang="en-US" altLang="zh-TW" sz="2000" b="1">
                <a:sym typeface="Symbol" pitchFamily="2" charset="2"/>
              </a:rPr>
              <a:t>ename</a:t>
            </a:r>
            <a:r>
              <a:rPr lang="en-US" altLang="zh-TW" sz="2000">
                <a:sym typeface="Symbol" pitchFamily="2" charset="2"/>
              </a:rPr>
              <a:t>:    employee name</a:t>
            </a:r>
          </a:p>
          <a:p>
            <a:pPr eaLnBrk="1" hangingPunct="1">
              <a:buFontTx/>
              <a:buNone/>
            </a:pPr>
            <a:r>
              <a:rPr lang="en-US" altLang="zh-TW" sz="2000">
                <a:sym typeface="Symbol" pitchFamily="2" charset="2"/>
              </a:rPr>
              <a:t>		</a:t>
            </a:r>
            <a:r>
              <a:rPr lang="en-US" altLang="zh-TW" sz="2000" b="1">
                <a:sym typeface="Symbol" pitchFamily="2" charset="2"/>
              </a:rPr>
              <a:t>address</a:t>
            </a:r>
            <a:r>
              <a:rPr lang="en-US" altLang="zh-TW" sz="2000">
                <a:sym typeface="Symbol" pitchFamily="2" charset="2"/>
              </a:rPr>
              <a:t>:  address of the  employee</a:t>
            </a:r>
          </a:p>
          <a:p>
            <a:pPr eaLnBrk="1" hangingPunct="1">
              <a:buFontTx/>
              <a:buNone/>
            </a:pPr>
            <a:r>
              <a:rPr lang="en-US" altLang="zh-TW" sz="2000">
                <a:sym typeface="Symbol" pitchFamily="2" charset="2"/>
              </a:rPr>
              <a:t>		</a:t>
            </a:r>
            <a:r>
              <a:rPr lang="en-US" altLang="zh-TW" sz="2000" b="1">
                <a:sym typeface="Symbol" pitchFamily="2" charset="2"/>
              </a:rPr>
              <a:t>sex</a:t>
            </a:r>
            <a:r>
              <a:rPr lang="en-US" altLang="zh-TW" sz="2000">
                <a:sym typeface="Symbol" pitchFamily="2" charset="2"/>
              </a:rPr>
              <a:t>:	  employee</a:t>
            </a:r>
            <a:r>
              <a:rPr lang="en-US" altLang="zh-TW" sz="2000">
                <a:latin typeface="Arial" panose="020B0604020202020204" pitchFamily="34" charset="0"/>
                <a:sym typeface="Symbol" pitchFamily="2" charset="2"/>
              </a:rPr>
              <a:t>’</a:t>
            </a:r>
            <a:r>
              <a:rPr lang="en-US" altLang="zh-TW" sz="2000">
                <a:sym typeface="Symbol" pitchFamily="2" charset="2"/>
              </a:rPr>
              <a:t>s sex</a:t>
            </a:r>
          </a:p>
          <a:p>
            <a:pPr eaLnBrk="1" hangingPunct="1">
              <a:buFontTx/>
              <a:buNone/>
            </a:pPr>
            <a:r>
              <a:rPr lang="en-US" altLang="zh-TW" sz="2000">
                <a:sym typeface="Symbol" pitchFamily="2" charset="2"/>
              </a:rPr>
              <a:t>		</a:t>
            </a:r>
            <a:r>
              <a:rPr lang="en-US" altLang="zh-TW" sz="2000" b="1">
                <a:sym typeface="Symbol" pitchFamily="2" charset="2"/>
              </a:rPr>
              <a:t>dname</a:t>
            </a:r>
            <a:r>
              <a:rPr lang="en-US" altLang="zh-TW" sz="2000">
                <a:sym typeface="Symbol" pitchFamily="2" charset="2"/>
              </a:rPr>
              <a:t>:    name of the department that the employee works for</a:t>
            </a:r>
          </a:p>
          <a:p>
            <a:pPr eaLnBrk="1" hangingPunct="1">
              <a:buFontTx/>
              <a:buNone/>
            </a:pPr>
            <a:r>
              <a:rPr lang="en-US" altLang="zh-TW" sz="2000" b="1">
                <a:sym typeface="Symbol" pitchFamily="2" charset="2"/>
              </a:rPr>
              <a:t>		dhname</a:t>
            </a:r>
            <a:r>
              <a:rPr lang="en-US" altLang="zh-TW" sz="2000">
                <a:sym typeface="Symbol" pitchFamily="2" charset="2"/>
              </a:rPr>
              <a:t>:  department head</a:t>
            </a:r>
            <a:r>
              <a:rPr lang="en-US" altLang="zh-TW" sz="2000">
                <a:latin typeface="Arial" panose="020B0604020202020204" pitchFamily="34" charset="0"/>
                <a:sym typeface="Symbol" pitchFamily="2" charset="2"/>
              </a:rPr>
              <a:t>’</a:t>
            </a:r>
            <a:r>
              <a:rPr lang="en-US" altLang="zh-TW" sz="2000">
                <a:sym typeface="Symbol" pitchFamily="2" charset="2"/>
              </a:rPr>
              <a:t>s name</a:t>
            </a:r>
          </a:p>
          <a:p>
            <a:pPr eaLnBrk="1" hangingPunct="1">
              <a:buFontTx/>
              <a:buNone/>
            </a:pPr>
            <a:r>
              <a:rPr lang="en-US" altLang="zh-TW" sz="2000">
                <a:sym typeface="Symbol" pitchFamily="2" charset="2"/>
              </a:rPr>
              <a:t>		</a:t>
            </a:r>
            <a:r>
              <a:rPr lang="en-US" altLang="zh-TW" sz="2000" b="1">
                <a:sym typeface="Symbol" pitchFamily="2" charset="2"/>
              </a:rPr>
              <a:t>dhsex</a:t>
            </a:r>
            <a:r>
              <a:rPr lang="en-US" altLang="zh-TW" sz="2000">
                <a:sym typeface="Symbol" pitchFamily="2" charset="2"/>
              </a:rPr>
              <a:t>:      department head</a:t>
            </a:r>
            <a:r>
              <a:rPr lang="en-US" altLang="zh-TW" sz="2000">
                <a:latin typeface="Arial" panose="020B0604020202020204" pitchFamily="34" charset="0"/>
                <a:sym typeface="Symbol" pitchFamily="2" charset="2"/>
              </a:rPr>
              <a:t>’</a:t>
            </a:r>
            <a:r>
              <a:rPr lang="en-US" altLang="zh-TW" sz="2000">
                <a:sym typeface="Symbol" pitchFamily="2" charset="2"/>
              </a:rPr>
              <a:t>s sex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Number Placeholder 3">
            <a:extLst>
              <a:ext uri="{FF2B5EF4-FFF2-40B4-BE49-F238E27FC236}">
                <a16:creationId xmlns:a16="http://schemas.microsoft.com/office/drawing/2014/main" id="{B98149C3-A65F-ED4F-9FBE-19017B7B3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1566CE-469A-384C-A255-675B44E4D27D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TW" sz="1400"/>
          </a:p>
        </p:txBody>
      </p:sp>
      <p:sp>
        <p:nvSpPr>
          <p:cNvPr id="30722" name="Rectangle 2">
            <a:extLst>
              <a:ext uri="{FF2B5EF4-FFF2-40B4-BE49-F238E27FC236}">
                <a16:creationId xmlns:a16="http://schemas.microsoft.com/office/drawing/2014/main" id="{CE1099AF-03BA-8B4D-89FB-E917FF81D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219200"/>
            <a:ext cx="853440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800">
                <a:sym typeface="Symbol" pitchFamily="2" charset="2"/>
              </a:rPr>
              <a:t>Let</a:t>
            </a:r>
            <a:r>
              <a:rPr lang="en-US" altLang="zh-TW" sz="2800">
                <a:latin typeface="Arial" panose="020B0604020202020204" pitchFamily="34" charset="0"/>
                <a:sym typeface="Symbol" pitchFamily="2" charset="2"/>
              </a:rPr>
              <a:t>’</a:t>
            </a:r>
            <a:r>
              <a:rPr lang="en-US" altLang="zh-TW" sz="2800">
                <a:sym typeface="Symbol" pitchFamily="2" charset="2"/>
              </a:rPr>
              <a:t>s construct a relation schema as follows: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80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80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800">
                <a:sym typeface="Symbol" pitchFamily="2" charset="2"/>
              </a:rPr>
              <a:t>Which of the following dependencies are true?</a:t>
            </a:r>
          </a:p>
          <a:p>
            <a:pPr lvl="1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zh-TW" sz="2400">
                <a:sym typeface="Symbol" pitchFamily="2" charset="2"/>
              </a:rPr>
              <a:t>eid  ename</a:t>
            </a:r>
          </a:p>
          <a:p>
            <a:pPr lvl="1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zh-TW" sz="2400">
                <a:sym typeface="Symbol" pitchFamily="2" charset="2"/>
              </a:rPr>
              <a:t>ename  eid</a:t>
            </a:r>
          </a:p>
          <a:p>
            <a:pPr lvl="1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zh-TW" sz="2400">
                <a:sym typeface="Symbol" pitchFamily="2" charset="2"/>
              </a:rPr>
              <a:t>eid  address</a:t>
            </a:r>
          </a:p>
          <a:p>
            <a:pPr lvl="1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zh-TW" sz="2400">
                <a:sym typeface="Symbol" pitchFamily="2" charset="2"/>
              </a:rPr>
              <a:t>eid  sex</a:t>
            </a:r>
          </a:p>
          <a:p>
            <a:pPr lvl="1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zh-TW" sz="2400">
                <a:sym typeface="Symbol" pitchFamily="2" charset="2"/>
              </a:rPr>
              <a:t>sex  address</a:t>
            </a:r>
          </a:p>
          <a:p>
            <a:pPr lvl="1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zh-TW" sz="2400">
                <a:sym typeface="Symbol" pitchFamily="2" charset="2"/>
              </a:rPr>
              <a:t>dhname  dname</a:t>
            </a:r>
          </a:p>
          <a:p>
            <a:pPr lvl="1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zh-TW" sz="2400">
                <a:sym typeface="Symbol" pitchFamily="2" charset="2"/>
              </a:rPr>
              <a:t>dhname  eid</a:t>
            </a:r>
          </a:p>
          <a:p>
            <a:pPr lvl="1" eaLnBrk="1" hangingPunct="1">
              <a:lnSpc>
                <a:spcPct val="90000"/>
              </a:lnSpc>
              <a:buFontTx/>
              <a:buAutoNum type="arabicPeriod"/>
            </a:pPr>
            <a:r>
              <a:rPr lang="en-US" altLang="zh-TW" sz="2400">
                <a:sym typeface="Symbol" pitchFamily="2" charset="2"/>
              </a:rPr>
              <a:t>dhsex  sex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F6ED379F-8189-C74B-B4FE-4E28B65BAB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3276600"/>
            <a:ext cx="4495800" cy="2238375"/>
          </a:xfrm>
          <a:prstGeom prst="rect">
            <a:avLst/>
          </a:prstGeom>
          <a:solidFill>
            <a:srgbClr val="CCECFF">
              <a:alpha val="50195"/>
            </a:srgbClr>
          </a:solidFill>
          <a:ln w="12700">
            <a:solidFill>
              <a:srgbClr val="660066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663300"/>
              </a:buClr>
              <a:buFontTx/>
              <a:buNone/>
            </a:pP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 Given</a:t>
            </a:r>
          </a:p>
          <a:p>
            <a:pPr eaLnBrk="1" hangingPunct="1">
              <a:spcBef>
                <a:spcPct val="50000"/>
              </a:spcBef>
              <a:buClr>
                <a:srgbClr val="663300"/>
              </a:buClr>
              <a:buFontTx/>
              <a:buNone/>
            </a:pP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  </a:t>
            </a:r>
            <a:r>
              <a:rPr kumimoji="0" lang="en-US" altLang="zh-TW" sz="2000">
                <a:solidFill>
                  <a:srgbClr val="660066"/>
                </a:solidFill>
                <a:latin typeface="Perpetua" panose="02020502060401020303" pitchFamily="18" charset="77"/>
                <a:sym typeface="Symbol" pitchFamily="2" charset="2"/>
              </a:rPr>
              <a:t>a:Employee’s id number is unique</a:t>
            </a:r>
          </a:p>
          <a:p>
            <a:pPr eaLnBrk="1" hangingPunct="1">
              <a:spcBef>
                <a:spcPct val="50000"/>
              </a:spcBef>
              <a:buClr>
                <a:srgbClr val="663300"/>
              </a:buClr>
              <a:buFontTx/>
              <a:buNone/>
            </a:pPr>
            <a:r>
              <a:rPr kumimoji="0" lang="en-US" altLang="zh-TW" sz="2000">
                <a:solidFill>
                  <a:srgbClr val="660066"/>
                </a:solidFill>
                <a:latin typeface="Perpetua" panose="02020502060401020303" pitchFamily="18" charset="77"/>
                <a:sym typeface="Symbol" pitchFamily="2" charset="2"/>
              </a:rPr>
              <a:t>   b:Each employee works for only one dept.</a:t>
            </a:r>
          </a:p>
          <a:p>
            <a:pPr eaLnBrk="1" hangingPunct="1">
              <a:spcBef>
                <a:spcPct val="50000"/>
              </a:spcBef>
              <a:buClr>
                <a:srgbClr val="663300"/>
              </a:buClr>
              <a:buFontTx/>
              <a:buNone/>
            </a:pPr>
            <a:r>
              <a:rPr kumimoji="0" lang="en-US" altLang="zh-TW" sz="2000">
                <a:solidFill>
                  <a:srgbClr val="660066"/>
                </a:solidFill>
                <a:latin typeface="Perpetua" panose="02020502060401020303" pitchFamily="18" charset="77"/>
                <a:sym typeface="Symbol" pitchFamily="2" charset="2"/>
              </a:rPr>
              <a:t>   c:Each department has only one head</a:t>
            </a:r>
          </a:p>
          <a:p>
            <a:pPr eaLnBrk="1" hangingPunct="1">
              <a:spcBef>
                <a:spcPct val="50000"/>
              </a:spcBef>
              <a:buClr>
                <a:srgbClr val="663300"/>
              </a:buClr>
              <a:buFontTx/>
              <a:buNone/>
            </a:pPr>
            <a:r>
              <a:rPr kumimoji="0" lang="en-US" altLang="zh-TW" sz="2000">
                <a:solidFill>
                  <a:srgbClr val="660066"/>
                </a:solidFill>
                <a:latin typeface="Perpetua" panose="02020502060401020303" pitchFamily="18" charset="77"/>
                <a:sym typeface="Symbol" pitchFamily="2" charset="2"/>
              </a:rPr>
              <a:t>    Implicit: common sense</a:t>
            </a:r>
          </a:p>
        </p:txBody>
      </p:sp>
      <p:sp>
        <p:nvSpPr>
          <p:cNvPr id="17412" name="Text Box 4">
            <a:extLst>
              <a:ext uri="{FF2B5EF4-FFF2-40B4-BE49-F238E27FC236}">
                <a16:creationId xmlns:a16="http://schemas.microsoft.com/office/drawing/2014/main" id="{1AA1433C-3DC4-8748-897C-7784D17134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" y="3108325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CC0000"/>
                </a:solidFill>
                <a:sym typeface="Symbol" pitchFamily="2" charset="2"/>
              </a:rPr>
              <a:t></a:t>
            </a:r>
            <a:endParaRPr lang="en-US" altLang="en-US" sz="2000">
              <a:solidFill>
                <a:srgbClr val="CC0000"/>
              </a:solidFill>
            </a:endParaRPr>
          </a:p>
        </p:txBody>
      </p:sp>
      <p:sp>
        <p:nvSpPr>
          <p:cNvPr id="17413" name="Text Box 5">
            <a:extLst>
              <a:ext uri="{FF2B5EF4-FFF2-40B4-BE49-F238E27FC236}">
                <a16:creationId xmlns:a16="http://schemas.microsoft.com/office/drawing/2014/main" id="{5B275698-A8F5-174E-84DD-46A166B29A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" y="3440113"/>
            <a:ext cx="350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sym typeface="Symbol" pitchFamily="2" charset="2"/>
              </a:rPr>
              <a:t></a:t>
            </a:r>
            <a:endParaRPr lang="en-US" altLang="en-US" sz="2400">
              <a:solidFill>
                <a:srgbClr val="CC0000"/>
              </a:solidFill>
            </a:endParaRPr>
          </a:p>
        </p:txBody>
      </p:sp>
      <p:sp>
        <p:nvSpPr>
          <p:cNvPr id="17414" name="Text Box 6">
            <a:extLst>
              <a:ext uri="{FF2B5EF4-FFF2-40B4-BE49-F238E27FC236}">
                <a16:creationId xmlns:a16="http://schemas.microsoft.com/office/drawing/2014/main" id="{FA598B9D-CC22-D244-8889-E233A4AA03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" y="3886200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CC0000"/>
                </a:solidFill>
                <a:sym typeface="Symbol" pitchFamily="2" charset="2"/>
              </a:rPr>
              <a:t></a:t>
            </a:r>
            <a:endParaRPr lang="en-US" altLang="en-US" sz="2000">
              <a:solidFill>
                <a:srgbClr val="CC0000"/>
              </a:solidFill>
            </a:endParaRPr>
          </a:p>
        </p:txBody>
      </p:sp>
      <p:sp>
        <p:nvSpPr>
          <p:cNvPr id="17415" name="Text Box 7">
            <a:extLst>
              <a:ext uri="{FF2B5EF4-FFF2-40B4-BE49-F238E27FC236}">
                <a16:creationId xmlns:a16="http://schemas.microsoft.com/office/drawing/2014/main" id="{1ACD0F29-39A2-7E49-B683-204EFC4B7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" y="4327525"/>
            <a:ext cx="3238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CC0000"/>
                </a:solidFill>
                <a:sym typeface="Symbol" pitchFamily="2" charset="2"/>
              </a:rPr>
              <a:t></a:t>
            </a:r>
            <a:endParaRPr lang="en-US" altLang="en-US" sz="2000">
              <a:solidFill>
                <a:srgbClr val="CC0000"/>
              </a:solidFill>
            </a:endParaRPr>
          </a:p>
        </p:txBody>
      </p:sp>
      <p:sp>
        <p:nvSpPr>
          <p:cNvPr id="17416" name="Text Box 8">
            <a:extLst>
              <a:ext uri="{FF2B5EF4-FFF2-40B4-BE49-F238E27FC236}">
                <a16:creationId xmlns:a16="http://schemas.microsoft.com/office/drawing/2014/main" id="{4CBD6EBB-9BDE-0F4A-96C2-12C68FD12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4659313"/>
            <a:ext cx="350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sym typeface="Symbol" pitchFamily="2" charset="2"/>
              </a:rPr>
              <a:t></a:t>
            </a:r>
            <a:endParaRPr lang="en-US" altLang="en-US" sz="2400">
              <a:solidFill>
                <a:srgbClr val="CC0000"/>
              </a:solidFill>
            </a:endParaRPr>
          </a:p>
        </p:txBody>
      </p:sp>
      <p:sp>
        <p:nvSpPr>
          <p:cNvPr id="17417" name="Text Box 9">
            <a:extLst>
              <a:ext uri="{FF2B5EF4-FFF2-40B4-BE49-F238E27FC236}">
                <a16:creationId xmlns:a16="http://schemas.microsoft.com/office/drawing/2014/main" id="{8A621A6B-5BBF-4243-83A1-FBEC281D2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" y="5116513"/>
            <a:ext cx="350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sym typeface="Symbol" pitchFamily="2" charset="2"/>
              </a:rPr>
              <a:t></a:t>
            </a:r>
          </a:p>
        </p:txBody>
      </p:sp>
      <p:sp>
        <p:nvSpPr>
          <p:cNvPr id="17418" name="Text Box 10">
            <a:extLst>
              <a:ext uri="{FF2B5EF4-FFF2-40B4-BE49-F238E27FC236}">
                <a16:creationId xmlns:a16="http://schemas.microsoft.com/office/drawing/2014/main" id="{6906E66E-BC50-1248-859C-9ACC34BA6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410200"/>
            <a:ext cx="350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sym typeface="Symbol" pitchFamily="2" charset="2"/>
              </a:rPr>
              <a:t></a:t>
            </a:r>
            <a:endParaRPr lang="en-US" altLang="en-US" sz="2400">
              <a:solidFill>
                <a:srgbClr val="CC0000"/>
              </a:solidFill>
            </a:endParaRPr>
          </a:p>
        </p:txBody>
      </p:sp>
      <p:sp>
        <p:nvSpPr>
          <p:cNvPr id="17419" name="Text Box 11">
            <a:extLst>
              <a:ext uri="{FF2B5EF4-FFF2-40B4-BE49-F238E27FC236}">
                <a16:creationId xmlns:a16="http://schemas.microsoft.com/office/drawing/2014/main" id="{5A790A52-37BC-DA42-AABE-828FC1704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878513"/>
            <a:ext cx="350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CC0000"/>
                </a:solidFill>
                <a:sym typeface="Symbol" pitchFamily="2" charset="2"/>
              </a:rPr>
              <a:t></a:t>
            </a:r>
            <a:endParaRPr lang="en-US" altLang="en-US" sz="2400">
              <a:solidFill>
                <a:srgbClr val="CC0000"/>
              </a:solidFill>
            </a:endParaRPr>
          </a:p>
        </p:txBody>
      </p:sp>
      <p:sp>
        <p:nvSpPr>
          <p:cNvPr id="30732" name="Text Box 12">
            <a:extLst>
              <a:ext uri="{FF2B5EF4-FFF2-40B4-BE49-F238E27FC236}">
                <a16:creationId xmlns:a16="http://schemas.microsoft.com/office/drawing/2014/main" id="{F80BB3EA-E6E2-C947-B2C7-2F4567ED0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463" y="1905000"/>
            <a:ext cx="1541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Employee</a:t>
            </a:r>
          </a:p>
        </p:txBody>
      </p:sp>
      <p:sp>
        <p:nvSpPr>
          <p:cNvPr id="30733" name="Rectangle 13">
            <a:extLst>
              <a:ext uri="{FF2B5EF4-FFF2-40B4-BE49-F238E27FC236}">
                <a16:creationId xmlns:a16="http://schemas.microsoft.com/office/drawing/2014/main" id="{BB0F3456-585B-BC45-A25E-2969865F7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1981200"/>
            <a:ext cx="609600" cy="381000"/>
          </a:xfrm>
          <a:prstGeom prst="rect">
            <a:avLst/>
          </a:prstGeom>
          <a:solidFill>
            <a:srgbClr val="D9B38D">
              <a:alpha val="39999"/>
            </a:srgb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800">
                <a:latin typeface="Arial" panose="020B0604020202020204" pitchFamily="34" charset="0"/>
              </a:rPr>
              <a:t>eid</a:t>
            </a:r>
          </a:p>
        </p:txBody>
      </p:sp>
      <p:sp>
        <p:nvSpPr>
          <p:cNvPr id="30734" name="Rectangle 14">
            <a:extLst>
              <a:ext uri="{FF2B5EF4-FFF2-40B4-BE49-F238E27FC236}">
                <a16:creationId xmlns:a16="http://schemas.microsoft.com/office/drawing/2014/main" id="{49F77873-5F05-DC4C-9D0A-62EC9FE874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5263" y="1981200"/>
            <a:ext cx="990600" cy="381000"/>
          </a:xfrm>
          <a:prstGeom prst="rect">
            <a:avLst/>
          </a:prstGeom>
          <a:solidFill>
            <a:srgbClr val="D9B38D">
              <a:alpha val="39999"/>
            </a:srgb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800">
                <a:latin typeface="Arial" panose="020B0604020202020204" pitchFamily="34" charset="0"/>
              </a:rPr>
              <a:t>ename</a:t>
            </a:r>
          </a:p>
        </p:txBody>
      </p:sp>
      <p:sp>
        <p:nvSpPr>
          <p:cNvPr id="30735" name="Rectangle 15">
            <a:extLst>
              <a:ext uri="{FF2B5EF4-FFF2-40B4-BE49-F238E27FC236}">
                <a16:creationId xmlns:a16="http://schemas.microsoft.com/office/drawing/2014/main" id="{3B428E6D-3ACE-2B49-A22C-4292F2E70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1981200"/>
            <a:ext cx="990600" cy="381000"/>
          </a:xfrm>
          <a:prstGeom prst="rect">
            <a:avLst/>
          </a:prstGeom>
          <a:solidFill>
            <a:srgbClr val="D9B38D">
              <a:alpha val="39999"/>
            </a:srgb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800">
                <a:latin typeface="Arial" panose="020B0604020202020204" pitchFamily="34" charset="0"/>
              </a:rPr>
              <a:t>address</a:t>
            </a:r>
          </a:p>
        </p:txBody>
      </p:sp>
      <p:sp>
        <p:nvSpPr>
          <p:cNvPr id="30736" name="Rectangle 16">
            <a:extLst>
              <a:ext uri="{FF2B5EF4-FFF2-40B4-BE49-F238E27FC236}">
                <a16:creationId xmlns:a16="http://schemas.microsoft.com/office/drawing/2014/main" id="{A445843B-16E4-DC45-9038-FECEC7C6E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981200"/>
            <a:ext cx="609600" cy="381000"/>
          </a:xfrm>
          <a:prstGeom prst="rect">
            <a:avLst/>
          </a:prstGeom>
          <a:solidFill>
            <a:srgbClr val="D9B38D">
              <a:alpha val="39999"/>
            </a:srgb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800">
                <a:latin typeface="Arial" panose="020B0604020202020204" pitchFamily="34" charset="0"/>
              </a:rPr>
              <a:t>sex</a:t>
            </a:r>
          </a:p>
        </p:txBody>
      </p:sp>
      <p:sp>
        <p:nvSpPr>
          <p:cNvPr id="30737" name="Rectangle 17">
            <a:extLst>
              <a:ext uri="{FF2B5EF4-FFF2-40B4-BE49-F238E27FC236}">
                <a16:creationId xmlns:a16="http://schemas.microsoft.com/office/drawing/2014/main" id="{ED305FA6-BA97-5B49-8D62-A0D941150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1981200"/>
            <a:ext cx="990600" cy="381000"/>
          </a:xfrm>
          <a:prstGeom prst="rect">
            <a:avLst/>
          </a:prstGeom>
          <a:solidFill>
            <a:srgbClr val="D9B38D">
              <a:alpha val="39999"/>
            </a:srgb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800">
                <a:latin typeface="Arial" panose="020B0604020202020204" pitchFamily="34" charset="0"/>
              </a:rPr>
              <a:t>dname</a:t>
            </a:r>
          </a:p>
        </p:txBody>
      </p:sp>
      <p:sp>
        <p:nvSpPr>
          <p:cNvPr id="30738" name="Rectangle 18">
            <a:extLst>
              <a:ext uri="{FF2B5EF4-FFF2-40B4-BE49-F238E27FC236}">
                <a16:creationId xmlns:a16="http://schemas.microsoft.com/office/drawing/2014/main" id="{BAC78D05-B379-F248-81BB-59AA6EB46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1981200"/>
            <a:ext cx="990600" cy="381000"/>
          </a:xfrm>
          <a:prstGeom prst="rect">
            <a:avLst/>
          </a:prstGeom>
          <a:solidFill>
            <a:srgbClr val="D9B38D">
              <a:alpha val="39999"/>
            </a:srgb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800">
                <a:latin typeface="Arial" panose="020B0604020202020204" pitchFamily="34" charset="0"/>
              </a:rPr>
              <a:t>dhname</a:t>
            </a:r>
          </a:p>
        </p:txBody>
      </p:sp>
      <p:sp>
        <p:nvSpPr>
          <p:cNvPr id="30739" name="Rectangle 19">
            <a:extLst>
              <a:ext uri="{FF2B5EF4-FFF2-40B4-BE49-F238E27FC236}">
                <a16:creationId xmlns:a16="http://schemas.microsoft.com/office/drawing/2014/main" id="{DFFB2C3E-380F-254B-B563-B35BD2E76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0" y="1981200"/>
            <a:ext cx="990600" cy="381000"/>
          </a:xfrm>
          <a:prstGeom prst="rect">
            <a:avLst/>
          </a:prstGeom>
          <a:solidFill>
            <a:srgbClr val="D9B38D">
              <a:alpha val="39999"/>
            </a:srgbClr>
          </a:solidFill>
          <a:ln w="127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1800">
                <a:latin typeface="Arial" panose="020B0604020202020204" pitchFamily="34" charset="0"/>
              </a:rPr>
              <a:t>dhsex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7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7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7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autoUpdateAnimBg="0"/>
      <p:bldP spid="17413" grpId="0" autoUpdateAnimBg="0"/>
      <p:bldP spid="17414" grpId="0" autoUpdateAnimBg="0"/>
      <p:bldP spid="17415" grpId="0" autoUpdateAnimBg="0"/>
      <p:bldP spid="17416" grpId="0" autoUpdateAnimBg="0"/>
      <p:bldP spid="17417" grpId="0" autoUpdateAnimBg="0"/>
      <p:bldP spid="17418" grpId="0" autoUpdateAnimBg="0"/>
      <p:bldP spid="17419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Number Placeholder 3">
            <a:extLst>
              <a:ext uri="{FF2B5EF4-FFF2-40B4-BE49-F238E27FC236}">
                <a16:creationId xmlns:a16="http://schemas.microsoft.com/office/drawing/2014/main" id="{48D22F2F-C725-B44D-A9BD-DCACF3AF8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5D809C-D004-0E45-B777-8426DAB41ADC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TW" sz="1400"/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E2447464-7CF7-EC43-9E65-22972981D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0"/>
            <a:ext cx="83820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000">
                <a:sym typeface="Symbol" pitchFamily="2" charset="2"/>
              </a:rPr>
              <a:t>F </a:t>
            </a:r>
            <a:r>
              <a:rPr lang="en-US" altLang="zh-TW" sz="2000">
                <a:latin typeface="Arial" panose="020B0604020202020204" pitchFamily="34" charset="0"/>
                <a:sym typeface="Symbol" pitchFamily="2" charset="2"/>
              </a:rPr>
              <a:t>–</a:t>
            </a:r>
            <a:r>
              <a:rPr lang="en-US" altLang="zh-TW" sz="2000">
                <a:sym typeface="Symbol" pitchFamily="2" charset="2"/>
              </a:rPr>
              <a:t> a set of functional dependencies</a:t>
            </a:r>
          </a:p>
          <a:p>
            <a:pPr eaLnBrk="1" hangingPunct="1">
              <a:buFontTx/>
              <a:buNone/>
            </a:pPr>
            <a:r>
              <a:rPr lang="en-US" altLang="zh-TW" sz="2000">
                <a:sym typeface="Symbol" pitchFamily="2" charset="2"/>
              </a:rPr>
              <a:t>f  </a:t>
            </a:r>
            <a:r>
              <a:rPr lang="en-US" altLang="zh-TW" sz="2000">
                <a:latin typeface="Arial" panose="020B0604020202020204" pitchFamily="34" charset="0"/>
                <a:sym typeface="Symbol" pitchFamily="2" charset="2"/>
              </a:rPr>
              <a:t>–</a:t>
            </a:r>
            <a:r>
              <a:rPr lang="en-US" altLang="zh-TW" sz="2000">
                <a:sym typeface="Symbol" pitchFamily="2" charset="2"/>
              </a:rPr>
              <a:t> an individual functional dependency</a:t>
            </a:r>
          </a:p>
          <a:p>
            <a:pPr eaLnBrk="1" hangingPunct="1">
              <a:buFontTx/>
              <a:buNone/>
            </a:pPr>
            <a:endParaRPr lang="en-US" altLang="zh-TW" sz="2000">
              <a:solidFill>
                <a:srgbClr val="A50021"/>
              </a:solidFill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000">
                <a:solidFill>
                  <a:srgbClr val="A50021"/>
                </a:solidFill>
                <a:sym typeface="Symbol" pitchFamily="2" charset="2"/>
              </a:rPr>
              <a:t>f </a:t>
            </a:r>
            <a:r>
              <a:rPr lang="en-US" altLang="zh-TW" sz="2000" b="1">
                <a:solidFill>
                  <a:srgbClr val="A50021"/>
                </a:solidFill>
                <a:sym typeface="Symbol" pitchFamily="2" charset="2"/>
              </a:rPr>
              <a:t>is implied </a:t>
            </a:r>
            <a:r>
              <a:rPr lang="en-US" altLang="zh-TW" sz="2000">
                <a:solidFill>
                  <a:srgbClr val="A50021"/>
                </a:solidFill>
                <a:sym typeface="Symbol" pitchFamily="2" charset="2"/>
              </a:rPr>
              <a:t>by F</a:t>
            </a:r>
            <a:r>
              <a:rPr lang="en-US" altLang="zh-TW" sz="2000">
                <a:sym typeface="Symbol" pitchFamily="2" charset="2"/>
              </a:rPr>
              <a:t> if whenever all functional dependencies in F are true,</a:t>
            </a:r>
          </a:p>
          <a:p>
            <a:pPr eaLnBrk="1" hangingPunct="1">
              <a:buFontTx/>
              <a:buNone/>
            </a:pPr>
            <a:r>
              <a:rPr lang="en-US" altLang="zh-TW" sz="2000">
                <a:sym typeface="Symbol" pitchFamily="2" charset="2"/>
              </a:rPr>
              <a:t>      then f is true.</a:t>
            </a:r>
          </a:p>
          <a:p>
            <a:pPr eaLnBrk="1" hangingPunct="1">
              <a:buFontTx/>
              <a:buNone/>
            </a:pPr>
            <a:endParaRPr lang="en-US" altLang="zh-TW" sz="2000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000">
                <a:sym typeface="Symbol" pitchFamily="2" charset="2"/>
              </a:rPr>
              <a:t>For example,</a:t>
            </a:r>
          </a:p>
          <a:p>
            <a:pPr eaLnBrk="1" hangingPunct="1">
              <a:buFontTx/>
              <a:buNone/>
            </a:pPr>
            <a:r>
              <a:rPr lang="en-US" altLang="zh-TW" sz="2000">
                <a:sym typeface="Symbol" pitchFamily="2" charset="2"/>
              </a:rPr>
              <a:t>Consider Workers(id, name, office, did, since)</a:t>
            </a:r>
          </a:p>
          <a:p>
            <a:pPr eaLnBrk="1" hangingPunct="1">
              <a:buFontTx/>
              <a:buNone/>
            </a:pPr>
            <a:endParaRPr lang="en-US" altLang="zh-TW" sz="2000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000">
                <a:sym typeface="Symbol" pitchFamily="2" charset="2"/>
              </a:rPr>
              <a:t>{	id    did,</a:t>
            </a:r>
          </a:p>
          <a:p>
            <a:pPr eaLnBrk="1" hangingPunct="1">
              <a:buFontTx/>
              <a:buNone/>
            </a:pPr>
            <a:r>
              <a:rPr lang="en-US" altLang="zh-TW" sz="2000">
                <a:sym typeface="Symbol" pitchFamily="2" charset="2"/>
              </a:rPr>
              <a:t>	did  office }</a:t>
            </a:r>
          </a:p>
          <a:p>
            <a:pPr eaLnBrk="1" hangingPunct="1">
              <a:buFontTx/>
              <a:buNone/>
            </a:pPr>
            <a:r>
              <a:rPr lang="en-US" altLang="zh-TW" sz="2000" b="1">
                <a:sym typeface="Symbol" pitchFamily="2" charset="2"/>
              </a:rPr>
              <a:t>implies</a:t>
            </a:r>
            <a:r>
              <a:rPr lang="en-US" altLang="zh-TW" sz="2000">
                <a:sym typeface="Symbol" pitchFamily="2" charset="2"/>
              </a:rPr>
              <a:t>:</a:t>
            </a:r>
          </a:p>
          <a:p>
            <a:pPr eaLnBrk="1" hangingPunct="1">
              <a:buFontTx/>
              <a:buNone/>
            </a:pPr>
            <a:r>
              <a:rPr lang="en-US" altLang="zh-TW" sz="2000">
                <a:sym typeface="Symbol" pitchFamily="2" charset="2"/>
              </a:rPr>
              <a:t>     id  office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DC69B2D6-10CD-C14E-A2CF-B2661A78B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82296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Reasoning about FDs</a:t>
            </a:r>
            <a:endParaRPr lang="en-US" altLang="zh-TW" sz="4000" b="1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Number Placeholder 5">
            <a:extLst>
              <a:ext uri="{FF2B5EF4-FFF2-40B4-BE49-F238E27FC236}">
                <a16:creationId xmlns:a16="http://schemas.microsoft.com/office/drawing/2014/main" id="{7769D76A-BDB6-0444-B5D1-2E377E7E1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18D160-6D1D-7346-84CF-A33A347DC6A2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TW" sz="1400"/>
          </a:p>
        </p:txBody>
      </p:sp>
      <p:sp>
        <p:nvSpPr>
          <p:cNvPr id="22530" name="Rectangle 2">
            <a:extLst>
              <a:ext uri="{FF2B5EF4-FFF2-40B4-BE49-F238E27FC236}">
                <a16:creationId xmlns:a16="http://schemas.microsoft.com/office/drawing/2014/main" id="{02E764D4-F44C-754D-AF47-BDF016A00D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Closure of a set of FDs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2F5FC0BD-67DF-EF41-A30F-C2BA5098C3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800"/>
              <a:t>The set of all FDs implied by a given set F of FDs is called the </a:t>
            </a:r>
            <a:r>
              <a:rPr lang="en-US" altLang="zh-TW" sz="2800">
                <a:solidFill>
                  <a:srgbClr val="000099"/>
                </a:solidFill>
              </a:rPr>
              <a:t>closure of F</a:t>
            </a:r>
            <a:r>
              <a:rPr lang="en-US" altLang="zh-TW" sz="2800"/>
              <a:t>, denoted as </a:t>
            </a:r>
            <a:r>
              <a:rPr lang="en-US" altLang="zh-TW" sz="2800">
                <a:solidFill>
                  <a:srgbClr val="000099"/>
                </a:solidFill>
              </a:rPr>
              <a:t>F</a:t>
            </a:r>
            <a:r>
              <a:rPr kumimoji="0" lang="en-US" altLang="zh-TW" sz="2000" baseline="300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 </a:t>
            </a:r>
            <a:r>
              <a:rPr kumimoji="0" lang="en-US" altLang="zh-TW" sz="2000" baseline="500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+</a:t>
            </a: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 </a:t>
            </a:r>
            <a:r>
              <a:rPr lang="en-US" altLang="zh-TW" sz="2800"/>
              <a:t>.</a:t>
            </a:r>
          </a:p>
          <a:p>
            <a:pPr eaLnBrk="1" hangingPunct="1"/>
            <a:r>
              <a:rPr lang="en-US" altLang="zh-TW" sz="2800">
                <a:solidFill>
                  <a:srgbClr val="000099"/>
                </a:solidFill>
              </a:rPr>
              <a:t>Armstrong’s Axioms</a:t>
            </a:r>
            <a:r>
              <a:rPr lang="en-US" altLang="zh-TW" sz="2800"/>
              <a:t>, can be applied repeatedly to infer all FDs implied by a set of FDs.</a:t>
            </a:r>
          </a:p>
          <a:p>
            <a:pPr eaLnBrk="1" hangingPunct="1"/>
            <a:endParaRPr kumimoji="0" lang="zh-TW" altLang="en-US" sz="2000">
              <a:latin typeface="Arial" panose="020B0604020202020204" pitchFamily="34" charset="0"/>
              <a:sym typeface="Symbol" pitchFamily="2" charset="2"/>
            </a:endParaRP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E2692612-B378-4A47-AD98-AA06C9BBE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733800"/>
            <a:ext cx="7772400" cy="2419350"/>
          </a:xfrm>
          <a:prstGeom prst="rect">
            <a:avLst/>
          </a:prstGeom>
          <a:solidFill>
            <a:srgbClr val="FFFFCC">
              <a:alpha val="50195"/>
            </a:srgbClr>
          </a:solidFill>
          <a:ln w="12700">
            <a:solidFill>
              <a:srgbClr val="00808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000" dirty="0">
                <a:latin typeface="Arial" panose="020B0604020202020204" pitchFamily="34" charset="0"/>
                <a:sym typeface="Symbol" pitchFamily="2" charset="2"/>
              </a:rPr>
              <a:t>Suppose X,Y, and Z are sets of attributes over a relation.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000" u="sng" dirty="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Armstrong’s Axioms</a:t>
            </a:r>
          </a:p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Char char="Ø"/>
            </a:pPr>
            <a:r>
              <a:rPr kumimoji="0" lang="en-US" altLang="zh-TW" sz="2000" dirty="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Reflexivity</a:t>
            </a:r>
            <a:r>
              <a:rPr kumimoji="0" lang="en-US" altLang="zh-TW" sz="2000" dirty="0">
                <a:latin typeface="Arial" panose="020B0604020202020204" pitchFamily="34" charset="0"/>
                <a:sym typeface="Symbol" pitchFamily="2" charset="2"/>
              </a:rPr>
              <a:t>:          if </a:t>
            </a:r>
            <a:r>
              <a:rPr kumimoji="0" lang="en-US" altLang="zh-TW" sz="2000" i="1" dirty="0">
                <a:latin typeface="Arial" panose="020B0604020202020204" pitchFamily="34" charset="0"/>
                <a:sym typeface="Symbol" pitchFamily="2" charset="2"/>
              </a:rPr>
              <a:t>Y</a:t>
            </a:r>
            <a:r>
              <a:rPr kumimoji="0" lang="en-US" altLang="zh-TW" sz="2000" dirty="0">
                <a:latin typeface="Arial" panose="020B0604020202020204" pitchFamily="34" charset="0"/>
                <a:sym typeface="Symbol" pitchFamily="2" charset="2"/>
              </a:rPr>
              <a:t>  </a:t>
            </a:r>
            <a:r>
              <a:rPr kumimoji="0" lang="en-US" altLang="zh-TW" sz="2000" i="1" dirty="0">
                <a:latin typeface="Arial" panose="020B0604020202020204" pitchFamily="34" charset="0"/>
                <a:sym typeface="Symbol" pitchFamily="2" charset="2"/>
              </a:rPr>
              <a:t>X</a:t>
            </a:r>
            <a:r>
              <a:rPr kumimoji="0" lang="en-US" altLang="zh-TW" sz="2000" dirty="0">
                <a:latin typeface="Arial" panose="020B0604020202020204" pitchFamily="34" charset="0"/>
                <a:sym typeface="Symbol" pitchFamily="2" charset="2"/>
              </a:rPr>
              <a:t>, then </a:t>
            </a:r>
            <a:r>
              <a:rPr kumimoji="0" lang="en-US" altLang="zh-TW" sz="2000" i="1" dirty="0">
                <a:latin typeface="Arial" panose="020B0604020202020204" pitchFamily="34" charset="0"/>
                <a:sym typeface="Symbol" pitchFamily="2" charset="2"/>
              </a:rPr>
              <a:t>X</a:t>
            </a:r>
            <a:r>
              <a:rPr kumimoji="0" lang="en-US" altLang="zh-TW" sz="2000" dirty="0"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000" i="1" dirty="0">
                <a:latin typeface="Arial" panose="020B0604020202020204" pitchFamily="34" charset="0"/>
                <a:sym typeface="Symbol" pitchFamily="2" charset="2"/>
              </a:rPr>
              <a:t>Y      </a:t>
            </a:r>
            <a:r>
              <a:rPr kumimoji="0" lang="en-US" altLang="zh-TW" sz="2000" i="1" dirty="0">
                <a:solidFill>
                  <a:srgbClr val="FF0000"/>
                </a:solidFill>
                <a:latin typeface="Arial" panose="020B0604020202020204" pitchFamily="34" charset="0"/>
                <a:sym typeface="Symbol" pitchFamily="2" charset="2"/>
              </a:rPr>
              <a:t>(trivial dependency)</a:t>
            </a:r>
            <a:endParaRPr kumimoji="0" lang="en-US" altLang="zh-TW" sz="2000" dirty="0">
              <a:solidFill>
                <a:srgbClr val="FF0000"/>
              </a:solidFill>
              <a:latin typeface="Arial" panose="020B0604020202020204" pitchFamily="34" charset="0"/>
              <a:sym typeface="Symbol" pitchFamily="2" charset="2"/>
            </a:endParaRPr>
          </a:p>
          <a:p>
            <a:pPr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Char char="Ø"/>
            </a:pPr>
            <a:r>
              <a:rPr kumimoji="0" lang="en-US" altLang="zh-TW" sz="2000" dirty="0">
                <a:latin typeface="Arial" panose="020B0604020202020204" pitchFamily="34" charset="0"/>
                <a:sym typeface="Symbol" pitchFamily="2" charset="2"/>
              </a:rPr>
              <a:t> </a:t>
            </a:r>
            <a:r>
              <a:rPr kumimoji="0" lang="en-US" altLang="zh-TW" sz="2000" dirty="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Augmentation</a:t>
            </a:r>
            <a:r>
              <a:rPr kumimoji="0" lang="en-US" altLang="zh-TW" sz="2000" dirty="0">
                <a:latin typeface="Arial" panose="020B0604020202020204" pitchFamily="34" charset="0"/>
                <a:sym typeface="Symbol" pitchFamily="2" charset="2"/>
              </a:rPr>
              <a:t>:   if </a:t>
            </a:r>
            <a:r>
              <a:rPr kumimoji="0" lang="en-US" altLang="zh-TW" sz="2000" i="1" dirty="0">
                <a:latin typeface="Arial" panose="020B0604020202020204" pitchFamily="34" charset="0"/>
                <a:sym typeface="Symbol" pitchFamily="2" charset="2"/>
              </a:rPr>
              <a:t>X</a:t>
            </a:r>
            <a:r>
              <a:rPr kumimoji="0" lang="en-US" altLang="zh-TW" sz="2000" dirty="0"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000" i="1" dirty="0">
                <a:latin typeface="Arial" panose="020B0604020202020204" pitchFamily="34" charset="0"/>
                <a:sym typeface="Symbol" pitchFamily="2" charset="2"/>
              </a:rPr>
              <a:t>Y</a:t>
            </a:r>
            <a:r>
              <a:rPr kumimoji="0" lang="en-US" altLang="zh-TW" sz="2000" dirty="0">
                <a:latin typeface="Arial" panose="020B0604020202020204" pitchFamily="34" charset="0"/>
                <a:sym typeface="Symbol" pitchFamily="2" charset="2"/>
              </a:rPr>
              <a:t>, then </a:t>
            </a:r>
            <a:r>
              <a:rPr kumimoji="0" lang="en-US" altLang="zh-TW" sz="2000" i="1" dirty="0">
                <a:latin typeface="Arial" panose="020B0604020202020204" pitchFamily="34" charset="0"/>
                <a:sym typeface="Symbol" pitchFamily="2" charset="2"/>
              </a:rPr>
              <a:t>XZ</a:t>
            </a:r>
            <a:r>
              <a:rPr kumimoji="0" lang="en-US" altLang="zh-TW" sz="2000" dirty="0"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000" i="1" dirty="0">
                <a:latin typeface="Arial" panose="020B0604020202020204" pitchFamily="34" charset="0"/>
                <a:sym typeface="Symbol" pitchFamily="2" charset="2"/>
              </a:rPr>
              <a:t>YZ</a:t>
            </a:r>
            <a:r>
              <a:rPr kumimoji="0" lang="en-US" altLang="zh-TW" sz="2000" dirty="0">
                <a:latin typeface="Arial" panose="020B0604020202020204" pitchFamily="34" charset="0"/>
                <a:sym typeface="Symbol" pitchFamily="2" charset="2"/>
              </a:rPr>
              <a:t> 	</a:t>
            </a:r>
          </a:p>
          <a:p>
            <a:pPr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Char char="Ø"/>
            </a:pPr>
            <a:r>
              <a:rPr kumimoji="0" lang="en-US" altLang="zh-TW" sz="2000" dirty="0">
                <a:latin typeface="Arial" panose="020B0604020202020204" pitchFamily="34" charset="0"/>
                <a:sym typeface="Symbol" pitchFamily="2" charset="2"/>
              </a:rPr>
              <a:t> </a:t>
            </a:r>
            <a:r>
              <a:rPr kumimoji="0" lang="en-US" altLang="zh-TW" sz="2000" dirty="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Transitivity</a:t>
            </a:r>
            <a:r>
              <a:rPr kumimoji="0" lang="en-US" altLang="zh-TW" sz="2000" dirty="0">
                <a:latin typeface="Arial" panose="020B0604020202020204" pitchFamily="34" charset="0"/>
                <a:sym typeface="Symbol" pitchFamily="2" charset="2"/>
              </a:rPr>
              <a:t>:        if </a:t>
            </a:r>
            <a:r>
              <a:rPr kumimoji="0" lang="en-US" altLang="zh-TW" sz="2000" i="1" dirty="0">
                <a:latin typeface="Arial" panose="020B0604020202020204" pitchFamily="34" charset="0"/>
                <a:sym typeface="Symbol" pitchFamily="2" charset="2"/>
              </a:rPr>
              <a:t>X</a:t>
            </a:r>
            <a:r>
              <a:rPr kumimoji="0" lang="en-US" altLang="zh-TW" sz="2000" dirty="0"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000" i="1" dirty="0">
                <a:latin typeface="Arial" panose="020B0604020202020204" pitchFamily="34" charset="0"/>
                <a:sym typeface="Symbol" pitchFamily="2" charset="2"/>
              </a:rPr>
              <a:t>Y  </a:t>
            </a:r>
            <a:r>
              <a:rPr kumimoji="0" lang="en-US" altLang="zh-TW" sz="2000" dirty="0">
                <a:latin typeface="Arial" panose="020B0604020202020204" pitchFamily="34" charset="0"/>
                <a:sym typeface="Symbol" pitchFamily="2" charset="2"/>
              </a:rPr>
              <a:t>and</a:t>
            </a:r>
            <a:r>
              <a:rPr kumimoji="0" lang="en-US" altLang="zh-TW" sz="2000" i="1" dirty="0">
                <a:latin typeface="Arial" panose="020B0604020202020204" pitchFamily="34" charset="0"/>
                <a:sym typeface="Symbol" pitchFamily="2" charset="2"/>
              </a:rPr>
              <a:t> Y</a:t>
            </a:r>
            <a:r>
              <a:rPr kumimoji="0" lang="en-US" altLang="zh-TW" sz="2000" dirty="0"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000" i="1" dirty="0">
                <a:latin typeface="Arial" panose="020B0604020202020204" pitchFamily="34" charset="0"/>
                <a:sym typeface="Symbol" pitchFamily="2" charset="2"/>
              </a:rPr>
              <a:t>Z, </a:t>
            </a:r>
            <a:r>
              <a:rPr kumimoji="0" lang="en-US" altLang="zh-TW" sz="2000" dirty="0">
                <a:latin typeface="Arial" panose="020B0604020202020204" pitchFamily="34" charset="0"/>
                <a:sym typeface="Symbol" pitchFamily="2" charset="2"/>
              </a:rPr>
              <a:t>then</a:t>
            </a:r>
            <a:r>
              <a:rPr kumimoji="0" lang="en-US" altLang="zh-TW" sz="2000" i="1" dirty="0">
                <a:latin typeface="Arial" panose="020B0604020202020204" pitchFamily="34" charset="0"/>
                <a:sym typeface="Symbol" pitchFamily="2" charset="2"/>
              </a:rPr>
              <a:t> X</a:t>
            </a:r>
            <a:r>
              <a:rPr kumimoji="0" lang="en-US" altLang="zh-TW" sz="2000" dirty="0"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000" i="1" dirty="0">
                <a:latin typeface="Arial" panose="020B0604020202020204" pitchFamily="34" charset="0"/>
                <a:sym typeface="Symbol" pitchFamily="2" charset="2"/>
              </a:rPr>
              <a:t>Z	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Number Placeholder 3">
            <a:extLst>
              <a:ext uri="{FF2B5EF4-FFF2-40B4-BE49-F238E27FC236}">
                <a16:creationId xmlns:a16="http://schemas.microsoft.com/office/drawing/2014/main" id="{980E62D0-8741-434B-9A3C-9386CF662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43C62D-A35A-C64F-AE7E-EFA7A98CFE86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TW" sz="1400"/>
          </a:p>
        </p:txBody>
      </p:sp>
      <p:graphicFrame>
        <p:nvGraphicFramePr>
          <p:cNvPr id="33794" name="Object 2">
            <a:extLst>
              <a:ext uri="{FF2B5EF4-FFF2-40B4-BE49-F238E27FC236}">
                <a16:creationId xmlns:a16="http://schemas.microsoft.com/office/drawing/2014/main" id="{6142ACA6-704F-0F48-A6D7-17E89ED62A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09600" y="914400"/>
          <a:ext cx="7391400" cy="140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4597400" imgH="876300" progId="Excel.Sheet.8">
                  <p:embed/>
                </p:oleObj>
              </mc:Choice>
              <mc:Fallback>
                <p:oleObj name="Worksheet" r:id="rId2" imgW="4597400" imgH="876300" progId="Excel.Sheet.8">
                  <p:embed/>
                  <p:pic>
                    <p:nvPicPr>
                      <p:cNvPr id="33794" name="Object 2">
                        <a:extLst>
                          <a:ext uri="{FF2B5EF4-FFF2-40B4-BE49-F238E27FC236}">
                            <a16:creationId xmlns:a16="http://schemas.microsoft.com/office/drawing/2014/main" id="{6142ACA6-704F-0F48-A6D7-17E89ED62A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492" b="-1662"/>
                      <a:stretch>
                        <a:fillRect/>
                      </a:stretch>
                    </p:blipFill>
                    <p:spPr bwMode="auto">
                      <a:xfrm>
                        <a:off x="609600" y="914400"/>
                        <a:ext cx="7391400" cy="1401763"/>
                      </a:xfrm>
                      <a:prstGeom prst="rect">
                        <a:avLst/>
                      </a:prstGeom>
                      <a:solidFill>
                        <a:srgbClr val="FFCC99">
                          <a:alpha val="50195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Rectangle 3">
            <a:extLst>
              <a:ext uri="{FF2B5EF4-FFF2-40B4-BE49-F238E27FC236}">
                <a16:creationId xmlns:a16="http://schemas.microsoft.com/office/drawing/2014/main" id="{110B4957-99B8-C74C-8F83-20E754CE3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38400"/>
            <a:ext cx="1524000" cy="3810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>
                <a:latin typeface="Arial" panose="020B0604020202020204" pitchFamily="34" charset="0"/>
              </a:rPr>
              <a:t>reflexivity</a:t>
            </a:r>
            <a:r>
              <a:rPr kumimoji="0" lang="en-US" altLang="zh-TW" sz="2400"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C5E44D37-3F14-AD47-A500-52F9F88EB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819400"/>
            <a:ext cx="46482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1800">
                <a:sym typeface="Symbol" pitchFamily="2" charset="2"/>
              </a:rPr>
              <a:t>student_ID, student_</a:t>
            </a:r>
            <a:r>
              <a:rPr lang="en-US" altLang="zh-TW" sz="1600">
                <a:sym typeface="Symbol" pitchFamily="2" charset="2"/>
              </a:rPr>
              <a:t>name</a:t>
            </a:r>
            <a:r>
              <a:rPr lang="en-US" altLang="zh-TW" sz="1800">
                <a:sym typeface="Symbol" pitchFamily="2" charset="2"/>
              </a:rPr>
              <a:t>  student_ID</a:t>
            </a:r>
          </a:p>
          <a:p>
            <a:pPr eaLnBrk="1" hangingPunct="1">
              <a:buFontTx/>
              <a:buNone/>
            </a:pPr>
            <a:r>
              <a:rPr lang="en-US" altLang="zh-TW" sz="1800">
                <a:sym typeface="Symbol" pitchFamily="2" charset="2"/>
              </a:rPr>
              <a:t>student_ID, student_name  student_name</a:t>
            </a:r>
          </a:p>
        </p:txBody>
      </p:sp>
      <p:sp>
        <p:nvSpPr>
          <p:cNvPr id="23557" name="Rectangle 5">
            <a:extLst>
              <a:ext uri="{FF2B5EF4-FFF2-40B4-BE49-F238E27FC236}">
                <a16:creationId xmlns:a16="http://schemas.microsoft.com/office/drawing/2014/main" id="{A0C6A2F0-AD80-5B4C-A938-DA0DED89B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581400"/>
            <a:ext cx="1828800" cy="3048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>
                <a:latin typeface="Arial" panose="020B0604020202020204" pitchFamily="34" charset="0"/>
              </a:rPr>
              <a:t>augmentation</a:t>
            </a:r>
            <a:r>
              <a:rPr kumimoji="0" lang="en-US" altLang="zh-TW" sz="2400"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23558" name="Rectangle 6">
            <a:extLst>
              <a:ext uri="{FF2B5EF4-FFF2-40B4-BE49-F238E27FC236}">
                <a16:creationId xmlns:a16="http://schemas.microsoft.com/office/drawing/2014/main" id="{D9161DAC-80EF-E54D-AC20-E4ED86ADE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097338"/>
            <a:ext cx="6019800" cy="703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5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1600">
                <a:latin typeface="Arial" panose="020B0604020202020204" pitchFamily="34" charset="0"/>
                <a:sym typeface="Symbol" pitchFamily="2" charset="2"/>
              </a:rPr>
              <a:t>student_ID  student_name</a:t>
            </a:r>
            <a:endParaRPr kumimoji="0" lang="en-US" altLang="zh-TW" sz="1600">
              <a:solidFill>
                <a:srgbClr val="663300"/>
              </a:solidFill>
              <a:latin typeface="Arial" panose="020B0604020202020204" pitchFamily="34" charset="0"/>
              <a:sym typeface="Symbol" pitchFamily="2" charset="2"/>
            </a:endParaRP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1600">
                <a:solidFill>
                  <a:srgbClr val="663300"/>
                </a:solidFill>
                <a:latin typeface="Arial" panose="020B0604020202020204" pitchFamily="34" charset="0"/>
                <a:sym typeface="Symbol" pitchFamily="2" charset="2"/>
              </a:rPr>
              <a:t>implies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1600">
                <a:latin typeface="Arial" panose="020B0604020202020204" pitchFamily="34" charset="0"/>
                <a:sym typeface="Symbol" pitchFamily="2" charset="2"/>
              </a:rPr>
              <a:t>student_ID, </a:t>
            </a:r>
            <a:r>
              <a:rPr kumimoji="0" lang="en-US" altLang="zh-TW" sz="1600">
                <a:solidFill>
                  <a:srgbClr val="A50021"/>
                </a:solidFill>
                <a:latin typeface="Arial" panose="020B0604020202020204" pitchFamily="34" charset="0"/>
                <a:sym typeface="Symbol" pitchFamily="2" charset="2"/>
              </a:rPr>
              <a:t>course_name</a:t>
            </a:r>
            <a:r>
              <a:rPr kumimoji="0" lang="en-US" altLang="zh-TW" sz="1600">
                <a:latin typeface="Arial" panose="020B0604020202020204" pitchFamily="34" charset="0"/>
                <a:sym typeface="Symbol" pitchFamily="2" charset="2"/>
              </a:rPr>
              <a:t>  student_name, </a:t>
            </a:r>
            <a:r>
              <a:rPr kumimoji="0" lang="en-US" altLang="zh-TW" sz="1600">
                <a:solidFill>
                  <a:srgbClr val="A50021"/>
                </a:solidFill>
                <a:latin typeface="Arial" panose="020B0604020202020204" pitchFamily="34" charset="0"/>
                <a:sym typeface="Symbol" pitchFamily="2" charset="2"/>
              </a:rPr>
              <a:t>course_name</a:t>
            </a:r>
          </a:p>
        </p:txBody>
      </p:sp>
      <p:sp>
        <p:nvSpPr>
          <p:cNvPr id="23559" name="Rectangle 7">
            <a:extLst>
              <a:ext uri="{FF2B5EF4-FFF2-40B4-BE49-F238E27FC236}">
                <a16:creationId xmlns:a16="http://schemas.microsoft.com/office/drawing/2014/main" id="{D9F1F9BE-5436-FF4F-97D6-B16BF17E0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5029200"/>
            <a:ext cx="1447800" cy="3048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>
                <a:latin typeface="Arial" panose="020B0604020202020204" pitchFamily="34" charset="0"/>
              </a:rPr>
              <a:t>transitivity</a:t>
            </a:r>
            <a:r>
              <a:rPr kumimoji="0" lang="en-US" altLang="zh-TW" sz="2400">
                <a:latin typeface="Arial" panose="020B0604020202020204" pitchFamily="34" charset="0"/>
              </a:rPr>
              <a:t>:</a:t>
            </a:r>
          </a:p>
        </p:txBody>
      </p:sp>
      <p:sp>
        <p:nvSpPr>
          <p:cNvPr id="23560" name="Rectangle 8">
            <a:extLst>
              <a:ext uri="{FF2B5EF4-FFF2-40B4-BE49-F238E27FC236}">
                <a16:creationId xmlns:a16="http://schemas.microsoft.com/office/drawing/2014/main" id="{612AEF4E-0161-CD4E-9B69-5FDBD4ACE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5462588"/>
            <a:ext cx="6858000" cy="557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7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1600">
                <a:latin typeface="Arial" panose="020B0604020202020204" pitchFamily="34" charset="0"/>
                <a:sym typeface="Symbol" pitchFamily="2" charset="2"/>
              </a:rPr>
              <a:t>course_ID  </a:t>
            </a:r>
            <a:r>
              <a:rPr kumimoji="0" lang="en-US" altLang="zh-TW" sz="16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course_name</a:t>
            </a:r>
            <a:r>
              <a:rPr kumimoji="0" lang="en-US" altLang="zh-TW" sz="1600">
                <a:latin typeface="Arial" panose="020B0604020202020204" pitchFamily="34" charset="0"/>
                <a:sym typeface="Symbol" pitchFamily="2" charset="2"/>
              </a:rPr>
              <a:t> </a:t>
            </a:r>
            <a:r>
              <a:rPr kumimoji="0" lang="en-US" altLang="zh-TW" sz="1600">
                <a:solidFill>
                  <a:srgbClr val="663300"/>
                </a:solidFill>
                <a:latin typeface="Arial" panose="020B0604020202020204" pitchFamily="34" charset="0"/>
                <a:sym typeface="Symbol" pitchFamily="2" charset="2"/>
              </a:rPr>
              <a:t>and</a:t>
            </a:r>
            <a:r>
              <a:rPr kumimoji="0" lang="en-US" altLang="zh-TW" sz="1600">
                <a:latin typeface="Arial" panose="020B0604020202020204" pitchFamily="34" charset="0"/>
                <a:sym typeface="Symbol" pitchFamily="2" charset="2"/>
              </a:rPr>
              <a:t> </a:t>
            </a:r>
            <a:r>
              <a:rPr kumimoji="0" lang="en-US" altLang="zh-TW" sz="16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course_name</a:t>
            </a:r>
            <a:r>
              <a:rPr kumimoji="0" lang="en-US" altLang="zh-TW" sz="1600">
                <a:latin typeface="Arial" panose="020B0604020202020204" pitchFamily="34" charset="0"/>
                <a:sym typeface="Symbol" pitchFamily="2" charset="2"/>
              </a:rPr>
              <a:t> department_name</a:t>
            </a:r>
            <a:endParaRPr kumimoji="0" lang="en-US" altLang="zh-TW" sz="1600">
              <a:solidFill>
                <a:srgbClr val="663300"/>
              </a:solidFill>
              <a:latin typeface="Arial" panose="020B0604020202020204" pitchFamily="34" charset="0"/>
              <a:sym typeface="Symbol" pitchFamily="2" charset="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1600">
                <a:solidFill>
                  <a:srgbClr val="663300"/>
                </a:solidFill>
                <a:latin typeface="Arial" panose="020B0604020202020204" pitchFamily="34" charset="0"/>
                <a:sym typeface="Symbol" pitchFamily="2" charset="2"/>
              </a:rPr>
              <a:t>Implies  </a:t>
            </a:r>
            <a:r>
              <a:rPr kumimoji="0" lang="en-US" altLang="zh-TW" sz="1600">
                <a:latin typeface="Arial" panose="020B0604020202020204" pitchFamily="34" charset="0"/>
                <a:sym typeface="Symbol" pitchFamily="2" charset="2"/>
              </a:rPr>
              <a:t>course_ID  department_name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5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5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animBg="1" autoUpdateAnimBg="0"/>
      <p:bldP spid="23556" grpId="0" build="p" autoUpdateAnimBg="0"/>
      <p:bldP spid="23557" grpId="0" animBg="1" autoUpdateAnimBg="0"/>
      <p:bldP spid="23558" grpId="0" autoUpdateAnimBg="0"/>
      <p:bldP spid="23559" grpId="0" animBg="1" autoUpdateAnimBg="0"/>
      <p:bldP spid="23560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Number Placeholder 5">
            <a:extLst>
              <a:ext uri="{FF2B5EF4-FFF2-40B4-BE49-F238E27FC236}">
                <a16:creationId xmlns:a16="http://schemas.microsoft.com/office/drawing/2014/main" id="{CCC7945A-176F-1342-BD0C-F1674BFA9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A5B9F6-9625-BB49-9A6A-DF561B50B68B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TW" sz="1400"/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D6D6C4D1-6CDF-BE47-87F1-DF66EFD96B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eaLnBrk="1" hangingPunct="1"/>
            <a:r>
              <a:rPr lang="en-US" altLang="zh-TW"/>
              <a:t>Armstrong’s Axioms is sound and complete.</a:t>
            </a:r>
          </a:p>
          <a:p>
            <a:pPr lvl="1" eaLnBrk="1" hangingPunct="1"/>
            <a:r>
              <a:rPr lang="en-US" altLang="zh-TW">
                <a:solidFill>
                  <a:srgbClr val="000099"/>
                </a:solidFill>
              </a:rPr>
              <a:t>Sound</a:t>
            </a:r>
            <a:r>
              <a:rPr lang="en-US" altLang="zh-TW"/>
              <a:t>: they generate only FDs in F</a:t>
            </a:r>
            <a:r>
              <a:rPr kumimoji="0" lang="en-US" altLang="zh-TW" baseline="50000">
                <a:latin typeface="Arial" panose="020B0604020202020204" pitchFamily="34" charset="0"/>
                <a:sym typeface="Symbol" pitchFamily="2" charset="2"/>
              </a:rPr>
              <a:t>+</a:t>
            </a:r>
            <a:r>
              <a:rPr lang="en-US" altLang="zh-TW"/>
              <a:t>.</a:t>
            </a:r>
            <a:endParaRPr kumimoji="0" lang="en-US" altLang="zh-TW" baseline="50000">
              <a:latin typeface="Arial" panose="020B0604020202020204" pitchFamily="34" charset="0"/>
              <a:sym typeface="Symbol" pitchFamily="2" charset="2"/>
            </a:endParaRPr>
          </a:p>
          <a:p>
            <a:pPr lvl="1" eaLnBrk="1" hangingPunct="1"/>
            <a:r>
              <a:rPr lang="en-US" altLang="zh-TW">
                <a:solidFill>
                  <a:srgbClr val="000099"/>
                </a:solidFill>
              </a:rPr>
              <a:t>Complete</a:t>
            </a:r>
            <a:r>
              <a:rPr lang="en-US" altLang="zh-TW"/>
              <a:t>: repeated application of these rules will generate all FDs in F</a:t>
            </a:r>
            <a:r>
              <a:rPr lang="en-US" altLang="zh-TW" baseline="30000">
                <a:latin typeface="Arial" panose="020B0604020202020204" pitchFamily="34" charset="0"/>
              </a:rPr>
              <a:t>+</a:t>
            </a:r>
            <a:r>
              <a:rPr lang="en-US" altLang="zh-TW"/>
              <a:t>.</a:t>
            </a:r>
          </a:p>
          <a:p>
            <a:pPr eaLnBrk="1" hangingPunct="1"/>
            <a:r>
              <a:rPr kumimoji="0" lang="en-US" altLang="zh-TW">
                <a:sym typeface="Symbol" pitchFamily="2" charset="2"/>
              </a:rPr>
              <a:t>The proof  of soundness is straight forward, but completeness is harder to prove.</a:t>
            </a:r>
          </a:p>
          <a:p>
            <a:pPr lvl="1" eaLnBrk="1" hangingPunct="1">
              <a:buFontTx/>
              <a:buNone/>
            </a:pPr>
            <a:endParaRPr kumimoji="0" lang="zh-TW" altLang="en-US" sz="3200">
              <a:latin typeface="Arial" panose="020B0604020202020204" pitchFamily="34" charset="0"/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Number Placeholder 5">
            <a:extLst>
              <a:ext uri="{FF2B5EF4-FFF2-40B4-BE49-F238E27FC236}">
                <a16:creationId xmlns:a16="http://schemas.microsoft.com/office/drawing/2014/main" id="{34AC868B-4584-7147-B660-C439876EF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70A942-428C-4E4A-BF7A-1D0EB3C9FDE3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TW" sz="1400"/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3D643A88-E64A-CF4E-8D1C-3CF1871063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200"/>
              <a:t>Proof of Armstrong’s Axioms (soundness)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3B5DF32C-4D8A-4741-91B8-3E3C075048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724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TW" sz="2800"/>
              <a:t>Notation: We use t[X] for </a:t>
            </a:r>
            <a:r>
              <a:rPr lang="en-US" altLang="zh-TW">
                <a:sym typeface="Symbol" pitchFamily="2" charset="2"/>
              </a:rPr>
              <a:t></a:t>
            </a:r>
            <a:r>
              <a:rPr lang="en-US" altLang="zh-TW" i="1" baseline="-20000">
                <a:sym typeface="Symbol" pitchFamily="2" charset="2"/>
              </a:rPr>
              <a:t>X</a:t>
            </a:r>
            <a:r>
              <a:rPr lang="en-US" altLang="zh-TW" i="1" baseline="-25000">
                <a:sym typeface="Symbol" pitchFamily="2" charset="2"/>
              </a:rPr>
              <a:t> </a:t>
            </a:r>
            <a:r>
              <a:rPr lang="en-US" altLang="zh-TW">
                <a:sym typeface="Symbol" pitchFamily="2" charset="2"/>
              </a:rPr>
              <a:t>[ </a:t>
            </a:r>
            <a:r>
              <a:rPr lang="en-US" altLang="zh-TW" i="1">
                <a:sym typeface="Symbol" pitchFamily="2" charset="2"/>
              </a:rPr>
              <a:t>t </a:t>
            </a:r>
            <a:r>
              <a:rPr lang="en-US" altLang="zh-TW">
                <a:sym typeface="Symbol" pitchFamily="2" charset="2"/>
              </a:rPr>
              <a:t>] for any tuple </a:t>
            </a:r>
            <a:r>
              <a:rPr lang="en-US" altLang="zh-TW" i="1">
                <a:sym typeface="Symbol" pitchFamily="2" charset="2"/>
              </a:rPr>
              <a:t>t.</a:t>
            </a:r>
          </a:p>
          <a:p>
            <a:pPr eaLnBrk="1" hangingPunct="1">
              <a:buFontTx/>
              <a:buNone/>
            </a:pPr>
            <a:endParaRPr lang="en-US" altLang="zh-TW" i="1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800" u="sng">
                <a:solidFill>
                  <a:srgbClr val="000099"/>
                </a:solidFill>
                <a:sym typeface="Symbol" pitchFamily="2" charset="2"/>
              </a:rPr>
              <a:t>Reflexivity:</a:t>
            </a:r>
            <a:r>
              <a:rPr lang="en-US" altLang="zh-TW" sz="2800">
                <a:solidFill>
                  <a:srgbClr val="000099"/>
                </a:solidFill>
                <a:sym typeface="Symbol" pitchFamily="2" charset="2"/>
              </a:rPr>
              <a:t>  </a:t>
            </a:r>
            <a:r>
              <a:rPr lang="en-US" altLang="zh-TW" sz="2800">
                <a:sym typeface="Symbol" pitchFamily="2" charset="2"/>
              </a:rPr>
              <a:t>If </a:t>
            </a:r>
            <a:r>
              <a:rPr lang="en-US" altLang="zh-TW" i="1">
                <a:sym typeface="Symbol" pitchFamily="2" charset="2"/>
              </a:rPr>
              <a:t>Y </a:t>
            </a:r>
            <a:r>
              <a:rPr lang="en-US" altLang="zh-TW">
                <a:sym typeface="Symbol" pitchFamily="2" charset="2"/>
              </a:rPr>
              <a:t> </a:t>
            </a:r>
            <a:r>
              <a:rPr lang="en-US" altLang="zh-TW" i="1">
                <a:sym typeface="Symbol" pitchFamily="2" charset="2"/>
              </a:rPr>
              <a:t>X</a:t>
            </a:r>
            <a:r>
              <a:rPr lang="en-US" altLang="zh-TW">
                <a:sym typeface="Symbol" pitchFamily="2" charset="2"/>
              </a:rPr>
              <a:t>, then </a:t>
            </a:r>
            <a:r>
              <a:rPr lang="en-US" altLang="zh-TW" i="1">
                <a:sym typeface="Symbol" pitchFamily="2" charset="2"/>
              </a:rPr>
              <a:t>X</a:t>
            </a:r>
            <a:r>
              <a:rPr lang="en-US" altLang="zh-TW">
                <a:sym typeface="Symbol" pitchFamily="2" charset="2"/>
              </a:rPr>
              <a:t>  </a:t>
            </a:r>
            <a:r>
              <a:rPr lang="en-US" altLang="zh-TW" i="1">
                <a:sym typeface="Symbol" pitchFamily="2" charset="2"/>
              </a:rPr>
              <a:t>Y</a:t>
            </a:r>
          </a:p>
          <a:p>
            <a:pPr eaLnBrk="1" hangingPunct="1">
              <a:buFontTx/>
              <a:buNone/>
            </a:pPr>
            <a:endParaRPr lang="en-US" altLang="zh-TW" i="1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Assume  </a:t>
            </a:r>
            <a:r>
              <a:rPr lang="en-US" altLang="zh-TW" sz="2800" i="1">
                <a:sym typeface="Symbol" pitchFamily="2" charset="2"/>
              </a:rPr>
              <a:t>t</a:t>
            </a:r>
            <a:r>
              <a:rPr lang="en-US" altLang="zh-TW" sz="2800" baseline="-20000">
                <a:sym typeface="Symbol" pitchFamily="2" charset="2"/>
              </a:rPr>
              <a:t>1</a:t>
            </a:r>
            <a:r>
              <a:rPr lang="en-US" altLang="zh-TW" sz="2800">
                <a:sym typeface="Symbol" pitchFamily="2" charset="2"/>
              </a:rPr>
              <a:t>, </a:t>
            </a:r>
            <a:r>
              <a:rPr lang="en-US" altLang="zh-TW" sz="2800" i="1">
                <a:sym typeface="Symbol" pitchFamily="2" charset="2"/>
              </a:rPr>
              <a:t>t</a:t>
            </a:r>
            <a:r>
              <a:rPr lang="en-US" altLang="zh-TW" sz="2800" baseline="-20000">
                <a:sym typeface="Symbol" pitchFamily="2" charset="2"/>
              </a:rPr>
              <a:t>2</a:t>
            </a:r>
            <a:r>
              <a:rPr lang="en-US" altLang="zh-TW" sz="2800">
                <a:sym typeface="Symbol" pitchFamily="2" charset="2"/>
              </a:rPr>
              <a:t> such that </a:t>
            </a:r>
            <a:r>
              <a:rPr lang="en-US" altLang="zh-TW" sz="2800" i="1">
                <a:sym typeface="Symbol" pitchFamily="2" charset="2"/>
              </a:rPr>
              <a:t>t</a:t>
            </a:r>
            <a:r>
              <a:rPr lang="en-US" altLang="zh-TW" sz="2800" i="1" baseline="-20000">
                <a:sym typeface="Symbol" pitchFamily="2" charset="2"/>
              </a:rPr>
              <a:t>1</a:t>
            </a:r>
            <a:r>
              <a:rPr lang="en-US" altLang="zh-TW" sz="2800">
                <a:sym typeface="Symbol" pitchFamily="2" charset="2"/>
              </a:rPr>
              <a:t>[</a:t>
            </a:r>
            <a:r>
              <a:rPr lang="en-US" altLang="zh-TW" sz="2800" i="1">
                <a:sym typeface="Symbol" pitchFamily="2" charset="2"/>
              </a:rPr>
              <a:t>X</a:t>
            </a:r>
            <a:r>
              <a:rPr lang="en-US" altLang="zh-TW" sz="2800">
                <a:sym typeface="Symbol" pitchFamily="2" charset="2"/>
              </a:rPr>
              <a:t>] = </a:t>
            </a:r>
            <a:r>
              <a:rPr lang="en-US" altLang="zh-TW" sz="2800" i="1">
                <a:sym typeface="Symbol" pitchFamily="2" charset="2"/>
              </a:rPr>
              <a:t>t</a:t>
            </a:r>
            <a:r>
              <a:rPr lang="en-US" altLang="zh-TW" sz="2800" i="1" baseline="-20000">
                <a:sym typeface="Symbol" pitchFamily="2" charset="2"/>
              </a:rPr>
              <a:t>2</a:t>
            </a:r>
            <a:r>
              <a:rPr lang="en-US" altLang="zh-TW" sz="2800">
                <a:sym typeface="Symbol" pitchFamily="2" charset="2"/>
              </a:rPr>
              <a:t>[</a:t>
            </a:r>
            <a:r>
              <a:rPr lang="en-US" altLang="zh-TW" sz="2800" i="1">
                <a:sym typeface="Symbol" pitchFamily="2" charset="2"/>
              </a:rPr>
              <a:t>X</a:t>
            </a:r>
            <a:r>
              <a:rPr lang="en-US" altLang="zh-TW" sz="2800">
                <a:sym typeface="Symbol" pitchFamily="2" charset="2"/>
              </a:rPr>
              <a:t>]</a:t>
            </a:r>
          </a:p>
          <a:p>
            <a:pPr eaLnBrk="1" hangingPunct="1">
              <a:buFontTx/>
              <a:buNone/>
            </a:pPr>
            <a:r>
              <a:rPr lang="en-US" altLang="zh-TW" sz="2800" i="1">
                <a:sym typeface="Symbol" pitchFamily="2" charset="2"/>
              </a:rPr>
              <a:t>then t</a:t>
            </a:r>
            <a:r>
              <a:rPr lang="en-US" altLang="zh-TW" sz="2800" i="1" baseline="-20000">
                <a:sym typeface="Symbol" pitchFamily="2" charset="2"/>
              </a:rPr>
              <a:t>1</a:t>
            </a:r>
            <a:r>
              <a:rPr lang="en-US" altLang="zh-TW" sz="2800">
                <a:sym typeface="Symbol" pitchFamily="2" charset="2"/>
              </a:rPr>
              <a:t>[ </a:t>
            </a:r>
            <a:r>
              <a:rPr lang="en-US" altLang="zh-TW" sz="2800" i="1">
                <a:sym typeface="Symbol" pitchFamily="2" charset="2"/>
              </a:rPr>
              <a:t>Y </a:t>
            </a:r>
            <a:r>
              <a:rPr lang="en-US" altLang="zh-TW" sz="2800">
                <a:sym typeface="Symbol" pitchFamily="2" charset="2"/>
              </a:rPr>
              <a:t>] = </a:t>
            </a:r>
            <a:r>
              <a:rPr lang="en-US" altLang="zh-TW" sz="2800" i="1">
                <a:sym typeface="Symbol" pitchFamily="2" charset="2"/>
              </a:rPr>
              <a:t>t</a:t>
            </a:r>
            <a:r>
              <a:rPr lang="en-US" altLang="zh-TW" sz="2800" i="1" baseline="-20000">
                <a:sym typeface="Symbol" pitchFamily="2" charset="2"/>
              </a:rPr>
              <a:t>2</a:t>
            </a:r>
            <a:r>
              <a:rPr lang="en-US" altLang="zh-TW" sz="2800">
                <a:sym typeface="Symbol" pitchFamily="2" charset="2"/>
              </a:rPr>
              <a:t>[ </a:t>
            </a:r>
            <a:r>
              <a:rPr lang="en-US" altLang="zh-TW" sz="2800" i="1">
                <a:sym typeface="Symbol" pitchFamily="2" charset="2"/>
              </a:rPr>
              <a:t>Y </a:t>
            </a:r>
            <a:r>
              <a:rPr lang="en-US" altLang="zh-TW" sz="2800">
                <a:sym typeface="Symbol" pitchFamily="2" charset="2"/>
              </a:rPr>
              <a:t>] since </a:t>
            </a:r>
            <a:r>
              <a:rPr lang="en-US" altLang="zh-TW" sz="2800" i="1">
                <a:sym typeface="Symbol" pitchFamily="2" charset="2"/>
              </a:rPr>
              <a:t>Y </a:t>
            </a:r>
            <a:r>
              <a:rPr lang="en-US" altLang="zh-TW" sz="2800">
                <a:sym typeface="Symbol" pitchFamily="2" charset="2"/>
              </a:rPr>
              <a:t> </a:t>
            </a:r>
            <a:r>
              <a:rPr lang="en-US" altLang="zh-TW" sz="2800" i="1">
                <a:sym typeface="Symbol" pitchFamily="2" charset="2"/>
              </a:rPr>
              <a:t>X</a:t>
            </a:r>
            <a:endParaRPr lang="en-US" altLang="zh-TW" sz="2800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Hence </a:t>
            </a:r>
            <a:r>
              <a:rPr lang="en-US" altLang="zh-TW" sz="2800" i="1">
                <a:sym typeface="Symbol" pitchFamily="2" charset="2"/>
              </a:rPr>
              <a:t>X</a:t>
            </a:r>
            <a:r>
              <a:rPr lang="en-US" altLang="zh-TW" sz="2800">
                <a:sym typeface="Symbol" pitchFamily="2" charset="2"/>
              </a:rPr>
              <a:t>  </a:t>
            </a:r>
            <a:r>
              <a:rPr lang="en-US" altLang="zh-TW" sz="2800" i="1">
                <a:sym typeface="Symbol" pitchFamily="2" charset="2"/>
              </a:rPr>
              <a:t>Y</a:t>
            </a:r>
            <a:endParaRPr lang="en-US" altLang="zh-TW" sz="2800">
              <a:sym typeface="Symbol" pitchFamily="2" charset="2"/>
            </a:endParaRPr>
          </a:p>
          <a:p>
            <a:pPr eaLnBrk="1" hangingPunct="1">
              <a:buFontTx/>
              <a:buNone/>
            </a:pPr>
            <a:endParaRPr lang="zh-TW" altLang="en-US" sz="2800"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Number Placeholder 5">
            <a:extLst>
              <a:ext uri="{FF2B5EF4-FFF2-40B4-BE49-F238E27FC236}">
                <a16:creationId xmlns:a16="http://schemas.microsoft.com/office/drawing/2014/main" id="{0C2D2A9C-B0DB-7240-8610-2ED43A433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07F8E28-10A8-9949-B6A4-E752D4E7F06A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TW" sz="1400"/>
          </a:p>
        </p:txBody>
      </p:sp>
      <p:sp>
        <p:nvSpPr>
          <p:cNvPr id="36866" name="Rectangle 3">
            <a:extLst>
              <a:ext uri="{FF2B5EF4-FFF2-40B4-BE49-F238E27FC236}">
                <a16:creationId xmlns:a16="http://schemas.microsoft.com/office/drawing/2014/main" id="{83E42003-4CED-F54B-A382-FE0D34A09C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85800"/>
            <a:ext cx="77724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800" u="sng">
                <a:solidFill>
                  <a:srgbClr val="000099"/>
                </a:solidFill>
              </a:rPr>
              <a:t>Augmentation: </a:t>
            </a:r>
            <a:r>
              <a:rPr lang="en-US" altLang="zh-TW" sz="2800">
                <a:sym typeface="Symbol" pitchFamily="2" charset="2"/>
              </a:rPr>
              <a:t>if </a:t>
            </a:r>
            <a:r>
              <a:rPr lang="en-US" altLang="zh-TW" sz="2800" i="1">
                <a:sym typeface="Symbol" pitchFamily="2" charset="2"/>
              </a:rPr>
              <a:t>X</a:t>
            </a:r>
            <a:r>
              <a:rPr lang="en-US" altLang="zh-TW" sz="2800">
                <a:sym typeface="Symbol" pitchFamily="2" charset="2"/>
              </a:rPr>
              <a:t>  </a:t>
            </a:r>
            <a:r>
              <a:rPr lang="en-US" altLang="zh-TW" sz="2800" i="1">
                <a:sym typeface="Symbol" pitchFamily="2" charset="2"/>
              </a:rPr>
              <a:t>Y</a:t>
            </a:r>
            <a:r>
              <a:rPr lang="en-US" altLang="zh-TW" sz="2800">
                <a:sym typeface="Symbol" pitchFamily="2" charset="2"/>
              </a:rPr>
              <a:t>, then </a:t>
            </a:r>
            <a:r>
              <a:rPr lang="en-US" altLang="zh-TW" sz="2800" i="1">
                <a:sym typeface="Symbol" pitchFamily="2" charset="2"/>
              </a:rPr>
              <a:t>XZ </a:t>
            </a:r>
            <a:r>
              <a:rPr lang="en-US" altLang="zh-TW" sz="2800">
                <a:sym typeface="Symbol" pitchFamily="2" charset="2"/>
              </a:rPr>
              <a:t>  </a:t>
            </a:r>
            <a:r>
              <a:rPr lang="en-US" altLang="zh-TW" sz="2800" i="1">
                <a:sym typeface="Symbol" pitchFamily="2" charset="2"/>
              </a:rPr>
              <a:t>YZ</a:t>
            </a:r>
            <a:r>
              <a:rPr lang="en-US" altLang="zh-TW" sz="3600">
                <a:sym typeface="Symbol" pitchFamily="2" charset="2"/>
              </a:rPr>
              <a:t>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360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>
                <a:sym typeface="Symbol" pitchFamily="2" charset="2"/>
              </a:rPr>
              <a:t>Assume  </a:t>
            </a:r>
            <a:r>
              <a:rPr lang="en-US" altLang="zh-TW" sz="2400" i="1">
                <a:sym typeface="Symbol" pitchFamily="2" charset="2"/>
              </a:rPr>
              <a:t>t</a:t>
            </a:r>
            <a:r>
              <a:rPr lang="en-US" altLang="zh-TW" sz="2400" baseline="-20000">
                <a:sym typeface="Symbol" pitchFamily="2" charset="2"/>
              </a:rPr>
              <a:t>1</a:t>
            </a:r>
            <a:r>
              <a:rPr lang="en-US" altLang="zh-TW" sz="2400">
                <a:sym typeface="Symbol" pitchFamily="2" charset="2"/>
              </a:rPr>
              <a:t>, </a:t>
            </a:r>
            <a:r>
              <a:rPr lang="en-US" altLang="zh-TW" sz="2400" i="1">
                <a:sym typeface="Symbol" pitchFamily="2" charset="2"/>
              </a:rPr>
              <a:t>t</a:t>
            </a:r>
            <a:r>
              <a:rPr lang="en-US" altLang="zh-TW" sz="2400" baseline="-20000">
                <a:sym typeface="Symbol" pitchFamily="2" charset="2"/>
              </a:rPr>
              <a:t>2</a:t>
            </a:r>
            <a:r>
              <a:rPr lang="en-US" altLang="zh-TW" sz="2400">
                <a:sym typeface="Symbol" pitchFamily="2" charset="2"/>
              </a:rPr>
              <a:t> such that </a:t>
            </a:r>
            <a:r>
              <a:rPr lang="en-US" altLang="zh-TW" sz="2400" i="1">
                <a:sym typeface="Symbol" pitchFamily="2" charset="2"/>
              </a:rPr>
              <a:t>t</a:t>
            </a:r>
            <a:r>
              <a:rPr lang="en-US" altLang="zh-TW" sz="2400" i="1" baseline="-20000">
                <a:sym typeface="Symbol" pitchFamily="2" charset="2"/>
              </a:rPr>
              <a:t>1</a:t>
            </a:r>
            <a:r>
              <a:rPr lang="en-US" altLang="zh-TW" sz="2400" i="1" baseline="-25000">
                <a:sym typeface="Symbol" pitchFamily="2" charset="2"/>
              </a:rPr>
              <a:t> </a:t>
            </a:r>
            <a:r>
              <a:rPr lang="en-US" altLang="zh-TW" sz="2400">
                <a:sym typeface="Symbol" pitchFamily="2" charset="2"/>
              </a:rPr>
              <a:t>[ XZ</a:t>
            </a:r>
            <a:r>
              <a:rPr lang="en-US" altLang="zh-TW" sz="2400" i="1">
                <a:sym typeface="Symbol" pitchFamily="2" charset="2"/>
              </a:rPr>
              <a:t> </a:t>
            </a:r>
            <a:r>
              <a:rPr lang="en-US" altLang="zh-TW" sz="2400">
                <a:sym typeface="Symbol" pitchFamily="2" charset="2"/>
              </a:rPr>
              <a:t>] = </a:t>
            </a:r>
            <a:r>
              <a:rPr lang="en-US" altLang="zh-TW" sz="2400" i="1">
                <a:sym typeface="Symbol" pitchFamily="2" charset="2"/>
              </a:rPr>
              <a:t>t</a:t>
            </a:r>
            <a:r>
              <a:rPr lang="en-US" altLang="zh-TW" sz="2400" i="1" baseline="-20000">
                <a:sym typeface="Symbol" pitchFamily="2" charset="2"/>
              </a:rPr>
              <a:t>2</a:t>
            </a:r>
            <a:r>
              <a:rPr lang="en-US" altLang="zh-TW" sz="2400" i="1" baseline="-25000">
                <a:sym typeface="Symbol" pitchFamily="2" charset="2"/>
              </a:rPr>
              <a:t> </a:t>
            </a:r>
            <a:r>
              <a:rPr lang="en-US" altLang="zh-TW" sz="2400">
                <a:sym typeface="Symbol" pitchFamily="2" charset="2"/>
              </a:rPr>
              <a:t>[ XZ]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40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i="1">
                <a:sym typeface="Symbol" pitchFamily="2" charset="2"/>
              </a:rPr>
              <a:t>t</a:t>
            </a:r>
            <a:r>
              <a:rPr lang="en-US" altLang="zh-TW" sz="2400" i="1" baseline="-20000">
                <a:sym typeface="Symbol" pitchFamily="2" charset="2"/>
              </a:rPr>
              <a:t>1</a:t>
            </a:r>
            <a:r>
              <a:rPr lang="en-US" altLang="zh-TW" sz="2400" i="1" baseline="-25000">
                <a:sym typeface="Symbol" pitchFamily="2" charset="2"/>
              </a:rPr>
              <a:t> </a:t>
            </a:r>
            <a:r>
              <a:rPr lang="en-US" altLang="zh-TW" sz="2400">
                <a:sym typeface="Symbol" pitchFamily="2" charset="2"/>
              </a:rPr>
              <a:t>[Z]	=  </a:t>
            </a:r>
            <a:r>
              <a:rPr lang="en-US" altLang="zh-TW" sz="2400" i="1">
                <a:sym typeface="Symbol" pitchFamily="2" charset="2"/>
              </a:rPr>
              <a:t>t</a:t>
            </a:r>
            <a:r>
              <a:rPr lang="en-US" altLang="zh-TW" sz="2400" i="1" baseline="-20000">
                <a:sym typeface="Symbol" pitchFamily="2" charset="2"/>
              </a:rPr>
              <a:t>2</a:t>
            </a:r>
            <a:r>
              <a:rPr lang="en-US" altLang="zh-TW" sz="2400" i="1" baseline="-25000">
                <a:sym typeface="Symbol" pitchFamily="2" charset="2"/>
              </a:rPr>
              <a:t> </a:t>
            </a:r>
            <a:r>
              <a:rPr lang="en-US" altLang="zh-TW" sz="2400">
                <a:sym typeface="Symbol" pitchFamily="2" charset="2"/>
              </a:rPr>
              <a:t>[Z], since Z</a:t>
            </a:r>
            <a:r>
              <a:rPr lang="en-US" altLang="zh-TW" sz="2400" i="1">
                <a:sym typeface="Symbol" pitchFamily="2" charset="2"/>
              </a:rPr>
              <a:t>  </a:t>
            </a:r>
            <a:r>
              <a:rPr lang="en-US" altLang="zh-TW" sz="2400">
                <a:sym typeface="Symbol" pitchFamily="2" charset="2"/>
              </a:rPr>
              <a:t> XZ</a:t>
            </a:r>
            <a:r>
              <a:rPr lang="en-US" altLang="zh-TW" sz="2400" i="1">
                <a:sym typeface="Symbol" pitchFamily="2" charset="2"/>
              </a:rPr>
              <a:t>   ------ (1)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400" i="1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i="1">
                <a:sym typeface="Symbol" pitchFamily="2" charset="2"/>
              </a:rPr>
              <a:t>t</a:t>
            </a:r>
            <a:r>
              <a:rPr lang="en-US" altLang="zh-TW" sz="2400" i="1" baseline="-20000">
                <a:sym typeface="Symbol" pitchFamily="2" charset="2"/>
              </a:rPr>
              <a:t>1</a:t>
            </a:r>
            <a:r>
              <a:rPr lang="en-US" altLang="zh-TW" sz="2400" i="1" baseline="-25000">
                <a:sym typeface="Symbol" pitchFamily="2" charset="2"/>
              </a:rPr>
              <a:t> </a:t>
            </a:r>
            <a:r>
              <a:rPr lang="en-US" altLang="zh-TW" sz="2400">
                <a:sym typeface="Symbol" pitchFamily="2" charset="2"/>
              </a:rPr>
              <a:t>[X]	=  </a:t>
            </a:r>
            <a:r>
              <a:rPr lang="en-US" altLang="zh-TW" sz="2400" i="1">
                <a:sym typeface="Symbol" pitchFamily="2" charset="2"/>
              </a:rPr>
              <a:t>t</a:t>
            </a:r>
            <a:r>
              <a:rPr lang="en-US" altLang="zh-TW" sz="2400" i="1" baseline="-20000">
                <a:sym typeface="Symbol" pitchFamily="2" charset="2"/>
              </a:rPr>
              <a:t>2</a:t>
            </a:r>
            <a:r>
              <a:rPr lang="en-US" altLang="zh-TW" sz="2400" i="1" baseline="-25000">
                <a:sym typeface="Symbol" pitchFamily="2" charset="2"/>
              </a:rPr>
              <a:t> </a:t>
            </a:r>
            <a:r>
              <a:rPr lang="en-US" altLang="zh-TW" sz="2400">
                <a:sym typeface="Symbol" pitchFamily="2" charset="2"/>
              </a:rPr>
              <a:t>[X],  since X</a:t>
            </a:r>
            <a:r>
              <a:rPr lang="en-US" altLang="zh-TW" sz="2400" i="1">
                <a:sym typeface="Symbol" pitchFamily="2" charset="2"/>
              </a:rPr>
              <a:t> </a:t>
            </a:r>
            <a:r>
              <a:rPr lang="en-US" altLang="zh-TW" sz="2400">
                <a:sym typeface="Symbol" pitchFamily="2" charset="2"/>
              </a:rPr>
              <a:t> XZ</a:t>
            </a:r>
            <a:endParaRPr lang="en-US" altLang="zh-TW" sz="2400" i="1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i="1">
                <a:sym typeface="Symbol" pitchFamily="2" charset="2"/>
              </a:rPr>
              <a:t>t</a:t>
            </a:r>
            <a:r>
              <a:rPr lang="en-US" altLang="zh-TW" sz="2400" i="1" baseline="-20000">
                <a:sym typeface="Symbol" pitchFamily="2" charset="2"/>
              </a:rPr>
              <a:t>1</a:t>
            </a:r>
            <a:r>
              <a:rPr lang="en-US" altLang="zh-TW" sz="2400" i="1" baseline="-25000">
                <a:sym typeface="Symbol" pitchFamily="2" charset="2"/>
              </a:rPr>
              <a:t> </a:t>
            </a:r>
            <a:r>
              <a:rPr lang="en-US" altLang="zh-TW" sz="2400">
                <a:sym typeface="Symbol" pitchFamily="2" charset="2"/>
              </a:rPr>
              <a:t>[Y]    =  </a:t>
            </a:r>
            <a:r>
              <a:rPr lang="en-US" altLang="zh-TW" sz="2400" i="1">
                <a:sym typeface="Symbol" pitchFamily="2" charset="2"/>
              </a:rPr>
              <a:t>t</a:t>
            </a:r>
            <a:r>
              <a:rPr lang="en-US" altLang="zh-TW" sz="2400" i="1" baseline="-20000">
                <a:sym typeface="Symbol" pitchFamily="2" charset="2"/>
              </a:rPr>
              <a:t>2</a:t>
            </a:r>
            <a:r>
              <a:rPr lang="en-US" altLang="zh-TW" sz="2400" i="1" baseline="-25000">
                <a:sym typeface="Symbol" pitchFamily="2" charset="2"/>
              </a:rPr>
              <a:t> </a:t>
            </a:r>
            <a:r>
              <a:rPr lang="en-US" altLang="zh-TW" sz="2400">
                <a:sym typeface="Symbol" pitchFamily="2" charset="2"/>
              </a:rPr>
              <a:t>[Y], definition of X  Y</a:t>
            </a:r>
            <a:r>
              <a:rPr lang="en-US" altLang="zh-TW" sz="2400" i="1">
                <a:sym typeface="Symbol" pitchFamily="2" charset="2"/>
              </a:rPr>
              <a:t>   ------ (2)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400" i="1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i="1">
                <a:sym typeface="Symbol" pitchFamily="2" charset="2"/>
              </a:rPr>
              <a:t>t</a:t>
            </a:r>
            <a:r>
              <a:rPr lang="en-US" altLang="zh-TW" sz="2400" i="1" baseline="-20000">
                <a:sym typeface="Symbol" pitchFamily="2" charset="2"/>
              </a:rPr>
              <a:t>1</a:t>
            </a:r>
            <a:r>
              <a:rPr lang="en-US" altLang="zh-TW" sz="2400" i="1" baseline="-25000">
                <a:sym typeface="Symbol" pitchFamily="2" charset="2"/>
              </a:rPr>
              <a:t> </a:t>
            </a:r>
            <a:r>
              <a:rPr lang="en-US" altLang="zh-TW" sz="2400">
                <a:sym typeface="Symbol" pitchFamily="2" charset="2"/>
              </a:rPr>
              <a:t>[YZ]  =  </a:t>
            </a:r>
            <a:r>
              <a:rPr lang="en-US" altLang="zh-TW" sz="2400" i="1">
                <a:sym typeface="Symbol" pitchFamily="2" charset="2"/>
              </a:rPr>
              <a:t>t</a:t>
            </a:r>
            <a:r>
              <a:rPr lang="en-US" altLang="zh-TW" sz="2400" i="1" baseline="-25000">
                <a:sym typeface="Symbol" pitchFamily="2" charset="2"/>
              </a:rPr>
              <a:t>2 </a:t>
            </a:r>
            <a:r>
              <a:rPr lang="en-US" altLang="zh-TW" sz="2400">
                <a:sym typeface="Symbol" pitchFamily="2" charset="2"/>
              </a:rPr>
              <a:t>[ YZ</a:t>
            </a:r>
            <a:r>
              <a:rPr lang="en-US" altLang="zh-TW" sz="2400" i="1">
                <a:sym typeface="Symbol" pitchFamily="2" charset="2"/>
              </a:rPr>
              <a:t> </a:t>
            </a:r>
            <a:r>
              <a:rPr lang="en-US" altLang="zh-TW" sz="2400">
                <a:sym typeface="Symbol" pitchFamily="2" charset="2"/>
              </a:rPr>
              <a:t>] from (1) and (2)</a:t>
            </a:r>
            <a:endParaRPr lang="en-US" altLang="zh-TW" sz="2400" i="1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40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>
                <a:sym typeface="Symbol" pitchFamily="2" charset="2"/>
              </a:rPr>
              <a:t>Hence</a:t>
            </a:r>
            <a:r>
              <a:rPr lang="en-US" altLang="zh-TW" sz="2400" i="1">
                <a:sym typeface="Symbol" pitchFamily="2" charset="2"/>
              </a:rPr>
              <a:t>, XZ</a:t>
            </a:r>
            <a:r>
              <a:rPr lang="en-US" altLang="zh-TW" sz="2400">
                <a:sym typeface="Symbol" pitchFamily="2" charset="2"/>
              </a:rPr>
              <a:t>  YZ</a:t>
            </a:r>
            <a:endParaRPr lang="en-US" altLang="zh-TW" sz="2400" i="1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zh-TW" altLang="en-US" sz="2400"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Number Placeholder 5">
            <a:extLst>
              <a:ext uri="{FF2B5EF4-FFF2-40B4-BE49-F238E27FC236}">
                <a16:creationId xmlns:a16="http://schemas.microsoft.com/office/drawing/2014/main" id="{6C1B9AFE-C056-8146-9FA9-9E35EDAFB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035F15-08EE-D747-B864-63EFDC70DEA8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TW" sz="1400"/>
          </a:p>
        </p:txBody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A09CF759-2F1E-4547-8037-F43B5EDE30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219200"/>
            <a:ext cx="7772400" cy="4876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TW" sz="2800" u="sng">
                <a:solidFill>
                  <a:srgbClr val="000099"/>
                </a:solidFill>
              </a:rPr>
              <a:t>Transitivity:</a:t>
            </a:r>
            <a:r>
              <a:rPr lang="en-US" altLang="zh-TW" sz="2800"/>
              <a:t>  If X </a:t>
            </a:r>
            <a:r>
              <a:rPr lang="en-US" altLang="zh-TW" sz="2800">
                <a:sym typeface="Symbol" pitchFamily="2" charset="2"/>
              </a:rPr>
              <a:t>Y and Y  Z, then X Z.</a:t>
            </a:r>
          </a:p>
          <a:p>
            <a:pPr eaLnBrk="1" hangingPunct="1">
              <a:buFontTx/>
              <a:buNone/>
            </a:pPr>
            <a:endParaRPr lang="en-US" altLang="zh-TW" sz="2800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Assume  </a:t>
            </a:r>
            <a:r>
              <a:rPr lang="en-US" altLang="zh-TW" sz="2800" i="1">
                <a:sym typeface="Symbol" pitchFamily="2" charset="2"/>
              </a:rPr>
              <a:t>t</a:t>
            </a:r>
            <a:r>
              <a:rPr lang="en-US" altLang="zh-TW" sz="2800" baseline="-20000">
                <a:sym typeface="Symbol" pitchFamily="2" charset="2"/>
              </a:rPr>
              <a:t>1</a:t>
            </a:r>
            <a:r>
              <a:rPr lang="en-US" altLang="zh-TW" sz="2800">
                <a:sym typeface="Symbol" pitchFamily="2" charset="2"/>
              </a:rPr>
              <a:t>, </a:t>
            </a:r>
            <a:r>
              <a:rPr lang="en-US" altLang="zh-TW" sz="2800" i="1">
                <a:sym typeface="Symbol" pitchFamily="2" charset="2"/>
              </a:rPr>
              <a:t>t</a:t>
            </a:r>
            <a:r>
              <a:rPr lang="en-US" altLang="zh-TW" sz="2800" baseline="-20000">
                <a:sym typeface="Symbol" pitchFamily="2" charset="2"/>
              </a:rPr>
              <a:t>2</a:t>
            </a:r>
            <a:r>
              <a:rPr lang="en-US" altLang="zh-TW" sz="2800">
                <a:sym typeface="Symbol" pitchFamily="2" charset="2"/>
              </a:rPr>
              <a:t> such that </a:t>
            </a:r>
            <a:r>
              <a:rPr lang="en-US" altLang="zh-TW" sz="2800" i="1">
                <a:sym typeface="Symbol" pitchFamily="2" charset="2"/>
              </a:rPr>
              <a:t>t</a:t>
            </a:r>
            <a:r>
              <a:rPr lang="en-US" altLang="zh-TW" sz="2800" i="1" baseline="-20000">
                <a:sym typeface="Symbol" pitchFamily="2" charset="2"/>
              </a:rPr>
              <a:t>1</a:t>
            </a:r>
            <a:r>
              <a:rPr lang="en-US" altLang="zh-TW" sz="2800" i="1" baseline="-25000">
                <a:sym typeface="Symbol" pitchFamily="2" charset="2"/>
              </a:rPr>
              <a:t> </a:t>
            </a:r>
            <a:r>
              <a:rPr lang="en-US" altLang="zh-TW" sz="2800">
                <a:sym typeface="Symbol" pitchFamily="2" charset="2"/>
              </a:rPr>
              <a:t>[X] = </a:t>
            </a:r>
            <a:r>
              <a:rPr lang="en-US" altLang="zh-TW" sz="2800" i="1">
                <a:sym typeface="Symbol" pitchFamily="2" charset="2"/>
              </a:rPr>
              <a:t>t</a:t>
            </a:r>
            <a:r>
              <a:rPr lang="en-US" altLang="zh-TW" sz="2800" i="1" baseline="-20000">
                <a:sym typeface="Symbol" pitchFamily="2" charset="2"/>
              </a:rPr>
              <a:t>2</a:t>
            </a:r>
            <a:r>
              <a:rPr lang="en-US" altLang="zh-TW" sz="2800" i="1" baseline="-25000">
                <a:sym typeface="Symbol" pitchFamily="2" charset="2"/>
              </a:rPr>
              <a:t> </a:t>
            </a:r>
            <a:r>
              <a:rPr lang="en-US" altLang="zh-TW" sz="2800">
                <a:sym typeface="Symbol" pitchFamily="2" charset="2"/>
              </a:rPr>
              <a:t>[X]</a:t>
            </a:r>
          </a:p>
          <a:p>
            <a:pPr eaLnBrk="1" hangingPunct="1">
              <a:buFontTx/>
              <a:buNone/>
            </a:pPr>
            <a:r>
              <a:rPr lang="en-US" altLang="zh-TW" sz="2800" i="1">
                <a:sym typeface="Symbol" pitchFamily="2" charset="2"/>
              </a:rPr>
              <a:t>Then t</a:t>
            </a:r>
            <a:r>
              <a:rPr lang="en-US" altLang="zh-TW" sz="2800" i="1" baseline="-20000">
                <a:sym typeface="Symbol" pitchFamily="2" charset="2"/>
              </a:rPr>
              <a:t>1</a:t>
            </a:r>
            <a:r>
              <a:rPr lang="en-US" altLang="zh-TW" sz="2800" i="1" baseline="-25000">
                <a:sym typeface="Symbol" pitchFamily="2" charset="2"/>
              </a:rPr>
              <a:t> </a:t>
            </a:r>
            <a:r>
              <a:rPr lang="en-US" altLang="zh-TW" sz="2800">
                <a:sym typeface="Symbol" pitchFamily="2" charset="2"/>
              </a:rPr>
              <a:t>[Y]   =  </a:t>
            </a:r>
            <a:r>
              <a:rPr lang="en-US" altLang="zh-TW" sz="2800" i="1">
                <a:sym typeface="Symbol" pitchFamily="2" charset="2"/>
              </a:rPr>
              <a:t>t</a:t>
            </a:r>
            <a:r>
              <a:rPr lang="en-US" altLang="zh-TW" sz="2800" i="1" baseline="-20000">
                <a:sym typeface="Symbol" pitchFamily="2" charset="2"/>
              </a:rPr>
              <a:t>2</a:t>
            </a:r>
            <a:r>
              <a:rPr lang="en-US" altLang="zh-TW" sz="2800" i="1" baseline="-25000">
                <a:sym typeface="Symbol" pitchFamily="2" charset="2"/>
              </a:rPr>
              <a:t> </a:t>
            </a:r>
            <a:r>
              <a:rPr lang="en-US" altLang="zh-TW" sz="2800">
                <a:sym typeface="Symbol" pitchFamily="2" charset="2"/>
              </a:rPr>
              <a:t>[Y], definition of X  Y</a:t>
            </a:r>
          </a:p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Hence, </a:t>
            </a:r>
            <a:r>
              <a:rPr lang="en-US" altLang="zh-TW" sz="2800" i="1">
                <a:sym typeface="Symbol" pitchFamily="2" charset="2"/>
              </a:rPr>
              <a:t>t</a:t>
            </a:r>
            <a:r>
              <a:rPr lang="en-US" altLang="zh-TW" sz="2800" i="1" baseline="-20000">
                <a:sym typeface="Symbol" pitchFamily="2" charset="2"/>
              </a:rPr>
              <a:t>1</a:t>
            </a:r>
            <a:r>
              <a:rPr lang="en-US" altLang="zh-TW" sz="2800" i="1" baseline="-25000">
                <a:sym typeface="Symbol" pitchFamily="2" charset="2"/>
              </a:rPr>
              <a:t> </a:t>
            </a:r>
            <a:r>
              <a:rPr lang="en-US" altLang="zh-TW" sz="2800">
                <a:sym typeface="Symbol" pitchFamily="2" charset="2"/>
              </a:rPr>
              <a:t>[Z]   =  </a:t>
            </a:r>
            <a:r>
              <a:rPr lang="en-US" altLang="zh-TW" sz="2800" i="1">
                <a:sym typeface="Symbol" pitchFamily="2" charset="2"/>
              </a:rPr>
              <a:t>t</a:t>
            </a:r>
            <a:r>
              <a:rPr lang="en-US" altLang="zh-TW" sz="2800" i="1" baseline="-20000">
                <a:sym typeface="Symbol" pitchFamily="2" charset="2"/>
              </a:rPr>
              <a:t>2</a:t>
            </a:r>
            <a:r>
              <a:rPr lang="en-US" altLang="zh-TW" sz="2800" i="1" baseline="-25000">
                <a:sym typeface="Symbol" pitchFamily="2" charset="2"/>
              </a:rPr>
              <a:t> </a:t>
            </a:r>
            <a:r>
              <a:rPr lang="en-US" altLang="zh-TW" sz="2800">
                <a:sym typeface="Symbol" pitchFamily="2" charset="2"/>
              </a:rPr>
              <a:t>[Z], definition of Y Z</a:t>
            </a:r>
          </a:p>
          <a:p>
            <a:pPr eaLnBrk="1" hangingPunct="1">
              <a:buFontTx/>
              <a:buNone/>
            </a:pPr>
            <a:endParaRPr lang="en-US" altLang="zh-TW" sz="2800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Therefore, X Z</a:t>
            </a:r>
          </a:p>
          <a:p>
            <a:pPr eaLnBrk="1" hangingPunct="1">
              <a:buFontTx/>
              <a:buNone/>
            </a:pPr>
            <a:endParaRPr lang="en-US" altLang="zh-TW" sz="2800">
              <a:sym typeface="Symbol" pitchFamily="2" charset="2"/>
            </a:endParaRPr>
          </a:p>
          <a:p>
            <a:pPr eaLnBrk="1" hangingPunct="1">
              <a:buFontTx/>
              <a:buNone/>
            </a:pPr>
            <a:endParaRPr lang="zh-TW" altLang="en-US" sz="2800"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Number Placeholder 5">
            <a:extLst>
              <a:ext uri="{FF2B5EF4-FFF2-40B4-BE49-F238E27FC236}">
                <a16:creationId xmlns:a16="http://schemas.microsoft.com/office/drawing/2014/main" id="{681EEE26-E636-0442-8B88-1B0F68477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A93F03-379E-A242-AD1B-5647DDE5FD70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TW" sz="1400"/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242E8BEE-433E-114C-8460-707FCA064E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 sz="3600"/>
              <a:t>Additional rules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FAF3596-072E-884C-B4A6-2386A12C74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4724400"/>
          </a:xfrm>
        </p:spPr>
        <p:txBody>
          <a:bodyPr/>
          <a:lstStyle/>
          <a:p>
            <a:pPr eaLnBrk="1" hangingPunct="1"/>
            <a:r>
              <a:rPr lang="en-US" altLang="zh-TW"/>
              <a:t>Sometimes, it is convenient to use some additional rules while reasoning about F</a:t>
            </a:r>
            <a:r>
              <a:rPr lang="en-US" altLang="zh-TW" b="1" baseline="30000"/>
              <a:t>+</a:t>
            </a:r>
            <a:r>
              <a:rPr lang="en-US" altLang="zh-TW"/>
              <a:t>.</a:t>
            </a:r>
          </a:p>
          <a:p>
            <a:pPr eaLnBrk="1" hangingPunct="1"/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These additional rules are not essential in the sense that their soundness can be proved using Armstrong’s Axioms.</a:t>
            </a:r>
          </a:p>
          <a:p>
            <a:pPr eaLnBrk="1" hangingPunct="1"/>
            <a:endParaRPr lang="zh-TW" altLang="en-US" baseline="30000"/>
          </a:p>
        </p:txBody>
      </p:sp>
      <p:sp>
        <p:nvSpPr>
          <p:cNvPr id="38916" name="Text Box 4">
            <a:extLst>
              <a:ext uri="{FF2B5EF4-FFF2-40B4-BE49-F238E27FC236}">
                <a16:creationId xmlns:a16="http://schemas.microsoft.com/office/drawing/2014/main" id="{388FE80C-CCAA-EA49-8507-EE0723F9BB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628900"/>
            <a:ext cx="7585075" cy="1333500"/>
          </a:xfrm>
          <a:prstGeom prst="rect">
            <a:avLst/>
          </a:prstGeom>
          <a:solidFill>
            <a:srgbClr val="FFCC6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Clr>
                <a:srgbClr val="663300"/>
              </a:buClr>
              <a:buFont typeface="Wingdings" pitchFamily="2" charset="2"/>
              <a:buChar char="n"/>
            </a:pPr>
            <a:r>
              <a:rPr kumimoji="0" lang="en-US" altLang="zh-TW" sz="2400" b="1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 Union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: if </a:t>
            </a:r>
            <a:r>
              <a:rPr kumimoji="0" lang="en-US" altLang="zh-TW" sz="2400" i="1">
                <a:latin typeface="Arial" panose="020B0604020202020204" pitchFamily="34" charset="0"/>
                <a:sym typeface="Symbol" pitchFamily="2" charset="2"/>
              </a:rPr>
              <a:t>X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400" i="1">
                <a:latin typeface="Arial" panose="020B0604020202020204" pitchFamily="34" charset="0"/>
                <a:sym typeface="Symbol" pitchFamily="2" charset="2"/>
              </a:rPr>
              <a:t>Y  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and</a:t>
            </a:r>
            <a:r>
              <a:rPr kumimoji="0" lang="en-US" altLang="zh-TW" sz="2400" i="1">
                <a:latin typeface="Arial" panose="020B0604020202020204" pitchFamily="34" charset="0"/>
                <a:sym typeface="Symbol" pitchFamily="2" charset="2"/>
              </a:rPr>
              <a:t> X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400" i="1">
                <a:latin typeface="Arial" panose="020B0604020202020204" pitchFamily="34" charset="0"/>
                <a:sym typeface="Symbol" pitchFamily="2" charset="2"/>
              </a:rPr>
              <a:t>Z , 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then</a:t>
            </a:r>
            <a:r>
              <a:rPr kumimoji="0" lang="en-US" altLang="zh-TW" sz="2400" i="1">
                <a:latin typeface="Arial" panose="020B0604020202020204" pitchFamily="34" charset="0"/>
                <a:sym typeface="Symbol" pitchFamily="2" charset="2"/>
              </a:rPr>
              <a:t> X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400" i="1">
                <a:latin typeface="Arial" panose="020B0604020202020204" pitchFamily="34" charset="0"/>
                <a:sym typeface="Symbol" pitchFamily="2" charset="2"/>
              </a:rPr>
              <a:t>YZ.</a:t>
            </a:r>
          </a:p>
          <a:p>
            <a:pPr eaLnBrk="1" hangingPunct="1">
              <a:buClr>
                <a:srgbClr val="663300"/>
              </a:buClr>
              <a:buFont typeface="Wingdings" pitchFamily="2" charset="2"/>
              <a:buNone/>
            </a:pPr>
            <a:endParaRPr kumimoji="0" lang="en-US" altLang="zh-TW" sz="2400">
              <a:latin typeface="Arial" panose="020B0604020202020204" pitchFamily="34" charset="0"/>
              <a:sym typeface="Symbol" pitchFamily="2" charset="2"/>
            </a:endParaRPr>
          </a:p>
          <a:p>
            <a:pPr eaLnBrk="1" hangingPunct="1">
              <a:buClr>
                <a:srgbClr val="663300"/>
              </a:buClr>
              <a:buFont typeface="Wingdings" pitchFamily="2" charset="2"/>
              <a:buChar char="n"/>
            </a:pPr>
            <a:r>
              <a:rPr kumimoji="0" lang="en-US" altLang="zh-TW" sz="2400" b="1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 Decomposition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: if </a:t>
            </a:r>
            <a:r>
              <a:rPr kumimoji="0" lang="en-US" altLang="zh-TW" sz="2400" i="1">
                <a:latin typeface="Arial" panose="020B0604020202020204" pitchFamily="34" charset="0"/>
                <a:sym typeface="Symbol" pitchFamily="2" charset="2"/>
              </a:rPr>
              <a:t>X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400" i="1">
                <a:latin typeface="Arial" panose="020B0604020202020204" pitchFamily="34" charset="0"/>
                <a:sym typeface="Symbol" pitchFamily="2" charset="2"/>
              </a:rPr>
              <a:t>YZ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, then </a:t>
            </a:r>
            <a:r>
              <a:rPr kumimoji="0" lang="en-US" altLang="zh-TW" sz="2400" i="1">
                <a:latin typeface="Arial" panose="020B0604020202020204" pitchFamily="34" charset="0"/>
                <a:sym typeface="Symbol" pitchFamily="2" charset="2"/>
              </a:rPr>
              <a:t>X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400" i="1">
                <a:latin typeface="Arial" panose="020B0604020202020204" pitchFamily="34" charset="0"/>
                <a:sym typeface="Symbol" pitchFamily="2" charset="2"/>
              </a:rPr>
              <a:t>Y  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and</a:t>
            </a:r>
            <a:r>
              <a:rPr kumimoji="0" lang="en-US" altLang="zh-TW" sz="2400" i="1">
                <a:latin typeface="Arial" panose="020B0604020202020204" pitchFamily="34" charset="0"/>
                <a:sym typeface="Symbol" pitchFamily="2" charset="2"/>
              </a:rPr>
              <a:t> X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400" i="1">
                <a:latin typeface="Arial" panose="020B0604020202020204" pitchFamily="34" charset="0"/>
                <a:sym typeface="Symbol" pitchFamily="2" charset="2"/>
              </a:rPr>
              <a:t>Z.</a:t>
            </a:r>
            <a:endParaRPr lang="en-US" altLang="en-US" sz="2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Number Placeholder 5">
            <a:extLst>
              <a:ext uri="{FF2B5EF4-FFF2-40B4-BE49-F238E27FC236}">
                <a16:creationId xmlns:a16="http://schemas.microsoft.com/office/drawing/2014/main" id="{7B779219-63B8-D84C-8574-4DAC6C7FE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0836D5-C4E1-CA4E-BE06-F4AA8250F307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TW" sz="1400"/>
          </a:p>
        </p:txBody>
      </p:sp>
      <p:sp>
        <p:nvSpPr>
          <p:cNvPr id="39938" name="Rectangle 3">
            <a:extLst>
              <a:ext uri="{FF2B5EF4-FFF2-40B4-BE49-F238E27FC236}">
                <a16:creationId xmlns:a16="http://schemas.microsoft.com/office/drawing/2014/main" id="{29BC2E25-8531-7A48-9A7A-A224162CE4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5638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TW" sz="2800" u="sng">
                <a:solidFill>
                  <a:srgbClr val="000099"/>
                </a:solidFill>
                <a:sym typeface="Symbol" pitchFamily="2" charset="2"/>
              </a:rPr>
              <a:t>To show correctness of the union rule</a:t>
            </a:r>
            <a:r>
              <a:rPr lang="en-US" altLang="zh-TW" sz="2800" u="sng">
                <a:sym typeface="Symbol" pitchFamily="2" charset="2"/>
              </a:rPr>
              <a:t>:</a:t>
            </a:r>
          </a:p>
          <a:p>
            <a:pPr eaLnBrk="1" hangingPunct="1">
              <a:buFontTx/>
              <a:buNone/>
            </a:pPr>
            <a:endParaRPr lang="en-US" altLang="zh-TW" sz="2800" u="sng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400" i="1">
                <a:sym typeface="Symbol" pitchFamily="2" charset="2"/>
              </a:rPr>
              <a:t>X</a:t>
            </a:r>
            <a:r>
              <a:rPr lang="en-US" altLang="zh-TW" sz="2400">
                <a:sym typeface="Symbol" pitchFamily="2" charset="2"/>
              </a:rPr>
              <a:t>  </a:t>
            </a:r>
            <a:r>
              <a:rPr lang="en-US" altLang="zh-TW" sz="2400" i="1">
                <a:sym typeface="Symbol" pitchFamily="2" charset="2"/>
              </a:rPr>
              <a:t>Y  </a:t>
            </a:r>
            <a:r>
              <a:rPr lang="en-US" altLang="zh-TW" sz="2400">
                <a:sym typeface="Symbol" pitchFamily="2" charset="2"/>
              </a:rPr>
              <a:t>and</a:t>
            </a:r>
            <a:r>
              <a:rPr lang="en-US" altLang="zh-TW" sz="2400" i="1">
                <a:sym typeface="Symbol" pitchFamily="2" charset="2"/>
              </a:rPr>
              <a:t> X</a:t>
            </a:r>
            <a:r>
              <a:rPr lang="en-US" altLang="zh-TW" sz="2400">
                <a:sym typeface="Symbol" pitchFamily="2" charset="2"/>
              </a:rPr>
              <a:t>  </a:t>
            </a:r>
            <a:r>
              <a:rPr lang="en-US" altLang="zh-TW" sz="2400" i="1">
                <a:sym typeface="Symbol" pitchFamily="2" charset="2"/>
              </a:rPr>
              <a:t>Z , </a:t>
            </a:r>
            <a:r>
              <a:rPr lang="en-US" altLang="zh-TW" sz="2400">
                <a:sym typeface="Symbol" pitchFamily="2" charset="2"/>
              </a:rPr>
              <a:t>then</a:t>
            </a:r>
            <a:r>
              <a:rPr lang="en-US" altLang="zh-TW" sz="2400" i="1">
                <a:sym typeface="Symbol" pitchFamily="2" charset="2"/>
              </a:rPr>
              <a:t> X</a:t>
            </a:r>
            <a:r>
              <a:rPr lang="en-US" altLang="zh-TW" sz="2400">
                <a:sym typeface="Symbol" pitchFamily="2" charset="2"/>
              </a:rPr>
              <a:t>  </a:t>
            </a:r>
            <a:r>
              <a:rPr lang="en-US" altLang="zh-TW" sz="2400" i="1">
                <a:sym typeface="Symbol" pitchFamily="2" charset="2"/>
              </a:rPr>
              <a:t>YZ</a:t>
            </a:r>
            <a:r>
              <a:rPr lang="en-US" altLang="zh-TW" sz="2400">
                <a:sym typeface="Symbol" pitchFamily="2" charset="2"/>
              </a:rPr>
              <a:t>   ( </a:t>
            </a:r>
            <a:r>
              <a:rPr lang="en-US" altLang="zh-TW" sz="2400" b="1">
                <a:sym typeface="Symbol" pitchFamily="2" charset="2"/>
              </a:rPr>
              <a:t>union </a:t>
            </a:r>
            <a:r>
              <a:rPr lang="en-US" altLang="zh-TW" sz="2400">
                <a:sym typeface="Symbol" pitchFamily="2" charset="2"/>
              </a:rPr>
              <a:t>)</a:t>
            </a:r>
          </a:p>
          <a:p>
            <a:pPr eaLnBrk="1" hangingPunct="1">
              <a:buFontTx/>
              <a:buNone/>
            </a:pPr>
            <a:r>
              <a:rPr lang="en-US" altLang="zh-TW" sz="2400" u="sng">
                <a:sym typeface="Symbol" pitchFamily="2" charset="2"/>
              </a:rPr>
              <a:t>Proof:</a:t>
            </a:r>
          </a:p>
          <a:p>
            <a:pPr eaLnBrk="1" hangingPunct="1">
              <a:buFontTx/>
              <a:buNone/>
            </a:pPr>
            <a:r>
              <a:rPr lang="en-US" altLang="zh-TW" sz="2400" i="1">
                <a:sym typeface="Symbol" pitchFamily="2" charset="2"/>
              </a:rPr>
              <a:t>	X</a:t>
            </a:r>
            <a:r>
              <a:rPr lang="en-US" altLang="zh-TW" sz="2400">
                <a:sym typeface="Symbol" pitchFamily="2" charset="2"/>
              </a:rPr>
              <a:t>  </a:t>
            </a:r>
            <a:r>
              <a:rPr lang="en-US" altLang="zh-TW" sz="2400" i="1">
                <a:sym typeface="Symbol" pitchFamily="2" charset="2"/>
              </a:rPr>
              <a:t>Y</a:t>
            </a:r>
            <a:r>
              <a:rPr lang="en-US" altLang="zh-TW" sz="2400">
                <a:sym typeface="Symbol" pitchFamily="2" charset="2"/>
              </a:rPr>
              <a:t> 		</a:t>
            </a:r>
            <a:r>
              <a:rPr lang="en-US" altLang="zh-TW" sz="2400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 sz="2400">
                <a:sym typeface="Symbol" pitchFamily="2" charset="2"/>
              </a:rPr>
              <a:t> (1)  ( given )</a:t>
            </a:r>
          </a:p>
          <a:p>
            <a:pPr eaLnBrk="1" hangingPunct="1">
              <a:buFontTx/>
              <a:buNone/>
            </a:pPr>
            <a:r>
              <a:rPr lang="en-US" altLang="zh-TW" sz="2400" i="1">
                <a:sym typeface="Symbol" pitchFamily="2" charset="2"/>
              </a:rPr>
              <a:t>	X</a:t>
            </a:r>
            <a:r>
              <a:rPr lang="en-US" altLang="zh-TW" sz="2400">
                <a:sym typeface="Symbol" pitchFamily="2" charset="2"/>
              </a:rPr>
              <a:t>  </a:t>
            </a:r>
            <a:r>
              <a:rPr lang="en-US" altLang="zh-TW" sz="2400" i="1">
                <a:sym typeface="Symbol" pitchFamily="2" charset="2"/>
              </a:rPr>
              <a:t>Z</a:t>
            </a:r>
            <a:r>
              <a:rPr lang="en-US" altLang="zh-TW" sz="2400">
                <a:sym typeface="Symbol" pitchFamily="2" charset="2"/>
              </a:rPr>
              <a:t>		</a:t>
            </a:r>
            <a:r>
              <a:rPr lang="en-US" altLang="zh-TW" sz="2400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 sz="2400">
                <a:sym typeface="Symbol" pitchFamily="2" charset="2"/>
              </a:rPr>
              <a:t> (2)  ( given )</a:t>
            </a:r>
          </a:p>
          <a:p>
            <a:pPr eaLnBrk="1" hangingPunct="1">
              <a:buFontTx/>
              <a:buNone/>
            </a:pPr>
            <a:r>
              <a:rPr lang="en-US" altLang="zh-TW" sz="2400" i="1">
                <a:sym typeface="Symbol" pitchFamily="2" charset="2"/>
              </a:rPr>
              <a:t>	XX</a:t>
            </a:r>
            <a:r>
              <a:rPr lang="en-US" altLang="zh-TW" sz="2400">
                <a:sym typeface="Symbol" pitchFamily="2" charset="2"/>
              </a:rPr>
              <a:t>  </a:t>
            </a:r>
            <a:r>
              <a:rPr lang="en-US" altLang="zh-TW" sz="2400" i="1">
                <a:sym typeface="Symbol" pitchFamily="2" charset="2"/>
              </a:rPr>
              <a:t>XY </a:t>
            </a:r>
            <a:r>
              <a:rPr lang="en-US" altLang="zh-TW" sz="2400">
                <a:sym typeface="Symbol" pitchFamily="2" charset="2"/>
              </a:rPr>
              <a:t>		</a:t>
            </a:r>
            <a:r>
              <a:rPr lang="en-US" altLang="zh-TW" sz="2400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 sz="2400">
                <a:sym typeface="Symbol" pitchFamily="2" charset="2"/>
              </a:rPr>
              <a:t> (3)  ( augmentation on (1) )</a:t>
            </a:r>
          </a:p>
          <a:p>
            <a:pPr eaLnBrk="1" hangingPunct="1">
              <a:buFontTx/>
              <a:buNone/>
            </a:pPr>
            <a:r>
              <a:rPr lang="en-US" altLang="zh-TW" sz="2400" i="1">
                <a:sym typeface="Symbol" pitchFamily="2" charset="2"/>
              </a:rPr>
              <a:t>	X</a:t>
            </a:r>
            <a:r>
              <a:rPr lang="en-US" altLang="zh-TW" sz="2400">
                <a:sym typeface="Symbol" pitchFamily="2" charset="2"/>
              </a:rPr>
              <a:t>  </a:t>
            </a:r>
            <a:r>
              <a:rPr lang="en-US" altLang="zh-TW" sz="2400" i="1">
                <a:sym typeface="Symbol" pitchFamily="2" charset="2"/>
              </a:rPr>
              <a:t>XY </a:t>
            </a:r>
            <a:r>
              <a:rPr lang="en-US" altLang="zh-TW" sz="2400">
                <a:sym typeface="Symbol" pitchFamily="2" charset="2"/>
              </a:rPr>
              <a:t>		</a:t>
            </a:r>
            <a:r>
              <a:rPr lang="en-US" altLang="zh-TW" sz="2400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 sz="2400">
                <a:sym typeface="Symbol" pitchFamily="2" charset="2"/>
              </a:rPr>
              <a:t> (4)  ( simplify (3) )</a:t>
            </a:r>
          </a:p>
          <a:p>
            <a:pPr eaLnBrk="1" hangingPunct="1">
              <a:buFontTx/>
              <a:buNone/>
            </a:pPr>
            <a:r>
              <a:rPr lang="en-US" altLang="zh-TW" sz="2400" i="1">
                <a:sym typeface="Symbol" pitchFamily="2" charset="2"/>
              </a:rPr>
              <a:t>	XY</a:t>
            </a:r>
            <a:r>
              <a:rPr lang="en-US" altLang="zh-TW" sz="2400">
                <a:sym typeface="Symbol" pitchFamily="2" charset="2"/>
              </a:rPr>
              <a:t>  </a:t>
            </a:r>
            <a:r>
              <a:rPr lang="en-US" altLang="zh-TW" sz="2400" i="1">
                <a:sym typeface="Symbol" pitchFamily="2" charset="2"/>
              </a:rPr>
              <a:t>ZY</a:t>
            </a:r>
            <a:r>
              <a:rPr lang="en-US" altLang="zh-TW" sz="2400">
                <a:sym typeface="Symbol" pitchFamily="2" charset="2"/>
              </a:rPr>
              <a:t> 		</a:t>
            </a:r>
            <a:r>
              <a:rPr lang="en-US" altLang="zh-TW" sz="2400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 sz="2400">
                <a:sym typeface="Symbol" pitchFamily="2" charset="2"/>
              </a:rPr>
              <a:t> (5)  ( augmentation on (2) )</a:t>
            </a:r>
          </a:p>
          <a:p>
            <a:pPr eaLnBrk="1" hangingPunct="1">
              <a:buFontTx/>
              <a:buNone/>
            </a:pPr>
            <a:r>
              <a:rPr lang="en-US" altLang="zh-TW" sz="2400" i="1">
                <a:sym typeface="Symbol" pitchFamily="2" charset="2"/>
              </a:rPr>
              <a:t>	X</a:t>
            </a:r>
            <a:r>
              <a:rPr lang="en-US" altLang="zh-TW" sz="2400">
                <a:sym typeface="Symbol" pitchFamily="2" charset="2"/>
              </a:rPr>
              <a:t>  </a:t>
            </a:r>
            <a:r>
              <a:rPr lang="en-US" altLang="zh-TW" sz="2400" i="1">
                <a:sym typeface="Symbol" pitchFamily="2" charset="2"/>
              </a:rPr>
              <a:t>ZY </a:t>
            </a:r>
            <a:r>
              <a:rPr lang="en-US" altLang="zh-TW" sz="2400">
                <a:sym typeface="Symbol" pitchFamily="2" charset="2"/>
              </a:rPr>
              <a:t>		</a:t>
            </a:r>
            <a:r>
              <a:rPr lang="en-US" altLang="zh-TW" sz="2400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 sz="2400">
                <a:sym typeface="Symbol" pitchFamily="2" charset="2"/>
              </a:rPr>
              <a:t> (6)  ( transitivity on (4) and (5) )</a:t>
            </a:r>
          </a:p>
          <a:p>
            <a:pPr eaLnBrk="1" hangingPunct="1">
              <a:buFontTx/>
              <a:buNone/>
            </a:pPr>
            <a:endParaRPr lang="en-US" altLang="zh-TW" sz="2400" u="sng">
              <a:sym typeface="Symbol" pitchFamily="2" charset="2"/>
            </a:endParaRPr>
          </a:p>
          <a:p>
            <a:pPr eaLnBrk="1" hangingPunct="1"/>
            <a:endParaRPr lang="zh-TW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Number Placeholder 5">
            <a:extLst>
              <a:ext uri="{FF2B5EF4-FFF2-40B4-BE49-F238E27FC236}">
                <a16:creationId xmlns:a16="http://schemas.microsoft.com/office/drawing/2014/main" id="{58C4A070-BB59-3A4B-9A14-884865450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8CA428C-2EB4-A644-948B-CB15B1587FAA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TW" sz="1400"/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EC972B4F-F4FA-DC43-A855-3009FA9F06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533400"/>
            <a:ext cx="7772400" cy="5486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TW" sz="2800" u="sng">
                <a:solidFill>
                  <a:srgbClr val="000099"/>
                </a:solidFill>
                <a:sym typeface="Symbol" pitchFamily="2" charset="2"/>
              </a:rPr>
              <a:t>To show correctness of the decomposition rule:</a:t>
            </a:r>
          </a:p>
          <a:p>
            <a:pPr eaLnBrk="1" hangingPunct="1">
              <a:buFontTx/>
              <a:buNone/>
            </a:pPr>
            <a:endParaRPr lang="en-US" altLang="zh-TW" sz="2800" u="sng">
              <a:solidFill>
                <a:srgbClr val="000099"/>
              </a:solidFill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if </a:t>
            </a:r>
            <a:r>
              <a:rPr lang="en-US" altLang="zh-TW" sz="2400" i="1">
                <a:sym typeface="Symbol" pitchFamily="2" charset="2"/>
              </a:rPr>
              <a:t>X</a:t>
            </a:r>
            <a:r>
              <a:rPr lang="en-US" altLang="zh-TW" sz="2400">
                <a:sym typeface="Symbol" pitchFamily="2" charset="2"/>
              </a:rPr>
              <a:t>  </a:t>
            </a:r>
            <a:r>
              <a:rPr lang="en-US" altLang="zh-TW" sz="2400" i="1">
                <a:sym typeface="Symbol" pitchFamily="2" charset="2"/>
              </a:rPr>
              <a:t>YZ </a:t>
            </a:r>
            <a:r>
              <a:rPr lang="en-US" altLang="zh-TW" sz="2400">
                <a:sym typeface="Symbol" pitchFamily="2" charset="2"/>
              </a:rPr>
              <a:t>, then </a:t>
            </a:r>
            <a:r>
              <a:rPr lang="en-US" altLang="zh-TW" sz="2400" i="1">
                <a:sym typeface="Symbol" pitchFamily="2" charset="2"/>
              </a:rPr>
              <a:t>X</a:t>
            </a:r>
            <a:r>
              <a:rPr lang="en-US" altLang="zh-TW" sz="2400">
                <a:sym typeface="Symbol" pitchFamily="2" charset="2"/>
              </a:rPr>
              <a:t>  </a:t>
            </a:r>
            <a:r>
              <a:rPr lang="en-US" altLang="zh-TW" sz="2400" i="1">
                <a:sym typeface="Symbol" pitchFamily="2" charset="2"/>
              </a:rPr>
              <a:t>Y  </a:t>
            </a:r>
            <a:r>
              <a:rPr lang="en-US" altLang="zh-TW" sz="2400">
                <a:sym typeface="Symbol" pitchFamily="2" charset="2"/>
              </a:rPr>
              <a:t>and</a:t>
            </a:r>
            <a:r>
              <a:rPr lang="en-US" altLang="zh-TW" sz="2400" i="1">
                <a:sym typeface="Symbol" pitchFamily="2" charset="2"/>
              </a:rPr>
              <a:t> X</a:t>
            </a:r>
            <a:r>
              <a:rPr lang="en-US" altLang="zh-TW" sz="2400">
                <a:sym typeface="Symbol" pitchFamily="2" charset="2"/>
              </a:rPr>
              <a:t>  </a:t>
            </a:r>
            <a:r>
              <a:rPr lang="en-US" altLang="zh-TW" sz="2400" i="1">
                <a:sym typeface="Symbol" pitchFamily="2" charset="2"/>
              </a:rPr>
              <a:t>Z  </a:t>
            </a:r>
            <a:r>
              <a:rPr lang="en-US" altLang="zh-TW" sz="2400">
                <a:sym typeface="Symbol" pitchFamily="2" charset="2"/>
              </a:rPr>
              <a:t>(decomposition)  </a:t>
            </a:r>
          </a:p>
          <a:p>
            <a:pPr eaLnBrk="1" hangingPunct="1">
              <a:buFontTx/>
              <a:buNone/>
            </a:pPr>
            <a:r>
              <a:rPr lang="en-US" altLang="zh-TW" sz="2400" u="sng">
                <a:sym typeface="Symbol" pitchFamily="2" charset="2"/>
              </a:rPr>
              <a:t>Proof:</a:t>
            </a:r>
            <a:endParaRPr lang="en-US" altLang="zh-TW" sz="2400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400" i="1">
                <a:sym typeface="Symbol" pitchFamily="2" charset="2"/>
              </a:rPr>
              <a:t>	X</a:t>
            </a:r>
            <a:r>
              <a:rPr lang="en-US" altLang="zh-TW" sz="2400">
                <a:sym typeface="Symbol" pitchFamily="2" charset="2"/>
              </a:rPr>
              <a:t>  </a:t>
            </a:r>
            <a:r>
              <a:rPr lang="en-US" altLang="zh-TW" sz="2400" i="1">
                <a:sym typeface="Symbol" pitchFamily="2" charset="2"/>
              </a:rPr>
              <a:t>YZ </a:t>
            </a:r>
            <a:r>
              <a:rPr lang="en-US" altLang="zh-TW" sz="2400">
                <a:sym typeface="Symbol" pitchFamily="2" charset="2"/>
              </a:rPr>
              <a:t>		</a:t>
            </a:r>
            <a:r>
              <a:rPr lang="en-US" altLang="zh-TW" sz="2400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 sz="2400">
                <a:sym typeface="Symbol" pitchFamily="2" charset="2"/>
              </a:rPr>
              <a:t> (1)  ( given )</a:t>
            </a:r>
          </a:p>
          <a:p>
            <a:pPr eaLnBrk="1" hangingPunct="1">
              <a:buFontTx/>
              <a:buNone/>
            </a:pPr>
            <a:r>
              <a:rPr lang="en-US" altLang="zh-TW" sz="2400" i="1">
                <a:sym typeface="Symbol" pitchFamily="2" charset="2"/>
              </a:rPr>
              <a:t>	YZ </a:t>
            </a:r>
            <a:r>
              <a:rPr lang="en-US" altLang="zh-TW" sz="2400">
                <a:sym typeface="Symbol" pitchFamily="2" charset="2"/>
              </a:rPr>
              <a:t>  </a:t>
            </a:r>
            <a:r>
              <a:rPr lang="en-US" altLang="zh-TW" sz="2400" i="1">
                <a:sym typeface="Symbol" pitchFamily="2" charset="2"/>
              </a:rPr>
              <a:t>Y</a:t>
            </a:r>
            <a:r>
              <a:rPr lang="en-US" altLang="zh-TW" sz="2400">
                <a:sym typeface="Symbol" pitchFamily="2" charset="2"/>
              </a:rPr>
              <a:t> 		</a:t>
            </a:r>
            <a:r>
              <a:rPr lang="en-US" altLang="zh-TW" sz="2400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 sz="2400">
                <a:sym typeface="Symbol" pitchFamily="2" charset="2"/>
              </a:rPr>
              <a:t> (2)  ( reflexivity )</a:t>
            </a:r>
          </a:p>
          <a:p>
            <a:pPr eaLnBrk="1" hangingPunct="1">
              <a:buFontTx/>
              <a:buNone/>
            </a:pPr>
            <a:r>
              <a:rPr lang="en-US" altLang="zh-TW" sz="2400" i="1">
                <a:sym typeface="Symbol" pitchFamily="2" charset="2"/>
              </a:rPr>
              <a:t>	X</a:t>
            </a:r>
            <a:r>
              <a:rPr lang="en-US" altLang="zh-TW" sz="2400">
                <a:sym typeface="Symbol" pitchFamily="2" charset="2"/>
              </a:rPr>
              <a:t>  </a:t>
            </a:r>
            <a:r>
              <a:rPr lang="en-US" altLang="zh-TW" sz="2400" i="1">
                <a:sym typeface="Symbol" pitchFamily="2" charset="2"/>
              </a:rPr>
              <a:t>Y </a:t>
            </a:r>
            <a:r>
              <a:rPr lang="en-US" altLang="zh-TW" sz="2400">
                <a:sym typeface="Symbol" pitchFamily="2" charset="2"/>
              </a:rPr>
              <a:t>		</a:t>
            </a:r>
            <a:r>
              <a:rPr lang="en-US" altLang="zh-TW" sz="2400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 sz="2400">
                <a:sym typeface="Symbol" pitchFamily="2" charset="2"/>
              </a:rPr>
              <a:t> (3)  ( transitivity on (1), (2) )</a:t>
            </a:r>
          </a:p>
          <a:p>
            <a:pPr eaLnBrk="1" hangingPunct="1">
              <a:buFontTx/>
              <a:buNone/>
            </a:pPr>
            <a:r>
              <a:rPr lang="en-US" altLang="zh-TW" sz="2400" i="1">
                <a:sym typeface="Symbol" pitchFamily="2" charset="2"/>
              </a:rPr>
              <a:t>	YZ </a:t>
            </a:r>
            <a:r>
              <a:rPr lang="en-US" altLang="zh-TW" sz="2400">
                <a:sym typeface="Symbol" pitchFamily="2" charset="2"/>
              </a:rPr>
              <a:t>  </a:t>
            </a:r>
            <a:r>
              <a:rPr lang="en-US" altLang="zh-TW" sz="2400" i="1">
                <a:sym typeface="Symbol" pitchFamily="2" charset="2"/>
              </a:rPr>
              <a:t>Z</a:t>
            </a:r>
            <a:r>
              <a:rPr lang="en-US" altLang="zh-TW" sz="2400">
                <a:sym typeface="Symbol" pitchFamily="2" charset="2"/>
              </a:rPr>
              <a:t> 		</a:t>
            </a:r>
            <a:r>
              <a:rPr lang="en-US" altLang="zh-TW" sz="2400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 sz="2400">
                <a:sym typeface="Symbol" pitchFamily="2" charset="2"/>
              </a:rPr>
              <a:t> (4)  ( reflexivity )</a:t>
            </a:r>
          </a:p>
          <a:p>
            <a:pPr eaLnBrk="1" hangingPunct="1">
              <a:buFontTx/>
              <a:buNone/>
            </a:pPr>
            <a:r>
              <a:rPr lang="en-US" altLang="zh-TW" sz="2400" i="1">
                <a:sym typeface="Symbol" pitchFamily="2" charset="2"/>
              </a:rPr>
              <a:t>	X</a:t>
            </a:r>
            <a:r>
              <a:rPr lang="en-US" altLang="zh-TW" sz="2400">
                <a:sym typeface="Symbol" pitchFamily="2" charset="2"/>
              </a:rPr>
              <a:t>  </a:t>
            </a:r>
            <a:r>
              <a:rPr lang="en-US" altLang="zh-TW" sz="2400" i="1">
                <a:sym typeface="Symbol" pitchFamily="2" charset="2"/>
              </a:rPr>
              <a:t>Z </a:t>
            </a:r>
            <a:r>
              <a:rPr lang="en-US" altLang="zh-TW" sz="2400">
                <a:sym typeface="Symbol" pitchFamily="2" charset="2"/>
              </a:rPr>
              <a:t>		</a:t>
            </a:r>
            <a:r>
              <a:rPr lang="en-US" altLang="zh-TW" sz="2400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 sz="2400">
                <a:sym typeface="Symbol" pitchFamily="2" charset="2"/>
              </a:rPr>
              <a:t> (5)  ( transitivity on (1), (4) )</a:t>
            </a:r>
          </a:p>
          <a:p>
            <a:pPr eaLnBrk="1" hangingPunct="1">
              <a:buFontTx/>
              <a:buNone/>
            </a:pPr>
            <a:endParaRPr lang="en-US" altLang="zh-TW" sz="2400">
              <a:sym typeface="Symbol" pitchFamily="2" charset="2"/>
            </a:endParaRPr>
          </a:p>
          <a:p>
            <a:pPr eaLnBrk="1" hangingPunct="1"/>
            <a:endParaRPr lang="zh-TW" altLang="en-US" sz="240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Number Placeholder 5">
            <a:extLst>
              <a:ext uri="{FF2B5EF4-FFF2-40B4-BE49-F238E27FC236}">
                <a16:creationId xmlns:a16="http://schemas.microsoft.com/office/drawing/2014/main" id="{00E81864-8830-C842-83AA-678EEDFA5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EAEBFD-690F-E04D-863A-5C45D22EE3E0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TW" sz="1400"/>
          </a:p>
        </p:txBody>
      </p:sp>
      <p:sp>
        <p:nvSpPr>
          <p:cNvPr id="41986" name="Rectangle 3">
            <a:extLst>
              <a:ext uri="{FF2B5EF4-FFF2-40B4-BE49-F238E27FC236}">
                <a16:creationId xmlns:a16="http://schemas.microsoft.com/office/drawing/2014/main" id="{FB649AF6-3645-D54D-8882-4A60351726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400" y="533400"/>
            <a:ext cx="8153400" cy="5562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1800">
                <a:sym typeface="Symbol" pitchFamily="2" charset="2"/>
              </a:rPr>
              <a:t>R	= ( A, B, C 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1800">
                <a:sym typeface="Symbol" pitchFamily="2" charset="2"/>
              </a:rPr>
              <a:t>F 	= {	A  B, B  C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1800" i="1">
                <a:sym typeface="Symbol" pitchFamily="2" charset="2"/>
              </a:rPr>
              <a:t>F</a:t>
            </a:r>
            <a:r>
              <a:rPr lang="en-US" altLang="zh-TW" sz="1800" baseline="50000">
                <a:sym typeface="Symbol" pitchFamily="2" charset="2"/>
              </a:rPr>
              <a:t>+</a:t>
            </a:r>
            <a:r>
              <a:rPr lang="en-US" altLang="zh-TW" sz="1800">
                <a:sym typeface="Symbol" pitchFamily="2" charset="2"/>
              </a:rPr>
              <a:t>	= {	A  A, B  B, C  C,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1800">
                <a:sym typeface="Symbol" pitchFamily="2" charset="2"/>
              </a:rPr>
              <a:t>		AB  AB,  BC  BC,  AC  AC,  ABC  ABC,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1800">
                <a:sym typeface="Symbol" pitchFamily="2" charset="2"/>
              </a:rPr>
              <a:t>		AB  A,  AB  B,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1800">
                <a:sym typeface="Symbol" pitchFamily="2" charset="2"/>
              </a:rPr>
              <a:t>		BC  B,  BC  C,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1800">
                <a:sym typeface="Symbol" pitchFamily="2" charset="2"/>
              </a:rPr>
              <a:t>		AC  A,  AC  C,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1800">
                <a:sym typeface="Symbol" pitchFamily="2" charset="2"/>
              </a:rPr>
              <a:t>		ABC  AB, ABC  BC, ABC  AC,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1800">
                <a:sym typeface="Symbol" pitchFamily="2" charset="2"/>
              </a:rPr>
              <a:t>		ABC  A, ABC  B, ABC  C,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1800">
                <a:sym typeface="Symbol" pitchFamily="2" charset="2"/>
              </a:rPr>
              <a:t>		A  B,	</a:t>
            </a:r>
            <a:r>
              <a:rPr lang="en-US" altLang="zh-TW" sz="1800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 sz="1800">
                <a:sym typeface="Symbol" pitchFamily="2" charset="2"/>
              </a:rPr>
              <a:t> (1) ( given 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1800">
                <a:sym typeface="Symbol" pitchFamily="2" charset="2"/>
              </a:rPr>
              <a:t>		B  C,	</a:t>
            </a:r>
            <a:r>
              <a:rPr lang="en-US" altLang="zh-TW" sz="1800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 sz="1800">
                <a:sym typeface="Symbol" pitchFamily="2" charset="2"/>
              </a:rPr>
              <a:t> (2) ( given 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1800">
                <a:sym typeface="Symbol" pitchFamily="2" charset="2"/>
              </a:rPr>
              <a:t>		A  C,	</a:t>
            </a:r>
            <a:r>
              <a:rPr lang="en-US" altLang="zh-TW" sz="1800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 sz="1800">
                <a:sym typeface="Symbol" pitchFamily="2" charset="2"/>
              </a:rPr>
              <a:t> (3) ( transitivity on (1) and (2) 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0" lang="en-US" altLang="zh-TW" sz="1800">
                <a:latin typeface="Arial" panose="020B0604020202020204" pitchFamily="34" charset="0"/>
                <a:sym typeface="Symbol" pitchFamily="2" charset="2"/>
              </a:rPr>
              <a:t>		AC  BC,  … (4) ( augmentation on (1) )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1800">
                <a:latin typeface="Arial" panose="020B0604020202020204" pitchFamily="34" charset="0"/>
                <a:sym typeface="Symbol" pitchFamily="2" charset="2"/>
              </a:rPr>
              <a:t>		AC  B,	… (5) ( decomposition on (4) )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1800">
                <a:latin typeface="Arial" panose="020B0604020202020204" pitchFamily="34" charset="0"/>
                <a:sym typeface="Symbol" pitchFamily="2" charset="2"/>
              </a:rPr>
              <a:t>		A  AB,	… (6) ( augmentation on (1) )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1800">
                <a:latin typeface="Arial" panose="020B0604020202020204" pitchFamily="34" charset="0"/>
                <a:sym typeface="Symbol" pitchFamily="2" charset="2"/>
              </a:rPr>
              <a:t>		AB  AC,  AB  C, B  BC,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1800">
                <a:latin typeface="Arial" panose="020B0604020202020204" pitchFamily="34" charset="0"/>
                <a:sym typeface="Symbol" pitchFamily="2" charset="2"/>
              </a:rPr>
              <a:t>		A  AC,  AB  BC, AB  ABC,  AC  ABC, A  BC, A  ABC }</a:t>
            </a:r>
          </a:p>
          <a:p>
            <a:pPr eaLnBrk="1" hangingPunct="1">
              <a:lnSpc>
                <a:spcPct val="90000"/>
              </a:lnSpc>
            </a:pPr>
            <a:endParaRPr lang="zh-TW" altLang="en-US" sz="1800"/>
          </a:p>
        </p:txBody>
      </p:sp>
      <p:sp>
        <p:nvSpPr>
          <p:cNvPr id="41987" name="Rectangle 4">
            <a:extLst>
              <a:ext uri="{FF2B5EF4-FFF2-40B4-BE49-F238E27FC236}">
                <a16:creationId xmlns:a16="http://schemas.microsoft.com/office/drawing/2014/main" id="{2A517768-21CF-6649-954F-882F5D036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143000"/>
            <a:ext cx="5181600" cy="2133600"/>
          </a:xfrm>
          <a:prstGeom prst="rect">
            <a:avLst/>
          </a:prstGeom>
          <a:noFill/>
          <a:ln w="9525">
            <a:solidFill>
              <a:srgbClr val="CC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2400">
              <a:solidFill>
                <a:srgbClr val="CC0000"/>
              </a:solidFill>
            </a:endParaRPr>
          </a:p>
        </p:txBody>
      </p:sp>
      <p:sp>
        <p:nvSpPr>
          <p:cNvPr id="41988" name="Text Box 5">
            <a:extLst>
              <a:ext uri="{FF2B5EF4-FFF2-40B4-BE49-F238E27FC236}">
                <a16:creationId xmlns:a16="http://schemas.microsoft.com/office/drawing/2014/main" id="{CC7B70BB-3FA3-4648-8218-6E41DE2D55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925" y="1433513"/>
            <a:ext cx="1909763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CC0000"/>
                </a:solidFill>
              </a:rPr>
              <a:t>Using reflexivity, we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CC0000"/>
                </a:solidFill>
              </a:rPr>
              <a:t>can generate all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CC0000"/>
                </a:solidFill>
              </a:rPr>
              <a:t>trivial dependencies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Number Placeholder 5">
            <a:extLst>
              <a:ext uri="{FF2B5EF4-FFF2-40B4-BE49-F238E27FC236}">
                <a16:creationId xmlns:a16="http://schemas.microsoft.com/office/drawing/2014/main" id="{23449AD5-79EA-EC4B-A63F-DBE4E025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E07495-43EF-3047-B72C-8B9B1233B145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TW" sz="1400"/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4863A0C0-8BAE-B845-A8A3-25EB71ABDA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Attribute Closure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9D6A76F-2CEC-4F43-B9F6-8AD14FC18A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400">
                <a:sym typeface="Symbol" pitchFamily="2" charset="2"/>
              </a:rPr>
              <a:t>Computing the closure of a set of FDs can be expensive</a:t>
            </a:r>
          </a:p>
          <a:p>
            <a:pPr eaLnBrk="1" hangingPunct="1"/>
            <a:r>
              <a:rPr lang="en-US" altLang="zh-TW" sz="2400">
                <a:sym typeface="Symbol" pitchFamily="2" charset="2"/>
              </a:rPr>
              <a:t>In many cases, we just want to check if a given FD 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	</a:t>
            </a:r>
            <a:r>
              <a:rPr lang="en-US" altLang="zh-TW" sz="2400" i="1">
                <a:sym typeface="Symbol" pitchFamily="2" charset="2"/>
              </a:rPr>
              <a:t>X</a:t>
            </a:r>
            <a:r>
              <a:rPr lang="en-US" altLang="zh-TW" sz="2400">
                <a:sym typeface="Symbol" pitchFamily="2" charset="2"/>
              </a:rPr>
              <a:t>  Y is in F</a:t>
            </a:r>
            <a:r>
              <a:rPr lang="en-US" altLang="zh-TW" sz="2400" baseline="50000">
                <a:sym typeface="Symbol" pitchFamily="2" charset="2"/>
              </a:rPr>
              <a:t>+</a:t>
            </a:r>
            <a:r>
              <a:rPr lang="en-US" altLang="zh-TW" sz="2400">
                <a:sym typeface="Symbol" pitchFamily="2" charset="2"/>
              </a:rPr>
              <a:t>.</a:t>
            </a:r>
          </a:p>
          <a:p>
            <a:pPr eaLnBrk="1" hangingPunct="1">
              <a:buFontTx/>
              <a:buNone/>
            </a:pPr>
            <a:endParaRPr lang="en-US" altLang="zh-TW" sz="2400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400" i="1">
                <a:sym typeface="Symbol" pitchFamily="2" charset="2"/>
              </a:rPr>
              <a:t>	X</a:t>
            </a:r>
            <a:r>
              <a:rPr lang="en-US" altLang="zh-TW" sz="2400">
                <a:sym typeface="Symbol" pitchFamily="2" charset="2"/>
              </a:rPr>
              <a:t> -  a set of attributes</a:t>
            </a:r>
          </a:p>
          <a:p>
            <a:pPr eaLnBrk="1" hangingPunct="1">
              <a:buFontTx/>
              <a:buNone/>
            </a:pPr>
            <a:r>
              <a:rPr lang="en-US" altLang="zh-TW" sz="2400" i="1">
                <a:sym typeface="Symbol" pitchFamily="2" charset="2"/>
              </a:rPr>
              <a:t>	F </a:t>
            </a:r>
            <a:r>
              <a:rPr lang="en-US" altLang="zh-TW" sz="2400">
                <a:sym typeface="Symbol" pitchFamily="2" charset="2"/>
              </a:rPr>
              <a:t>-  a set of functional dependencies</a:t>
            </a:r>
          </a:p>
        </p:txBody>
      </p:sp>
      <p:sp>
        <p:nvSpPr>
          <p:cNvPr id="43012" name="Rectangle 4">
            <a:extLst>
              <a:ext uri="{FF2B5EF4-FFF2-40B4-BE49-F238E27FC236}">
                <a16:creationId xmlns:a16="http://schemas.microsoft.com/office/drawing/2014/main" id="{F9890452-A719-2548-9627-6587B9F211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495800"/>
            <a:ext cx="7696200" cy="944563"/>
          </a:xfrm>
          <a:prstGeom prst="rect">
            <a:avLst/>
          </a:prstGeom>
          <a:solidFill>
            <a:srgbClr val="FFCC99">
              <a:alpha val="50195"/>
            </a:srgbClr>
          </a:solidFill>
          <a:ln w="12700">
            <a:solidFill>
              <a:schemeClr val="bg2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400" i="1">
                <a:latin typeface="Arial" panose="020B0604020202020204" pitchFamily="34" charset="0"/>
                <a:sym typeface="Symbol" pitchFamily="2" charset="2"/>
              </a:rPr>
              <a:t>X</a:t>
            </a:r>
            <a:r>
              <a:rPr kumimoji="0" lang="en-US" altLang="zh-TW" sz="2400" baseline="50000">
                <a:latin typeface="Arial" panose="020B0604020202020204" pitchFamily="34" charset="0"/>
                <a:sym typeface="Symbol" pitchFamily="2" charset="2"/>
              </a:rPr>
              <a:t>+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  -   </a:t>
            </a:r>
            <a:r>
              <a:rPr kumimoji="0" lang="en-US" altLang="zh-TW" sz="2400" b="1">
                <a:latin typeface="Arial" panose="020B0604020202020204" pitchFamily="34" charset="0"/>
                <a:sym typeface="Symbol" pitchFamily="2" charset="2"/>
              </a:rPr>
              <a:t>closure of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 </a:t>
            </a:r>
            <a:r>
              <a:rPr kumimoji="0" lang="en-US" altLang="zh-TW" sz="2400" i="1">
                <a:latin typeface="Arial" panose="020B0604020202020204" pitchFamily="34" charset="0"/>
                <a:sym typeface="Symbol" pitchFamily="2" charset="2"/>
              </a:rPr>
              <a:t>X </a:t>
            </a:r>
            <a:r>
              <a:rPr kumimoji="0" lang="en-US" altLang="zh-TW" sz="2400" b="1">
                <a:latin typeface="Arial" panose="020B0604020202020204" pitchFamily="34" charset="0"/>
                <a:sym typeface="Symbol" pitchFamily="2" charset="2"/>
              </a:rPr>
              <a:t>under F 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set of attributes functionally determined by </a:t>
            </a:r>
            <a:r>
              <a:rPr kumimoji="0" lang="en-US" altLang="zh-TW" sz="2400" i="1">
                <a:latin typeface="Arial" panose="020B0604020202020204" pitchFamily="34" charset="0"/>
                <a:sym typeface="Symbol" pitchFamily="2" charset="2"/>
              </a:rPr>
              <a:t>X 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under </a:t>
            </a:r>
            <a:r>
              <a:rPr kumimoji="0" lang="en-US" altLang="zh-TW" sz="2400" i="1">
                <a:latin typeface="Arial" panose="020B0604020202020204" pitchFamily="34" charset="0"/>
                <a:sym typeface="Symbol" pitchFamily="2" charset="2"/>
              </a:rPr>
              <a:t>F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Number Placeholder 3">
            <a:extLst>
              <a:ext uri="{FF2B5EF4-FFF2-40B4-BE49-F238E27FC236}">
                <a16:creationId xmlns:a16="http://schemas.microsoft.com/office/drawing/2014/main" id="{0360EE32-5087-1D40-A9CE-23F6A4A68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15A137-6559-DD4E-BBA6-D6C9F3E1198D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TW" sz="140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43F03585-0237-8C43-9886-0DB13882C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95400"/>
            <a:ext cx="8458200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>
                <a:sym typeface="Symbol" pitchFamily="2" charset="2"/>
              </a:rPr>
              <a:t>Example:</a:t>
            </a:r>
          </a:p>
          <a:p>
            <a:pPr eaLnBrk="1" hangingPunct="1">
              <a:buFontTx/>
              <a:buNone/>
            </a:pPr>
            <a:endParaRPr lang="en-US" altLang="zh-TW" sz="1600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i="1">
                <a:sym typeface="Symbol" pitchFamily="2" charset="2"/>
              </a:rPr>
              <a:t>  F	</a:t>
            </a:r>
            <a:r>
              <a:rPr lang="en-US" altLang="zh-TW">
                <a:sym typeface="Symbol" pitchFamily="2" charset="2"/>
              </a:rPr>
              <a:t>=   { </a:t>
            </a:r>
            <a:r>
              <a:rPr lang="en-US" altLang="zh-TW" i="1">
                <a:sym typeface="Symbol" pitchFamily="2" charset="2"/>
              </a:rPr>
              <a:t>A</a:t>
            </a:r>
            <a:r>
              <a:rPr lang="en-US" altLang="zh-TW">
                <a:sym typeface="Symbol" pitchFamily="2" charset="2"/>
              </a:rPr>
              <a:t>  </a:t>
            </a:r>
            <a:r>
              <a:rPr lang="en-US" altLang="zh-TW" i="1">
                <a:sym typeface="Symbol" pitchFamily="2" charset="2"/>
              </a:rPr>
              <a:t>B</a:t>
            </a:r>
            <a:r>
              <a:rPr lang="en-US" altLang="zh-TW">
                <a:sym typeface="Symbol" pitchFamily="2" charset="2"/>
              </a:rPr>
              <a:t>, </a:t>
            </a:r>
            <a:r>
              <a:rPr lang="en-US" altLang="zh-TW" i="1">
                <a:sym typeface="Symbol" pitchFamily="2" charset="2"/>
              </a:rPr>
              <a:t>B</a:t>
            </a:r>
            <a:r>
              <a:rPr lang="en-US" altLang="zh-TW">
                <a:sym typeface="Symbol" pitchFamily="2" charset="2"/>
              </a:rPr>
              <a:t>  </a:t>
            </a:r>
            <a:r>
              <a:rPr lang="en-US" altLang="zh-TW" i="1">
                <a:sym typeface="Symbol" pitchFamily="2" charset="2"/>
              </a:rPr>
              <a:t>C</a:t>
            </a:r>
            <a:r>
              <a:rPr lang="en-US" altLang="zh-TW">
                <a:sym typeface="Symbol" pitchFamily="2" charset="2"/>
              </a:rPr>
              <a:t> }</a:t>
            </a:r>
          </a:p>
          <a:p>
            <a:pPr eaLnBrk="1" hangingPunct="1">
              <a:buFontTx/>
              <a:buNone/>
            </a:pPr>
            <a:r>
              <a:rPr lang="en-US" altLang="zh-TW" i="1">
                <a:sym typeface="Symbol" pitchFamily="2" charset="2"/>
              </a:rPr>
              <a:t>  A</a:t>
            </a:r>
            <a:r>
              <a:rPr lang="en-US" altLang="zh-TW" baseline="50000">
                <a:sym typeface="Symbol" pitchFamily="2" charset="2"/>
              </a:rPr>
              <a:t>+	</a:t>
            </a:r>
            <a:r>
              <a:rPr lang="en-US" altLang="zh-TW">
                <a:sym typeface="Symbol" pitchFamily="2" charset="2"/>
              </a:rPr>
              <a:t>=   </a:t>
            </a:r>
            <a:r>
              <a:rPr lang="en-US" altLang="zh-TW" i="1">
                <a:sym typeface="Symbol" pitchFamily="2" charset="2"/>
              </a:rPr>
              <a:t>ABC</a:t>
            </a:r>
          </a:p>
          <a:p>
            <a:pPr eaLnBrk="1" hangingPunct="1">
              <a:buFontTx/>
              <a:buNone/>
            </a:pPr>
            <a:r>
              <a:rPr lang="en-US" altLang="zh-TW" i="1">
                <a:sym typeface="Symbol" pitchFamily="2" charset="2"/>
              </a:rPr>
              <a:t>  B</a:t>
            </a:r>
            <a:r>
              <a:rPr lang="en-US" altLang="zh-TW" baseline="50000">
                <a:sym typeface="Symbol" pitchFamily="2" charset="2"/>
              </a:rPr>
              <a:t>+	</a:t>
            </a:r>
            <a:r>
              <a:rPr lang="en-US" altLang="zh-TW">
                <a:sym typeface="Symbol" pitchFamily="2" charset="2"/>
              </a:rPr>
              <a:t>=   </a:t>
            </a:r>
            <a:r>
              <a:rPr lang="en-US" altLang="zh-TW" i="1">
                <a:sym typeface="Symbol" pitchFamily="2" charset="2"/>
              </a:rPr>
              <a:t>BC</a:t>
            </a:r>
          </a:p>
          <a:p>
            <a:pPr eaLnBrk="1" hangingPunct="1">
              <a:buFontTx/>
              <a:buNone/>
            </a:pPr>
            <a:r>
              <a:rPr lang="en-US" altLang="zh-TW" i="1">
                <a:sym typeface="Symbol" pitchFamily="2" charset="2"/>
              </a:rPr>
              <a:t>  C</a:t>
            </a:r>
            <a:r>
              <a:rPr lang="en-US" altLang="zh-TW" baseline="50000">
                <a:sym typeface="Symbol" pitchFamily="2" charset="2"/>
              </a:rPr>
              <a:t>+	</a:t>
            </a:r>
            <a:r>
              <a:rPr lang="en-US" altLang="zh-TW">
                <a:sym typeface="Symbol" pitchFamily="2" charset="2"/>
              </a:rPr>
              <a:t>=   </a:t>
            </a:r>
            <a:r>
              <a:rPr lang="en-US" altLang="zh-TW" i="1">
                <a:sym typeface="Symbol" pitchFamily="2" charset="2"/>
              </a:rPr>
              <a:t>C</a:t>
            </a:r>
          </a:p>
          <a:p>
            <a:pPr eaLnBrk="1" hangingPunct="1">
              <a:buFontTx/>
              <a:buNone/>
            </a:pPr>
            <a:r>
              <a:rPr lang="en-US" altLang="zh-TW" i="1">
                <a:sym typeface="Symbol" pitchFamily="2" charset="2"/>
              </a:rPr>
              <a:t>  AB</a:t>
            </a:r>
            <a:r>
              <a:rPr lang="en-US" altLang="zh-TW" baseline="50000">
                <a:sym typeface="Symbol" pitchFamily="2" charset="2"/>
              </a:rPr>
              <a:t>+</a:t>
            </a:r>
            <a:r>
              <a:rPr lang="en-US" altLang="zh-TW">
                <a:sym typeface="Symbol" pitchFamily="2" charset="2"/>
              </a:rPr>
              <a:t>	=   </a:t>
            </a:r>
            <a:r>
              <a:rPr lang="en-US" altLang="zh-TW" i="1">
                <a:sym typeface="Symbol" pitchFamily="2" charset="2"/>
              </a:rPr>
              <a:t>ABC</a:t>
            </a:r>
          </a:p>
          <a:p>
            <a:pPr eaLnBrk="1" hangingPunct="1">
              <a:buFontTx/>
              <a:buNone/>
            </a:pPr>
            <a:endParaRPr lang="zh-TW" altLang="en-US" i="1"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Number Placeholder 3">
            <a:extLst>
              <a:ext uri="{FF2B5EF4-FFF2-40B4-BE49-F238E27FC236}">
                <a16:creationId xmlns:a16="http://schemas.microsoft.com/office/drawing/2014/main" id="{EC9DD6C7-E5F6-FD4F-B9BF-C0FA02D84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84C256-BD32-0E4D-A640-ECFD0C530548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TW" sz="140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2C6D79C8-9755-774C-BB29-2A1D59AF8A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19200"/>
            <a:ext cx="7391400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Algorithm to compute closure of attributes </a:t>
            </a:r>
            <a:r>
              <a:rPr kumimoji="0" lang="en-US" altLang="zh-TW" sz="2400" i="1">
                <a:latin typeface="Arial" panose="020B0604020202020204" pitchFamily="34" charset="0"/>
                <a:sym typeface="Symbol" pitchFamily="2" charset="2"/>
              </a:rPr>
              <a:t>X</a:t>
            </a:r>
            <a:r>
              <a:rPr kumimoji="0" lang="en-US" altLang="zh-TW" sz="2400" i="1" baseline="40000">
                <a:latin typeface="Arial" panose="020B0604020202020204" pitchFamily="34" charset="0"/>
                <a:sym typeface="Symbol" pitchFamily="2" charset="2"/>
              </a:rPr>
              <a:t>+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 under F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endParaRPr kumimoji="0" lang="en-US" altLang="zh-TW" sz="1200">
              <a:latin typeface="Arial" panose="020B0604020202020204" pitchFamily="34" charset="0"/>
              <a:sym typeface="Symbol" pitchFamily="2" charset="2"/>
            </a:endParaRP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AADB8F3E-238D-4645-9578-FAA0E25A2D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828800"/>
            <a:ext cx="7848600" cy="4114800"/>
          </a:xfrm>
          <a:prstGeom prst="rect">
            <a:avLst/>
          </a:prstGeom>
          <a:solidFill>
            <a:srgbClr val="FFCC99">
              <a:alpha val="50195"/>
            </a:srgbClr>
          </a:solidFill>
          <a:ln w="38100" cmpd="dbl">
            <a:solidFill>
              <a:schemeClr val="bg2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    </a:t>
            </a:r>
            <a:r>
              <a:rPr lang="en-US" altLang="zh-TW" sz="2800" i="1">
                <a:sym typeface="Symbol" pitchFamily="2" charset="2"/>
              </a:rPr>
              <a:t>closure</a:t>
            </a:r>
            <a:r>
              <a:rPr lang="en-US" altLang="zh-TW" sz="2800">
                <a:sym typeface="Symbol" pitchFamily="2" charset="2"/>
              </a:rPr>
              <a:t> := </a:t>
            </a:r>
            <a:r>
              <a:rPr lang="en-US" altLang="zh-TW" sz="2800" i="1">
                <a:sym typeface="Symbol" pitchFamily="2" charset="2"/>
              </a:rPr>
              <a:t>X </a:t>
            </a:r>
            <a:r>
              <a:rPr lang="en-US" altLang="zh-TW" sz="2800">
                <a:sym typeface="Symbol" pitchFamily="2" charset="2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	</a:t>
            </a:r>
            <a:r>
              <a:rPr lang="en-US" altLang="zh-TW" sz="2800" b="1">
                <a:sym typeface="Symbol" pitchFamily="2" charset="2"/>
              </a:rPr>
              <a:t>Repeat</a:t>
            </a:r>
          </a:p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		</a:t>
            </a:r>
            <a:r>
              <a:rPr lang="en-US" altLang="zh-TW" sz="2800" b="1">
                <a:sym typeface="Symbol" pitchFamily="2" charset="2"/>
              </a:rPr>
              <a:t>for each</a:t>
            </a:r>
            <a:r>
              <a:rPr lang="en-US" altLang="zh-TW" sz="2800">
                <a:sym typeface="Symbol" pitchFamily="2" charset="2"/>
              </a:rPr>
              <a:t> </a:t>
            </a:r>
            <a:r>
              <a:rPr lang="en-US" altLang="zh-TW" sz="2800" i="1">
                <a:sym typeface="Symbol" pitchFamily="2" charset="2"/>
              </a:rPr>
              <a:t>U</a:t>
            </a:r>
            <a:r>
              <a:rPr lang="en-US" altLang="zh-TW" sz="2800">
                <a:sym typeface="Symbol" pitchFamily="2" charset="2"/>
              </a:rPr>
              <a:t>  </a:t>
            </a:r>
            <a:r>
              <a:rPr lang="en-US" altLang="zh-TW" sz="2800" i="1">
                <a:sym typeface="Symbol" pitchFamily="2" charset="2"/>
              </a:rPr>
              <a:t>V</a:t>
            </a:r>
            <a:r>
              <a:rPr lang="en-US" altLang="zh-TW" sz="2800">
                <a:sym typeface="Symbol" pitchFamily="2" charset="2"/>
              </a:rPr>
              <a:t>  </a:t>
            </a:r>
            <a:r>
              <a:rPr lang="en-US" altLang="zh-TW" sz="2800" b="1">
                <a:sym typeface="Symbol" pitchFamily="2" charset="2"/>
              </a:rPr>
              <a:t>in</a:t>
            </a:r>
            <a:r>
              <a:rPr lang="en-US" altLang="zh-TW" sz="2800">
                <a:sym typeface="Symbol" pitchFamily="2" charset="2"/>
              </a:rPr>
              <a:t> </a:t>
            </a:r>
            <a:r>
              <a:rPr lang="en-US" altLang="zh-TW" sz="2800" i="1">
                <a:sym typeface="Symbol" pitchFamily="2" charset="2"/>
              </a:rPr>
              <a:t>F</a:t>
            </a:r>
            <a:r>
              <a:rPr lang="en-US" altLang="zh-TW" sz="2800">
                <a:sym typeface="Symbol" pitchFamily="2" charset="2"/>
              </a:rPr>
              <a:t> </a:t>
            </a:r>
            <a:r>
              <a:rPr lang="en-US" altLang="zh-TW" sz="2800" b="1">
                <a:sym typeface="Symbol" pitchFamily="2" charset="2"/>
              </a:rPr>
              <a:t>do</a:t>
            </a:r>
            <a:r>
              <a:rPr lang="en-US" altLang="zh-TW" sz="2800">
                <a:sym typeface="Symbol" pitchFamily="2" charset="2"/>
              </a:rPr>
              <a:t> </a:t>
            </a:r>
          </a:p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		</a:t>
            </a:r>
            <a:r>
              <a:rPr lang="en-US" altLang="zh-TW" sz="2800" b="1">
                <a:sym typeface="Symbol" pitchFamily="2" charset="2"/>
              </a:rPr>
              <a:t>begin</a:t>
            </a:r>
          </a:p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			</a:t>
            </a:r>
            <a:r>
              <a:rPr lang="en-US" altLang="zh-TW" sz="2800" b="1">
                <a:sym typeface="Symbol" pitchFamily="2" charset="2"/>
              </a:rPr>
              <a:t>if</a:t>
            </a:r>
            <a:r>
              <a:rPr lang="en-US" altLang="zh-TW" sz="2800">
                <a:sym typeface="Symbol" pitchFamily="2" charset="2"/>
              </a:rPr>
              <a:t> </a:t>
            </a:r>
            <a:r>
              <a:rPr lang="en-US" altLang="zh-TW" sz="2800" i="1">
                <a:sym typeface="Symbol" pitchFamily="2" charset="2"/>
              </a:rPr>
              <a:t>U</a:t>
            </a:r>
            <a:r>
              <a:rPr lang="en-US" altLang="zh-TW" sz="2800">
                <a:sym typeface="Symbol" pitchFamily="2" charset="2"/>
              </a:rPr>
              <a:t>  </a:t>
            </a:r>
            <a:r>
              <a:rPr lang="en-US" altLang="zh-TW" sz="2800" i="1">
                <a:sym typeface="Symbol" pitchFamily="2" charset="2"/>
              </a:rPr>
              <a:t>closure</a:t>
            </a:r>
          </a:p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			</a:t>
            </a:r>
            <a:r>
              <a:rPr lang="en-US" altLang="zh-TW" sz="2800" b="1">
                <a:sym typeface="Symbol" pitchFamily="2" charset="2"/>
              </a:rPr>
              <a:t>then</a:t>
            </a:r>
            <a:r>
              <a:rPr lang="en-US" altLang="zh-TW" sz="2800">
                <a:sym typeface="Symbol" pitchFamily="2" charset="2"/>
              </a:rPr>
              <a:t> </a:t>
            </a:r>
            <a:r>
              <a:rPr lang="en-US" altLang="zh-TW" sz="2800" i="1">
                <a:sym typeface="Symbol" pitchFamily="2" charset="2"/>
              </a:rPr>
              <a:t>closure</a:t>
            </a:r>
            <a:r>
              <a:rPr lang="en-US" altLang="zh-TW" sz="2800">
                <a:sym typeface="Symbol" pitchFamily="2" charset="2"/>
              </a:rPr>
              <a:t> := </a:t>
            </a:r>
            <a:r>
              <a:rPr lang="en-US" altLang="zh-TW" sz="2800" i="1">
                <a:sym typeface="Symbol" pitchFamily="2" charset="2"/>
              </a:rPr>
              <a:t>closure</a:t>
            </a:r>
            <a:r>
              <a:rPr lang="en-US" altLang="zh-TW" sz="2800">
                <a:sym typeface="Symbol" pitchFamily="2" charset="2"/>
              </a:rPr>
              <a:t>  </a:t>
            </a:r>
            <a:r>
              <a:rPr lang="en-US" altLang="zh-TW" sz="2800" i="1">
                <a:sym typeface="Symbol" pitchFamily="2" charset="2"/>
              </a:rPr>
              <a:t>V</a:t>
            </a:r>
            <a:r>
              <a:rPr lang="en-US" altLang="zh-TW" sz="2800">
                <a:sym typeface="Symbol" pitchFamily="2" charset="2"/>
              </a:rPr>
              <a:t> ;</a:t>
            </a:r>
          </a:p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		</a:t>
            </a:r>
            <a:r>
              <a:rPr lang="en-US" altLang="zh-TW" sz="2800" b="1">
                <a:sym typeface="Symbol" pitchFamily="2" charset="2"/>
              </a:rPr>
              <a:t>end</a:t>
            </a:r>
          </a:p>
          <a:p>
            <a:pPr eaLnBrk="1" hangingPunct="1">
              <a:buFontTx/>
              <a:buNone/>
            </a:pPr>
            <a:r>
              <a:rPr lang="en-US" altLang="zh-TW" sz="2800" b="1">
                <a:sym typeface="Symbol" pitchFamily="2" charset="2"/>
              </a:rPr>
              <a:t>	Until </a:t>
            </a:r>
            <a:r>
              <a:rPr lang="en-US" altLang="zh-TW" sz="2800">
                <a:sym typeface="Symbol" pitchFamily="2" charset="2"/>
              </a:rPr>
              <a:t>(there is no change in </a:t>
            </a:r>
            <a:r>
              <a:rPr lang="en-US" altLang="zh-TW" sz="2800" i="1">
                <a:sym typeface="Symbol" pitchFamily="2" charset="2"/>
              </a:rPr>
              <a:t>closure</a:t>
            </a:r>
            <a:r>
              <a:rPr lang="en-US" altLang="zh-TW" sz="2800">
                <a:sym typeface="Symbol" pitchFamily="2" charset="2"/>
              </a:rPr>
              <a:t>)</a:t>
            </a:r>
            <a:endParaRPr lang="en-US" altLang="zh-TW" sz="2800" b="1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zh-TW" altLang="en-US" sz="2800" i="1">
                <a:sym typeface="Symbol" pitchFamily="2" charset="2"/>
              </a:rPr>
              <a:t> 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Number Placeholder 3">
            <a:extLst>
              <a:ext uri="{FF2B5EF4-FFF2-40B4-BE49-F238E27FC236}">
                <a16:creationId xmlns:a16="http://schemas.microsoft.com/office/drawing/2014/main" id="{5EE39629-844E-B247-8BBE-F13D96CEC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AE7F02-7C7B-DC4C-A9CF-2295DA43A381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TW" sz="1400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B49976DF-9203-344A-A052-B123D1286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990600"/>
            <a:ext cx="84582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R	= ( </a:t>
            </a:r>
            <a:r>
              <a:rPr lang="en-US" altLang="zh-TW" sz="2800" i="1">
                <a:sym typeface="Symbol" pitchFamily="2" charset="2"/>
              </a:rPr>
              <a:t>A</a:t>
            </a:r>
            <a:r>
              <a:rPr lang="en-US" altLang="zh-TW" sz="2800">
                <a:sym typeface="Symbol" pitchFamily="2" charset="2"/>
              </a:rPr>
              <a:t>, </a:t>
            </a:r>
            <a:r>
              <a:rPr lang="en-US" altLang="zh-TW" sz="2800" i="1">
                <a:sym typeface="Symbol" pitchFamily="2" charset="2"/>
              </a:rPr>
              <a:t>B</a:t>
            </a:r>
            <a:r>
              <a:rPr lang="en-US" altLang="zh-TW" sz="2800">
                <a:sym typeface="Symbol" pitchFamily="2" charset="2"/>
              </a:rPr>
              <a:t>, </a:t>
            </a:r>
            <a:r>
              <a:rPr lang="en-US" altLang="zh-TW" sz="2800" i="1">
                <a:sym typeface="Symbol" pitchFamily="2" charset="2"/>
              </a:rPr>
              <a:t>C</a:t>
            </a:r>
            <a:r>
              <a:rPr lang="en-US" altLang="zh-TW" sz="2800">
                <a:sym typeface="Symbol" pitchFamily="2" charset="2"/>
              </a:rPr>
              <a:t>, </a:t>
            </a:r>
            <a:r>
              <a:rPr lang="en-US" altLang="zh-TW" sz="2800" i="1">
                <a:sym typeface="Symbol" pitchFamily="2" charset="2"/>
              </a:rPr>
              <a:t>G</a:t>
            </a:r>
            <a:r>
              <a:rPr lang="en-US" altLang="zh-TW" sz="2800">
                <a:sym typeface="Symbol" pitchFamily="2" charset="2"/>
              </a:rPr>
              <a:t>, </a:t>
            </a:r>
            <a:r>
              <a:rPr lang="en-US" altLang="zh-TW" sz="2800" i="1">
                <a:sym typeface="Symbol" pitchFamily="2" charset="2"/>
              </a:rPr>
              <a:t>H</a:t>
            </a:r>
            <a:r>
              <a:rPr lang="en-US" altLang="zh-TW" sz="2800">
                <a:sym typeface="Symbol" pitchFamily="2" charset="2"/>
              </a:rPr>
              <a:t>, </a:t>
            </a:r>
            <a:r>
              <a:rPr lang="en-US" altLang="zh-TW" sz="2800" i="1">
                <a:sym typeface="Symbol" pitchFamily="2" charset="2"/>
              </a:rPr>
              <a:t>I</a:t>
            </a:r>
            <a:r>
              <a:rPr lang="en-US" altLang="zh-TW" sz="2800">
                <a:sym typeface="Symbol" pitchFamily="2" charset="2"/>
              </a:rPr>
              <a:t> )</a:t>
            </a:r>
          </a:p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F	= {	</a:t>
            </a:r>
            <a:r>
              <a:rPr lang="en-US" altLang="zh-TW" sz="2800" i="1">
                <a:sym typeface="Symbol" pitchFamily="2" charset="2"/>
              </a:rPr>
              <a:t>A</a:t>
            </a:r>
            <a:r>
              <a:rPr lang="en-US" altLang="zh-TW" sz="2800">
                <a:sym typeface="Symbol" pitchFamily="2" charset="2"/>
              </a:rPr>
              <a:t>  </a:t>
            </a:r>
            <a:r>
              <a:rPr lang="en-US" altLang="zh-TW" sz="2800" i="1">
                <a:sym typeface="Symbol" pitchFamily="2" charset="2"/>
              </a:rPr>
              <a:t>B</a:t>
            </a:r>
            <a:r>
              <a:rPr lang="en-US" altLang="zh-TW" sz="2800">
                <a:sym typeface="Symbol" pitchFamily="2" charset="2"/>
              </a:rPr>
              <a:t>, </a:t>
            </a:r>
            <a:r>
              <a:rPr lang="en-US" altLang="zh-TW" sz="2800" i="1">
                <a:sym typeface="Symbol" pitchFamily="2" charset="2"/>
              </a:rPr>
              <a:t>A</a:t>
            </a:r>
            <a:r>
              <a:rPr lang="en-US" altLang="zh-TW" sz="2800">
                <a:sym typeface="Symbol" pitchFamily="2" charset="2"/>
              </a:rPr>
              <a:t>  </a:t>
            </a:r>
            <a:r>
              <a:rPr lang="en-US" altLang="zh-TW" sz="2800" i="1">
                <a:sym typeface="Symbol" pitchFamily="2" charset="2"/>
              </a:rPr>
              <a:t>C</a:t>
            </a:r>
            <a:r>
              <a:rPr lang="en-US" altLang="zh-TW" sz="2800">
                <a:sym typeface="Symbol" pitchFamily="2" charset="2"/>
              </a:rPr>
              <a:t>, </a:t>
            </a:r>
            <a:r>
              <a:rPr lang="en-US" altLang="zh-TW" sz="2800" i="1">
                <a:sym typeface="Symbol" pitchFamily="2" charset="2"/>
              </a:rPr>
              <a:t>CG</a:t>
            </a:r>
            <a:r>
              <a:rPr lang="en-US" altLang="zh-TW" sz="2800">
                <a:sym typeface="Symbol" pitchFamily="2" charset="2"/>
              </a:rPr>
              <a:t>  </a:t>
            </a:r>
            <a:r>
              <a:rPr lang="en-US" altLang="zh-TW" sz="2800" i="1">
                <a:sym typeface="Symbol" pitchFamily="2" charset="2"/>
              </a:rPr>
              <a:t>H</a:t>
            </a:r>
            <a:r>
              <a:rPr lang="en-US" altLang="zh-TW" sz="2800">
                <a:sym typeface="Symbol" pitchFamily="2" charset="2"/>
              </a:rPr>
              <a:t>, </a:t>
            </a:r>
            <a:r>
              <a:rPr lang="en-US" altLang="zh-TW" sz="2800" i="1">
                <a:sym typeface="Symbol" pitchFamily="2" charset="2"/>
              </a:rPr>
              <a:t>CG</a:t>
            </a:r>
            <a:r>
              <a:rPr lang="en-US" altLang="zh-TW" sz="2800">
                <a:sym typeface="Symbol" pitchFamily="2" charset="2"/>
              </a:rPr>
              <a:t>  </a:t>
            </a:r>
            <a:r>
              <a:rPr lang="en-US" altLang="zh-TW" sz="2800" i="1">
                <a:sym typeface="Symbol" pitchFamily="2" charset="2"/>
              </a:rPr>
              <a:t>I</a:t>
            </a:r>
            <a:r>
              <a:rPr lang="en-US" altLang="zh-TW" sz="2800">
                <a:sym typeface="Symbol" pitchFamily="2" charset="2"/>
              </a:rPr>
              <a:t>, </a:t>
            </a:r>
            <a:r>
              <a:rPr lang="en-US" altLang="zh-TW" sz="2800" i="1">
                <a:sym typeface="Symbol" pitchFamily="2" charset="2"/>
              </a:rPr>
              <a:t>B</a:t>
            </a:r>
            <a:r>
              <a:rPr lang="en-US" altLang="zh-TW" sz="2800">
                <a:sym typeface="Symbol" pitchFamily="2" charset="2"/>
              </a:rPr>
              <a:t>  </a:t>
            </a:r>
            <a:r>
              <a:rPr lang="en-US" altLang="zh-TW" sz="2800" i="1">
                <a:sym typeface="Symbol" pitchFamily="2" charset="2"/>
              </a:rPr>
              <a:t>H</a:t>
            </a:r>
            <a:r>
              <a:rPr lang="en-US" altLang="zh-TW" sz="2800">
                <a:sym typeface="Symbol" pitchFamily="2" charset="2"/>
              </a:rPr>
              <a:t> }</a:t>
            </a:r>
          </a:p>
          <a:p>
            <a:pPr eaLnBrk="1" hangingPunct="1">
              <a:buFontTx/>
              <a:buNone/>
            </a:pPr>
            <a:endParaRPr lang="en-US" altLang="zh-TW" sz="1400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To compute </a:t>
            </a:r>
            <a:r>
              <a:rPr lang="en-US" altLang="zh-TW" sz="2800" i="1">
                <a:sym typeface="Symbol" pitchFamily="2" charset="2"/>
              </a:rPr>
              <a:t>AG</a:t>
            </a:r>
            <a:r>
              <a:rPr lang="en-US" altLang="zh-TW" sz="2800" baseline="40000">
                <a:sym typeface="Symbol" pitchFamily="2" charset="2"/>
              </a:rPr>
              <a:t>+</a:t>
            </a:r>
          </a:p>
          <a:p>
            <a:pPr eaLnBrk="1" hangingPunct="1">
              <a:buFontTx/>
              <a:buNone/>
            </a:pPr>
            <a:r>
              <a:rPr lang="en-US" altLang="zh-TW" sz="2800" i="1">
                <a:sym typeface="Symbol" pitchFamily="2" charset="2"/>
              </a:rPr>
              <a:t>	closure</a:t>
            </a:r>
            <a:r>
              <a:rPr lang="en-US" altLang="zh-TW" sz="2800">
                <a:sym typeface="Symbol" pitchFamily="2" charset="2"/>
              </a:rPr>
              <a:t> = </a:t>
            </a:r>
            <a:r>
              <a:rPr lang="en-US" altLang="zh-TW" sz="2800" i="1">
                <a:sym typeface="Symbol" pitchFamily="2" charset="2"/>
              </a:rPr>
              <a:t>AG</a:t>
            </a:r>
          </a:p>
          <a:p>
            <a:pPr eaLnBrk="1" hangingPunct="1">
              <a:buFontTx/>
              <a:buNone/>
            </a:pPr>
            <a:r>
              <a:rPr lang="en-US" altLang="zh-TW" sz="2800" i="1">
                <a:sym typeface="Symbol" pitchFamily="2" charset="2"/>
              </a:rPr>
              <a:t>	closure</a:t>
            </a:r>
            <a:r>
              <a:rPr lang="en-US" altLang="zh-TW" sz="2800">
                <a:sym typeface="Symbol" pitchFamily="2" charset="2"/>
              </a:rPr>
              <a:t> = </a:t>
            </a:r>
            <a:r>
              <a:rPr lang="en-US" altLang="zh-TW" sz="2800" i="1">
                <a:sym typeface="Symbol" pitchFamily="2" charset="2"/>
              </a:rPr>
              <a:t>ABG</a:t>
            </a:r>
            <a:r>
              <a:rPr lang="en-US" altLang="zh-TW" sz="2800">
                <a:sym typeface="Symbol" pitchFamily="2" charset="2"/>
              </a:rPr>
              <a:t>	  ( </a:t>
            </a:r>
            <a:r>
              <a:rPr lang="en-US" altLang="zh-TW" sz="2800" i="1">
                <a:sym typeface="Symbol" pitchFamily="2" charset="2"/>
              </a:rPr>
              <a:t>A</a:t>
            </a:r>
            <a:r>
              <a:rPr lang="en-US" altLang="zh-TW" sz="2800">
                <a:sym typeface="Symbol" pitchFamily="2" charset="2"/>
              </a:rPr>
              <a:t>  </a:t>
            </a:r>
            <a:r>
              <a:rPr lang="en-US" altLang="zh-TW" sz="2800" i="1">
                <a:sym typeface="Symbol" pitchFamily="2" charset="2"/>
              </a:rPr>
              <a:t>B</a:t>
            </a:r>
            <a:r>
              <a:rPr lang="en-US" altLang="zh-TW" sz="2800">
                <a:sym typeface="Symbol" pitchFamily="2" charset="2"/>
              </a:rPr>
              <a:t> )</a:t>
            </a:r>
          </a:p>
          <a:p>
            <a:pPr eaLnBrk="1" hangingPunct="1">
              <a:buFontTx/>
              <a:buNone/>
            </a:pPr>
            <a:r>
              <a:rPr lang="en-US" altLang="zh-TW" sz="2800" i="1">
                <a:sym typeface="Symbol" pitchFamily="2" charset="2"/>
              </a:rPr>
              <a:t>	closure</a:t>
            </a:r>
            <a:r>
              <a:rPr lang="en-US" altLang="zh-TW" sz="2800">
                <a:sym typeface="Symbol" pitchFamily="2" charset="2"/>
              </a:rPr>
              <a:t> = </a:t>
            </a:r>
            <a:r>
              <a:rPr lang="en-US" altLang="zh-TW" sz="2800" i="1">
                <a:sym typeface="Symbol" pitchFamily="2" charset="2"/>
              </a:rPr>
              <a:t>ABCG</a:t>
            </a:r>
            <a:r>
              <a:rPr lang="en-US" altLang="zh-TW" sz="2800">
                <a:sym typeface="Symbol" pitchFamily="2" charset="2"/>
              </a:rPr>
              <a:t>	  ( </a:t>
            </a:r>
            <a:r>
              <a:rPr lang="en-US" altLang="zh-TW" sz="2800" i="1">
                <a:sym typeface="Symbol" pitchFamily="2" charset="2"/>
              </a:rPr>
              <a:t>A</a:t>
            </a:r>
            <a:r>
              <a:rPr lang="en-US" altLang="zh-TW" sz="2800">
                <a:sym typeface="Symbol" pitchFamily="2" charset="2"/>
              </a:rPr>
              <a:t>  </a:t>
            </a:r>
            <a:r>
              <a:rPr lang="en-US" altLang="zh-TW" sz="2800" i="1">
                <a:sym typeface="Symbol" pitchFamily="2" charset="2"/>
              </a:rPr>
              <a:t>C</a:t>
            </a:r>
            <a:r>
              <a:rPr lang="en-US" altLang="zh-TW" sz="2800">
                <a:sym typeface="Symbol" pitchFamily="2" charset="2"/>
              </a:rPr>
              <a:t> )</a:t>
            </a:r>
          </a:p>
          <a:p>
            <a:pPr eaLnBrk="1" hangingPunct="1">
              <a:buFontTx/>
              <a:buNone/>
            </a:pPr>
            <a:r>
              <a:rPr lang="en-US" altLang="zh-TW" sz="2800" i="1">
                <a:sym typeface="Symbol" pitchFamily="2" charset="2"/>
              </a:rPr>
              <a:t>	closure</a:t>
            </a:r>
            <a:r>
              <a:rPr lang="en-US" altLang="zh-TW" sz="2800">
                <a:sym typeface="Symbol" pitchFamily="2" charset="2"/>
              </a:rPr>
              <a:t> = </a:t>
            </a:r>
            <a:r>
              <a:rPr lang="en-US" altLang="zh-TW" sz="2800" i="1">
                <a:sym typeface="Symbol" pitchFamily="2" charset="2"/>
              </a:rPr>
              <a:t>ABCGH</a:t>
            </a:r>
            <a:r>
              <a:rPr lang="en-US" altLang="zh-TW" sz="2800">
                <a:sym typeface="Symbol" pitchFamily="2" charset="2"/>
              </a:rPr>
              <a:t>   ( </a:t>
            </a:r>
            <a:r>
              <a:rPr lang="en-US" altLang="zh-TW" sz="2800" i="1">
                <a:sym typeface="Symbol" pitchFamily="2" charset="2"/>
              </a:rPr>
              <a:t>CG</a:t>
            </a:r>
            <a:r>
              <a:rPr lang="en-US" altLang="zh-TW" sz="2800">
                <a:sym typeface="Symbol" pitchFamily="2" charset="2"/>
              </a:rPr>
              <a:t>  </a:t>
            </a:r>
            <a:r>
              <a:rPr lang="en-US" altLang="zh-TW" sz="2800" i="1">
                <a:sym typeface="Symbol" pitchFamily="2" charset="2"/>
              </a:rPr>
              <a:t>H</a:t>
            </a:r>
            <a:r>
              <a:rPr lang="en-US" altLang="zh-TW" sz="2800">
                <a:sym typeface="Symbol" pitchFamily="2" charset="2"/>
              </a:rPr>
              <a:t> )</a:t>
            </a:r>
          </a:p>
          <a:p>
            <a:pPr eaLnBrk="1" hangingPunct="1">
              <a:buFontTx/>
              <a:buNone/>
            </a:pPr>
            <a:r>
              <a:rPr lang="en-US" altLang="zh-TW" sz="2800" i="1">
                <a:sym typeface="Symbol" pitchFamily="2" charset="2"/>
              </a:rPr>
              <a:t>	closure</a:t>
            </a:r>
            <a:r>
              <a:rPr lang="en-US" altLang="zh-TW" sz="2800">
                <a:sym typeface="Symbol" pitchFamily="2" charset="2"/>
              </a:rPr>
              <a:t> = </a:t>
            </a:r>
            <a:r>
              <a:rPr lang="en-US" altLang="zh-TW" sz="2800" i="1">
                <a:sym typeface="Symbol" pitchFamily="2" charset="2"/>
              </a:rPr>
              <a:t>ABCGHI</a:t>
            </a:r>
            <a:r>
              <a:rPr lang="en-US" altLang="zh-TW" sz="2800">
                <a:sym typeface="Symbol" pitchFamily="2" charset="2"/>
              </a:rPr>
              <a:t>  ( </a:t>
            </a:r>
            <a:r>
              <a:rPr lang="en-US" altLang="zh-TW" sz="2800" i="1">
                <a:sym typeface="Symbol" pitchFamily="2" charset="2"/>
              </a:rPr>
              <a:t>CG</a:t>
            </a:r>
            <a:r>
              <a:rPr lang="en-US" altLang="zh-TW" sz="2800">
                <a:sym typeface="Symbol" pitchFamily="2" charset="2"/>
              </a:rPr>
              <a:t>  </a:t>
            </a:r>
            <a:r>
              <a:rPr lang="en-US" altLang="zh-TW" sz="2800" i="1">
                <a:sym typeface="Symbol" pitchFamily="2" charset="2"/>
              </a:rPr>
              <a:t>I</a:t>
            </a:r>
            <a:r>
              <a:rPr lang="en-US" altLang="zh-TW" sz="2800">
                <a:sym typeface="Symbol" pitchFamily="2" charset="2"/>
              </a:rPr>
              <a:t> )</a:t>
            </a:r>
          </a:p>
          <a:p>
            <a:pPr eaLnBrk="1" hangingPunct="1">
              <a:buFontTx/>
              <a:buNone/>
            </a:pPr>
            <a:endParaRPr lang="zh-TW" altLang="en-US" sz="2800">
              <a:sym typeface="Symbol" pitchFamily="2" charset="2"/>
            </a:endParaRPr>
          </a:p>
        </p:txBody>
      </p:sp>
      <p:sp>
        <p:nvSpPr>
          <p:cNvPr id="46083" name="Text Box 3">
            <a:extLst>
              <a:ext uri="{FF2B5EF4-FFF2-40B4-BE49-F238E27FC236}">
                <a16:creationId xmlns:a16="http://schemas.microsoft.com/office/drawing/2014/main" id="{95FCB61F-3ACD-274B-9AD3-D587399B80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3863" y="2438400"/>
            <a:ext cx="3335337" cy="1674813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Is </a:t>
            </a:r>
            <a:r>
              <a:rPr kumimoji="0" lang="en-US" altLang="zh-TW" sz="2400" i="1">
                <a:latin typeface="Arial" panose="020B0604020202020204" pitchFamily="34" charset="0"/>
              </a:rPr>
              <a:t>AG</a:t>
            </a:r>
            <a:r>
              <a:rPr kumimoji="0" lang="en-US" altLang="zh-TW" sz="2400">
                <a:latin typeface="Arial" panose="020B0604020202020204" pitchFamily="34" charset="0"/>
              </a:rPr>
              <a:t> a candidate key?</a:t>
            </a:r>
          </a:p>
          <a:p>
            <a:pPr>
              <a:spcBef>
                <a:spcPct val="0"/>
              </a:spcBef>
              <a:buFontTx/>
              <a:buNone/>
            </a:pPr>
            <a:endParaRPr kumimoji="0" lang="en-US" altLang="zh-TW" sz="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   </a:t>
            </a:r>
            <a:r>
              <a:rPr kumimoji="0" lang="en-US" altLang="zh-TW" sz="2400" i="1">
                <a:latin typeface="Arial" panose="020B0604020202020204" pitchFamily="34" charset="0"/>
              </a:rPr>
              <a:t>AG</a:t>
            </a:r>
            <a:r>
              <a:rPr kumimoji="0" lang="en-US" altLang="zh-TW" sz="2400">
                <a:latin typeface="Arial" panose="020B0604020202020204" pitchFamily="34" charset="0"/>
              </a:rPr>
              <a:t>	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  </a:t>
            </a:r>
            <a:r>
              <a:rPr kumimoji="0" lang="en-US" altLang="zh-TW" sz="2400" i="1">
                <a:latin typeface="Arial" panose="020B0604020202020204" pitchFamily="34" charset="0"/>
                <a:sym typeface="Symbol" pitchFamily="2" charset="2"/>
              </a:rPr>
              <a:t>R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   </a:t>
            </a:r>
            <a:r>
              <a:rPr kumimoji="0" lang="en-US" altLang="zh-TW" sz="2400" i="1">
                <a:latin typeface="Arial" panose="020B0604020202020204" pitchFamily="34" charset="0"/>
              </a:rPr>
              <a:t>A</a:t>
            </a:r>
            <a:r>
              <a:rPr kumimoji="0" lang="en-US" altLang="zh-TW" sz="3000" baseline="40000">
                <a:latin typeface="Arial" panose="020B0604020202020204" pitchFamily="34" charset="0"/>
              </a:rPr>
              <a:t>+</a:t>
            </a:r>
            <a:r>
              <a:rPr kumimoji="0" lang="en-US" altLang="zh-TW" sz="2400">
                <a:latin typeface="Arial" panose="020B0604020202020204" pitchFamily="34" charset="0"/>
              </a:rPr>
              <a:t>	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  </a:t>
            </a:r>
            <a:r>
              <a:rPr kumimoji="0" lang="en-US" altLang="zh-TW" sz="2400" i="1">
                <a:latin typeface="Arial" panose="020B0604020202020204" pitchFamily="34" charset="0"/>
                <a:sym typeface="Symbol" pitchFamily="2" charset="2"/>
              </a:rPr>
              <a:t>R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 ?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   </a:t>
            </a:r>
            <a:r>
              <a:rPr kumimoji="0" lang="en-US" altLang="zh-TW" sz="2400" i="1">
                <a:latin typeface="Arial" panose="020B0604020202020204" pitchFamily="34" charset="0"/>
              </a:rPr>
              <a:t>G</a:t>
            </a:r>
            <a:r>
              <a:rPr kumimoji="0" lang="en-US" altLang="zh-TW" sz="3000" baseline="40000">
                <a:latin typeface="Arial" panose="020B0604020202020204" pitchFamily="34" charset="0"/>
              </a:rPr>
              <a:t>+</a:t>
            </a:r>
            <a:r>
              <a:rPr kumimoji="0" lang="en-US" altLang="zh-TW" sz="2400">
                <a:latin typeface="Arial" panose="020B0604020202020204" pitchFamily="34" charset="0"/>
              </a:rPr>
              <a:t>	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  </a:t>
            </a:r>
            <a:r>
              <a:rPr kumimoji="0" lang="en-US" altLang="zh-TW" sz="2400" i="1">
                <a:latin typeface="Arial" panose="020B0604020202020204" pitchFamily="34" charset="0"/>
                <a:sym typeface="Symbol" pitchFamily="2" charset="2"/>
              </a:rPr>
              <a:t>R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 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Number Placeholder 5">
            <a:extLst>
              <a:ext uri="{FF2B5EF4-FFF2-40B4-BE49-F238E27FC236}">
                <a16:creationId xmlns:a16="http://schemas.microsoft.com/office/drawing/2014/main" id="{5874AEB8-1CB0-D045-AB2E-CF2A80442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957B4A4-AD4C-EA45-8ECC-076283B643ED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TW" sz="1400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9C54F3AC-ED0A-244B-A826-17F2812A0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Relational Database Design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F63FE013-60FE-E94C-98BE-A36E1779F5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800"/>
              <a:t>Given a relation schema, we need to decide whether it is a good design or we need to decompose it into smaller relations.</a:t>
            </a:r>
          </a:p>
          <a:p>
            <a:pPr eaLnBrk="1" hangingPunct="1"/>
            <a:r>
              <a:rPr lang="en-US" altLang="zh-TW" sz="2800"/>
              <a:t>Such a decision must be guided by an understanding of what problems arise from the current schema.</a:t>
            </a:r>
          </a:p>
          <a:p>
            <a:pPr eaLnBrk="1" hangingPunct="1"/>
            <a:r>
              <a:rPr lang="en-US" altLang="zh-TW" sz="2800"/>
              <a:t>To provide such guidance, several </a:t>
            </a:r>
            <a:r>
              <a:rPr lang="en-US" altLang="zh-TW" sz="2800">
                <a:solidFill>
                  <a:schemeClr val="accent2"/>
                </a:solidFill>
              </a:rPr>
              <a:t>normal forms </a:t>
            </a:r>
            <a:r>
              <a:rPr lang="en-US" altLang="zh-TW" sz="2800"/>
              <a:t>have been proposed.</a:t>
            </a:r>
          </a:p>
          <a:p>
            <a:pPr lvl="1" eaLnBrk="1" hangingPunct="1"/>
            <a:r>
              <a:rPr lang="en-US" altLang="zh-TW" sz="2400"/>
              <a:t>If a relation schema is in one of these normal forms, we know that certain kinds of problems cannot arise.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Number Placeholder 3">
            <a:extLst>
              <a:ext uri="{FF2B5EF4-FFF2-40B4-BE49-F238E27FC236}">
                <a16:creationId xmlns:a16="http://schemas.microsoft.com/office/drawing/2014/main" id="{9473E99F-D1E5-4742-86A1-9979CBAC3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C3E396-ECE1-CD43-9D52-D801A08B3FFF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TW" sz="1400"/>
          </a:p>
        </p:txBody>
      </p:sp>
      <p:graphicFrame>
        <p:nvGraphicFramePr>
          <p:cNvPr id="39961" name="Group 25">
            <a:extLst>
              <a:ext uri="{FF2B5EF4-FFF2-40B4-BE49-F238E27FC236}">
                <a16:creationId xmlns:a16="http://schemas.microsoft.com/office/drawing/2014/main" id="{B7D1AE28-55F1-D543-808D-6754ED05C087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676400"/>
          <a:ext cx="7772400" cy="3429000"/>
        </p:xfrm>
        <a:graphic>
          <a:graphicData uri="http://schemas.openxmlformats.org/drawingml/2006/table">
            <a:tbl>
              <a:tblPr/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1</a:t>
                      </a:r>
                      <a:r>
                        <a:rPr kumimoji="1" 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st</a:t>
                      </a:r>
                      <a:r>
                        <a:rPr kumimoji="1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 Normal Form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No repeating data groups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2</a:t>
                      </a:r>
                      <a:r>
                        <a:rPr kumimoji="1" 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nd</a:t>
                      </a:r>
                      <a:r>
                        <a:rPr kumimoji="1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 Normal Form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No partial key dependency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3</a:t>
                      </a:r>
                      <a:r>
                        <a:rPr kumimoji="1" 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rd</a:t>
                      </a:r>
                      <a:r>
                        <a:rPr kumimoji="1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 Normal Form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No transitive dependency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Boyce-Codd Normal Form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Reduce keys dependency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4</a:t>
                      </a:r>
                      <a:r>
                        <a:rPr kumimoji="1" 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th</a:t>
                      </a:r>
                      <a:r>
                        <a:rPr kumimoji="1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 Normal Form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No multi-valued dependency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5</a:t>
                      </a:r>
                      <a:r>
                        <a:rPr kumimoji="1" lang="en-US" sz="2400" b="0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th</a:t>
                      </a:r>
                      <a:r>
                        <a:rPr kumimoji="1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 Normal Form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No join dependency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9962" name="Rectangle 26">
            <a:extLst>
              <a:ext uri="{FF2B5EF4-FFF2-40B4-BE49-F238E27FC236}">
                <a16:creationId xmlns:a16="http://schemas.microsoft.com/office/drawing/2014/main" id="{D8493D3E-7AC7-4347-9465-7F1D0A7BB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28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Normal Forms</a:t>
            </a:r>
          </a:p>
        </p:txBody>
      </p:sp>
      <p:graphicFrame>
        <p:nvGraphicFramePr>
          <p:cNvPr id="48154" name="Object 27">
            <a:extLst>
              <a:ext uri="{FF2B5EF4-FFF2-40B4-BE49-F238E27FC236}">
                <a16:creationId xmlns:a16="http://schemas.microsoft.com/office/drawing/2014/main" id="{7B12FA2A-0A49-FA47-88E0-8E0A60A9F3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1513" y="5410200"/>
          <a:ext cx="6353175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4363600" imgH="4102100" progId="Equation.3">
                  <p:embed/>
                </p:oleObj>
              </mc:Choice>
              <mc:Fallback>
                <p:oleObj name="Equation" r:id="rId2" imgW="64363600" imgH="4102100" progId="Equation.3">
                  <p:embed/>
                  <p:pic>
                    <p:nvPicPr>
                      <p:cNvPr id="48154" name="Object 27">
                        <a:extLst>
                          <a:ext uri="{FF2B5EF4-FFF2-40B4-BE49-F238E27FC236}">
                            <a16:creationId xmlns:a16="http://schemas.microsoft.com/office/drawing/2014/main" id="{7B12FA2A-0A49-FA47-88E0-8E0A60A9F3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513" y="5410200"/>
                        <a:ext cx="6353175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Number Placeholder 5">
            <a:extLst>
              <a:ext uri="{FF2B5EF4-FFF2-40B4-BE49-F238E27FC236}">
                <a16:creationId xmlns:a16="http://schemas.microsoft.com/office/drawing/2014/main" id="{95602A4B-A016-6542-BCBA-EFC2E9DA2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C7D6A4A-A859-414C-8F27-EF508E1F04AB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zh-TW" sz="1400"/>
          </a:p>
        </p:txBody>
      </p:sp>
      <p:sp>
        <p:nvSpPr>
          <p:cNvPr id="49154" name="Rectangle 3">
            <a:extLst>
              <a:ext uri="{FF2B5EF4-FFF2-40B4-BE49-F238E27FC236}">
                <a16:creationId xmlns:a16="http://schemas.microsoft.com/office/drawing/2014/main" id="{C5DF2175-0AA6-754A-8603-E97AD1BA43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066800"/>
            <a:ext cx="7772400" cy="5029200"/>
          </a:xfrm>
        </p:spPr>
        <p:txBody>
          <a:bodyPr/>
          <a:lstStyle/>
          <a:p>
            <a:pPr eaLnBrk="1" hangingPunct="1"/>
            <a:r>
              <a:rPr lang="en-US" altLang="zh-TW">
                <a:solidFill>
                  <a:srgbClr val="000099"/>
                </a:solidFill>
              </a:rPr>
              <a:t>First Normal Form</a:t>
            </a:r>
          </a:p>
          <a:p>
            <a:pPr lvl="1" eaLnBrk="1" hangingPunct="1"/>
            <a:r>
              <a:rPr lang="en-US" altLang="zh-TW"/>
              <a:t>Every field contains only atomic values</a:t>
            </a:r>
          </a:p>
          <a:p>
            <a:pPr lvl="2" eaLnBrk="1" hangingPunct="1"/>
            <a:r>
              <a:rPr lang="en-US" altLang="zh-TW"/>
              <a:t>No lists or sets.</a:t>
            </a:r>
          </a:p>
          <a:p>
            <a:pPr lvl="1" eaLnBrk="1" hangingPunct="1"/>
            <a:r>
              <a:rPr lang="en-US" altLang="zh-TW"/>
              <a:t>Implicit in our definition of the relational model.</a:t>
            </a:r>
          </a:p>
          <a:p>
            <a:pPr eaLnBrk="1" hangingPunct="1"/>
            <a:r>
              <a:rPr lang="en-US" altLang="zh-TW">
                <a:solidFill>
                  <a:srgbClr val="000099"/>
                </a:solidFill>
              </a:rPr>
              <a:t>Second Normal Form</a:t>
            </a:r>
          </a:p>
          <a:p>
            <a:pPr lvl="1" eaLnBrk="1" hangingPunct="1"/>
            <a:r>
              <a:rPr lang="en-US" altLang="zh-TW"/>
              <a:t>every non-key attribute is fully functionally dependent on the ENTIRE primary key.</a:t>
            </a:r>
          </a:p>
          <a:p>
            <a:pPr lvl="1" eaLnBrk="1" hangingPunct="1"/>
            <a:r>
              <a:rPr lang="en-US" altLang="zh-TW"/>
              <a:t>Mainly of historical interest.</a:t>
            </a:r>
          </a:p>
          <a:p>
            <a:pPr lvl="1" eaLnBrk="1" hangingPunct="1"/>
            <a:endParaRPr lang="en-US" altLang="zh-TW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Slide Number Placeholder 5">
            <a:extLst>
              <a:ext uri="{FF2B5EF4-FFF2-40B4-BE49-F238E27FC236}">
                <a16:creationId xmlns:a16="http://schemas.microsoft.com/office/drawing/2014/main" id="{B87E30DB-992A-E247-A65B-D0EEFE839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577A0BE-8F0D-A043-B738-BE3EBF82BA31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zh-TW" sz="1400"/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5D9EC386-5B4A-2549-8C4B-062FD044E7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eaLnBrk="1" hangingPunct="1"/>
            <a:r>
              <a:rPr lang="en-US" altLang="zh-TW">
                <a:solidFill>
                  <a:srgbClr val="000099"/>
                </a:solidFill>
              </a:rPr>
              <a:t>Boyce-Codd Normal Form (BCNF)</a:t>
            </a:r>
          </a:p>
          <a:p>
            <a:pPr eaLnBrk="1" hangingPunct="1"/>
            <a:endParaRPr lang="en-US" altLang="zh-TW">
              <a:solidFill>
                <a:srgbClr val="000099"/>
              </a:solidFill>
            </a:endParaRPr>
          </a:p>
          <a:p>
            <a:pPr eaLnBrk="1" hangingPunct="1"/>
            <a:endParaRPr lang="en-US" altLang="zh-TW">
              <a:solidFill>
                <a:srgbClr val="000099"/>
              </a:solidFill>
            </a:endParaRPr>
          </a:p>
          <a:p>
            <a:pPr eaLnBrk="1" hangingPunct="1"/>
            <a:endParaRPr lang="en-US" altLang="zh-TW">
              <a:solidFill>
                <a:srgbClr val="000099"/>
              </a:solidFill>
            </a:endParaRPr>
          </a:p>
          <a:p>
            <a:pPr eaLnBrk="1" hangingPunct="1"/>
            <a:endParaRPr lang="en-US" altLang="zh-TW">
              <a:solidFill>
                <a:srgbClr val="000099"/>
              </a:solidFill>
            </a:endParaRPr>
          </a:p>
          <a:p>
            <a:pPr eaLnBrk="1" hangingPunct="1"/>
            <a:endParaRPr lang="en-US" altLang="zh-TW">
              <a:solidFill>
                <a:srgbClr val="000099"/>
              </a:solidFill>
            </a:endParaRPr>
          </a:p>
          <a:p>
            <a:pPr lvl="1" eaLnBrk="1" hangingPunct="1"/>
            <a:endParaRPr lang="zh-TW" altLang="en-US"/>
          </a:p>
        </p:txBody>
      </p:sp>
      <p:sp>
        <p:nvSpPr>
          <p:cNvPr id="50179" name="Rectangle 4">
            <a:extLst>
              <a:ext uri="{FF2B5EF4-FFF2-40B4-BE49-F238E27FC236}">
                <a16:creationId xmlns:a16="http://schemas.microsoft.com/office/drawing/2014/main" id="{6F8C7E32-1C72-6848-B065-E8821BEC2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505200"/>
            <a:ext cx="7391400" cy="2819400"/>
          </a:xfrm>
          <a:prstGeom prst="rect">
            <a:avLst/>
          </a:prstGeom>
          <a:solidFill>
            <a:srgbClr val="FFCC66">
              <a:alpha val="50195"/>
            </a:srgbClr>
          </a:solidFill>
          <a:ln w="9525">
            <a:solidFill>
              <a:srgbClr val="993366"/>
            </a:solidFill>
            <a:miter lim="800000"/>
            <a:headEnd/>
            <a:tailEnd/>
          </a:ln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>
                <a:sym typeface="Symbol" pitchFamily="2" charset="2"/>
              </a:rPr>
              <a:t>R	-  a relation schema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>
                <a:sym typeface="Symbol" pitchFamily="2" charset="2"/>
              </a:rPr>
              <a:t>F	-  set of functional dependencies on 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400" b="1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b="1">
                <a:sym typeface="Symbol" pitchFamily="2" charset="2"/>
              </a:rPr>
              <a:t>R is in BCNF</a:t>
            </a:r>
            <a:r>
              <a:rPr lang="en-US" altLang="zh-TW" sz="2400">
                <a:sym typeface="Symbol" pitchFamily="2" charset="2"/>
              </a:rPr>
              <a:t> if for any </a:t>
            </a:r>
            <a:r>
              <a:rPr lang="en-US" altLang="zh-TW" sz="2400" i="1">
                <a:sym typeface="Symbol" pitchFamily="2" charset="2"/>
              </a:rPr>
              <a:t>X</a:t>
            </a:r>
            <a:r>
              <a:rPr lang="en-US" altLang="zh-TW" sz="2400">
                <a:sym typeface="Symbol" pitchFamily="2" charset="2"/>
              </a:rPr>
              <a:t>  </a:t>
            </a:r>
            <a:r>
              <a:rPr lang="en-US" altLang="zh-TW" sz="2400" i="1">
                <a:sym typeface="Symbol" pitchFamily="2" charset="2"/>
              </a:rPr>
              <a:t>A</a:t>
            </a:r>
            <a:r>
              <a:rPr lang="en-US" altLang="zh-TW" sz="2400">
                <a:sym typeface="Symbol" pitchFamily="2" charset="2"/>
              </a:rPr>
              <a:t> in </a:t>
            </a:r>
            <a:r>
              <a:rPr lang="en-US" altLang="zh-TW" sz="2400" i="1">
                <a:sym typeface="Symbol" pitchFamily="2" charset="2"/>
              </a:rPr>
              <a:t>F</a:t>
            </a:r>
            <a:r>
              <a:rPr lang="en-US" altLang="zh-TW" sz="2400">
                <a:sym typeface="Symbol" pitchFamily="2" charset="2"/>
              </a:rPr>
              <a:t>,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i="1">
                <a:sym typeface="Symbol" pitchFamily="2" charset="2"/>
              </a:rPr>
              <a:t>X</a:t>
            </a:r>
            <a:r>
              <a:rPr lang="en-US" altLang="zh-TW" sz="2400">
                <a:sym typeface="Symbol" pitchFamily="2" charset="2"/>
              </a:rPr>
              <a:t>  </a:t>
            </a:r>
            <a:r>
              <a:rPr lang="en-US" altLang="zh-TW" sz="2400" i="1">
                <a:sym typeface="Symbol" pitchFamily="2" charset="2"/>
              </a:rPr>
              <a:t>A</a:t>
            </a:r>
            <a:r>
              <a:rPr lang="en-US" altLang="zh-TW" sz="2400">
                <a:sym typeface="Symbol" pitchFamily="2" charset="2"/>
              </a:rPr>
              <a:t> is a trivial functional dependency, i.e., </a:t>
            </a:r>
            <a:r>
              <a:rPr lang="en-US" altLang="zh-TW" sz="2400" i="1">
                <a:sym typeface="Symbol" pitchFamily="2" charset="2"/>
              </a:rPr>
              <a:t>A</a:t>
            </a:r>
            <a:r>
              <a:rPr lang="en-US" altLang="zh-TW" sz="2400">
                <a:sym typeface="Symbol" pitchFamily="2" charset="2"/>
              </a:rPr>
              <a:t>  </a:t>
            </a:r>
            <a:r>
              <a:rPr lang="en-US" altLang="zh-TW" sz="2400" i="1">
                <a:sym typeface="Symbol" pitchFamily="2" charset="2"/>
              </a:rPr>
              <a:t>X</a:t>
            </a:r>
            <a:r>
              <a:rPr lang="en-US" altLang="zh-TW" sz="2400">
                <a:sym typeface="Symbol" pitchFamily="2" charset="2"/>
              </a:rPr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>
                <a:sym typeface="Symbol" pitchFamily="2" charset="2"/>
              </a:rPr>
              <a:t>	OR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i="1">
                <a:sym typeface="Symbol" pitchFamily="2" charset="2"/>
              </a:rPr>
              <a:t>X</a:t>
            </a:r>
            <a:r>
              <a:rPr lang="en-US" altLang="zh-TW" sz="2400">
                <a:sym typeface="Symbol" pitchFamily="2" charset="2"/>
              </a:rPr>
              <a:t>  is a superkey for R.</a:t>
            </a:r>
          </a:p>
          <a:p>
            <a:pPr eaLnBrk="1" hangingPunct="1">
              <a:lnSpc>
                <a:spcPct val="90000"/>
              </a:lnSpc>
            </a:pPr>
            <a:endParaRPr lang="en-US" altLang="zh-TW" sz="2400">
              <a:sym typeface="Symbol" pitchFamily="2" charset="2"/>
            </a:endParaRPr>
          </a:p>
        </p:txBody>
      </p:sp>
      <p:sp>
        <p:nvSpPr>
          <p:cNvPr id="50180" name="Rectangle 5">
            <a:extLst>
              <a:ext uri="{FF2B5EF4-FFF2-40B4-BE49-F238E27FC236}">
                <a16:creationId xmlns:a16="http://schemas.microsoft.com/office/drawing/2014/main" id="{9D49B54A-C508-DD4D-B91F-353CA0ACA8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527175"/>
            <a:ext cx="7391400" cy="189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Char char="n"/>
            </a:pPr>
            <a:r>
              <a:rPr kumimoji="0" lang="en-US" altLang="zh-TW" sz="2000">
                <a:ea typeface="DotumChe" panose="020B0609000101010101" pitchFamily="49" charset="-127"/>
                <a:sym typeface="Symbol" pitchFamily="2" charset="2"/>
              </a:rPr>
              <a:t>Role of FDs in detecting redundancy:</a:t>
            </a:r>
          </a:p>
          <a:p>
            <a:pPr lvl="1"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Char char="¨"/>
            </a:pPr>
            <a:r>
              <a:rPr kumimoji="0" lang="en-US" altLang="zh-TW" sz="2000">
                <a:ea typeface="DotumChe" panose="020B0609000101010101" pitchFamily="49" charset="-127"/>
                <a:sym typeface="Symbol" pitchFamily="2" charset="2"/>
              </a:rPr>
              <a:t>consider a relation R with three attributes, A,B,C</a:t>
            </a:r>
          </a:p>
          <a:p>
            <a:pPr lvl="1" eaLnBrk="1" hangingPunct="1">
              <a:lnSpc>
                <a:spcPct val="4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000">
                <a:ea typeface="DotumChe" panose="020B0609000101010101" pitchFamily="49" charset="-127"/>
                <a:sym typeface="Symbol" pitchFamily="2" charset="2"/>
              </a:rPr>
              <a:t>	If no FDs hold, no potential redundancy</a:t>
            </a:r>
          </a:p>
          <a:p>
            <a:pPr lvl="1"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000">
                <a:ea typeface="DotumChe" panose="020B0609000101010101" pitchFamily="49" charset="-127"/>
                <a:sym typeface="Symbol" pitchFamily="2" charset="2"/>
              </a:rPr>
              <a:t>	If A  B, then tuples with the same A value will have    	(redundant) B values.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Number Placeholder 5">
            <a:extLst>
              <a:ext uri="{FF2B5EF4-FFF2-40B4-BE49-F238E27FC236}">
                <a16:creationId xmlns:a16="http://schemas.microsoft.com/office/drawing/2014/main" id="{C9EA8D48-8E19-114B-9202-EA0B3B697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EBAEEC-9096-6044-B921-BA418A03EEFB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TW" sz="1400"/>
          </a:p>
        </p:txBody>
      </p:sp>
      <p:sp>
        <p:nvSpPr>
          <p:cNvPr id="51202" name="Rectangle 3">
            <a:extLst>
              <a:ext uri="{FF2B5EF4-FFF2-40B4-BE49-F238E27FC236}">
                <a16:creationId xmlns:a16="http://schemas.microsoft.com/office/drawing/2014/main" id="{355D98C6-00C2-6B4E-911B-E5FEF2814A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09600"/>
            <a:ext cx="7772400" cy="2438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Char char="–"/>
            </a:pPr>
            <a:r>
              <a:rPr lang="en-US" altLang="zh-TW" sz="2400"/>
              <a:t>Intuitively, in a BCNF relation, the only nontrivial dependencies are those in which a key determines some attributes.</a:t>
            </a:r>
          </a:p>
          <a:p>
            <a:pPr eaLnBrk="1" hangingPunct="1">
              <a:lnSpc>
                <a:spcPct val="90000"/>
              </a:lnSpc>
              <a:buFontTx/>
              <a:buChar char="–"/>
            </a:pPr>
            <a:r>
              <a:rPr lang="en-US" altLang="zh-TW" sz="2400"/>
              <a:t>Each tuple can be thought of as an entity or relationship,  identified by a key and described by the remaining attributes</a:t>
            </a:r>
          </a:p>
          <a:p>
            <a:pPr eaLnBrk="1" hangingPunct="1"/>
            <a:endParaRPr lang="zh-TW" altLang="en-US" sz="2400"/>
          </a:p>
        </p:txBody>
      </p:sp>
      <p:grpSp>
        <p:nvGrpSpPr>
          <p:cNvPr id="51203" name="Group 4">
            <a:extLst>
              <a:ext uri="{FF2B5EF4-FFF2-40B4-BE49-F238E27FC236}">
                <a16:creationId xmlns:a16="http://schemas.microsoft.com/office/drawing/2014/main" id="{9DDFDFF4-1BE9-F646-8A2F-E24B48390ACC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352800"/>
            <a:ext cx="6858000" cy="2116138"/>
            <a:chOff x="720" y="1067"/>
            <a:chExt cx="4320" cy="1333"/>
          </a:xfrm>
        </p:grpSpPr>
        <p:sp>
          <p:nvSpPr>
            <p:cNvPr id="51204" name="Oval 5">
              <a:extLst>
                <a:ext uri="{FF2B5EF4-FFF2-40B4-BE49-F238E27FC236}">
                  <a16:creationId xmlns:a16="http://schemas.microsoft.com/office/drawing/2014/main" id="{71FFAC31-DFDC-5C48-A0CB-734C43A5B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584"/>
              <a:ext cx="624" cy="3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Key</a:t>
              </a:r>
            </a:p>
          </p:txBody>
        </p:sp>
        <p:sp>
          <p:nvSpPr>
            <p:cNvPr id="51205" name="Oval 6">
              <a:extLst>
                <a:ext uri="{FF2B5EF4-FFF2-40B4-BE49-F238E27FC236}">
                  <a16:creationId xmlns:a16="http://schemas.microsoft.com/office/drawing/2014/main" id="{85A7383A-5B79-5745-8C30-5481D3213F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584"/>
              <a:ext cx="624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Nonkey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 attr_1</a:t>
              </a:r>
            </a:p>
          </p:txBody>
        </p:sp>
        <p:sp>
          <p:nvSpPr>
            <p:cNvPr id="51206" name="Oval 7">
              <a:extLst>
                <a:ext uri="{FF2B5EF4-FFF2-40B4-BE49-F238E27FC236}">
                  <a16:creationId xmlns:a16="http://schemas.microsoft.com/office/drawing/2014/main" id="{526E7D52-98A2-D04F-9DB9-1FC53630C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584"/>
              <a:ext cx="624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Nonkey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 attr_2</a:t>
              </a:r>
            </a:p>
          </p:txBody>
        </p:sp>
        <p:sp>
          <p:nvSpPr>
            <p:cNvPr id="51207" name="Oval 8">
              <a:extLst>
                <a:ext uri="{FF2B5EF4-FFF2-40B4-BE49-F238E27FC236}">
                  <a16:creationId xmlns:a16="http://schemas.microsoft.com/office/drawing/2014/main" id="{33470659-48AB-D44F-B512-2393C5CC9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584"/>
              <a:ext cx="624" cy="33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Nonkey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1600"/>
                <a:t> attr_k</a:t>
              </a:r>
            </a:p>
          </p:txBody>
        </p:sp>
        <p:sp>
          <p:nvSpPr>
            <p:cNvPr id="51208" name="Freeform 9">
              <a:extLst>
                <a:ext uri="{FF2B5EF4-FFF2-40B4-BE49-F238E27FC236}">
                  <a16:creationId xmlns:a16="http://schemas.microsoft.com/office/drawing/2014/main" id="{A284F8EF-D9C4-3547-BDBC-79B66A9A7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4" y="1545"/>
              <a:ext cx="334" cy="85"/>
            </a:xfrm>
            <a:custGeom>
              <a:avLst/>
              <a:gdLst>
                <a:gd name="T0" fmla="*/ 0 w 334"/>
                <a:gd name="T1" fmla="*/ 85 h 85"/>
                <a:gd name="T2" fmla="*/ 151 w 334"/>
                <a:gd name="T3" fmla="*/ 0 h 85"/>
                <a:gd name="T4" fmla="*/ 334 w 334"/>
                <a:gd name="T5" fmla="*/ 85 h 85"/>
                <a:gd name="T6" fmla="*/ 0 60000 65536"/>
                <a:gd name="T7" fmla="*/ 0 60000 65536"/>
                <a:gd name="T8" fmla="*/ 0 60000 65536"/>
                <a:gd name="T9" fmla="*/ 0 w 334"/>
                <a:gd name="T10" fmla="*/ 0 h 85"/>
                <a:gd name="T11" fmla="*/ 334 w 334"/>
                <a:gd name="T12" fmla="*/ 85 h 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4" h="85">
                  <a:moveTo>
                    <a:pt x="0" y="85"/>
                  </a:moveTo>
                  <a:lnTo>
                    <a:pt x="151" y="0"/>
                  </a:lnTo>
                  <a:lnTo>
                    <a:pt x="334" y="85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09" name="Freeform 10">
              <a:extLst>
                <a:ext uri="{FF2B5EF4-FFF2-40B4-BE49-F238E27FC236}">
                  <a16:creationId xmlns:a16="http://schemas.microsoft.com/office/drawing/2014/main" id="{7834C1F2-3AEF-D845-89BB-594A2F31C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" y="1303"/>
              <a:ext cx="1680" cy="282"/>
            </a:xfrm>
            <a:custGeom>
              <a:avLst/>
              <a:gdLst>
                <a:gd name="T0" fmla="*/ 0 w 1680"/>
                <a:gd name="T1" fmla="*/ 281 h 282"/>
                <a:gd name="T2" fmla="*/ 456 w 1680"/>
                <a:gd name="T3" fmla="*/ 0 h 282"/>
                <a:gd name="T4" fmla="*/ 1248 w 1680"/>
                <a:gd name="T5" fmla="*/ 0 h 282"/>
                <a:gd name="T6" fmla="*/ 1680 w 1680"/>
                <a:gd name="T7" fmla="*/ 282 h 28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80"/>
                <a:gd name="T13" fmla="*/ 0 h 282"/>
                <a:gd name="T14" fmla="*/ 1680 w 1680"/>
                <a:gd name="T15" fmla="*/ 282 h 28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80" h="282">
                  <a:moveTo>
                    <a:pt x="0" y="281"/>
                  </a:moveTo>
                  <a:lnTo>
                    <a:pt x="456" y="0"/>
                  </a:lnTo>
                  <a:lnTo>
                    <a:pt x="1248" y="0"/>
                  </a:lnTo>
                  <a:lnTo>
                    <a:pt x="1680" y="282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10" name="Freeform 11">
              <a:extLst>
                <a:ext uri="{FF2B5EF4-FFF2-40B4-BE49-F238E27FC236}">
                  <a16:creationId xmlns:a16="http://schemas.microsoft.com/office/drawing/2014/main" id="{CA49C529-0ADB-E84A-8977-480626C01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" y="1067"/>
              <a:ext cx="3600" cy="518"/>
            </a:xfrm>
            <a:custGeom>
              <a:avLst/>
              <a:gdLst>
                <a:gd name="T0" fmla="*/ 0 w 3600"/>
                <a:gd name="T1" fmla="*/ 517 h 518"/>
                <a:gd name="T2" fmla="*/ 785 w 3600"/>
                <a:gd name="T3" fmla="*/ 6 h 518"/>
                <a:gd name="T4" fmla="*/ 2959 w 3600"/>
                <a:gd name="T5" fmla="*/ 0 h 518"/>
                <a:gd name="T6" fmla="*/ 3600 w 3600"/>
                <a:gd name="T7" fmla="*/ 518 h 51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600"/>
                <a:gd name="T13" fmla="*/ 0 h 518"/>
                <a:gd name="T14" fmla="*/ 3600 w 3600"/>
                <a:gd name="T15" fmla="*/ 518 h 51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600" h="518">
                  <a:moveTo>
                    <a:pt x="0" y="517"/>
                  </a:moveTo>
                  <a:lnTo>
                    <a:pt x="785" y="6"/>
                  </a:lnTo>
                  <a:lnTo>
                    <a:pt x="2959" y="0"/>
                  </a:lnTo>
                  <a:lnTo>
                    <a:pt x="3600" y="518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11" name="Text Box 12">
              <a:extLst>
                <a:ext uri="{FF2B5EF4-FFF2-40B4-BE49-F238E27FC236}">
                  <a16:creationId xmlns:a16="http://schemas.microsoft.com/office/drawing/2014/main" id="{0EB18500-2229-9A46-BA1B-6553518AFE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0" y="2112"/>
              <a:ext cx="20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2400">
                  <a:solidFill>
                    <a:srgbClr val="CC0000"/>
                  </a:solidFill>
                </a:rPr>
                <a:t>FDs in a BCNF Relation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Number Placeholder 3">
            <a:extLst>
              <a:ext uri="{FF2B5EF4-FFF2-40B4-BE49-F238E27FC236}">
                <a16:creationId xmlns:a16="http://schemas.microsoft.com/office/drawing/2014/main" id="{B111F29C-7273-AC4E-B900-F0DEF5227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87900E-E7B0-9543-AB0C-1C7F72843CB1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zh-TW" sz="1400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48CD4EF0-0DED-E344-B596-3FE431804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43000"/>
            <a:ext cx="84582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400" b="1">
                <a:sym typeface="Symbol" pitchFamily="2" charset="2"/>
              </a:rPr>
              <a:t>Example</a:t>
            </a:r>
            <a:endParaRPr lang="en-US" altLang="zh-TW" sz="1200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R	=  ( A, B, C )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F	=  { A  B, B  C }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Key = { A }</a:t>
            </a:r>
          </a:p>
          <a:p>
            <a:pPr eaLnBrk="1" hangingPunct="1">
              <a:buFontTx/>
              <a:buNone/>
            </a:pP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>
                <a:sym typeface="Symbol" pitchFamily="2" charset="2"/>
              </a:rPr>
              <a:t> is not in BCNF</a:t>
            </a:r>
          </a:p>
          <a:p>
            <a:pPr eaLnBrk="1" hangingPunct="1">
              <a:buFontTx/>
              <a:buNone/>
            </a:pPr>
            <a:endParaRPr lang="en-US" altLang="zh-TW" sz="2400">
              <a:sym typeface="Symbol" pitchFamily="2" charset="2"/>
            </a:endParaRP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FCF2F61D-9536-0A49-84D4-722DEB36A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3810000"/>
            <a:ext cx="7543800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Char char="n"/>
            </a:pPr>
            <a:r>
              <a:rPr kumimoji="0" lang="en-US" altLang="zh-TW" sz="2000">
                <a:solidFill>
                  <a:srgbClr val="660066"/>
                </a:solidFill>
                <a:latin typeface="Arial" panose="020B0604020202020204" pitchFamily="34" charset="0"/>
                <a:sym typeface="Symbol" pitchFamily="2" charset="2"/>
              </a:rPr>
              <a:t> </a:t>
            </a:r>
            <a:r>
              <a:rPr kumimoji="0" lang="en-US" altLang="zh-TW" sz="2000">
                <a:solidFill>
                  <a:srgbClr val="663300"/>
                </a:solidFill>
                <a:latin typeface="Arial" panose="020B0604020202020204" pitchFamily="34" charset="0"/>
                <a:sym typeface="Symbol" pitchFamily="2" charset="2"/>
              </a:rPr>
              <a:t>Decomposition into </a:t>
            </a:r>
            <a:r>
              <a:rPr kumimoji="0" lang="en-US" altLang="zh-TW" sz="2000" i="1">
                <a:solidFill>
                  <a:srgbClr val="663300"/>
                </a:solidFill>
                <a:latin typeface="Arial" panose="020B0604020202020204" pitchFamily="34" charset="0"/>
                <a:sym typeface="Symbol" pitchFamily="2" charset="2"/>
              </a:rPr>
              <a:t>R</a:t>
            </a:r>
            <a:r>
              <a:rPr kumimoji="0" lang="en-US" altLang="zh-TW" sz="2000" baseline="-25000">
                <a:solidFill>
                  <a:srgbClr val="663300"/>
                </a:solidFill>
                <a:latin typeface="Arial" panose="020B0604020202020204" pitchFamily="34" charset="0"/>
                <a:sym typeface="Symbol" pitchFamily="2" charset="2"/>
              </a:rPr>
              <a:t>1</a:t>
            </a:r>
            <a:r>
              <a:rPr kumimoji="0" lang="en-US" altLang="zh-TW" sz="2000">
                <a:solidFill>
                  <a:srgbClr val="663300"/>
                </a:solidFill>
                <a:latin typeface="Arial" panose="020B0604020202020204" pitchFamily="34" charset="0"/>
                <a:sym typeface="Symbol" pitchFamily="2" charset="2"/>
              </a:rPr>
              <a:t> = ( A, B ), </a:t>
            </a:r>
            <a:r>
              <a:rPr kumimoji="0" lang="en-US" altLang="zh-TW" sz="2000" i="1">
                <a:solidFill>
                  <a:srgbClr val="663300"/>
                </a:solidFill>
                <a:latin typeface="Arial" panose="020B0604020202020204" pitchFamily="34" charset="0"/>
                <a:sym typeface="Symbol" pitchFamily="2" charset="2"/>
              </a:rPr>
              <a:t>R</a:t>
            </a:r>
            <a:r>
              <a:rPr kumimoji="0" lang="en-US" altLang="zh-TW" sz="2000" baseline="-25000">
                <a:solidFill>
                  <a:srgbClr val="663300"/>
                </a:solidFill>
                <a:latin typeface="Arial" panose="020B0604020202020204" pitchFamily="34" charset="0"/>
                <a:sym typeface="Symbol" pitchFamily="2" charset="2"/>
              </a:rPr>
              <a:t>2</a:t>
            </a:r>
            <a:r>
              <a:rPr kumimoji="0" lang="en-US" altLang="zh-TW" sz="2000">
                <a:solidFill>
                  <a:srgbClr val="663300"/>
                </a:solidFill>
                <a:latin typeface="Arial" panose="020B0604020202020204" pitchFamily="34" charset="0"/>
                <a:sym typeface="Symbol" pitchFamily="2" charset="2"/>
              </a:rPr>
              <a:t> = ( B, C )</a:t>
            </a:r>
          </a:p>
          <a:p>
            <a:pPr lvl="1" eaLnBrk="1" hangingPunct="1">
              <a:lnSpc>
                <a:spcPct val="9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Char char="¨"/>
            </a:pPr>
            <a:r>
              <a:rPr kumimoji="0" lang="en-US" altLang="zh-TW" sz="2000" i="1">
                <a:solidFill>
                  <a:srgbClr val="663300"/>
                </a:solidFill>
                <a:latin typeface="Arial" panose="020B0604020202020204" pitchFamily="34" charset="0"/>
                <a:sym typeface="Symbol" pitchFamily="2" charset="2"/>
              </a:rPr>
              <a:t>R</a:t>
            </a:r>
            <a:r>
              <a:rPr kumimoji="0" lang="en-US" altLang="zh-TW" sz="2000" baseline="-25000">
                <a:solidFill>
                  <a:srgbClr val="663300"/>
                </a:solidFill>
                <a:latin typeface="Arial" panose="020B0604020202020204" pitchFamily="34" charset="0"/>
                <a:sym typeface="Symbol" pitchFamily="2" charset="2"/>
              </a:rPr>
              <a:t>1</a:t>
            </a:r>
            <a:r>
              <a:rPr kumimoji="0" lang="en-US" altLang="zh-TW" sz="2000">
                <a:solidFill>
                  <a:srgbClr val="663300"/>
                </a:solidFill>
                <a:latin typeface="Arial" panose="020B0604020202020204" pitchFamily="34" charset="0"/>
                <a:sym typeface="Symbol" pitchFamily="2" charset="2"/>
              </a:rPr>
              <a:t> and </a:t>
            </a:r>
            <a:r>
              <a:rPr kumimoji="0" lang="en-US" altLang="zh-TW" sz="2000" i="1">
                <a:solidFill>
                  <a:srgbClr val="663300"/>
                </a:solidFill>
                <a:latin typeface="Arial" panose="020B0604020202020204" pitchFamily="34" charset="0"/>
                <a:sym typeface="Symbol" pitchFamily="2" charset="2"/>
              </a:rPr>
              <a:t>R</a:t>
            </a:r>
            <a:r>
              <a:rPr kumimoji="0" lang="en-US" altLang="zh-TW" sz="2000" baseline="-25000">
                <a:solidFill>
                  <a:srgbClr val="663300"/>
                </a:solidFill>
                <a:latin typeface="Arial" panose="020B0604020202020204" pitchFamily="34" charset="0"/>
                <a:sym typeface="Symbol" pitchFamily="2" charset="2"/>
              </a:rPr>
              <a:t>2</a:t>
            </a:r>
            <a:r>
              <a:rPr kumimoji="0" lang="en-US" altLang="zh-TW" sz="2000">
                <a:solidFill>
                  <a:srgbClr val="663300"/>
                </a:solidFill>
                <a:latin typeface="Arial" panose="020B0604020202020204" pitchFamily="34" charset="0"/>
                <a:sym typeface="Symbol" pitchFamily="2" charset="2"/>
              </a:rPr>
              <a:t> are in BCNF</a:t>
            </a:r>
          </a:p>
        </p:txBody>
      </p:sp>
      <p:graphicFrame>
        <p:nvGraphicFramePr>
          <p:cNvPr id="42017" name="Group 33">
            <a:extLst>
              <a:ext uri="{FF2B5EF4-FFF2-40B4-BE49-F238E27FC236}">
                <a16:creationId xmlns:a16="http://schemas.microsoft.com/office/drawing/2014/main" id="{AC78A3F3-6611-5240-AFE4-8974BFC5AA51}"/>
              </a:ext>
            </a:extLst>
          </p:cNvPr>
          <p:cNvGraphicFramePr>
            <a:graphicFrameLocks noGrp="1"/>
          </p:cNvGraphicFramePr>
          <p:nvPr/>
        </p:nvGraphicFramePr>
        <p:xfrm>
          <a:off x="4572000" y="1524000"/>
          <a:ext cx="3276600" cy="1676400"/>
        </p:xfrm>
        <a:graphic>
          <a:graphicData uri="http://schemas.openxmlformats.org/drawingml/2006/table">
            <a:tbl>
              <a:tblPr/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B38D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B38D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B38D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2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2041" name="Group 57">
            <a:extLst>
              <a:ext uri="{FF2B5EF4-FFF2-40B4-BE49-F238E27FC236}">
                <a16:creationId xmlns:a16="http://schemas.microsoft.com/office/drawing/2014/main" id="{7AB31C2B-93DB-9B47-A144-AA3FE5C64AC7}"/>
              </a:ext>
            </a:extLst>
          </p:cNvPr>
          <p:cNvGraphicFramePr>
            <a:graphicFrameLocks noGrp="1"/>
          </p:cNvGraphicFramePr>
          <p:nvPr/>
        </p:nvGraphicFramePr>
        <p:xfrm>
          <a:off x="4191000" y="4267200"/>
          <a:ext cx="1828800" cy="167640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B38D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B38D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26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38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a4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42061" name="Group 77">
            <a:extLst>
              <a:ext uri="{FF2B5EF4-FFF2-40B4-BE49-F238E27FC236}">
                <a16:creationId xmlns:a16="http://schemas.microsoft.com/office/drawing/2014/main" id="{ECDE729D-9AC0-C24C-81A4-3DF5B61922D2}"/>
              </a:ext>
            </a:extLst>
          </p:cNvPr>
          <p:cNvGraphicFramePr>
            <a:graphicFrameLocks noGrp="1"/>
          </p:cNvGraphicFramePr>
          <p:nvPr/>
        </p:nvGraphicFramePr>
        <p:xfrm>
          <a:off x="6400800" y="4267200"/>
          <a:ext cx="1600200" cy="1006476"/>
        </p:xfrm>
        <a:graphic>
          <a:graphicData uri="http://schemas.openxmlformats.org/drawingml/2006/table">
            <a:tbl>
              <a:tblPr/>
              <a:tblGrid>
                <a:gridCol w="800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49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B38D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B38D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49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b1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c1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492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b2</a:t>
                      </a:r>
                    </a:p>
                  </a:txBody>
                  <a:tcPr marT="45749" marB="457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新細明體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新細明體" pitchFamily="18" charset="-120"/>
                        </a:rPr>
                        <a:t>c2</a:t>
                      </a:r>
                    </a:p>
                  </a:txBody>
                  <a:tcPr marT="45749" marB="457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99">
                        <a:alpha val="5019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19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2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2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2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2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87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Number Placeholder 5">
            <a:extLst>
              <a:ext uri="{FF2B5EF4-FFF2-40B4-BE49-F238E27FC236}">
                <a16:creationId xmlns:a16="http://schemas.microsoft.com/office/drawing/2014/main" id="{B34B5EDC-3DEA-094C-AD7B-58FFE5E8F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04A592-E66C-7445-A51B-E1A3D8357035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zh-TW" sz="1400"/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52EE0FD0-A1C2-6B4A-AE38-D265596EF0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Third Normal Form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B345FF72-D211-2244-A6E8-E9D0A4405A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038600"/>
            <a:ext cx="7848600" cy="2514600"/>
          </a:xfrm>
        </p:spPr>
        <p:txBody>
          <a:bodyPr/>
          <a:lstStyle/>
          <a:p>
            <a:pPr eaLnBrk="1" hangingPunct="1"/>
            <a:r>
              <a:rPr lang="en-US" altLang="zh-TW" sz="2000"/>
              <a:t>The definition of 3NF is similar to that of BCNF, with the only difference being the third condition.</a:t>
            </a:r>
          </a:p>
          <a:p>
            <a:pPr eaLnBrk="1" hangingPunct="1"/>
            <a:r>
              <a:rPr lang="en-US" altLang="zh-TW" sz="2000"/>
              <a:t>Recall that a key for a relation is a minimal set of attributes that uniquely determines all other attributes. </a:t>
            </a:r>
          </a:p>
          <a:p>
            <a:pPr lvl="1" eaLnBrk="1" hangingPunct="1"/>
            <a:r>
              <a:rPr lang="en-US" altLang="zh-TW" sz="1800"/>
              <a:t>A must be part of a key (any key, if there are several).</a:t>
            </a:r>
          </a:p>
          <a:p>
            <a:pPr lvl="1" eaLnBrk="1" hangingPunct="1"/>
            <a:r>
              <a:rPr lang="en-US" altLang="zh-TW" sz="1800"/>
              <a:t>It is not enough for A to be part of a superkey, because this condition is satisfied by every attribute.</a:t>
            </a:r>
          </a:p>
          <a:p>
            <a:pPr lvl="1" eaLnBrk="1" hangingPunct="1"/>
            <a:endParaRPr lang="en-US" altLang="zh-TW" sz="1800"/>
          </a:p>
        </p:txBody>
      </p:sp>
      <p:sp>
        <p:nvSpPr>
          <p:cNvPr id="53252" name="Rectangle 5">
            <a:extLst>
              <a:ext uri="{FF2B5EF4-FFF2-40B4-BE49-F238E27FC236}">
                <a16:creationId xmlns:a16="http://schemas.microsoft.com/office/drawing/2014/main" id="{444D3714-196E-B54B-9A66-4150D14BD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1524000"/>
            <a:ext cx="6172200" cy="2286000"/>
          </a:xfrm>
          <a:prstGeom prst="rect">
            <a:avLst/>
          </a:prstGeom>
          <a:solidFill>
            <a:srgbClr val="FFCC66">
              <a:alpha val="50195"/>
            </a:srgbClr>
          </a:solidFill>
          <a:ln w="9525">
            <a:solidFill>
              <a:srgbClr val="800000"/>
            </a:solidFill>
            <a:miter lim="800000"/>
            <a:headEnd/>
            <a:tailEnd/>
          </a:ln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A relation R is in 3NF if, 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for all X  A that holds over R</a:t>
            </a:r>
          </a:p>
          <a:p>
            <a:pPr eaLnBrk="1" hangingPunct="1"/>
            <a:r>
              <a:rPr lang="en-US" altLang="zh-TW" sz="2400">
                <a:sym typeface="Symbol" pitchFamily="2" charset="2"/>
              </a:rPr>
              <a:t>A  X ( i.e., X  A is a trivial FD ), or</a:t>
            </a:r>
          </a:p>
          <a:p>
            <a:pPr eaLnBrk="1" hangingPunct="1"/>
            <a:r>
              <a:rPr lang="en-US" altLang="zh-TW" sz="2400">
                <a:sym typeface="Symbol" pitchFamily="2" charset="2"/>
              </a:rPr>
              <a:t>X is a superkey, or</a:t>
            </a:r>
          </a:p>
          <a:p>
            <a:pPr eaLnBrk="1" hangingPunct="1"/>
            <a:r>
              <a:rPr lang="en-US" altLang="zh-TW" sz="2400">
                <a:sym typeface="Symbol" pitchFamily="2" charset="2"/>
              </a:rPr>
              <a:t>A is part of some key for R</a:t>
            </a:r>
          </a:p>
          <a:p>
            <a:pPr eaLnBrk="1" hangingPunct="1">
              <a:buFontTx/>
              <a:buNone/>
            </a:pPr>
            <a:endParaRPr lang="en-US" altLang="zh-TW" sz="2400">
              <a:sym typeface="Symbol" pitchFamily="2" charset="2"/>
            </a:endParaRPr>
          </a:p>
        </p:txBody>
      </p:sp>
      <p:sp>
        <p:nvSpPr>
          <p:cNvPr id="53253" name="Text Box 6">
            <a:extLst>
              <a:ext uri="{FF2B5EF4-FFF2-40B4-BE49-F238E27FC236}">
                <a16:creationId xmlns:a16="http://schemas.microsoft.com/office/drawing/2014/main" id="{89D5A518-D81A-B542-8B83-C25284EE72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284413"/>
            <a:ext cx="17145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C0000"/>
                </a:solidFill>
              </a:rPr>
              <a:t>If R is in BCNF,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C0000"/>
                </a:solidFill>
              </a:rPr>
              <a:t>obviously it is in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rgbClr val="CC0000"/>
                </a:solidFill>
              </a:rPr>
              <a:t>3NF.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Number Placeholder 3">
            <a:extLst>
              <a:ext uri="{FF2B5EF4-FFF2-40B4-BE49-F238E27FC236}">
                <a16:creationId xmlns:a16="http://schemas.microsoft.com/office/drawing/2014/main" id="{91D9D30C-B468-9E4E-B04B-7A9767BED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CF379C-A73A-4B41-8182-F237A6B34CDE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zh-TW" sz="1400"/>
          </a:p>
        </p:txBody>
      </p:sp>
      <p:sp>
        <p:nvSpPr>
          <p:cNvPr id="54274" name="Oval 2">
            <a:extLst>
              <a:ext uri="{FF2B5EF4-FFF2-40B4-BE49-F238E27FC236}">
                <a16:creationId xmlns:a16="http://schemas.microsoft.com/office/drawing/2014/main" id="{B3CF8A70-831B-8547-8A50-A62C21521A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066800"/>
            <a:ext cx="3429000" cy="914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Key</a:t>
            </a:r>
          </a:p>
        </p:txBody>
      </p:sp>
      <p:sp>
        <p:nvSpPr>
          <p:cNvPr id="54275" name="Oval 3">
            <a:extLst>
              <a:ext uri="{FF2B5EF4-FFF2-40B4-BE49-F238E27FC236}">
                <a16:creationId xmlns:a16="http://schemas.microsoft.com/office/drawing/2014/main" id="{6A4479BD-E1CD-8445-999A-A61A99A01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295400"/>
            <a:ext cx="1295400" cy="4572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Attributes X</a:t>
            </a:r>
          </a:p>
        </p:txBody>
      </p:sp>
      <p:sp>
        <p:nvSpPr>
          <p:cNvPr id="54276" name="Oval 4">
            <a:extLst>
              <a:ext uri="{FF2B5EF4-FFF2-40B4-BE49-F238E27FC236}">
                <a16:creationId xmlns:a16="http://schemas.microsoft.com/office/drawing/2014/main" id="{8323FD71-B66B-DF45-9ABC-C9EAFB402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1295400"/>
            <a:ext cx="1295400" cy="457200"/>
          </a:xfrm>
          <a:prstGeom prst="ellipse">
            <a:avLst/>
          </a:prstGeom>
          <a:solidFill>
            <a:srgbClr val="66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Attributes A</a:t>
            </a:r>
          </a:p>
        </p:txBody>
      </p:sp>
      <p:sp>
        <p:nvSpPr>
          <p:cNvPr id="54277" name="Line 5">
            <a:extLst>
              <a:ext uri="{FF2B5EF4-FFF2-40B4-BE49-F238E27FC236}">
                <a16:creationId xmlns:a16="http://schemas.microsoft.com/office/drawing/2014/main" id="{C1B916CE-EDC8-E64D-9617-B73E07A5ECD8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1524000"/>
            <a:ext cx="152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78" name="Oval 7">
            <a:extLst>
              <a:ext uri="{FF2B5EF4-FFF2-40B4-BE49-F238E27FC236}">
                <a16:creationId xmlns:a16="http://schemas.microsoft.com/office/drawing/2014/main" id="{4B84920F-2E2F-FF41-BDDB-479C4506A7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733800"/>
            <a:ext cx="1295400" cy="4572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Key</a:t>
            </a:r>
          </a:p>
        </p:txBody>
      </p:sp>
      <p:sp>
        <p:nvSpPr>
          <p:cNvPr id="54279" name="Oval 8">
            <a:extLst>
              <a:ext uri="{FF2B5EF4-FFF2-40B4-BE49-F238E27FC236}">
                <a16:creationId xmlns:a16="http://schemas.microsoft.com/office/drawing/2014/main" id="{ACF1BD83-7410-9944-927A-507C55D393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3733800"/>
            <a:ext cx="1295400" cy="457200"/>
          </a:xfrm>
          <a:prstGeom prst="ellipse">
            <a:avLst/>
          </a:prstGeom>
          <a:solidFill>
            <a:srgbClr val="66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Attributes A</a:t>
            </a:r>
          </a:p>
        </p:txBody>
      </p:sp>
      <p:sp>
        <p:nvSpPr>
          <p:cNvPr id="54280" name="Oval 6">
            <a:extLst>
              <a:ext uri="{FF2B5EF4-FFF2-40B4-BE49-F238E27FC236}">
                <a16:creationId xmlns:a16="http://schemas.microsoft.com/office/drawing/2014/main" id="{3EBBF962-3EA5-0B46-8DC8-0C3A945AD8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733800"/>
            <a:ext cx="1295400" cy="4572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Attributes X</a:t>
            </a:r>
          </a:p>
        </p:txBody>
      </p:sp>
      <p:sp>
        <p:nvSpPr>
          <p:cNvPr id="54281" name="Freeform 9">
            <a:extLst>
              <a:ext uri="{FF2B5EF4-FFF2-40B4-BE49-F238E27FC236}">
                <a16:creationId xmlns:a16="http://schemas.microsoft.com/office/drawing/2014/main" id="{ED5DFBE0-395B-5E41-9A3A-181E1B65C9ED}"/>
              </a:ext>
            </a:extLst>
          </p:cNvPr>
          <p:cNvSpPr>
            <a:spLocks/>
          </p:cNvSpPr>
          <p:nvPr/>
        </p:nvSpPr>
        <p:spPr bwMode="auto">
          <a:xfrm>
            <a:off x="2362200" y="3606800"/>
            <a:ext cx="609600" cy="130175"/>
          </a:xfrm>
          <a:custGeom>
            <a:avLst/>
            <a:gdLst>
              <a:gd name="T0" fmla="*/ 0 w 384"/>
              <a:gd name="T1" fmla="*/ 2147483646 h 82"/>
              <a:gd name="T2" fmla="*/ 2147483646 w 384"/>
              <a:gd name="T3" fmla="*/ 0 h 82"/>
              <a:gd name="T4" fmla="*/ 2147483646 w 384"/>
              <a:gd name="T5" fmla="*/ 2147483646 h 82"/>
              <a:gd name="T6" fmla="*/ 0 60000 65536"/>
              <a:gd name="T7" fmla="*/ 0 60000 65536"/>
              <a:gd name="T8" fmla="*/ 0 60000 65536"/>
              <a:gd name="T9" fmla="*/ 0 w 384"/>
              <a:gd name="T10" fmla="*/ 0 h 82"/>
              <a:gd name="T11" fmla="*/ 384 w 384"/>
              <a:gd name="T12" fmla="*/ 82 h 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4" h="82">
                <a:moveTo>
                  <a:pt x="0" y="82"/>
                </a:moveTo>
                <a:lnTo>
                  <a:pt x="196" y="0"/>
                </a:lnTo>
                <a:lnTo>
                  <a:pt x="384" y="81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2" name="Line 10">
            <a:extLst>
              <a:ext uri="{FF2B5EF4-FFF2-40B4-BE49-F238E27FC236}">
                <a16:creationId xmlns:a16="http://schemas.microsoft.com/office/drawing/2014/main" id="{915C9231-7B29-5A4A-99D9-9BB77CBB49B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86200" y="39624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3" name="Oval 11">
            <a:extLst>
              <a:ext uri="{FF2B5EF4-FFF2-40B4-BE49-F238E27FC236}">
                <a16:creationId xmlns:a16="http://schemas.microsoft.com/office/drawing/2014/main" id="{72558A32-3DE1-8F4F-8459-81FC34228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4876800"/>
            <a:ext cx="3429000" cy="914400"/>
          </a:xfrm>
          <a:prstGeom prst="ellipse">
            <a:avLst/>
          </a:prstGeom>
          <a:solidFill>
            <a:schemeClr val="hlink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Key</a:t>
            </a:r>
          </a:p>
        </p:txBody>
      </p:sp>
      <p:sp>
        <p:nvSpPr>
          <p:cNvPr id="54284" name="Oval 12">
            <a:extLst>
              <a:ext uri="{FF2B5EF4-FFF2-40B4-BE49-F238E27FC236}">
                <a16:creationId xmlns:a16="http://schemas.microsoft.com/office/drawing/2014/main" id="{E8D94C21-B4FC-0F4C-99F9-FF5B1D310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5105400"/>
            <a:ext cx="1295400" cy="457200"/>
          </a:xfrm>
          <a:prstGeom prst="ellipse">
            <a:avLst/>
          </a:prstGeom>
          <a:solidFill>
            <a:srgbClr val="66FF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Attributes A</a:t>
            </a:r>
          </a:p>
        </p:txBody>
      </p:sp>
      <p:sp>
        <p:nvSpPr>
          <p:cNvPr id="54285" name="Oval 13">
            <a:extLst>
              <a:ext uri="{FF2B5EF4-FFF2-40B4-BE49-F238E27FC236}">
                <a16:creationId xmlns:a16="http://schemas.microsoft.com/office/drawing/2014/main" id="{8EEE06A5-D8FE-954D-9DFF-9CB63D30A3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5105400"/>
            <a:ext cx="1295400" cy="457200"/>
          </a:xfrm>
          <a:prstGeom prst="ellipse">
            <a:avLst/>
          </a:prstGeom>
          <a:solidFill>
            <a:srgbClr val="0066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/>
              <a:t>Attributes X</a:t>
            </a:r>
          </a:p>
        </p:txBody>
      </p:sp>
      <p:sp>
        <p:nvSpPr>
          <p:cNvPr id="54286" name="Freeform 14">
            <a:extLst>
              <a:ext uri="{FF2B5EF4-FFF2-40B4-BE49-F238E27FC236}">
                <a16:creationId xmlns:a16="http://schemas.microsoft.com/office/drawing/2014/main" id="{AB29B7DF-29F2-CD4C-823B-FC04D6E7C84C}"/>
              </a:ext>
            </a:extLst>
          </p:cNvPr>
          <p:cNvSpPr>
            <a:spLocks/>
          </p:cNvSpPr>
          <p:nvPr/>
        </p:nvSpPr>
        <p:spPr bwMode="auto">
          <a:xfrm>
            <a:off x="4038600" y="5334000"/>
            <a:ext cx="1608138" cy="263525"/>
          </a:xfrm>
          <a:custGeom>
            <a:avLst/>
            <a:gdLst>
              <a:gd name="T0" fmla="*/ 0 w 1013"/>
              <a:gd name="T1" fmla="*/ 0 h 166"/>
              <a:gd name="T2" fmla="*/ 2147483646 w 1013"/>
              <a:gd name="T3" fmla="*/ 2147483646 h 166"/>
              <a:gd name="T4" fmla="*/ 2147483646 w 1013"/>
              <a:gd name="T5" fmla="*/ 2147483646 h 166"/>
              <a:gd name="T6" fmla="*/ 0 60000 65536"/>
              <a:gd name="T7" fmla="*/ 0 60000 65536"/>
              <a:gd name="T8" fmla="*/ 0 60000 65536"/>
              <a:gd name="T9" fmla="*/ 0 w 1013"/>
              <a:gd name="T10" fmla="*/ 0 h 166"/>
              <a:gd name="T11" fmla="*/ 1013 w 1013"/>
              <a:gd name="T12" fmla="*/ 166 h 16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13" h="166">
                <a:moveTo>
                  <a:pt x="0" y="0"/>
                </a:moveTo>
                <a:lnTo>
                  <a:pt x="501" y="166"/>
                </a:lnTo>
                <a:lnTo>
                  <a:pt x="1013" y="7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7" name="Freeform 15">
            <a:extLst>
              <a:ext uri="{FF2B5EF4-FFF2-40B4-BE49-F238E27FC236}">
                <a16:creationId xmlns:a16="http://schemas.microsoft.com/office/drawing/2014/main" id="{7778987E-DB3D-C84A-9912-EEE1A9284D1E}"/>
              </a:ext>
            </a:extLst>
          </p:cNvPr>
          <p:cNvSpPr>
            <a:spLocks/>
          </p:cNvSpPr>
          <p:nvPr/>
        </p:nvSpPr>
        <p:spPr bwMode="auto">
          <a:xfrm>
            <a:off x="3810000" y="4773613"/>
            <a:ext cx="2057400" cy="331787"/>
          </a:xfrm>
          <a:custGeom>
            <a:avLst/>
            <a:gdLst>
              <a:gd name="T0" fmla="*/ 0 w 1296"/>
              <a:gd name="T1" fmla="*/ 2147483646 h 209"/>
              <a:gd name="T2" fmla="*/ 2147483646 w 1296"/>
              <a:gd name="T3" fmla="*/ 0 h 209"/>
              <a:gd name="T4" fmla="*/ 2147483646 w 1296"/>
              <a:gd name="T5" fmla="*/ 2147483646 h 209"/>
              <a:gd name="T6" fmla="*/ 0 60000 65536"/>
              <a:gd name="T7" fmla="*/ 0 60000 65536"/>
              <a:gd name="T8" fmla="*/ 0 60000 65536"/>
              <a:gd name="T9" fmla="*/ 0 w 1296"/>
              <a:gd name="T10" fmla="*/ 0 h 209"/>
              <a:gd name="T11" fmla="*/ 1296 w 1296"/>
              <a:gd name="T12" fmla="*/ 209 h 20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96" h="209">
                <a:moveTo>
                  <a:pt x="0" y="113"/>
                </a:moveTo>
                <a:lnTo>
                  <a:pt x="676" y="0"/>
                </a:lnTo>
                <a:lnTo>
                  <a:pt x="1296" y="209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288" name="Text Box 16">
            <a:extLst>
              <a:ext uri="{FF2B5EF4-FFF2-40B4-BE49-F238E27FC236}">
                <a16:creationId xmlns:a16="http://schemas.microsoft.com/office/drawing/2014/main" id="{0D9D993B-F429-D944-8662-3236996458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5363" y="2346325"/>
            <a:ext cx="23320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6600"/>
                </a:solidFill>
              </a:rPr>
              <a:t>Partial Dependencies</a:t>
            </a:r>
          </a:p>
        </p:txBody>
      </p:sp>
      <p:sp>
        <p:nvSpPr>
          <p:cNvPr id="54289" name="Text Box 17">
            <a:extLst>
              <a:ext uri="{FF2B5EF4-FFF2-40B4-BE49-F238E27FC236}">
                <a16:creationId xmlns:a16="http://schemas.microsoft.com/office/drawing/2014/main" id="{5335F9D4-82A5-1E44-A335-12E2C8D66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080125"/>
            <a:ext cx="2698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>
                <a:solidFill>
                  <a:srgbClr val="FF6600"/>
                </a:solidFill>
              </a:rPr>
              <a:t>Transitive Dependencies</a:t>
            </a:r>
          </a:p>
        </p:txBody>
      </p:sp>
      <p:sp>
        <p:nvSpPr>
          <p:cNvPr id="54290" name="Rectangle 18">
            <a:extLst>
              <a:ext uri="{FF2B5EF4-FFF2-40B4-BE49-F238E27FC236}">
                <a16:creationId xmlns:a16="http://schemas.microsoft.com/office/drawing/2014/main" id="{7976B478-4CA7-5A41-BA14-72E1272A3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429000"/>
            <a:ext cx="8229600" cy="25146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54291" name="Rectangle 19">
            <a:extLst>
              <a:ext uri="{FF2B5EF4-FFF2-40B4-BE49-F238E27FC236}">
                <a16:creationId xmlns:a16="http://schemas.microsoft.com/office/drawing/2014/main" id="{D87F5CA8-0015-5343-90E4-14BBDC2A5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381000"/>
            <a:ext cx="8305800" cy="1828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54292" name="Text Box 20">
            <a:extLst>
              <a:ext uri="{FF2B5EF4-FFF2-40B4-BE49-F238E27FC236}">
                <a16:creationId xmlns:a16="http://schemas.microsoft.com/office/drawing/2014/main" id="{C74FC7B2-9201-B94D-A1BA-CF018E370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1295400"/>
            <a:ext cx="1336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A not in a key</a:t>
            </a:r>
          </a:p>
        </p:txBody>
      </p:sp>
      <p:sp>
        <p:nvSpPr>
          <p:cNvPr id="54293" name="Text Box 21">
            <a:extLst>
              <a:ext uri="{FF2B5EF4-FFF2-40B4-BE49-F238E27FC236}">
                <a16:creationId xmlns:a16="http://schemas.microsoft.com/office/drawing/2014/main" id="{8031735C-7596-7944-B495-45347FE8E1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3925" y="3778250"/>
            <a:ext cx="1336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A not in a key</a:t>
            </a:r>
          </a:p>
        </p:txBody>
      </p:sp>
      <p:sp>
        <p:nvSpPr>
          <p:cNvPr id="54294" name="Text Box 22">
            <a:extLst>
              <a:ext uri="{FF2B5EF4-FFF2-40B4-BE49-F238E27FC236}">
                <a16:creationId xmlns:a16="http://schemas.microsoft.com/office/drawing/2014/main" id="{735A8DB2-3E62-0B4D-8D81-7A4FED9AB9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3925" y="5149850"/>
            <a:ext cx="10255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/>
              <a:t>A in a key</a:t>
            </a:r>
          </a:p>
        </p:txBody>
      </p:sp>
      <p:sp>
        <p:nvSpPr>
          <p:cNvPr id="54295" name="TextBox 1">
            <a:extLst>
              <a:ext uri="{FF2B5EF4-FFF2-40B4-BE49-F238E27FC236}">
                <a16:creationId xmlns:a16="http://schemas.microsoft.com/office/drawing/2014/main" id="{8DF02EF2-B5C0-FD49-A70E-BCDBB9EF1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1628775"/>
            <a:ext cx="2200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200">
                <a:solidFill>
                  <a:srgbClr val="FF0000"/>
                </a:solidFill>
              </a:rPr>
              <a:t>Not accepted by 3NF and BCNF</a:t>
            </a:r>
            <a:endParaRPr lang="en-US" altLang="en-US" sz="1200">
              <a:solidFill>
                <a:srgbClr val="FF0000"/>
              </a:solidFill>
            </a:endParaRPr>
          </a:p>
        </p:txBody>
      </p:sp>
      <p:sp>
        <p:nvSpPr>
          <p:cNvPr id="54296" name="TextBox 24">
            <a:extLst>
              <a:ext uri="{FF2B5EF4-FFF2-40B4-BE49-F238E27FC236}">
                <a16:creationId xmlns:a16="http://schemas.microsoft.com/office/drawing/2014/main" id="{BB529146-6793-074C-ABB0-FA8A3A1F22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15125" y="4038600"/>
            <a:ext cx="22002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200">
                <a:solidFill>
                  <a:srgbClr val="FF0000"/>
                </a:solidFill>
              </a:rPr>
              <a:t>Not accepted by 3NF and BCNF</a:t>
            </a:r>
            <a:endParaRPr lang="en-US" altLang="en-US" sz="1200">
              <a:solidFill>
                <a:srgbClr val="FF0000"/>
              </a:solidFill>
            </a:endParaRPr>
          </a:p>
        </p:txBody>
      </p:sp>
      <p:sp>
        <p:nvSpPr>
          <p:cNvPr id="54297" name="TextBox 25">
            <a:extLst>
              <a:ext uri="{FF2B5EF4-FFF2-40B4-BE49-F238E27FC236}">
                <a16:creationId xmlns:a16="http://schemas.microsoft.com/office/drawing/2014/main" id="{D6241FFE-C2CD-B748-B54C-C95FA773A1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5465763"/>
            <a:ext cx="16287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200">
                <a:solidFill>
                  <a:srgbClr val="FF0000"/>
                </a:solidFill>
              </a:rPr>
              <a:t>Accepted by 3NF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TW" sz="1200">
                <a:solidFill>
                  <a:srgbClr val="FF0000"/>
                </a:solidFill>
              </a:rPr>
              <a:t>Not accepted by BCNF</a:t>
            </a:r>
            <a:endParaRPr lang="en-US" altLang="en-US" sz="1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Number Placeholder 5">
            <a:extLst>
              <a:ext uri="{FF2B5EF4-FFF2-40B4-BE49-F238E27FC236}">
                <a16:creationId xmlns:a16="http://schemas.microsoft.com/office/drawing/2014/main" id="{F4CF7126-6F7B-484B-A112-5A3D0DB02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203665-42BA-8A47-9D1F-A224116E19B2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zh-TW" sz="1400"/>
          </a:p>
        </p:txBody>
      </p:sp>
      <p:sp>
        <p:nvSpPr>
          <p:cNvPr id="55298" name="Rectangle 3">
            <a:extLst>
              <a:ext uri="{FF2B5EF4-FFF2-40B4-BE49-F238E27FC236}">
                <a16:creationId xmlns:a16="http://schemas.microsoft.com/office/drawing/2014/main" id="{D68A54EF-FB5E-1546-B754-CBAC97C464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838200"/>
            <a:ext cx="7772400" cy="5257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800"/>
              <a:t>Motivation of 3NF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/>
              <a:t>By making an exception for certain dependencies involving key attributes, we can ensure that every relation schema can be decomposed into a collection of 3NF relations that satisfy certain desirable properties (dependency preserving).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/>
              <a:t>Such a guarantee does not exist for BCNF relations.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/>
              <a:t>It weaken the BCNF requirements just enough to make this guarantee possible.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TW" sz="2800"/>
              <a:t>Unlike BCNF, some redundancy is possible with 3NF.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/>
              <a:t>The problems associate with partial and transitive dependencies persist if there is a nontrivial dependency X</a:t>
            </a:r>
            <a:r>
              <a:rPr lang="en-US" altLang="zh-TW" sz="2400">
                <a:sym typeface="Wingdings" pitchFamily="2" charset="2"/>
              </a:rPr>
              <a:t>A and X is not a superkey, even if the relation is in 3NF because A is part of a key.</a:t>
            </a:r>
            <a:endParaRPr lang="en-US" altLang="zh-TW" sz="24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Number Placeholder 3">
            <a:extLst>
              <a:ext uri="{FF2B5EF4-FFF2-40B4-BE49-F238E27FC236}">
                <a16:creationId xmlns:a16="http://schemas.microsoft.com/office/drawing/2014/main" id="{41D420AC-9A68-5343-A983-A44E26E03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4D32D1-F632-5F4B-9E8D-E6E307BDF830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zh-TW" sz="1400"/>
          </a:p>
        </p:txBody>
      </p:sp>
      <p:sp>
        <p:nvSpPr>
          <p:cNvPr id="56322" name="Text Box 2">
            <a:extLst>
              <a:ext uri="{FF2B5EF4-FFF2-40B4-BE49-F238E27FC236}">
                <a16:creationId xmlns:a16="http://schemas.microsoft.com/office/drawing/2014/main" id="{9D8A0B81-642F-1042-96F8-3E19BE0BC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219200"/>
            <a:ext cx="441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Reserves</a:t>
            </a:r>
          </a:p>
        </p:txBody>
      </p:sp>
      <p:graphicFrame>
        <p:nvGraphicFramePr>
          <p:cNvPr id="56323" name="Object 3">
            <a:extLst>
              <a:ext uri="{FF2B5EF4-FFF2-40B4-BE49-F238E27FC236}">
                <a16:creationId xmlns:a16="http://schemas.microsoft.com/office/drawing/2014/main" id="{A9ED32A0-081F-4542-A5C8-1658F0A518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1828800"/>
          <a:ext cx="4495800" cy="177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209800" imgH="876300" progId="Excel.Sheet.8">
                  <p:embed/>
                </p:oleObj>
              </mc:Choice>
              <mc:Fallback>
                <p:oleObj name="Worksheet" r:id="rId2" imgW="2209800" imgH="876300" progId="Excel.Sheet.8">
                  <p:embed/>
                  <p:pic>
                    <p:nvPicPr>
                      <p:cNvPr id="56323" name="Object 3">
                        <a:extLst>
                          <a:ext uri="{FF2B5EF4-FFF2-40B4-BE49-F238E27FC236}">
                            <a16:creationId xmlns:a16="http://schemas.microsoft.com/office/drawing/2014/main" id="{A9ED32A0-081F-4542-A5C8-1658F0A5183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456" b="-1518"/>
                      <a:stretch>
                        <a:fillRect/>
                      </a:stretch>
                    </p:blipFill>
                    <p:spPr bwMode="auto">
                      <a:xfrm>
                        <a:off x="2362200" y="1828800"/>
                        <a:ext cx="4495800" cy="177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324" name="Rectangle 4">
            <a:extLst>
              <a:ext uri="{FF2B5EF4-FFF2-40B4-BE49-F238E27FC236}">
                <a16:creationId xmlns:a16="http://schemas.microsoft.com/office/drawing/2014/main" id="{551F88F6-DEBC-DF49-91F1-6CD009A09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114800"/>
            <a:ext cx="800100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TW" sz="2400">
                <a:sym typeface="Symbol" pitchFamily="2" charset="2"/>
              </a:rPr>
              <a:t>Assume: sid  cardno (a sailor uses a unique credit card to pay for reservations).</a:t>
            </a:r>
            <a:endParaRPr lang="en-US" altLang="zh-TW" sz="100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sym typeface="Symbol" pitchFamily="2" charset="2"/>
              </a:rPr>
              <a:t>Reserves is not in 3NF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>
                <a:sym typeface="Symbol" pitchFamily="2" charset="2"/>
              </a:rPr>
              <a:t>sid is not a key and cardno is not part of a key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>
                <a:sym typeface="Symbol" pitchFamily="2" charset="2"/>
              </a:rPr>
              <a:t>In fact, (sid, bid, day) is the only key.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>
                <a:sym typeface="Symbol" pitchFamily="2" charset="2"/>
              </a:rPr>
              <a:t>(sid, cardno) pairs are redundant.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Number Placeholder 3">
            <a:extLst>
              <a:ext uri="{FF2B5EF4-FFF2-40B4-BE49-F238E27FC236}">
                <a16:creationId xmlns:a16="http://schemas.microsoft.com/office/drawing/2014/main" id="{E2D6A460-1818-EE44-B67B-0B48A33B4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AE36ED-89B7-A04B-889F-F2B63D46C530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zh-TW" sz="1400"/>
          </a:p>
        </p:txBody>
      </p:sp>
      <p:sp>
        <p:nvSpPr>
          <p:cNvPr id="57346" name="Text Box 2">
            <a:extLst>
              <a:ext uri="{FF2B5EF4-FFF2-40B4-BE49-F238E27FC236}">
                <a16:creationId xmlns:a16="http://schemas.microsoft.com/office/drawing/2014/main" id="{D530A02D-7997-F448-B7D2-A357979948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219200"/>
            <a:ext cx="4419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Reserves</a:t>
            </a:r>
          </a:p>
        </p:txBody>
      </p:sp>
      <p:graphicFrame>
        <p:nvGraphicFramePr>
          <p:cNvPr id="57347" name="Object 3">
            <a:extLst>
              <a:ext uri="{FF2B5EF4-FFF2-40B4-BE49-F238E27FC236}">
                <a16:creationId xmlns:a16="http://schemas.microsoft.com/office/drawing/2014/main" id="{B8453094-B852-7C47-8FD2-48C613B50E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62200" y="1828800"/>
          <a:ext cx="4495800" cy="177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2209800" imgH="876300" progId="Excel.Sheet.8">
                  <p:embed/>
                </p:oleObj>
              </mc:Choice>
              <mc:Fallback>
                <p:oleObj name="Worksheet" r:id="rId2" imgW="2209800" imgH="876300" progId="Excel.Sheet.8">
                  <p:embed/>
                  <p:pic>
                    <p:nvPicPr>
                      <p:cNvPr id="57347" name="Object 3">
                        <a:extLst>
                          <a:ext uri="{FF2B5EF4-FFF2-40B4-BE49-F238E27FC236}">
                            <a16:creationId xmlns:a16="http://schemas.microsoft.com/office/drawing/2014/main" id="{B8453094-B852-7C47-8FD2-48C613B50E8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456" b="-1518"/>
                      <a:stretch>
                        <a:fillRect/>
                      </a:stretch>
                    </p:blipFill>
                    <p:spPr bwMode="auto">
                      <a:xfrm>
                        <a:off x="2362200" y="1828800"/>
                        <a:ext cx="4495800" cy="177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48" name="Rectangle 4">
            <a:extLst>
              <a:ext uri="{FF2B5EF4-FFF2-40B4-BE49-F238E27FC236}">
                <a16:creationId xmlns:a16="http://schemas.microsoft.com/office/drawing/2014/main" id="{240CB986-FE61-C74A-A0DA-A590E6FE1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4114800"/>
            <a:ext cx="80010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TW" sz="2400">
                <a:sym typeface="Symbol" pitchFamily="2" charset="2"/>
              </a:rPr>
              <a:t>Assume: sid  cardno, and cardno  sid (we know that credit cards also uniquely identify the owner).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100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sym typeface="Symbol" pitchFamily="2" charset="2"/>
              </a:rPr>
              <a:t>Reserves is in 3NF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>
                <a:sym typeface="Symbol" pitchFamily="2" charset="2"/>
              </a:rPr>
              <a:t>(cardno, bid, day) is also a key for Reserves.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>
                <a:sym typeface="Symbol" pitchFamily="2" charset="2"/>
              </a:rPr>
              <a:t>sid  cardno does not violate 3NF.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Number Placeholder 5">
            <a:extLst>
              <a:ext uri="{FF2B5EF4-FFF2-40B4-BE49-F238E27FC236}">
                <a16:creationId xmlns:a16="http://schemas.microsoft.com/office/drawing/2014/main" id="{7B0E6AB8-33A0-0B4F-A521-9CEBA61C9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27DC9E1-EEC9-DF41-87D7-CE175865CD2D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zh-TW" sz="1400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DED50E08-E11A-BD4F-B9ED-2F19533D62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Decomposition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6228293B-62FA-924A-A74D-60573CBAF7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Decomposition is a tool that allows us to eliminate redundancy.</a:t>
            </a:r>
          </a:p>
          <a:p>
            <a:pPr eaLnBrk="1" hangingPunct="1"/>
            <a:r>
              <a:rPr lang="en-US" altLang="zh-TW"/>
              <a:t>It is important to check that a decomposition does not introduce new problems.</a:t>
            </a:r>
          </a:p>
          <a:p>
            <a:pPr lvl="1" eaLnBrk="1" hangingPunct="1"/>
            <a:r>
              <a:rPr lang="en-US" altLang="zh-TW"/>
              <a:t>A decomposition allows us to recover the original relation?</a:t>
            </a:r>
          </a:p>
          <a:p>
            <a:pPr lvl="1" eaLnBrk="1" hangingPunct="1"/>
            <a:r>
              <a:rPr lang="en-US" altLang="zh-TW"/>
              <a:t>Can we check integrity constraints efficiently?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Number Placeholder 3">
            <a:extLst>
              <a:ext uri="{FF2B5EF4-FFF2-40B4-BE49-F238E27FC236}">
                <a16:creationId xmlns:a16="http://schemas.microsoft.com/office/drawing/2014/main" id="{8FEF591D-3958-DD43-96E3-5C38E8898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0C16161-58A4-314F-B003-5C477AD1D0F4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zh-TW" sz="1400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9951E8CE-D977-8D42-BDE2-40E73FE75F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762000"/>
            <a:ext cx="80772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A set of relation schemas {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1</a:t>
            </a:r>
            <a:r>
              <a:rPr lang="en-US" altLang="zh-TW" sz="2400">
                <a:sym typeface="Symbol" pitchFamily="2" charset="2"/>
              </a:rPr>
              <a:t>,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2</a:t>
            </a:r>
            <a:r>
              <a:rPr lang="en-US" altLang="zh-TW" sz="2400">
                <a:sym typeface="Symbol" pitchFamily="2" charset="2"/>
              </a:rPr>
              <a:t>, </a:t>
            </a:r>
            <a:r>
              <a:rPr lang="en-US" altLang="zh-TW" sz="2400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 sz="2400">
                <a:sym typeface="Symbol" pitchFamily="2" charset="2"/>
              </a:rPr>
              <a:t>,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n</a:t>
            </a:r>
            <a:r>
              <a:rPr lang="en-US" altLang="zh-TW" sz="2400">
                <a:sym typeface="Symbol" pitchFamily="2" charset="2"/>
              </a:rPr>
              <a:t> }, with n  2 is a </a:t>
            </a:r>
          </a:p>
          <a:p>
            <a:pPr eaLnBrk="1" hangingPunct="1">
              <a:buFontTx/>
              <a:buNone/>
            </a:pPr>
            <a:r>
              <a:rPr lang="en-US" altLang="zh-TW" sz="2400" b="1">
                <a:sym typeface="Symbol" pitchFamily="2" charset="2"/>
              </a:rPr>
              <a:t>decomposition</a:t>
            </a:r>
            <a:r>
              <a:rPr lang="en-US" altLang="zh-TW" sz="2400">
                <a:sym typeface="Symbol" pitchFamily="2" charset="2"/>
              </a:rPr>
              <a:t> of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>
                <a:sym typeface="Symbol" pitchFamily="2" charset="2"/>
              </a:rPr>
              <a:t> if 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	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1</a:t>
            </a:r>
            <a:r>
              <a:rPr lang="en-US" altLang="zh-TW" sz="2400">
                <a:sym typeface="Symbol" pitchFamily="2" charset="2"/>
              </a:rPr>
              <a:t> 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2</a:t>
            </a:r>
            <a:r>
              <a:rPr lang="en-US" altLang="zh-TW" sz="2400">
                <a:sym typeface="Symbol" pitchFamily="2" charset="2"/>
              </a:rPr>
              <a:t>  </a:t>
            </a:r>
            <a:r>
              <a:rPr lang="en-US" altLang="zh-TW" sz="2400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 sz="2400">
                <a:sym typeface="Symbol" pitchFamily="2" charset="2"/>
              </a:rPr>
              <a:t> 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n</a:t>
            </a:r>
            <a:r>
              <a:rPr lang="en-US" altLang="zh-TW" sz="2400">
                <a:sym typeface="Symbol" pitchFamily="2" charset="2"/>
              </a:rPr>
              <a:t> = </a:t>
            </a:r>
            <a:r>
              <a:rPr lang="en-US" altLang="zh-TW" sz="2400" i="1">
                <a:sym typeface="Symbol" pitchFamily="2" charset="2"/>
              </a:rPr>
              <a:t>R</a:t>
            </a:r>
          </a:p>
          <a:p>
            <a:pPr eaLnBrk="1" hangingPunct="1">
              <a:buFontTx/>
              <a:buNone/>
            </a:pPr>
            <a:endParaRPr lang="en-US" altLang="zh-TW" sz="2400">
              <a:sym typeface="Symbol" pitchFamily="2" charset="2"/>
            </a:endParaRPr>
          </a:p>
          <a:p>
            <a:pPr eaLnBrk="1" hangingPunct="1">
              <a:buFontTx/>
              <a:buNone/>
            </a:pPr>
            <a:endParaRPr lang="en-US" altLang="zh-TW" sz="2400">
              <a:sym typeface="Symbol" pitchFamily="2" charset="2"/>
            </a:endParaRPr>
          </a:p>
          <a:p>
            <a:pPr eaLnBrk="1" hangingPunct="1">
              <a:buFontTx/>
              <a:buNone/>
            </a:pPr>
            <a:endParaRPr lang="zh-TW" altLang="en-US" sz="2400">
              <a:sym typeface="Symbol" pitchFamily="2" charset="2"/>
            </a:endParaRPr>
          </a:p>
        </p:txBody>
      </p:sp>
      <p:grpSp>
        <p:nvGrpSpPr>
          <p:cNvPr id="59395" name="Group 3">
            <a:extLst>
              <a:ext uri="{FF2B5EF4-FFF2-40B4-BE49-F238E27FC236}">
                <a16:creationId xmlns:a16="http://schemas.microsoft.com/office/drawing/2014/main" id="{48BD62EC-3BC3-9F40-B8AD-CEC162290BD1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2819400"/>
            <a:ext cx="6324600" cy="457200"/>
            <a:chOff x="336" y="2304"/>
            <a:chExt cx="3984" cy="288"/>
          </a:xfrm>
        </p:grpSpPr>
        <p:sp>
          <p:nvSpPr>
            <p:cNvPr id="59405" name="Rectangle 4">
              <a:extLst>
                <a:ext uri="{FF2B5EF4-FFF2-40B4-BE49-F238E27FC236}">
                  <a16:creationId xmlns:a16="http://schemas.microsoft.com/office/drawing/2014/main" id="{170F7375-8ABB-1D4C-8198-3525D16A8D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2304"/>
              <a:ext cx="480" cy="288"/>
            </a:xfrm>
            <a:prstGeom prst="rect">
              <a:avLst/>
            </a:prstGeom>
            <a:solidFill>
              <a:srgbClr val="E2C5A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63500" dir="3187806" algn="ctr" rotWithShape="0">
                <a:schemeClr val="accent1"/>
              </a:outerShdw>
            </a:effectLst>
          </p:spPr>
          <p:txBody>
            <a:bodyPr wrap="none" anchor="ctr" anchorCtr="1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2200" u="sng">
                  <a:latin typeface="Arial" panose="020B0604020202020204" pitchFamily="34" charset="0"/>
                </a:rPr>
                <a:t>sid</a:t>
              </a:r>
            </a:p>
          </p:txBody>
        </p:sp>
        <p:sp>
          <p:nvSpPr>
            <p:cNvPr id="59406" name="Text Box 5">
              <a:extLst>
                <a:ext uri="{FF2B5EF4-FFF2-40B4-BE49-F238E27FC236}">
                  <a16:creationId xmlns:a16="http://schemas.microsoft.com/office/drawing/2014/main" id="{0C334525-3547-B647-B631-5FB28ADC57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2304"/>
              <a:ext cx="105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2400">
                  <a:latin typeface="Arial" panose="020B0604020202020204" pitchFamily="34" charset="0"/>
                </a:rPr>
                <a:t>Supply</a:t>
              </a:r>
            </a:p>
          </p:txBody>
        </p:sp>
        <p:sp>
          <p:nvSpPr>
            <p:cNvPr id="59407" name="Rectangle 6">
              <a:extLst>
                <a:ext uri="{FF2B5EF4-FFF2-40B4-BE49-F238E27FC236}">
                  <a16:creationId xmlns:a16="http://schemas.microsoft.com/office/drawing/2014/main" id="{B110CAA3-CA8D-CD4F-B029-2C0DFFF49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304"/>
              <a:ext cx="768" cy="288"/>
            </a:xfrm>
            <a:prstGeom prst="rect">
              <a:avLst/>
            </a:prstGeom>
            <a:solidFill>
              <a:srgbClr val="E2C5A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63500" dir="3187806" algn="ctr" rotWithShape="0">
                <a:schemeClr val="accent1"/>
              </a:outerShdw>
            </a:effectLst>
          </p:spPr>
          <p:txBody>
            <a:bodyPr wrap="none" anchor="ctr" anchorCtr="1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2200">
                  <a:latin typeface="Arial" panose="020B0604020202020204" pitchFamily="34" charset="0"/>
                </a:rPr>
                <a:t>status</a:t>
              </a:r>
            </a:p>
          </p:txBody>
        </p:sp>
        <p:sp>
          <p:nvSpPr>
            <p:cNvPr id="59408" name="Rectangle 7">
              <a:extLst>
                <a:ext uri="{FF2B5EF4-FFF2-40B4-BE49-F238E27FC236}">
                  <a16:creationId xmlns:a16="http://schemas.microsoft.com/office/drawing/2014/main" id="{EF38B9C9-DAA9-9C4B-B686-8A0132509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304"/>
              <a:ext cx="624" cy="288"/>
            </a:xfrm>
            <a:prstGeom prst="rect">
              <a:avLst/>
            </a:prstGeom>
            <a:solidFill>
              <a:srgbClr val="E2C5A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63500" dir="3187806" algn="ctr" rotWithShape="0">
                <a:schemeClr val="accent1"/>
              </a:outerShdw>
            </a:effectLst>
          </p:spPr>
          <p:txBody>
            <a:bodyPr wrap="none" anchor="ctr" anchorCtr="1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2200">
                  <a:latin typeface="Arial" panose="020B0604020202020204" pitchFamily="34" charset="0"/>
                </a:rPr>
                <a:t>city</a:t>
              </a:r>
            </a:p>
          </p:txBody>
        </p:sp>
        <p:sp>
          <p:nvSpPr>
            <p:cNvPr id="59409" name="Rectangle 8">
              <a:extLst>
                <a:ext uri="{FF2B5EF4-FFF2-40B4-BE49-F238E27FC236}">
                  <a16:creationId xmlns:a16="http://schemas.microsoft.com/office/drawing/2014/main" id="{4CED00FE-4B85-C74E-AA09-FA8589176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2304"/>
              <a:ext cx="720" cy="288"/>
            </a:xfrm>
            <a:prstGeom prst="rect">
              <a:avLst/>
            </a:prstGeom>
            <a:solidFill>
              <a:srgbClr val="E2C5A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63500" dir="3187806" algn="ctr" rotWithShape="0">
                <a:schemeClr val="accent1"/>
              </a:outerShdw>
            </a:effectLst>
          </p:spPr>
          <p:txBody>
            <a:bodyPr wrap="none" anchor="ctr" anchorCtr="1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2200" u="sng">
                  <a:latin typeface="Arial" panose="020B0604020202020204" pitchFamily="34" charset="0"/>
                </a:rPr>
                <a:t>part_id</a:t>
              </a:r>
            </a:p>
          </p:txBody>
        </p:sp>
        <p:sp>
          <p:nvSpPr>
            <p:cNvPr id="59410" name="Rectangle 9">
              <a:extLst>
                <a:ext uri="{FF2B5EF4-FFF2-40B4-BE49-F238E27FC236}">
                  <a16:creationId xmlns:a16="http://schemas.microsoft.com/office/drawing/2014/main" id="{7A5FC989-65E9-0F4A-AE03-4198BEC9A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304"/>
              <a:ext cx="624" cy="288"/>
            </a:xfrm>
            <a:prstGeom prst="rect">
              <a:avLst/>
            </a:prstGeom>
            <a:solidFill>
              <a:srgbClr val="E2C5A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63500" dir="3187806" algn="ctr" rotWithShape="0">
                <a:schemeClr val="accent1"/>
              </a:outerShdw>
            </a:effectLst>
          </p:spPr>
          <p:txBody>
            <a:bodyPr wrap="none" anchor="ctr" anchorCtr="1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2200">
                  <a:latin typeface="Arial" panose="020B0604020202020204" pitchFamily="34" charset="0"/>
                </a:rPr>
                <a:t>qty</a:t>
              </a:r>
            </a:p>
          </p:txBody>
        </p:sp>
      </p:grpSp>
      <p:sp>
        <p:nvSpPr>
          <p:cNvPr id="59396" name="Text Box 10">
            <a:extLst>
              <a:ext uri="{FF2B5EF4-FFF2-40B4-BE49-F238E27FC236}">
                <a16:creationId xmlns:a16="http://schemas.microsoft.com/office/drawing/2014/main" id="{F039A395-6B9A-2F4A-A655-0C085674EA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4114800"/>
            <a:ext cx="167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Supplier</a:t>
            </a:r>
          </a:p>
        </p:txBody>
      </p:sp>
      <p:sp>
        <p:nvSpPr>
          <p:cNvPr id="59397" name="Text Box 11">
            <a:extLst>
              <a:ext uri="{FF2B5EF4-FFF2-40B4-BE49-F238E27FC236}">
                <a16:creationId xmlns:a16="http://schemas.microsoft.com/office/drawing/2014/main" id="{3339B004-4AC2-8149-9DAD-44CF48A5BC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3340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SP</a:t>
            </a:r>
          </a:p>
        </p:txBody>
      </p:sp>
      <p:sp>
        <p:nvSpPr>
          <p:cNvPr id="59398" name="Rectangle 12">
            <a:extLst>
              <a:ext uri="{FF2B5EF4-FFF2-40B4-BE49-F238E27FC236}">
                <a16:creationId xmlns:a16="http://schemas.microsoft.com/office/drawing/2014/main" id="{D500BDAB-1E5E-2E45-90F7-97E7A2AC39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4114800"/>
            <a:ext cx="7620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 u="sng">
                <a:latin typeface="Arial" panose="020B0604020202020204" pitchFamily="34" charset="0"/>
              </a:rPr>
              <a:t>sid</a:t>
            </a:r>
          </a:p>
        </p:txBody>
      </p:sp>
      <p:sp>
        <p:nvSpPr>
          <p:cNvPr id="59399" name="Rectangle 13">
            <a:extLst>
              <a:ext uri="{FF2B5EF4-FFF2-40B4-BE49-F238E27FC236}">
                <a16:creationId xmlns:a16="http://schemas.microsoft.com/office/drawing/2014/main" id="{F6F4B11B-91A3-DD41-88CF-06AFF66463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4114800"/>
            <a:ext cx="12192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status</a:t>
            </a:r>
          </a:p>
        </p:txBody>
      </p:sp>
      <p:sp>
        <p:nvSpPr>
          <p:cNvPr id="59400" name="Rectangle 14">
            <a:extLst>
              <a:ext uri="{FF2B5EF4-FFF2-40B4-BE49-F238E27FC236}">
                <a16:creationId xmlns:a16="http://schemas.microsoft.com/office/drawing/2014/main" id="{98707421-F9AC-E741-AE35-4565D8B0F7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4114800"/>
            <a:ext cx="9906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city</a:t>
            </a:r>
          </a:p>
        </p:txBody>
      </p:sp>
      <p:sp>
        <p:nvSpPr>
          <p:cNvPr id="59401" name="Rectangle 15">
            <a:extLst>
              <a:ext uri="{FF2B5EF4-FFF2-40B4-BE49-F238E27FC236}">
                <a16:creationId xmlns:a16="http://schemas.microsoft.com/office/drawing/2014/main" id="{3AFF98F1-1456-064A-8646-A6E1522B8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5334000"/>
            <a:ext cx="7620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 u="sng">
                <a:latin typeface="Arial" panose="020B0604020202020204" pitchFamily="34" charset="0"/>
              </a:rPr>
              <a:t>sid</a:t>
            </a:r>
          </a:p>
        </p:txBody>
      </p:sp>
      <p:sp>
        <p:nvSpPr>
          <p:cNvPr id="59402" name="Rectangle 16">
            <a:extLst>
              <a:ext uri="{FF2B5EF4-FFF2-40B4-BE49-F238E27FC236}">
                <a16:creationId xmlns:a16="http://schemas.microsoft.com/office/drawing/2014/main" id="{974F77D1-3B0E-C04F-9009-C3EFC76D9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5334000"/>
            <a:ext cx="11430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 u="sng">
                <a:latin typeface="Arial" panose="020B0604020202020204" pitchFamily="34" charset="0"/>
              </a:rPr>
              <a:t>part_id</a:t>
            </a:r>
          </a:p>
        </p:txBody>
      </p:sp>
      <p:sp>
        <p:nvSpPr>
          <p:cNvPr id="59403" name="Rectangle 17">
            <a:extLst>
              <a:ext uri="{FF2B5EF4-FFF2-40B4-BE49-F238E27FC236}">
                <a16:creationId xmlns:a16="http://schemas.microsoft.com/office/drawing/2014/main" id="{20572C60-22C2-CF4D-8616-C1FFA2B6D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334000"/>
            <a:ext cx="9906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qty</a:t>
            </a:r>
          </a:p>
        </p:txBody>
      </p:sp>
      <p:sp>
        <p:nvSpPr>
          <p:cNvPr id="59404" name="Text Box 18">
            <a:extLst>
              <a:ext uri="{FF2B5EF4-FFF2-40B4-BE49-F238E27FC236}">
                <a16:creationId xmlns:a16="http://schemas.microsoft.com/office/drawing/2014/main" id="{E8CA13BD-D81F-0546-8549-D1990BE26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4724400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and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Number Placeholder 3">
            <a:extLst>
              <a:ext uri="{FF2B5EF4-FFF2-40B4-BE49-F238E27FC236}">
                <a16:creationId xmlns:a16="http://schemas.microsoft.com/office/drawing/2014/main" id="{2A771E13-788E-5742-AEA7-55E4D041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1AA2F33-2529-9A4E-971F-661C45FD1C7D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zh-TW" sz="1400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CA849ECC-1787-FE4C-98F0-3B19B3D8F9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219200"/>
            <a:ext cx="83058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sz="2800">
                <a:sym typeface="Symbol" pitchFamily="2" charset="2"/>
              </a:rPr>
              <a:t>Supplier   SP = Supply</a:t>
            </a:r>
          </a:p>
          <a:p>
            <a:pPr lvl="1" eaLnBrk="1" hangingPunct="1"/>
            <a:r>
              <a:rPr lang="en-US" altLang="zh-TW" sz="2400">
                <a:sym typeface="Symbol" pitchFamily="2" charset="2"/>
              </a:rPr>
              <a:t>{ Supplier, SP } is a decomposition of Supply</a:t>
            </a:r>
          </a:p>
          <a:p>
            <a:pPr eaLnBrk="1" hangingPunct="1"/>
            <a:r>
              <a:rPr lang="en-US" altLang="zh-TW" sz="2800">
                <a:sym typeface="Symbol" pitchFamily="2" charset="2"/>
              </a:rPr>
              <a:t>Decomposition may turn non-normal form into normal form.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C8E9E753-97D5-D24A-91B9-2F14B35D3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579813"/>
            <a:ext cx="8153400" cy="2439987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200">
                <a:latin typeface="Arial" panose="020B0604020202020204" pitchFamily="34" charset="0"/>
                <a:sym typeface="Symbol" pitchFamily="2" charset="2"/>
              </a:rPr>
              <a:t>Suppose R is not in BCNF, and X  A is a FD (where </a:t>
            </a:r>
          </a:p>
          <a:p>
            <a:pPr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200">
                <a:latin typeface="Arial" panose="020B0604020202020204" pitchFamily="34" charset="0"/>
                <a:sym typeface="Symbol" pitchFamily="2" charset="2"/>
              </a:rPr>
              <a:t>X  A = </a:t>
            </a:r>
            <a:r>
              <a:rPr kumimoji="0" lang="en-US" altLang="zh-TW" sz="2200" i="1">
                <a:latin typeface="Arial" panose="020B0604020202020204" pitchFamily="34" charset="0"/>
                <a:sym typeface="Symbol" pitchFamily="2" charset="2"/>
              </a:rPr>
              <a:t></a:t>
            </a:r>
            <a:r>
              <a:rPr kumimoji="0" lang="en-US" altLang="zh-TW" sz="2200">
                <a:latin typeface="Arial" panose="020B0604020202020204" pitchFamily="34" charset="0"/>
                <a:sym typeface="Symbol" pitchFamily="2" charset="2"/>
              </a:rPr>
              <a:t> ) that violates the condition.</a:t>
            </a:r>
          </a:p>
          <a:p>
            <a:pPr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AutoNum type="arabicPeriod"/>
            </a:pPr>
            <a:r>
              <a:rPr kumimoji="0" lang="en-US" altLang="zh-TW" sz="2200">
                <a:latin typeface="Arial" panose="020B0604020202020204" pitchFamily="34" charset="0"/>
                <a:sym typeface="Symbol" pitchFamily="2" charset="2"/>
              </a:rPr>
              <a:t>Remove A from R</a:t>
            </a:r>
          </a:p>
          <a:p>
            <a:pPr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AutoNum type="arabicPeriod"/>
            </a:pPr>
            <a:r>
              <a:rPr kumimoji="0" lang="en-US" altLang="zh-TW" sz="2200">
                <a:latin typeface="Arial" panose="020B0604020202020204" pitchFamily="34" charset="0"/>
                <a:sym typeface="Symbol" pitchFamily="2" charset="2"/>
              </a:rPr>
              <a:t>Create a new relational schema XA</a:t>
            </a:r>
          </a:p>
          <a:p>
            <a:pPr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AutoNum type="arabicPeriod"/>
            </a:pPr>
            <a:r>
              <a:rPr kumimoji="0" lang="en-US" altLang="zh-TW" sz="2200">
                <a:latin typeface="Arial" panose="020B0604020202020204" pitchFamily="34" charset="0"/>
                <a:sym typeface="Symbol" pitchFamily="2" charset="2"/>
              </a:rPr>
              <a:t>Repeat this process until all the relations are in BCNF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Number Placeholder 3">
            <a:extLst>
              <a:ext uri="{FF2B5EF4-FFF2-40B4-BE49-F238E27FC236}">
                <a16:creationId xmlns:a16="http://schemas.microsoft.com/office/drawing/2014/main" id="{97C5739E-CA97-C846-BA03-547307C4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88BE42-16EC-2442-B201-0BF8F243EF04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zh-TW" sz="1400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91D8E92C-5C80-A14F-B35B-1E134267D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219200"/>
            <a:ext cx="80010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b="1">
                <a:solidFill>
                  <a:srgbClr val="000099"/>
                </a:solidFill>
                <a:sym typeface="Symbol" pitchFamily="2" charset="2"/>
              </a:rPr>
              <a:t>Problems with decomposition</a:t>
            </a:r>
          </a:p>
          <a:p>
            <a:pPr eaLnBrk="1" hangingPunct="1">
              <a:buFont typeface="Wingdings" pitchFamily="2" charset="2"/>
              <a:buAutoNum type="arabicPeriod"/>
            </a:pPr>
            <a:r>
              <a:rPr lang="en-US" altLang="zh-TW" sz="2800">
                <a:sym typeface="Symbol" pitchFamily="2" charset="2"/>
              </a:rPr>
              <a:t>Some queries become more expensive.</a:t>
            </a:r>
          </a:p>
          <a:p>
            <a:pPr eaLnBrk="1" hangingPunct="1">
              <a:buFont typeface="Wingdings" pitchFamily="2" charset="2"/>
              <a:buAutoNum type="arabicPeriod"/>
            </a:pPr>
            <a:r>
              <a:rPr lang="en-US" altLang="zh-TW" sz="2800">
                <a:sym typeface="Symbol" pitchFamily="2" charset="2"/>
              </a:rPr>
              <a:t>Given instances of the decomposed relations, we may not be able to reconstruct the corresponding instance of the original relation </a:t>
            </a:r>
            <a:r>
              <a:rPr lang="en-US" altLang="zh-TW" sz="2800">
                <a:latin typeface="Arial" panose="020B0604020202020204" pitchFamily="34" charset="0"/>
                <a:sym typeface="Symbol" pitchFamily="2" charset="2"/>
              </a:rPr>
              <a:t>–</a:t>
            </a:r>
            <a:r>
              <a:rPr lang="en-US" altLang="zh-TW" sz="2800">
                <a:sym typeface="Symbol" pitchFamily="2" charset="2"/>
              </a:rPr>
              <a:t> information loss.</a:t>
            </a:r>
          </a:p>
          <a:p>
            <a:pPr eaLnBrk="1" hangingPunct="1">
              <a:buFont typeface="Wingdings" pitchFamily="2" charset="2"/>
              <a:buAutoNum type="arabicPeriod" startAt="3"/>
            </a:pPr>
            <a:r>
              <a:rPr lang="en-US" altLang="zh-TW" sz="2800">
                <a:sym typeface="Symbol" pitchFamily="2" charset="2"/>
              </a:rPr>
              <a:t>Checking some dependencies may require joining the instances of the decomposed relations.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Number Placeholder 5">
            <a:extLst>
              <a:ext uri="{FF2B5EF4-FFF2-40B4-BE49-F238E27FC236}">
                <a16:creationId xmlns:a16="http://schemas.microsoft.com/office/drawing/2014/main" id="{4A89718A-9D31-2A42-9342-1CB5E514E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A788DE-CBEB-8741-AE53-DC8A2BAB49EE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zh-TW" sz="1400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1138CF17-84C1-C148-B0A9-C7EF1CB4F9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Lossless Join Decomposition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5138FD6A-DAED-684B-85A9-E917923474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zh-TW">
                <a:sym typeface="Symbol" pitchFamily="2" charset="2"/>
              </a:rPr>
              <a:t>	The relation schemas { </a:t>
            </a:r>
            <a:r>
              <a:rPr lang="en-US" altLang="zh-TW" i="1">
                <a:sym typeface="Symbol" pitchFamily="2" charset="2"/>
              </a:rPr>
              <a:t>R</a:t>
            </a:r>
            <a:r>
              <a:rPr lang="en-US" altLang="zh-TW" baseline="-25000">
                <a:sym typeface="Symbol" pitchFamily="2" charset="2"/>
              </a:rPr>
              <a:t>1</a:t>
            </a:r>
            <a:r>
              <a:rPr lang="en-US" altLang="zh-TW">
                <a:sym typeface="Symbol" pitchFamily="2" charset="2"/>
              </a:rPr>
              <a:t>, </a:t>
            </a:r>
            <a:r>
              <a:rPr lang="en-US" altLang="zh-TW" i="1">
                <a:sym typeface="Symbol" pitchFamily="2" charset="2"/>
              </a:rPr>
              <a:t>R</a:t>
            </a:r>
            <a:r>
              <a:rPr lang="en-US" altLang="zh-TW" baseline="-25000">
                <a:sym typeface="Symbol" pitchFamily="2" charset="2"/>
              </a:rPr>
              <a:t>2</a:t>
            </a:r>
            <a:r>
              <a:rPr lang="en-US" altLang="zh-TW">
                <a:sym typeface="Symbol" pitchFamily="2" charset="2"/>
              </a:rPr>
              <a:t>, </a:t>
            </a:r>
            <a:r>
              <a:rPr lang="en-US" altLang="zh-TW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>
                <a:sym typeface="Symbol" pitchFamily="2" charset="2"/>
              </a:rPr>
              <a:t>, </a:t>
            </a:r>
            <a:r>
              <a:rPr lang="en-US" altLang="zh-TW" i="1">
                <a:sym typeface="Symbol" pitchFamily="2" charset="2"/>
              </a:rPr>
              <a:t>R</a:t>
            </a:r>
            <a:r>
              <a:rPr lang="en-US" altLang="zh-TW" baseline="-25000">
                <a:sym typeface="Symbol" pitchFamily="2" charset="2"/>
              </a:rPr>
              <a:t>n</a:t>
            </a:r>
            <a:r>
              <a:rPr lang="en-US" altLang="zh-TW">
                <a:sym typeface="Symbol" pitchFamily="2" charset="2"/>
              </a:rPr>
              <a:t> } is a </a:t>
            </a:r>
            <a:r>
              <a:rPr lang="en-US" altLang="zh-TW" b="1">
                <a:solidFill>
                  <a:srgbClr val="000099"/>
                </a:solidFill>
                <a:sym typeface="Symbol" pitchFamily="2" charset="2"/>
              </a:rPr>
              <a:t>lossless-join decomposition</a:t>
            </a:r>
            <a:r>
              <a:rPr lang="en-US" altLang="zh-TW">
                <a:sym typeface="Symbol" pitchFamily="2" charset="2"/>
              </a:rPr>
              <a:t> of R if:</a:t>
            </a:r>
          </a:p>
          <a:p>
            <a:pPr eaLnBrk="1" hangingPunct="1">
              <a:buFontTx/>
              <a:buNone/>
            </a:pPr>
            <a:endParaRPr lang="en-US" altLang="zh-TW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>
                <a:sym typeface="Symbol" pitchFamily="2" charset="2"/>
              </a:rPr>
              <a:t>	for all possible relation</a:t>
            </a:r>
            <a:r>
              <a:rPr lang="zh-TW" altLang="en-US">
                <a:sym typeface="Symbol" pitchFamily="2" charset="2"/>
              </a:rPr>
              <a:t> </a:t>
            </a:r>
            <a:r>
              <a:rPr lang="en-US" altLang="zh-TW">
                <a:sym typeface="Symbol" pitchFamily="2" charset="2"/>
              </a:rPr>
              <a:t>instances </a:t>
            </a:r>
            <a:r>
              <a:rPr lang="en-US" altLang="zh-TW" i="1">
                <a:sym typeface="Symbol" pitchFamily="2" charset="2"/>
              </a:rPr>
              <a:t>r</a:t>
            </a:r>
            <a:r>
              <a:rPr lang="en-US" altLang="zh-TW">
                <a:sym typeface="Symbol" pitchFamily="2" charset="2"/>
              </a:rPr>
              <a:t> on schema </a:t>
            </a:r>
            <a:r>
              <a:rPr lang="en-US" altLang="zh-TW" i="1">
                <a:sym typeface="Symbol" pitchFamily="2" charset="2"/>
              </a:rPr>
              <a:t>R</a:t>
            </a:r>
            <a:r>
              <a:rPr lang="en-US" altLang="zh-TW">
                <a:sym typeface="Symbol" pitchFamily="2" charset="2"/>
              </a:rPr>
              <a:t>,</a:t>
            </a:r>
          </a:p>
          <a:p>
            <a:pPr eaLnBrk="1" hangingPunct="1">
              <a:buFontTx/>
              <a:buNone/>
            </a:pPr>
            <a:r>
              <a:rPr lang="en-US" altLang="zh-TW">
                <a:sym typeface="Symbol" pitchFamily="2" charset="2"/>
              </a:rPr>
              <a:t>	</a:t>
            </a:r>
            <a:r>
              <a:rPr lang="en-US" altLang="zh-TW" i="1">
                <a:sym typeface="Symbol" pitchFamily="2" charset="2"/>
              </a:rPr>
              <a:t>r</a:t>
            </a:r>
            <a:r>
              <a:rPr lang="en-US" altLang="zh-TW">
                <a:sym typeface="Symbol" pitchFamily="2" charset="2"/>
              </a:rPr>
              <a:t> = </a:t>
            </a:r>
            <a:r>
              <a:rPr lang="en-US" altLang="zh-TW" baseline="-25000">
                <a:sym typeface="Symbol" pitchFamily="2" charset="2"/>
              </a:rPr>
              <a:t>R1</a:t>
            </a:r>
            <a:r>
              <a:rPr lang="en-US" altLang="zh-TW">
                <a:sym typeface="Symbol" pitchFamily="2" charset="2"/>
              </a:rPr>
              <a:t>( r )       </a:t>
            </a:r>
            <a:r>
              <a:rPr lang="en-US" altLang="zh-TW" baseline="-25000">
                <a:sym typeface="Symbol" pitchFamily="2" charset="2"/>
              </a:rPr>
              <a:t>R2</a:t>
            </a:r>
            <a:r>
              <a:rPr lang="en-US" altLang="zh-TW">
                <a:sym typeface="Symbol" pitchFamily="2" charset="2"/>
              </a:rPr>
              <a:t>( r )      </a:t>
            </a:r>
            <a:r>
              <a:rPr lang="en-US" altLang="zh-TW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>
                <a:sym typeface="Symbol" pitchFamily="2" charset="2"/>
              </a:rPr>
              <a:t>       </a:t>
            </a:r>
            <a:r>
              <a:rPr lang="en-US" altLang="zh-TW" baseline="-25000">
                <a:sym typeface="Symbol" pitchFamily="2" charset="2"/>
              </a:rPr>
              <a:t>Rn</a:t>
            </a:r>
            <a:r>
              <a:rPr lang="en-US" altLang="zh-TW">
                <a:sym typeface="Symbol" pitchFamily="2" charset="2"/>
              </a:rPr>
              <a:t>( r )</a:t>
            </a:r>
          </a:p>
          <a:p>
            <a:pPr eaLnBrk="1" hangingPunct="1"/>
            <a:endParaRPr lang="zh-TW" altLang="en-US" sz="2800"/>
          </a:p>
        </p:txBody>
      </p:sp>
      <p:graphicFrame>
        <p:nvGraphicFramePr>
          <p:cNvPr id="62468" name="Object 4">
            <a:extLst>
              <a:ext uri="{FF2B5EF4-FFF2-40B4-BE49-F238E27FC236}">
                <a16:creationId xmlns:a16="http://schemas.microsoft.com/office/drawing/2014/main" id="{2A9905E7-64B8-1944-9A8B-B89CD34137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1800" y="4433888"/>
          <a:ext cx="5334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686300" imgH="3213100" progId="Equation.3">
                  <p:embed/>
                </p:oleObj>
              </mc:Choice>
              <mc:Fallback>
                <p:oleObj name="Equation" r:id="rId2" imgW="4686300" imgH="3213100" progId="Equation.3">
                  <p:embed/>
                  <p:pic>
                    <p:nvPicPr>
                      <p:cNvPr id="62468" name="Object 4">
                        <a:extLst>
                          <a:ext uri="{FF2B5EF4-FFF2-40B4-BE49-F238E27FC236}">
                            <a16:creationId xmlns:a16="http://schemas.microsoft.com/office/drawing/2014/main" id="{2A9905E7-64B8-1944-9A8B-B89CD34137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433888"/>
                        <a:ext cx="53340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69" name="Object 5">
            <a:extLst>
              <a:ext uri="{FF2B5EF4-FFF2-40B4-BE49-F238E27FC236}">
                <a16:creationId xmlns:a16="http://schemas.microsoft.com/office/drawing/2014/main" id="{A899AC81-8371-EB46-905A-2485BA6C8E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4433888"/>
          <a:ext cx="5334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86300" imgH="3213100" progId="Equation.3">
                  <p:embed/>
                </p:oleObj>
              </mc:Choice>
              <mc:Fallback>
                <p:oleObj name="Equation" r:id="rId4" imgW="4686300" imgH="3213100" progId="Equation.3">
                  <p:embed/>
                  <p:pic>
                    <p:nvPicPr>
                      <p:cNvPr id="62469" name="Object 5">
                        <a:extLst>
                          <a:ext uri="{FF2B5EF4-FFF2-40B4-BE49-F238E27FC236}">
                            <a16:creationId xmlns:a16="http://schemas.microsoft.com/office/drawing/2014/main" id="{A899AC81-8371-EB46-905A-2485BA6C8EE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4433888"/>
                        <a:ext cx="53340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470" name="Object 6">
            <a:extLst>
              <a:ext uri="{FF2B5EF4-FFF2-40B4-BE49-F238E27FC236}">
                <a16:creationId xmlns:a16="http://schemas.microsoft.com/office/drawing/2014/main" id="{87BC9D1E-9BBB-4047-8DB1-6201AC6E86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4433888"/>
          <a:ext cx="533400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686300" imgH="3213100" progId="Equation.3">
                  <p:embed/>
                </p:oleObj>
              </mc:Choice>
              <mc:Fallback>
                <p:oleObj name="Equation" r:id="rId5" imgW="4686300" imgH="3213100" progId="Equation.3">
                  <p:embed/>
                  <p:pic>
                    <p:nvPicPr>
                      <p:cNvPr id="62470" name="Object 6">
                        <a:extLst>
                          <a:ext uri="{FF2B5EF4-FFF2-40B4-BE49-F238E27FC236}">
                            <a16:creationId xmlns:a16="http://schemas.microsoft.com/office/drawing/2014/main" id="{87BC9D1E-9BBB-4047-8DB1-6201AC6E866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4433888"/>
                        <a:ext cx="533400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Slide Number Placeholder 3">
            <a:extLst>
              <a:ext uri="{FF2B5EF4-FFF2-40B4-BE49-F238E27FC236}">
                <a16:creationId xmlns:a16="http://schemas.microsoft.com/office/drawing/2014/main" id="{FF42D2E9-AF0B-8F45-BE9F-E0B338D18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6B33A1-63B5-5243-A028-663B559B64F0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zh-TW" sz="1400"/>
          </a:p>
        </p:txBody>
      </p:sp>
      <p:sp>
        <p:nvSpPr>
          <p:cNvPr id="63490" name="Rectangle 28">
            <a:extLst>
              <a:ext uri="{FF2B5EF4-FFF2-40B4-BE49-F238E27FC236}">
                <a16:creationId xmlns:a16="http://schemas.microsoft.com/office/drawing/2014/main" id="{5E0FE3DF-43EF-8948-9A52-94660DC50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0"/>
            <a:ext cx="8686800" cy="1905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63491" name="Rectangle 2">
            <a:extLst>
              <a:ext uri="{FF2B5EF4-FFF2-40B4-BE49-F238E27FC236}">
                <a16:creationId xmlns:a16="http://schemas.microsoft.com/office/drawing/2014/main" id="{F80EF2A9-174E-DE49-A82A-CF79FEFA6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14400"/>
            <a:ext cx="685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3100">
                <a:solidFill>
                  <a:srgbClr val="006600"/>
                </a:solidFill>
                <a:sym typeface="Symbol" pitchFamily="2" charset="2"/>
              </a:rPr>
              <a:t>Example:  a lossless join decomposition</a:t>
            </a:r>
            <a:endParaRPr lang="en-US" altLang="zh-TW" sz="3100">
              <a:sym typeface="Symbol" pitchFamily="2" charset="2"/>
            </a:endParaRPr>
          </a:p>
          <a:p>
            <a:pPr eaLnBrk="1" hangingPunct="1">
              <a:buFontTx/>
              <a:buNone/>
            </a:pPr>
            <a:endParaRPr lang="en-US" altLang="zh-TW" sz="3100">
              <a:sym typeface="Symbol" pitchFamily="2" charset="2"/>
            </a:endParaRPr>
          </a:p>
          <a:p>
            <a:pPr eaLnBrk="1" hangingPunct="1">
              <a:buFontTx/>
              <a:buNone/>
            </a:pPr>
            <a:endParaRPr lang="en-US" altLang="zh-TW" sz="3100">
              <a:sym typeface="Symbol" pitchFamily="2" charset="2"/>
            </a:endParaRPr>
          </a:p>
        </p:txBody>
      </p:sp>
      <p:graphicFrame>
        <p:nvGraphicFramePr>
          <p:cNvPr id="63492" name="Object 6">
            <a:extLst>
              <a:ext uri="{FF2B5EF4-FFF2-40B4-BE49-F238E27FC236}">
                <a16:creationId xmlns:a16="http://schemas.microsoft.com/office/drawing/2014/main" id="{7DF1CFB4-46EF-3540-9A54-7E9B96106139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473200" y="3886200"/>
          <a:ext cx="3708400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828800" imgH="546100" progId="Excel.Sheet.8">
                  <p:embed/>
                </p:oleObj>
              </mc:Choice>
              <mc:Fallback>
                <p:oleObj name="Worksheet" r:id="rId2" imgW="1828800" imgH="546100" progId="Excel.Sheet.8">
                  <p:embed/>
                  <p:pic>
                    <p:nvPicPr>
                      <p:cNvPr id="63492" name="Object 6">
                        <a:extLst>
                          <a:ext uri="{FF2B5EF4-FFF2-40B4-BE49-F238E27FC236}">
                            <a16:creationId xmlns:a16="http://schemas.microsoft.com/office/drawing/2014/main" id="{7DF1CFB4-46EF-3540-9A54-7E9B961061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385" b="-1324"/>
                      <a:stretch>
                        <a:fillRect/>
                      </a:stretch>
                    </p:blipFill>
                    <p:spPr bwMode="auto">
                      <a:xfrm>
                        <a:off x="1473200" y="3886200"/>
                        <a:ext cx="3708400" cy="1106488"/>
                      </a:xfrm>
                      <a:prstGeom prst="rect">
                        <a:avLst/>
                      </a:prstGeom>
                      <a:solidFill>
                        <a:srgbClr val="FFFF99">
                          <a:alpha val="50195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3" name="Object 8">
            <a:extLst>
              <a:ext uri="{FF2B5EF4-FFF2-40B4-BE49-F238E27FC236}">
                <a16:creationId xmlns:a16="http://schemas.microsoft.com/office/drawing/2014/main" id="{D0CE5CD2-9C79-C849-9C16-7A104EF38C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30900" y="3914775"/>
          <a:ext cx="2527300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244600" imgH="546100" progId="Excel.Sheet.8">
                  <p:embed/>
                </p:oleObj>
              </mc:Choice>
              <mc:Fallback>
                <p:oleObj name="Worksheet" r:id="rId4" imgW="1244600" imgH="546100" progId="Excel.Sheet.8">
                  <p:embed/>
                  <p:pic>
                    <p:nvPicPr>
                      <p:cNvPr id="63493" name="Object 8">
                        <a:extLst>
                          <a:ext uri="{FF2B5EF4-FFF2-40B4-BE49-F238E27FC236}">
                            <a16:creationId xmlns:a16="http://schemas.microsoft.com/office/drawing/2014/main" id="{D0CE5CD2-9C79-C849-9C16-7A104EF38C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453" b="-1324"/>
                      <a:stretch>
                        <a:fillRect/>
                      </a:stretch>
                    </p:blipFill>
                    <p:spPr bwMode="auto">
                      <a:xfrm>
                        <a:off x="5930900" y="3914775"/>
                        <a:ext cx="2527300" cy="111442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94" name="Object 10">
            <a:extLst>
              <a:ext uri="{FF2B5EF4-FFF2-40B4-BE49-F238E27FC236}">
                <a16:creationId xmlns:a16="http://schemas.microsoft.com/office/drawing/2014/main" id="{293FAB82-3C53-1940-A5A8-9662281863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5286375"/>
          <a:ext cx="1982788" cy="1114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977900" imgH="546100" progId="Excel.Sheet.8">
                  <p:embed/>
                </p:oleObj>
              </mc:Choice>
              <mc:Fallback>
                <p:oleObj name="Worksheet" r:id="rId6" imgW="977900" imgH="546100" progId="Excel.Sheet.8">
                  <p:embed/>
                  <p:pic>
                    <p:nvPicPr>
                      <p:cNvPr id="63494" name="Object 10">
                        <a:extLst>
                          <a:ext uri="{FF2B5EF4-FFF2-40B4-BE49-F238E27FC236}">
                            <a16:creationId xmlns:a16="http://schemas.microsoft.com/office/drawing/2014/main" id="{293FAB82-3C53-1940-A5A8-9662281863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482" b="-1324"/>
                      <a:stretch>
                        <a:fillRect/>
                      </a:stretch>
                    </p:blipFill>
                    <p:spPr bwMode="auto">
                      <a:xfrm>
                        <a:off x="5943600" y="5286375"/>
                        <a:ext cx="1982788" cy="111442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5" name="Rectangle 12">
            <a:extLst>
              <a:ext uri="{FF2B5EF4-FFF2-40B4-BE49-F238E27FC236}">
                <a16:creationId xmlns:a16="http://schemas.microsoft.com/office/drawing/2014/main" id="{B1458F80-35EB-CD4A-B6A1-9E98C0D9E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209800"/>
            <a:ext cx="7620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 u="sng">
                <a:latin typeface="Arial" panose="020B0604020202020204" pitchFamily="34" charset="0"/>
              </a:rPr>
              <a:t>sid</a:t>
            </a:r>
          </a:p>
        </p:txBody>
      </p:sp>
      <p:sp>
        <p:nvSpPr>
          <p:cNvPr id="63496" name="Rectangle 13">
            <a:extLst>
              <a:ext uri="{FF2B5EF4-FFF2-40B4-BE49-F238E27FC236}">
                <a16:creationId xmlns:a16="http://schemas.microsoft.com/office/drawing/2014/main" id="{B6388B51-9304-9241-9A87-D0C6D86E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209800"/>
            <a:ext cx="12192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sname</a:t>
            </a:r>
          </a:p>
        </p:txBody>
      </p:sp>
      <p:sp>
        <p:nvSpPr>
          <p:cNvPr id="63497" name="Rectangle 14">
            <a:extLst>
              <a:ext uri="{FF2B5EF4-FFF2-40B4-BE49-F238E27FC236}">
                <a16:creationId xmlns:a16="http://schemas.microsoft.com/office/drawing/2014/main" id="{689F41BA-E61F-1148-A329-8D556806A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2209800"/>
            <a:ext cx="11430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major</a:t>
            </a:r>
          </a:p>
        </p:txBody>
      </p:sp>
      <p:sp>
        <p:nvSpPr>
          <p:cNvPr id="63498" name="Text Box 15">
            <a:extLst>
              <a:ext uri="{FF2B5EF4-FFF2-40B4-BE49-F238E27FC236}">
                <a16:creationId xmlns:a16="http://schemas.microsoft.com/office/drawing/2014/main" id="{38942990-EF13-DA44-A08B-B4CA5ACCDE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7526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>
                <a:latin typeface="Arial" panose="020B0604020202020204" pitchFamily="34" charset="0"/>
              </a:rPr>
              <a:t>IN</a:t>
            </a:r>
          </a:p>
        </p:txBody>
      </p:sp>
      <p:sp>
        <p:nvSpPr>
          <p:cNvPr id="63499" name="Rectangle 16">
            <a:extLst>
              <a:ext uri="{FF2B5EF4-FFF2-40B4-BE49-F238E27FC236}">
                <a16:creationId xmlns:a16="http://schemas.microsoft.com/office/drawing/2014/main" id="{6323C39E-836A-C345-908D-C2E932EF0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1752600"/>
            <a:ext cx="7620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 u="sng">
                <a:latin typeface="Arial" panose="020B0604020202020204" pitchFamily="34" charset="0"/>
              </a:rPr>
              <a:t>sid</a:t>
            </a:r>
          </a:p>
        </p:txBody>
      </p:sp>
      <p:sp>
        <p:nvSpPr>
          <p:cNvPr id="63500" name="Rectangle 17">
            <a:extLst>
              <a:ext uri="{FF2B5EF4-FFF2-40B4-BE49-F238E27FC236}">
                <a16:creationId xmlns:a16="http://schemas.microsoft.com/office/drawing/2014/main" id="{850F13C6-13FB-B540-9283-42CC020CA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1752600"/>
            <a:ext cx="12192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sname</a:t>
            </a:r>
          </a:p>
        </p:txBody>
      </p:sp>
      <p:sp>
        <p:nvSpPr>
          <p:cNvPr id="63501" name="Text Box 18">
            <a:extLst>
              <a:ext uri="{FF2B5EF4-FFF2-40B4-BE49-F238E27FC236}">
                <a16:creationId xmlns:a16="http://schemas.microsoft.com/office/drawing/2014/main" id="{FFE29E0A-CD64-104D-9393-9167CF3BE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5908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>
                <a:latin typeface="Arial" panose="020B0604020202020204" pitchFamily="34" charset="0"/>
              </a:rPr>
              <a:t>IM</a:t>
            </a:r>
          </a:p>
        </p:txBody>
      </p:sp>
      <p:sp>
        <p:nvSpPr>
          <p:cNvPr id="63502" name="Rectangle 19">
            <a:extLst>
              <a:ext uri="{FF2B5EF4-FFF2-40B4-BE49-F238E27FC236}">
                <a16:creationId xmlns:a16="http://schemas.microsoft.com/office/drawing/2014/main" id="{669B9483-A7DB-6C4C-81AD-7C96C4AFB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2590800"/>
            <a:ext cx="7620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 u="sng">
                <a:latin typeface="Arial" panose="020B0604020202020204" pitchFamily="34" charset="0"/>
              </a:rPr>
              <a:t>sid</a:t>
            </a:r>
          </a:p>
        </p:txBody>
      </p:sp>
      <p:sp>
        <p:nvSpPr>
          <p:cNvPr id="63503" name="Rectangle 20">
            <a:extLst>
              <a:ext uri="{FF2B5EF4-FFF2-40B4-BE49-F238E27FC236}">
                <a16:creationId xmlns:a16="http://schemas.microsoft.com/office/drawing/2014/main" id="{122F244A-A646-FC45-B061-9A7FB5057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0" y="2590800"/>
            <a:ext cx="11430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major</a:t>
            </a:r>
          </a:p>
        </p:txBody>
      </p:sp>
      <p:sp>
        <p:nvSpPr>
          <p:cNvPr id="63504" name="Text Box 21">
            <a:extLst>
              <a:ext uri="{FF2B5EF4-FFF2-40B4-BE49-F238E27FC236}">
                <a16:creationId xmlns:a16="http://schemas.microsoft.com/office/drawing/2014/main" id="{DA2AEE41-3972-F142-A2A5-68A748FEA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286000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>
                <a:latin typeface="Arial" panose="020B0604020202020204" pitchFamily="34" charset="0"/>
              </a:rPr>
              <a:t>Student</a:t>
            </a:r>
          </a:p>
        </p:txBody>
      </p:sp>
      <p:sp>
        <p:nvSpPr>
          <p:cNvPr id="63505" name="Line 22">
            <a:extLst>
              <a:ext uri="{FF2B5EF4-FFF2-40B4-BE49-F238E27FC236}">
                <a16:creationId xmlns:a16="http://schemas.microsoft.com/office/drawing/2014/main" id="{FC62D991-4FFB-CF4E-A390-E785E6A54F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76800" y="19812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6" name="Line 23">
            <a:extLst>
              <a:ext uri="{FF2B5EF4-FFF2-40B4-BE49-F238E27FC236}">
                <a16:creationId xmlns:a16="http://schemas.microsoft.com/office/drawing/2014/main" id="{A3CEDDF9-4DE1-E146-93D0-FCF840314E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6800" y="2438400"/>
            <a:ext cx="685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507" name="Text Box 24">
            <a:extLst>
              <a:ext uri="{FF2B5EF4-FFF2-40B4-BE49-F238E27FC236}">
                <a16:creationId xmlns:a16="http://schemas.microsoft.com/office/drawing/2014/main" id="{F2964021-247C-3347-AB3E-6D17A3D1C8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230688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>
                <a:latin typeface="Arial" panose="020B0604020202020204" pitchFamily="34" charset="0"/>
              </a:rPr>
              <a:t>Student</a:t>
            </a:r>
          </a:p>
        </p:txBody>
      </p:sp>
      <p:sp>
        <p:nvSpPr>
          <p:cNvPr id="63508" name="Text Box 25">
            <a:extLst>
              <a:ext uri="{FF2B5EF4-FFF2-40B4-BE49-F238E27FC236}">
                <a16:creationId xmlns:a16="http://schemas.microsoft.com/office/drawing/2014/main" id="{72C99CC8-13BE-9B41-B32E-6BAF5B10A6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343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>
                <a:latin typeface="Arial" panose="020B0604020202020204" pitchFamily="34" charset="0"/>
              </a:rPr>
              <a:t>IN</a:t>
            </a:r>
          </a:p>
        </p:txBody>
      </p:sp>
      <p:sp>
        <p:nvSpPr>
          <p:cNvPr id="63509" name="Text Box 26">
            <a:extLst>
              <a:ext uri="{FF2B5EF4-FFF2-40B4-BE49-F238E27FC236}">
                <a16:creationId xmlns:a16="http://schemas.microsoft.com/office/drawing/2014/main" id="{2A4F17D0-B674-4D40-A245-289BB5FBA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54672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>
                <a:latin typeface="Arial" panose="020B0604020202020204" pitchFamily="34" charset="0"/>
              </a:rPr>
              <a:t>IM</a:t>
            </a:r>
          </a:p>
        </p:txBody>
      </p:sp>
      <p:sp>
        <p:nvSpPr>
          <p:cNvPr id="63510" name="Rectangle 29">
            <a:extLst>
              <a:ext uri="{FF2B5EF4-FFF2-40B4-BE49-F238E27FC236}">
                <a16:creationId xmlns:a16="http://schemas.microsoft.com/office/drawing/2014/main" id="{5717EC9D-3D1C-D843-AC10-D2EA765A5C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5334000"/>
            <a:ext cx="521811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000">
                <a:solidFill>
                  <a:srgbClr val="FF0000"/>
                </a:solidFill>
                <a:latin typeface="Arial" panose="020B0604020202020204" pitchFamily="34" charset="0"/>
                <a:sym typeface="Symbol" pitchFamily="2" charset="2"/>
              </a:rPr>
              <a:t>‘Student’ can be recovered by joining the instances of IN and IM</a:t>
            </a:r>
            <a:endParaRPr kumimoji="0" lang="en-US" altLang="en-US" sz="2000">
              <a:solidFill>
                <a:srgbClr val="FF0000"/>
              </a:solidFill>
              <a:latin typeface="Arial" panose="020B0604020202020204" pitchFamily="34" charset="0"/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Number Placeholder 3">
            <a:extLst>
              <a:ext uri="{FF2B5EF4-FFF2-40B4-BE49-F238E27FC236}">
                <a16:creationId xmlns:a16="http://schemas.microsoft.com/office/drawing/2014/main" id="{46C19A48-91CF-4742-9B6F-843FAABF6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586777-43B7-E943-AF2B-4F0629D16606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zh-TW" sz="1400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403561F1-8689-6B4C-8814-184E9571E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0"/>
            <a:ext cx="8686800" cy="19050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5DC55F1D-5C7F-7B49-9A1B-187DFE7EF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14400"/>
            <a:ext cx="807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3100">
                <a:solidFill>
                  <a:srgbClr val="006600"/>
                </a:solidFill>
                <a:sym typeface="Symbol" pitchFamily="2" charset="2"/>
              </a:rPr>
              <a:t>Example:  a non-lossless join decomposition</a:t>
            </a:r>
            <a:endParaRPr lang="en-US" altLang="zh-TW" sz="3100">
              <a:sym typeface="Symbol" pitchFamily="2" charset="2"/>
            </a:endParaRPr>
          </a:p>
          <a:p>
            <a:pPr eaLnBrk="1" hangingPunct="1">
              <a:buFontTx/>
              <a:buNone/>
            </a:pPr>
            <a:endParaRPr lang="en-US" altLang="zh-TW" sz="3100">
              <a:sym typeface="Symbol" pitchFamily="2" charset="2"/>
            </a:endParaRPr>
          </a:p>
          <a:p>
            <a:pPr eaLnBrk="1" hangingPunct="1">
              <a:buFontTx/>
              <a:buNone/>
            </a:pPr>
            <a:endParaRPr lang="en-US" altLang="zh-TW" sz="3100">
              <a:sym typeface="Symbol" pitchFamily="2" charset="2"/>
            </a:endParaRPr>
          </a:p>
        </p:txBody>
      </p:sp>
      <p:graphicFrame>
        <p:nvGraphicFramePr>
          <p:cNvPr id="64516" name="Object 4">
            <a:extLst>
              <a:ext uri="{FF2B5EF4-FFF2-40B4-BE49-F238E27FC236}">
                <a16:creationId xmlns:a16="http://schemas.microsoft.com/office/drawing/2014/main" id="{B0CAC8DD-DFB1-4B44-B2ED-A8B06373EF7E}"/>
              </a:ext>
            </a:extLst>
          </p:cNvPr>
          <p:cNvGraphicFramePr>
            <a:graphicFrameLocks noGrp="1" noChangeAspect="1"/>
          </p:cNvGraphicFramePr>
          <p:nvPr>
            <p:ph sz="half" idx="4294967295"/>
          </p:nvPr>
        </p:nvGraphicFramePr>
        <p:xfrm>
          <a:off x="1473200" y="3886200"/>
          <a:ext cx="3708400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828800" imgH="546100" progId="Excel.Sheet.8">
                  <p:embed/>
                </p:oleObj>
              </mc:Choice>
              <mc:Fallback>
                <p:oleObj name="Worksheet" r:id="rId2" imgW="1828800" imgH="546100" progId="Excel.Sheet.8">
                  <p:embed/>
                  <p:pic>
                    <p:nvPicPr>
                      <p:cNvPr id="64516" name="Object 4">
                        <a:extLst>
                          <a:ext uri="{FF2B5EF4-FFF2-40B4-BE49-F238E27FC236}">
                            <a16:creationId xmlns:a16="http://schemas.microsoft.com/office/drawing/2014/main" id="{B0CAC8DD-DFB1-4B44-B2ED-A8B06373EF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385" b="-1324"/>
                      <a:stretch>
                        <a:fillRect/>
                      </a:stretch>
                    </p:blipFill>
                    <p:spPr bwMode="auto">
                      <a:xfrm>
                        <a:off x="1473200" y="3886200"/>
                        <a:ext cx="3708400" cy="1106488"/>
                      </a:xfrm>
                      <a:prstGeom prst="rect">
                        <a:avLst/>
                      </a:prstGeom>
                      <a:solidFill>
                        <a:srgbClr val="FFFF99">
                          <a:alpha val="50195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7" name="Rectangle 7">
            <a:extLst>
              <a:ext uri="{FF2B5EF4-FFF2-40B4-BE49-F238E27FC236}">
                <a16:creationId xmlns:a16="http://schemas.microsoft.com/office/drawing/2014/main" id="{287415FF-88E9-2C47-886F-B768257E8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209800"/>
            <a:ext cx="7620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 u="sng">
                <a:latin typeface="Arial" panose="020B0604020202020204" pitchFamily="34" charset="0"/>
              </a:rPr>
              <a:t>sid</a:t>
            </a:r>
          </a:p>
        </p:txBody>
      </p:sp>
      <p:sp>
        <p:nvSpPr>
          <p:cNvPr id="64518" name="Rectangle 8">
            <a:extLst>
              <a:ext uri="{FF2B5EF4-FFF2-40B4-BE49-F238E27FC236}">
                <a16:creationId xmlns:a16="http://schemas.microsoft.com/office/drawing/2014/main" id="{65B37CF7-85F3-7A45-BACB-456D8C6AB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2209800"/>
            <a:ext cx="12192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sname</a:t>
            </a:r>
          </a:p>
        </p:txBody>
      </p:sp>
      <p:sp>
        <p:nvSpPr>
          <p:cNvPr id="64519" name="Rectangle 9">
            <a:extLst>
              <a:ext uri="{FF2B5EF4-FFF2-40B4-BE49-F238E27FC236}">
                <a16:creationId xmlns:a16="http://schemas.microsoft.com/office/drawing/2014/main" id="{ACBBC3CB-278D-F047-8E85-AA0C7231E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2209800"/>
            <a:ext cx="11430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major</a:t>
            </a:r>
          </a:p>
        </p:txBody>
      </p:sp>
      <p:sp>
        <p:nvSpPr>
          <p:cNvPr id="64520" name="Text Box 10">
            <a:extLst>
              <a:ext uri="{FF2B5EF4-FFF2-40B4-BE49-F238E27FC236}">
                <a16:creationId xmlns:a16="http://schemas.microsoft.com/office/drawing/2014/main" id="{808E9628-61A5-8C4E-8A8B-EEA092259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17526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>
                <a:latin typeface="Arial" panose="020B0604020202020204" pitchFamily="34" charset="0"/>
              </a:rPr>
              <a:t>IN</a:t>
            </a:r>
          </a:p>
        </p:txBody>
      </p:sp>
      <p:sp>
        <p:nvSpPr>
          <p:cNvPr id="64521" name="Text Box 13">
            <a:extLst>
              <a:ext uri="{FF2B5EF4-FFF2-40B4-BE49-F238E27FC236}">
                <a16:creationId xmlns:a16="http://schemas.microsoft.com/office/drawing/2014/main" id="{400780FD-1CAF-354D-89B1-931BDDA0F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2590800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>
                <a:latin typeface="Arial" panose="020B0604020202020204" pitchFamily="34" charset="0"/>
              </a:rPr>
              <a:t>IM</a:t>
            </a:r>
          </a:p>
        </p:txBody>
      </p:sp>
      <p:sp>
        <p:nvSpPr>
          <p:cNvPr id="64522" name="Text Box 16">
            <a:extLst>
              <a:ext uri="{FF2B5EF4-FFF2-40B4-BE49-F238E27FC236}">
                <a16:creationId xmlns:a16="http://schemas.microsoft.com/office/drawing/2014/main" id="{68F395DB-A589-CF4A-B4F2-7E3FBDFC62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2286000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>
                <a:latin typeface="Arial" panose="020B0604020202020204" pitchFamily="34" charset="0"/>
              </a:rPr>
              <a:t>Student</a:t>
            </a:r>
          </a:p>
        </p:txBody>
      </p:sp>
      <p:sp>
        <p:nvSpPr>
          <p:cNvPr id="64523" name="Line 17">
            <a:extLst>
              <a:ext uri="{FF2B5EF4-FFF2-40B4-BE49-F238E27FC236}">
                <a16:creationId xmlns:a16="http://schemas.microsoft.com/office/drawing/2014/main" id="{DB7EF98A-9EDC-3F42-8E8B-A1FF910146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00600" y="1981200"/>
            <a:ext cx="7620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4" name="Line 18">
            <a:extLst>
              <a:ext uri="{FF2B5EF4-FFF2-40B4-BE49-F238E27FC236}">
                <a16:creationId xmlns:a16="http://schemas.microsoft.com/office/drawing/2014/main" id="{545457A6-D1AF-B04B-9BE6-B0D51D2DBA57}"/>
              </a:ext>
            </a:extLst>
          </p:cNvPr>
          <p:cNvSpPr>
            <a:spLocks noChangeShapeType="1"/>
          </p:cNvSpPr>
          <p:nvPr/>
        </p:nvSpPr>
        <p:spPr bwMode="auto">
          <a:xfrm>
            <a:off x="4800600" y="2438400"/>
            <a:ext cx="762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4525" name="Text Box 19">
            <a:extLst>
              <a:ext uri="{FF2B5EF4-FFF2-40B4-BE49-F238E27FC236}">
                <a16:creationId xmlns:a16="http://schemas.microsoft.com/office/drawing/2014/main" id="{8476D86B-1BF0-984E-BDBB-B91850EFC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230688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>
                <a:latin typeface="Arial" panose="020B0604020202020204" pitchFamily="34" charset="0"/>
              </a:rPr>
              <a:t>Student</a:t>
            </a:r>
          </a:p>
        </p:txBody>
      </p:sp>
      <p:sp>
        <p:nvSpPr>
          <p:cNvPr id="64526" name="Text Box 20">
            <a:extLst>
              <a:ext uri="{FF2B5EF4-FFF2-40B4-BE49-F238E27FC236}">
                <a16:creationId xmlns:a16="http://schemas.microsoft.com/office/drawing/2014/main" id="{53FF79E5-51B8-7847-BD9C-CE4C673E39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4343400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>
                <a:latin typeface="Arial" panose="020B0604020202020204" pitchFamily="34" charset="0"/>
              </a:rPr>
              <a:t>IN</a:t>
            </a:r>
          </a:p>
        </p:txBody>
      </p:sp>
      <p:sp>
        <p:nvSpPr>
          <p:cNvPr id="64527" name="Text Box 21">
            <a:extLst>
              <a:ext uri="{FF2B5EF4-FFF2-40B4-BE49-F238E27FC236}">
                <a16:creationId xmlns:a16="http://schemas.microsoft.com/office/drawing/2014/main" id="{2ACF4D85-1327-534A-B1FF-D913817DB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54672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>
                <a:latin typeface="Arial" panose="020B0604020202020204" pitchFamily="34" charset="0"/>
              </a:rPr>
              <a:t>IM</a:t>
            </a:r>
          </a:p>
        </p:txBody>
      </p:sp>
      <p:sp>
        <p:nvSpPr>
          <p:cNvPr id="64528" name="Rectangle 23">
            <a:extLst>
              <a:ext uri="{FF2B5EF4-FFF2-40B4-BE49-F238E27FC236}">
                <a16:creationId xmlns:a16="http://schemas.microsoft.com/office/drawing/2014/main" id="{F8E62FA5-CA66-C143-A9B0-1AB11B7C24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1752600"/>
            <a:ext cx="7620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 u="sng">
                <a:latin typeface="Arial" panose="020B0604020202020204" pitchFamily="34" charset="0"/>
              </a:rPr>
              <a:t>sid</a:t>
            </a:r>
          </a:p>
        </p:txBody>
      </p:sp>
      <p:sp>
        <p:nvSpPr>
          <p:cNvPr id="64529" name="Rectangle 24">
            <a:extLst>
              <a:ext uri="{FF2B5EF4-FFF2-40B4-BE49-F238E27FC236}">
                <a16:creationId xmlns:a16="http://schemas.microsoft.com/office/drawing/2014/main" id="{C1848DC0-45CD-C340-9F7F-968C6EC20F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1752600"/>
            <a:ext cx="12192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major</a:t>
            </a:r>
          </a:p>
        </p:txBody>
      </p:sp>
      <p:sp>
        <p:nvSpPr>
          <p:cNvPr id="64530" name="Rectangle 26">
            <a:extLst>
              <a:ext uri="{FF2B5EF4-FFF2-40B4-BE49-F238E27FC236}">
                <a16:creationId xmlns:a16="http://schemas.microsoft.com/office/drawing/2014/main" id="{8593C490-E178-AF4C-8D50-FFFEF9A5B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7600" y="2514600"/>
            <a:ext cx="11430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major</a:t>
            </a:r>
          </a:p>
        </p:txBody>
      </p:sp>
      <p:sp>
        <p:nvSpPr>
          <p:cNvPr id="64531" name="Rectangle 27">
            <a:extLst>
              <a:ext uri="{FF2B5EF4-FFF2-40B4-BE49-F238E27FC236}">
                <a16:creationId xmlns:a16="http://schemas.microsoft.com/office/drawing/2014/main" id="{CC0DDA34-C46C-FC47-9C07-A4ACB16AD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2514600"/>
            <a:ext cx="12192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 u="sng">
                <a:latin typeface="Arial" panose="020B0604020202020204" pitchFamily="34" charset="0"/>
              </a:rPr>
              <a:t>sname</a:t>
            </a:r>
          </a:p>
        </p:txBody>
      </p:sp>
      <p:graphicFrame>
        <p:nvGraphicFramePr>
          <p:cNvPr id="64532" name="Object 28">
            <a:extLst>
              <a:ext uri="{FF2B5EF4-FFF2-40B4-BE49-F238E27FC236}">
                <a16:creationId xmlns:a16="http://schemas.microsoft.com/office/drawing/2014/main" id="{E165E356-1F97-A14F-AA25-F7B96440EC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3962400"/>
          <a:ext cx="1905000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977900" imgH="546100" progId="Excel.Sheet.8">
                  <p:embed/>
                </p:oleObj>
              </mc:Choice>
              <mc:Fallback>
                <p:oleObj name="Worksheet" r:id="rId4" imgW="977900" imgH="546100" progId="Excel.Sheet.8">
                  <p:embed/>
                  <p:pic>
                    <p:nvPicPr>
                      <p:cNvPr id="64532" name="Object 28">
                        <a:extLst>
                          <a:ext uri="{FF2B5EF4-FFF2-40B4-BE49-F238E27FC236}">
                            <a16:creationId xmlns:a16="http://schemas.microsoft.com/office/drawing/2014/main" id="{E165E356-1F97-A14F-AA25-F7B96440EC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482" b="-1324"/>
                      <a:stretch>
                        <a:fillRect/>
                      </a:stretch>
                    </p:blipFill>
                    <p:spPr bwMode="auto">
                      <a:xfrm>
                        <a:off x="6172200" y="3962400"/>
                        <a:ext cx="1905000" cy="1069975"/>
                      </a:xfrm>
                      <a:prstGeom prst="rect">
                        <a:avLst/>
                      </a:prstGeom>
                      <a:solidFill>
                        <a:srgbClr val="CCFFCC">
                          <a:alpha val="50195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33" name="Object 29">
            <a:extLst>
              <a:ext uri="{FF2B5EF4-FFF2-40B4-BE49-F238E27FC236}">
                <a16:creationId xmlns:a16="http://schemas.microsoft.com/office/drawing/2014/main" id="{850B6AFD-A4C9-C94B-9FC0-7C48132E7D1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0613" y="5260975"/>
          <a:ext cx="2820987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1447800" imgH="546100" progId="Excel.Sheet.8">
                  <p:embed/>
                </p:oleObj>
              </mc:Choice>
              <mc:Fallback>
                <p:oleObj name="Worksheet" r:id="rId6" imgW="1447800" imgH="546100" progId="Excel.Sheet.8">
                  <p:embed/>
                  <p:pic>
                    <p:nvPicPr>
                      <p:cNvPr id="64533" name="Object 29">
                        <a:extLst>
                          <a:ext uri="{FF2B5EF4-FFF2-40B4-BE49-F238E27FC236}">
                            <a16:creationId xmlns:a16="http://schemas.microsoft.com/office/drawing/2014/main" id="{850B6AFD-A4C9-C94B-9FC0-7C48132E7D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501" b="-1324"/>
                      <a:stretch>
                        <a:fillRect/>
                      </a:stretch>
                    </p:blipFill>
                    <p:spPr bwMode="auto">
                      <a:xfrm>
                        <a:off x="6170613" y="5260975"/>
                        <a:ext cx="2820987" cy="1063625"/>
                      </a:xfrm>
                      <a:prstGeom prst="rect">
                        <a:avLst/>
                      </a:prstGeom>
                      <a:solidFill>
                        <a:srgbClr val="CCFFCC">
                          <a:alpha val="50195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34" name="Text Box 30">
            <a:extLst>
              <a:ext uri="{FF2B5EF4-FFF2-40B4-BE49-F238E27FC236}">
                <a16:creationId xmlns:a16="http://schemas.microsoft.com/office/drawing/2014/main" id="{4B8E435C-6D79-8E42-AA8D-D37E246001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9563" y="5638800"/>
            <a:ext cx="3698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FF0000"/>
                </a:solidFill>
              </a:rPr>
              <a:t>Student = IN </a:t>
            </a:r>
            <a:r>
              <a:rPr lang="en-US" altLang="en-US" sz="2400">
                <a:solidFill>
                  <a:srgbClr val="FF0000"/>
                </a:solidFill>
                <a:sym typeface="Symbol" pitchFamily="2" charset="2"/>
              </a:rPr>
              <a:t>            IM????</a:t>
            </a:r>
            <a:endParaRPr lang="en-US" altLang="en-US" sz="2400">
              <a:solidFill>
                <a:srgbClr val="FF0000"/>
              </a:solidFill>
            </a:endParaRPr>
          </a:p>
        </p:txBody>
      </p:sp>
      <p:graphicFrame>
        <p:nvGraphicFramePr>
          <p:cNvPr id="64535" name="Object 24">
            <a:extLst>
              <a:ext uri="{FF2B5EF4-FFF2-40B4-BE49-F238E27FC236}">
                <a16:creationId xmlns:a16="http://schemas.microsoft.com/office/drawing/2014/main" id="{8392B854-16E7-5C41-B441-B557C7225C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29000" y="5715000"/>
          <a:ext cx="5334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686300" imgH="3213100" progId="Equation.3">
                  <p:embed/>
                </p:oleObj>
              </mc:Choice>
              <mc:Fallback>
                <p:oleObj name="Equation" r:id="rId8" imgW="4686300" imgH="3213100" progId="Equation.3">
                  <p:embed/>
                  <p:pic>
                    <p:nvPicPr>
                      <p:cNvPr id="64535" name="Object 24">
                        <a:extLst>
                          <a:ext uri="{FF2B5EF4-FFF2-40B4-BE49-F238E27FC236}">
                            <a16:creationId xmlns:a16="http://schemas.microsoft.com/office/drawing/2014/main" id="{8392B854-16E7-5C41-B441-B557C7225C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5715000"/>
                        <a:ext cx="53340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Number Placeholder 3">
            <a:extLst>
              <a:ext uri="{FF2B5EF4-FFF2-40B4-BE49-F238E27FC236}">
                <a16:creationId xmlns:a16="http://schemas.microsoft.com/office/drawing/2014/main" id="{F4B0D109-6D2A-FD4A-AF7A-D6EEC1BC8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8D6C29-E87C-F143-994F-62AD5CD46923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zh-TW" sz="1400"/>
          </a:p>
        </p:txBody>
      </p:sp>
      <p:graphicFrame>
        <p:nvGraphicFramePr>
          <p:cNvPr id="65538" name="Object 2">
            <a:extLst>
              <a:ext uri="{FF2B5EF4-FFF2-40B4-BE49-F238E27FC236}">
                <a16:creationId xmlns:a16="http://schemas.microsoft.com/office/drawing/2014/main" id="{0CEE63A5-32AF-434E-B7C5-E701DA9A16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00200" y="1139825"/>
          <a:ext cx="1905000" cy="1069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77900" imgH="546100" progId="Excel.Sheet.8">
                  <p:embed/>
                </p:oleObj>
              </mc:Choice>
              <mc:Fallback>
                <p:oleObj name="Worksheet" r:id="rId2" imgW="977900" imgH="546100" progId="Excel.Sheet.8">
                  <p:embed/>
                  <p:pic>
                    <p:nvPicPr>
                      <p:cNvPr id="65538" name="Object 2">
                        <a:extLst>
                          <a:ext uri="{FF2B5EF4-FFF2-40B4-BE49-F238E27FC236}">
                            <a16:creationId xmlns:a16="http://schemas.microsoft.com/office/drawing/2014/main" id="{0CEE63A5-32AF-434E-B7C5-E701DA9A162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482" b="-1324"/>
                      <a:stretch>
                        <a:fillRect/>
                      </a:stretch>
                    </p:blipFill>
                    <p:spPr bwMode="auto">
                      <a:xfrm>
                        <a:off x="1600200" y="1139825"/>
                        <a:ext cx="1905000" cy="106997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39" name="Object 3">
            <a:extLst>
              <a:ext uri="{FF2B5EF4-FFF2-40B4-BE49-F238E27FC236}">
                <a16:creationId xmlns:a16="http://schemas.microsoft.com/office/drawing/2014/main" id="{5A091C1D-7850-F840-AFC0-44530558FF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1413" y="1146175"/>
          <a:ext cx="2820987" cy="106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1092200" imgH="495300" progId="Excel.Sheet.8">
                  <p:embed/>
                </p:oleObj>
              </mc:Choice>
              <mc:Fallback>
                <p:oleObj name="Worksheet" r:id="rId4" imgW="1092200" imgH="495300" progId="Excel.Sheet.8">
                  <p:embed/>
                  <p:pic>
                    <p:nvPicPr>
                      <p:cNvPr id="65539" name="Object 3">
                        <a:extLst>
                          <a:ext uri="{FF2B5EF4-FFF2-40B4-BE49-F238E27FC236}">
                            <a16:creationId xmlns:a16="http://schemas.microsoft.com/office/drawing/2014/main" id="{5A091C1D-7850-F840-AFC0-44530558FF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501" b="-1324"/>
                      <a:stretch>
                        <a:fillRect/>
                      </a:stretch>
                    </p:blipFill>
                    <p:spPr bwMode="auto">
                      <a:xfrm>
                        <a:off x="4951413" y="1146175"/>
                        <a:ext cx="2820987" cy="1063625"/>
                      </a:xfrm>
                      <a:prstGeom prst="rect">
                        <a:avLst/>
                      </a:prstGeom>
                      <a:solidFill>
                        <a:srgbClr val="CCFFCC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0" name="Object 4">
            <a:extLst>
              <a:ext uri="{FF2B5EF4-FFF2-40B4-BE49-F238E27FC236}">
                <a16:creationId xmlns:a16="http://schemas.microsoft.com/office/drawing/2014/main" id="{4479B52C-B61F-4645-8FEA-9497E6BA64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" y="3440113"/>
          <a:ext cx="3806825" cy="181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1828800" imgH="876300" progId="Excel.Sheet.8">
                  <p:embed/>
                </p:oleObj>
              </mc:Choice>
              <mc:Fallback>
                <p:oleObj name="Worksheet" r:id="rId6" imgW="1828800" imgH="876300" progId="Excel.Sheet.8">
                  <p:embed/>
                  <p:pic>
                    <p:nvPicPr>
                      <p:cNvPr id="65540" name="Object 4">
                        <a:extLst>
                          <a:ext uri="{FF2B5EF4-FFF2-40B4-BE49-F238E27FC236}">
                            <a16:creationId xmlns:a16="http://schemas.microsoft.com/office/drawing/2014/main" id="{4479B52C-B61F-4645-8FEA-9497E6BA64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385" b="-1660"/>
                      <a:stretch>
                        <a:fillRect/>
                      </a:stretch>
                    </p:blipFill>
                    <p:spPr bwMode="auto">
                      <a:xfrm>
                        <a:off x="381000" y="3440113"/>
                        <a:ext cx="3806825" cy="1817687"/>
                      </a:xfrm>
                      <a:prstGeom prst="rect">
                        <a:avLst/>
                      </a:prstGeom>
                      <a:solidFill>
                        <a:srgbClr val="FFFF99">
                          <a:alpha val="50195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1" name="Text Box 5">
            <a:extLst>
              <a:ext uri="{FF2B5EF4-FFF2-40B4-BE49-F238E27FC236}">
                <a16:creationId xmlns:a16="http://schemas.microsoft.com/office/drawing/2014/main" id="{7D416CB9-B251-6642-B84E-728080408F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682625"/>
            <a:ext cx="609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>
                <a:latin typeface="Arial" panose="020B0604020202020204" pitchFamily="34" charset="0"/>
              </a:rPr>
              <a:t>IN</a:t>
            </a:r>
          </a:p>
        </p:txBody>
      </p:sp>
      <p:sp>
        <p:nvSpPr>
          <p:cNvPr id="65542" name="Text Box 6">
            <a:extLst>
              <a:ext uri="{FF2B5EF4-FFF2-40B4-BE49-F238E27FC236}">
                <a16:creationId xmlns:a16="http://schemas.microsoft.com/office/drawing/2014/main" id="{5939ADAF-9DF2-DD45-A2DA-0F691370C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4413" y="688975"/>
            <a:ext cx="685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>
                <a:latin typeface="Arial" panose="020B0604020202020204" pitchFamily="34" charset="0"/>
              </a:rPr>
              <a:t>IM</a:t>
            </a:r>
          </a:p>
        </p:txBody>
      </p:sp>
      <p:sp>
        <p:nvSpPr>
          <p:cNvPr id="65543" name="Rectangle 7">
            <a:extLst>
              <a:ext uri="{FF2B5EF4-FFF2-40B4-BE49-F238E27FC236}">
                <a16:creationId xmlns:a16="http://schemas.microsoft.com/office/drawing/2014/main" id="{3813169B-11AF-B241-AB12-B04119FB7D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2982913"/>
            <a:ext cx="1905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/>
              <a:t>IN </a:t>
            </a:r>
            <a:r>
              <a:rPr lang="en-US" altLang="en-US" sz="2400">
                <a:sym typeface="Symbol" pitchFamily="2" charset="2"/>
              </a:rPr>
              <a:t>          IM</a:t>
            </a:r>
          </a:p>
        </p:txBody>
      </p:sp>
      <p:sp>
        <p:nvSpPr>
          <p:cNvPr id="65544" name="Rectangle 8">
            <a:extLst>
              <a:ext uri="{FF2B5EF4-FFF2-40B4-BE49-F238E27FC236}">
                <a16:creationId xmlns:a16="http://schemas.microsoft.com/office/drawing/2014/main" id="{6DE0AF48-C405-4342-9799-A201303D4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5622925"/>
            <a:ext cx="69342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000">
                <a:solidFill>
                  <a:srgbClr val="FF0000"/>
                </a:solidFill>
                <a:latin typeface="Arial" panose="020B0604020202020204" pitchFamily="34" charset="0"/>
                <a:sym typeface="Symbol" pitchFamily="2" charset="2"/>
              </a:rPr>
              <a:t>The instance of ‘Student’ cannot be recovered by joining the instances of IN and IM.  Therefore, such a decomposition is not a lossless join decomposition.</a:t>
            </a:r>
            <a:endParaRPr kumimoji="0" lang="en-US" altLang="en-US" sz="2000">
              <a:solidFill>
                <a:srgbClr val="FF0000"/>
              </a:solidFill>
              <a:latin typeface="Arial" panose="020B0604020202020204" pitchFamily="34" charset="0"/>
              <a:sym typeface="Symbol" pitchFamily="2" charset="2"/>
            </a:endParaRPr>
          </a:p>
        </p:txBody>
      </p:sp>
      <p:graphicFrame>
        <p:nvGraphicFramePr>
          <p:cNvPr id="65545" name="Object 9">
            <a:extLst>
              <a:ext uri="{FF2B5EF4-FFF2-40B4-BE49-F238E27FC236}">
                <a16:creationId xmlns:a16="http://schemas.microsoft.com/office/drawing/2014/main" id="{F457C35E-A3C6-4B46-B281-B3A1F58892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59400" y="3694113"/>
          <a:ext cx="3708400" cy="110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1828800" imgH="546100" progId="Excel.Sheet.8">
                  <p:embed/>
                </p:oleObj>
              </mc:Choice>
              <mc:Fallback>
                <p:oleObj name="Worksheet" r:id="rId8" imgW="1828800" imgH="546100" progId="Excel.Sheet.8">
                  <p:embed/>
                  <p:pic>
                    <p:nvPicPr>
                      <p:cNvPr id="65545" name="Object 9">
                        <a:extLst>
                          <a:ext uri="{FF2B5EF4-FFF2-40B4-BE49-F238E27FC236}">
                            <a16:creationId xmlns:a16="http://schemas.microsoft.com/office/drawing/2014/main" id="{F457C35E-A3C6-4B46-B281-B3A1F58892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385" b="-1324"/>
                      <a:stretch>
                        <a:fillRect/>
                      </a:stretch>
                    </p:blipFill>
                    <p:spPr bwMode="auto">
                      <a:xfrm>
                        <a:off x="5359400" y="3694113"/>
                        <a:ext cx="3708400" cy="1106487"/>
                      </a:xfrm>
                      <a:prstGeom prst="rect">
                        <a:avLst/>
                      </a:prstGeom>
                      <a:solidFill>
                        <a:srgbClr val="FFFF99">
                          <a:alpha val="50195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6" name="Text Box 10">
            <a:extLst>
              <a:ext uri="{FF2B5EF4-FFF2-40B4-BE49-F238E27FC236}">
                <a16:creationId xmlns:a16="http://schemas.microsoft.com/office/drawing/2014/main" id="{7CE32443-D5B3-BD48-A54C-0EE434EB3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0" y="3260725"/>
            <a:ext cx="1295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000">
                <a:latin typeface="Arial" panose="020B0604020202020204" pitchFamily="34" charset="0"/>
              </a:rPr>
              <a:t>Student</a:t>
            </a:r>
          </a:p>
        </p:txBody>
      </p:sp>
      <p:graphicFrame>
        <p:nvGraphicFramePr>
          <p:cNvPr id="65547" name="Object 11">
            <a:extLst>
              <a:ext uri="{FF2B5EF4-FFF2-40B4-BE49-F238E27FC236}">
                <a16:creationId xmlns:a16="http://schemas.microsoft.com/office/drawing/2014/main" id="{9E40CB58-1D6F-9441-BAF7-8047C5E9BA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4800" y="3733800"/>
          <a:ext cx="12192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213100" imgH="3213100" progId="Equation.3">
                  <p:embed/>
                </p:oleObj>
              </mc:Choice>
              <mc:Fallback>
                <p:oleObj name="Equation" r:id="rId10" imgW="3213100" imgH="3213100" progId="Equation.3">
                  <p:embed/>
                  <p:pic>
                    <p:nvPicPr>
                      <p:cNvPr id="65547" name="Object 11">
                        <a:extLst>
                          <a:ext uri="{FF2B5EF4-FFF2-40B4-BE49-F238E27FC236}">
                            <a16:creationId xmlns:a16="http://schemas.microsoft.com/office/drawing/2014/main" id="{9E40CB58-1D6F-9441-BAF7-8047C5E9BA8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733800"/>
                        <a:ext cx="1219200" cy="121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48" name="Object 13">
            <a:extLst>
              <a:ext uri="{FF2B5EF4-FFF2-40B4-BE49-F238E27FC236}">
                <a16:creationId xmlns:a16="http://schemas.microsoft.com/office/drawing/2014/main" id="{A0C37037-908B-5C4F-8E51-E8B549C972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3048000"/>
          <a:ext cx="5334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686300" imgH="3213100" progId="Equation.3">
                  <p:embed/>
                </p:oleObj>
              </mc:Choice>
              <mc:Fallback>
                <p:oleObj name="Equation" r:id="rId12" imgW="4686300" imgH="3213100" progId="Equation.3">
                  <p:embed/>
                  <p:pic>
                    <p:nvPicPr>
                      <p:cNvPr id="65548" name="Object 13">
                        <a:extLst>
                          <a:ext uri="{FF2B5EF4-FFF2-40B4-BE49-F238E27FC236}">
                            <a16:creationId xmlns:a16="http://schemas.microsoft.com/office/drawing/2014/main" id="{A0C37037-908B-5C4F-8E51-E8B549C972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3048000"/>
                        <a:ext cx="53340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Number Placeholder 3">
            <a:extLst>
              <a:ext uri="{FF2B5EF4-FFF2-40B4-BE49-F238E27FC236}">
                <a16:creationId xmlns:a16="http://schemas.microsoft.com/office/drawing/2014/main" id="{32628EC1-FB00-0649-95B5-774D37645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4292ABF-D428-134D-AADF-EA705864916E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zh-TW" sz="1400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7ADC01F0-7CFC-F148-B5E1-E43440F91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143000"/>
            <a:ext cx="8382000" cy="3352800"/>
          </a:xfrm>
          <a:prstGeom prst="rect">
            <a:avLst/>
          </a:pr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>
                <a:sym typeface="Symbol" pitchFamily="2" charset="2"/>
              </a:rPr>
              <a:t>	-  a relation schema</a:t>
            </a:r>
          </a:p>
          <a:p>
            <a:pPr eaLnBrk="1" hangingPunct="1">
              <a:buFontTx/>
              <a:buNone/>
            </a:pPr>
            <a:r>
              <a:rPr lang="en-US" altLang="zh-TW" sz="2400" i="1">
                <a:sym typeface="Symbol" pitchFamily="2" charset="2"/>
              </a:rPr>
              <a:t>F</a:t>
            </a:r>
            <a:r>
              <a:rPr lang="en-US" altLang="zh-TW" sz="2400">
                <a:sym typeface="Symbol" pitchFamily="2" charset="2"/>
              </a:rPr>
              <a:t>	-  set of functional dependencies on </a:t>
            </a:r>
            <a:r>
              <a:rPr lang="en-US" altLang="zh-TW" sz="2400" i="1">
                <a:sym typeface="Symbol" pitchFamily="2" charset="2"/>
              </a:rPr>
              <a:t>R</a:t>
            </a:r>
          </a:p>
          <a:p>
            <a:pPr eaLnBrk="1" hangingPunct="1">
              <a:buFontTx/>
              <a:buNone/>
            </a:pPr>
            <a:r>
              <a:rPr lang="en-US" altLang="zh-TW" sz="2400" b="1">
                <a:sym typeface="Symbol" pitchFamily="2" charset="2"/>
              </a:rPr>
              <a:t>The decomposition of R into relations with attribute sets</a:t>
            </a:r>
          </a:p>
          <a:p>
            <a:pPr eaLnBrk="1" hangingPunct="1">
              <a:buFontTx/>
              <a:buNone/>
            </a:pPr>
            <a:r>
              <a:rPr lang="en-US" altLang="zh-TW" sz="2400" b="1" i="1">
                <a:sym typeface="Symbol" pitchFamily="2" charset="2"/>
              </a:rPr>
              <a:t>R</a:t>
            </a:r>
            <a:r>
              <a:rPr lang="en-US" altLang="zh-TW" sz="2400" b="1" baseline="-25000">
                <a:sym typeface="Symbol" pitchFamily="2" charset="2"/>
              </a:rPr>
              <a:t>1</a:t>
            </a:r>
            <a:r>
              <a:rPr lang="en-US" altLang="zh-TW" sz="2400" b="1">
                <a:sym typeface="Symbol" pitchFamily="2" charset="2"/>
              </a:rPr>
              <a:t>, </a:t>
            </a:r>
            <a:r>
              <a:rPr lang="en-US" altLang="zh-TW" sz="2400" b="1" i="1">
                <a:sym typeface="Symbol" pitchFamily="2" charset="2"/>
              </a:rPr>
              <a:t>R</a:t>
            </a:r>
            <a:r>
              <a:rPr lang="en-US" altLang="zh-TW" sz="2400" b="1" baseline="-25000">
                <a:sym typeface="Symbol" pitchFamily="2" charset="2"/>
              </a:rPr>
              <a:t>2</a:t>
            </a:r>
            <a:r>
              <a:rPr lang="en-US" altLang="zh-TW" sz="2400">
                <a:sym typeface="Symbol" pitchFamily="2" charset="2"/>
              </a:rPr>
              <a:t> </a:t>
            </a:r>
            <a:r>
              <a:rPr lang="en-US" altLang="zh-TW" sz="2400" b="1">
                <a:sym typeface="Symbol" pitchFamily="2" charset="2"/>
              </a:rPr>
              <a:t>is a lossless-join decomposition </a:t>
            </a:r>
            <a:r>
              <a:rPr lang="en-US" altLang="zh-TW" sz="2400">
                <a:sym typeface="Symbol" pitchFamily="2" charset="2"/>
              </a:rPr>
              <a:t>iff</a:t>
            </a:r>
          </a:p>
          <a:p>
            <a:pPr eaLnBrk="1" hangingPunct="1">
              <a:buFontTx/>
              <a:buNone/>
            </a:pPr>
            <a:endParaRPr lang="en-US" altLang="zh-TW" sz="1200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		(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1</a:t>
            </a:r>
            <a:r>
              <a:rPr lang="en-US" altLang="zh-TW" sz="2400">
                <a:sym typeface="Symbol" pitchFamily="2" charset="2"/>
              </a:rPr>
              <a:t> 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2</a:t>
            </a:r>
            <a:r>
              <a:rPr lang="en-US" altLang="zh-TW" sz="2400">
                <a:sym typeface="Symbol" pitchFamily="2" charset="2"/>
              </a:rPr>
              <a:t> ) 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1</a:t>
            </a:r>
            <a:r>
              <a:rPr lang="en-US" altLang="zh-TW" sz="2400">
                <a:sym typeface="Symbol" pitchFamily="2" charset="2"/>
              </a:rPr>
              <a:t>  </a:t>
            </a:r>
            <a:r>
              <a:rPr lang="en-US" altLang="zh-TW" sz="2400" i="1">
                <a:sym typeface="Symbol" pitchFamily="2" charset="2"/>
              </a:rPr>
              <a:t>F</a:t>
            </a:r>
            <a:r>
              <a:rPr lang="en-US" altLang="zh-TW" sz="2400">
                <a:sym typeface="Symbol" pitchFamily="2" charset="2"/>
              </a:rPr>
              <a:t> </a:t>
            </a:r>
            <a:r>
              <a:rPr lang="en-US" altLang="zh-TW" sz="2400" baseline="40000">
                <a:sym typeface="Symbol" pitchFamily="2" charset="2"/>
              </a:rPr>
              <a:t>+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			OR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		(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1</a:t>
            </a:r>
            <a:r>
              <a:rPr lang="en-US" altLang="zh-TW" sz="2400">
                <a:sym typeface="Symbol" pitchFamily="2" charset="2"/>
              </a:rPr>
              <a:t> 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2</a:t>
            </a:r>
            <a:r>
              <a:rPr lang="en-US" altLang="zh-TW" sz="2400">
                <a:sym typeface="Symbol" pitchFamily="2" charset="2"/>
              </a:rPr>
              <a:t> ) 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2</a:t>
            </a:r>
            <a:r>
              <a:rPr lang="en-US" altLang="zh-TW" sz="2400">
                <a:sym typeface="Symbol" pitchFamily="2" charset="2"/>
              </a:rPr>
              <a:t>  </a:t>
            </a:r>
            <a:r>
              <a:rPr lang="en-US" altLang="zh-TW" sz="2400" i="1">
                <a:sym typeface="Symbol" pitchFamily="2" charset="2"/>
              </a:rPr>
              <a:t>F</a:t>
            </a:r>
            <a:r>
              <a:rPr lang="en-US" altLang="zh-TW" sz="2400">
                <a:sym typeface="Symbol" pitchFamily="2" charset="2"/>
              </a:rPr>
              <a:t> </a:t>
            </a:r>
            <a:r>
              <a:rPr lang="en-US" altLang="zh-TW" sz="2400" baseline="40000">
                <a:sym typeface="Symbol" pitchFamily="2" charset="2"/>
              </a:rPr>
              <a:t>+</a:t>
            </a:r>
          </a:p>
          <a:p>
            <a:pPr eaLnBrk="1" hangingPunct="1">
              <a:buFontTx/>
              <a:buNone/>
            </a:pPr>
            <a:endParaRPr lang="en-US" altLang="zh-TW" sz="1200" baseline="40000">
              <a:sym typeface="Symbol" pitchFamily="2" charset="2"/>
            </a:endParaRPr>
          </a:p>
        </p:txBody>
      </p:sp>
      <p:sp>
        <p:nvSpPr>
          <p:cNvPr id="66563" name="Text Box 3">
            <a:extLst>
              <a:ext uri="{FF2B5EF4-FFF2-40B4-BE49-F238E27FC236}">
                <a16:creationId xmlns:a16="http://schemas.microsoft.com/office/drawing/2014/main" id="{216B9B9A-7455-EB4E-B2C6-C298FF2427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525" y="650875"/>
            <a:ext cx="1470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b="1"/>
              <a:t>Theorem:</a:t>
            </a:r>
          </a:p>
        </p:txBody>
      </p:sp>
      <p:sp>
        <p:nvSpPr>
          <p:cNvPr id="66564" name="Rectangle 4">
            <a:extLst>
              <a:ext uri="{FF2B5EF4-FFF2-40B4-BE49-F238E27FC236}">
                <a16:creationId xmlns:a16="http://schemas.microsoft.com/office/drawing/2014/main" id="{588CA86E-9653-1F4C-85D3-4D0E6061D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800600"/>
            <a:ext cx="807720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i.e.,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1</a:t>
            </a:r>
            <a:r>
              <a:rPr lang="en-US" altLang="zh-TW" sz="2400">
                <a:sym typeface="Symbol" pitchFamily="2" charset="2"/>
              </a:rPr>
              <a:t> 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2</a:t>
            </a:r>
            <a:r>
              <a:rPr lang="en-US" altLang="zh-TW" sz="2400">
                <a:sym typeface="Symbol" pitchFamily="2" charset="2"/>
              </a:rPr>
              <a:t> is a </a:t>
            </a:r>
            <a:r>
              <a:rPr lang="en-US" altLang="zh-TW" sz="2400" b="1">
                <a:sym typeface="Symbol" pitchFamily="2" charset="2"/>
              </a:rPr>
              <a:t>superkey</a:t>
            </a:r>
            <a:r>
              <a:rPr lang="en-US" altLang="zh-TW" sz="2400">
                <a:sym typeface="Symbol" pitchFamily="2" charset="2"/>
              </a:rPr>
              <a:t> for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1</a:t>
            </a:r>
            <a:r>
              <a:rPr lang="en-US" altLang="zh-TW" sz="2400">
                <a:sym typeface="Symbol" pitchFamily="2" charset="2"/>
              </a:rPr>
              <a:t> or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2</a:t>
            </a:r>
            <a:r>
              <a:rPr lang="en-US" altLang="zh-TW" sz="2400">
                <a:sym typeface="Symbol" pitchFamily="2" charset="2"/>
              </a:rPr>
              <a:t>.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       (the attributes common to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1</a:t>
            </a:r>
            <a:r>
              <a:rPr lang="en-US" altLang="zh-TW" sz="2400">
                <a:sym typeface="Symbol" pitchFamily="2" charset="2"/>
              </a:rPr>
              <a:t> and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2 </a:t>
            </a:r>
            <a:r>
              <a:rPr lang="en-US" altLang="zh-TW" sz="2400">
                <a:sym typeface="Symbol" pitchFamily="2" charset="2"/>
              </a:rPr>
              <a:t>must contain a key for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         either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1 </a:t>
            </a:r>
            <a:r>
              <a:rPr lang="en-US" altLang="zh-TW" sz="2400">
                <a:sym typeface="Symbol" pitchFamily="2" charset="2"/>
              </a:rPr>
              <a:t>or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2 </a:t>
            </a:r>
            <a:r>
              <a:rPr lang="en-US" altLang="zh-TW" sz="2400">
                <a:sym typeface="Symbol" pitchFamily="2" charset="2"/>
              </a:rPr>
              <a:t>).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Number Placeholder 5">
            <a:extLst>
              <a:ext uri="{FF2B5EF4-FFF2-40B4-BE49-F238E27FC236}">
                <a16:creationId xmlns:a16="http://schemas.microsoft.com/office/drawing/2014/main" id="{4834006B-114B-AD47-BFF4-B64BB7319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569646-E87B-5041-ABF2-644B6C408D1B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zh-TW" sz="1400"/>
          </a:p>
        </p:txBody>
      </p:sp>
      <p:sp>
        <p:nvSpPr>
          <p:cNvPr id="67586" name="Rectangle 3">
            <a:extLst>
              <a:ext uri="{FF2B5EF4-FFF2-40B4-BE49-F238E27FC236}">
                <a16:creationId xmlns:a16="http://schemas.microsoft.com/office/drawing/2014/main" id="{E01F8BE8-DF11-9B44-AAC6-0814363A9C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914400"/>
            <a:ext cx="7772400" cy="5181600"/>
          </a:xfrm>
        </p:spPr>
        <p:txBody>
          <a:bodyPr/>
          <a:lstStyle/>
          <a:p>
            <a:pPr eaLnBrk="1" hangingPunct="1"/>
            <a:r>
              <a:rPr lang="en-US" altLang="zh-TW">
                <a:solidFill>
                  <a:srgbClr val="000099"/>
                </a:solidFill>
              </a:rPr>
              <a:t>Example</a:t>
            </a:r>
          </a:p>
          <a:p>
            <a:pPr lvl="1" eaLnBrk="1" hangingPunct="1"/>
            <a:r>
              <a:rPr lang="en-US" altLang="zh-TW" sz="2400"/>
              <a:t>R =  ( A, B, C )</a:t>
            </a:r>
          </a:p>
          <a:p>
            <a:pPr lvl="1" eaLnBrk="1" hangingPunct="1"/>
            <a:r>
              <a:rPr lang="en-US" altLang="zh-TW" sz="2400"/>
              <a:t>F =  { A </a:t>
            </a:r>
            <a:r>
              <a:rPr lang="en-US" altLang="zh-TW" sz="3200">
                <a:sym typeface="Symbol" pitchFamily="2" charset="2"/>
              </a:rPr>
              <a:t></a:t>
            </a:r>
            <a:r>
              <a:rPr lang="en-US" altLang="zh-TW" sz="2400"/>
              <a:t> B }</a:t>
            </a:r>
          </a:p>
          <a:p>
            <a:pPr lvl="1" eaLnBrk="1" hangingPunct="1"/>
            <a:r>
              <a:rPr lang="en-US" altLang="zh-TW" sz="2400"/>
              <a:t>R =  { A, B } + { A, C } is a lossless join decomposition</a:t>
            </a:r>
          </a:p>
          <a:p>
            <a:pPr lvl="1" eaLnBrk="1" hangingPunct="1"/>
            <a:r>
              <a:rPr lang="en-US" altLang="zh-TW" sz="2400"/>
              <a:t>R =  { A, B } + { B, C } is not a lossless join decomposition</a:t>
            </a:r>
          </a:p>
          <a:p>
            <a:pPr lvl="1" eaLnBrk="1" hangingPunct="1"/>
            <a:endParaRPr lang="en-US" altLang="zh-TW" sz="2400"/>
          </a:p>
          <a:p>
            <a:pPr eaLnBrk="1" hangingPunct="1"/>
            <a:r>
              <a:rPr lang="en-US" altLang="zh-TW" sz="2800"/>
              <a:t>Also, consider the previous relation ‘Student’</a:t>
            </a:r>
          </a:p>
          <a:p>
            <a:pPr eaLnBrk="1" hangingPunct="1"/>
            <a:r>
              <a:rPr lang="en-US" altLang="zh-TW" sz="2800"/>
              <a:t>Please also read the example in P.620 of your textbook.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Number Placeholder 3">
            <a:extLst>
              <a:ext uri="{FF2B5EF4-FFF2-40B4-BE49-F238E27FC236}">
                <a16:creationId xmlns:a16="http://schemas.microsoft.com/office/drawing/2014/main" id="{06CB4D2C-28AD-074C-AC55-204BD1B74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423670-BE5D-FE45-A1AE-38C8208F5DB4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zh-TW" sz="1400"/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452F07B7-B60A-014F-931B-07DE1FCB4C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676400"/>
            <a:ext cx="7162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100" i="1">
                <a:solidFill>
                  <a:srgbClr val="006600"/>
                </a:solidFill>
                <a:sym typeface="Symbol" pitchFamily="2" charset="2"/>
              </a:rPr>
              <a:t>R</a:t>
            </a:r>
            <a:r>
              <a:rPr lang="en-US" altLang="zh-TW" sz="2100">
                <a:solidFill>
                  <a:srgbClr val="006600"/>
                </a:solidFill>
                <a:sym typeface="Symbol" pitchFamily="2" charset="2"/>
              </a:rPr>
              <a:t>	=  { </a:t>
            </a:r>
            <a:r>
              <a:rPr lang="en-US" altLang="zh-TW" sz="2100" i="1">
                <a:solidFill>
                  <a:srgbClr val="006600"/>
                </a:solidFill>
                <a:sym typeface="Symbol" pitchFamily="2" charset="2"/>
              </a:rPr>
              <a:t>A</a:t>
            </a:r>
            <a:r>
              <a:rPr lang="en-US" altLang="zh-TW" sz="2100">
                <a:solidFill>
                  <a:srgbClr val="006600"/>
                </a:solidFill>
                <a:sym typeface="Symbol" pitchFamily="2" charset="2"/>
              </a:rPr>
              <a:t>, </a:t>
            </a:r>
            <a:r>
              <a:rPr lang="en-US" altLang="zh-TW" sz="2100" i="1">
                <a:solidFill>
                  <a:srgbClr val="006600"/>
                </a:solidFill>
                <a:sym typeface="Symbol" pitchFamily="2" charset="2"/>
              </a:rPr>
              <a:t>B</a:t>
            </a:r>
            <a:r>
              <a:rPr lang="en-US" altLang="zh-TW" sz="2100">
                <a:solidFill>
                  <a:srgbClr val="006600"/>
                </a:solidFill>
                <a:sym typeface="Symbol" pitchFamily="2" charset="2"/>
              </a:rPr>
              <a:t>, </a:t>
            </a:r>
            <a:r>
              <a:rPr lang="en-US" altLang="zh-TW" sz="2100" i="1">
                <a:solidFill>
                  <a:srgbClr val="006600"/>
                </a:solidFill>
                <a:sym typeface="Symbol" pitchFamily="2" charset="2"/>
              </a:rPr>
              <a:t>C</a:t>
            </a:r>
            <a:r>
              <a:rPr lang="en-US" altLang="zh-TW" sz="2100">
                <a:solidFill>
                  <a:srgbClr val="006600"/>
                </a:solidFill>
                <a:sym typeface="Symbol" pitchFamily="2" charset="2"/>
              </a:rPr>
              <a:t>, </a:t>
            </a:r>
            <a:r>
              <a:rPr lang="en-US" altLang="zh-TW" sz="2100" i="1">
                <a:solidFill>
                  <a:srgbClr val="006600"/>
                </a:solidFill>
                <a:sym typeface="Symbol" pitchFamily="2" charset="2"/>
              </a:rPr>
              <a:t>D</a:t>
            </a:r>
            <a:r>
              <a:rPr lang="en-US" altLang="zh-TW" sz="2100">
                <a:solidFill>
                  <a:srgbClr val="006600"/>
                </a:solidFill>
                <a:sym typeface="Symbol" pitchFamily="2" charset="2"/>
              </a:rPr>
              <a:t>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100" i="1">
                <a:solidFill>
                  <a:srgbClr val="006600"/>
                </a:solidFill>
                <a:sym typeface="Symbol" pitchFamily="2" charset="2"/>
              </a:rPr>
              <a:t>F</a:t>
            </a:r>
            <a:r>
              <a:rPr lang="en-US" altLang="zh-TW" sz="2100">
                <a:solidFill>
                  <a:srgbClr val="006600"/>
                </a:solidFill>
                <a:sym typeface="Symbol" pitchFamily="2" charset="2"/>
              </a:rPr>
              <a:t>	=  { </a:t>
            </a:r>
            <a:r>
              <a:rPr lang="en-US" altLang="zh-TW" sz="2100" i="1">
                <a:solidFill>
                  <a:srgbClr val="006600"/>
                </a:solidFill>
                <a:sym typeface="Symbol" pitchFamily="2" charset="2"/>
              </a:rPr>
              <a:t>A</a:t>
            </a:r>
            <a:r>
              <a:rPr lang="en-US" altLang="zh-TW" sz="2100">
                <a:solidFill>
                  <a:srgbClr val="006600"/>
                </a:solidFill>
                <a:sym typeface="Symbol" pitchFamily="2" charset="2"/>
              </a:rPr>
              <a:t>  </a:t>
            </a:r>
            <a:r>
              <a:rPr lang="en-US" altLang="zh-TW" sz="2100" i="1">
                <a:solidFill>
                  <a:srgbClr val="006600"/>
                </a:solidFill>
                <a:sym typeface="Symbol" pitchFamily="2" charset="2"/>
              </a:rPr>
              <a:t>B</a:t>
            </a:r>
            <a:r>
              <a:rPr lang="en-US" altLang="zh-TW" sz="2100">
                <a:solidFill>
                  <a:srgbClr val="006600"/>
                </a:solidFill>
                <a:sym typeface="Symbol" pitchFamily="2" charset="2"/>
              </a:rPr>
              <a:t>, </a:t>
            </a:r>
            <a:r>
              <a:rPr lang="en-US" altLang="zh-TW" sz="2100" i="1">
                <a:solidFill>
                  <a:srgbClr val="006600"/>
                </a:solidFill>
                <a:sym typeface="Symbol" pitchFamily="2" charset="2"/>
              </a:rPr>
              <a:t>C</a:t>
            </a:r>
            <a:r>
              <a:rPr lang="en-US" altLang="zh-TW" sz="2100">
                <a:solidFill>
                  <a:srgbClr val="006600"/>
                </a:solidFill>
                <a:sym typeface="Symbol" pitchFamily="2" charset="2"/>
              </a:rPr>
              <a:t>  </a:t>
            </a:r>
            <a:r>
              <a:rPr lang="en-US" altLang="zh-TW" sz="2100" i="1">
                <a:solidFill>
                  <a:srgbClr val="006600"/>
                </a:solidFill>
                <a:sym typeface="Symbol" pitchFamily="2" charset="2"/>
              </a:rPr>
              <a:t>D</a:t>
            </a:r>
            <a:r>
              <a:rPr lang="en-US" altLang="zh-TW" sz="2100">
                <a:solidFill>
                  <a:srgbClr val="006600"/>
                </a:solidFill>
                <a:sym typeface="Symbol" pitchFamily="2" charset="2"/>
              </a:rPr>
              <a:t> }.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100">
              <a:solidFill>
                <a:srgbClr val="660066"/>
              </a:solidFill>
              <a:sym typeface="Symbol" pitchFamily="2" charset="2"/>
            </a:endParaRP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0E71A774-76F9-0D4A-BE8F-7D087BAE1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066800"/>
            <a:ext cx="25146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Another Example</a:t>
            </a:r>
            <a:endParaRPr kumimoji="0" lang="en-US" altLang="zh-TW" sz="2600" baseline="40000">
              <a:latin typeface="Arial" panose="020B0604020202020204" pitchFamily="34" charset="0"/>
            </a:endParaRPr>
          </a:p>
        </p:txBody>
      </p:sp>
      <p:sp>
        <p:nvSpPr>
          <p:cNvPr id="65540" name="Rectangle 4">
            <a:extLst>
              <a:ext uri="{FF2B5EF4-FFF2-40B4-BE49-F238E27FC236}">
                <a16:creationId xmlns:a16="http://schemas.microsoft.com/office/drawing/2014/main" id="{480B230A-45C5-F344-B477-05EE6EF58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514600"/>
            <a:ext cx="7620000" cy="227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200" dirty="0">
                <a:latin typeface="Arial" panose="020B0604020202020204" pitchFamily="34" charset="0"/>
                <a:sym typeface="Symbol" pitchFamily="2" charset="2"/>
              </a:rPr>
              <a:t>Decomposition:  { (</a:t>
            </a:r>
            <a:r>
              <a:rPr kumimoji="0" lang="en-US" altLang="zh-TW" sz="2200" i="1" dirty="0">
                <a:latin typeface="Arial" panose="020B0604020202020204" pitchFamily="34" charset="0"/>
                <a:sym typeface="Symbol" pitchFamily="2" charset="2"/>
              </a:rPr>
              <a:t>A</a:t>
            </a:r>
            <a:r>
              <a:rPr kumimoji="0" lang="en-US" altLang="zh-TW" sz="2200" dirty="0">
                <a:latin typeface="Arial" panose="020B0604020202020204" pitchFamily="34" charset="0"/>
                <a:sym typeface="Symbol" pitchFamily="2" charset="2"/>
              </a:rPr>
              <a:t>, </a:t>
            </a:r>
            <a:r>
              <a:rPr kumimoji="0" lang="en-US" altLang="zh-TW" sz="2200" i="1" dirty="0">
                <a:latin typeface="Arial" panose="020B0604020202020204" pitchFamily="34" charset="0"/>
                <a:sym typeface="Symbol" pitchFamily="2" charset="2"/>
              </a:rPr>
              <a:t>B</a:t>
            </a:r>
            <a:r>
              <a:rPr kumimoji="0" lang="en-US" altLang="zh-TW" sz="2200" dirty="0">
                <a:latin typeface="Arial" panose="020B0604020202020204" pitchFamily="34" charset="0"/>
                <a:sym typeface="Symbol" pitchFamily="2" charset="2"/>
              </a:rPr>
              <a:t>), (</a:t>
            </a:r>
            <a:r>
              <a:rPr kumimoji="0" lang="en-US" altLang="zh-TW" sz="2200" i="1" dirty="0">
                <a:latin typeface="Arial" panose="020B0604020202020204" pitchFamily="34" charset="0"/>
                <a:sym typeface="Symbol" pitchFamily="2" charset="2"/>
              </a:rPr>
              <a:t>C</a:t>
            </a:r>
            <a:r>
              <a:rPr kumimoji="0" lang="en-US" altLang="zh-TW" sz="2200" dirty="0">
                <a:latin typeface="Arial" panose="020B0604020202020204" pitchFamily="34" charset="0"/>
                <a:sym typeface="Symbol" pitchFamily="2" charset="2"/>
              </a:rPr>
              <a:t>, </a:t>
            </a:r>
            <a:r>
              <a:rPr kumimoji="0" lang="en-US" altLang="zh-TW" sz="2200" i="1" dirty="0">
                <a:latin typeface="Arial" panose="020B0604020202020204" pitchFamily="34" charset="0"/>
                <a:sym typeface="Symbol" pitchFamily="2" charset="2"/>
              </a:rPr>
              <a:t>D</a:t>
            </a:r>
            <a:r>
              <a:rPr kumimoji="0" lang="en-US" altLang="zh-TW" sz="2200" dirty="0">
                <a:latin typeface="Arial" panose="020B0604020202020204" pitchFamily="34" charset="0"/>
                <a:sym typeface="Symbol" pitchFamily="2" charset="2"/>
              </a:rPr>
              <a:t>), (</a:t>
            </a:r>
            <a:r>
              <a:rPr kumimoji="0" lang="en-US" altLang="zh-TW" sz="2200" i="1" dirty="0">
                <a:latin typeface="Arial" panose="020B0604020202020204" pitchFamily="34" charset="0"/>
                <a:sym typeface="Symbol" pitchFamily="2" charset="2"/>
              </a:rPr>
              <a:t>A</a:t>
            </a:r>
            <a:r>
              <a:rPr kumimoji="0" lang="en-US" altLang="zh-TW" sz="2200" dirty="0">
                <a:latin typeface="Arial" panose="020B0604020202020204" pitchFamily="34" charset="0"/>
                <a:sym typeface="Symbol" pitchFamily="2" charset="2"/>
              </a:rPr>
              <a:t>, </a:t>
            </a:r>
            <a:r>
              <a:rPr kumimoji="0" lang="en-US" altLang="zh-TW" sz="2200" i="1" dirty="0">
                <a:latin typeface="Arial" panose="020B0604020202020204" pitchFamily="34" charset="0"/>
                <a:sym typeface="Symbol" pitchFamily="2" charset="2"/>
              </a:rPr>
              <a:t>C</a:t>
            </a:r>
            <a:r>
              <a:rPr kumimoji="0" lang="en-US" altLang="zh-TW" sz="2200" dirty="0">
                <a:latin typeface="Arial" panose="020B0604020202020204" pitchFamily="34" charset="0"/>
                <a:sym typeface="Symbol" pitchFamily="2" charset="2"/>
              </a:rPr>
              <a:t>) }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200" dirty="0">
                <a:latin typeface="Arial" panose="020B0604020202020204" pitchFamily="34" charset="0"/>
                <a:sym typeface="Symbol" pitchFamily="2" charset="2"/>
              </a:rPr>
              <a:t>Consider it a two step decomposition:</a:t>
            </a:r>
            <a:endParaRPr kumimoji="0" lang="en-US" altLang="zh-TW" sz="2200" dirty="0">
              <a:solidFill>
                <a:schemeClr val="bg2"/>
              </a:solidFill>
              <a:latin typeface="Arial" panose="020B0604020202020204" pitchFamily="34" charset="0"/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AutoNum type="arabicPeriod"/>
            </a:pPr>
            <a:r>
              <a:rPr kumimoji="0" lang="en-US" altLang="zh-TW" sz="22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Decompose </a:t>
            </a:r>
            <a:r>
              <a:rPr kumimoji="0" lang="en-US" altLang="zh-TW" sz="2200" i="1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R</a:t>
            </a:r>
            <a:r>
              <a:rPr kumimoji="0" lang="en-US" altLang="zh-TW" sz="22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 into	      </a:t>
            </a:r>
            <a:r>
              <a:rPr kumimoji="0" lang="en-US" altLang="zh-TW" sz="2200" i="1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R</a:t>
            </a:r>
            <a:r>
              <a:rPr kumimoji="0" lang="en-US" altLang="zh-TW" sz="2200" baseline="-250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1</a:t>
            </a:r>
            <a:r>
              <a:rPr kumimoji="0" lang="en-US" altLang="zh-TW" sz="22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 = (</a:t>
            </a:r>
            <a:r>
              <a:rPr kumimoji="0" lang="en-US" altLang="zh-TW" sz="2200" i="1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A</a:t>
            </a:r>
            <a:r>
              <a:rPr kumimoji="0" lang="en-US" altLang="zh-TW" sz="22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, </a:t>
            </a:r>
            <a:r>
              <a:rPr kumimoji="0" lang="en-US" altLang="zh-TW" sz="2200" i="1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B</a:t>
            </a:r>
            <a:r>
              <a:rPr kumimoji="0" lang="en-US" altLang="zh-TW" sz="22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), </a:t>
            </a:r>
            <a:r>
              <a:rPr kumimoji="0" lang="en-US" altLang="zh-TW" sz="2200" i="1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R</a:t>
            </a:r>
            <a:r>
              <a:rPr kumimoji="0" lang="en-US" altLang="zh-TW" sz="2200" baseline="-250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2</a:t>
            </a:r>
            <a:r>
              <a:rPr kumimoji="0" lang="en-US" altLang="zh-TW" sz="22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 = (</a:t>
            </a:r>
            <a:r>
              <a:rPr kumimoji="0" lang="en-US" altLang="zh-TW" sz="2200" i="1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A</a:t>
            </a:r>
            <a:r>
              <a:rPr kumimoji="0" lang="en-US" altLang="zh-TW" sz="22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, </a:t>
            </a:r>
            <a:r>
              <a:rPr kumimoji="0" lang="en-US" altLang="zh-TW" sz="2200" i="1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C</a:t>
            </a:r>
            <a:r>
              <a:rPr kumimoji="0" lang="en-US" altLang="zh-TW" sz="22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, </a:t>
            </a:r>
            <a:r>
              <a:rPr kumimoji="0" lang="en-US" altLang="zh-TW" sz="2200" i="1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D</a:t>
            </a:r>
            <a:r>
              <a:rPr kumimoji="0" lang="en-US" altLang="zh-TW" sz="22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AutoNum type="arabicPeriod"/>
            </a:pPr>
            <a:r>
              <a:rPr kumimoji="0" lang="en-US" altLang="zh-TW" sz="22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Decompose </a:t>
            </a:r>
            <a:r>
              <a:rPr kumimoji="0" lang="en-US" altLang="zh-TW" sz="2200" i="1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R</a:t>
            </a:r>
            <a:r>
              <a:rPr kumimoji="0" lang="en-US" altLang="zh-TW" sz="2200" baseline="-250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2</a:t>
            </a:r>
            <a:r>
              <a:rPr kumimoji="0" lang="en-US" altLang="zh-TW" sz="22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 into      </a:t>
            </a:r>
            <a:r>
              <a:rPr kumimoji="0" lang="en-US" altLang="zh-TW" sz="2200" i="1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R</a:t>
            </a:r>
            <a:r>
              <a:rPr kumimoji="0" lang="en-US" altLang="zh-TW" sz="2200" baseline="-250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3</a:t>
            </a:r>
            <a:r>
              <a:rPr kumimoji="0" lang="en-US" altLang="zh-TW" sz="22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 = (</a:t>
            </a:r>
            <a:r>
              <a:rPr kumimoji="0" lang="en-US" altLang="zh-TW" sz="2200" i="1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C</a:t>
            </a:r>
            <a:r>
              <a:rPr kumimoji="0" lang="en-US" altLang="zh-TW" sz="22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, </a:t>
            </a:r>
            <a:r>
              <a:rPr kumimoji="0" lang="en-US" altLang="zh-TW" sz="2200" i="1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D</a:t>
            </a:r>
            <a:r>
              <a:rPr kumimoji="0" lang="en-US" altLang="zh-TW" sz="22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), </a:t>
            </a:r>
            <a:r>
              <a:rPr kumimoji="0" lang="en-US" altLang="zh-TW" sz="2200" i="1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R</a:t>
            </a:r>
            <a:r>
              <a:rPr kumimoji="0" lang="en-US" altLang="zh-TW" sz="2200" baseline="-250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4</a:t>
            </a:r>
            <a:r>
              <a:rPr kumimoji="0" lang="en-US" altLang="zh-TW" sz="22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 = (</a:t>
            </a:r>
            <a:r>
              <a:rPr kumimoji="0" lang="en-US" altLang="zh-TW" sz="2200" i="1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A</a:t>
            </a:r>
            <a:r>
              <a:rPr kumimoji="0" lang="en-US" altLang="zh-TW" sz="22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, </a:t>
            </a:r>
            <a:r>
              <a:rPr kumimoji="0" lang="en-US" altLang="zh-TW" sz="2200" i="1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C</a:t>
            </a:r>
            <a:r>
              <a:rPr kumimoji="0" lang="en-US" altLang="zh-TW" sz="2200" dirty="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200" dirty="0">
                <a:latin typeface="Arial" panose="020B0604020202020204" pitchFamily="34" charset="0"/>
                <a:sym typeface="Symbol" pitchFamily="2" charset="2"/>
              </a:rPr>
              <a:t>This is a lossless join decomposition.</a:t>
            </a:r>
          </a:p>
        </p:txBody>
      </p:sp>
      <p:grpSp>
        <p:nvGrpSpPr>
          <p:cNvPr id="2" name="Group 5">
            <a:extLst>
              <a:ext uri="{FF2B5EF4-FFF2-40B4-BE49-F238E27FC236}">
                <a16:creationId xmlns:a16="http://schemas.microsoft.com/office/drawing/2014/main" id="{36232C14-DE67-D54C-A421-DC08CBE7D5AB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5029200"/>
            <a:ext cx="6858000" cy="1006475"/>
            <a:chOff x="432" y="3168"/>
            <a:chExt cx="4320" cy="634"/>
          </a:xfrm>
        </p:grpSpPr>
        <p:sp>
          <p:nvSpPr>
            <p:cNvPr id="68615" name="Rectangle 6">
              <a:extLst>
                <a:ext uri="{FF2B5EF4-FFF2-40B4-BE49-F238E27FC236}">
                  <a16:creationId xmlns:a16="http://schemas.microsoft.com/office/drawing/2014/main" id="{1FFB320E-E1D3-7D43-9841-CF7EB89517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0" y="3216"/>
              <a:ext cx="4272" cy="5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eaLnBrk="1" hangingPunct="1">
                <a:spcBef>
                  <a:spcPct val="50000"/>
                </a:spcBef>
                <a:buClr>
                  <a:srgbClr val="663300"/>
                </a:buClr>
                <a:buFont typeface="Wingdings" pitchFamily="2" charset="2"/>
                <a:buNone/>
              </a:pPr>
              <a:r>
                <a:rPr kumimoji="0" lang="en-US" altLang="zh-TW" sz="2200">
                  <a:solidFill>
                    <a:srgbClr val="660066"/>
                  </a:solidFill>
                  <a:latin typeface="Arial" panose="020B0604020202020204" pitchFamily="34" charset="0"/>
                  <a:sym typeface="Symbol" pitchFamily="2" charset="2"/>
                </a:rPr>
                <a:t>If </a:t>
              </a:r>
              <a:r>
                <a:rPr kumimoji="0" lang="en-US" altLang="zh-TW" sz="2200" i="1">
                  <a:solidFill>
                    <a:srgbClr val="660066"/>
                  </a:solidFill>
                  <a:latin typeface="Arial" panose="020B0604020202020204" pitchFamily="34" charset="0"/>
                  <a:sym typeface="Symbol" pitchFamily="2" charset="2"/>
                </a:rPr>
                <a:t>R</a:t>
              </a:r>
              <a:r>
                <a:rPr kumimoji="0" lang="en-US" altLang="zh-TW" sz="2200">
                  <a:solidFill>
                    <a:srgbClr val="660066"/>
                  </a:solidFill>
                  <a:latin typeface="Arial" panose="020B0604020202020204" pitchFamily="34" charset="0"/>
                  <a:sym typeface="Symbol" pitchFamily="2" charset="2"/>
                </a:rPr>
                <a:t> is decomposed into (</a:t>
              </a:r>
              <a:r>
                <a:rPr kumimoji="0" lang="en-US" altLang="zh-TW" sz="2200" i="1">
                  <a:solidFill>
                    <a:srgbClr val="660066"/>
                  </a:solidFill>
                  <a:latin typeface="Arial" panose="020B0604020202020204" pitchFamily="34" charset="0"/>
                  <a:sym typeface="Symbol" pitchFamily="2" charset="2"/>
                </a:rPr>
                <a:t>A</a:t>
              </a:r>
              <a:r>
                <a:rPr kumimoji="0" lang="en-US" altLang="zh-TW" sz="2200">
                  <a:solidFill>
                    <a:srgbClr val="660066"/>
                  </a:solidFill>
                  <a:latin typeface="Arial" panose="020B0604020202020204" pitchFamily="34" charset="0"/>
                  <a:sym typeface="Symbol" pitchFamily="2" charset="2"/>
                </a:rPr>
                <a:t>, </a:t>
              </a:r>
              <a:r>
                <a:rPr kumimoji="0" lang="en-US" altLang="zh-TW" sz="2200" i="1">
                  <a:solidFill>
                    <a:srgbClr val="660066"/>
                  </a:solidFill>
                  <a:latin typeface="Arial" panose="020B0604020202020204" pitchFamily="34" charset="0"/>
                  <a:sym typeface="Symbol" pitchFamily="2" charset="2"/>
                </a:rPr>
                <a:t>B</a:t>
              </a:r>
              <a:r>
                <a:rPr kumimoji="0" lang="en-US" altLang="zh-TW" sz="2200">
                  <a:solidFill>
                    <a:srgbClr val="660066"/>
                  </a:solidFill>
                  <a:latin typeface="Arial" panose="020B0604020202020204" pitchFamily="34" charset="0"/>
                  <a:sym typeface="Symbol" pitchFamily="2" charset="2"/>
                </a:rPr>
                <a:t>), (</a:t>
              </a:r>
              <a:r>
                <a:rPr kumimoji="0" lang="en-US" altLang="zh-TW" sz="2200" i="1">
                  <a:solidFill>
                    <a:srgbClr val="660066"/>
                  </a:solidFill>
                  <a:latin typeface="Arial" panose="020B0604020202020204" pitchFamily="34" charset="0"/>
                  <a:sym typeface="Symbol" pitchFamily="2" charset="2"/>
                </a:rPr>
                <a:t>C</a:t>
              </a:r>
              <a:r>
                <a:rPr kumimoji="0" lang="en-US" altLang="zh-TW" sz="2200">
                  <a:solidFill>
                    <a:srgbClr val="660066"/>
                  </a:solidFill>
                  <a:latin typeface="Arial" panose="020B0604020202020204" pitchFamily="34" charset="0"/>
                  <a:sym typeface="Symbol" pitchFamily="2" charset="2"/>
                </a:rPr>
                <a:t>, </a:t>
              </a:r>
              <a:r>
                <a:rPr kumimoji="0" lang="en-US" altLang="zh-TW" sz="2200" i="1">
                  <a:solidFill>
                    <a:srgbClr val="660066"/>
                  </a:solidFill>
                  <a:latin typeface="Arial" panose="020B0604020202020204" pitchFamily="34" charset="0"/>
                  <a:sym typeface="Symbol" pitchFamily="2" charset="2"/>
                </a:rPr>
                <a:t>D</a:t>
              </a:r>
              <a:r>
                <a:rPr kumimoji="0" lang="en-US" altLang="zh-TW" sz="2200">
                  <a:solidFill>
                    <a:srgbClr val="660066"/>
                  </a:solidFill>
                  <a:latin typeface="Arial" panose="020B0604020202020204" pitchFamily="34" charset="0"/>
                  <a:sym typeface="Symbol" pitchFamily="2" charset="2"/>
                </a:rPr>
                <a:t>)</a:t>
              </a:r>
            </a:p>
            <a:p>
              <a:pPr eaLnBrk="1" hangingPunct="1">
                <a:spcBef>
                  <a:spcPct val="50000"/>
                </a:spcBef>
                <a:buClr>
                  <a:srgbClr val="663300"/>
                </a:buClr>
                <a:buFont typeface="Wingdings" pitchFamily="2" charset="2"/>
                <a:buNone/>
              </a:pPr>
              <a:r>
                <a:rPr kumimoji="0" lang="en-US" altLang="zh-TW" sz="2200">
                  <a:solidFill>
                    <a:srgbClr val="660066"/>
                  </a:solidFill>
                  <a:latin typeface="Arial" panose="020B0604020202020204" pitchFamily="34" charset="0"/>
                  <a:sym typeface="Symbol" pitchFamily="2" charset="2"/>
                </a:rPr>
                <a:t>This is a lossy-join decomposition.</a:t>
              </a:r>
              <a:endParaRPr kumimoji="0" lang="en-US" altLang="en-US" sz="2200">
                <a:solidFill>
                  <a:srgbClr val="660066"/>
                </a:solidFill>
                <a:latin typeface="Arial" panose="020B0604020202020204" pitchFamily="34" charset="0"/>
                <a:sym typeface="Symbol" pitchFamily="2" charset="2"/>
              </a:endParaRPr>
            </a:p>
          </p:txBody>
        </p:sp>
        <p:sp>
          <p:nvSpPr>
            <p:cNvPr id="68616" name="Line 7">
              <a:extLst>
                <a:ext uri="{FF2B5EF4-FFF2-40B4-BE49-F238E27FC236}">
                  <a16:creationId xmlns:a16="http://schemas.microsoft.com/office/drawing/2014/main" id="{E2B7B43D-D557-D34D-9B07-36CE944ACE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" y="3168"/>
              <a:ext cx="43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>
              <a:outerShdw dist="71842" dir="2700000" algn="ctr" rotWithShape="0">
                <a:schemeClr val="bg2">
                  <a:alpha val="5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8614" name="Line 8">
            <a:extLst>
              <a:ext uri="{FF2B5EF4-FFF2-40B4-BE49-F238E27FC236}">
                <a16:creationId xmlns:a16="http://schemas.microsoft.com/office/drawing/2014/main" id="{5B5201EC-7B5D-4E49-B044-584C272E1278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200" y="2438400"/>
            <a:ext cx="6705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0" grpId="0" build="p" autoUpdateAnimBg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Slide Number Placeholder 5">
            <a:extLst>
              <a:ext uri="{FF2B5EF4-FFF2-40B4-BE49-F238E27FC236}">
                <a16:creationId xmlns:a16="http://schemas.microsoft.com/office/drawing/2014/main" id="{84F625D9-D0A4-7343-B8D7-985FDC19B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3871FA8-D40E-6B4B-8D92-0B21CAB996A2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zh-TW" sz="1400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54D0E911-E736-1544-97CA-30F331EA71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Dependency Preservation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291DBEC1-D24E-1343-AAB1-FD28E72337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80772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>
                <a:sym typeface="Symbol" pitchFamily="2" charset="2"/>
              </a:rPr>
              <a:t>	-  a relation schema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i="1">
                <a:sym typeface="Symbol" pitchFamily="2" charset="2"/>
              </a:rPr>
              <a:t>F</a:t>
            </a:r>
            <a:r>
              <a:rPr lang="en-US" altLang="zh-TW" sz="2400">
                <a:sym typeface="Symbol" pitchFamily="2" charset="2"/>
              </a:rPr>
              <a:t>	-  set of functional dependencies on </a:t>
            </a:r>
            <a:r>
              <a:rPr lang="en-US" altLang="zh-TW" sz="2400" i="1">
                <a:sym typeface="Symbol" pitchFamily="2" charset="2"/>
              </a:rPr>
              <a:t>R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>
                <a:sym typeface="Symbol" pitchFamily="2" charset="2"/>
              </a:rPr>
              <a:t>{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1</a:t>
            </a:r>
            <a:r>
              <a:rPr lang="en-US" altLang="zh-TW" sz="2400">
                <a:sym typeface="Symbol" pitchFamily="2" charset="2"/>
              </a:rPr>
              <a:t>,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 baseline="-25000">
                <a:sym typeface="Symbol" pitchFamily="2" charset="2"/>
              </a:rPr>
              <a:t>2</a:t>
            </a:r>
            <a:r>
              <a:rPr lang="en-US" altLang="zh-TW" sz="2400">
                <a:sym typeface="Symbol" pitchFamily="2" charset="2"/>
              </a:rPr>
              <a:t> }  </a:t>
            </a:r>
            <a:r>
              <a:rPr lang="en-US" altLang="zh-TW" sz="2400">
                <a:latin typeface="Arial" panose="020B0604020202020204" pitchFamily="34" charset="0"/>
                <a:sym typeface="Symbol" pitchFamily="2" charset="2"/>
              </a:rPr>
              <a:t>–</a:t>
            </a:r>
            <a:r>
              <a:rPr lang="en-US" altLang="zh-TW" sz="2400">
                <a:sym typeface="Symbol" pitchFamily="2" charset="2"/>
              </a:rPr>
              <a:t>  a decomposition of </a:t>
            </a:r>
            <a:r>
              <a:rPr lang="en-US" altLang="zh-TW" sz="2400" i="1">
                <a:sym typeface="Symbol" pitchFamily="2" charset="2"/>
              </a:rPr>
              <a:t>R</a:t>
            </a:r>
            <a:r>
              <a:rPr lang="en-US" altLang="zh-TW" sz="2400">
                <a:sym typeface="Symbol" pitchFamily="2" charset="2"/>
              </a:rPr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1200" i="1">
              <a:solidFill>
                <a:schemeClr val="bg2"/>
              </a:solidFill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i="1">
                <a:solidFill>
                  <a:srgbClr val="000099"/>
                </a:solidFill>
                <a:sym typeface="Symbol" pitchFamily="2" charset="2"/>
              </a:rPr>
              <a:t>F</a:t>
            </a:r>
            <a:r>
              <a:rPr lang="en-US" altLang="zh-TW" sz="2400" baseline="-25000">
                <a:solidFill>
                  <a:srgbClr val="000099"/>
                </a:solidFill>
                <a:sym typeface="Symbol" pitchFamily="2" charset="2"/>
              </a:rPr>
              <a:t>i</a:t>
            </a:r>
            <a:r>
              <a:rPr lang="en-US" altLang="zh-TW" sz="2400">
                <a:solidFill>
                  <a:srgbClr val="000099"/>
                </a:solidFill>
                <a:sym typeface="Symbol" pitchFamily="2" charset="2"/>
              </a:rPr>
              <a:t>	-  the set of dependencies in </a:t>
            </a:r>
            <a:r>
              <a:rPr lang="en-US" altLang="zh-TW" sz="2400" i="1">
                <a:solidFill>
                  <a:srgbClr val="000099"/>
                </a:solidFill>
                <a:sym typeface="Symbol" pitchFamily="2" charset="2"/>
              </a:rPr>
              <a:t>F</a:t>
            </a:r>
            <a:r>
              <a:rPr lang="en-US" altLang="zh-TW" sz="2400" baseline="40000">
                <a:solidFill>
                  <a:srgbClr val="000099"/>
                </a:solidFill>
                <a:sym typeface="Symbol" pitchFamily="2" charset="2"/>
              </a:rPr>
              <a:t>+</a:t>
            </a:r>
            <a:r>
              <a:rPr lang="en-US" altLang="zh-TW" sz="2400">
                <a:solidFill>
                  <a:srgbClr val="000099"/>
                </a:solidFill>
                <a:sym typeface="Symbol" pitchFamily="2" charset="2"/>
              </a:rPr>
              <a:t> involves only attributes in </a:t>
            </a:r>
            <a:r>
              <a:rPr lang="en-US" altLang="zh-TW" sz="2400" i="1">
                <a:solidFill>
                  <a:srgbClr val="000099"/>
                </a:solidFill>
                <a:sym typeface="Symbol" pitchFamily="2" charset="2"/>
              </a:rPr>
              <a:t>R</a:t>
            </a:r>
            <a:r>
              <a:rPr lang="en-US" altLang="zh-TW" sz="2400" baseline="-25000">
                <a:solidFill>
                  <a:srgbClr val="000099"/>
                </a:solidFill>
                <a:sym typeface="Symbol" pitchFamily="2" charset="2"/>
              </a:rPr>
              <a:t>i</a:t>
            </a:r>
            <a:r>
              <a:rPr lang="en-US" altLang="zh-TW" sz="2400">
                <a:solidFill>
                  <a:srgbClr val="000099"/>
                </a:solidFill>
                <a:sym typeface="Symbol" pitchFamily="2" charset="2"/>
              </a:rPr>
              <a:t>.</a:t>
            </a:r>
            <a:endParaRPr lang="en-US" altLang="zh-TW" sz="2400" i="1">
              <a:solidFill>
                <a:srgbClr val="000099"/>
              </a:solidFill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i="1">
                <a:solidFill>
                  <a:srgbClr val="000099"/>
                </a:solidFill>
                <a:sym typeface="Symbol" pitchFamily="2" charset="2"/>
              </a:rPr>
              <a:t>F</a:t>
            </a:r>
            <a:r>
              <a:rPr lang="en-US" altLang="zh-TW" sz="2400" baseline="-25000">
                <a:solidFill>
                  <a:srgbClr val="000099"/>
                </a:solidFill>
                <a:sym typeface="Symbol" pitchFamily="2" charset="2"/>
              </a:rPr>
              <a:t>i</a:t>
            </a:r>
            <a:r>
              <a:rPr lang="en-US" altLang="zh-TW" sz="2400">
                <a:solidFill>
                  <a:srgbClr val="000099"/>
                </a:solidFill>
                <a:sym typeface="Symbol" pitchFamily="2" charset="2"/>
              </a:rPr>
              <a:t> is called the </a:t>
            </a:r>
            <a:r>
              <a:rPr lang="en-US" altLang="zh-TW" sz="2400" b="1">
                <a:solidFill>
                  <a:srgbClr val="000099"/>
                </a:solidFill>
                <a:sym typeface="Symbol" pitchFamily="2" charset="2"/>
              </a:rPr>
              <a:t>projection</a:t>
            </a:r>
            <a:r>
              <a:rPr lang="en-US" altLang="zh-TW" sz="2400">
                <a:solidFill>
                  <a:srgbClr val="000099"/>
                </a:solidFill>
                <a:sym typeface="Symbol" pitchFamily="2" charset="2"/>
              </a:rPr>
              <a:t> of </a:t>
            </a:r>
            <a:r>
              <a:rPr lang="en-US" altLang="zh-TW" sz="2400" i="1">
                <a:solidFill>
                  <a:srgbClr val="000099"/>
                </a:solidFill>
                <a:sym typeface="Symbol" pitchFamily="2" charset="2"/>
              </a:rPr>
              <a:t>F</a:t>
            </a:r>
            <a:r>
              <a:rPr lang="en-US" altLang="zh-TW" sz="2400">
                <a:solidFill>
                  <a:srgbClr val="000099"/>
                </a:solidFill>
                <a:sym typeface="Symbol" pitchFamily="2" charset="2"/>
              </a:rPr>
              <a:t> on the set of attributes of </a:t>
            </a:r>
            <a:r>
              <a:rPr lang="en-US" altLang="zh-TW" sz="2400" i="1">
                <a:solidFill>
                  <a:srgbClr val="000099"/>
                </a:solidFill>
                <a:sym typeface="Symbol" pitchFamily="2" charset="2"/>
              </a:rPr>
              <a:t>R</a:t>
            </a:r>
            <a:r>
              <a:rPr lang="en-US" altLang="zh-TW" sz="2400" b="1" baseline="-25000">
                <a:solidFill>
                  <a:srgbClr val="000099"/>
                </a:solidFill>
                <a:sym typeface="Symbol" pitchFamily="2" charset="2"/>
              </a:rPr>
              <a:t>i</a:t>
            </a:r>
            <a:r>
              <a:rPr lang="en-US" altLang="zh-TW" sz="2400">
                <a:solidFill>
                  <a:srgbClr val="000099"/>
                </a:solidFill>
                <a:sym typeface="Symbol" pitchFamily="2" charset="2"/>
              </a:rPr>
              <a:t>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1200">
              <a:solidFill>
                <a:srgbClr val="000099"/>
              </a:solidFill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b="1">
                <a:sym typeface="Symbol" pitchFamily="2" charset="2"/>
              </a:rPr>
              <a:t>dependency is preserved</a:t>
            </a:r>
            <a:r>
              <a:rPr lang="en-US" altLang="zh-TW" sz="2400">
                <a:sym typeface="Symbol" pitchFamily="2" charset="2"/>
              </a:rPr>
              <a:t> if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40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40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sym typeface="Symbol" pitchFamily="2" charset="2"/>
              </a:rPr>
              <a:t>Intuitively, a dependency-preserving decomposition allows us to enforce all FDs by examining a single relation instance on each insertion or modification of a tuple.</a:t>
            </a:r>
          </a:p>
          <a:p>
            <a:pPr eaLnBrk="1" hangingPunct="1">
              <a:lnSpc>
                <a:spcPct val="90000"/>
              </a:lnSpc>
            </a:pPr>
            <a:endParaRPr lang="zh-TW" altLang="en-US" sz="1400"/>
          </a:p>
        </p:txBody>
      </p:sp>
      <p:sp>
        <p:nvSpPr>
          <p:cNvPr id="69636" name="Rectangle 4">
            <a:extLst>
              <a:ext uri="{FF2B5EF4-FFF2-40B4-BE49-F238E27FC236}">
                <a16:creationId xmlns:a16="http://schemas.microsoft.com/office/drawing/2014/main" id="{6BCD9766-3DC6-9446-B6E6-841B5502F3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495800"/>
            <a:ext cx="2514600" cy="533400"/>
          </a:xfrm>
          <a:prstGeom prst="rect">
            <a:avLst/>
          </a:prstGeom>
          <a:solidFill>
            <a:srgbClr val="E2C5A8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TW" altLang="en-US" sz="2000">
                <a:latin typeface="Arial" panose="020B0604020202020204" pitchFamily="34" charset="0"/>
              </a:rPr>
              <a:t>( </a:t>
            </a:r>
            <a:r>
              <a:rPr kumimoji="0" lang="en-US" altLang="zh-TW" sz="2000" i="1">
                <a:latin typeface="Arial" panose="020B0604020202020204" pitchFamily="34" charset="0"/>
              </a:rPr>
              <a:t>F</a:t>
            </a:r>
            <a:r>
              <a:rPr kumimoji="0" lang="en-US" altLang="zh-TW" sz="2000" baseline="-25000">
                <a:latin typeface="Arial" panose="020B0604020202020204" pitchFamily="34" charset="0"/>
              </a:rPr>
              <a:t>1</a:t>
            </a:r>
            <a:r>
              <a:rPr kumimoji="0" lang="en-US" altLang="zh-TW" sz="2000">
                <a:latin typeface="Arial" panose="020B0604020202020204" pitchFamily="34" charset="0"/>
              </a:rPr>
              <a:t> U </a:t>
            </a:r>
            <a:r>
              <a:rPr kumimoji="0" lang="en-US" altLang="zh-TW" sz="2000" i="1">
                <a:latin typeface="Arial" panose="020B0604020202020204" pitchFamily="34" charset="0"/>
              </a:rPr>
              <a:t>F</a:t>
            </a:r>
            <a:r>
              <a:rPr kumimoji="0" lang="en-US" altLang="zh-TW" sz="2000" baseline="-25000">
                <a:latin typeface="Arial" panose="020B0604020202020204" pitchFamily="34" charset="0"/>
              </a:rPr>
              <a:t>2</a:t>
            </a:r>
            <a:r>
              <a:rPr kumimoji="0" lang="en-US" altLang="zh-TW" sz="2000">
                <a:latin typeface="Arial" panose="020B0604020202020204" pitchFamily="34" charset="0"/>
              </a:rPr>
              <a:t> )</a:t>
            </a:r>
            <a:r>
              <a:rPr kumimoji="0" lang="en-US" altLang="zh-TW" sz="2200" baseline="40000">
                <a:latin typeface="Arial" panose="020B0604020202020204" pitchFamily="34" charset="0"/>
              </a:rPr>
              <a:t>+</a:t>
            </a:r>
            <a:r>
              <a:rPr kumimoji="0" lang="en-US" altLang="zh-TW" sz="2000">
                <a:latin typeface="Arial" panose="020B0604020202020204" pitchFamily="34" charset="0"/>
              </a:rPr>
              <a:t> = </a:t>
            </a:r>
            <a:r>
              <a:rPr kumimoji="0" lang="en-US" altLang="zh-TW" sz="2000" i="1">
                <a:latin typeface="Arial" panose="020B0604020202020204" pitchFamily="34" charset="0"/>
              </a:rPr>
              <a:t>F </a:t>
            </a:r>
            <a:r>
              <a:rPr kumimoji="0" lang="en-US" altLang="zh-TW" sz="2200" baseline="40000">
                <a:latin typeface="Arial" panose="020B0604020202020204" pitchFamily="34" charset="0"/>
              </a:rPr>
              <a:t>+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Number Placeholder 3">
            <a:extLst>
              <a:ext uri="{FF2B5EF4-FFF2-40B4-BE49-F238E27FC236}">
                <a16:creationId xmlns:a16="http://schemas.microsoft.com/office/drawing/2014/main" id="{E75D1B30-CAE5-004B-A512-BCDEAB49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AC578C8-D43A-CD4F-9D53-6CF650506C0F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zh-TW" sz="1400"/>
          </a:p>
        </p:txBody>
      </p:sp>
      <p:sp>
        <p:nvSpPr>
          <p:cNvPr id="70658" name="Text Box 3">
            <a:extLst>
              <a:ext uri="{FF2B5EF4-FFF2-40B4-BE49-F238E27FC236}">
                <a16:creationId xmlns:a16="http://schemas.microsoft.com/office/drawing/2014/main" id="{069238DD-226B-C746-B38E-34DE75051A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2098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Student</a:t>
            </a:r>
          </a:p>
        </p:txBody>
      </p:sp>
      <p:sp>
        <p:nvSpPr>
          <p:cNvPr id="70659" name="Rectangle 4">
            <a:extLst>
              <a:ext uri="{FF2B5EF4-FFF2-40B4-BE49-F238E27FC236}">
                <a16:creationId xmlns:a16="http://schemas.microsoft.com/office/drawing/2014/main" id="{3C69A989-D86A-2C48-9B72-6559144BFC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2209800"/>
            <a:ext cx="7620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 u="sng">
                <a:latin typeface="Arial" panose="020B0604020202020204" pitchFamily="34" charset="0"/>
              </a:rPr>
              <a:t>sid</a:t>
            </a:r>
          </a:p>
        </p:txBody>
      </p:sp>
      <p:sp>
        <p:nvSpPr>
          <p:cNvPr id="70660" name="Rectangle 5">
            <a:extLst>
              <a:ext uri="{FF2B5EF4-FFF2-40B4-BE49-F238E27FC236}">
                <a16:creationId xmlns:a16="http://schemas.microsoft.com/office/drawing/2014/main" id="{4597F107-B5A2-7348-B18D-977D5EDBD6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209800"/>
            <a:ext cx="12192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dname</a:t>
            </a:r>
          </a:p>
        </p:txBody>
      </p:sp>
      <p:sp>
        <p:nvSpPr>
          <p:cNvPr id="70661" name="Rectangle 6">
            <a:extLst>
              <a:ext uri="{FF2B5EF4-FFF2-40B4-BE49-F238E27FC236}">
                <a16:creationId xmlns:a16="http://schemas.microsoft.com/office/drawing/2014/main" id="{8CAE2AEC-088D-0B46-8209-41B6CC16F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209800"/>
            <a:ext cx="12192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dhead</a:t>
            </a:r>
          </a:p>
        </p:txBody>
      </p:sp>
      <p:sp>
        <p:nvSpPr>
          <p:cNvPr id="70662" name="Text Box 7">
            <a:extLst>
              <a:ext uri="{FF2B5EF4-FFF2-40B4-BE49-F238E27FC236}">
                <a16:creationId xmlns:a16="http://schemas.microsoft.com/office/drawing/2014/main" id="{62D671C1-0AF6-554F-B742-09C9D0348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495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IN</a:t>
            </a:r>
          </a:p>
        </p:txBody>
      </p:sp>
      <p:sp>
        <p:nvSpPr>
          <p:cNvPr id="70663" name="Rectangle 8">
            <a:extLst>
              <a:ext uri="{FF2B5EF4-FFF2-40B4-BE49-F238E27FC236}">
                <a16:creationId xmlns:a16="http://schemas.microsoft.com/office/drawing/2014/main" id="{84D12FF5-721A-E741-AF15-DDF164EE5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495800"/>
            <a:ext cx="7620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 u="sng">
                <a:latin typeface="Arial" panose="020B0604020202020204" pitchFamily="34" charset="0"/>
              </a:rPr>
              <a:t>sid</a:t>
            </a:r>
          </a:p>
        </p:txBody>
      </p:sp>
      <p:sp>
        <p:nvSpPr>
          <p:cNvPr id="70664" name="Rectangle 9">
            <a:extLst>
              <a:ext uri="{FF2B5EF4-FFF2-40B4-BE49-F238E27FC236}">
                <a16:creationId xmlns:a16="http://schemas.microsoft.com/office/drawing/2014/main" id="{A9CD1D0C-03A3-C14F-BD19-B1E0686D2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495800"/>
            <a:ext cx="12192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dname</a:t>
            </a:r>
          </a:p>
        </p:txBody>
      </p:sp>
      <p:sp>
        <p:nvSpPr>
          <p:cNvPr id="70665" name="Text Box 10">
            <a:extLst>
              <a:ext uri="{FF2B5EF4-FFF2-40B4-BE49-F238E27FC236}">
                <a16:creationId xmlns:a16="http://schemas.microsoft.com/office/drawing/2014/main" id="{CF0010AF-3126-9245-BF39-AB2C32B87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6800" y="4495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IH</a:t>
            </a:r>
          </a:p>
        </p:txBody>
      </p:sp>
      <p:sp>
        <p:nvSpPr>
          <p:cNvPr id="70666" name="Rectangle 11">
            <a:extLst>
              <a:ext uri="{FF2B5EF4-FFF2-40B4-BE49-F238E27FC236}">
                <a16:creationId xmlns:a16="http://schemas.microsoft.com/office/drawing/2014/main" id="{36DE1DD8-7DEF-814F-A42A-57053CA7C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495800"/>
            <a:ext cx="7620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 u="sng">
                <a:latin typeface="Arial" panose="020B0604020202020204" pitchFamily="34" charset="0"/>
              </a:rPr>
              <a:t>sid</a:t>
            </a:r>
          </a:p>
        </p:txBody>
      </p:sp>
      <p:sp>
        <p:nvSpPr>
          <p:cNvPr id="70667" name="Rectangle 12">
            <a:extLst>
              <a:ext uri="{FF2B5EF4-FFF2-40B4-BE49-F238E27FC236}">
                <a16:creationId xmlns:a16="http://schemas.microsoft.com/office/drawing/2014/main" id="{C7EBC36D-E0FB-914E-BCAF-C4DD834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4495800"/>
            <a:ext cx="12192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dhead</a:t>
            </a:r>
          </a:p>
        </p:txBody>
      </p:sp>
      <p:sp>
        <p:nvSpPr>
          <p:cNvPr id="70668" name="Rectangle 13">
            <a:extLst>
              <a:ext uri="{FF2B5EF4-FFF2-40B4-BE49-F238E27FC236}">
                <a16:creationId xmlns:a16="http://schemas.microsoft.com/office/drawing/2014/main" id="{62398CFB-FA94-DD43-8999-61D035D44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" y="685800"/>
            <a:ext cx="7672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400" dirty="0">
                <a:latin typeface="Arial" panose="020B0604020202020204" pitchFamily="34" charset="0"/>
                <a:sym typeface="Symbol" pitchFamily="2" charset="2"/>
              </a:rPr>
              <a:t>Dependency set: F = { </a:t>
            </a:r>
            <a:r>
              <a:rPr kumimoji="0" lang="en-US" altLang="zh-TW" sz="2400" dirty="0" err="1">
                <a:latin typeface="Arial" panose="020B0604020202020204" pitchFamily="34" charset="0"/>
                <a:sym typeface="Symbol" pitchFamily="2" charset="2"/>
              </a:rPr>
              <a:t>sid</a:t>
            </a:r>
            <a:r>
              <a:rPr kumimoji="0" lang="en-US" altLang="zh-TW" sz="2400" dirty="0"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400" dirty="0" err="1">
                <a:latin typeface="Arial" panose="020B0604020202020204" pitchFamily="34" charset="0"/>
                <a:sym typeface="Symbol" pitchFamily="2" charset="2"/>
              </a:rPr>
              <a:t>dname</a:t>
            </a:r>
            <a:r>
              <a:rPr kumimoji="0" lang="en-US" altLang="zh-TW" sz="2400" dirty="0">
                <a:latin typeface="Arial" panose="020B0604020202020204" pitchFamily="34" charset="0"/>
                <a:sym typeface="Symbol" pitchFamily="2" charset="2"/>
              </a:rPr>
              <a:t>, </a:t>
            </a:r>
            <a:r>
              <a:rPr kumimoji="0" lang="en-US" altLang="zh-TW" sz="2400" dirty="0" err="1">
                <a:latin typeface="Arial" panose="020B0604020202020204" pitchFamily="34" charset="0"/>
                <a:sym typeface="Symbol" pitchFamily="2" charset="2"/>
              </a:rPr>
              <a:t>dname</a:t>
            </a:r>
            <a:r>
              <a:rPr kumimoji="0" lang="en-US" altLang="zh-TW" sz="2400" dirty="0"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400" dirty="0" err="1">
                <a:latin typeface="Arial" panose="020B0604020202020204" pitchFamily="34" charset="0"/>
                <a:sym typeface="Symbol" pitchFamily="2" charset="2"/>
              </a:rPr>
              <a:t>dhead</a:t>
            </a:r>
            <a:r>
              <a:rPr kumimoji="0" lang="en-US" altLang="zh-TW" sz="2400" dirty="0">
                <a:latin typeface="Arial" panose="020B0604020202020204" pitchFamily="34" charset="0"/>
                <a:sym typeface="Symbol" pitchFamily="2" charset="2"/>
              </a:rPr>
              <a:t> }</a:t>
            </a:r>
          </a:p>
        </p:txBody>
      </p:sp>
      <p:sp>
        <p:nvSpPr>
          <p:cNvPr id="70669" name="Line 14">
            <a:extLst>
              <a:ext uri="{FF2B5EF4-FFF2-40B4-BE49-F238E27FC236}">
                <a16:creationId xmlns:a16="http://schemas.microsoft.com/office/drawing/2014/main" id="{C1EA7E10-4532-7D47-B4FA-28C6C87F1B1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2743200"/>
            <a:ext cx="19812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0670" name="Line 15">
            <a:extLst>
              <a:ext uri="{FF2B5EF4-FFF2-40B4-BE49-F238E27FC236}">
                <a16:creationId xmlns:a16="http://schemas.microsoft.com/office/drawing/2014/main" id="{1BD3ED40-D6C3-6043-808A-81DCB004650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05400" y="2819400"/>
            <a:ext cx="13716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Slide Number Placeholder 3">
            <a:extLst>
              <a:ext uri="{FF2B5EF4-FFF2-40B4-BE49-F238E27FC236}">
                <a16:creationId xmlns:a16="http://schemas.microsoft.com/office/drawing/2014/main" id="{0F76D788-4670-C940-A3C4-83687412E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0CBD51A-8EAC-B847-8C66-CE57887928FE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zh-TW" sz="1400"/>
          </a:p>
        </p:txBody>
      </p:sp>
      <p:sp>
        <p:nvSpPr>
          <p:cNvPr id="71682" name="Text Box 2">
            <a:extLst>
              <a:ext uri="{FF2B5EF4-FFF2-40B4-BE49-F238E27FC236}">
                <a16:creationId xmlns:a16="http://schemas.microsoft.com/office/drawing/2014/main" id="{38B0DF87-BCD1-5D4F-8063-C5C8953739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1066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IN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CD1098D1-A541-A84F-A43C-3B473D673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066800"/>
            <a:ext cx="7620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 u="sng">
                <a:latin typeface="Arial" panose="020B0604020202020204" pitchFamily="34" charset="0"/>
              </a:rPr>
              <a:t>sid</a:t>
            </a:r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E5C82580-08F4-1241-A467-86563A79B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1066800"/>
            <a:ext cx="12192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dname</a:t>
            </a:r>
          </a:p>
        </p:txBody>
      </p:sp>
      <p:sp>
        <p:nvSpPr>
          <p:cNvPr id="71685" name="Text Box 5">
            <a:extLst>
              <a:ext uri="{FF2B5EF4-FFF2-40B4-BE49-F238E27FC236}">
                <a16:creationId xmlns:a16="http://schemas.microsoft.com/office/drawing/2014/main" id="{DE49C9C1-43DA-0B43-9F7E-9FCC256AE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1066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IH</a:t>
            </a:r>
          </a:p>
        </p:txBody>
      </p:sp>
      <p:sp>
        <p:nvSpPr>
          <p:cNvPr id="71686" name="Rectangle 6">
            <a:extLst>
              <a:ext uri="{FF2B5EF4-FFF2-40B4-BE49-F238E27FC236}">
                <a16:creationId xmlns:a16="http://schemas.microsoft.com/office/drawing/2014/main" id="{1044129B-58C2-0E4E-B1A2-0692302F62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066800"/>
            <a:ext cx="7620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 u="sng">
                <a:latin typeface="Arial" panose="020B0604020202020204" pitchFamily="34" charset="0"/>
              </a:rPr>
              <a:t>sid</a:t>
            </a:r>
          </a:p>
        </p:txBody>
      </p:sp>
      <p:sp>
        <p:nvSpPr>
          <p:cNvPr id="71687" name="Rectangle 7">
            <a:extLst>
              <a:ext uri="{FF2B5EF4-FFF2-40B4-BE49-F238E27FC236}">
                <a16:creationId xmlns:a16="http://schemas.microsoft.com/office/drawing/2014/main" id="{C4107735-2698-3E49-8EEC-FE252BF8B5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4600" y="1066800"/>
            <a:ext cx="12192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dhead</a:t>
            </a:r>
          </a:p>
        </p:txBody>
      </p:sp>
      <p:sp>
        <p:nvSpPr>
          <p:cNvPr id="71688" name="Rectangle 8">
            <a:extLst>
              <a:ext uri="{FF2B5EF4-FFF2-40B4-BE49-F238E27FC236}">
                <a16:creationId xmlns:a16="http://schemas.microsoft.com/office/drawing/2014/main" id="{2B3D4560-812E-A243-9CBD-EF5CB8522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6800" y="1981200"/>
            <a:ext cx="74676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80000"/>
              </a:lnSpc>
              <a:buFontTx/>
              <a:buNone/>
            </a:pPr>
            <a:r>
              <a:rPr kumimoji="0" lang="en-US" altLang="zh-TW" sz="2400" dirty="0">
                <a:latin typeface="Arial" panose="020B0604020202020204" pitchFamily="34" charset="0"/>
                <a:sym typeface="Symbol" pitchFamily="2" charset="2"/>
              </a:rPr>
              <a:t>F = { </a:t>
            </a:r>
            <a:r>
              <a:rPr kumimoji="0" lang="en-US" altLang="zh-TW" sz="2400" dirty="0" err="1">
                <a:latin typeface="Arial" panose="020B0604020202020204" pitchFamily="34" charset="0"/>
                <a:sym typeface="Symbol" pitchFamily="2" charset="2"/>
              </a:rPr>
              <a:t>sid</a:t>
            </a:r>
            <a:r>
              <a:rPr kumimoji="0" lang="en-US" altLang="zh-TW" sz="2400" dirty="0"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400" dirty="0" err="1">
                <a:latin typeface="Arial" panose="020B0604020202020204" pitchFamily="34" charset="0"/>
                <a:sym typeface="Symbol" pitchFamily="2" charset="2"/>
              </a:rPr>
              <a:t>dname</a:t>
            </a:r>
            <a:r>
              <a:rPr kumimoji="0" lang="en-US" altLang="zh-TW" sz="2400" dirty="0">
                <a:latin typeface="Arial" panose="020B0604020202020204" pitchFamily="34" charset="0"/>
                <a:sym typeface="Symbol" pitchFamily="2" charset="2"/>
              </a:rPr>
              <a:t>, </a:t>
            </a:r>
            <a:r>
              <a:rPr kumimoji="0" lang="en-US" altLang="zh-TW" sz="2400" dirty="0" err="1">
                <a:latin typeface="Arial" panose="020B0604020202020204" pitchFamily="34" charset="0"/>
                <a:sym typeface="Symbol" pitchFamily="2" charset="2"/>
              </a:rPr>
              <a:t>dname</a:t>
            </a:r>
            <a:r>
              <a:rPr kumimoji="0" lang="en-US" altLang="zh-TW" sz="2400" dirty="0"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400" dirty="0" err="1">
                <a:latin typeface="Arial" panose="020B0604020202020204" pitchFamily="34" charset="0"/>
                <a:sym typeface="Symbol" pitchFamily="2" charset="2"/>
              </a:rPr>
              <a:t>dhead</a:t>
            </a:r>
            <a:r>
              <a:rPr kumimoji="0" lang="en-US" altLang="zh-TW" sz="2400" dirty="0">
                <a:latin typeface="Arial" panose="020B0604020202020204" pitchFamily="34" charset="0"/>
                <a:sym typeface="Symbol" pitchFamily="2" charset="2"/>
              </a:rPr>
              <a:t> }</a:t>
            </a:r>
            <a:endParaRPr lang="en-US" altLang="zh-TW" sz="2400" dirty="0">
              <a:sym typeface="Symbol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TW" sz="2400" dirty="0">
              <a:sym typeface="Symbol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 dirty="0">
                <a:sym typeface="Symbol" pitchFamily="2" charset="2"/>
              </a:rPr>
              <a:t>This decomposition does not preserve dependency: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TW" sz="800" dirty="0">
              <a:sym typeface="Symbol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 i="1" dirty="0">
                <a:sym typeface="Symbol" pitchFamily="2" charset="2"/>
              </a:rPr>
              <a:t>    F</a:t>
            </a:r>
            <a:r>
              <a:rPr lang="en-US" altLang="zh-TW" sz="2400" i="1" baseline="-25000" dirty="0">
                <a:sym typeface="Symbol" pitchFamily="2" charset="2"/>
              </a:rPr>
              <a:t>IN</a:t>
            </a:r>
            <a:r>
              <a:rPr lang="en-US" altLang="zh-TW" sz="2400" dirty="0">
                <a:sym typeface="Symbol" pitchFamily="2" charset="2"/>
              </a:rPr>
              <a:t>	=  {   trivial dependencies,   </a:t>
            </a:r>
            <a:r>
              <a:rPr lang="en-US" altLang="zh-TW" sz="2400" dirty="0" err="1">
                <a:sym typeface="Symbol" pitchFamily="2" charset="2"/>
              </a:rPr>
              <a:t>sid</a:t>
            </a:r>
            <a:r>
              <a:rPr lang="en-US" altLang="zh-TW" sz="2400" dirty="0">
                <a:sym typeface="Symbol" pitchFamily="2" charset="2"/>
              </a:rPr>
              <a:t>  </a:t>
            </a:r>
            <a:r>
              <a:rPr lang="en-US" altLang="zh-TW" sz="2400" dirty="0" err="1">
                <a:sym typeface="Symbol" pitchFamily="2" charset="2"/>
              </a:rPr>
              <a:t>dname</a:t>
            </a:r>
            <a:r>
              <a:rPr lang="en-US" altLang="zh-TW" sz="2400" dirty="0">
                <a:sym typeface="Symbol" pitchFamily="2" charset="2"/>
              </a:rPr>
              <a:t>,     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 dirty="0">
                <a:sym typeface="Symbol" pitchFamily="2" charset="2"/>
              </a:rPr>
              <a:t>                                                         </a:t>
            </a:r>
            <a:r>
              <a:rPr lang="en-US" altLang="zh-TW" sz="2400" dirty="0" err="1">
                <a:sym typeface="Symbol" pitchFamily="2" charset="2"/>
              </a:rPr>
              <a:t>sid</a:t>
            </a:r>
            <a:r>
              <a:rPr lang="en-US" altLang="zh-TW" sz="2400" dirty="0">
                <a:sym typeface="Symbol" pitchFamily="2" charset="2"/>
              </a:rPr>
              <a:t>  </a:t>
            </a:r>
            <a:r>
              <a:rPr lang="en-US" altLang="zh-TW" sz="2400" dirty="0" err="1">
                <a:sym typeface="Symbol" pitchFamily="2" charset="2"/>
              </a:rPr>
              <a:t>sid</a:t>
            </a:r>
            <a:r>
              <a:rPr lang="en-US" altLang="zh-TW" sz="2400" dirty="0">
                <a:sym typeface="Symbol" pitchFamily="2" charset="2"/>
              </a:rPr>
              <a:t> </a:t>
            </a:r>
            <a:r>
              <a:rPr lang="en-US" altLang="zh-TW" sz="2400" dirty="0" err="1">
                <a:sym typeface="Symbol" pitchFamily="2" charset="2"/>
              </a:rPr>
              <a:t>dname</a:t>
            </a:r>
            <a:r>
              <a:rPr lang="en-US" altLang="zh-TW" sz="2400" dirty="0">
                <a:sym typeface="Symbol" pitchFamily="2" charset="2"/>
              </a:rPr>
              <a:t>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TW" sz="800" dirty="0">
              <a:sym typeface="Symbol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 i="1" dirty="0">
                <a:sym typeface="Symbol" pitchFamily="2" charset="2"/>
              </a:rPr>
              <a:t>    F</a:t>
            </a:r>
            <a:r>
              <a:rPr lang="en-US" altLang="zh-TW" sz="2400" i="1" baseline="-25000" dirty="0">
                <a:sym typeface="Symbol" pitchFamily="2" charset="2"/>
              </a:rPr>
              <a:t>IH</a:t>
            </a:r>
            <a:r>
              <a:rPr lang="en-US" altLang="zh-TW" sz="2400" dirty="0">
                <a:sym typeface="Symbol" pitchFamily="2" charset="2"/>
              </a:rPr>
              <a:t>	=  {	trivial dependencies,   </a:t>
            </a:r>
            <a:r>
              <a:rPr lang="en-US" altLang="zh-TW" sz="2400" dirty="0" err="1">
                <a:sym typeface="Symbol" pitchFamily="2" charset="2"/>
              </a:rPr>
              <a:t>sid</a:t>
            </a:r>
            <a:r>
              <a:rPr lang="en-US" altLang="zh-TW" sz="2400" dirty="0">
                <a:sym typeface="Symbol" pitchFamily="2" charset="2"/>
              </a:rPr>
              <a:t>  </a:t>
            </a:r>
            <a:r>
              <a:rPr lang="en-US" altLang="zh-TW" sz="2400" dirty="0" err="1">
                <a:sym typeface="Symbol" pitchFamily="2" charset="2"/>
              </a:rPr>
              <a:t>dhead</a:t>
            </a:r>
            <a:r>
              <a:rPr lang="en-US" altLang="zh-TW" sz="2400" dirty="0">
                <a:sym typeface="Symbol" pitchFamily="2" charset="2"/>
              </a:rPr>
              <a:t>,  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 dirty="0">
                <a:sym typeface="Symbol" pitchFamily="2" charset="2"/>
              </a:rPr>
              <a:t>                                                            </a:t>
            </a:r>
            <a:r>
              <a:rPr lang="en-US" altLang="zh-TW" sz="2400" dirty="0" err="1">
                <a:sym typeface="Symbol" pitchFamily="2" charset="2"/>
              </a:rPr>
              <a:t>sid</a:t>
            </a:r>
            <a:r>
              <a:rPr lang="en-US" altLang="zh-TW" sz="2400" dirty="0">
                <a:sym typeface="Symbol" pitchFamily="2" charset="2"/>
              </a:rPr>
              <a:t>  </a:t>
            </a:r>
            <a:r>
              <a:rPr lang="en-US" altLang="zh-TW" sz="2400" dirty="0" err="1">
                <a:sym typeface="Symbol" pitchFamily="2" charset="2"/>
              </a:rPr>
              <a:t>sid</a:t>
            </a:r>
            <a:r>
              <a:rPr lang="en-US" altLang="zh-TW" sz="2400" dirty="0">
                <a:sym typeface="Symbol" pitchFamily="2" charset="2"/>
              </a:rPr>
              <a:t> </a:t>
            </a:r>
            <a:r>
              <a:rPr lang="en-US" altLang="zh-TW" sz="2400" dirty="0" err="1">
                <a:sym typeface="Symbol" pitchFamily="2" charset="2"/>
              </a:rPr>
              <a:t>dhead</a:t>
            </a:r>
            <a:r>
              <a:rPr lang="en-US" altLang="zh-TW" sz="2400" dirty="0">
                <a:sym typeface="Symbol" pitchFamily="2" charset="2"/>
              </a:rPr>
              <a:t> }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zh-TW" sz="800" dirty="0">
              <a:sym typeface="Symbol" pitchFamily="2" charset="2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 dirty="0">
                <a:sym typeface="Symbol" pitchFamily="2" charset="2"/>
              </a:rPr>
              <a:t>We have: 	</a:t>
            </a:r>
            <a:r>
              <a:rPr lang="en-US" altLang="zh-TW" sz="2400" dirty="0" err="1">
                <a:sym typeface="Symbol" pitchFamily="2" charset="2"/>
              </a:rPr>
              <a:t>dname</a:t>
            </a:r>
            <a:r>
              <a:rPr lang="en-US" altLang="zh-TW" sz="2400" dirty="0">
                <a:sym typeface="Symbol" pitchFamily="2" charset="2"/>
              </a:rPr>
              <a:t>  </a:t>
            </a:r>
            <a:r>
              <a:rPr lang="en-US" altLang="zh-TW" sz="2400" dirty="0" err="1">
                <a:sym typeface="Symbol" pitchFamily="2" charset="2"/>
              </a:rPr>
              <a:t>dhead</a:t>
            </a:r>
            <a:r>
              <a:rPr lang="en-US" altLang="zh-TW" sz="2400" dirty="0">
                <a:sym typeface="Symbol" pitchFamily="2" charset="2"/>
              </a:rPr>
              <a:t> </a:t>
            </a:r>
            <a:r>
              <a:rPr lang="en-US" altLang="zh-TW" sz="3100" dirty="0">
                <a:sym typeface="Symbol" pitchFamily="2" charset="2"/>
              </a:rPr>
              <a:t></a:t>
            </a:r>
            <a:r>
              <a:rPr lang="en-US" altLang="zh-TW" sz="2400" dirty="0">
                <a:sym typeface="Symbol" pitchFamily="2" charset="2"/>
              </a:rPr>
              <a:t> </a:t>
            </a:r>
            <a:r>
              <a:rPr lang="en-US" altLang="zh-TW" sz="2400" i="1" dirty="0">
                <a:sym typeface="Symbol" pitchFamily="2" charset="2"/>
              </a:rPr>
              <a:t>F </a:t>
            </a:r>
            <a:r>
              <a:rPr lang="en-US" altLang="zh-TW" sz="3100" baseline="40000" dirty="0">
                <a:sym typeface="Symbol" pitchFamily="2" charset="2"/>
              </a:rPr>
              <a:t>+</a:t>
            </a:r>
            <a:r>
              <a:rPr lang="en-US" altLang="zh-TW" sz="2400" dirty="0">
                <a:sym typeface="Symbol" pitchFamily="2" charset="2"/>
              </a:rPr>
              <a:t> </a:t>
            </a:r>
            <a:r>
              <a:rPr lang="en-US" altLang="zh-TW" sz="2400" b="1" dirty="0">
                <a:sym typeface="Symbol" pitchFamily="2" charset="2"/>
              </a:rPr>
              <a:t>but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zh-TW" sz="2400" dirty="0">
                <a:sym typeface="Symbol" pitchFamily="2" charset="2"/>
              </a:rPr>
              <a:t>			</a:t>
            </a:r>
            <a:r>
              <a:rPr lang="en-US" altLang="zh-TW" sz="2400" dirty="0" err="1">
                <a:sym typeface="Symbol" pitchFamily="2" charset="2"/>
              </a:rPr>
              <a:t>dname</a:t>
            </a:r>
            <a:r>
              <a:rPr lang="en-US" altLang="zh-TW" sz="2400" dirty="0">
                <a:sym typeface="Symbol" pitchFamily="2" charset="2"/>
              </a:rPr>
              <a:t>  </a:t>
            </a:r>
            <a:r>
              <a:rPr lang="en-US" altLang="zh-TW" sz="2400" dirty="0" err="1">
                <a:sym typeface="Symbol" pitchFamily="2" charset="2"/>
              </a:rPr>
              <a:t>dhead</a:t>
            </a:r>
            <a:r>
              <a:rPr lang="en-US" altLang="zh-TW" sz="2400" dirty="0">
                <a:sym typeface="Symbol" pitchFamily="2" charset="2"/>
              </a:rPr>
              <a:t> </a:t>
            </a:r>
            <a:r>
              <a:rPr lang="en-US" altLang="zh-TW" sz="3100" dirty="0">
                <a:sym typeface="Symbol" pitchFamily="2" charset="2"/>
              </a:rPr>
              <a:t></a:t>
            </a:r>
            <a:r>
              <a:rPr lang="en-US" altLang="zh-TW" sz="2400" dirty="0">
                <a:sym typeface="Symbol" pitchFamily="2" charset="2"/>
              </a:rPr>
              <a:t> ( </a:t>
            </a:r>
            <a:r>
              <a:rPr lang="en-US" altLang="zh-TW" sz="2400" i="1" dirty="0">
                <a:sym typeface="Symbol" pitchFamily="2" charset="2"/>
              </a:rPr>
              <a:t>F</a:t>
            </a:r>
            <a:r>
              <a:rPr lang="en-US" altLang="zh-TW" sz="2400" i="1" baseline="-25000" dirty="0">
                <a:sym typeface="Symbol" pitchFamily="2" charset="2"/>
              </a:rPr>
              <a:t>IN</a:t>
            </a:r>
            <a:r>
              <a:rPr lang="en-US" altLang="zh-TW" sz="2400" dirty="0">
                <a:sym typeface="Symbol" pitchFamily="2" charset="2"/>
              </a:rPr>
              <a:t> U </a:t>
            </a:r>
            <a:r>
              <a:rPr lang="en-US" altLang="zh-TW" sz="2400" i="1" dirty="0">
                <a:sym typeface="Symbol" pitchFamily="2" charset="2"/>
              </a:rPr>
              <a:t>F</a:t>
            </a:r>
            <a:r>
              <a:rPr lang="en-US" altLang="zh-TW" sz="2400" i="1" baseline="-25000" dirty="0">
                <a:sym typeface="Symbol" pitchFamily="2" charset="2"/>
              </a:rPr>
              <a:t>IH </a:t>
            </a:r>
            <a:r>
              <a:rPr lang="en-US" altLang="zh-TW" sz="2400" dirty="0">
                <a:sym typeface="Symbol" pitchFamily="2" charset="2"/>
              </a:rPr>
              <a:t>)</a:t>
            </a:r>
            <a:r>
              <a:rPr lang="en-US" altLang="zh-TW" sz="3100" baseline="40000" dirty="0">
                <a:sym typeface="Symbol" pitchFamily="2" charset="2"/>
              </a:rPr>
              <a:t>+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Number Placeholder 3">
            <a:extLst>
              <a:ext uri="{FF2B5EF4-FFF2-40B4-BE49-F238E27FC236}">
                <a16:creationId xmlns:a16="http://schemas.microsoft.com/office/drawing/2014/main" id="{3F2EE3F4-1C67-0543-BE08-9C89239BF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80E27F0-CCC1-B64B-9EEB-30DAF6B66343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zh-TW" sz="1400"/>
          </a:p>
        </p:txBody>
      </p:sp>
      <p:graphicFrame>
        <p:nvGraphicFramePr>
          <p:cNvPr id="72706" name="Object 2">
            <a:extLst>
              <a:ext uri="{FF2B5EF4-FFF2-40B4-BE49-F238E27FC236}">
                <a16:creationId xmlns:a16="http://schemas.microsoft.com/office/drawing/2014/main" id="{428559C6-DC7A-334B-BD46-804C3C8203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14600" y="762000"/>
          <a:ext cx="3730625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828800" imgH="546100" progId="Excel.Sheet.8">
                  <p:embed/>
                </p:oleObj>
              </mc:Choice>
              <mc:Fallback>
                <p:oleObj name="Worksheet" r:id="rId2" imgW="1828800" imgH="546100" progId="Excel.Sheet.8">
                  <p:embed/>
                  <p:pic>
                    <p:nvPicPr>
                      <p:cNvPr id="72706" name="Object 2">
                        <a:extLst>
                          <a:ext uri="{FF2B5EF4-FFF2-40B4-BE49-F238E27FC236}">
                            <a16:creationId xmlns:a16="http://schemas.microsoft.com/office/drawing/2014/main" id="{428559C6-DC7A-334B-BD46-804C3C82039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385" b="-1324"/>
                      <a:stretch>
                        <a:fillRect/>
                      </a:stretch>
                    </p:blipFill>
                    <p:spPr bwMode="auto">
                      <a:xfrm>
                        <a:off x="2514600" y="762000"/>
                        <a:ext cx="3730625" cy="1120775"/>
                      </a:xfrm>
                      <a:prstGeom prst="rect">
                        <a:avLst/>
                      </a:prstGeom>
                      <a:solidFill>
                        <a:srgbClr val="CCFFFF">
                          <a:alpha val="50195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07" name="Object 3">
            <a:extLst>
              <a:ext uri="{FF2B5EF4-FFF2-40B4-BE49-F238E27FC236}">
                <a16:creationId xmlns:a16="http://schemas.microsoft.com/office/drawing/2014/main" id="{305130ED-2289-634E-8D2D-06EB7C3F32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19200" y="2438400"/>
          <a:ext cx="1981200" cy="1106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977900" imgH="546100" progId="Excel.Sheet.8">
                  <p:embed/>
                </p:oleObj>
              </mc:Choice>
              <mc:Fallback>
                <p:oleObj name="Worksheet" r:id="rId4" imgW="977900" imgH="546100" progId="Excel.Sheet.8">
                  <p:embed/>
                  <p:pic>
                    <p:nvPicPr>
                      <p:cNvPr id="72707" name="Object 3">
                        <a:extLst>
                          <a:ext uri="{FF2B5EF4-FFF2-40B4-BE49-F238E27FC236}">
                            <a16:creationId xmlns:a16="http://schemas.microsoft.com/office/drawing/2014/main" id="{305130ED-2289-634E-8D2D-06EB7C3F32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482" b="-1324"/>
                      <a:stretch>
                        <a:fillRect/>
                      </a:stretch>
                    </p:blipFill>
                    <p:spPr bwMode="auto">
                      <a:xfrm>
                        <a:off x="1219200" y="2438400"/>
                        <a:ext cx="1981200" cy="1106488"/>
                      </a:xfrm>
                      <a:prstGeom prst="rect">
                        <a:avLst/>
                      </a:prstGeom>
                      <a:solidFill>
                        <a:srgbClr val="FFFF99">
                          <a:alpha val="50195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08" name="Text Box 4">
            <a:extLst>
              <a:ext uri="{FF2B5EF4-FFF2-40B4-BE49-F238E27FC236}">
                <a16:creationId xmlns:a16="http://schemas.microsoft.com/office/drawing/2014/main" id="{66D4B50B-07B1-E94A-8AC4-DB3C079050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2590800"/>
            <a:ext cx="4635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IN</a:t>
            </a:r>
          </a:p>
        </p:txBody>
      </p:sp>
      <p:graphicFrame>
        <p:nvGraphicFramePr>
          <p:cNvPr id="72709" name="Object 5">
            <a:extLst>
              <a:ext uri="{FF2B5EF4-FFF2-40B4-BE49-F238E27FC236}">
                <a16:creationId xmlns:a16="http://schemas.microsoft.com/office/drawing/2014/main" id="{D5B62DF0-2547-9946-8F9D-C02E2A186A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2438400"/>
          <a:ext cx="251460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939800" imgH="495300" progId="Excel.Sheet.8">
                  <p:embed/>
                </p:oleObj>
              </mc:Choice>
              <mc:Fallback>
                <p:oleObj name="Worksheet" r:id="rId6" imgW="939800" imgH="495300" progId="Excel.Sheet.8">
                  <p:embed/>
                  <p:pic>
                    <p:nvPicPr>
                      <p:cNvPr id="72709" name="Object 5">
                        <a:extLst>
                          <a:ext uri="{FF2B5EF4-FFF2-40B4-BE49-F238E27FC236}">
                            <a16:creationId xmlns:a16="http://schemas.microsoft.com/office/drawing/2014/main" id="{D5B62DF0-2547-9946-8F9D-C02E2A186A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453" b="-1324"/>
                      <a:stretch>
                        <a:fillRect/>
                      </a:stretch>
                    </p:blipFill>
                    <p:spPr bwMode="auto">
                      <a:xfrm>
                        <a:off x="4953000" y="2438400"/>
                        <a:ext cx="2514600" cy="1101725"/>
                      </a:xfrm>
                      <a:prstGeom prst="rect">
                        <a:avLst/>
                      </a:prstGeom>
                      <a:solidFill>
                        <a:srgbClr val="FFFF99">
                          <a:alpha val="50195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0" name="Text Box 6">
            <a:extLst>
              <a:ext uri="{FF2B5EF4-FFF2-40B4-BE49-F238E27FC236}">
                <a16:creationId xmlns:a16="http://schemas.microsoft.com/office/drawing/2014/main" id="{48C25C49-79B1-2948-9FED-2EBB50DE2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0" y="2514600"/>
            <a:ext cx="463550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IH</a:t>
            </a:r>
          </a:p>
        </p:txBody>
      </p:sp>
      <p:sp>
        <p:nvSpPr>
          <p:cNvPr id="72711" name="Text Box 7">
            <a:extLst>
              <a:ext uri="{FF2B5EF4-FFF2-40B4-BE49-F238E27FC236}">
                <a16:creationId xmlns:a16="http://schemas.microsoft.com/office/drawing/2014/main" id="{611C2F93-AFB2-8845-B2EC-22C292B664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2895600"/>
            <a:ext cx="6508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and</a:t>
            </a:r>
          </a:p>
        </p:txBody>
      </p:sp>
      <p:sp>
        <p:nvSpPr>
          <p:cNvPr id="72712" name="Text Box 8">
            <a:extLst>
              <a:ext uri="{FF2B5EF4-FFF2-40B4-BE49-F238E27FC236}">
                <a16:creationId xmlns:a16="http://schemas.microsoft.com/office/drawing/2014/main" id="{1067396C-33F8-8B44-9BE3-CBF1477BF3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914400"/>
            <a:ext cx="11477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Student</a:t>
            </a:r>
          </a:p>
        </p:txBody>
      </p:sp>
      <p:graphicFrame>
        <p:nvGraphicFramePr>
          <p:cNvPr id="72713" name="Object 16">
            <a:extLst>
              <a:ext uri="{FF2B5EF4-FFF2-40B4-BE49-F238E27FC236}">
                <a16:creationId xmlns:a16="http://schemas.microsoft.com/office/drawing/2014/main" id="{E3E5EC19-6ED0-3542-A27E-B5F049D1B4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4384675"/>
          <a:ext cx="2514600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1244600" imgH="546100" progId="Excel.Sheet.8">
                  <p:embed/>
                </p:oleObj>
              </mc:Choice>
              <mc:Fallback>
                <p:oleObj name="Worksheet" r:id="rId8" imgW="1244600" imgH="546100" progId="Excel.Sheet.8">
                  <p:embed/>
                  <p:pic>
                    <p:nvPicPr>
                      <p:cNvPr id="72713" name="Object 16">
                        <a:extLst>
                          <a:ext uri="{FF2B5EF4-FFF2-40B4-BE49-F238E27FC236}">
                            <a16:creationId xmlns:a16="http://schemas.microsoft.com/office/drawing/2014/main" id="{E3E5EC19-6ED0-3542-A27E-B5F049D1B4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453" b="-1324"/>
                      <a:stretch>
                        <a:fillRect/>
                      </a:stretch>
                    </p:blipFill>
                    <p:spPr bwMode="auto">
                      <a:xfrm>
                        <a:off x="4953000" y="4384675"/>
                        <a:ext cx="2514600" cy="1101725"/>
                      </a:xfrm>
                      <a:prstGeom prst="rect">
                        <a:avLst/>
                      </a:prstGeom>
                      <a:solidFill>
                        <a:srgbClr val="FFFF99">
                          <a:alpha val="50195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4" name="Line 17">
            <a:extLst>
              <a:ext uri="{FF2B5EF4-FFF2-40B4-BE49-F238E27FC236}">
                <a16:creationId xmlns:a16="http://schemas.microsoft.com/office/drawing/2014/main" id="{617530E5-82A6-9649-A913-4170F7D1B914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3657600"/>
            <a:ext cx="0" cy="6096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15" name="Text Box 18">
            <a:extLst>
              <a:ext uri="{FF2B5EF4-FFF2-40B4-BE49-F238E27FC236}">
                <a16:creationId xmlns:a16="http://schemas.microsoft.com/office/drawing/2014/main" id="{24BD249D-A152-9844-A82A-2B422338B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25" y="3795713"/>
            <a:ext cx="1082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Updated to</a:t>
            </a:r>
          </a:p>
        </p:txBody>
      </p:sp>
      <p:sp>
        <p:nvSpPr>
          <p:cNvPr id="69651" name="Rectangle 19">
            <a:extLst>
              <a:ext uri="{FF2B5EF4-FFF2-40B4-BE49-F238E27FC236}">
                <a16:creationId xmlns:a16="http://schemas.microsoft.com/office/drawing/2014/main" id="{7AECA9DA-3C97-B44E-954D-7D5046B99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495800"/>
            <a:ext cx="42672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endParaRPr lang="en-US" altLang="zh-TW" sz="2000">
              <a:solidFill>
                <a:srgbClr val="FF0000"/>
              </a:solidFill>
              <a:sym typeface="Symbol" pitchFamily="2" charset="2"/>
            </a:endParaRPr>
          </a:p>
        </p:txBody>
      </p:sp>
      <p:sp>
        <p:nvSpPr>
          <p:cNvPr id="72717" name="Rectangle 21">
            <a:extLst>
              <a:ext uri="{FF2B5EF4-FFF2-40B4-BE49-F238E27FC236}">
                <a16:creationId xmlns:a16="http://schemas.microsoft.com/office/drawing/2014/main" id="{6DD8CC8F-2ECF-C547-9025-A005D4639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4343400"/>
            <a:ext cx="35814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000">
                <a:solidFill>
                  <a:srgbClr val="FF0000"/>
                </a:solidFill>
                <a:sym typeface="Symbol" pitchFamily="2" charset="2"/>
              </a:rPr>
              <a:t>The update violates the FD </a:t>
            </a:r>
            <a:r>
              <a:rPr lang="en-US" altLang="zh-TW" sz="2000">
                <a:solidFill>
                  <a:srgbClr val="FF0000"/>
                </a:solidFill>
                <a:latin typeface="Arial" panose="020B0604020202020204" pitchFamily="34" charset="0"/>
                <a:sym typeface="Symbol" pitchFamily="2" charset="2"/>
              </a:rPr>
              <a:t>‘</a:t>
            </a:r>
            <a:r>
              <a:rPr lang="en-US" altLang="zh-TW" sz="2000">
                <a:solidFill>
                  <a:srgbClr val="FF0000"/>
                </a:solidFill>
                <a:sym typeface="Symbol" pitchFamily="2" charset="2"/>
              </a:rPr>
              <a:t>dname  dhead</a:t>
            </a:r>
            <a:r>
              <a:rPr lang="en-US" altLang="zh-TW" sz="2000">
                <a:solidFill>
                  <a:srgbClr val="FF0000"/>
                </a:solidFill>
                <a:latin typeface="Arial" panose="020B0604020202020204" pitchFamily="34" charset="0"/>
                <a:sym typeface="Symbol" pitchFamily="2" charset="2"/>
              </a:rPr>
              <a:t>’</a:t>
            </a:r>
            <a:r>
              <a:rPr lang="en-US" altLang="zh-TW" sz="2000">
                <a:solidFill>
                  <a:srgbClr val="FF0000"/>
                </a:solidFill>
                <a:sym typeface="Symbol" pitchFamily="2" charset="2"/>
              </a:rPr>
              <a:t>.  However, it can only be caught when we join IN and IH.</a:t>
            </a:r>
          </a:p>
        </p:txBody>
      </p:sp>
      <p:sp>
        <p:nvSpPr>
          <p:cNvPr id="72718" name="Line 22">
            <a:extLst>
              <a:ext uri="{FF2B5EF4-FFF2-40B4-BE49-F238E27FC236}">
                <a16:creationId xmlns:a16="http://schemas.microsoft.com/office/drawing/2014/main" id="{1850EC46-ACE2-4544-BC45-8484A8A7F18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6000" y="1981200"/>
            <a:ext cx="19050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2719" name="Line 23">
            <a:extLst>
              <a:ext uri="{FF2B5EF4-FFF2-40B4-BE49-F238E27FC236}">
                <a16:creationId xmlns:a16="http://schemas.microsoft.com/office/drawing/2014/main" id="{2D0AD494-3019-D746-A64E-2A28696C24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419600" y="1981200"/>
            <a:ext cx="1676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51" grpId="0" build="p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Slide Number Placeholder 3">
            <a:extLst>
              <a:ext uri="{FF2B5EF4-FFF2-40B4-BE49-F238E27FC236}">
                <a16:creationId xmlns:a16="http://schemas.microsoft.com/office/drawing/2014/main" id="{D2A97066-265F-2D46-9A7F-6CBCCD310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D39496-AF60-2943-A688-1D0FBA772C17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zh-TW" sz="1400"/>
          </a:p>
        </p:txBody>
      </p:sp>
      <p:sp>
        <p:nvSpPr>
          <p:cNvPr id="73730" name="Text Box 2">
            <a:extLst>
              <a:ext uri="{FF2B5EF4-FFF2-40B4-BE49-F238E27FC236}">
                <a16:creationId xmlns:a16="http://schemas.microsoft.com/office/drawing/2014/main" id="{17E1F0C6-FDA1-8E49-B31B-7DE1330FB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22098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Student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592E45B4-AD8A-CC4F-8403-3654E68EF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2209800"/>
            <a:ext cx="7620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 u="sng">
                <a:latin typeface="Arial" panose="020B0604020202020204" pitchFamily="34" charset="0"/>
              </a:rPr>
              <a:t>sid</a:t>
            </a:r>
          </a:p>
        </p:txBody>
      </p:sp>
      <p:sp>
        <p:nvSpPr>
          <p:cNvPr id="73732" name="Rectangle 4">
            <a:extLst>
              <a:ext uri="{FF2B5EF4-FFF2-40B4-BE49-F238E27FC236}">
                <a16:creationId xmlns:a16="http://schemas.microsoft.com/office/drawing/2014/main" id="{5A2DEB4C-F2AC-B44A-ACA3-8E2A13EC7B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209800"/>
            <a:ext cx="12192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dname</a:t>
            </a:r>
          </a:p>
        </p:txBody>
      </p:sp>
      <p:sp>
        <p:nvSpPr>
          <p:cNvPr id="73733" name="Rectangle 5">
            <a:extLst>
              <a:ext uri="{FF2B5EF4-FFF2-40B4-BE49-F238E27FC236}">
                <a16:creationId xmlns:a16="http://schemas.microsoft.com/office/drawing/2014/main" id="{2D38910A-AB04-F044-8BDF-4DEE07B37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209800"/>
            <a:ext cx="12192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dhead</a:t>
            </a:r>
          </a:p>
        </p:txBody>
      </p:sp>
      <p:sp>
        <p:nvSpPr>
          <p:cNvPr id="73734" name="Text Box 6">
            <a:extLst>
              <a:ext uri="{FF2B5EF4-FFF2-40B4-BE49-F238E27FC236}">
                <a16:creationId xmlns:a16="http://schemas.microsoft.com/office/drawing/2014/main" id="{7C9A11FC-E976-0C40-81FF-CCC74D76D8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4958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IN</a:t>
            </a:r>
          </a:p>
        </p:txBody>
      </p:sp>
      <p:sp>
        <p:nvSpPr>
          <p:cNvPr id="73735" name="Rectangle 7">
            <a:extLst>
              <a:ext uri="{FF2B5EF4-FFF2-40B4-BE49-F238E27FC236}">
                <a16:creationId xmlns:a16="http://schemas.microsoft.com/office/drawing/2014/main" id="{959A5C6E-1AAD-4B40-AC53-EBC3D18C79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4495800"/>
            <a:ext cx="7620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 u="sng">
                <a:latin typeface="Arial" panose="020B0604020202020204" pitchFamily="34" charset="0"/>
              </a:rPr>
              <a:t>sid</a:t>
            </a:r>
          </a:p>
        </p:txBody>
      </p:sp>
      <p:sp>
        <p:nvSpPr>
          <p:cNvPr id="73736" name="Rectangle 8">
            <a:extLst>
              <a:ext uri="{FF2B5EF4-FFF2-40B4-BE49-F238E27FC236}">
                <a16:creationId xmlns:a16="http://schemas.microsoft.com/office/drawing/2014/main" id="{CB8C4DA5-C316-2746-838E-4DD3DB0598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4495800"/>
            <a:ext cx="1219200" cy="457200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dname</a:t>
            </a:r>
          </a:p>
        </p:txBody>
      </p:sp>
      <p:sp>
        <p:nvSpPr>
          <p:cNvPr id="73737" name="Rectangle 12">
            <a:extLst>
              <a:ext uri="{FF2B5EF4-FFF2-40B4-BE49-F238E27FC236}">
                <a16:creationId xmlns:a16="http://schemas.microsoft.com/office/drawing/2014/main" id="{FC22511F-9776-FA45-BEB0-A72E0360E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6600" y="685800"/>
            <a:ext cx="7672388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Dependency set: F = { sid  dname, dname  dhead }</a:t>
            </a:r>
          </a:p>
          <a:p>
            <a:pPr eaLnBrk="1" hangingPunct="1"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Let’s decompose the relation in another way.</a:t>
            </a:r>
          </a:p>
        </p:txBody>
      </p:sp>
      <p:sp>
        <p:nvSpPr>
          <p:cNvPr id="73738" name="Line 13">
            <a:extLst>
              <a:ext uri="{FF2B5EF4-FFF2-40B4-BE49-F238E27FC236}">
                <a16:creationId xmlns:a16="http://schemas.microsoft.com/office/drawing/2014/main" id="{9A754BBF-A10F-794A-A9EB-6B1AB436F5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48000" y="2743200"/>
            <a:ext cx="1981200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39" name="Line 14">
            <a:extLst>
              <a:ext uri="{FF2B5EF4-FFF2-40B4-BE49-F238E27FC236}">
                <a16:creationId xmlns:a16="http://schemas.microsoft.com/office/drawing/2014/main" id="{CF570B37-DE9B-6845-AAE4-2F690B59CF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819400"/>
            <a:ext cx="1447800" cy="1600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740" name="Text Box 15">
            <a:extLst>
              <a:ext uri="{FF2B5EF4-FFF2-40B4-BE49-F238E27FC236}">
                <a16:creationId xmlns:a16="http://schemas.microsoft.com/office/drawing/2014/main" id="{32E03F0D-F077-0F4E-A0D8-14FFF87739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44958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NH</a:t>
            </a:r>
          </a:p>
        </p:txBody>
      </p:sp>
      <p:sp>
        <p:nvSpPr>
          <p:cNvPr id="73741" name="Rectangle 16">
            <a:extLst>
              <a:ext uri="{FF2B5EF4-FFF2-40B4-BE49-F238E27FC236}">
                <a16:creationId xmlns:a16="http://schemas.microsoft.com/office/drawing/2014/main" id="{7EF68DCE-E299-064E-909B-1C4E0BA92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10200" y="4495800"/>
            <a:ext cx="1219200" cy="388938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dname</a:t>
            </a:r>
          </a:p>
        </p:txBody>
      </p:sp>
      <p:sp>
        <p:nvSpPr>
          <p:cNvPr id="73742" name="Rectangle 17">
            <a:extLst>
              <a:ext uri="{FF2B5EF4-FFF2-40B4-BE49-F238E27FC236}">
                <a16:creationId xmlns:a16="http://schemas.microsoft.com/office/drawing/2014/main" id="{3BE66C00-62E0-DE4A-8EB0-D2A7E8BEC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4495800"/>
            <a:ext cx="1219200" cy="388938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dhead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Number Placeholder 3">
            <a:extLst>
              <a:ext uri="{FF2B5EF4-FFF2-40B4-BE49-F238E27FC236}">
                <a16:creationId xmlns:a16="http://schemas.microsoft.com/office/drawing/2014/main" id="{EB3C9648-1B4F-2247-B919-2B2DAA268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A0DF7F-C48D-A043-A225-04429CE14733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zh-TW" sz="1400"/>
          </a:p>
        </p:txBody>
      </p:sp>
      <p:sp>
        <p:nvSpPr>
          <p:cNvPr id="74754" name="Text Box 2">
            <a:extLst>
              <a:ext uri="{FF2B5EF4-FFF2-40B4-BE49-F238E27FC236}">
                <a16:creationId xmlns:a16="http://schemas.microsoft.com/office/drawing/2014/main" id="{48A0B71F-AACD-114B-8A52-53EB23F300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524000"/>
            <a:ext cx="53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IN</a:t>
            </a:r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808DA1E9-B767-484F-B135-2155DBD56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524000"/>
            <a:ext cx="762000" cy="388938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 u="sng">
                <a:latin typeface="Arial" panose="020B0604020202020204" pitchFamily="34" charset="0"/>
              </a:rPr>
              <a:t>sid</a:t>
            </a:r>
          </a:p>
        </p:txBody>
      </p:sp>
      <p:sp>
        <p:nvSpPr>
          <p:cNvPr id="74756" name="Rectangle 4">
            <a:extLst>
              <a:ext uri="{FF2B5EF4-FFF2-40B4-BE49-F238E27FC236}">
                <a16:creationId xmlns:a16="http://schemas.microsoft.com/office/drawing/2014/main" id="{708104FD-7E88-D54E-AE8E-2E1267F53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1524000"/>
            <a:ext cx="1219200" cy="388938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dname</a:t>
            </a:r>
          </a:p>
        </p:txBody>
      </p:sp>
      <p:sp>
        <p:nvSpPr>
          <p:cNvPr id="74757" name="Text Box 5">
            <a:extLst>
              <a:ext uri="{FF2B5EF4-FFF2-40B4-BE49-F238E27FC236}">
                <a16:creationId xmlns:a16="http://schemas.microsoft.com/office/drawing/2014/main" id="{38963548-5693-7B46-ABC5-718C8433DE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1447800"/>
            <a:ext cx="68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NH</a:t>
            </a:r>
          </a:p>
        </p:txBody>
      </p:sp>
      <p:sp>
        <p:nvSpPr>
          <p:cNvPr id="74758" name="Rectangle 6">
            <a:extLst>
              <a:ext uri="{FF2B5EF4-FFF2-40B4-BE49-F238E27FC236}">
                <a16:creationId xmlns:a16="http://schemas.microsoft.com/office/drawing/2014/main" id="{7FBAB870-913C-4745-8418-A755E3ED4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1447800"/>
            <a:ext cx="1219200" cy="388938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dname</a:t>
            </a:r>
          </a:p>
        </p:txBody>
      </p:sp>
      <p:sp>
        <p:nvSpPr>
          <p:cNvPr id="74759" name="Rectangle 7">
            <a:extLst>
              <a:ext uri="{FF2B5EF4-FFF2-40B4-BE49-F238E27FC236}">
                <a16:creationId xmlns:a16="http://schemas.microsoft.com/office/drawing/2014/main" id="{1E9A04E3-9063-BD47-8A55-B2BCBDCDF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1447800"/>
            <a:ext cx="1219200" cy="388938"/>
          </a:xfrm>
          <a:prstGeom prst="rect">
            <a:avLst/>
          </a:prstGeom>
          <a:solidFill>
            <a:srgbClr val="E2C5A8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63500" dir="3187806" algn="ctr" rotWithShape="0">
              <a:schemeClr val="accent1"/>
            </a:outerShdw>
          </a:effectLst>
        </p:spPr>
        <p:txBody>
          <a:bodyPr wrap="none" anchor="ctr" anchorCtr="1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dhead</a:t>
            </a:r>
          </a:p>
        </p:txBody>
      </p:sp>
      <p:sp>
        <p:nvSpPr>
          <p:cNvPr id="74760" name="Rectangle 8">
            <a:extLst>
              <a:ext uri="{FF2B5EF4-FFF2-40B4-BE49-F238E27FC236}">
                <a16:creationId xmlns:a16="http://schemas.microsoft.com/office/drawing/2014/main" id="{982B1DD9-CD30-3047-9AE7-A52336781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362200"/>
            <a:ext cx="78486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kumimoji="0" lang="en-US" altLang="zh-TW" sz="2400" dirty="0">
                <a:latin typeface="Arial" panose="020B0604020202020204" pitchFamily="34" charset="0"/>
                <a:sym typeface="Symbol" pitchFamily="2" charset="2"/>
              </a:rPr>
              <a:t>F = { </a:t>
            </a:r>
            <a:r>
              <a:rPr kumimoji="0" lang="en-US" altLang="zh-TW" sz="2400" dirty="0" err="1">
                <a:latin typeface="Arial" panose="020B0604020202020204" pitchFamily="34" charset="0"/>
                <a:sym typeface="Symbol" pitchFamily="2" charset="2"/>
              </a:rPr>
              <a:t>sid</a:t>
            </a:r>
            <a:r>
              <a:rPr kumimoji="0" lang="en-US" altLang="zh-TW" sz="2400" dirty="0"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400" dirty="0" err="1">
                <a:latin typeface="Arial" panose="020B0604020202020204" pitchFamily="34" charset="0"/>
                <a:sym typeface="Symbol" pitchFamily="2" charset="2"/>
              </a:rPr>
              <a:t>dname</a:t>
            </a:r>
            <a:r>
              <a:rPr kumimoji="0" lang="en-US" altLang="zh-TW" sz="2400" dirty="0">
                <a:latin typeface="Arial" panose="020B0604020202020204" pitchFamily="34" charset="0"/>
                <a:sym typeface="Symbol" pitchFamily="2" charset="2"/>
              </a:rPr>
              <a:t>, </a:t>
            </a:r>
            <a:r>
              <a:rPr kumimoji="0" lang="en-US" altLang="zh-TW" sz="2400" dirty="0" err="1">
                <a:latin typeface="Arial" panose="020B0604020202020204" pitchFamily="34" charset="0"/>
                <a:sym typeface="Symbol" pitchFamily="2" charset="2"/>
              </a:rPr>
              <a:t>dname</a:t>
            </a:r>
            <a:r>
              <a:rPr kumimoji="0" lang="en-US" altLang="zh-TW" sz="2400" dirty="0"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400" dirty="0" err="1">
                <a:latin typeface="Arial" panose="020B0604020202020204" pitchFamily="34" charset="0"/>
                <a:sym typeface="Symbol" pitchFamily="2" charset="2"/>
              </a:rPr>
              <a:t>dhead</a:t>
            </a:r>
            <a:r>
              <a:rPr kumimoji="0" lang="en-US" altLang="zh-TW" sz="2400" dirty="0">
                <a:latin typeface="Arial" panose="020B0604020202020204" pitchFamily="34" charset="0"/>
                <a:sym typeface="Symbol" pitchFamily="2" charset="2"/>
              </a:rPr>
              <a:t> }</a:t>
            </a:r>
            <a:endParaRPr lang="en-US" altLang="zh-TW" sz="2400" dirty="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400" dirty="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dirty="0">
                <a:sym typeface="Symbol" pitchFamily="2" charset="2"/>
              </a:rPr>
              <a:t>This decomposition preserves dependency: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800" dirty="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i="1" dirty="0">
                <a:sym typeface="Symbol" pitchFamily="2" charset="2"/>
              </a:rPr>
              <a:t>    F</a:t>
            </a:r>
            <a:r>
              <a:rPr lang="en-US" altLang="zh-TW" sz="2400" i="1" baseline="-25000" dirty="0">
                <a:sym typeface="Symbol" pitchFamily="2" charset="2"/>
              </a:rPr>
              <a:t>IN</a:t>
            </a:r>
            <a:r>
              <a:rPr lang="en-US" altLang="zh-TW" sz="2400" dirty="0">
                <a:sym typeface="Symbol" pitchFamily="2" charset="2"/>
              </a:rPr>
              <a:t>	=  { trivial dependencies,  </a:t>
            </a:r>
            <a:r>
              <a:rPr lang="en-US" altLang="zh-TW" sz="2400" dirty="0" err="1">
                <a:sym typeface="Symbol" pitchFamily="2" charset="2"/>
              </a:rPr>
              <a:t>sid</a:t>
            </a:r>
            <a:r>
              <a:rPr lang="en-US" altLang="zh-TW" sz="2400" dirty="0">
                <a:sym typeface="Symbol" pitchFamily="2" charset="2"/>
              </a:rPr>
              <a:t>  </a:t>
            </a:r>
            <a:r>
              <a:rPr lang="en-US" altLang="zh-TW" sz="2400" dirty="0" err="1">
                <a:sym typeface="Symbol" pitchFamily="2" charset="2"/>
              </a:rPr>
              <a:t>dname</a:t>
            </a:r>
            <a:r>
              <a:rPr lang="en-US" altLang="zh-TW" sz="2400" dirty="0">
                <a:sym typeface="Symbol" pitchFamily="2" charset="2"/>
              </a:rPr>
              <a:t>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dirty="0">
                <a:sym typeface="Symbol" pitchFamily="2" charset="2"/>
              </a:rPr>
              <a:t>		                                         </a:t>
            </a:r>
            <a:r>
              <a:rPr lang="en-US" altLang="zh-TW" sz="2400" dirty="0" err="1">
                <a:sym typeface="Symbol" pitchFamily="2" charset="2"/>
              </a:rPr>
              <a:t>sid</a:t>
            </a:r>
            <a:r>
              <a:rPr lang="en-US" altLang="zh-TW" sz="2400" dirty="0">
                <a:sym typeface="Symbol" pitchFamily="2" charset="2"/>
              </a:rPr>
              <a:t>  </a:t>
            </a:r>
            <a:r>
              <a:rPr lang="en-US" altLang="zh-TW" sz="2400" dirty="0" err="1">
                <a:sym typeface="Symbol" pitchFamily="2" charset="2"/>
              </a:rPr>
              <a:t>sid</a:t>
            </a:r>
            <a:r>
              <a:rPr lang="en-US" altLang="zh-TW" sz="2400" dirty="0">
                <a:sym typeface="Symbol" pitchFamily="2" charset="2"/>
              </a:rPr>
              <a:t> </a:t>
            </a:r>
            <a:r>
              <a:rPr lang="en-US" altLang="zh-TW" sz="2400" dirty="0" err="1">
                <a:sym typeface="Symbol" pitchFamily="2" charset="2"/>
              </a:rPr>
              <a:t>dname</a:t>
            </a:r>
            <a:r>
              <a:rPr lang="en-US" altLang="zh-TW" sz="2400" dirty="0">
                <a:sym typeface="Symbol" pitchFamily="2" charset="2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800" dirty="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i="1" dirty="0">
                <a:sym typeface="Symbol" pitchFamily="2" charset="2"/>
              </a:rPr>
              <a:t>    F</a:t>
            </a:r>
            <a:r>
              <a:rPr lang="en-US" altLang="zh-TW" sz="2400" i="1" baseline="-25000" dirty="0">
                <a:sym typeface="Symbol" pitchFamily="2" charset="2"/>
              </a:rPr>
              <a:t>NH</a:t>
            </a:r>
            <a:r>
              <a:rPr lang="en-US" altLang="zh-TW" sz="2400" dirty="0">
                <a:sym typeface="Symbol" pitchFamily="2" charset="2"/>
              </a:rPr>
              <a:t>	=  { trivial dependencies,  </a:t>
            </a:r>
            <a:r>
              <a:rPr lang="en-US" altLang="zh-TW" sz="2400" dirty="0" err="1">
                <a:sym typeface="Symbol" pitchFamily="2" charset="2"/>
              </a:rPr>
              <a:t>dname</a:t>
            </a:r>
            <a:r>
              <a:rPr lang="en-US" altLang="zh-TW" sz="2400" dirty="0">
                <a:sym typeface="Symbol" pitchFamily="2" charset="2"/>
              </a:rPr>
              <a:t>  </a:t>
            </a:r>
            <a:r>
              <a:rPr lang="en-US" altLang="zh-TW" sz="2400" dirty="0" err="1">
                <a:sym typeface="Symbol" pitchFamily="2" charset="2"/>
              </a:rPr>
              <a:t>dhead</a:t>
            </a:r>
            <a:r>
              <a:rPr lang="en-US" altLang="zh-TW" sz="2400" dirty="0">
                <a:sym typeface="Symbol" pitchFamily="2" charset="2"/>
              </a:rPr>
              <a:t>,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dirty="0">
                <a:sym typeface="Symbol" pitchFamily="2" charset="2"/>
              </a:rPr>
              <a:t>		                                          </a:t>
            </a:r>
            <a:r>
              <a:rPr lang="en-US" altLang="zh-TW" sz="2400" dirty="0" err="1">
                <a:sym typeface="Symbol" pitchFamily="2" charset="2"/>
              </a:rPr>
              <a:t>dname</a:t>
            </a:r>
            <a:r>
              <a:rPr lang="en-US" altLang="zh-TW" sz="2400" dirty="0">
                <a:sym typeface="Symbol" pitchFamily="2" charset="2"/>
              </a:rPr>
              <a:t>  </a:t>
            </a:r>
            <a:r>
              <a:rPr lang="en-US" altLang="zh-TW" sz="2400" dirty="0" err="1">
                <a:sym typeface="Symbol" pitchFamily="2" charset="2"/>
              </a:rPr>
              <a:t>dname</a:t>
            </a:r>
            <a:r>
              <a:rPr lang="en-US" altLang="zh-TW" sz="2400" dirty="0">
                <a:sym typeface="Symbol" pitchFamily="2" charset="2"/>
              </a:rPr>
              <a:t> </a:t>
            </a:r>
            <a:r>
              <a:rPr lang="en-US" altLang="zh-TW" sz="2400" dirty="0" err="1">
                <a:sym typeface="Symbol" pitchFamily="2" charset="2"/>
              </a:rPr>
              <a:t>dhead</a:t>
            </a:r>
            <a:r>
              <a:rPr lang="en-US" altLang="zh-TW" sz="2400" dirty="0">
                <a:sym typeface="Symbol" pitchFamily="2" charset="2"/>
              </a:rPr>
              <a:t>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800" dirty="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dirty="0">
                <a:sym typeface="Symbol" pitchFamily="2" charset="2"/>
              </a:rPr>
              <a:t> ( </a:t>
            </a:r>
            <a:r>
              <a:rPr lang="en-US" altLang="zh-TW" sz="2400" i="1" dirty="0">
                <a:sym typeface="Symbol" pitchFamily="2" charset="2"/>
              </a:rPr>
              <a:t>F</a:t>
            </a:r>
            <a:r>
              <a:rPr lang="en-US" altLang="zh-TW" sz="2400" i="1" baseline="-25000" dirty="0">
                <a:sym typeface="Symbol" pitchFamily="2" charset="2"/>
              </a:rPr>
              <a:t>IN</a:t>
            </a:r>
            <a:r>
              <a:rPr lang="en-US" altLang="zh-TW" sz="2400" dirty="0">
                <a:sym typeface="Symbol" pitchFamily="2" charset="2"/>
              </a:rPr>
              <a:t> U </a:t>
            </a:r>
            <a:r>
              <a:rPr lang="en-US" altLang="zh-TW" sz="2400" i="1" dirty="0">
                <a:sym typeface="Symbol" pitchFamily="2" charset="2"/>
              </a:rPr>
              <a:t>F</a:t>
            </a:r>
            <a:r>
              <a:rPr lang="en-US" altLang="zh-TW" sz="2400" i="1" baseline="-25000" dirty="0">
                <a:sym typeface="Symbol" pitchFamily="2" charset="2"/>
              </a:rPr>
              <a:t>NH </a:t>
            </a:r>
            <a:r>
              <a:rPr lang="en-US" altLang="zh-TW" sz="2400" dirty="0">
                <a:sym typeface="Symbol" pitchFamily="2" charset="2"/>
              </a:rPr>
              <a:t>)</a:t>
            </a:r>
            <a:r>
              <a:rPr lang="en-US" altLang="zh-TW" sz="3100" baseline="40000" dirty="0">
                <a:sym typeface="Symbol" pitchFamily="2" charset="2"/>
              </a:rPr>
              <a:t>+</a:t>
            </a:r>
            <a:r>
              <a:rPr lang="en-US" altLang="zh-TW" sz="2400" dirty="0">
                <a:sym typeface="Symbol" pitchFamily="2" charset="2"/>
              </a:rPr>
              <a:t> = </a:t>
            </a:r>
            <a:r>
              <a:rPr lang="en-US" altLang="zh-TW" sz="2400" i="1" dirty="0">
                <a:sym typeface="Symbol" pitchFamily="2" charset="2"/>
              </a:rPr>
              <a:t>F</a:t>
            </a:r>
            <a:r>
              <a:rPr lang="en-US" altLang="zh-TW" sz="2400" dirty="0">
                <a:sym typeface="Symbol" pitchFamily="2" charset="2"/>
              </a:rPr>
              <a:t> </a:t>
            </a:r>
            <a:r>
              <a:rPr lang="en-US" altLang="zh-TW" sz="3100" baseline="40000" dirty="0">
                <a:sym typeface="Symbol" pitchFamily="2" charset="2"/>
              </a:rPr>
              <a:t>+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Slide Number Placeholder 3">
            <a:extLst>
              <a:ext uri="{FF2B5EF4-FFF2-40B4-BE49-F238E27FC236}">
                <a16:creationId xmlns:a16="http://schemas.microsoft.com/office/drawing/2014/main" id="{1DF1FCA9-1051-5E48-B1E6-358F4353D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C3FC23-CC90-A643-BE0A-1135260C9D7E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zh-TW" sz="1400"/>
          </a:p>
        </p:txBody>
      </p:sp>
      <p:graphicFrame>
        <p:nvGraphicFramePr>
          <p:cNvPr id="75778" name="Object 2">
            <a:extLst>
              <a:ext uri="{FF2B5EF4-FFF2-40B4-BE49-F238E27FC236}">
                <a16:creationId xmlns:a16="http://schemas.microsoft.com/office/drawing/2014/main" id="{08868B7F-C010-4041-BE5E-43E3ACB2E6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76525" y="609600"/>
          <a:ext cx="3876675" cy="1165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828800" imgH="558800" progId="Excel.Sheet.8">
                  <p:embed/>
                </p:oleObj>
              </mc:Choice>
              <mc:Fallback>
                <p:oleObj name="Worksheet" r:id="rId2" imgW="1828800" imgH="558800" progId="Excel.Sheet.8">
                  <p:embed/>
                  <p:pic>
                    <p:nvPicPr>
                      <p:cNvPr id="75778" name="Object 2">
                        <a:extLst>
                          <a:ext uri="{FF2B5EF4-FFF2-40B4-BE49-F238E27FC236}">
                            <a16:creationId xmlns:a16="http://schemas.microsoft.com/office/drawing/2014/main" id="{08868B7F-C010-4041-BE5E-43E3ACB2E6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385" b="-1326"/>
                      <a:stretch>
                        <a:fillRect/>
                      </a:stretch>
                    </p:blipFill>
                    <p:spPr bwMode="auto">
                      <a:xfrm>
                        <a:off x="2676525" y="609600"/>
                        <a:ext cx="3876675" cy="1165225"/>
                      </a:xfrm>
                      <a:prstGeom prst="rect">
                        <a:avLst/>
                      </a:prstGeom>
                      <a:solidFill>
                        <a:srgbClr val="CCFFCC">
                          <a:alpha val="50195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79" name="Text Box 3">
            <a:extLst>
              <a:ext uri="{FF2B5EF4-FFF2-40B4-BE49-F238E27FC236}">
                <a16:creationId xmlns:a16="http://schemas.microsoft.com/office/drawing/2014/main" id="{4D2DF873-B956-0A42-BB0D-C8D217E864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7325" y="533400"/>
            <a:ext cx="114776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Student</a:t>
            </a:r>
          </a:p>
        </p:txBody>
      </p:sp>
      <p:graphicFrame>
        <p:nvGraphicFramePr>
          <p:cNvPr id="75780" name="Object 4">
            <a:extLst>
              <a:ext uri="{FF2B5EF4-FFF2-40B4-BE49-F238E27FC236}">
                <a16:creationId xmlns:a16="http://schemas.microsoft.com/office/drawing/2014/main" id="{1914BA92-C5CC-404E-A695-1B860FD2D8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2366963"/>
          <a:ext cx="1981200" cy="1106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977900" imgH="546100" progId="Excel.Sheet.8">
                  <p:embed/>
                </p:oleObj>
              </mc:Choice>
              <mc:Fallback>
                <p:oleObj name="Worksheet" r:id="rId4" imgW="977900" imgH="546100" progId="Excel.Sheet.8">
                  <p:embed/>
                  <p:pic>
                    <p:nvPicPr>
                      <p:cNvPr id="75780" name="Object 4">
                        <a:extLst>
                          <a:ext uri="{FF2B5EF4-FFF2-40B4-BE49-F238E27FC236}">
                            <a16:creationId xmlns:a16="http://schemas.microsoft.com/office/drawing/2014/main" id="{1914BA92-C5CC-404E-A695-1B860FD2D8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482" b="-1324"/>
                      <a:stretch>
                        <a:fillRect/>
                      </a:stretch>
                    </p:blipFill>
                    <p:spPr bwMode="auto">
                      <a:xfrm>
                        <a:off x="1676400" y="2366963"/>
                        <a:ext cx="1981200" cy="1106487"/>
                      </a:xfrm>
                      <a:prstGeom prst="rect">
                        <a:avLst/>
                      </a:prstGeom>
                      <a:solidFill>
                        <a:srgbClr val="FFFF99">
                          <a:alpha val="50195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1" name="Text Box 5">
            <a:extLst>
              <a:ext uri="{FF2B5EF4-FFF2-40B4-BE49-F238E27FC236}">
                <a16:creationId xmlns:a16="http://schemas.microsoft.com/office/drawing/2014/main" id="{661DEC21-796D-4A47-9D14-6069086DD1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366963"/>
            <a:ext cx="46355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IN</a:t>
            </a:r>
          </a:p>
        </p:txBody>
      </p:sp>
      <p:graphicFrame>
        <p:nvGraphicFramePr>
          <p:cNvPr id="75782" name="Object 6">
            <a:extLst>
              <a:ext uri="{FF2B5EF4-FFF2-40B4-BE49-F238E27FC236}">
                <a16:creationId xmlns:a16="http://schemas.microsoft.com/office/drawing/2014/main" id="{9E0E8DFB-24E8-4340-B7FB-6FBD890CF2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2420938"/>
          <a:ext cx="2746375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6" imgW="1041400" imgH="495300" progId="Excel.Sheet.8">
                  <p:embed/>
                </p:oleObj>
              </mc:Choice>
              <mc:Fallback>
                <p:oleObj name="Worksheet" r:id="rId6" imgW="1041400" imgH="495300" progId="Excel.Sheet.8">
                  <p:embed/>
                  <p:pic>
                    <p:nvPicPr>
                      <p:cNvPr id="75782" name="Object 6">
                        <a:extLst>
                          <a:ext uri="{FF2B5EF4-FFF2-40B4-BE49-F238E27FC236}">
                            <a16:creationId xmlns:a16="http://schemas.microsoft.com/office/drawing/2014/main" id="{9E0E8DFB-24E8-4340-B7FB-6FBD890CF2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575" b="-1324"/>
                      <a:stretch>
                        <a:fillRect/>
                      </a:stretch>
                    </p:blipFill>
                    <p:spPr bwMode="auto">
                      <a:xfrm>
                        <a:off x="5181600" y="2420938"/>
                        <a:ext cx="2746375" cy="1084262"/>
                      </a:xfrm>
                      <a:prstGeom prst="rect">
                        <a:avLst/>
                      </a:prstGeom>
                      <a:solidFill>
                        <a:srgbClr val="FFFF99">
                          <a:alpha val="50195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3" name="Text Box 7">
            <a:extLst>
              <a:ext uri="{FF2B5EF4-FFF2-40B4-BE49-F238E27FC236}">
                <a16:creationId xmlns:a16="http://schemas.microsoft.com/office/drawing/2014/main" id="{7F0984B7-C955-F84B-8048-CB6787E9E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2362200"/>
            <a:ext cx="671513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NH</a:t>
            </a:r>
          </a:p>
        </p:txBody>
      </p:sp>
      <p:sp>
        <p:nvSpPr>
          <p:cNvPr id="75784" name="Text Box 8">
            <a:extLst>
              <a:ext uri="{FF2B5EF4-FFF2-40B4-BE49-F238E27FC236}">
                <a16:creationId xmlns:a16="http://schemas.microsoft.com/office/drawing/2014/main" id="{A7C05C72-BEB2-6441-B7CC-02CDE12904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68738" y="2667000"/>
            <a:ext cx="65087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200">
                <a:latin typeface="Arial" panose="020B0604020202020204" pitchFamily="34" charset="0"/>
              </a:rPr>
              <a:t>and</a:t>
            </a:r>
          </a:p>
        </p:txBody>
      </p:sp>
      <p:graphicFrame>
        <p:nvGraphicFramePr>
          <p:cNvPr id="75785" name="Object 9">
            <a:extLst>
              <a:ext uri="{FF2B5EF4-FFF2-40B4-BE49-F238E27FC236}">
                <a16:creationId xmlns:a16="http://schemas.microsoft.com/office/drawing/2014/main" id="{AD0B2C8A-C7D4-174C-BB36-646994BF0E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4625" y="4325938"/>
          <a:ext cx="2746375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8" imgW="1371600" imgH="546100" progId="Excel.Sheet.8">
                  <p:embed/>
                </p:oleObj>
              </mc:Choice>
              <mc:Fallback>
                <p:oleObj name="Worksheet" r:id="rId8" imgW="1371600" imgH="546100" progId="Excel.Sheet.8">
                  <p:embed/>
                  <p:pic>
                    <p:nvPicPr>
                      <p:cNvPr id="75785" name="Object 9">
                        <a:extLst>
                          <a:ext uri="{FF2B5EF4-FFF2-40B4-BE49-F238E27FC236}">
                            <a16:creationId xmlns:a16="http://schemas.microsoft.com/office/drawing/2014/main" id="{AD0B2C8A-C7D4-174C-BB36-646994BF0E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lum bright="-3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r="-1575" b="-1324"/>
                      <a:stretch>
                        <a:fillRect/>
                      </a:stretch>
                    </p:blipFill>
                    <p:spPr bwMode="auto">
                      <a:xfrm>
                        <a:off x="5254625" y="4325938"/>
                        <a:ext cx="2746375" cy="1084262"/>
                      </a:xfrm>
                      <a:prstGeom prst="rect">
                        <a:avLst/>
                      </a:prstGeom>
                      <a:solidFill>
                        <a:srgbClr val="FFFF99">
                          <a:alpha val="50195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786" name="Line 10">
            <a:extLst>
              <a:ext uri="{FF2B5EF4-FFF2-40B4-BE49-F238E27FC236}">
                <a16:creationId xmlns:a16="http://schemas.microsoft.com/office/drawing/2014/main" id="{53C6DCA5-26D0-5D4D-9748-A009FC0CB14A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3581400"/>
            <a:ext cx="0" cy="609600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87" name="Text Box 11">
            <a:extLst>
              <a:ext uri="{FF2B5EF4-FFF2-40B4-BE49-F238E27FC236}">
                <a16:creationId xmlns:a16="http://schemas.microsoft.com/office/drawing/2014/main" id="{215E3F59-B305-274C-89B8-9A1C41DADE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25" y="3719513"/>
            <a:ext cx="10826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Updated to</a:t>
            </a:r>
          </a:p>
        </p:txBody>
      </p:sp>
      <p:sp>
        <p:nvSpPr>
          <p:cNvPr id="75788" name="Text Box 12">
            <a:extLst>
              <a:ext uri="{FF2B5EF4-FFF2-40B4-BE49-F238E27FC236}">
                <a16:creationId xmlns:a16="http://schemas.microsoft.com/office/drawing/2014/main" id="{5403059F-C4C7-474B-8080-5975F013D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232275"/>
            <a:ext cx="4648200" cy="173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000">
                <a:solidFill>
                  <a:srgbClr val="FF0000"/>
                </a:solidFill>
                <a:latin typeface="Arial" panose="020B0604020202020204" pitchFamily="34" charset="0"/>
                <a:sym typeface="Symbol" pitchFamily="2" charset="2"/>
              </a:rPr>
              <a:t>The error in NH will immediately be caught by the DBMS, </a:t>
            </a:r>
          </a:p>
          <a:p>
            <a:pPr eaLnBrk="1" hangingPunct="1"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000">
                <a:solidFill>
                  <a:srgbClr val="FF0000"/>
                </a:solidFill>
                <a:latin typeface="Arial" panose="020B0604020202020204" pitchFamily="34" charset="0"/>
                <a:sym typeface="Symbol" pitchFamily="2" charset="2"/>
              </a:rPr>
              <a:t>since it violates F.D. dname  dhead. No join is necessary.</a:t>
            </a:r>
          </a:p>
          <a:p>
            <a:pPr eaLnBrk="1" hangingPunct="1">
              <a:buClr>
                <a:srgbClr val="663300"/>
              </a:buClr>
              <a:buFont typeface="Wingdings" pitchFamily="2" charset="2"/>
              <a:buNone/>
            </a:pPr>
            <a:endParaRPr lang="en-US" altLang="en-US" sz="2000">
              <a:solidFill>
                <a:srgbClr val="FF0000"/>
              </a:solidFill>
            </a:endParaRPr>
          </a:p>
        </p:txBody>
      </p:sp>
      <p:sp>
        <p:nvSpPr>
          <p:cNvPr id="75789" name="Line 13">
            <a:extLst>
              <a:ext uri="{FF2B5EF4-FFF2-40B4-BE49-F238E27FC236}">
                <a16:creationId xmlns:a16="http://schemas.microsoft.com/office/drawing/2014/main" id="{2A9F919D-ABD6-4E40-B6E6-763970C2027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590800" y="1828800"/>
            <a:ext cx="1828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5790" name="Line 14">
            <a:extLst>
              <a:ext uri="{FF2B5EF4-FFF2-40B4-BE49-F238E27FC236}">
                <a16:creationId xmlns:a16="http://schemas.microsoft.com/office/drawing/2014/main" id="{DE83DBE9-2478-DD4A-8050-5929A6DDF4E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1828800"/>
            <a:ext cx="1828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Number Placeholder 5">
            <a:extLst>
              <a:ext uri="{FF2B5EF4-FFF2-40B4-BE49-F238E27FC236}">
                <a16:creationId xmlns:a16="http://schemas.microsoft.com/office/drawing/2014/main" id="{941B8B7E-26A9-224D-AF01-C9BB65B07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0D9E68-15B0-9E44-BBD8-90C3828F30BF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zh-TW" sz="1400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14EA2926-2023-A04A-9436-50452271D9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Normalization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9ED4736C-AAD4-9846-8AFC-C019C8C565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800"/>
              <a:t>Consider algorithms for converting relations to BCNF or 3NF.</a:t>
            </a:r>
          </a:p>
          <a:p>
            <a:pPr eaLnBrk="1" hangingPunct="1"/>
            <a:r>
              <a:rPr lang="en-US" altLang="zh-TW" sz="2800"/>
              <a:t>If a relation schema is not in BCNF</a:t>
            </a:r>
          </a:p>
          <a:p>
            <a:pPr lvl="1" eaLnBrk="1" hangingPunct="1"/>
            <a:r>
              <a:rPr lang="en-US" altLang="zh-TW" sz="2400"/>
              <a:t>it is possible to obtain a lossless-join decomposition into a collection of BCNF relation schemas.</a:t>
            </a:r>
          </a:p>
          <a:p>
            <a:pPr lvl="1" eaLnBrk="1" hangingPunct="1"/>
            <a:r>
              <a:rPr lang="en-US" altLang="zh-TW" sz="2400"/>
              <a:t>Dependency-preserving is not guaranteed.</a:t>
            </a:r>
          </a:p>
          <a:p>
            <a:pPr eaLnBrk="1" hangingPunct="1"/>
            <a:r>
              <a:rPr lang="en-US" altLang="zh-TW" sz="2800"/>
              <a:t>3NF</a:t>
            </a:r>
          </a:p>
          <a:p>
            <a:pPr lvl="1" eaLnBrk="1" hangingPunct="1"/>
            <a:r>
              <a:rPr lang="en-US" altLang="zh-TW" sz="2400"/>
              <a:t>There is always a dependency-preserving, lossless-join decomposition into a collection of 3NF relation schemas.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Slide Number Placeholder 5">
            <a:extLst>
              <a:ext uri="{FF2B5EF4-FFF2-40B4-BE49-F238E27FC236}">
                <a16:creationId xmlns:a16="http://schemas.microsoft.com/office/drawing/2014/main" id="{47C1E8A8-36E5-2742-9DB5-825B77E6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29232F7-6A8F-8F46-A46D-140FBAD10A5B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US" altLang="zh-TW" sz="1400"/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26D209AE-EF14-FA4A-AAE9-A561526AB8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BCNF Decomposition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45CAF4D8-DD0A-0D4A-B350-BD6BD7A10D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4572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zh-TW" sz="2800"/>
              <a:t>It is a lossless join decomposition.</a:t>
            </a:r>
          </a:p>
          <a:p>
            <a:pPr eaLnBrk="1" hangingPunct="1"/>
            <a:r>
              <a:rPr lang="en-US" altLang="zh-TW" sz="2800"/>
              <a:t>But not necessary dependency preserving</a:t>
            </a:r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47CBCC33-F2A7-7441-9876-99E7E63F2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600200"/>
            <a:ext cx="8229600" cy="2667000"/>
          </a:xfrm>
          <a:prstGeom prst="rect">
            <a:avLst/>
          </a:prstGeom>
          <a:solidFill>
            <a:schemeClr val="hlink">
              <a:alpha val="50195"/>
            </a:schemeClr>
          </a:solidFill>
          <a:ln w="76200" cmpd="tri">
            <a:solidFill>
              <a:srgbClr val="339966"/>
            </a:solidFill>
            <a:miter lim="800000"/>
            <a:headEnd/>
            <a:tailEnd/>
          </a:ln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Suppose R is not in BCNF, A is an attribute, and X  A is a FD that violates the BCNF condition.</a:t>
            </a:r>
          </a:p>
          <a:p>
            <a:pPr eaLnBrk="1" hangingPunct="1">
              <a:buFontTx/>
              <a:buNone/>
            </a:pPr>
            <a:endParaRPr lang="en-US" altLang="zh-TW" sz="1000">
              <a:sym typeface="Symbol" pitchFamily="2" charset="2"/>
            </a:endParaRPr>
          </a:p>
          <a:p>
            <a:pPr eaLnBrk="1" hangingPunct="1">
              <a:buFont typeface="Wingdings" pitchFamily="2" charset="2"/>
              <a:buAutoNum type="arabicPeriod"/>
            </a:pPr>
            <a:r>
              <a:rPr lang="en-US" altLang="zh-TW" sz="2400">
                <a:sym typeface="Symbol" pitchFamily="2" charset="2"/>
              </a:rPr>
              <a:t>Decompose R into XA and R-A</a:t>
            </a:r>
          </a:p>
          <a:p>
            <a:pPr eaLnBrk="1" hangingPunct="1">
              <a:buFont typeface="Wingdings" pitchFamily="2" charset="2"/>
              <a:buAutoNum type="arabicPeriod"/>
            </a:pPr>
            <a:r>
              <a:rPr lang="en-US" altLang="zh-TW" sz="2400">
                <a:sym typeface="Symbol" pitchFamily="2" charset="2"/>
              </a:rPr>
              <a:t>Repeat this process until all the relations become BCNF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Number Placeholder 3">
            <a:extLst>
              <a:ext uri="{FF2B5EF4-FFF2-40B4-BE49-F238E27FC236}">
                <a16:creationId xmlns:a16="http://schemas.microsoft.com/office/drawing/2014/main" id="{117EEF15-468B-4443-8F08-0DD11BFB5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928AFD-46AD-A240-ADD7-94599375CF7E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64</a:t>
            </a:fld>
            <a:endParaRPr lang="en-US" altLang="zh-TW" sz="1400"/>
          </a:p>
        </p:txBody>
      </p:sp>
      <p:sp>
        <p:nvSpPr>
          <p:cNvPr id="78850" name="Rectangle 2">
            <a:extLst>
              <a:ext uri="{FF2B5EF4-FFF2-40B4-BE49-F238E27FC236}">
                <a16:creationId xmlns:a16="http://schemas.microsoft.com/office/drawing/2014/main" id="{E986C015-4700-6B48-B908-AE4643B67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1295400"/>
            <a:ext cx="1905000" cy="6858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400">
                <a:latin typeface="Arial" panose="020B0604020202020204" pitchFamily="34" charset="0"/>
              </a:rPr>
              <a:t>CSJDPQV</a:t>
            </a:r>
          </a:p>
        </p:txBody>
      </p:sp>
      <p:sp>
        <p:nvSpPr>
          <p:cNvPr id="76803" name="Line 3">
            <a:extLst>
              <a:ext uri="{FF2B5EF4-FFF2-40B4-BE49-F238E27FC236}">
                <a16:creationId xmlns:a16="http://schemas.microsoft.com/office/drawing/2014/main" id="{39E1812C-7ACB-5A4D-A733-481035A8353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43200" y="1981200"/>
            <a:ext cx="12192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4" name="Line 4">
            <a:extLst>
              <a:ext uri="{FF2B5EF4-FFF2-40B4-BE49-F238E27FC236}">
                <a16:creationId xmlns:a16="http://schemas.microsoft.com/office/drawing/2014/main" id="{9B42198D-802D-B04C-BB8A-19D79789CBD6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0800" y="3429000"/>
            <a:ext cx="12954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4934F082-928C-3743-B345-1339B6AB4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895600"/>
            <a:ext cx="1828800" cy="5334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400">
                <a:latin typeface="Arial" panose="020B0604020202020204" pitchFamily="34" charset="0"/>
              </a:rPr>
              <a:t>SDP</a:t>
            </a:r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F160DA3E-DD99-4E4B-94AF-AC91445E71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2819400"/>
            <a:ext cx="1676400" cy="6096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400">
                <a:latin typeface="Arial" panose="020B0604020202020204" pitchFamily="34" charset="0"/>
              </a:rPr>
              <a:t>CSJDQV</a:t>
            </a:r>
          </a:p>
        </p:txBody>
      </p:sp>
      <p:sp>
        <p:nvSpPr>
          <p:cNvPr id="76807" name="Text Box 7">
            <a:extLst>
              <a:ext uri="{FF2B5EF4-FFF2-40B4-BE49-F238E27FC236}">
                <a16:creationId xmlns:a16="http://schemas.microsoft.com/office/drawing/2014/main" id="{58AD9742-0F26-1240-B2E6-610B37B4B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2133600"/>
            <a:ext cx="1195388" cy="45720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400">
                <a:latin typeface="Arial" panose="020B0604020202020204" pitchFamily="34" charset="0"/>
              </a:rPr>
              <a:t>SD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P</a:t>
            </a:r>
            <a:r>
              <a:rPr kumimoji="0" lang="en-US" altLang="en-US" sz="240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8856" name="Text Box 8">
            <a:extLst>
              <a:ext uri="{FF2B5EF4-FFF2-40B4-BE49-F238E27FC236}">
                <a16:creationId xmlns:a16="http://schemas.microsoft.com/office/drawing/2014/main" id="{C18D48D9-69A3-2541-AA7C-813385CDEC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676400"/>
            <a:ext cx="1195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400">
                <a:latin typeface="Arial" panose="020B0604020202020204" pitchFamily="34" charset="0"/>
              </a:rPr>
              <a:t>SD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P</a:t>
            </a:r>
            <a:r>
              <a:rPr kumimoji="0" lang="en-US" altLang="en-US" sz="240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6809" name="Line 9">
            <a:extLst>
              <a:ext uri="{FF2B5EF4-FFF2-40B4-BE49-F238E27FC236}">
                <a16:creationId xmlns:a16="http://schemas.microsoft.com/office/drawing/2014/main" id="{318A1BBB-371E-124A-B4D5-A571FF0B7FF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19600" y="3429000"/>
            <a:ext cx="1219200" cy="9144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10" name="Rectangle 10">
            <a:extLst>
              <a:ext uri="{FF2B5EF4-FFF2-40B4-BE49-F238E27FC236}">
                <a16:creationId xmlns:a16="http://schemas.microsoft.com/office/drawing/2014/main" id="{E2EB6B65-680F-CB44-B760-A6FB4BFC5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4343400"/>
            <a:ext cx="1828800" cy="5334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400">
                <a:latin typeface="Arial" panose="020B0604020202020204" pitchFamily="34" charset="0"/>
              </a:rPr>
              <a:t>JS</a:t>
            </a:r>
          </a:p>
        </p:txBody>
      </p:sp>
      <p:sp>
        <p:nvSpPr>
          <p:cNvPr id="76811" name="Rectangle 11">
            <a:extLst>
              <a:ext uri="{FF2B5EF4-FFF2-40B4-BE49-F238E27FC236}">
                <a16:creationId xmlns:a16="http://schemas.microsoft.com/office/drawing/2014/main" id="{EE8E31A5-7132-744A-B3FF-7F34BC372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5600" y="4267200"/>
            <a:ext cx="1828800" cy="6096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400">
                <a:latin typeface="Arial" panose="020B0604020202020204" pitchFamily="34" charset="0"/>
              </a:rPr>
              <a:t>CJDQV</a:t>
            </a:r>
          </a:p>
        </p:txBody>
      </p:sp>
      <p:sp>
        <p:nvSpPr>
          <p:cNvPr id="76812" name="Line 12">
            <a:extLst>
              <a:ext uri="{FF2B5EF4-FFF2-40B4-BE49-F238E27FC236}">
                <a16:creationId xmlns:a16="http://schemas.microsoft.com/office/drawing/2014/main" id="{21062DCF-2AE1-A844-8E1C-A60EC561E476}"/>
              </a:ext>
            </a:extLst>
          </p:cNvPr>
          <p:cNvSpPr>
            <a:spLocks noChangeShapeType="1"/>
          </p:cNvSpPr>
          <p:nvPr/>
        </p:nvSpPr>
        <p:spPr bwMode="auto">
          <a:xfrm>
            <a:off x="5029200" y="1981200"/>
            <a:ext cx="1295400" cy="838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6813" name="Text Box 13">
            <a:extLst>
              <a:ext uri="{FF2B5EF4-FFF2-40B4-BE49-F238E27FC236}">
                <a16:creationId xmlns:a16="http://schemas.microsoft.com/office/drawing/2014/main" id="{2322511C-6E73-3349-90EB-5561D317F3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6413" y="3657600"/>
            <a:ext cx="839787" cy="457200"/>
          </a:xfrm>
          <a:prstGeom prst="rect">
            <a:avLst/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J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S</a:t>
            </a:r>
            <a:endParaRPr kumimoji="0" lang="en-US" altLang="en-US" sz="2400">
              <a:latin typeface="Arial" panose="020B0604020202020204" pitchFamily="34" charset="0"/>
            </a:endParaRPr>
          </a:p>
        </p:txBody>
      </p:sp>
      <p:sp>
        <p:nvSpPr>
          <p:cNvPr id="78862" name="Text Box 14">
            <a:extLst>
              <a:ext uri="{FF2B5EF4-FFF2-40B4-BE49-F238E27FC236}">
                <a16:creationId xmlns:a16="http://schemas.microsoft.com/office/drawing/2014/main" id="{3A7D90E7-9DD1-3F48-BD46-470CC4B6B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133600"/>
            <a:ext cx="923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J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S</a:t>
            </a:r>
            <a:r>
              <a:rPr kumimoji="0" lang="en-US" altLang="en-US" sz="240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8863" name="Text Box 15">
            <a:extLst>
              <a:ext uri="{FF2B5EF4-FFF2-40B4-BE49-F238E27FC236}">
                <a16:creationId xmlns:a16="http://schemas.microsoft.com/office/drawing/2014/main" id="{DB717D7F-76D5-6746-9595-87527747F4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219200"/>
            <a:ext cx="1319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400">
                <a:latin typeface="Arial" panose="020B0604020202020204" pitchFamily="34" charset="0"/>
              </a:rPr>
              <a:t>Key is 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68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6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6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6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6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6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6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6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6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6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6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6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5" grpId="0" animBg="1" autoUpdateAnimBg="0"/>
      <p:bldP spid="76806" grpId="0" animBg="1" autoUpdateAnimBg="0"/>
      <p:bldP spid="76807" grpId="0" animBg="1" autoUpdateAnimBg="0"/>
      <p:bldP spid="76810" grpId="0" animBg="1" autoUpdateAnimBg="0"/>
      <p:bldP spid="76811" grpId="0" animBg="1" autoUpdateAnimBg="0"/>
      <p:bldP spid="76813" grpId="0" animBg="1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Slide Number Placeholder 3">
            <a:extLst>
              <a:ext uri="{FF2B5EF4-FFF2-40B4-BE49-F238E27FC236}">
                <a16:creationId xmlns:a16="http://schemas.microsoft.com/office/drawing/2014/main" id="{E20103A3-2704-C44E-A992-7CE19ADEB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CAFDA8E-A791-934C-9F58-2C490EB5112C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65</a:t>
            </a:fld>
            <a:endParaRPr lang="en-US" altLang="zh-TW" sz="1400"/>
          </a:p>
        </p:txBody>
      </p:sp>
      <p:sp>
        <p:nvSpPr>
          <p:cNvPr id="79874" name="Text Box 2">
            <a:extLst>
              <a:ext uri="{FF2B5EF4-FFF2-40B4-BE49-F238E27FC236}">
                <a16:creationId xmlns:a16="http://schemas.microsoft.com/office/drawing/2014/main" id="{66BBE647-A8BD-6A4D-9454-61CBE71061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219200"/>
            <a:ext cx="1195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400">
                <a:latin typeface="Arial" panose="020B0604020202020204" pitchFamily="34" charset="0"/>
              </a:rPr>
              <a:t>SD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P</a:t>
            </a:r>
            <a:r>
              <a:rPr kumimoji="0" lang="en-US" altLang="en-US" sz="240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3B46B064-8E37-1447-9B89-AC42E0F5F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1289050"/>
            <a:ext cx="1531938" cy="481013"/>
          </a:xfrm>
          <a:prstGeom prst="rect">
            <a:avLst/>
          </a:prstGeom>
          <a:solidFill>
            <a:srgbClr val="EEDD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200">
                <a:latin typeface="Arial" panose="020B0604020202020204" pitchFamily="34" charset="0"/>
              </a:rPr>
              <a:t>CSJDPQV</a:t>
            </a:r>
          </a:p>
        </p:txBody>
      </p:sp>
      <p:sp>
        <p:nvSpPr>
          <p:cNvPr id="77828" name="Line 4">
            <a:extLst>
              <a:ext uri="{FF2B5EF4-FFF2-40B4-BE49-F238E27FC236}">
                <a16:creationId xmlns:a16="http://schemas.microsoft.com/office/drawing/2014/main" id="{5B262FF3-E15A-1B45-B273-FDBEA72466D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48063" y="1770063"/>
            <a:ext cx="979487" cy="6429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29" name="Line 5">
            <a:extLst>
              <a:ext uri="{FF2B5EF4-FFF2-40B4-BE49-F238E27FC236}">
                <a16:creationId xmlns:a16="http://schemas.microsoft.com/office/drawing/2014/main" id="{4DDE56AB-62AA-004D-B087-7F5104A8B6BC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9700" y="2787650"/>
            <a:ext cx="1041400" cy="587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0" name="Rectangle 6">
            <a:extLst>
              <a:ext uri="{FF2B5EF4-FFF2-40B4-BE49-F238E27FC236}">
                <a16:creationId xmlns:a16="http://schemas.microsoft.com/office/drawing/2014/main" id="{7AB0E409-B9E7-104E-B51C-DAD7AF0BC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8" y="2413000"/>
            <a:ext cx="1471612" cy="374650"/>
          </a:xfrm>
          <a:prstGeom prst="rect">
            <a:avLst/>
          </a:prstGeom>
          <a:solidFill>
            <a:srgbClr val="EEDD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200">
                <a:latin typeface="Arial" panose="020B0604020202020204" pitchFamily="34" charset="0"/>
              </a:rPr>
              <a:t>SDP</a:t>
            </a:r>
          </a:p>
        </p:txBody>
      </p:sp>
      <p:sp>
        <p:nvSpPr>
          <p:cNvPr id="77831" name="Rectangle 7">
            <a:extLst>
              <a:ext uri="{FF2B5EF4-FFF2-40B4-BE49-F238E27FC236}">
                <a16:creationId xmlns:a16="http://schemas.microsoft.com/office/drawing/2014/main" id="{C69EE398-9E87-504B-BEC6-D662C21A7A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359025"/>
            <a:ext cx="1349375" cy="428625"/>
          </a:xfrm>
          <a:prstGeom prst="rect">
            <a:avLst/>
          </a:prstGeom>
          <a:solidFill>
            <a:srgbClr val="EEDD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200">
                <a:latin typeface="Arial" panose="020B0604020202020204" pitchFamily="34" charset="0"/>
              </a:rPr>
              <a:t>CSJDQV</a:t>
            </a:r>
          </a:p>
        </p:txBody>
      </p:sp>
      <p:sp>
        <p:nvSpPr>
          <p:cNvPr id="77832" name="Text Box 8">
            <a:extLst>
              <a:ext uri="{FF2B5EF4-FFF2-40B4-BE49-F238E27FC236}">
                <a16:creationId xmlns:a16="http://schemas.microsoft.com/office/drawing/2014/main" id="{1C7DCA21-D81B-F04E-B235-29D411217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5600" y="1878013"/>
            <a:ext cx="1195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400">
                <a:latin typeface="Arial" panose="020B0604020202020204" pitchFamily="34" charset="0"/>
              </a:rPr>
              <a:t>SD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P</a:t>
            </a:r>
            <a:r>
              <a:rPr kumimoji="0" lang="en-US" altLang="en-US" sz="240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7833" name="Line 9">
            <a:extLst>
              <a:ext uri="{FF2B5EF4-FFF2-40B4-BE49-F238E27FC236}">
                <a16:creationId xmlns:a16="http://schemas.microsoft.com/office/drawing/2014/main" id="{7E4D10ED-8562-D04A-AE00-1B14A1FBEB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2787650"/>
            <a:ext cx="981075" cy="641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4" name="Rectangle 10">
            <a:extLst>
              <a:ext uri="{FF2B5EF4-FFF2-40B4-BE49-F238E27FC236}">
                <a16:creationId xmlns:a16="http://schemas.microsoft.com/office/drawing/2014/main" id="{F6FAE44D-AA87-5E45-B0EB-2AC9E8489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429000"/>
            <a:ext cx="1470025" cy="374650"/>
          </a:xfrm>
          <a:prstGeom prst="rect">
            <a:avLst/>
          </a:prstGeom>
          <a:solidFill>
            <a:srgbClr val="EEDD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200">
                <a:latin typeface="Arial" panose="020B0604020202020204" pitchFamily="34" charset="0"/>
              </a:rPr>
              <a:t>JS</a:t>
            </a:r>
          </a:p>
        </p:txBody>
      </p:sp>
      <p:sp>
        <p:nvSpPr>
          <p:cNvPr id="77835" name="Rectangle 11">
            <a:extLst>
              <a:ext uri="{FF2B5EF4-FFF2-40B4-BE49-F238E27FC236}">
                <a16:creationId xmlns:a16="http://schemas.microsoft.com/office/drawing/2014/main" id="{A02FE2AC-A541-B241-975E-0B3C6289A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175" y="3375025"/>
            <a:ext cx="1471613" cy="428625"/>
          </a:xfrm>
          <a:prstGeom prst="rect">
            <a:avLst/>
          </a:prstGeom>
          <a:solidFill>
            <a:srgbClr val="EEDD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200">
                <a:latin typeface="Arial" panose="020B0604020202020204" pitchFamily="34" charset="0"/>
              </a:rPr>
              <a:t>CJDQV</a:t>
            </a:r>
          </a:p>
        </p:txBody>
      </p:sp>
      <p:sp>
        <p:nvSpPr>
          <p:cNvPr id="77836" name="Line 12">
            <a:extLst>
              <a:ext uri="{FF2B5EF4-FFF2-40B4-BE49-F238E27FC236}">
                <a16:creationId xmlns:a16="http://schemas.microsoft.com/office/drawing/2014/main" id="{7B3D714D-D4C3-7348-96CB-A445C97FCB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6388" y="1770063"/>
            <a:ext cx="1041400" cy="5889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7837" name="Text Box 13">
            <a:extLst>
              <a:ext uri="{FF2B5EF4-FFF2-40B4-BE49-F238E27FC236}">
                <a16:creationId xmlns:a16="http://schemas.microsoft.com/office/drawing/2014/main" id="{E474C4F5-05C6-3744-9E32-22E2078AC3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3100" y="2946400"/>
            <a:ext cx="839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J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S</a:t>
            </a:r>
            <a:endParaRPr kumimoji="0" lang="en-US" altLang="en-US" sz="2400">
              <a:latin typeface="Arial" panose="020B0604020202020204" pitchFamily="34" charset="0"/>
            </a:endParaRPr>
          </a:p>
        </p:txBody>
      </p:sp>
      <p:sp>
        <p:nvSpPr>
          <p:cNvPr id="79886" name="Text Box 14">
            <a:extLst>
              <a:ext uri="{FF2B5EF4-FFF2-40B4-BE49-F238E27FC236}">
                <a16:creationId xmlns:a16="http://schemas.microsoft.com/office/drawing/2014/main" id="{4D0C27C4-C29E-FB46-A95B-740F7733FC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1676400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J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S</a:t>
            </a:r>
            <a:r>
              <a:rPr kumimoji="0" lang="en-US" altLang="en-US" sz="240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9887" name="Text Box 15">
            <a:extLst>
              <a:ext uri="{FF2B5EF4-FFF2-40B4-BE49-F238E27FC236}">
                <a16:creationId xmlns:a16="http://schemas.microsoft.com/office/drawing/2014/main" id="{88E1B2FB-09A8-5A46-AF23-4095C50D1D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762000"/>
            <a:ext cx="1319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400">
                <a:latin typeface="Arial" panose="020B0604020202020204" pitchFamily="34" charset="0"/>
              </a:rPr>
              <a:t>Key is C</a:t>
            </a:r>
          </a:p>
        </p:txBody>
      </p:sp>
      <p:sp>
        <p:nvSpPr>
          <p:cNvPr id="79888" name="Text Box 16">
            <a:extLst>
              <a:ext uri="{FF2B5EF4-FFF2-40B4-BE49-F238E27FC236}">
                <a16:creationId xmlns:a16="http://schemas.microsoft.com/office/drawing/2014/main" id="{2893A8CF-7CEB-0446-AE98-0DB618EBBB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133600"/>
            <a:ext cx="1447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JP C</a:t>
            </a:r>
            <a:r>
              <a:rPr kumimoji="0" lang="en-US" altLang="en-US" sz="240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7841" name="Rectangle 17">
            <a:extLst>
              <a:ext uri="{FF2B5EF4-FFF2-40B4-BE49-F238E27FC236}">
                <a16:creationId xmlns:a16="http://schemas.microsoft.com/office/drawing/2014/main" id="{107A2BA4-7FD4-2C4E-A599-49517B89C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4267200"/>
            <a:ext cx="1470025" cy="374650"/>
          </a:xfrm>
          <a:prstGeom prst="rect">
            <a:avLst/>
          </a:prstGeom>
          <a:solidFill>
            <a:srgbClr val="EEDD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200">
                <a:latin typeface="Arial" panose="020B0604020202020204" pitchFamily="34" charset="0"/>
              </a:rPr>
              <a:t>CJP</a:t>
            </a:r>
          </a:p>
        </p:txBody>
      </p:sp>
      <p:sp>
        <p:nvSpPr>
          <p:cNvPr id="77842" name="Text Box 18">
            <a:extLst>
              <a:ext uri="{FF2B5EF4-FFF2-40B4-BE49-F238E27FC236}">
                <a16:creationId xmlns:a16="http://schemas.microsoft.com/office/drawing/2014/main" id="{80709EA3-3796-A146-A952-68C05CFC1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191000"/>
            <a:ext cx="6940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400">
                <a:solidFill>
                  <a:schemeClr val="bg2"/>
                </a:solidFill>
                <a:latin typeface="Arial" panose="020B0604020202020204" pitchFamily="34" charset="0"/>
              </a:rPr>
              <a:t>Does not preserve </a:t>
            </a:r>
            <a:r>
              <a:rPr kumimoji="0" lang="en-US" altLang="zh-TW" sz="240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JPC, we can add a schema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:</a:t>
            </a:r>
            <a:r>
              <a:rPr kumimoji="0" lang="en-US" altLang="en-US" sz="240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7843" name="Text Box 19">
            <a:extLst>
              <a:ext uri="{FF2B5EF4-FFF2-40B4-BE49-F238E27FC236}">
                <a16:creationId xmlns:a16="http://schemas.microsoft.com/office/drawing/2014/main" id="{D6342B8B-94B1-6A4F-AFAF-2FB5A605D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5105400"/>
            <a:ext cx="7667625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2400">
                <a:solidFill>
                  <a:srgbClr val="663300"/>
                </a:solidFill>
                <a:latin typeface="Arial" panose="020B0604020202020204" pitchFamily="34" charset="0"/>
              </a:rPr>
              <a:t>Each of SDP, JS, CJDQV, CJP is in BCNF, but there is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2400">
                <a:solidFill>
                  <a:srgbClr val="663300"/>
                </a:solidFill>
                <a:latin typeface="Arial" panose="020B0604020202020204" pitchFamily="34" charset="0"/>
              </a:rPr>
              <a:t>redundancy in CJP (Not recommended).</a:t>
            </a:r>
          </a:p>
        </p:txBody>
      </p:sp>
      <p:sp>
        <p:nvSpPr>
          <p:cNvPr id="77844" name="Text Box 20">
            <a:extLst>
              <a:ext uri="{FF2B5EF4-FFF2-40B4-BE49-F238E27FC236}">
                <a16:creationId xmlns:a16="http://schemas.microsoft.com/office/drawing/2014/main" id="{EB9CD7B2-435A-A148-906B-B219692AB5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3733800"/>
            <a:ext cx="3081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400">
                <a:latin typeface="Arial" panose="020B0604020202020204" pitchFamily="34" charset="0"/>
              </a:rPr>
              <a:t>The result is in BCNF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78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78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7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7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7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7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7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78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78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78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78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778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7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30" grpId="0" animBg="1" autoUpdateAnimBg="0"/>
      <p:bldP spid="77831" grpId="0" animBg="1" autoUpdateAnimBg="0"/>
      <p:bldP spid="77832" grpId="0" autoUpdateAnimBg="0"/>
      <p:bldP spid="77834" grpId="0" animBg="1" autoUpdateAnimBg="0"/>
      <p:bldP spid="77835" grpId="0" animBg="1" autoUpdateAnimBg="0"/>
      <p:bldP spid="77837" grpId="0" autoUpdateAnimBg="0"/>
      <p:bldP spid="77841" grpId="0" animBg="1" autoUpdateAnimBg="0"/>
      <p:bldP spid="77842" grpId="0" autoUpdateAnimBg="0"/>
      <p:bldP spid="77843" grpId="0" autoUpdateAnimBg="0"/>
      <p:bldP spid="77844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Slide Number Placeholder 3">
            <a:extLst>
              <a:ext uri="{FF2B5EF4-FFF2-40B4-BE49-F238E27FC236}">
                <a16:creationId xmlns:a16="http://schemas.microsoft.com/office/drawing/2014/main" id="{B6F30EF1-FC1E-DF41-8504-D40E60DD7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9A08B49-8789-4741-852C-F3AF3E879FD9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66</a:t>
            </a:fld>
            <a:endParaRPr lang="en-US" altLang="zh-TW" sz="1400"/>
          </a:p>
        </p:txBody>
      </p:sp>
      <p:sp>
        <p:nvSpPr>
          <p:cNvPr id="80898" name="Text Box 2">
            <a:extLst>
              <a:ext uri="{FF2B5EF4-FFF2-40B4-BE49-F238E27FC236}">
                <a16:creationId xmlns:a16="http://schemas.microsoft.com/office/drawing/2014/main" id="{848A6116-0C79-7045-AD0A-375C5D86A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057400"/>
            <a:ext cx="1195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400">
                <a:latin typeface="Arial" panose="020B0604020202020204" pitchFamily="34" charset="0"/>
              </a:rPr>
              <a:t>SD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P</a:t>
            </a:r>
            <a:r>
              <a:rPr kumimoji="0" lang="en-US" altLang="en-US" sz="240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290347F8-59D4-CE4C-99A4-61BA4FCF5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1289050"/>
            <a:ext cx="1531938" cy="481013"/>
          </a:xfrm>
          <a:prstGeom prst="rect">
            <a:avLst/>
          </a:prstGeom>
          <a:solidFill>
            <a:srgbClr val="EEDD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000" b="1">
                <a:latin typeface="Arial" panose="020B0604020202020204" pitchFamily="34" charset="0"/>
              </a:rPr>
              <a:t>CSJDPQV</a:t>
            </a:r>
          </a:p>
        </p:txBody>
      </p:sp>
      <p:sp>
        <p:nvSpPr>
          <p:cNvPr id="78852" name="Line 4">
            <a:extLst>
              <a:ext uri="{FF2B5EF4-FFF2-40B4-BE49-F238E27FC236}">
                <a16:creationId xmlns:a16="http://schemas.microsoft.com/office/drawing/2014/main" id="{EA01FD3D-73FB-FE44-9E40-CDBDA8C8847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48063" y="1770063"/>
            <a:ext cx="979487" cy="6429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3" name="Line 5">
            <a:extLst>
              <a:ext uri="{FF2B5EF4-FFF2-40B4-BE49-F238E27FC236}">
                <a16:creationId xmlns:a16="http://schemas.microsoft.com/office/drawing/2014/main" id="{3F5BE0CF-A5EB-0642-9B22-9E295C8D4E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9700" y="2787650"/>
            <a:ext cx="1041400" cy="5873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4" name="Rectangle 6">
            <a:extLst>
              <a:ext uri="{FF2B5EF4-FFF2-40B4-BE49-F238E27FC236}">
                <a16:creationId xmlns:a16="http://schemas.microsoft.com/office/drawing/2014/main" id="{50976745-12ED-834D-BE4A-BFD51AACE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66988" y="2413000"/>
            <a:ext cx="1471612" cy="374650"/>
          </a:xfrm>
          <a:prstGeom prst="rect">
            <a:avLst/>
          </a:prstGeom>
          <a:solidFill>
            <a:srgbClr val="EEDD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000" b="1">
                <a:latin typeface="Arial" panose="020B0604020202020204" pitchFamily="34" charset="0"/>
              </a:rPr>
              <a:t>SDP</a:t>
            </a:r>
          </a:p>
        </p:txBody>
      </p:sp>
      <p:sp>
        <p:nvSpPr>
          <p:cNvPr id="78855" name="Rectangle 7">
            <a:extLst>
              <a:ext uri="{FF2B5EF4-FFF2-40B4-BE49-F238E27FC236}">
                <a16:creationId xmlns:a16="http://schemas.microsoft.com/office/drawing/2014/main" id="{ACD227EA-4A33-3C46-9DF3-BBC3E41CB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359025"/>
            <a:ext cx="1349375" cy="428625"/>
          </a:xfrm>
          <a:prstGeom prst="rect">
            <a:avLst/>
          </a:prstGeom>
          <a:solidFill>
            <a:srgbClr val="EEDD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000" b="1">
                <a:latin typeface="Arial" panose="020B0604020202020204" pitchFamily="34" charset="0"/>
              </a:rPr>
              <a:t>CSJDQV</a:t>
            </a:r>
          </a:p>
        </p:txBody>
      </p:sp>
      <p:sp>
        <p:nvSpPr>
          <p:cNvPr id="78856" name="Text Box 8">
            <a:extLst>
              <a:ext uri="{FF2B5EF4-FFF2-40B4-BE49-F238E27FC236}">
                <a16:creationId xmlns:a16="http://schemas.microsoft.com/office/drawing/2014/main" id="{B5492B26-805D-4A44-B92D-8948C4A07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5600" y="1878013"/>
            <a:ext cx="1195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400">
                <a:latin typeface="Arial" panose="020B0604020202020204" pitchFamily="34" charset="0"/>
              </a:rPr>
              <a:t>SD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P</a:t>
            </a:r>
            <a:r>
              <a:rPr kumimoji="0" lang="en-US" altLang="en-US" sz="240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8857" name="Line 9">
            <a:extLst>
              <a:ext uri="{FF2B5EF4-FFF2-40B4-BE49-F238E27FC236}">
                <a16:creationId xmlns:a16="http://schemas.microsoft.com/office/drawing/2014/main" id="{2FFC9F91-69D2-D840-B639-4353E908C6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895850" y="2787650"/>
            <a:ext cx="981075" cy="641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58" name="Rectangle 10">
            <a:extLst>
              <a:ext uri="{FF2B5EF4-FFF2-40B4-BE49-F238E27FC236}">
                <a16:creationId xmlns:a16="http://schemas.microsoft.com/office/drawing/2014/main" id="{F3EB7760-46FA-2B4B-BA98-DC1D5CE3E3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3429000"/>
            <a:ext cx="1470025" cy="374650"/>
          </a:xfrm>
          <a:prstGeom prst="rect">
            <a:avLst/>
          </a:prstGeom>
          <a:solidFill>
            <a:srgbClr val="EEDD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000" b="1">
                <a:latin typeface="Arial" panose="020B0604020202020204" pitchFamily="34" charset="0"/>
              </a:rPr>
              <a:t>SDQ</a:t>
            </a:r>
          </a:p>
        </p:txBody>
      </p:sp>
      <p:sp>
        <p:nvSpPr>
          <p:cNvPr id="78859" name="Rectangle 11">
            <a:extLst>
              <a:ext uri="{FF2B5EF4-FFF2-40B4-BE49-F238E27FC236}">
                <a16:creationId xmlns:a16="http://schemas.microsoft.com/office/drawing/2014/main" id="{B23DBDCB-9318-DA46-8744-8CF70F5627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4175" y="3375025"/>
            <a:ext cx="1471613" cy="428625"/>
          </a:xfrm>
          <a:prstGeom prst="rect">
            <a:avLst/>
          </a:prstGeom>
          <a:solidFill>
            <a:srgbClr val="EEDD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000" b="1">
                <a:latin typeface="Arial" panose="020B0604020202020204" pitchFamily="34" charset="0"/>
              </a:rPr>
              <a:t>CSJDV</a:t>
            </a:r>
          </a:p>
        </p:txBody>
      </p:sp>
      <p:sp>
        <p:nvSpPr>
          <p:cNvPr id="78860" name="Line 12">
            <a:extLst>
              <a:ext uri="{FF2B5EF4-FFF2-40B4-BE49-F238E27FC236}">
                <a16:creationId xmlns:a16="http://schemas.microsoft.com/office/drawing/2014/main" id="{22633EEE-B4C8-874A-817B-28469B87FFCA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6388" y="1770063"/>
            <a:ext cx="1041400" cy="5889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8861" name="Text Box 13">
            <a:extLst>
              <a:ext uri="{FF2B5EF4-FFF2-40B4-BE49-F238E27FC236}">
                <a16:creationId xmlns:a16="http://schemas.microsoft.com/office/drawing/2014/main" id="{E1C49D51-7854-B542-8EA2-967194CA4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2288" y="2946400"/>
            <a:ext cx="11445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SD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Q</a:t>
            </a:r>
            <a:endParaRPr kumimoji="0" lang="en-US" altLang="en-US" sz="2400">
              <a:latin typeface="Arial" panose="020B0604020202020204" pitchFamily="34" charset="0"/>
            </a:endParaRPr>
          </a:p>
        </p:txBody>
      </p:sp>
      <p:sp>
        <p:nvSpPr>
          <p:cNvPr id="80910" name="Text Box 14">
            <a:extLst>
              <a:ext uri="{FF2B5EF4-FFF2-40B4-BE49-F238E27FC236}">
                <a16:creationId xmlns:a16="http://schemas.microsoft.com/office/drawing/2014/main" id="{43A468A5-5448-B941-80DE-925557D93D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5146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SD</a:t>
            </a:r>
            <a:r>
              <a:rPr kumimoji="0" lang="en-US" altLang="zh-TW" sz="2400">
                <a:latin typeface="Arial" panose="020B0604020202020204" pitchFamily="34" charset="0"/>
                <a:sym typeface="Symbol" pitchFamily="2" charset="2"/>
              </a:rPr>
              <a:t>Q</a:t>
            </a:r>
            <a:r>
              <a:rPr kumimoji="0" lang="en-US" altLang="en-US" sz="240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80911" name="Text Box 15">
            <a:extLst>
              <a:ext uri="{FF2B5EF4-FFF2-40B4-BE49-F238E27FC236}">
                <a16:creationId xmlns:a16="http://schemas.microsoft.com/office/drawing/2014/main" id="{2D9D2870-779D-3249-951B-456B4614A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600200"/>
            <a:ext cx="1319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400">
                <a:latin typeface="Arial" panose="020B0604020202020204" pitchFamily="34" charset="0"/>
              </a:rPr>
              <a:t>Key is C</a:t>
            </a:r>
          </a:p>
        </p:txBody>
      </p:sp>
      <p:sp>
        <p:nvSpPr>
          <p:cNvPr id="78864" name="Text Box 16">
            <a:extLst>
              <a:ext uri="{FF2B5EF4-FFF2-40B4-BE49-F238E27FC236}">
                <a16:creationId xmlns:a16="http://schemas.microsoft.com/office/drawing/2014/main" id="{B26FB9F1-E0EF-534A-8160-CF5656F245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4367213"/>
            <a:ext cx="6213475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2200">
                <a:latin typeface="Arial" panose="020B0604020202020204" pitchFamily="34" charset="0"/>
              </a:rPr>
              <a:t>SD is a key in  SDP and SDQ,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2200">
                <a:latin typeface="Arial" panose="020B0604020202020204" pitchFamily="34" charset="0"/>
              </a:rPr>
              <a:t>There is no dependency between P and Q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2200">
                <a:latin typeface="Arial" panose="020B0604020202020204" pitchFamily="34" charset="0"/>
              </a:rPr>
              <a:t>we can combine SDP and SDQ into one schema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kumimoji="0" lang="en-US" altLang="en-US" sz="2200">
                <a:latin typeface="Arial" panose="020B0604020202020204" pitchFamily="34" charset="0"/>
              </a:rPr>
              <a:t>Resulting in </a:t>
            </a:r>
            <a:r>
              <a:rPr kumimoji="0" lang="en-US" altLang="en-US" sz="2200">
                <a:solidFill>
                  <a:schemeClr val="bg2"/>
                </a:solidFill>
                <a:latin typeface="Arial" panose="020B0604020202020204" pitchFamily="34" charset="0"/>
              </a:rPr>
              <a:t>SDPQ, CSJDV</a:t>
            </a:r>
          </a:p>
        </p:txBody>
      </p:sp>
      <p:sp>
        <p:nvSpPr>
          <p:cNvPr id="80913" name="Text Box 17">
            <a:extLst>
              <a:ext uri="{FF2B5EF4-FFF2-40B4-BE49-F238E27FC236}">
                <a16:creationId xmlns:a16="http://schemas.microsoft.com/office/drawing/2014/main" id="{B876E0D2-8F27-594B-BCE9-B1D75AA263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50" y="914400"/>
            <a:ext cx="2876550" cy="469900"/>
          </a:xfrm>
          <a:prstGeom prst="rect">
            <a:avLst/>
          </a:prstGeom>
          <a:noFill/>
          <a:ln w="12700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en-US" sz="2400">
                <a:solidFill>
                  <a:schemeClr val="bg2"/>
                </a:solidFill>
                <a:latin typeface="Arial" panose="020B0604020202020204" pitchFamily="34" charset="0"/>
              </a:rPr>
              <a:t>Possible refinement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8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8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88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8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8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88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8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8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8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88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8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78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88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8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88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4" grpId="0" animBg="1" autoUpdateAnimBg="0"/>
      <p:bldP spid="78855" grpId="0" animBg="1" autoUpdateAnimBg="0"/>
      <p:bldP spid="78856" grpId="0" autoUpdateAnimBg="0"/>
      <p:bldP spid="78858" grpId="0" animBg="1" autoUpdateAnimBg="0"/>
      <p:bldP spid="78859" grpId="0" animBg="1" autoUpdateAnimBg="0"/>
      <p:bldP spid="78861" grpId="0" autoUpdateAnimBg="0"/>
      <p:bldP spid="78864" grpId="0" build="p" autoUpdateAnimBg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Slide Number Placeholder 3">
            <a:extLst>
              <a:ext uri="{FF2B5EF4-FFF2-40B4-BE49-F238E27FC236}">
                <a16:creationId xmlns:a16="http://schemas.microsoft.com/office/drawing/2014/main" id="{F146CB78-E40D-ED4E-B54A-E27047B76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EB165C-7DA6-2141-8B26-792B3A179839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zh-TW" sz="1400"/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B04FD826-47EC-554F-969D-B64B9FEBC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219200"/>
            <a:ext cx="7924800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300">
                <a:solidFill>
                  <a:srgbClr val="006600"/>
                </a:solidFill>
                <a:sym typeface="Symbol" pitchFamily="2" charset="2"/>
              </a:rPr>
              <a:t>Example</a:t>
            </a:r>
          </a:p>
          <a:p>
            <a:pPr eaLnBrk="1" hangingPunct="1"/>
            <a:r>
              <a:rPr lang="en-US" altLang="zh-TW" sz="2300">
                <a:solidFill>
                  <a:srgbClr val="006600"/>
                </a:solidFill>
                <a:sym typeface="Symbol" pitchFamily="2" charset="2"/>
              </a:rPr>
              <a:t>R	=   ( J, K, L )</a:t>
            </a:r>
          </a:p>
          <a:p>
            <a:pPr eaLnBrk="1" hangingPunct="1">
              <a:buFontTx/>
              <a:buNone/>
            </a:pPr>
            <a:r>
              <a:rPr lang="en-US" altLang="zh-TW" sz="2300">
                <a:solidFill>
                  <a:srgbClr val="006600"/>
                </a:solidFill>
                <a:sym typeface="Symbol" pitchFamily="2" charset="2"/>
              </a:rPr>
              <a:t>	F	=   ( JK  L, L  K )</a:t>
            </a:r>
          </a:p>
          <a:p>
            <a:pPr eaLnBrk="1" hangingPunct="1">
              <a:buFontTx/>
              <a:buNone/>
            </a:pPr>
            <a:r>
              <a:rPr lang="en-US" altLang="zh-TW" sz="2300">
                <a:solidFill>
                  <a:srgbClr val="006600"/>
                </a:solidFill>
                <a:sym typeface="Symbol" pitchFamily="2" charset="2"/>
              </a:rPr>
              <a:t>    Two candidate keys </a:t>
            </a:r>
            <a:r>
              <a:rPr lang="en-US" altLang="zh-TW" sz="2300" i="1">
                <a:solidFill>
                  <a:srgbClr val="006600"/>
                </a:solidFill>
                <a:sym typeface="Symbol" pitchFamily="2" charset="2"/>
              </a:rPr>
              <a:t>JK</a:t>
            </a:r>
            <a:r>
              <a:rPr lang="en-US" altLang="zh-TW" sz="2300">
                <a:solidFill>
                  <a:srgbClr val="006600"/>
                </a:solidFill>
                <a:sym typeface="Symbol" pitchFamily="2" charset="2"/>
              </a:rPr>
              <a:t> and </a:t>
            </a:r>
            <a:r>
              <a:rPr lang="en-US" altLang="zh-TW" sz="2300" i="1">
                <a:solidFill>
                  <a:srgbClr val="006600"/>
                </a:solidFill>
                <a:sym typeface="Symbol" pitchFamily="2" charset="2"/>
              </a:rPr>
              <a:t>JL</a:t>
            </a:r>
            <a:r>
              <a:rPr lang="en-US" altLang="zh-TW" sz="2300">
                <a:solidFill>
                  <a:srgbClr val="006600"/>
                </a:solidFill>
                <a:sym typeface="Symbol" pitchFamily="2" charset="2"/>
              </a:rPr>
              <a:t>.</a:t>
            </a:r>
          </a:p>
          <a:p>
            <a:pPr eaLnBrk="1" hangingPunct="1"/>
            <a:r>
              <a:rPr lang="en-US" altLang="zh-TW" sz="2300">
                <a:sym typeface="Symbol" pitchFamily="2" charset="2"/>
              </a:rPr>
              <a:t>R is not in BCNF</a:t>
            </a:r>
          </a:p>
          <a:p>
            <a:pPr eaLnBrk="1" hangingPunct="1"/>
            <a:endParaRPr lang="en-US" altLang="zh-TW" sz="2300">
              <a:sym typeface="Symbol" pitchFamily="2" charset="2"/>
            </a:endParaRPr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6D97EDFB-ABC4-654C-B2C6-69983E64AE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657600"/>
            <a:ext cx="8305800" cy="193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200">
                <a:latin typeface="Arial" panose="020B0604020202020204" pitchFamily="34" charset="0"/>
                <a:sym typeface="Symbol" pitchFamily="2" charset="2"/>
              </a:rPr>
              <a:t>Any decomposition of R will fail to preserve </a:t>
            </a:r>
            <a:r>
              <a:rPr kumimoji="0" lang="en-US" altLang="zh-TW" sz="2200" i="1">
                <a:latin typeface="Arial" panose="020B0604020202020204" pitchFamily="34" charset="0"/>
                <a:sym typeface="Symbol" pitchFamily="2" charset="2"/>
              </a:rPr>
              <a:t>JK</a:t>
            </a:r>
            <a:r>
              <a:rPr kumimoji="0" lang="en-US" altLang="zh-TW" sz="2200"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200" i="1">
                <a:latin typeface="Arial" panose="020B0604020202020204" pitchFamily="34" charset="0"/>
                <a:sym typeface="Symbol" pitchFamily="2" charset="2"/>
              </a:rPr>
              <a:t>L</a:t>
            </a:r>
            <a:r>
              <a:rPr kumimoji="0" lang="en-US" altLang="zh-TW" sz="2200">
                <a:latin typeface="Arial" panose="020B0604020202020204" pitchFamily="34" charset="0"/>
                <a:sym typeface="Symbol" pitchFamily="2" charset="2"/>
              </a:rPr>
              <a:t>.</a:t>
            </a:r>
          </a:p>
          <a:p>
            <a:pPr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200">
                <a:latin typeface="Arial" panose="020B0604020202020204" pitchFamily="34" charset="0"/>
                <a:sym typeface="Symbol" pitchFamily="2" charset="2"/>
              </a:rPr>
              <a:t>However, it is possible for 3NF decomposition to be both </a:t>
            </a:r>
          </a:p>
          <a:p>
            <a:pPr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200">
                <a:latin typeface="Arial" panose="020B0604020202020204" pitchFamily="34" charset="0"/>
                <a:sym typeface="Symbol" pitchFamily="2" charset="2"/>
              </a:rPr>
              <a:t>lossless join and dependency preserving.</a:t>
            </a:r>
          </a:p>
          <a:p>
            <a:pPr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200">
                <a:latin typeface="Arial" panose="020B0604020202020204" pitchFamily="34" charset="0"/>
                <a:sym typeface="Symbol" pitchFamily="2" charset="2"/>
              </a:rPr>
              <a:t>To see how, we need to know something else first. 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Slide Number Placeholder 5">
            <a:extLst>
              <a:ext uri="{FF2B5EF4-FFF2-40B4-BE49-F238E27FC236}">
                <a16:creationId xmlns:a16="http://schemas.microsoft.com/office/drawing/2014/main" id="{93895C75-3AFE-754A-BD2A-F4B514842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A9D105-1B4F-494D-AB6F-49D76609A3B9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68</a:t>
            </a:fld>
            <a:endParaRPr lang="en-US" altLang="zh-TW" sz="1400"/>
          </a:p>
        </p:txBody>
      </p:sp>
      <p:sp>
        <p:nvSpPr>
          <p:cNvPr id="80898" name="Rectangle 2">
            <a:extLst>
              <a:ext uri="{FF2B5EF4-FFF2-40B4-BE49-F238E27FC236}">
                <a16:creationId xmlns:a16="http://schemas.microsoft.com/office/drawing/2014/main" id="{00943FE8-C37C-714C-A055-5FB924F1FA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Canonical Cover</a:t>
            </a:r>
          </a:p>
        </p:txBody>
      </p:sp>
      <p:sp>
        <p:nvSpPr>
          <p:cNvPr id="82947" name="Rectangle 4">
            <a:extLst>
              <a:ext uri="{FF2B5EF4-FFF2-40B4-BE49-F238E27FC236}">
                <a16:creationId xmlns:a16="http://schemas.microsoft.com/office/drawing/2014/main" id="{17A5EF82-CD45-8746-91B1-8B005FF373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marL="381000" indent="-381000" eaLnBrk="1" hangingPunct="1">
              <a:buFontTx/>
              <a:buNone/>
            </a:pPr>
            <a:r>
              <a:rPr lang="en-US" altLang="zh-TW" sz="2400">
                <a:solidFill>
                  <a:srgbClr val="A50021"/>
                </a:solidFill>
                <a:sym typeface="Symbol" pitchFamily="2" charset="2"/>
              </a:rPr>
              <a:t>A minimal and equivalent set of functional dependency</a:t>
            </a:r>
          </a:p>
          <a:p>
            <a:pPr marL="381000" indent="-381000" eaLnBrk="1" hangingPunct="1">
              <a:buFontTx/>
              <a:buNone/>
            </a:pPr>
            <a:endParaRPr lang="en-US" altLang="zh-TW" sz="2400">
              <a:solidFill>
                <a:srgbClr val="A50021"/>
              </a:solidFill>
              <a:sym typeface="Symbol" pitchFamily="2" charset="2"/>
            </a:endParaRPr>
          </a:p>
          <a:p>
            <a:pPr marL="381000" indent="-381000" eaLnBrk="1" hangingPunct="1">
              <a:buFontTx/>
              <a:buNone/>
            </a:pPr>
            <a:r>
              <a:rPr lang="en-US" altLang="zh-TW" sz="3500">
                <a:sym typeface="Symbol" pitchFamily="2" charset="2"/>
              </a:rPr>
              <a:t>	</a:t>
            </a:r>
          </a:p>
          <a:p>
            <a:pPr marL="381000" indent="-381000" eaLnBrk="1" hangingPunct="1">
              <a:buFontTx/>
              <a:buNone/>
            </a:pPr>
            <a:endParaRPr lang="en-US" altLang="zh-TW" sz="3500">
              <a:sym typeface="Symbol" pitchFamily="2" charset="2"/>
            </a:endParaRPr>
          </a:p>
        </p:txBody>
      </p:sp>
      <p:sp>
        <p:nvSpPr>
          <p:cNvPr id="82948" name="Rectangle 5">
            <a:extLst>
              <a:ext uri="{FF2B5EF4-FFF2-40B4-BE49-F238E27FC236}">
                <a16:creationId xmlns:a16="http://schemas.microsoft.com/office/drawing/2014/main" id="{DC84E0C1-619D-4448-8FC4-99807CD2F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057400"/>
            <a:ext cx="7467600" cy="9906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200000"/>
              </a:lnSpc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Two sets of functional dependencies </a:t>
            </a:r>
            <a:r>
              <a:rPr kumimoji="0" lang="en-US" altLang="zh-TW" sz="2000" i="1">
                <a:latin typeface="Arial" panose="020B0604020202020204" pitchFamily="34" charset="0"/>
                <a:sym typeface="Symbol" pitchFamily="2" charset="2"/>
              </a:rPr>
              <a:t>E</a:t>
            </a: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 and </a:t>
            </a:r>
            <a:r>
              <a:rPr kumimoji="0" lang="en-US" altLang="zh-TW" sz="2000" i="1">
                <a:latin typeface="Arial" panose="020B0604020202020204" pitchFamily="34" charset="0"/>
                <a:sym typeface="Symbol" pitchFamily="2" charset="2"/>
              </a:rPr>
              <a:t>F</a:t>
            </a: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 are </a:t>
            </a:r>
            <a:r>
              <a:rPr kumimoji="0" lang="en-US" altLang="zh-TW" sz="2000" b="1">
                <a:latin typeface="Arial" panose="020B0604020202020204" pitchFamily="34" charset="0"/>
                <a:sym typeface="Symbol" pitchFamily="2" charset="2"/>
              </a:rPr>
              <a:t>equivalent</a:t>
            </a:r>
          </a:p>
          <a:p>
            <a:pPr eaLnBrk="1" hangingPunct="1">
              <a:lnSpc>
                <a:spcPct val="90000"/>
              </a:lnSpc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000">
                <a:latin typeface="Arial" panose="020B0604020202020204" pitchFamily="34" charset="0"/>
                <a:sym typeface="Symbol" pitchFamily="2" charset="2"/>
              </a:rPr>
              <a:t> if </a:t>
            </a:r>
            <a:r>
              <a:rPr kumimoji="0" lang="en-US" altLang="zh-TW" sz="2000" i="1">
                <a:latin typeface="Arial" panose="020B0604020202020204" pitchFamily="34" charset="0"/>
                <a:sym typeface="Symbol" pitchFamily="2" charset="2"/>
              </a:rPr>
              <a:t>E</a:t>
            </a:r>
            <a:r>
              <a:rPr kumimoji="0" lang="en-US" altLang="zh-TW" sz="2000" i="1" baseline="40000">
                <a:latin typeface="Arial" panose="020B0604020202020204" pitchFamily="34" charset="0"/>
                <a:sym typeface="Symbol" pitchFamily="2" charset="2"/>
              </a:rPr>
              <a:t>+ </a:t>
            </a:r>
            <a:r>
              <a:rPr kumimoji="0" lang="en-US" altLang="zh-TW" sz="2000" i="1">
                <a:latin typeface="Arial" panose="020B0604020202020204" pitchFamily="34" charset="0"/>
                <a:sym typeface="Symbol" pitchFamily="2" charset="2"/>
              </a:rPr>
              <a:t>=</a:t>
            </a:r>
            <a:r>
              <a:rPr kumimoji="0" lang="en-US" altLang="zh-TW" sz="2000" i="1" baseline="40000">
                <a:latin typeface="Arial" panose="020B0604020202020204" pitchFamily="34" charset="0"/>
                <a:sym typeface="Symbol" pitchFamily="2" charset="2"/>
              </a:rPr>
              <a:t> </a:t>
            </a:r>
            <a:r>
              <a:rPr kumimoji="0" lang="en-US" altLang="zh-TW" sz="2000" i="1">
                <a:latin typeface="Arial" panose="020B0604020202020204" pitchFamily="34" charset="0"/>
                <a:sym typeface="Symbol" pitchFamily="2" charset="2"/>
              </a:rPr>
              <a:t>F</a:t>
            </a:r>
            <a:r>
              <a:rPr kumimoji="0" lang="en-US" altLang="zh-TW" sz="2000" i="1" baseline="40000">
                <a:latin typeface="Arial" panose="020B0604020202020204" pitchFamily="34" charset="0"/>
                <a:sym typeface="Symbol" pitchFamily="2" charset="2"/>
              </a:rPr>
              <a:t>+</a:t>
            </a:r>
          </a:p>
          <a:p>
            <a:pPr>
              <a:spcBef>
                <a:spcPct val="0"/>
              </a:spcBef>
              <a:buFontTx/>
              <a:buNone/>
            </a:pPr>
            <a:endParaRPr kumimoji="0" lang="en-US" altLang="en-US" sz="2000">
              <a:latin typeface="Arial" panose="020B0604020202020204" pitchFamily="34" charset="0"/>
            </a:endParaRPr>
          </a:p>
        </p:txBody>
      </p:sp>
      <p:sp>
        <p:nvSpPr>
          <p:cNvPr id="80902" name="Rectangle 6">
            <a:extLst>
              <a:ext uri="{FF2B5EF4-FFF2-40B4-BE49-F238E27FC236}">
                <a16:creationId xmlns:a16="http://schemas.microsoft.com/office/drawing/2014/main" id="{F5C576E6-B1F7-A644-B46D-7A3B7257E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200400"/>
            <a:ext cx="7620000" cy="3351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200">
                <a:solidFill>
                  <a:srgbClr val="006600"/>
                </a:solidFill>
                <a:latin typeface="Arial" panose="020B0604020202020204" pitchFamily="34" charset="0"/>
                <a:sym typeface="Symbol" pitchFamily="2" charset="2"/>
              </a:rPr>
              <a:t>Example</a:t>
            </a:r>
            <a:r>
              <a:rPr kumimoji="0" lang="en-US" altLang="zh-TW" sz="2200">
                <a:latin typeface="Arial" panose="020B0604020202020204" pitchFamily="34" charset="0"/>
                <a:sym typeface="Symbol" pitchFamily="2" charset="2"/>
              </a:rPr>
              <a:t>:   R = ( A, B, C )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200">
                <a:latin typeface="Arial" panose="020B0604020202020204" pitchFamily="34" charset="0"/>
                <a:sym typeface="Symbol" pitchFamily="2" charset="2"/>
              </a:rPr>
              <a:t>                  F = { </a:t>
            </a:r>
            <a:r>
              <a:rPr kumimoji="0" lang="en-US" altLang="zh-TW" sz="2200">
                <a:solidFill>
                  <a:srgbClr val="006600"/>
                </a:solidFill>
                <a:latin typeface="Arial" panose="020B0604020202020204" pitchFamily="34" charset="0"/>
                <a:sym typeface="Symbol" pitchFamily="2" charset="2"/>
              </a:rPr>
              <a:t>A  BC</a:t>
            </a:r>
            <a:r>
              <a:rPr kumimoji="0" lang="en-US" altLang="zh-TW" sz="2200">
                <a:latin typeface="Arial" panose="020B0604020202020204" pitchFamily="34" charset="0"/>
                <a:sym typeface="Symbol" pitchFamily="2" charset="2"/>
              </a:rPr>
              <a:t>, B  C, </a:t>
            </a:r>
            <a:r>
              <a:rPr kumimoji="0" lang="en-US" altLang="zh-TW" sz="2200">
                <a:solidFill>
                  <a:srgbClr val="A50021"/>
                </a:solidFill>
                <a:latin typeface="Arial" panose="020B0604020202020204" pitchFamily="34" charset="0"/>
                <a:sym typeface="Symbol" pitchFamily="2" charset="2"/>
              </a:rPr>
              <a:t>A  B</a:t>
            </a:r>
            <a:r>
              <a:rPr kumimoji="0" lang="en-US" altLang="zh-TW" sz="2200">
                <a:latin typeface="Arial" panose="020B0604020202020204" pitchFamily="34" charset="0"/>
                <a:sym typeface="Symbol" pitchFamily="2" charset="2"/>
              </a:rPr>
              <a:t>, AB  C }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endParaRPr kumimoji="0" lang="en-US" altLang="zh-TW" sz="2200">
              <a:latin typeface="Arial" panose="020B0604020202020204" pitchFamily="34" charset="0"/>
              <a:sym typeface="Symbol" pitchFamily="2" charset="2"/>
            </a:endParaRP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200">
                <a:latin typeface="Arial" panose="020B0604020202020204" pitchFamily="34" charset="0"/>
                <a:sym typeface="Symbol" pitchFamily="2" charset="2"/>
              </a:rPr>
              <a:t>F can be simplified : By the decomposition rule,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200">
                <a:latin typeface="Arial" panose="020B0604020202020204" pitchFamily="34" charset="0"/>
                <a:sym typeface="Symbol" pitchFamily="2" charset="2"/>
              </a:rPr>
              <a:t>	A  BC implies A  B and A  C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200">
                <a:latin typeface="Arial" panose="020B0604020202020204" pitchFamily="34" charset="0"/>
                <a:sym typeface="Symbol" pitchFamily="2" charset="2"/>
              </a:rPr>
              <a:t>	Therefore A  B is redundant.</a:t>
            </a:r>
          </a:p>
          <a:p>
            <a:pPr eaLnBrk="1" hangingPunct="1">
              <a:lnSpc>
                <a:spcPct val="7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20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	</a:t>
            </a:r>
            <a:r>
              <a:rPr kumimoji="0" lang="en-US" altLang="zh-TW" sz="22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F’= { A  BC, B  C, AB  C }</a:t>
            </a:r>
          </a:p>
          <a:p>
            <a:pPr>
              <a:lnSpc>
                <a:spcPct val="70000"/>
              </a:lnSpc>
              <a:spcBef>
                <a:spcPct val="50000"/>
              </a:spcBef>
              <a:buFontTx/>
              <a:buNone/>
            </a:pPr>
            <a:endParaRPr kumimoji="0" lang="en-US" altLang="en-US" sz="240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09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902" grpId="0" build="p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Slide Number Placeholder 3">
            <a:extLst>
              <a:ext uri="{FF2B5EF4-FFF2-40B4-BE49-F238E27FC236}">
                <a16:creationId xmlns:a16="http://schemas.microsoft.com/office/drawing/2014/main" id="{EE0AA0BF-BF38-6B44-BB63-DE29274DF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13D6026-A600-6641-927D-860D57BE823C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69</a:t>
            </a:fld>
            <a:endParaRPr lang="en-US" altLang="zh-TW" sz="1400"/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9F5FA756-55F1-4A44-8FA8-40AB0045A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762000"/>
            <a:ext cx="82296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400" b="1">
                <a:solidFill>
                  <a:srgbClr val="006600"/>
                </a:solidFill>
                <a:sym typeface="Symbol" pitchFamily="2" charset="2"/>
              </a:rPr>
              <a:t>Example</a:t>
            </a:r>
            <a:r>
              <a:rPr lang="en-US" altLang="zh-TW" sz="2400">
                <a:sym typeface="Symbol" pitchFamily="2" charset="2"/>
              </a:rPr>
              <a:t>:   R = ( A, B, C )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                    F = { A  BC, B  C, </a:t>
            </a:r>
            <a:r>
              <a:rPr lang="en-US" altLang="zh-TW" sz="2400" b="1">
                <a:solidFill>
                  <a:srgbClr val="A50021"/>
                </a:solidFill>
                <a:sym typeface="Symbol" pitchFamily="2" charset="2"/>
              </a:rPr>
              <a:t>A  B</a:t>
            </a:r>
            <a:r>
              <a:rPr lang="en-US" altLang="zh-TW" sz="2400">
                <a:sym typeface="Symbol" pitchFamily="2" charset="2"/>
              </a:rPr>
              <a:t>, AB  C }</a:t>
            </a:r>
          </a:p>
          <a:p>
            <a:pPr eaLnBrk="1" hangingPunct="1">
              <a:lnSpc>
                <a:spcPct val="60000"/>
              </a:lnSpc>
              <a:buFontTx/>
              <a:buNone/>
            </a:pPr>
            <a:endParaRPr lang="en-US" altLang="zh-TW" sz="2400">
              <a:sym typeface="Symbol" pitchFamily="2" charset="2"/>
            </a:endParaRPr>
          </a:p>
          <a:p>
            <a:pPr eaLnBrk="1" hangingPunct="1"/>
            <a:r>
              <a:rPr lang="en-US" altLang="zh-TW" sz="2400">
                <a:sym typeface="Symbol" pitchFamily="2" charset="2"/>
              </a:rPr>
              <a:t>Another way to show A  B is redundant: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	From A  BC, B  C,  AB  C ,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     </a:t>
            </a:r>
            <a:r>
              <a:rPr lang="en-US" altLang="zh-TW" sz="2400">
                <a:solidFill>
                  <a:srgbClr val="663300"/>
                </a:solidFill>
                <a:sym typeface="Symbol" pitchFamily="2" charset="2"/>
              </a:rPr>
              <a:t>Compute the closure of A: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olidFill>
                  <a:srgbClr val="663300"/>
                </a:solidFill>
                <a:sym typeface="Symbol" pitchFamily="2" charset="2"/>
              </a:rPr>
              <a:t>     result</a:t>
            </a:r>
            <a:r>
              <a:rPr lang="en-US" altLang="zh-TW" sz="2100" i="1" baseline="40000">
                <a:solidFill>
                  <a:srgbClr val="663300"/>
                </a:solidFill>
                <a:sym typeface="Symbol" pitchFamily="2" charset="2"/>
              </a:rPr>
              <a:t>  </a:t>
            </a:r>
            <a:r>
              <a:rPr lang="en-US" altLang="zh-TW" sz="2400">
                <a:solidFill>
                  <a:srgbClr val="663300"/>
                </a:solidFill>
                <a:sym typeface="Symbol" pitchFamily="2" charset="2"/>
              </a:rPr>
              <a:t>= A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olidFill>
                  <a:srgbClr val="663300"/>
                </a:solidFill>
                <a:sym typeface="Symbol" pitchFamily="2" charset="2"/>
              </a:rPr>
              <a:t>     result = ABC,   Hence </a:t>
            </a:r>
            <a:r>
              <a:rPr lang="en-US" altLang="zh-TW" sz="2400" i="1">
                <a:solidFill>
                  <a:srgbClr val="663300"/>
                </a:solidFill>
                <a:sym typeface="Symbol" pitchFamily="2" charset="2"/>
              </a:rPr>
              <a:t>A</a:t>
            </a:r>
            <a:r>
              <a:rPr lang="en-US" altLang="zh-TW" sz="2400" baseline="40000">
                <a:solidFill>
                  <a:srgbClr val="663300"/>
                </a:solidFill>
                <a:sym typeface="Symbol" pitchFamily="2" charset="2"/>
              </a:rPr>
              <a:t>+</a:t>
            </a:r>
            <a:r>
              <a:rPr lang="en-US" altLang="zh-TW" sz="2400">
                <a:solidFill>
                  <a:srgbClr val="663300"/>
                </a:solidFill>
                <a:sym typeface="Symbol" pitchFamily="2" charset="2"/>
              </a:rPr>
              <a:t> = </a:t>
            </a:r>
            <a:r>
              <a:rPr lang="en-US" altLang="zh-TW" sz="2400" i="1">
                <a:solidFill>
                  <a:srgbClr val="663300"/>
                </a:solidFill>
                <a:sym typeface="Symbol" pitchFamily="2" charset="2"/>
              </a:rPr>
              <a:t>ABC</a:t>
            </a:r>
          </a:p>
          <a:p>
            <a:pPr eaLnBrk="1" hangingPunct="1">
              <a:buFontTx/>
              <a:buNone/>
            </a:pPr>
            <a:endParaRPr lang="en-US" altLang="zh-TW" sz="2400">
              <a:solidFill>
                <a:srgbClr val="663300"/>
              </a:solidFill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	Therefore A  B is redundant.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olidFill>
                  <a:schemeClr val="bg2"/>
                </a:solidFill>
                <a:sym typeface="Symbol" pitchFamily="2" charset="2"/>
              </a:rPr>
              <a:t>	</a:t>
            </a:r>
            <a:r>
              <a:rPr lang="en-US" altLang="zh-TW" sz="2400">
                <a:solidFill>
                  <a:srgbClr val="000099"/>
                </a:solidFill>
                <a:sym typeface="Symbol" pitchFamily="2" charset="2"/>
              </a:rPr>
              <a:t>F</a:t>
            </a:r>
            <a:r>
              <a:rPr lang="en-US" altLang="zh-TW" sz="24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’</a:t>
            </a:r>
            <a:r>
              <a:rPr lang="en-US" altLang="zh-TW" sz="2400">
                <a:solidFill>
                  <a:srgbClr val="000099"/>
                </a:solidFill>
                <a:sym typeface="Symbol" pitchFamily="2" charset="2"/>
              </a:rPr>
              <a:t>= { A  BC, B  C, AB  C }</a:t>
            </a:r>
          </a:p>
          <a:p>
            <a:pPr eaLnBrk="1" hangingPunct="1"/>
            <a:endParaRPr lang="en-US" altLang="en-US" sz="240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Slide Number Placeholder 3">
            <a:extLst>
              <a:ext uri="{FF2B5EF4-FFF2-40B4-BE49-F238E27FC236}">
                <a16:creationId xmlns:a16="http://schemas.microsoft.com/office/drawing/2014/main" id="{B72ACD18-BE1A-2343-90AD-0678C6B3B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4C4775-134B-4D4C-8414-05067EADB0EB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70</a:t>
            </a:fld>
            <a:endParaRPr lang="en-US" altLang="zh-TW" sz="1400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F6781302-1970-DC42-83E5-44C21E24D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762000"/>
            <a:ext cx="84582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700">
                <a:solidFill>
                  <a:srgbClr val="006600"/>
                </a:solidFill>
                <a:sym typeface="Symbol" pitchFamily="2" charset="2"/>
              </a:rPr>
              <a:t>Example (cont)</a:t>
            </a:r>
          </a:p>
          <a:p>
            <a:pPr eaLnBrk="1" hangingPunct="1">
              <a:buFontTx/>
              <a:buNone/>
            </a:pPr>
            <a:r>
              <a:rPr lang="en-US" altLang="zh-TW" sz="2700">
                <a:solidFill>
                  <a:srgbClr val="006600"/>
                </a:solidFill>
                <a:sym typeface="Symbol" pitchFamily="2" charset="2"/>
              </a:rPr>
              <a:t>F</a:t>
            </a:r>
            <a:r>
              <a:rPr lang="en-US" altLang="zh-TW" sz="2700">
                <a:solidFill>
                  <a:srgbClr val="006600"/>
                </a:solidFill>
                <a:latin typeface="Arial" panose="020B0604020202020204" pitchFamily="34" charset="0"/>
                <a:sym typeface="Symbol" pitchFamily="2" charset="2"/>
              </a:rPr>
              <a:t>’</a:t>
            </a:r>
            <a:r>
              <a:rPr lang="en-US" altLang="zh-TW" sz="2700">
                <a:solidFill>
                  <a:srgbClr val="006600"/>
                </a:solidFill>
                <a:sym typeface="Symbol" pitchFamily="2" charset="2"/>
              </a:rPr>
              <a:t> can be further simplified</a:t>
            </a:r>
          </a:p>
          <a:p>
            <a:pPr eaLnBrk="1" hangingPunct="1"/>
            <a:r>
              <a:rPr lang="en-US" altLang="zh-TW" sz="2700">
                <a:sym typeface="Symbol" pitchFamily="2" charset="2"/>
              </a:rPr>
              <a:t>F</a:t>
            </a:r>
            <a:r>
              <a:rPr lang="en-US" altLang="zh-TW" sz="2700">
                <a:latin typeface="Arial" panose="020B0604020202020204" pitchFamily="34" charset="0"/>
                <a:sym typeface="Symbol" pitchFamily="2" charset="2"/>
              </a:rPr>
              <a:t>’</a:t>
            </a:r>
            <a:r>
              <a:rPr lang="en-US" altLang="zh-TW" sz="2700">
                <a:sym typeface="Symbol" pitchFamily="2" charset="2"/>
              </a:rPr>
              <a:t> = { A  BC, B  C, </a:t>
            </a:r>
            <a:r>
              <a:rPr lang="en-US" altLang="zh-TW" sz="2700">
                <a:solidFill>
                  <a:srgbClr val="A50021"/>
                </a:solidFill>
                <a:sym typeface="Symbol" pitchFamily="2" charset="2"/>
              </a:rPr>
              <a:t>AB  C</a:t>
            </a:r>
            <a:r>
              <a:rPr lang="en-US" altLang="zh-TW" sz="2700">
                <a:sym typeface="Symbol" pitchFamily="2" charset="2"/>
              </a:rPr>
              <a:t> }</a:t>
            </a:r>
          </a:p>
          <a:p>
            <a:pPr eaLnBrk="1" hangingPunct="1"/>
            <a:endParaRPr lang="en-US" altLang="zh-TW" sz="2700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700">
                <a:sym typeface="Symbol" pitchFamily="2" charset="2"/>
              </a:rPr>
              <a:t>	B  C </a:t>
            </a:r>
            <a:r>
              <a:rPr lang="en-US" altLang="zh-TW" sz="2700" b="1">
                <a:sym typeface="Symbol" pitchFamily="2" charset="2"/>
              </a:rPr>
              <a:t>               </a:t>
            </a:r>
            <a:r>
              <a:rPr lang="en-US" altLang="zh-TW" sz="2700">
                <a:sym typeface="Symbol" pitchFamily="2" charset="2"/>
              </a:rPr>
              <a:t>(given)</a:t>
            </a:r>
          </a:p>
          <a:p>
            <a:pPr eaLnBrk="1" hangingPunct="1">
              <a:buFontTx/>
              <a:buNone/>
            </a:pPr>
            <a:r>
              <a:rPr lang="en-US" altLang="zh-TW" sz="2700">
                <a:sym typeface="Symbol" pitchFamily="2" charset="2"/>
              </a:rPr>
              <a:t>	AB  AC	( augmentation )</a:t>
            </a:r>
          </a:p>
          <a:p>
            <a:pPr eaLnBrk="1" hangingPunct="1">
              <a:buFontTx/>
              <a:buNone/>
            </a:pPr>
            <a:r>
              <a:rPr lang="en-US" altLang="zh-TW" sz="2700">
                <a:sym typeface="Symbol" pitchFamily="2" charset="2"/>
              </a:rPr>
              <a:t>	AB  C		( decomposition )</a:t>
            </a:r>
          </a:p>
          <a:p>
            <a:pPr eaLnBrk="1" hangingPunct="1">
              <a:buFontTx/>
              <a:buNone/>
            </a:pPr>
            <a:r>
              <a:rPr lang="en-US" altLang="zh-TW" sz="2700">
                <a:sym typeface="Symbol" pitchFamily="2" charset="2"/>
              </a:rPr>
              <a:t>	AB  C is redundant,</a:t>
            </a:r>
          </a:p>
          <a:p>
            <a:pPr eaLnBrk="1" hangingPunct="1">
              <a:buFontTx/>
              <a:buNone/>
            </a:pPr>
            <a:r>
              <a:rPr lang="en-US" altLang="zh-TW" sz="2700">
                <a:sym typeface="Symbol" pitchFamily="2" charset="2"/>
              </a:rPr>
              <a:t>	or A </a:t>
            </a:r>
            <a:r>
              <a:rPr lang="en-US" altLang="zh-TW" sz="2700" b="1">
                <a:sym typeface="Symbol" pitchFamily="2" charset="2"/>
              </a:rPr>
              <a:t>is extraneous</a:t>
            </a:r>
            <a:r>
              <a:rPr lang="en-US" altLang="zh-TW" sz="2700">
                <a:sym typeface="Symbol" pitchFamily="2" charset="2"/>
              </a:rPr>
              <a:t> in AB  C.</a:t>
            </a:r>
          </a:p>
          <a:p>
            <a:pPr eaLnBrk="1" hangingPunct="1">
              <a:buFontTx/>
              <a:buNone/>
            </a:pPr>
            <a:endParaRPr lang="en-US" altLang="zh-TW" sz="2700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700">
                <a:solidFill>
                  <a:schemeClr val="bg2"/>
                </a:solidFill>
                <a:sym typeface="Symbol" pitchFamily="2" charset="2"/>
              </a:rPr>
              <a:t>	</a:t>
            </a:r>
            <a:r>
              <a:rPr lang="en-US" altLang="zh-TW" sz="2700">
                <a:solidFill>
                  <a:srgbClr val="000099"/>
                </a:solidFill>
                <a:sym typeface="Symbol" pitchFamily="2" charset="2"/>
              </a:rPr>
              <a:t>F</a:t>
            </a:r>
            <a:r>
              <a:rPr lang="en-US" altLang="zh-TW" sz="27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”</a:t>
            </a:r>
            <a:r>
              <a:rPr lang="en-US" altLang="zh-TW" sz="2700">
                <a:solidFill>
                  <a:srgbClr val="000099"/>
                </a:solidFill>
                <a:sym typeface="Symbol" pitchFamily="2" charset="2"/>
              </a:rPr>
              <a:t>= { A  BC, B  C }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Slide Number Placeholder 3">
            <a:extLst>
              <a:ext uri="{FF2B5EF4-FFF2-40B4-BE49-F238E27FC236}">
                <a16:creationId xmlns:a16="http://schemas.microsoft.com/office/drawing/2014/main" id="{BD13E415-2DC6-8C40-8A3E-B38430CEF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4A3CC6F-B993-914D-BE00-C281305D7168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71</a:t>
            </a:fld>
            <a:endParaRPr lang="en-US" altLang="zh-TW" sz="1400"/>
          </a:p>
        </p:txBody>
      </p:sp>
      <p:sp>
        <p:nvSpPr>
          <p:cNvPr id="83970" name="Rectangle 2">
            <a:extLst>
              <a:ext uri="{FF2B5EF4-FFF2-40B4-BE49-F238E27FC236}">
                <a16:creationId xmlns:a16="http://schemas.microsoft.com/office/drawing/2014/main" id="{3F7FBAED-8784-6F42-AB02-D5E1C83B7D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609600"/>
            <a:ext cx="83058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>
                <a:solidFill>
                  <a:srgbClr val="006600"/>
                </a:solidFill>
                <a:sym typeface="Symbol" pitchFamily="2" charset="2"/>
              </a:rPr>
              <a:t>Example (cont.)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>
                <a:sym typeface="Symbol" pitchFamily="2" charset="2"/>
              </a:rPr>
              <a:t>F</a:t>
            </a:r>
            <a:r>
              <a:rPr lang="en-US" altLang="zh-TW" sz="2400">
                <a:latin typeface="Arial" panose="020B0604020202020204" pitchFamily="34" charset="0"/>
                <a:sym typeface="Symbol" pitchFamily="2" charset="2"/>
              </a:rPr>
              <a:t>’</a:t>
            </a:r>
            <a:r>
              <a:rPr lang="en-US" altLang="zh-TW" sz="2400">
                <a:sym typeface="Symbol" pitchFamily="2" charset="2"/>
              </a:rPr>
              <a:t> = { A  BC, B  C, </a:t>
            </a:r>
            <a:r>
              <a:rPr lang="en-US" altLang="zh-TW" sz="2400">
                <a:solidFill>
                  <a:srgbClr val="A50021"/>
                </a:solidFill>
                <a:sym typeface="Symbol" pitchFamily="2" charset="2"/>
              </a:rPr>
              <a:t>AB  C</a:t>
            </a:r>
            <a:r>
              <a:rPr lang="en-US" altLang="zh-TW" sz="2400">
                <a:sym typeface="Symbol" pitchFamily="2" charset="2"/>
              </a:rPr>
              <a:t> }</a:t>
            </a:r>
          </a:p>
          <a:p>
            <a:pPr eaLnBrk="1" hangingPunct="1">
              <a:lnSpc>
                <a:spcPct val="90000"/>
              </a:lnSpc>
            </a:pPr>
            <a:endParaRPr lang="en-US" altLang="zh-TW" sz="110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>
                <a:solidFill>
                  <a:schemeClr val="bg2"/>
                </a:solidFill>
                <a:sym typeface="Symbol" pitchFamily="2" charset="2"/>
              </a:rPr>
              <a:t>	Another way to show that A is extraneous in AB  C</a:t>
            </a:r>
            <a:endParaRPr lang="en-US" altLang="zh-TW" sz="2400" b="1">
              <a:solidFill>
                <a:schemeClr val="bg2"/>
              </a:solidFill>
              <a:sym typeface="Symbol" pitchFamily="2" charset="2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400">
                <a:sym typeface="Symbol" pitchFamily="2" charset="2"/>
              </a:rPr>
              <a:t>F</a:t>
            </a:r>
            <a:r>
              <a:rPr lang="en-US" altLang="zh-TW" sz="2400">
                <a:latin typeface="Arial" panose="020B0604020202020204" pitchFamily="34" charset="0"/>
                <a:sym typeface="Symbol" pitchFamily="2" charset="2"/>
              </a:rPr>
              <a:t>”</a:t>
            </a:r>
            <a:r>
              <a:rPr lang="en-US" altLang="zh-TW" sz="2400">
                <a:sym typeface="Symbol" pitchFamily="2" charset="2"/>
              </a:rPr>
              <a:t> = { A  BC, B  C} </a:t>
            </a:r>
            <a:endParaRPr lang="en-US" altLang="zh-TW" sz="2400">
              <a:solidFill>
                <a:srgbClr val="663300"/>
              </a:solidFill>
              <a:sym typeface="Symbol" pitchFamily="2" charset="2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400">
                <a:solidFill>
                  <a:srgbClr val="663300"/>
                </a:solidFill>
                <a:sym typeface="Symbol" pitchFamily="2" charset="2"/>
              </a:rPr>
              <a:t>we can compute (</a:t>
            </a:r>
            <a:r>
              <a:rPr lang="en-US" altLang="zh-TW" sz="2400" i="1">
                <a:solidFill>
                  <a:srgbClr val="663300"/>
                </a:solidFill>
                <a:sym typeface="Symbol" pitchFamily="2" charset="2"/>
              </a:rPr>
              <a:t>AB)</a:t>
            </a:r>
            <a:r>
              <a:rPr lang="en-US" altLang="zh-TW" sz="2400" baseline="40000">
                <a:solidFill>
                  <a:srgbClr val="663300"/>
                </a:solidFill>
                <a:sym typeface="Symbol" pitchFamily="2" charset="2"/>
              </a:rPr>
              <a:t>+</a:t>
            </a:r>
            <a:r>
              <a:rPr lang="en-US" altLang="zh-TW" sz="2400">
                <a:solidFill>
                  <a:srgbClr val="663300"/>
                </a:solidFill>
                <a:sym typeface="Symbol" pitchFamily="2" charset="2"/>
              </a:rPr>
              <a:t> under </a:t>
            </a:r>
            <a:r>
              <a:rPr lang="en-US" altLang="zh-TW" sz="2400" i="1">
                <a:solidFill>
                  <a:srgbClr val="663300"/>
                </a:solidFill>
                <a:sym typeface="Symbol" pitchFamily="2" charset="2"/>
              </a:rPr>
              <a:t>F</a:t>
            </a:r>
            <a:r>
              <a:rPr lang="en-US" altLang="zh-TW" sz="2400">
                <a:solidFill>
                  <a:srgbClr val="663300"/>
                </a:solidFill>
                <a:latin typeface="Arial" panose="020B0604020202020204" pitchFamily="34" charset="0"/>
                <a:sym typeface="Symbol" pitchFamily="2" charset="2"/>
              </a:rPr>
              <a:t>”</a:t>
            </a:r>
            <a:r>
              <a:rPr lang="en-US" altLang="zh-TW" sz="2400">
                <a:solidFill>
                  <a:srgbClr val="663300"/>
                </a:solidFill>
                <a:sym typeface="Symbol" pitchFamily="2" charset="2"/>
              </a:rPr>
              <a:t> as follows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400">
                <a:solidFill>
                  <a:srgbClr val="663300"/>
                </a:solidFill>
                <a:sym typeface="Symbol" pitchFamily="2" charset="2"/>
              </a:rPr>
              <a:t>	result = AB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400">
                <a:solidFill>
                  <a:srgbClr val="663300"/>
                </a:solidFill>
                <a:sym typeface="Symbol" pitchFamily="2" charset="2"/>
              </a:rPr>
              <a:t>	result = ABC	( B  C 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zh-TW" sz="2400">
              <a:solidFill>
                <a:srgbClr val="663300"/>
              </a:solidFill>
              <a:sym typeface="Symbol" pitchFamily="2" charset="2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400">
                <a:sym typeface="Symbol" pitchFamily="2" charset="2"/>
              </a:rPr>
              <a:t>Hence (</a:t>
            </a:r>
            <a:r>
              <a:rPr lang="en-US" altLang="zh-TW" sz="2400" i="1">
                <a:sym typeface="Symbol" pitchFamily="2" charset="2"/>
              </a:rPr>
              <a:t>AB)</a:t>
            </a:r>
            <a:r>
              <a:rPr lang="en-US" altLang="zh-TW" sz="2400" baseline="40000">
                <a:sym typeface="Symbol" pitchFamily="2" charset="2"/>
              </a:rPr>
              <a:t>+</a:t>
            </a:r>
            <a:r>
              <a:rPr lang="en-US" altLang="zh-TW" sz="2400">
                <a:sym typeface="Symbol" pitchFamily="2" charset="2"/>
              </a:rPr>
              <a:t> = </a:t>
            </a:r>
            <a:r>
              <a:rPr lang="en-US" altLang="zh-TW" sz="2400" i="1">
                <a:sym typeface="Symbol" pitchFamily="2" charset="2"/>
              </a:rPr>
              <a:t>ABC</a:t>
            </a:r>
            <a:endParaRPr lang="en-US" altLang="zh-TW" sz="240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>
                <a:sym typeface="Symbol" pitchFamily="2" charset="2"/>
              </a:rPr>
              <a:t>		AB  C is redundant,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>
                <a:sym typeface="Symbol" pitchFamily="2" charset="2"/>
              </a:rPr>
              <a:t>	or A </a:t>
            </a:r>
            <a:r>
              <a:rPr lang="en-US" altLang="zh-TW" sz="2400" b="1">
                <a:sym typeface="Symbol" pitchFamily="2" charset="2"/>
              </a:rPr>
              <a:t>is extraneous</a:t>
            </a:r>
            <a:r>
              <a:rPr lang="en-US" altLang="zh-TW" sz="2400">
                <a:sym typeface="Symbol" pitchFamily="2" charset="2"/>
              </a:rPr>
              <a:t> in AB  C.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110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>
                <a:solidFill>
                  <a:srgbClr val="006600"/>
                </a:solidFill>
                <a:sym typeface="Symbol" pitchFamily="2" charset="2"/>
              </a:rPr>
              <a:t>	F</a:t>
            </a:r>
            <a:r>
              <a:rPr lang="en-US" altLang="zh-TW" sz="2400">
                <a:solidFill>
                  <a:srgbClr val="006600"/>
                </a:solidFill>
                <a:latin typeface="Arial" panose="020B0604020202020204" pitchFamily="34" charset="0"/>
                <a:sym typeface="Symbol" pitchFamily="2" charset="2"/>
              </a:rPr>
              <a:t>”</a:t>
            </a:r>
            <a:r>
              <a:rPr lang="en-US" altLang="zh-TW" sz="2400">
                <a:solidFill>
                  <a:srgbClr val="006600"/>
                </a:solidFill>
                <a:sym typeface="Symbol" pitchFamily="2" charset="2"/>
              </a:rPr>
              <a:t>= { A  BC, B  C 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97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 build="p" bldLvl="2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Slide Number Placeholder 3">
            <a:extLst>
              <a:ext uri="{FF2B5EF4-FFF2-40B4-BE49-F238E27FC236}">
                <a16:creationId xmlns:a16="http://schemas.microsoft.com/office/drawing/2014/main" id="{5BCB28BE-7FF3-FE4A-B152-CCD6D621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579FBE-17BD-F845-9826-8E35C06AA57C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72</a:t>
            </a:fld>
            <a:endParaRPr lang="en-US" altLang="zh-TW" sz="1400"/>
          </a:p>
        </p:txBody>
      </p:sp>
      <p:sp>
        <p:nvSpPr>
          <p:cNvPr id="84994" name="Rectangle 2">
            <a:extLst>
              <a:ext uri="{FF2B5EF4-FFF2-40B4-BE49-F238E27FC236}">
                <a16:creationId xmlns:a16="http://schemas.microsoft.com/office/drawing/2014/main" id="{FA3B7D75-82CE-594D-8349-8F58323804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85344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400">
                <a:solidFill>
                  <a:srgbClr val="006600"/>
                </a:solidFill>
                <a:sym typeface="Symbol" pitchFamily="2" charset="2"/>
              </a:rPr>
              <a:t>Example (cont.)</a:t>
            </a:r>
          </a:p>
          <a:p>
            <a:pPr eaLnBrk="1" hangingPunct="1">
              <a:buFontTx/>
              <a:buNone/>
            </a:pPr>
            <a:endParaRPr lang="en-US" altLang="zh-TW" sz="2400">
              <a:solidFill>
                <a:srgbClr val="006600"/>
              </a:solidFill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F</a:t>
            </a:r>
            <a:r>
              <a:rPr lang="en-US" altLang="zh-TW" sz="2400">
                <a:latin typeface="Arial" panose="020B0604020202020204" pitchFamily="34" charset="0"/>
                <a:sym typeface="Symbol" pitchFamily="2" charset="2"/>
              </a:rPr>
              <a:t>”</a:t>
            </a:r>
            <a:r>
              <a:rPr lang="en-US" altLang="zh-TW" sz="2400">
                <a:sym typeface="Symbol" pitchFamily="2" charset="2"/>
              </a:rPr>
              <a:t>= { </a:t>
            </a:r>
            <a:r>
              <a:rPr lang="en-US" altLang="zh-TW" sz="2400">
                <a:solidFill>
                  <a:srgbClr val="A50021"/>
                </a:solidFill>
                <a:sym typeface="Symbol" pitchFamily="2" charset="2"/>
              </a:rPr>
              <a:t>A  BC</a:t>
            </a:r>
            <a:r>
              <a:rPr lang="en-US" altLang="zh-TW" sz="2400">
                <a:sym typeface="Symbol" pitchFamily="2" charset="2"/>
              </a:rPr>
              <a:t>, B  C }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>
                <a:sym typeface="Symbol" pitchFamily="2" charset="2"/>
              </a:rPr>
              <a:t>     C </a:t>
            </a:r>
            <a:r>
              <a:rPr lang="en-US" altLang="zh-TW" sz="2400" b="1">
                <a:sym typeface="Symbol" pitchFamily="2" charset="2"/>
              </a:rPr>
              <a:t>is</a:t>
            </a:r>
            <a:r>
              <a:rPr lang="en-US" altLang="zh-TW" sz="2400">
                <a:sym typeface="Symbol" pitchFamily="2" charset="2"/>
              </a:rPr>
              <a:t> </a:t>
            </a:r>
            <a:r>
              <a:rPr lang="en-US" altLang="zh-TW" sz="2400" b="1">
                <a:sym typeface="Symbol" pitchFamily="2" charset="2"/>
              </a:rPr>
              <a:t>extraneous</a:t>
            </a:r>
            <a:r>
              <a:rPr lang="en-US" altLang="zh-TW" sz="2400">
                <a:sym typeface="Symbol" pitchFamily="2" charset="2"/>
              </a:rPr>
              <a:t> in A  BC :</a:t>
            </a:r>
          </a:p>
          <a:p>
            <a:pPr eaLnBrk="1" hangingPunct="1">
              <a:buFont typeface="Wingdings" pitchFamily="2" charset="2"/>
              <a:buAutoNum type="arabicPeriod" startAt="3"/>
            </a:pPr>
            <a:endParaRPr lang="en-US" altLang="zh-TW" sz="1000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	From A  B and B  C</a:t>
            </a:r>
            <a:endParaRPr lang="en-US" altLang="zh-TW" sz="2400" b="1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	we can deduce A  C	( transitivity ).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	From A  B and A  C</a:t>
            </a:r>
          </a:p>
          <a:p>
            <a:pPr eaLnBrk="1" hangingPunct="1">
              <a:buFontTx/>
              <a:buNone/>
            </a:pPr>
            <a:r>
              <a:rPr lang="en-US" altLang="zh-TW" sz="2400">
                <a:sym typeface="Symbol" pitchFamily="2" charset="2"/>
              </a:rPr>
              <a:t>	we get A  BC		( union )</a:t>
            </a:r>
          </a:p>
          <a:p>
            <a:pPr eaLnBrk="1" hangingPunct="1">
              <a:buFontTx/>
              <a:buNone/>
            </a:pPr>
            <a:endParaRPr lang="en-US" altLang="zh-TW" sz="1000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400">
                <a:solidFill>
                  <a:schemeClr val="bg2"/>
                </a:solidFill>
                <a:sym typeface="Symbol" pitchFamily="2" charset="2"/>
              </a:rPr>
              <a:t>	</a:t>
            </a:r>
            <a:r>
              <a:rPr lang="en-US" altLang="zh-TW" sz="2400">
                <a:solidFill>
                  <a:srgbClr val="000099"/>
                </a:solidFill>
                <a:sym typeface="Symbol" pitchFamily="2" charset="2"/>
              </a:rPr>
              <a:t>F</a:t>
            </a:r>
            <a:r>
              <a:rPr lang="en-US" altLang="zh-TW" sz="24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”’</a:t>
            </a:r>
            <a:r>
              <a:rPr lang="en-US" altLang="zh-TW" sz="2400">
                <a:solidFill>
                  <a:srgbClr val="000099"/>
                </a:solidFill>
                <a:sym typeface="Symbol" pitchFamily="2" charset="2"/>
              </a:rPr>
              <a:t> = { A  B, B  C }</a:t>
            </a:r>
            <a:r>
              <a:rPr lang="en-US" altLang="zh-TW" sz="2400">
                <a:solidFill>
                  <a:schemeClr val="bg2"/>
                </a:solidFill>
                <a:sym typeface="Symbol" pitchFamily="2" charset="2"/>
              </a:rPr>
              <a:t> </a:t>
            </a:r>
            <a:r>
              <a:rPr lang="en-US" altLang="zh-TW" sz="2300">
                <a:solidFill>
                  <a:srgbClr val="A50021"/>
                </a:solidFill>
                <a:latin typeface="Arial" panose="020B0604020202020204" pitchFamily="34" charset="0"/>
                <a:sym typeface="Symbol" pitchFamily="2" charset="2"/>
              </a:rPr>
              <a:t>……</a:t>
            </a:r>
            <a:r>
              <a:rPr lang="en-US" altLang="zh-TW" sz="2300">
                <a:solidFill>
                  <a:srgbClr val="A50021"/>
                </a:solidFill>
                <a:sym typeface="Symbol" pitchFamily="2" charset="2"/>
              </a:rPr>
              <a:t>.. This is a canonical cover for F</a:t>
            </a:r>
          </a:p>
          <a:p>
            <a:pPr eaLnBrk="1" hangingPunct="1">
              <a:buFontTx/>
              <a:buNone/>
            </a:pPr>
            <a:endParaRPr lang="en-US" altLang="zh-TW" sz="2400">
              <a:solidFill>
                <a:schemeClr val="bg2"/>
              </a:solidFill>
              <a:sym typeface="Symbol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9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4" grpId="0" build="p" bldLvl="2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Slide Number Placeholder 3">
            <a:extLst>
              <a:ext uri="{FF2B5EF4-FFF2-40B4-BE49-F238E27FC236}">
                <a16:creationId xmlns:a16="http://schemas.microsoft.com/office/drawing/2014/main" id="{07E30EA6-2513-4B41-89B7-3FEFD992D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A0B0CB0-130D-7540-A281-1408B408B559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73</a:t>
            </a:fld>
            <a:endParaRPr lang="en-US" altLang="zh-TW" sz="1400"/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C1F805E0-F940-284C-A9D0-A205744A5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609600"/>
            <a:ext cx="83058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>
                <a:solidFill>
                  <a:srgbClr val="006600"/>
                </a:solidFill>
                <a:sym typeface="Symbol" pitchFamily="2" charset="2"/>
              </a:rPr>
              <a:t>Example  (cont.)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ym typeface="Symbol" pitchFamily="2" charset="2"/>
              </a:rPr>
              <a:t> F</a:t>
            </a:r>
            <a:r>
              <a:rPr lang="en-US" altLang="zh-TW" sz="2300">
                <a:latin typeface="Arial" panose="020B0604020202020204" pitchFamily="34" charset="0"/>
                <a:sym typeface="Symbol" pitchFamily="2" charset="2"/>
              </a:rPr>
              <a:t>”</a:t>
            </a:r>
            <a:r>
              <a:rPr lang="en-US" altLang="zh-TW" sz="2300">
                <a:sym typeface="Symbol" pitchFamily="2" charset="2"/>
              </a:rPr>
              <a:t>= { A  BC, B  C }</a:t>
            </a:r>
            <a:endParaRPr lang="en-US" altLang="zh-TW" sz="2300">
              <a:solidFill>
                <a:schemeClr val="bg2"/>
              </a:solidFill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>
                <a:solidFill>
                  <a:schemeClr val="bg2"/>
                </a:solidFill>
                <a:sym typeface="Symbol" pitchFamily="2" charset="2"/>
              </a:rPr>
              <a:t>	Another way to show C </a:t>
            </a:r>
            <a:r>
              <a:rPr lang="en-US" altLang="zh-TW" sz="2300" b="1">
                <a:solidFill>
                  <a:schemeClr val="bg2"/>
                </a:solidFill>
                <a:sym typeface="Symbol" pitchFamily="2" charset="2"/>
              </a:rPr>
              <a:t>is</a:t>
            </a:r>
            <a:r>
              <a:rPr lang="en-US" altLang="zh-TW" sz="2300">
                <a:solidFill>
                  <a:schemeClr val="bg2"/>
                </a:solidFill>
                <a:sym typeface="Symbol" pitchFamily="2" charset="2"/>
              </a:rPr>
              <a:t> </a:t>
            </a:r>
            <a:r>
              <a:rPr lang="en-US" altLang="zh-TW" sz="2300" b="1">
                <a:solidFill>
                  <a:schemeClr val="bg2"/>
                </a:solidFill>
                <a:sym typeface="Symbol" pitchFamily="2" charset="2"/>
              </a:rPr>
              <a:t>extraneous</a:t>
            </a:r>
            <a:r>
              <a:rPr lang="en-US" altLang="zh-TW" sz="2300">
                <a:solidFill>
                  <a:schemeClr val="bg2"/>
                </a:solidFill>
                <a:sym typeface="Symbol" pitchFamily="2" charset="2"/>
              </a:rPr>
              <a:t> in A  BC</a:t>
            </a:r>
            <a:r>
              <a:rPr lang="en-US" altLang="zh-TW" sz="2300">
                <a:sym typeface="Symbol" pitchFamily="2" charset="2"/>
              </a:rPr>
              <a:t> 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zh-TW" sz="2300">
              <a:sym typeface="Symbol" pitchFamily="2" charset="2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ym typeface="Symbol" pitchFamily="2" charset="2"/>
              </a:rPr>
              <a:t>F</a:t>
            </a:r>
            <a:r>
              <a:rPr lang="en-US" altLang="zh-TW" sz="2300">
                <a:latin typeface="Arial" panose="020B0604020202020204" pitchFamily="34" charset="0"/>
                <a:sym typeface="Symbol" pitchFamily="2" charset="2"/>
              </a:rPr>
              <a:t>’”</a:t>
            </a:r>
            <a:r>
              <a:rPr lang="en-US" altLang="zh-TW" sz="2300">
                <a:sym typeface="Symbol" pitchFamily="2" charset="2"/>
              </a:rPr>
              <a:t> = { A  B, B  C} </a:t>
            </a:r>
            <a:endParaRPr lang="en-US" altLang="zh-TW" sz="2300">
              <a:solidFill>
                <a:srgbClr val="663300"/>
              </a:solidFill>
              <a:sym typeface="Symbol" pitchFamily="2" charset="2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olidFill>
                  <a:srgbClr val="663300"/>
                </a:solidFill>
                <a:sym typeface="Symbol" pitchFamily="2" charset="2"/>
              </a:rPr>
              <a:t>we can compute </a:t>
            </a:r>
            <a:r>
              <a:rPr lang="en-US" altLang="zh-TW" sz="2300" i="1">
                <a:solidFill>
                  <a:srgbClr val="663300"/>
                </a:solidFill>
                <a:sym typeface="Symbol" pitchFamily="2" charset="2"/>
              </a:rPr>
              <a:t>A</a:t>
            </a:r>
            <a:r>
              <a:rPr lang="en-US" altLang="zh-TW" sz="2300" baseline="40000">
                <a:solidFill>
                  <a:srgbClr val="663300"/>
                </a:solidFill>
                <a:sym typeface="Symbol" pitchFamily="2" charset="2"/>
              </a:rPr>
              <a:t>+</a:t>
            </a:r>
            <a:r>
              <a:rPr lang="en-US" altLang="zh-TW" sz="2300">
                <a:solidFill>
                  <a:srgbClr val="663300"/>
                </a:solidFill>
                <a:sym typeface="Symbol" pitchFamily="2" charset="2"/>
              </a:rPr>
              <a:t> under </a:t>
            </a:r>
            <a:r>
              <a:rPr lang="en-US" altLang="zh-TW" sz="2300" i="1">
                <a:solidFill>
                  <a:srgbClr val="663300"/>
                </a:solidFill>
                <a:sym typeface="Symbol" pitchFamily="2" charset="2"/>
              </a:rPr>
              <a:t>F</a:t>
            </a:r>
            <a:r>
              <a:rPr lang="en-US" altLang="zh-TW" sz="2300">
                <a:solidFill>
                  <a:srgbClr val="663300"/>
                </a:solidFill>
                <a:latin typeface="Arial" panose="020B0604020202020204" pitchFamily="34" charset="0"/>
                <a:sym typeface="Symbol" pitchFamily="2" charset="2"/>
              </a:rPr>
              <a:t>’”</a:t>
            </a:r>
            <a:r>
              <a:rPr lang="en-US" altLang="zh-TW" sz="2300">
                <a:solidFill>
                  <a:srgbClr val="663300"/>
                </a:solidFill>
                <a:sym typeface="Symbol" pitchFamily="2" charset="2"/>
              </a:rPr>
              <a:t> as follows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olidFill>
                  <a:srgbClr val="663300"/>
                </a:solidFill>
                <a:sym typeface="Symbol" pitchFamily="2" charset="2"/>
              </a:rPr>
              <a:t>	result = A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olidFill>
                  <a:srgbClr val="663300"/>
                </a:solidFill>
                <a:sym typeface="Symbol" pitchFamily="2" charset="2"/>
              </a:rPr>
              <a:t>	result = AB	( A  B 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olidFill>
                  <a:srgbClr val="663300"/>
                </a:solidFill>
                <a:sym typeface="Symbol" pitchFamily="2" charset="2"/>
              </a:rPr>
              <a:t>	result = ABC	( B  C )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zh-TW" sz="2300">
              <a:solidFill>
                <a:srgbClr val="663300"/>
              </a:solidFill>
              <a:sym typeface="Symbol" pitchFamily="2" charset="2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ym typeface="Symbol" pitchFamily="2" charset="2"/>
              </a:rPr>
              <a:t>Hence </a:t>
            </a:r>
            <a:r>
              <a:rPr lang="en-US" altLang="zh-TW" sz="2300" i="1">
                <a:sym typeface="Symbol" pitchFamily="2" charset="2"/>
              </a:rPr>
              <a:t>A</a:t>
            </a:r>
            <a:r>
              <a:rPr lang="en-US" altLang="zh-TW" sz="2300" baseline="40000">
                <a:sym typeface="Symbol" pitchFamily="2" charset="2"/>
              </a:rPr>
              <a:t>+</a:t>
            </a:r>
            <a:r>
              <a:rPr lang="en-US" altLang="zh-TW" sz="2300">
                <a:sym typeface="Symbol" pitchFamily="2" charset="2"/>
              </a:rPr>
              <a:t> = </a:t>
            </a:r>
            <a:r>
              <a:rPr lang="en-US" altLang="zh-TW" sz="2300" i="1">
                <a:sym typeface="Symbol" pitchFamily="2" charset="2"/>
              </a:rPr>
              <a:t>ABC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ym typeface="Symbol" pitchFamily="2" charset="2"/>
              </a:rPr>
              <a:t>A  BC can be deduced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zh-TW" sz="230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olidFill>
                  <a:srgbClr val="A50021"/>
                </a:solidFill>
                <a:sym typeface="Symbol" pitchFamily="2" charset="2"/>
              </a:rPr>
              <a:t>	F</a:t>
            </a:r>
            <a:r>
              <a:rPr lang="en-US" altLang="zh-TW" sz="2300">
                <a:solidFill>
                  <a:srgbClr val="A50021"/>
                </a:solidFill>
                <a:latin typeface="Arial" panose="020B0604020202020204" pitchFamily="34" charset="0"/>
                <a:sym typeface="Symbol" pitchFamily="2" charset="2"/>
              </a:rPr>
              <a:t>”’</a:t>
            </a:r>
            <a:r>
              <a:rPr lang="en-US" altLang="zh-TW" sz="2300">
                <a:solidFill>
                  <a:srgbClr val="A50021"/>
                </a:solidFill>
                <a:sym typeface="Symbol" pitchFamily="2" charset="2"/>
              </a:rPr>
              <a:t> = { A  B, B  C }  </a:t>
            </a:r>
            <a:r>
              <a:rPr lang="en-US" altLang="zh-TW" sz="2300">
                <a:solidFill>
                  <a:srgbClr val="A50021"/>
                </a:solidFill>
                <a:latin typeface="Arial" panose="020B0604020202020204" pitchFamily="34" charset="0"/>
                <a:sym typeface="Symbol" pitchFamily="2" charset="2"/>
              </a:rPr>
              <a:t>……</a:t>
            </a:r>
            <a:r>
              <a:rPr lang="en-US" altLang="zh-TW" sz="2300">
                <a:solidFill>
                  <a:srgbClr val="A50021"/>
                </a:solidFill>
                <a:sym typeface="Symbol" pitchFamily="2" charset="2"/>
              </a:rPr>
              <a:t>.. This is a canonical cover for 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8" grpId="0" build="p" bldLvl="2" autoUpdateAnimBg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Slide Number Placeholder 5">
            <a:extLst>
              <a:ext uri="{FF2B5EF4-FFF2-40B4-BE49-F238E27FC236}">
                <a16:creationId xmlns:a16="http://schemas.microsoft.com/office/drawing/2014/main" id="{28A9CA1F-61F7-304E-8725-027D6FD9A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11CCF7D-0E9B-3D49-8FA7-1599E4226629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74</a:t>
            </a:fld>
            <a:endParaRPr lang="en-US" altLang="zh-TW" sz="1400"/>
          </a:p>
        </p:txBody>
      </p:sp>
      <p:sp>
        <p:nvSpPr>
          <p:cNvPr id="89090" name="Rectangle 3">
            <a:extLst>
              <a:ext uri="{FF2B5EF4-FFF2-40B4-BE49-F238E27FC236}">
                <a16:creationId xmlns:a16="http://schemas.microsoft.com/office/drawing/2014/main" id="{755DA562-C50E-A54E-A6B2-D9D2BA4CC0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85800"/>
            <a:ext cx="7772400" cy="54102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zh-TW" altLang="en-US"/>
              <a:t>	</a:t>
            </a:r>
            <a:r>
              <a:rPr lang="en-US" altLang="zh-TW"/>
              <a:t>A canonical cover F</a:t>
            </a:r>
            <a:r>
              <a:rPr lang="en-US" altLang="zh-TW" baseline="-25000"/>
              <a:t>c</a:t>
            </a:r>
            <a:r>
              <a:rPr lang="en-US" altLang="zh-TW"/>
              <a:t> of a set of functional dependency F must have the following properties.</a:t>
            </a:r>
          </a:p>
          <a:p>
            <a:pPr marL="990600" lvl="1" indent="-533400" eaLnBrk="1" hangingPunct="1">
              <a:buFontTx/>
              <a:buAutoNum type="arabicPeriod"/>
            </a:pPr>
            <a:r>
              <a:rPr lang="en-US" altLang="zh-TW"/>
              <a:t>Every functional dependency             in F</a:t>
            </a:r>
            <a:r>
              <a:rPr lang="en-US" altLang="zh-TW" baseline="-25000"/>
              <a:t>c</a:t>
            </a:r>
            <a:r>
              <a:rPr lang="en-US" altLang="zh-TW"/>
              <a:t> contains no </a:t>
            </a:r>
            <a:r>
              <a:rPr lang="en-US" altLang="zh-TW" b="1"/>
              <a:t>extraneous</a:t>
            </a:r>
            <a:r>
              <a:rPr lang="en-US" altLang="zh-TW"/>
              <a:t> attributes in     (ones that can be removed from     without changing F</a:t>
            </a:r>
            <a:r>
              <a:rPr lang="en-US" altLang="zh-TW" baseline="-25000"/>
              <a:t>c</a:t>
            </a:r>
            <a:r>
              <a:rPr lang="en-US" altLang="zh-TW" baseline="30000"/>
              <a:t>+</a:t>
            </a:r>
            <a:r>
              <a:rPr lang="en-US" altLang="zh-TW"/>
              <a:t>). So </a:t>
            </a:r>
            <a:r>
              <a:rPr lang="en-US" altLang="zh-TW" i="1"/>
              <a:t>A</a:t>
            </a:r>
            <a:r>
              <a:rPr lang="en-US" altLang="zh-TW"/>
              <a:t> is extraneous in     if              and </a:t>
            </a:r>
          </a:p>
          <a:p>
            <a:pPr marL="990600" lvl="1" indent="-533400" eaLnBrk="1" hangingPunct="1">
              <a:buFontTx/>
              <a:buNone/>
            </a:pPr>
            <a:r>
              <a:rPr lang="en-US" altLang="zh-TW"/>
              <a:t>                                                                    logically implies F</a:t>
            </a:r>
            <a:r>
              <a:rPr lang="en-US" altLang="zh-TW" baseline="-25000"/>
              <a:t>c</a:t>
            </a:r>
            <a:r>
              <a:rPr lang="en-US" altLang="zh-TW"/>
              <a:t>.</a:t>
            </a:r>
          </a:p>
          <a:p>
            <a:pPr marL="990600" lvl="1" indent="-533400" eaLnBrk="1" hangingPunct="1">
              <a:buFontTx/>
              <a:buAutoNum type="arabicPeriod"/>
            </a:pPr>
            <a:endParaRPr lang="en-US" altLang="zh-TW"/>
          </a:p>
        </p:txBody>
      </p:sp>
      <p:graphicFrame>
        <p:nvGraphicFramePr>
          <p:cNvPr id="89091" name="Object 4">
            <a:extLst>
              <a:ext uri="{FF2B5EF4-FFF2-40B4-BE49-F238E27FC236}">
                <a16:creationId xmlns:a16="http://schemas.microsoft.com/office/drawing/2014/main" id="{1F99E633-842E-E541-95F3-E826FC5D33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2286000"/>
          <a:ext cx="10668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820400" imgH="4686300" progId="Equation.3">
                  <p:embed/>
                </p:oleObj>
              </mc:Choice>
              <mc:Fallback>
                <p:oleObj name="Equation" r:id="rId2" imgW="10820400" imgH="4686300" progId="Equation.3">
                  <p:embed/>
                  <p:pic>
                    <p:nvPicPr>
                      <p:cNvPr id="89091" name="Object 4">
                        <a:extLst>
                          <a:ext uri="{FF2B5EF4-FFF2-40B4-BE49-F238E27FC236}">
                            <a16:creationId xmlns:a16="http://schemas.microsoft.com/office/drawing/2014/main" id="{1F99E633-842E-E541-95F3-E826FC5D33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2286000"/>
                        <a:ext cx="10668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2" name="Object 5">
            <a:extLst>
              <a:ext uri="{FF2B5EF4-FFF2-40B4-BE49-F238E27FC236}">
                <a16:creationId xmlns:a16="http://schemas.microsoft.com/office/drawing/2014/main" id="{ACC599C5-4F52-4347-8037-D9A159223E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0400" y="2774950"/>
          <a:ext cx="3810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05200" imgH="3213100" progId="Equation.3">
                  <p:embed/>
                </p:oleObj>
              </mc:Choice>
              <mc:Fallback>
                <p:oleObj name="Equation" r:id="rId4" imgW="3505200" imgH="3213100" progId="Equation.3">
                  <p:embed/>
                  <p:pic>
                    <p:nvPicPr>
                      <p:cNvPr id="89092" name="Object 5">
                        <a:extLst>
                          <a:ext uri="{FF2B5EF4-FFF2-40B4-BE49-F238E27FC236}">
                            <a16:creationId xmlns:a16="http://schemas.microsoft.com/office/drawing/2014/main" id="{ACC599C5-4F52-4347-8037-D9A159223EF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0400" y="2774950"/>
                        <a:ext cx="38100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3" name="Object 6">
            <a:extLst>
              <a:ext uri="{FF2B5EF4-FFF2-40B4-BE49-F238E27FC236}">
                <a16:creationId xmlns:a16="http://schemas.microsoft.com/office/drawing/2014/main" id="{BB60891B-2CB4-4D4B-BC3A-C859CB7760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3200400"/>
          <a:ext cx="3810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05200" imgH="3213100" progId="Equation.3">
                  <p:embed/>
                </p:oleObj>
              </mc:Choice>
              <mc:Fallback>
                <p:oleObj name="Equation" r:id="rId6" imgW="3505200" imgH="3213100" progId="Equation.3">
                  <p:embed/>
                  <p:pic>
                    <p:nvPicPr>
                      <p:cNvPr id="89093" name="Object 6">
                        <a:extLst>
                          <a:ext uri="{FF2B5EF4-FFF2-40B4-BE49-F238E27FC236}">
                            <a16:creationId xmlns:a16="http://schemas.microsoft.com/office/drawing/2014/main" id="{BB60891B-2CB4-4D4B-BC3A-C859CB7760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3200400"/>
                        <a:ext cx="38100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4" name="Object 7">
            <a:extLst>
              <a:ext uri="{FF2B5EF4-FFF2-40B4-BE49-F238E27FC236}">
                <a16:creationId xmlns:a16="http://schemas.microsoft.com/office/drawing/2014/main" id="{79DB9C61-AE0E-7C4B-81BE-4BBA58116F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62600" y="3613150"/>
          <a:ext cx="3810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05200" imgH="3213100" progId="Equation.3">
                  <p:embed/>
                </p:oleObj>
              </mc:Choice>
              <mc:Fallback>
                <p:oleObj name="Equation" r:id="rId6" imgW="3505200" imgH="3213100" progId="Equation.3">
                  <p:embed/>
                  <p:pic>
                    <p:nvPicPr>
                      <p:cNvPr id="89094" name="Object 7">
                        <a:extLst>
                          <a:ext uri="{FF2B5EF4-FFF2-40B4-BE49-F238E27FC236}">
                            <a16:creationId xmlns:a16="http://schemas.microsoft.com/office/drawing/2014/main" id="{79DB9C61-AE0E-7C4B-81BE-4BBA58116F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613150"/>
                        <a:ext cx="381000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5" name="Object 8">
            <a:extLst>
              <a:ext uri="{FF2B5EF4-FFF2-40B4-BE49-F238E27FC236}">
                <a16:creationId xmlns:a16="http://schemas.microsoft.com/office/drawing/2014/main" id="{E6D45166-4A6B-6E4B-84C6-A8075D5984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24600" y="3549650"/>
          <a:ext cx="9144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067800" imgH="4102100" progId="Equation.3">
                  <p:embed/>
                </p:oleObj>
              </mc:Choice>
              <mc:Fallback>
                <p:oleObj name="Equation" r:id="rId7" imgW="9067800" imgH="4102100" progId="Equation.3">
                  <p:embed/>
                  <p:pic>
                    <p:nvPicPr>
                      <p:cNvPr id="89095" name="Object 8">
                        <a:extLst>
                          <a:ext uri="{FF2B5EF4-FFF2-40B4-BE49-F238E27FC236}">
                            <a16:creationId xmlns:a16="http://schemas.microsoft.com/office/drawing/2014/main" id="{E6D45166-4A6B-6E4B-84C6-A8075D5984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24600" y="3549650"/>
                        <a:ext cx="9144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6" name="Object 9">
            <a:extLst>
              <a:ext uri="{FF2B5EF4-FFF2-40B4-BE49-F238E27FC236}">
                <a16:creationId xmlns:a16="http://schemas.microsoft.com/office/drawing/2014/main" id="{BE85E89F-ADDA-CF47-92E4-FCF63D584E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4038600"/>
          <a:ext cx="42672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3891200" imgH="5270500" progId="Equation.3">
                  <p:embed/>
                </p:oleObj>
              </mc:Choice>
              <mc:Fallback>
                <p:oleObj name="Equation" r:id="rId9" imgW="43891200" imgH="5270500" progId="Equation.3">
                  <p:embed/>
                  <p:pic>
                    <p:nvPicPr>
                      <p:cNvPr id="89096" name="Object 9">
                        <a:extLst>
                          <a:ext uri="{FF2B5EF4-FFF2-40B4-BE49-F238E27FC236}">
                            <a16:creationId xmlns:a16="http://schemas.microsoft.com/office/drawing/2014/main" id="{BE85E89F-ADDA-CF47-92E4-FCF63D584E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4038600"/>
                        <a:ext cx="42672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Slide Number Placeholder 5">
            <a:extLst>
              <a:ext uri="{FF2B5EF4-FFF2-40B4-BE49-F238E27FC236}">
                <a16:creationId xmlns:a16="http://schemas.microsoft.com/office/drawing/2014/main" id="{FC24B19C-6E70-B044-BC96-839BE0DD7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BE99F54-8F3F-634D-9DC9-D46077202790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75</a:t>
            </a:fld>
            <a:endParaRPr lang="en-US" altLang="zh-TW" sz="1400"/>
          </a:p>
        </p:txBody>
      </p:sp>
      <p:sp>
        <p:nvSpPr>
          <p:cNvPr id="90114" name="Rectangle 3">
            <a:extLst>
              <a:ext uri="{FF2B5EF4-FFF2-40B4-BE49-F238E27FC236}">
                <a16:creationId xmlns:a16="http://schemas.microsoft.com/office/drawing/2014/main" id="{7BFBBBEC-45BB-D64F-9203-13ECC19AEF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marL="990600" lvl="1" indent="-533400" eaLnBrk="1" hangingPunct="1">
              <a:buFontTx/>
              <a:buAutoNum type="arabicPeriod" startAt="2"/>
            </a:pPr>
            <a:r>
              <a:rPr lang="en-US" altLang="zh-TW"/>
              <a:t>Every functional dependency              in F</a:t>
            </a:r>
            <a:r>
              <a:rPr lang="en-US" altLang="zh-TW" baseline="-25000"/>
              <a:t>c</a:t>
            </a:r>
            <a:r>
              <a:rPr lang="en-US" altLang="zh-TW"/>
              <a:t> contains no </a:t>
            </a:r>
            <a:r>
              <a:rPr lang="en-US" altLang="zh-TW" b="1"/>
              <a:t>extraneous</a:t>
            </a:r>
            <a:r>
              <a:rPr lang="en-US" altLang="zh-TW"/>
              <a:t> attributes in     (ones that can be removed from    without changing F</a:t>
            </a:r>
            <a:r>
              <a:rPr lang="en-US" altLang="zh-TW" baseline="-25000"/>
              <a:t>c</a:t>
            </a:r>
            <a:r>
              <a:rPr lang="en-US" altLang="zh-TW" baseline="30000"/>
              <a:t>+</a:t>
            </a:r>
            <a:r>
              <a:rPr lang="en-US" altLang="zh-TW"/>
              <a:t>). So </a:t>
            </a:r>
            <a:r>
              <a:rPr lang="en-US" altLang="zh-TW" i="1"/>
              <a:t>A</a:t>
            </a:r>
            <a:r>
              <a:rPr lang="en-US" altLang="zh-TW"/>
              <a:t> is extraneous in    if             and                                                                                           </a:t>
            </a:r>
          </a:p>
          <a:p>
            <a:pPr marL="990600" lvl="1" indent="-533400" eaLnBrk="1" hangingPunct="1"/>
            <a:endParaRPr lang="en-US" altLang="zh-TW"/>
          </a:p>
          <a:p>
            <a:pPr marL="990600" lvl="1" indent="-533400" eaLnBrk="1" hangingPunct="1">
              <a:buFontTx/>
              <a:buNone/>
            </a:pPr>
            <a:r>
              <a:rPr lang="en-US" altLang="zh-TW"/>
              <a:t>      logically implies F</a:t>
            </a:r>
            <a:r>
              <a:rPr lang="en-US" altLang="zh-TW" baseline="-25000"/>
              <a:t>c</a:t>
            </a:r>
            <a:r>
              <a:rPr lang="en-US" altLang="zh-TW"/>
              <a:t>. </a:t>
            </a:r>
          </a:p>
          <a:p>
            <a:pPr marL="990600" lvl="1" indent="-533400" eaLnBrk="1" hangingPunct="1">
              <a:buFontTx/>
              <a:buAutoNum type="arabicPeriod" startAt="3"/>
            </a:pPr>
            <a:r>
              <a:rPr lang="en-US" altLang="zh-TW"/>
              <a:t>Each left side of a functional dependency in F</a:t>
            </a:r>
            <a:r>
              <a:rPr lang="en-US" altLang="zh-TW" baseline="-25000"/>
              <a:t>c</a:t>
            </a:r>
            <a:r>
              <a:rPr lang="en-US" altLang="zh-TW"/>
              <a:t> is unique. That is there are no two dependencies              and              in F</a:t>
            </a:r>
            <a:r>
              <a:rPr lang="en-US" altLang="zh-TW" baseline="-25000"/>
              <a:t>c</a:t>
            </a:r>
            <a:r>
              <a:rPr lang="en-US" altLang="zh-TW"/>
              <a:t> such that            . </a:t>
            </a:r>
          </a:p>
          <a:p>
            <a:pPr marL="990600" lvl="1" indent="-533400" eaLnBrk="1" hangingPunct="1">
              <a:buFontTx/>
              <a:buAutoNum type="arabicPeriod" startAt="3"/>
            </a:pPr>
            <a:endParaRPr lang="en-US" altLang="zh-TW"/>
          </a:p>
        </p:txBody>
      </p:sp>
      <p:graphicFrame>
        <p:nvGraphicFramePr>
          <p:cNvPr id="90115" name="Object 4">
            <a:extLst>
              <a:ext uri="{FF2B5EF4-FFF2-40B4-BE49-F238E27FC236}">
                <a16:creationId xmlns:a16="http://schemas.microsoft.com/office/drawing/2014/main" id="{98BEE34D-A0FF-DB46-BBD1-5C4F1D18A7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3600" y="838200"/>
          <a:ext cx="10668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820400" imgH="4686300" progId="Equation.3">
                  <p:embed/>
                </p:oleObj>
              </mc:Choice>
              <mc:Fallback>
                <p:oleObj name="Equation" r:id="rId2" imgW="10820400" imgH="4686300" progId="Equation.3">
                  <p:embed/>
                  <p:pic>
                    <p:nvPicPr>
                      <p:cNvPr id="90115" name="Object 4">
                        <a:extLst>
                          <a:ext uri="{FF2B5EF4-FFF2-40B4-BE49-F238E27FC236}">
                            <a16:creationId xmlns:a16="http://schemas.microsoft.com/office/drawing/2014/main" id="{98BEE34D-A0FF-DB46-BBD1-5C4F1D18A73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3600" y="838200"/>
                        <a:ext cx="10668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6" name="Object 5">
            <a:extLst>
              <a:ext uri="{FF2B5EF4-FFF2-40B4-BE49-F238E27FC236}">
                <a16:creationId xmlns:a16="http://schemas.microsoft.com/office/drawing/2014/main" id="{2C7BB240-5325-7D48-BD0B-6CBC46EFFE5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08800" y="1295400"/>
          <a:ext cx="330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797300" imgH="4686300" progId="Equation.3">
                  <p:embed/>
                </p:oleObj>
              </mc:Choice>
              <mc:Fallback>
                <p:oleObj name="Equation" r:id="rId4" imgW="3797300" imgH="4686300" progId="Equation.3">
                  <p:embed/>
                  <p:pic>
                    <p:nvPicPr>
                      <p:cNvPr id="90116" name="Object 5">
                        <a:extLst>
                          <a:ext uri="{FF2B5EF4-FFF2-40B4-BE49-F238E27FC236}">
                            <a16:creationId xmlns:a16="http://schemas.microsoft.com/office/drawing/2014/main" id="{2C7BB240-5325-7D48-BD0B-6CBC46EFFE5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08800" y="1295400"/>
                        <a:ext cx="330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7" name="Object 6">
            <a:extLst>
              <a:ext uri="{FF2B5EF4-FFF2-40B4-BE49-F238E27FC236}">
                <a16:creationId xmlns:a16="http://schemas.microsoft.com/office/drawing/2014/main" id="{082A750F-4BF5-7541-95FE-BBA5F8A559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10200" y="1727200"/>
          <a:ext cx="330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797300" imgH="4686300" progId="Equation.3">
                  <p:embed/>
                </p:oleObj>
              </mc:Choice>
              <mc:Fallback>
                <p:oleObj name="Equation" r:id="rId6" imgW="3797300" imgH="4686300" progId="Equation.3">
                  <p:embed/>
                  <p:pic>
                    <p:nvPicPr>
                      <p:cNvPr id="90117" name="Object 6">
                        <a:extLst>
                          <a:ext uri="{FF2B5EF4-FFF2-40B4-BE49-F238E27FC236}">
                            <a16:creationId xmlns:a16="http://schemas.microsoft.com/office/drawing/2014/main" id="{082A750F-4BF5-7541-95FE-BBA5F8A559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0200" y="1727200"/>
                        <a:ext cx="330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8" name="Object 7">
            <a:extLst>
              <a:ext uri="{FF2B5EF4-FFF2-40B4-BE49-F238E27FC236}">
                <a16:creationId xmlns:a16="http://schemas.microsoft.com/office/drawing/2014/main" id="{C0374509-5E19-A34F-80EA-CBA6EB07B1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2133600"/>
          <a:ext cx="330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797300" imgH="4686300" progId="Equation.3">
                  <p:embed/>
                </p:oleObj>
              </mc:Choice>
              <mc:Fallback>
                <p:oleObj name="Equation" r:id="rId6" imgW="3797300" imgH="4686300" progId="Equation.3">
                  <p:embed/>
                  <p:pic>
                    <p:nvPicPr>
                      <p:cNvPr id="90118" name="Object 7">
                        <a:extLst>
                          <a:ext uri="{FF2B5EF4-FFF2-40B4-BE49-F238E27FC236}">
                            <a16:creationId xmlns:a16="http://schemas.microsoft.com/office/drawing/2014/main" id="{C0374509-5E19-A34F-80EA-CBA6EB07B1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2133600"/>
                        <a:ext cx="3302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9" name="Object 8">
            <a:extLst>
              <a:ext uri="{FF2B5EF4-FFF2-40B4-BE49-F238E27FC236}">
                <a16:creationId xmlns:a16="http://schemas.microsoft.com/office/drawing/2014/main" id="{AED3EBA4-B80C-5849-AD35-82B1DE3E2F2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2133600"/>
          <a:ext cx="889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9359900" imgH="4686300" progId="Equation.3">
                  <p:embed/>
                </p:oleObj>
              </mc:Choice>
              <mc:Fallback>
                <p:oleObj name="Equation" r:id="rId7" imgW="9359900" imgH="4686300" progId="Equation.3">
                  <p:embed/>
                  <p:pic>
                    <p:nvPicPr>
                      <p:cNvPr id="90119" name="Object 8">
                        <a:extLst>
                          <a:ext uri="{FF2B5EF4-FFF2-40B4-BE49-F238E27FC236}">
                            <a16:creationId xmlns:a16="http://schemas.microsoft.com/office/drawing/2014/main" id="{AED3EBA4-B80C-5849-AD35-82B1DE3E2F2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133600"/>
                        <a:ext cx="889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0" name="Object 9">
            <a:extLst>
              <a:ext uri="{FF2B5EF4-FFF2-40B4-BE49-F238E27FC236}">
                <a16:creationId xmlns:a16="http://schemas.microsoft.com/office/drawing/2014/main" id="{56938544-F4FE-B64E-899B-AAC923959B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52600" y="2590800"/>
          <a:ext cx="42672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3891200" imgH="5270500" progId="Equation.3">
                  <p:embed/>
                </p:oleObj>
              </mc:Choice>
              <mc:Fallback>
                <p:oleObj name="Equation" r:id="rId9" imgW="43891200" imgH="5270500" progId="Equation.3">
                  <p:embed/>
                  <p:pic>
                    <p:nvPicPr>
                      <p:cNvPr id="90120" name="Object 9">
                        <a:extLst>
                          <a:ext uri="{FF2B5EF4-FFF2-40B4-BE49-F238E27FC236}">
                            <a16:creationId xmlns:a16="http://schemas.microsoft.com/office/drawing/2014/main" id="{56938544-F4FE-B64E-899B-AAC923959B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2590800"/>
                        <a:ext cx="42672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1" name="Object 10">
            <a:extLst>
              <a:ext uri="{FF2B5EF4-FFF2-40B4-BE49-F238E27FC236}">
                <a16:creationId xmlns:a16="http://schemas.microsoft.com/office/drawing/2014/main" id="{7F598F6E-3105-7649-84EE-41ACFB4949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3800" y="4495800"/>
          <a:ext cx="1066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293600" imgH="4978400" progId="Equation.3">
                  <p:embed/>
                </p:oleObj>
              </mc:Choice>
              <mc:Fallback>
                <p:oleObj name="Equation" r:id="rId11" imgW="12293600" imgH="4978400" progId="Equation.3">
                  <p:embed/>
                  <p:pic>
                    <p:nvPicPr>
                      <p:cNvPr id="90121" name="Object 10">
                        <a:extLst>
                          <a:ext uri="{FF2B5EF4-FFF2-40B4-BE49-F238E27FC236}">
                            <a16:creationId xmlns:a16="http://schemas.microsoft.com/office/drawing/2014/main" id="{7F598F6E-3105-7649-84EE-41ACFB49492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4495800"/>
                        <a:ext cx="1066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2" name="Object 11">
            <a:extLst>
              <a:ext uri="{FF2B5EF4-FFF2-40B4-BE49-F238E27FC236}">
                <a16:creationId xmlns:a16="http://schemas.microsoft.com/office/drawing/2014/main" id="{8A4C45E8-B58C-E24A-9066-4FC7CAA20ED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48300" y="4495800"/>
          <a:ext cx="1143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169900" imgH="4978400" progId="Equation.3">
                  <p:embed/>
                </p:oleObj>
              </mc:Choice>
              <mc:Fallback>
                <p:oleObj name="Equation" r:id="rId13" imgW="13169900" imgH="4978400" progId="Equation.3">
                  <p:embed/>
                  <p:pic>
                    <p:nvPicPr>
                      <p:cNvPr id="90122" name="Object 11">
                        <a:extLst>
                          <a:ext uri="{FF2B5EF4-FFF2-40B4-BE49-F238E27FC236}">
                            <a16:creationId xmlns:a16="http://schemas.microsoft.com/office/drawing/2014/main" id="{8A4C45E8-B58C-E24A-9066-4FC7CAA20E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4495800"/>
                        <a:ext cx="1143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23" name="Object 12">
            <a:extLst>
              <a:ext uri="{FF2B5EF4-FFF2-40B4-BE49-F238E27FC236}">
                <a16:creationId xmlns:a16="http://schemas.microsoft.com/office/drawing/2014/main" id="{CF411264-5D31-284E-8563-733D128592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4924425"/>
          <a:ext cx="914400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112500" imgH="4978400" progId="Equation.3">
                  <p:embed/>
                </p:oleObj>
              </mc:Choice>
              <mc:Fallback>
                <p:oleObj name="Equation" r:id="rId15" imgW="11112500" imgH="4978400" progId="Equation.3">
                  <p:embed/>
                  <p:pic>
                    <p:nvPicPr>
                      <p:cNvPr id="90123" name="Object 12">
                        <a:extLst>
                          <a:ext uri="{FF2B5EF4-FFF2-40B4-BE49-F238E27FC236}">
                            <a16:creationId xmlns:a16="http://schemas.microsoft.com/office/drawing/2014/main" id="{CF411264-5D31-284E-8563-733D128592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924425"/>
                        <a:ext cx="914400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Slide Number Placeholder 3">
            <a:extLst>
              <a:ext uri="{FF2B5EF4-FFF2-40B4-BE49-F238E27FC236}">
                <a16:creationId xmlns:a16="http://schemas.microsoft.com/office/drawing/2014/main" id="{A1CCDA7E-547B-5949-9DD3-4206276E7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410B2F-03DA-5F40-A225-CA31A6985944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76</a:t>
            </a:fld>
            <a:endParaRPr lang="en-US" altLang="zh-TW" sz="1400"/>
          </a:p>
        </p:txBody>
      </p:sp>
      <p:sp>
        <p:nvSpPr>
          <p:cNvPr id="91138" name="Rectangle 2">
            <a:extLst>
              <a:ext uri="{FF2B5EF4-FFF2-40B4-BE49-F238E27FC236}">
                <a16:creationId xmlns:a16="http://schemas.microsoft.com/office/drawing/2014/main" id="{78C8B170-DC8E-6642-AC29-0F00F65FB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133600"/>
            <a:ext cx="8305800" cy="3429000"/>
          </a:xfrm>
          <a:prstGeom prst="rect">
            <a:avLst/>
          </a:prstGeom>
          <a:solidFill>
            <a:schemeClr val="hlink">
              <a:alpha val="50195"/>
            </a:schemeClr>
          </a:solidFill>
          <a:ln w="57150" cmpd="thickThin">
            <a:solidFill>
              <a:schemeClr val="accent1"/>
            </a:solidFill>
            <a:miter lim="800000"/>
            <a:headEnd/>
            <a:tailEnd/>
          </a:ln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800" b="1">
                <a:sym typeface="Symbol" pitchFamily="2" charset="2"/>
              </a:rPr>
              <a:t>repeat</a:t>
            </a:r>
          </a:p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		Replace any </a:t>
            </a:r>
            <a:r>
              <a:rPr lang="en-US" altLang="zh-TW" sz="2800" i="1">
                <a:sym typeface="Symbol" pitchFamily="2" charset="2"/>
              </a:rPr>
              <a:t></a:t>
            </a:r>
            <a:r>
              <a:rPr lang="en-US" altLang="zh-TW" sz="2800" baseline="-25000">
                <a:sym typeface="Symbol" pitchFamily="2" charset="2"/>
              </a:rPr>
              <a:t>1</a:t>
            </a:r>
            <a:r>
              <a:rPr lang="en-US" altLang="zh-TW" sz="2800">
                <a:sym typeface="Symbol" pitchFamily="2" charset="2"/>
              </a:rPr>
              <a:t>  </a:t>
            </a:r>
            <a:r>
              <a:rPr lang="en-US" altLang="zh-TW" sz="2800" i="1">
                <a:sym typeface="Symbol" pitchFamily="2" charset="2"/>
              </a:rPr>
              <a:t></a:t>
            </a:r>
            <a:r>
              <a:rPr lang="en-US" altLang="zh-TW" sz="2800" baseline="-25000">
                <a:sym typeface="Symbol" pitchFamily="2" charset="2"/>
              </a:rPr>
              <a:t>1</a:t>
            </a:r>
            <a:r>
              <a:rPr lang="en-US" altLang="zh-TW" sz="2800">
                <a:sym typeface="Symbol" pitchFamily="2" charset="2"/>
              </a:rPr>
              <a:t> and </a:t>
            </a:r>
            <a:r>
              <a:rPr lang="en-US" altLang="zh-TW" sz="2800" i="1">
                <a:sym typeface="Symbol" pitchFamily="2" charset="2"/>
              </a:rPr>
              <a:t></a:t>
            </a:r>
            <a:r>
              <a:rPr lang="en-US" altLang="zh-TW" sz="2800" baseline="-25000">
                <a:sym typeface="Symbol" pitchFamily="2" charset="2"/>
              </a:rPr>
              <a:t>1</a:t>
            </a:r>
            <a:r>
              <a:rPr lang="en-US" altLang="zh-TW" sz="2800">
                <a:sym typeface="Symbol" pitchFamily="2" charset="2"/>
              </a:rPr>
              <a:t>  </a:t>
            </a:r>
            <a:r>
              <a:rPr lang="en-US" altLang="zh-TW" sz="2800" i="1">
                <a:sym typeface="Symbol" pitchFamily="2" charset="2"/>
              </a:rPr>
              <a:t></a:t>
            </a:r>
            <a:r>
              <a:rPr lang="en-US" altLang="zh-TW" sz="2800" baseline="-25000">
                <a:sym typeface="Symbol" pitchFamily="2" charset="2"/>
              </a:rPr>
              <a:t>2</a:t>
            </a:r>
            <a:endParaRPr lang="en-US" altLang="zh-TW" sz="2800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			by </a:t>
            </a:r>
            <a:r>
              <a:rPr lang="en-US" altLang="zh-TW" sz="2800" i="1">
                <a:sym typeface="Symbol" pitchFamily="2" charset="2"/>
              </a:rPr>
              <a:t></a:t>
            </a:r>
            <a:r>
              <a:rPr lang="en-US" altLang="zh-TW" sz="2800" baseline="-25000">
                <a:sym typeface="Symbol" pitchFamily="2" charset="2"/>
              </a:rPr>
              <a:t>1</a:t>
            </a:r>
            <a:r>
              <a:rPr lang="en-US" altLang="zh-TW" sz="2800">
                <a:sym typeface="Symbol" pitchFamily="2" charset="2"/>
              </a:rPr>
              <a:t>  </a:t>
            </a:r>
            <a:r>
              <a:rPr lang="en-US" altLang="zh-TW" sz="2800" i="1">
                <a:sym typeface="Symbol" pitchFamily="2" charset="2"/>
              </a:rPr>
              <a:t></a:t>
            </a:r>
            <a:r>
              <a:rPr lang="en-US" altLang="zh-TW" sz="2800" baseline="-25000">
                <a:sym typeface="Symbol" pitchFamily="2" charset="2"/>
              </a:rPr>
              <a:t>1</a:t>
            </a:r>
            <a:r>
              <a:rPr lang="en-US" altLang="zh-TW" sz="2800">
                <a:sym typeface="Symbol" pitchFamily="2" charset="2"/>
              </a:rPr>
              <a:t> </a:t>
            </a:r>
            <a:r>
              <a:rPr lang="en-US" altLang="zh-TW" sz="2800" i="1">
                <a:sym typeface="Symbol" pitchFamily="2" charset="2"/>
              </a:rPr>
              <a:t></a:t>
            </a:r>
            <a:r>
              <a:rPr lang="en-US" altLang="zh-TW" sz="2800" baseline="-25000">
                <a:sym typeface="Symbol" pitchFamily="2" charset="2"/>
              </a:rPr>
              <a:t>2</a:t>
            </a:r>
            <a:endParaRPr lang="en-US" altLang="zh-TW" sz="2800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		Delete any </a:t>
            </a:r>
            <a:r>
              <a:rPr lang="en-US" altLang="zh-TW" sz="2800" b="1">
                <a:sym typeface="Symbol" pitchFamily="2" charset="2"/>
              </a:rPr>
              <a:t>extraneous attribute</a:t>
            </a:r>
          </a:p>
          <a:p>
            <a:pPr eaLnBrk="1" hangingPunct="1">
              <a:buFontTx/>
              <a:buNone/>
            </a:pPr>
            <a:r>
              <a:rPr lang="en-US" altLang="zh-TW" sz="2800">
                <a:sym typeface="Symbol" pitchFamily="2" charset="2"/>
              </a:rPr>
              <a:t>			from any </a:t>
            </a:r>
            <a:r>
              <a:rPr lang="en-US" altLang="zh-TW" sz="2800" i="1">
                <a:sym typeface="Symbol" pitchFamily="2" charset="2"/>
              </a:rPr>
              <a:t></a:t>
            </a:r>
            <a:r>
              <a:rPr lang="en-US" altLang="zh-TW" sz="2800">
                <a:sym typeface="Symbol" pitchFamily="2" charset="2"/>
              </a:rPr>
              <a:t>  </a:t>
            </a:r>
            <a:r>
              <a:rPr lang="en-US" altLang="zh-TW" sz="2800" i="1">
                <a:sym typeface="Symbol" pitchFamily="2" charset="2"/>
              </a:rPr>
              <a:t></a:t>
            </a:r>
          </a:p>
          <a:p>
            <a:pPr eaLnBrk="1" hangingPunct="1">
              <a:buFontTx/>
              <a:buNone/>
            </a:pPr>
            <a:r>
              <a:rPr lang="en-US" altLang="zh-TW" sz="2800" b="1">
                <a:sym typeface="Symbol" pitchFamily="2" charset="2"/>
              </a:rPr>
              <a:t>until</a:t>
            </a:r>
            <a:r>
              <a:rPr lang="en-US" altLang="zh-TW" sz="2800">
                <a:sym typeface="Symbol" pitchFamily="2" charset="2"/>
              </a:rPr>
              <a:t> F does not change</a:t>
            </a:r>
            <a:endParaRPr lang="zh-TW" altLang="en-US" sz="2800">
              <a:sym typeface="Symbol" pitchFamily="2" charset="2"/>
            </a:endParaRPr>
          </a:p>
        </p:txBody>
      </p:sp>
      <p:sp>
        <p:nvSpPr>
          <p:cNvPr id="91139" name="Text Box 4">
            <a:extLst>
              <a:ext uri="{FF2B5EF4-FFF2-40B4-BE49-F238E27FC236}">
                <a16:creationId xmlns:a16="http://schemas.microsoft.com/office/drawing/2014/main" id="{9B439072-7250-134D-BC34-6A106B039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62088"/>
            <a:ext cx="51323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solidFill>
                  <a:srgbClr val="000099"/>
                </a:solidFill>
              </a:rPr>
              <a:t> </a:t>
            </a:r>
            <a:r>
              <a:rPr lang="en-US" altLang="zh-TW" sz="2800">
                <a:solidFill>
                  <a:srgbClr val="000099"/>
                </a:solidFill>
                <a:sym typeface="Symbol" pitchFamily="2" charset="2"/>
              </a:rPr>
              <a:t>Compute a canonical cover for </a:t>
            </a:r>
            <a:r>
              <a:rPr lang="en-US" altLang="zh-TW" sz="2800" i="1">
                <a:solidFill>
                  <a:srgbClr val="000099"/>
                </a:solidFill>
                <a:sym typeface="Symbol" pitchFamily="2" charset="2"/>
              </a:rPr>
              <a:t>F</a:t>
            </a:r>
            <a:r>
              <a:rPr lang="en-US" altLang="zh-TW" sz="2800">
                <a:solidFill>
                  <a:srgbClr val="000099"/>
                </a:solidFill>
                <a:sym typeface="Symbol" pitchFamily="2" charset="2"/>
              </a:rPr>
              <a:t> :</a:t>
            </a:r>
            <a:endParaRPr lang="en-US" altLang="en-US" sz="2400">
              <a:solidFill>
                <a:srgbClr val="000099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Slide Number Placeholder 3">
            <a:extLst>
              <a:ext uri="{FF2B5EF4-FFF2-40B4-BE49-F238E27FC236}">
                <a16:creationId xmlns:a16="http://schemas.microsoft.com/office/drawing/2014/main" id="{436E1F67-E898-7C45-B6AE-3C2B2652A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523541-4F46-AF4D-ACF1-3B5C846D084F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77</a:t>
            </a:fld>
            <a:endParaRPr lang="en-US" altLang="zh-TW" sz="1400"/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E177936C-778B-D344-847E-5320CF30C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685800"/>
            <a:ext cx="8305800" cy="563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300">
                <a:solidFill>
                  <a:srgbClr val="006600"/>
                </a:solidFill>
                <a:sym typeface="Symbol" pitchFamily="2" charset="2"/>
              </a:rPr>
              <a:t>Example:</a:t>
            </a:r>
            <a:r>
              <a:rPr lang="en-US" altLang="zh-TW" sz="2300">
                <a:sym typeface="Symbol" pitchFamily="2" charset="2"/>
              </a:rPr>
              <a:t> Given F = { A  BC, A  B, B  AC, C  A }</a:t>
            </a:r>
          </a:p>
          <a:p>
            <a:pPr eaLnBrk="1" hangingPunct="1">
              <a:buFontTx/>
              <a:buNone/>
            </a:pPr>
            <a:endParaRPr lang="en-US" altLang="zh-TW" sz="2300">
              <a:solidFill>
                <a:schemeClr val="bg2"/>
              </a:solidFill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300">
                <a:solidFill>
                  <a:schemeClr val="bg2"/>
                </a:solidFill>
                <a:sym typeface="Symbol" pitchFamily="2" charset="2"/>
              </a:rPr>
              <a:t>Combine A  BC, A  B into  A  BC</a:t>
            </a:r>
          </a:p>
          <a:p>
            <a:pPr eaLnBrk="1" hangingPunct="1">
              <a:buFontTx/>
              <a:buNone/>
            </a:pPr>
            <a:endParaRPr lang="en-US" altLang="zh-TW" sz="2300">
              <a:solidFill>
                <a:schemeClr val="bg2"/>
              </a:solidFill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300">
                <a:sym typeface="Symbol" pitchFamily="2" charset="2"/>
              </a:rPr>
              <a:t>F</a:t>
            </a:r>
            <a:r>
              <a:rPr lang="en-US" altLang="zh-TW" sz="2300">
                <a:latin typeface="Arial" panose="020B0604020202020204" pitchFamily="34" charset="0"/>
                <a:sym typeface="Symbol" pitchFamily="2" charset="2"/>
              </a:rPr>
              <a:t>’</a:t>
            </a:r>
            <a:r>
              <a:rPr lang="en-US" altLang="zh-TW" sz="2300">
                <a:sym typeface="Symbol" pitchFamily="2" charset="2"/>
              </a:rPr>
              <a:t> = { A  BC, B  AC, C  A }</a:t>
            </a:r>
            <a:endParaRPr lang="en-US" altLang="zh-TW" sz="2300">
              <a:solidFill>
                <a:schemeClr val="bg2"/>
              </a:solidFill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300">
                <a:sym typeface="Symbol" pitchFamily="2" charset="2"/>
              </a:rPr>
              <a:t>F</a:t>
            </a:r>
            <a:r>
              <a:rPr lang="en-US" altLang="zh-TW" sz="2300">
                <a:latin typeface="Arial" panose="020B0604020202020204" pitchFamily="34" charset="0"/>
                <a:sym typeface="Symbol" pitchFamily="2" charset="2"/>
              </a:rPr>
              <a:t>”</a:t>
            </a:r>
            <a:r>
              <a:rPr lang="en-US" altLang="zh-TW" sz="2300">
                <a:sym typeface="Symbol" pitchFamily="2" charset="2"/>
              </a:rPr>
              <a:t> = { A  B,   B  AC, C  A }</a:t>
            </a:r>
          </a:p>
          <a:p>
            <a:pPr eaLnBrk="1" hangingPunct="1">
              <a:buFontTx/>
              <a:buNone/>
            </a:pPr>
            <a:r>
              <a:rPr lang="en-US" altLang="zh-TW" sz="2300">
                <a:solidFill>
                  <a:srgbClr val="996633"/>
                </a:solidFill>
                <a:sym typeface="Symbol" pitchFamily="2" charset="2"/>
              </a:rPr>
              <a:t>C is extraneous in A  BC because</a:t>
            </a:r>
            <a:endParaRPr lang="en-US" altLang="zh-TW" sz="2300">
              <a:sym typeface="Symbol" pitchFamily="2" charset="2"/>
            </a:endParaRPr>
          </a:p>
          <a:p>
            <a:pPr lvl="1" eaLnBrk="1" hangingPunct="1">
              <a:buFontTx/>
              <a:buNone/>
            </a:pPr>
            <a:r>
              <a:rPr lang="en-US" altLang="zh-TW" sz="2300">
                <a:sym typeface="Symbol" pitchFamily="2" charset="2"/>
              </a:rPr>
              <a:t>we can compute </a:t>
            </a:r>
            <a:r>
              <a:rPr lang="en-US" altLang="zh-TW" sz="2300" i="1">
                <a:sym typeface="Symbol" pitchFamily="2" charset="2"/>
              </a:rPr>
              <a:t>A</a:t>
            </a:r>
            <a:r>
              <a:rPr lang="en-US" altLang="zh-TW" sz="2300" baseline="40000">
                <a:sym typeface="Symbol" pitchFamily="2" charset="2"/>
              </a:rPr>
              <a:t>+</a:t>
            </a:r>
            <a:r>
              <a:rPr lang="en-US" altLang="zh-TW" sz="2300">
                <a:sym typeface="Symbol" pitchFamily="2" charset="2"/>
              </a:rPr>
              <a:t> under </a:t>
            </a:r>
            <a:r>
              <a:rPr lang="en-US" altLang="zh-TW" sz="2300" i="1">
                <a:sym typeface="Symbol" pitchFamily="2" charset="2"/>
              </a:rPr>
              <a:t>F</a:t>
            </a:r>
            <a:r>
              <a:rPr lang="en-US" altLang="zh-TW" sz="2300">
                <a:latin typeface="Arial" panose="020B0604020202020204" pitchFamily="34" charset="0"/>
                <a:sym typeface="Symbol" pitchFamily="2" charset="2"/>
              </a:rPr>
              <a:t>”</a:t>
            </a:r>
            <a:r>
              <a:rPr lang="en-US" altLang="zh-TW" sz="2300">
                <a:sym typeface="Symbol" pitchFamily="2" charset="2"/>
              </a:rPr>
              <a:t> as follows</a:t>
            </a:r>
          </a:p>
          <a:p>
            <a:pPr lvl="1" eaLnBrk="1" hangingPunct="1">
              <a:buFontTx/>
              <a:buNone/>
            </a:pPr>
            <a:r>
              <a:rPr lang="en-US" altLang="zh-TW" sz="2300">
                <a:sym typeface="Symbol" pitchFamily="2" charset="2"/>
              </a:rPr>
              <a:t>	result = A</a:t>
            </a:r>
          </a:p>
          <a:p>
            <a:pPr lvl="1" eaLnBrk="1" hangingPunct="1">
              <a:buFontTx/>
              <a:buNone/>
            </a:pPr>
            <a:r>
              <a:rPr lang="en-US" altLang="zh-TW" sz="2300">
                <a:sym typeface="Symbol" pitchFamily="2" charset="2"/>
              </a:rPr>
              <a:t>	result = AB	( A  B )</a:t>
            </a:r>
          </a:p>
          <a:p>
            <a:pPr lvl="1" eaLnBrk="1" hangingPunct="1">
              <a:buFontTx/>
              <a:buNone/>
            </a:pPr>
            <a:r>
              <a:rPr lang="en-US" altLang="zh-TW" sz="2300">
                <a:sym typeface="Symbol" pitchFamily="2" charset="2"/>
              </a:rPr>
              <a:t>	result = ABC	( B  AC )</a:t>
            </a:r>
          </a:p>
          <a:p>
            <a:pPr lvl="1" eaLnBrk="1" hangingPunct="1">
              <a:buFontTx/>
              <a:buNone/>
            </a:pPr>
            <a:r>
              <a:rPr lang="en-US" altLang="zh-TW" sz="2300">
                <a:sym typeface="Symbol" pitchFamily="2" charset="2"/>
              </a:rPr>
              <a:t>Hence </a:t>
            </a:r>
            <a:r>
              <a:rPr lang="en-US" altLang="zh-TW" sz="2300" i="1">
                <a:sym typeface="Symbol" pitchFamily="2" charset="2"/>
              </a:rPr>
              <a:t>A</a:t>
            </a:r>
            <a:r>
              <a:rPr lang="en-US" altLang="zh-TW" sz="2300" baseline="40000">
                <a:sym typeface="Symbol" pitchFamily="2" charset="2"/>
              </a:rPr>
              <a:t>+</a:t>
            </a:r>
            <a:r>
              <a:rPr lang="en-US" altLang="zh-TW" sz="2300">
                <a:sym typeface="Symbol" pitchFamily="2" charset="2"/>
              </a:rPr>
              <a:t> = </a:t>
            </a:r>
            <a:r>
              <a:rPr lang="en-US" altLang="zh-TW" sz="2300" i="1">
                <a:sym typeface="Symbol" pitchFamily="2" charset="2"/>
              </a:rPr>
              <a:t>ABC</a:t>
            </a:r>
          </a:p>
          <a:p>
            <a:pPr lvl="1" eaLnBrk="1" hangingPunct="1">
              <a:buFontTx/>
              <a:buNone/>
            </a:pPr>
            <a:r>
              <a:rPr lang="en-US" altLang="zh-TW" sz="2300">
                <a:sym typeface="Symbol" pitchFamily="2" charset="2"/>
              </a:rPr>
              <a:t>And we can deduce A  BC,</a:t>
            </a:r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6B1DEEA9-0269-EF46-AA91-07C5E0DD5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524000"/>
            <a:ext cx="5105400" cy="457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Slide Number Placeholder 3">
            <a:extLst>
              <a:ext uri="{FF2B5EF4-FFF2-40B4-BE49-F238E27FC236}">
                <a16:creationId xmlns:a16="http://schemas.microsoft.com/office/drawing/2014/main" id="{43D452DB-2606-D441-95E4-37711BC8E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4A9936-4535-584D-BD28-9D6C846B6C65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78</a:t>
            </a:fld>
            <a:endParaRPr lang="en-US" altLang="zh-TW" sz="1400"/>
          </a:p>
        </p:txBody>
      </p:sp>
      <p:sp>
        <p:nvSpPr>
          <p:cNvPr id="93186" name="Rectangle 2">
            <a:extLst>
              <a:ext uri="{FF2B5EF4-FFF2-40B4-BE49-F238E27FC236}">
                <a16:creationId xmlns:a16="http://schemas.microsoft.com/office/drawing/2014/main" id="{78EAD55F-3953-F040-B196-5CA93CC0B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762000"/>
            <a:ext cx="82296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300">
                <a:solidFill>
                  <a:srgbClr val="006600"/>
                </a:solidFill>
                <a:sym typeface="Symbol" pitchFamily="2" charset="2"/>
              </a:rPr>
              <a:t>Example (cont):</a:t>
            </a:r>
          </a:p>
          <a:p>
            <a:pPr eaLnBrk="1" hangingPunct="1">
              <a:buFontTx/>
              <a:buNone/>
            </a:pPr>
            <a:r>
              <a:rPr lang="en-US" altLang="zh-TW" sz="2300">
                <a:sym typeface="Symbol" pitchFamily="2" charset="2"/>
              </a:rPr>
              <a:t>F</a:t>
            </a:r>
            <a:r>
              <a:rPr lang="en-US" altLang="zh-TW" sz="2300">
                <a:latin typeface="Arial" panose="020B0604020202020204" pitchFamily="34" charset="0"/>
                <a:sym typeface="Symbol" pitchFamily="2" charset="2"/>
              </a:rPr>
              <a:t>”</a:t>
            </a:r>
            <a:r>
              <a:rPr lang="en-US" altLang="zh-TW" sz="2300">
                <a:sym typeface="Symbol" pitchFamily="2" charset="2"/>
              </a:rPr>
              <a:t> = { A  B,  </a:t>
            </a:r>
            <a:r>
              <a:rPr lang="en-US" altLang="zh-TW" sz="2300">
                <a:solidFill>
                  <a:srgbClr val="A50021"/>
                </a:solidFill>
                <a:sym typeface="Symbol" pitchFamily="2" charset="2"/>
              </a:rPr>
              <a:t>B  AC</a:t>
            </a:r>
            <a:r>
              <a:rPr lang="en-US" altLang="zh-TW" sz="2300">
                <a:sym typeface="Symbol" pitchFamily="2" charset="2"/>
              </a:rPr>
              <a:t>, C  A }</a:t>
            </a:r>
            <a:endParaRPr lang="en-US" altLang="zh-TW" sz="2300">
              <a:solidFill>
                <a:schemeClr val="bg2"/>
              </a:solidFill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300">
                <a:solidFill>
                  <a:schemeClr val="bg2"/>
                </a:solidFill>
                <a:sym typeface="Symbol" pitchFamily="2" charset="2"/>
              </a:rPr>
              <a:t>F</a:t>
            </a:r>
            <a:r>
              <a:rPr lang="en-US" altLang="zh-TW" sz="230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’”</a:t>
            </a:r>
            <a:r>
              <a:rPr lang="en-US" altLang="zh-TW" sz="2300">
                <a:solidFill>
                  <a:schemeClr val="bg2"/>
                </a:solidFill>
                <a:sym typeface="Symbol" pitchFamily="2" charset="2"/>
              </a:rPr>
              <a:t> = { A  B,  B  C,   C  A }</a:t>
            </a:r>
          </a:p>
          <a:p>
            <a:pPr eaLnBrk="1" hangingPunct="1">
              <a:buFontTx/>
              <a:buNone/>
            </a:pPr>
            <a:endParaRPr lang="en-US" altLang="zh-TW" sz="2300">
              <a:solidFill>
                <a:schemeClr val="bg2"/>
              </a:solidFill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300">
                <a:solidFill>
                  <a:srgbClr val="996633"/>
                </a:solidFill>
                <a:sym typeface="Symbol" pitchFamily="2" charset="2"/>
              </a:rPr>
              <a:t>A is extraneous in B  AC because</a:t>
            </a:r>
            <a:endParaRPr lang="en-US" altLang="zh-TW" sz="2300">
              <a:sym typeface="Symbol" pitchFamily="2" charset="2"/>
            </a:endParaRPr>
          </a:p>
          <a:p>
            <a:pPr lvl="1" eaLnBrk="1" hangingPunct="1">
              <a:buFontTx/>
              <a:buNone/>
            </a:pPr>
            <a:r>
              <a:rPr lang="en-US" altLang="zh-TW" sz="2300">
                <a:sym typeface="Symbol" pitchFamily="2" charset="2"/>
              </a:rPr>
              <a:t>we can compute </a:t>
            </a:r>
            <a:r>
              <a:rPr lang="en-US" altLang="zh-TW" sz="2300" i="1">
                <a:sym typeface="Symbol" pitchFamily="2" charset="2"/>
              </a:rPr>
              <a:t>B</a:t>
            </a:r>
            <a:r>
              <a:rPr lang="en-US" altLang="zh-TW" sz="2300" baseline="40000">
                <a:sym typeface="Symbol" pitchFamily="2" charset="2"/>
              </a:rPr>
              <a:t>+</a:t>
            </a:r>
            <a:r>
              <a:rPr lang="en-US" altLang="zh-TW" sz="2300">
                <a:sym typeface="Symbol" pitchFamily="2" charset="2"/>
              </a:rPr>
              <a:t> under </a:t>
            </a:r>
            <a:r>
              <a:rPr lang="en-US" altLang="zh-TW" sz="2300" i="1">
                <a:sym typeface="Symbol" pitchFamily="2" charset="2"/>
              </a:rPr>
              <a:t>F</a:t>
            </a:r>
            <a:r>
              <a:rPr lang="en-US" altLang="zh-TW" sz="2300">
                <a:latin typeface="Arial" panose="020B0604020202020204" pitchFamily="34" charset="0"/>
                <a:sym typeface="Symbol" pitchFamily="2" charset="2"/>
              </a:rPr>
              <a:t>”’</a:t>
            </a:r>
            <a:r>
              <a:rPr lang="en-US" altLang="zh-TW" sz="2300">
                <a:sym typeface="Symbol" pitchFamily="2" charset="2"/>
              </a:rPr>
              <a:t> as follows</a:t>
            </a:r>
          </a:p>
          <a:p>
            <a:pPr lvl="1" eaLnBrk="1" hangingPunct="1">
              <a:buFontTx/>
              <a:buNone/>
            </a:pPr>
            <a:r>
              <a:rPr lang="en-US" altLang="zh-TW" sz="2300">
                <a:sym typeface="Symbol" pitchFamily="2" charset="2"/>
              </a:rPr>
              <a:t>	result = B</a:t>
            </a:r>
          </a:p>
          <a:p>
            <a:pPr lvl="1" eaLnBrk="1" hangingPunct="1">
              <a:buFontTx/>
              <a:buNone/>
            </a:pPr>
            <a:r>
              <a:rPr lang="en-US" altLang="zh-TW" sz="2300">
                <a:sym typeface="Symbol" pitchFamily="2" charset="2"/>
              </a:rPr>
              <a:t>	result = BC	( B  C )</a:t>
            </a:r>
          </a:p>
          <a:p>
            <a:pPr lvl="1" eaLnBrk="1" hangingPunct="1">
              <a:buFontTx/>
              <a:buNone/>
            </a:pPr>
            <a:r>
              <a:rPr lang="en-US" altLang="zh-TW" sz="2300">
                <a:sym typeface="Symbol" pitchFamily="2" charset="2"/>
              </a:rPr>
              <a:t>	result = ABC	( C  A )</a:t>
            </a:r>
          </a:p>
          <a:p>
            <a:pPr lvl="1" eaLnBrk="1" hangingPunct="1">
              <a:buFontTx/>
              <a:buNone/>
            </a:pPr>
            <a:r>
              <a:rPr lang="en-US" altLang="zh-TW" sz="2300">
                <a:sym typeface="Symbol" pitchFamily="2" charset="2"/>
              </a:rPr>
              <a:t>Hence </a:t>
            </a:r>
            <a:r>
              <a:rPr lang="en-US" altLang="zh-TW" sz="2300" i="1">
                <a:sym typeface="Symbol" pitchFamily="2" charset="2"/>
              </a:rPr>
              <a:t>B</a:t>
            </a:r>
            <a:r>
              <a:rPr lang="en-US" altLang="zh-TW" sz="2300" baseline="40000">
                <a:sym typeface="Symbol" pitchFamily="2" charset="2"/>
              </a:rPr>
              <a:t>+</a:t>
            </a:r>
            <a:r>
              <a:rPr lang="en-US" altLang="zh-TW" sz="2300">
                <a:sym typeface="Symbol" pitchFamily="2" charset="2"/>
              </a:rPr>
              <a:t> = </a:t>
            </a:r>
            <a:r>
              <a:rPr lang="en-US" altLang="zh-TW" sz="2300" i="1">
                <a:sym typeface="Symbol" pitchFamily="2" charset="2"/>
              </a:rPr>
              <a:t>ABC</a:t>
            </a:r>
          </a:p>
          <a:p>
            <a:pPr lvl="1" eaLnBrk="1" hangingPunct="1">
              <a:buFontTx/>
              <a:buNone/>
            </a:pPr>
            <a:r>
              <a:rPr lang="en-US" altLang="zh-TW" sz="2300">
                <a:sym typeface="Symbol" pitchFamily="2" charset="2"/>
              </a:rPr>
              <a:t>And we can deduce B  AC,</a:t>
            </a:r>
          </a:p>
          <a:p>
            <a:pPr eaLnBrk="1" hangingPunct="1">
              <a:buFontTx/>
              <a:buNone/>
            </a:pPr>
            <a:r>
              <a:rPr lang="en-US" altLang="zh-TW" sz="2300">
                <a:solidFill>
                  <a:srgbClr val="000099"/>
                </a:solidFill>
                <a:sym typeface="Symbol" pitchFamily="2" charset="2"/>
              </a:rPr>
              <a:t>F</a:t>
            </a:r>
            <a:r>
              <a:rPr lang="en-US" altLang="zh-TW" sz="23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’”</a:t>
            </a:r>
            <a:r>
              <a:rPr lang="en-US" altLang="zh-TW" sz="2300">
                <a:solidFill>
                  <a:srgbClr val="000099"/>
                </a:solidFill>
                <a:sym typeface="Symbol" pitchFamily="2" charset="2"/>
              </a:rPr>
              <a:t> = { A  B,  B  C,   C  A }</a:t>
            </a:r>
            <a:r>
              <a:rPr lang="en-US" altLang="zh-TW" sz="2300">
                <a:solidFill>
                  <a:schemeClr val="bg2"/>
                </a:solidFill>
                <a:sym typeface="Symbol" pitchFamily="2" charset="2"/>
              </a:rPr>
              <a:t> </a:t>
            </a:r>
            <a:r>
              <a:rPr lang="en-US" altLang="zh-TW" sz="2300">
                <a:solidFill>
                  <a:schemeClr val="bg2"/>
                </a:solidFill>
                <a:latin typeface="Arial" panose="020B0604020202020204" pitchFamily="34" charset="0"/>
                <a:sym typeface="Symbol" pitchFamily="2" charset="2"/>
              </a:rPr>
              <a:t>……</a:t>
            </a:r>
            <a:r>
              <a:rPr lang="en-US" altLang="zh-TW" sz="2300">
                <a:solidFill>
                  <a:schemeClr val="bg2"/>
                </a:solidFill>
                <a:sym typeface="Symbol" pitchFamily="2" charset="2"/>
              </a:rPr>
              <a:t> Canonical cover for F</a:t>
            </a:r>
          </a:p>
          <a:p>
            <a:pPr lvl="1" eaLnBrk="1" hangingPunct="1">
              <a:buFontTx/>
              <a:buNone/>
            </a:pPr>
            <a:endParaRPr lang="en-US" altLang="zh-TW" sz="2300">
              <a:sym typeface="Symbol" pitchFamily="2" charset="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Slide Number Placeholder 5">
            <a:extLst>
              <a:ext uri="{FF2B5EF4-FFF2-40B4-BE49-F238E27FC236}">
                <a16:creationId xmlns:a16="http://schemas.microsoft.com/office/drawing/2014/main" id="{3148E511-0743-3740-ABB8-B0C750E5C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838F1B-6953-D04A-8BE2-D3687704428C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79</a:t>
            </a:fld>
            <a:endParaRPr lang="en-US" altLang="zh-TW" sz="1400"/>
          </a:p>
        </p:txBody>
      </p:sp>
      <p:sp>
        <p:nvSpPr>
          <p:cNvPr id="92162" name="Rectangle 2">
            <a:extLst>
              <a:ext uri="{FF2B5EF4-FFF2-40B4-BE49-F238E27FC236}">
                <a16:creationId xmlns:a16="http://schemas.microsoft.com/office/drawing/2014/main" id="{AA513879-2E00-FB42-A965-AD9EAD712D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3NF Synthesis Algorithm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ED612A12-19D5-2547-B7A7-74D342CB82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6019800"/>
            <a:ext cx="7772400" cy="457200"/>
          </a:xfrm>
        </p:spPr>
        <p:txBody>
          <a:bodyPr/>
          <a:lstStyle/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200" i="1">
                <a:latin typeface="Arial" panose="020B0604020202020204" pitchFamily="34" charset="0"/>
                <a:sym typeface="Symbol" pitchFamily="2" charset="2"/>
              </a:rPr>
              <a:t>Note: result is lossless-join and dependency preserving</a:t>
            </a:r>
            <a:endParaRPr lang="en-US" altLang="zh-TW"/>
          </a:p>
        </p:txBody>
      </p:sp>
      <p:sp>
        <p:nvSpPr>
          <p:cNvPr id="94212" name="Rectangle 4">
            <a:extLst>
              <a:ext uri="{FF2B5EF4-FFF2-40B4-BE49-F238E27FC236}">
                <a16:creationId xmlns:a16="http://schemas.microsoft.com/office/drawing/2014/main" id="{04BA092C-2F83-6541-9971-207DD4363F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371600"/>
            <a:ext cx="8001000" cy="4495800"/>
          </a:xfrm>
          <a:prstGeom prst="rect">
            <a:avLst/>
          </a:prstGeom>
          <a:solidFill>
            <a:srgbClr val="CCFFCC">
              <a:alpha val="50195"/>
            </a:srgbClr>
          </a:solidFill>
          <a:ln w="57150" cmpd="thickThin">
            <a:solidFill>
              <a:schemeClr val="hlink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lvl="1" eaLnBrk="1" hangingPunct="1">
              <a:lnSpc>
                <a:spcPct val="130000"/>
              </a:lnSpc>
              <a:buFontTx/>
              <a:buNone/>
            </a:pPr>
            <a:r>
              <a:rPr lang="en-US" altLang="zh-TW" sz="2300">
                <a:sym typeface="Symbol" pitchFamily="2" charset="2"/>
              </a:rPr>
              <a:t>Find a canonical cover </a:t>
            </a:r>
            <a:r>
              <a:rPr lang="en-US" altLang="zh-TW" sz="2300" i="1">
                <a:sym typeface="Symbol" pitchFamily="2" charset="2"/>
              </a:rPr>
              <a:t>F</a:t>
            </a:r>
            <a:r>
              <a:rPr lang="en-US" altLang="zh-TW" sz="2300" i="1" baseline="-25000">
                <a:sym typeface="Symbol" pitchFamily="2" charset="2"/>
              </a:rPr>
              <a:t>c</a:t>
            </a:r>
            <a:r>
              <a:rPr lang="en-US" altLang="zh-TW" sz="2300">
                <a:sym typeface="Symbol" pitchFamily="2" charset="2"/>
              </a:rPr>
              <a:t> for </a:t>
            </a:r>
            <a:r>
              <a:rPr lang="en-US" altLang="zh-TW" sz="2300" i="1">
                <a:sym typeface="Symbol" pitchFamily="2" charset="2"/>
              </a:rPr>
              <a:t>F </a:t>
            </a:r>
            <a:r>
              <a:rPr lang="en-US" altLang="zh-TW" sz="2300">
                <a:sym typeface="Symbol" pitchFamily="2" charset="2"/>
              </a:rPr>
              <a:t>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ym typeface="Symbol" pitchFamily="2" charset="2"/>
              </a:rPr>
              <a:t>result = </a:t>
            </a:r>
            <a:r>
              <a:rPr lang="en-US" altLang="zh-TW" sz="2300" i="1">
                <a:sym typeface="Symbol" pitchFamily="2" charset="2"/>
              </a:rPr>
              <a:t>;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300" b="1">
                <a:sym typeface="Symbol" pitchFamily="2" charset="2"/>
              </a:rPr>
              <a:t>for each </a:t>
            </a:r>
            <a:r>
              <a:rPr lang="en-US" altLang="zh-TW" sz="2300" i="1">
                <a:sym typeface="Symbol" pitchFamily="2" charset="2"/>
              </a:rPr>
              <a:t></a:t>
            </a:r>
            <a:r>
              <a:rPr lang="en-US" altLang="zh-TW" sz="2300">
                <a:sym typeface="Symbol" pitchFamily="2" charset="2"/>
              </a:rPr>
              <a:t>  </a:t>
            </a:r>
            <a:r>
              <a:rPr lang="en-US" altLang="zh-TW" sz="2300" i="1">
                <a:sym typeface="Symbol" pitchFamily="2" charset="2"/>
              </a:rPr>
              <a:t></a:t>
            </a:r>
            <a:r>
              <a:rPr lang="en-US" altLang="zh-TW" sz="2300">
                <a:sym typeface="Symbol" pitchFamily="2" charset="2"/>
              </a:rPr>
              <a:t> in </a:t>
            </a:r>
            <a:r>
              <a:rPr lang="en-US" altLang="zh-TW" sz="2300" i="1">
                <a:sym typeface="Symbol" pitchFamily="2" charset="2"/>
              </a:rPr>
              <a:t>F</a:t>
            </a:r>
            <a:r>
              <a:rPr lang="en-US" altLang="zh-TW" sz="2300" i="1" baseline="-25000">
                <a:sym typeface="Symbol" pitchFamily="2" charset="2"/>
              </a:rPr>
              <a:t>c</a:t>
            </a:r>
            <a:r>
              <a:rPr lang="en-US" altLang="zh-TW" sz="2300">
                <a:sym typeface="Symbol" pitchFamily="2" charset="2"/>
              </a:rPr>
              <a:t> </a:t>
            </a:r>
            <a:r>
              <a:rPr lang="en-US" altLang="zh-TW" sz="2300" b="1">
                <a:sym typeface="Symbol" pitchFamily="2" charset="2"/>
              </a:rPr>
              <a:t>do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300" b="1">
                <a:sym typeface="Symbol" pitchFamily="2" charset="2"/>
              </a:rPr>
              <a:t>	if </a:t>
            </a:r>
            <a:r>
              <a:rPr lang="en-US" altLang="zh-TW" sz="2300">
                <a:sym typeface="Symbol" pitchFamily="2" charset="2"/>
              </a:rPr>
              <a:t>no schema in result contains </a:t>
            </a:r>
            <a:r>
              <a:rPr lang="en-US" altLang="zh-TW" sz="2300" i="1">
                <a:sym typeface="Symbol" pitchFamily="2" charset="2"/>
              </a:rPr>
              <a:t>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300" i="1">
                <a:sym typeface="Symbol" pitchFamily="2" charset="2"/>
              </a:rPr>
              <a:t>		</a:t>
            </a:r>
            <a:r>
              <a:rPr lang="en-US" altLang="zh-TW" sz="2300" b="1">
                <a:sym typeface="Symbol" pitchFamily="2" charset="2"/>
              </a:rPr>
              <a:t>then </a:t>
            </a:r>
            <a:r>
              <a:rPr lang="en-US" altLang="zh-TW" sz="2300">
                <a:sym typeface="Symbol" pitchFamily="2" charset="2"/>
              </a:rPr>
              <a:t>add schema </a:t>
            </a:r>
            <a:r>
              <a:rPr lang="en-US" altLang="zh-TW" sz="2300" i="1">
                <a:sym typeface="Symbol" pitchFamily="2" charset="2"/>
              </a:rPr>
              <a:t></a:t>
            </a:r>
            <a:r>
              <a:rPr lang="en-US" altLang="zh-TW" sz="2300">
                <a:sym typeface="Symbol" pitchFamily="2" charset="2"/>
              </a:rPr>
              <a:t> to result;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zh-TW" sz="2300" b="1">
              <a:sym typeface="Symbol" pitchFamily="2" charset="2"/>
            </a:endParaRP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300" b="1">
                <a:sym typeface="Symbol" pitchFamily="2" charset="2"/>
              </a:rPr>
              <a:t>if </a:t>
            </a:r>
            <a:r>
              <a:rPr lang="en-US" altLang="zh-TW" sz="2300">
                <a:sym typeface="Symbol" pitchFamily="2" charset="2"/>
              </a:rPr>
              <a:t>no schema in result contains a candidate key for </a:t>
            </a:r>
            <a:r>
              <a:rPr lang="en-US" altLang="zh-TW" sz="2300" i="1">
                <a:sym typeface="Symbol" pitchFamily="2" charset="2"/>
              </a:rPr>
              <a:t>R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ym typeface="Symbol" pitchFamily="2" charset="2"/>
              </a:rPr>
              <a:t>	</a:t>
            </a:r>
            <a:r>
              <a:rPr lang="en-US" altLang="zh-TW" sz="2300" b="1">
                <a:sym typeface="Symbol" pitchFamily="2" charset="2"/>
              </a:rPr>
              <a:t>then begin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ym typeface="Symbol" pitchFamily="2" charset="2"/>
              </a:rPr>
              <a:t>		    choose any candidate key </a:t>
            </a:r>
            <a:r>
              <a:rPr lang="en-US" altLang="zh-TW" sz="2300" i="1">
                <a:sym typeface="Symbol" pitchFamily="2" charset="2"/>
              </a:rPr>
              <a:t> </a:t>
            </a:r>
            <a:r>
              <a:rPr lang="en-US" altLang="zh-TW" sz="2300">
                <a:sym typeface="Symbol" pitchFamily="2" charset="2"/>
              </a:rPr>
              <a:t>for </a:t>
            </a:r>
            <a:r>
              <a:rPr lang="en-US" altLang="zh-TW" sz="2300" i="1">
                <a:sym typeface="Symbol" pitchFamily="2" charset="2"/>
              </a:rPr>
              <a:t>R</a:t>
            </a:r>
            <a:r>
              <a:rPr lang="en-US" altLang="zh-TW" sz="2300">
                <a:sym typeface="Symbol" pitchFamily="2" charset="2"/>
              </a:rPr>
              <a:t>;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ym typeface="Symbol" pitchFamily="2" charset="2"/>
              </a:rPr>
              <a:t>		     add schema </a:t>
            </a:r>
            <a:r>
              <a:rPr lang="en-US" altLang="zh-TW" sz="2300" i="1">
                <a:sym typeface="Symbol" pitchFamily="2" charset="2"/>
              </a:rPr>
              <a:t> </a:t>
            </a:r>
            <a:r>
              <a:rPr lang="en-US" altLang="zh-TW" sz="2300">
                <a:sym typeface="Symbol" pitchFamily="2" charset="2"/>
              </a:rPr>
              <a:t>to the result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ym typeface="Symbol" pitchFamily="2" charset="2"/>
              </a:rPr>
              <a:t>	</a:t>
            </a:r>
            <a:r>
              <a:rPr lang="en-US" altLang="zh-TW" sz="2300" b="1">
                <a:sym typeface="Symbol" pitchFamily="2" charset="2"/>
              </a:rPr>
              <a:t>end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Slide Number Placeholder 3">
            <a:extLst>
              <a:ext uri="{FF2B5EF4-FFF2-40B4-BE49-F238E27FC236}">
                <a16:creationId xmlns:a16="http://schemas.microsoft.com/office/drawing/2014/main" id="{901C76A5-44A3-1945-AD3E-336C0344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FF72807-AB59-5345-8B49-34648E60BBA7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80</a:t>
            </a:fld>
            <a:endParaRPr lang="en-US" altLang="zh-TW" sz="1400"/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75C68B2C-A72F-DA47-8374-EBBF7E9B58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219200"/>
            <a:ext cx="81534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300" b="1">
                <a:solidFill>
                  <a:srgbClr val="006600"/>
                </a:solidFill>
                <a:sym typeface="Symbol" pitchFamily="2" charset="2"/>
              </a:rPr>
              <a:t>Example</a:t>
            </a:r>
          </a:p>
          <a:p>
            <a:pPr eaLnBrk="1" hangingPunct="1">
              <a:buFontTx/>
              <a:buNone/>
            </a:pPr>
            <a:r>
              <a:rPr lang="en-US" altLang="zh-TW" sz="2300">
                <a:sym typeface="Symbol" pitchFamily="2" charset="2"/>
              </a:rPr>
              <a:t>R = (	student_id, student_name, course_id, course_name  )</a:t>
            </a:r>
          </a:p>
          <a:p>
            <a:pPr eaLnBrk="1" hangingPunct="1">
              <a:buFontTx/>
              <a:buNone/>
            </a:pPr>
            <a:r>
              <a:rPr lang="en-US" altLang="zh-TW" sz="2300">
                <a:sym typeface="Symbol" pitchFamily="2" charset="2"/>
              </a:rPr>
              <a:t>F = {	student_id  student_name, </a:t>
            </a:r>
          </a:p>
          <a:p>
            <a:pPr eaLnBrk="1" hangingPunct="1">
              <a:buFontTx/>
              <a:buNone/>
            </a:pPr>
            <a:r>
              <a:rPr lang="en-US" altLang="zh-TW" sz="2300">
                <a:sym typeface="Symbol" pitchFamily="2" charset="2"/>
              </a:rPr>
              <a:t>		course_id  course_name   }</a:t>
            </a:r>
          </a:p>
          <a:p>
            <a:pPr eaLnBrk="1" hangingPunct="1">
              <a:buFontTx/>
              <a:buNone/>
            </a:pPr>
            <a:r>
              <a:rPr lang="en-US" altLang="zh-TW" sz="2300">
                <a:sym typeface="Symbol" pitchFamily="2" charset="2"/>
              </a:rPr>
              <a:t>{ student_id, course_id } is a candidate key.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4213EBA3-A34F-C048-9CD9-58E8F02B2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581400"/>
            <a:ext cx="8534400" cy="164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000" i="1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   F</a:t>
            </a:r>
            <a:r>
              <a:rPr kumimoji="0" lang="en-US" altLang="zh-TW" sz="2000" i="1" baseline="-250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c</a:t>
            </a:r>
            <a:r>
              <a:rPr kumimoji="0" lang="en-US" altLang="zh-TW" sz="20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	= </a:t>
            </a:r>
            <a:r>
              <a:rPr kumimoji="0" lang="en-US" altLang="zh-TW" sz="2000" i="1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F</a:t>
            </a:r>
            <a:endParaRPr kumimoji="0" lang="en-US" altLang="zh-TW" sz="2000">
              <a:solidFill>
                <a:srgbClr val="000099"/>
              </a:solidFill>
              <a:latin typeface="Arial" panose="020B0604020202020204" pitchFamily="34" charset="0"/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000" i="1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   R</a:t>
            </a:r>
            <a:r>
              <a:rPr kumimoji="0" lang="en-US" altLang="zh-TW" sz="2000" baseline="-250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1</a:t>
            </a:r>
            <a:r>
              <a:rPr kumimoji="0" lang="en-US" altLang="zh-TW" sz="20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	= ( student_id, student_name 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000" i="1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   R</a:t>
            </a:r>
            <a:r>
              <a:rPr kumimoji="0" lang="en-US" altLang="zh-TW" sz="2000" baseline="-250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2</a:t>
            </a:r>
            <a:r>
              <a:rPr kumimoji="0" lang="en-US" altLang="zh-TW" sz="20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	= ( course_id, course_name )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000" i="1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   R</a:t>
            </a:r>
            <a:r>
              <a:rPr kumimoji="0" lang="en-US" altLang="zh-TW" sz="2000" baseline="-250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3</a:t>
            </a:r>
            <a:r>
              <a:rPr kumimoji="0" lang="en-US" altLang="zh-TW" sz="20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	= ( student_id, course_id)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C51E8C-A1EF-EC44-BE8D-6EF95C25EEE4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316827" y="3733800"/>
            <a:ext cx="3141373" cy="1754326"/>
          </a:xfrm>
          <a:prstGeom prst="rect">
            <a:avLst/>
          </a:prstGeom>
          <a:blipFill>
            <a:blip r:embed="rId2"/>
            <a:stretch>
              <a:fillRect l="-1606" t="-1429" b="-2857"/>
            </a:stretch>
          </a:blipFill>
          <a:ln w="15875">
            <a:solidFill>
              <a:srgbClr val="FF0000"/>
            </a:solidFill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Slide Number Placeholder 3">
            <a:extLst>
              <a:ext uri="{FF2B5EF4-FFF2-40B4-BE49-F238E27FC236}">
                <a16:creationId xmlns:a16="http://schemas.microsoft.com/office/drawing/2014/main" id="{846ED2E3-1BAF-094E-987A-F73F8D1D9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DFADF7-3FFD-8A49-906F-FB6C7D7AC5EF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81</a:t>
            </a:fld>
            <a:endParaRPr lang="en-US" altLang="zh-TW" sz="1400"/>
          </a:p>
        </p:txBody>
      </p:sp>
      <p:sp>
        <p:nvSpPr>
          <p:cNvPr id="96258" name="Rectangle 2">
            <a:extLst>
              <a:ext uri="{FF2B5EF4-FFF2-40B4-BE49-F238E27FC236}">
                <a16:creationId xmlns:a16="http://schemas.microsoft.com/office/drawing/2014/main" id="{C9D74318-C756-F247-85B9-D065D50CC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371600"/>
            <a:ext cx="7543800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800" b="1">
                <a:sym typeface="Symbol" pitchFamily="2" charset="2"/>
              </a:rPr>
              <a:t>Example 2</a:t>
            </a:r>
          </a:p>
          <a:p>
            <a:pPr eaLnBrk="1" hangingPunct="1">
              <a:buFontTx/>
              <a:buNone/>
            </a:pPr>
            <a:endParaRPr lang="en-US" altLang="zh-TW" sz="1400" b="1">
              <a:sym typeface="Symbol" pitchFamily="2" charset="2"/>
            </a:endParaRPr>
          </a:p>
          <a:p>
            <a:pPr eaLnBrk="1" hangingPunct="1">
              <a:buFontTx/>
              <a:buNone/>
            </a:pPr>
            <a:r>
              <a:rPr lang="en-US" altLang="zh-TW" sz="2800" i="1">
                <a:sym typeface="Symbol" pitchFamily="2" charset="2"/>
              </a:rPr>
              <a:t>R</a:t>
            </a:r>
            <a:r>
              <a:rPr lang="en-US" altLang="zh-TW" sz="2800">
                <a:sym typeface="Symbol" pitchFamily="2" charset="2"/>
              </a:rPr>
              <a:t> = ( </a:t>
            </a:r>
            <a:r>
              <a:rPr lang="en-US" altLang="zh-TW" sz="2800" i="1">
                <a:sym typeface="Symbol" pitchFamily="2" charset="2"/>
              </a:rPr>
              <a:t>A</a:t>
            </a:r>
            <a:r>
              <a:rPr lang="en-US" altLang="zh-TW" sz="2800">
                <a:sym typeface="Symbol" pitchFamily="2" charset="2"/>
              </a:rPr>
              <a:t>, </a:t>
            </a:r>
            <a:r>
              <a:rPr lang="en-US" altLang="zh-TW" sz="2800" i="1">
                <a:sym typeface="Symbol" pitchFamily="2" charset="2"/>
              </a:rPr>
              <a:t>B</a:t>
            </a:r>
            <a:r>
              <a:rPr lang="en-US" altLang="zh-TW" sz="2800">
                <a:sym typeface="Symbol" pitchFamily="2" charset="2"/>
              </a:rPr>
              <a:t>, </a:t>
            </a:r>
            <a:r>
              <a:rPr lang="en-US" altLang="zh-TW" sz="2800" i="1">
                <a:sym typeface="Symbol" pitchFamily="2" charset="2"/>
              </a:rPr>
              <a:t>C</a:t>
            </a:r>
            <a:r>
              <a:rPr lang="en-US" altLang="zh-TW" sz="2800">
                <a:sym typeface="Symbol" pitchFamily="2" charset="2"/>
              </a:rPr>
              <a:t> )</a:t>
            </a:r>
          </a:p>
          <a:p>
            <a:pPr eaLnBrk="1" hangingPunct="1">
              <a:buFontTx/>
              <a:buNone/>
            </a:pPr>
            <a:r>
              <a:rPr lang="en-US" altLang="zh-TW" sz="2800" i="1">
                <a:sym typeface="Symbol" pitchFamily="2" charset="2"/>
              </a:rPr>
              <a:t>F</a:t>
            </a:r>
            <a:r>
              <a:rPr lang="en-US" altLang="zh-TW" sz="2800">
                <a:sym typeface="Symbol" pitchFamily="2" charset="2"/>
              </a:rPr>
              <a:t> = { </a:t>
            </a:r>
            <a:r>
              <a:rPr lang="en-US" altLang="zh-TW" sz="2800" i="1">
                <a:sym typeface="Symbol" pitchFamily="2" charset="2"/>
              </a:rPr>
              <a:t>A</a:t>
            </a:r>
            <a:r>
              <a:rPr lang="en-US" altLang="zh-TW" sz="2800">
                <a:sym typeface="Symbol" pitchFamily="2" charset="2"/>
              </a:rPr>
              <a:t>  </a:t>
            </a:r>
            <a:r>
              <a:rPr lang="en-US" altLang="zh-TW" sz="2800" i="1">
                <a:sym typeface="Symbol" pitchFamily="2" charset="2"/>
              </a:rPr>
              <a:t>BC</a:t>
            </a:r>
            <a:r>
              <a:rPr lang="en-US" altLang="zh-TW" sz="2800">
                <a:sym typeface="Symbol" pitchFamily="2" charset="2"/>
              </a:rPr>
              <a:t>, </a:t>
            </a:r>
            <a:r>
              <a:rPr lang="en-US" altLang="zh-TW" sz="2800" i="1">
                <a:sym typeface="Symbol" pitchFamily="2" charset="2"/>
              </a:rPr>
              <a:t>B</a:t>
            </a:r>
            <a:r>
              <a:rPr lang="en-US" altLang="zh-TW" sz="2800">
                <a:sym typeface="Symbol" pitchFamily="2" charset="2"/>
              </a:rPr>
              <a:t>  </a:t>
            </a:r>
            <a:r>
              <a:rPr lang="en-US" altLang="zh-TW" sz="2800" i="1">
                <a:sym typeface="Symbol" pitchFamily="2" charset="2"/>
              </a:rPr>
              <a:t>C</a:t>
            </a:r>
            <a:r>
              <a:rPr lang="en-US" altLang="zh-TW" sz="2800">
                <a:sym typeface="Symbol" pitchFamily="2" charset="2"/>
              </a:rPr>
              <a:t> }</a:t>
            </a:r>
          </a:p>
          <a:p>
            <a:pPr eaLnBrk="1" hangingPunct="1">
              <a:buFontTx/>
              <a:buNone/>
            </a:pPr>
            <a:r>
              <a:rPr lang="en-US" altLang="zh-TW" sz="2800" i="1">
                <a:sym typeface="Symbol" pitchFamily="2" charset="2"/>
              </a:rPr>
              <a:t>R</a:t>
            </a:r>
            <a:r>
              <a:rPr lang="en-US" altLang="zh-TW" sz="2800">
                <a:sym typeface="Symbol" pitchFamily="2" charset="2"/>
              </a:rPr>
              <a:t> is not in </a:t>
            </a:r>
            <a:r>
              <a:rPr lang="en-US" altLang="zh-TW" sz="2400">
                <a:sym typeface="Symbol" pitchFamily="2" charset="2"/>
              </a:rPr>
              <a:t>3NF</a:t>
            </a:r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E3586C01-C9E6-6C45-868D-5EB407DC34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946525"/>
            <a:ext cx="685800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400" i="1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F</a:t>
            </a:r>
            <a:r>
              <a:rPr kumimoji="0" lang="en-US" altLang="zh-TW" sz="2400" i="1" baseline="-250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c</a:t>
            </a:r>
            <a:r>
              <a:rPr kumimoji="0" lang="en-US" altLang="zh-TW" sz="24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	= { </a:t>
            </a:r>
            <a:r>
              <a:rPr kumimoji="0" lang="en-US" altLang="zh-TW" sz="2400" i="1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A</a:t>
            </a:r>
            <a:r>
              <a:rPr kumimoji="0" lang="en-US" altLang="zh-TW" sz="24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400" i="1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B</a:t>
            </a:r>
            <a:r>
              <a:rPr kumimoji="0" lang="en-US" altLang="zh-TW" sz="24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, </a:t>
            </a:r>
            <a:r>
              <a:rPr kumimoji="0" lang="en-US" altLang="zh-TW" sz="2400" i="1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B</a:t>
            </a:r>
            <a:r>
              <a:rPr kumimoji="0" lang="en-US" altLang="zh-TW" sz="24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400" i="1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C</a:t>
            </a:r>
            <a:r>
              <a:rPr kumimoji="0" lang="en-US" altLang="zh-TW" sz="24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 }</a:t>
            </a:r>
          </a:p>
          <a:p>
            <a:pPr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4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Decomposition into: R1 = ( A, B ), R2 = ( B, C )</a:t>
            </a:r>
          </a:p>
          <a:p>
            <a:pPr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400">
                <a:solidFill>
                  <a:srgbClr val="000099"/>
                </a:solidFill>
                <a:latin typeface="Arial" panose="020B0604020202020204" pitchFamily="34" charset="0"/>
                <a:sym typeface="Symbol" pitchFamily="2" charset="2"/>
              </a:rPr>
              <a:t>R1 and R2 are in 3NF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6D938-867E-6841-9903-F1AA9B39D213}"/>
              </a:ext>
            </a:extLst>
          </p:cNvPr>
          <p:cNvSpPr txBox="1"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257800" y="1342417"/>
            <a:ext cx="3058851" cy="2862322"/>
          </a:xfrm>
          <a:prstGeom prst="rect">
            <a:avLst/>
          </a:prstGeom>
          <a:blipFill>
            <a:blip r:embed="rId2"/>
            <a:stretch>
              <a:fillRect l="-1646" t="-881" b="-1762"/>
            </a:stretch>
          </a:blipFill>
          <a:ln w="15875">
            <a:solidFill>
              <a:srgbClr val="FF0000"/>
            </a:solidFill>
          </a:ln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1" grpId="0" uiExpand="1" build="p" autoUpdateAnimBg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Slide Number Placeholder 5">
            <a:extLst>
              <a:ext uri="{FF2B5EF4-FFF2-40B4-BE49-F238E27FC236}">
                <a16:creationId xmlns:a16="http://schemas.microsoft.com/office/drawing/2014/main" id="{F62F8F83-1ECA-3345-B1B2-57C5F59E8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3331518-197E-A047-B955-424B3FFCD37F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82</a:t>
            </a:fld>
            <a:endParaRPr lang="en-US" altLang="zh-TW" sz="1400"/>
          </a:p>
        </p:txBody>
      </p:sp>
      <p:sp>
        <p:nvSpPr>
          <p:cNvPr id="95234" name="Rectangle 2">
            <a:extLst>
              <a:ext uri="{FF2B5EF4-FFF2-40B4-BE49-F238E27FC236}">
                <a16:creationId xmlns:a16="http://schemas.microsoft.com/office/drawing/2014/main" id="{55DB0C38-F0D8-944D-906E-31108547A6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BCNF VS 3NF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A165FC23-8ED2-8641-B582-E4ACE4C796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5800" y="1371600"/>
            <a:ext cx="7772400" cy="5105400"/>
          </a:xfrm>
        </p:spPr>
        <p:txBody>
          <a:bodyPr/>
          <a:lstStyle/>
          <a:p>
            <a:pPr eaLnBrk="1" hangingPunct="1"/>
            <a:r>
              <a:rPr lang="en-US" altLang="zh-TW" sz="2800">
                <a:sym typeface="Symbol" pitchFamily="2" charset="2"/>
              </a:rPr>
              <a:t>always possible to decompose a relation into relations in 3NF and </a:t>
            </a:r>
          </a:p>
          <a:p>
            <a:pPr lvl="1" eaLnBrk="1" hangingPunct="1"/>
            <a:r>
              <a:rPr lang="en-US" altLang="zh-TW">
                <a:sym typeface="Symbol" pitchFamily="2" charset="2"/>
              </a:rPr>
              <a:t>the decomposition is lossless</a:t>
            </a:r>
          </a:p>
          <a:p>
            <a:pPr lvl="1" eaLnBrk="1" hangingPunct="1"/>
            <a:r>
              <a:rPr lang="en-US" altLang="zh-TW">
                <a:sym typeface="Symbol" pitchFamily="2" charset="2"/>
              </a:rPr>
              <a:t>dependencies are preserved</a:t>
            </a:r>
          </a:p>
          <a:p>
            <a:pPr lvl="1" eaLnBrk="1" hangingPunct="1">
              <a:buFontTx/>
              <a:buNone/>
            </a:pPr>
            <a:endParaRPr lang="en-US" altLang="zh-TW">
              <a:sym typeface="Symbol" pitchFamily="2" charset="2"/>
            </a:endParaRPr>
          </a:p>
          <a:p>
            <a:pPr eaLnBrk="1" hangingPunct="1"/>
            <a:r>
              <a:rPr lang="en-US" altLang="zh-TW" sz="2800">
                <a:sym typeface="Symbol" pitchFamily="2" charset="2"/>
              </a:rPr>
              <a:t>always possible to decompose a relation into relations in BCNF and </a:t>
            </a:r>
          </a:p>
          <a:p>
            <a:pPr lvl="1" eaLnBrk="1" hangingPunct="1"/>
            <a:r>
              <a:rPr lang="en-US" altLang="zh-TW">
                <a:sym typeface="Symbol" pitchFamily="2" charset="2"/>
              </a:rPr>
              <a:t>the decomposition is lossless</a:t>
            </a:r>
          </a:p>
          <a:p>
            <a:pPr lvl="1" eaLnBrk="1" hangingPunct="1"/>
            <a:r>
              <a:rPr lang="en-US" altLang="zh-TW">
                <a:sym typeface="Symbol" pitchFamily="2" charset="2"/>
              </a:rPr>
              <a:t>may not be possible to preserve dependencies</a:t>
            </a:r>
          </a:p>
          <a:p>
            <a:pPr eaLnBrk="1" hangingPunct="1"/>
            <a:endParaRPr lang="en-US" altLang="zh-TW" sz="24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Slide Number Placeholder 3">
            <a:extLst>
              <a:ext uri="{FF2B5EF4-FFF2-40B4-BE49-F238E27FC236}">
                <a16:creationId xmlns:a16="http://schemas.microsoft.com/office/drawing/2014/main" id="{A83ADD88-F00E-FB40-9844-8F081960F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B124C80-CC48-AF4C-81B0-DE76640A56CE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83</a:t>
            </a:fld>
            <a:endParaRPr lang="en-US" altLang="zh-TW" sz="1400"/>
          </a:p>
        </p:txBody>
      </p:sp>
      <p:sp>
        <p:nvSpPr>
          <p:cNvPr id="98306" name="Rectangle 2">
            <a:extLst>
              <a:ext uri="{FF2B5EF4-FFF2-40B4-BE49-F238E27FC236}">
                <a16:creationId xmlns:a16="http://schemas.microsoft.com/office/drawing/2014/main" id="{B2E008A0-5108-EC4D-9EC3-E92F9C4BE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47800"/>
            <a:ext cx="8534400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zh-TW" sz="2700">
                <a:solidFill>
                  <a:srgbClr val="006600"/>
                </a:solidFill>
                <a:sym typeface="Symbol" pitchFamily="2" charset="2"/>
              </a:rPr>
              <a:t>Candidate keys are (sid, part_id) </a:t>
            </a:r>
          </a:p>
          <a:p>
            <a:pPr eaLnBrk="1" hangingPunct="1">
              <a:buFontTx/>
              <a:buNone/>
            </a:pPr>
            <a:r>
              <a:rPr lang="en-US" altLang="zh-TW" sz="2700">
                <a:solidFill>
                  <a:srgbClr val="006600"/>
                </a:solidFill>
                <a:sym typeface="Symbol" pitchFamily="2" charset="2"/>
              </a:rPr>
              <a:t>and (sname, part_id).</a:t>
            </a:r>
          </a:p>
          <a:p>
            <a:pPr eaLnBrk="1" hangingPunct="1">
              <a:buFontTx/>
              <a:buNone/>
            </a:pPr>
            <a:r>
              <a:rPr lang="en-US" altLang="zh-TW" sz="2700">
                <a:solidFill>
                  <a:srgbClr val="006600"/>
                </a:solidFill>
                <a:sym typeface="Symbol" pitchFamily="2" charset="2"/>
              </a:rPr>
              <a:t>	{ </a:t>
            </a:r>
            <a:r>
              <a:rPr lang="en-US" altLang="zh-TW" sz="2700" i="1">
                <a:solidFill>
                  <a:srgbClr val="006600"/>
                </a:solidFill>
                <a:sym typeface="Symbol" pitchFamily="2" charset="2"/>
              </a:rPr>
              <a:t>sid</a:t>
            </a:r>
            <a:r>
              <a:rPr lang="en-US" altLang="zh-TW" sz="2700">
                <a:solidFill>
                  <a:srgbClr val="006600"/>
                </a:solidFill>
                <a:sym typeface="Symbol" pitchFamily="2" charset="2"/>
              </a:rPr>
              <a:t>, </a:t>
            </a:r>
            <a:r>
              <a:rPr lang="en-US" altLang="zh-TW" sz="2700" i="1">
                <a:solidFill>
                  <a:srgbClr val="006600"/>
                </a:solidFill>
                <a:sym typeface="Symbol" pitchFamily="2" charset="2"/>
              </a:rPr>
              <a:t>part_id</a:t>
            </a:r>
            <a:r>
              <a:rPr lang="en-US" altLang="zh-TW" sz="2700">
                <a:solidFill>
                  <a:srgbClr val="006600"/>
                </a:solidFill>
                <a:sym typeface="Symbol" pitchFamily="2" charset="2"/>
              </a:rPr>
              <a:t> }  </a:t>
            </a:r>
            <a:r>
              <a:rPr lang="en-US" altLang="zh-TW" sz="2700" i="1">
                <a:solidFill>
                  <a:srgbClr val="006600"/>
                </a:solidFill>
                <a:sym typeface="Symbol" pitchFamily="2" charset="2"/>
              </a:rPr>
              <a:t>qty</a:t>
            </a:r>
          </a:p>
          <a:p>
            <a:pPr eaLnBrk="1" hangingPunct="1">
              <a:buFontTx/>
              <a:buNone/>
            </a:pPr>
            <a:r>
              <a:rPr lang="en-US" altLang="zh-TW" sz="2700">
                <a:solidFill>
                  <a:srgbClr val="006600"/>
                </a:solidFill>
                <a:sym typeface="Symbol" pitchFamily="2" charset="2"/>
              </a:rPr>
              <a:t>	{ </a:t>
            </a:r>
            <a:r>
              <a:rPr lang="en-US" altLang="zh-TW" sz="2700" i="1">
                <a:solidFill>
                  <a:srgbClr val="006600"/>
                </a:solidFill>
                <a:sym typeface="Symbol" pitchFamily="2" charset="2"/>
              </a:rPr>
              <a:t>sname</a:t>
            </a:r>
            <a:r>
              <a:rPr lang="en-US" altLang="zh-TW" sz="2700">
                <a:solidFill>
                  <a:srgbClr val="006600"/>
                </a:solidFill>
                <a:sym typeface="Symbol" pitchFamily="2" charset="2"/>
              </a:rPr>
              <a:t>, </a:t>
            </a:r>
            <a:r>
              <a:rPr lang="en-US" altLang="zh-TW" sz="2700" i="1">
                <a:solidFill>
                  <a:srgbClr val="006600"/>
                </a:solidFill>
                <a:sym typeface="Symbol" pitchFamily="2" charset="2"/>
              </a:rPr>
              <a:t>part_id</a:t>
            </a:r>
            <a:r>
              <a:rPr lang="en-US" altLang="zh-TW" sz="2700">
                <a:solidFill>
                  <a:srgbClr val="006600"/>
                </a:solidFill>
                <a:sym typeface="Symbol" pitchFamily="2" charset="2"/>
              </a:rPr>
              <a:t> }  </a:t>
            </a:r>
            <a:r>
              <a:rPr lang="en-US" altLang="zh-TW" sz="2700" i="1">
                <a:solidFill>
                  <a:srgbClr val="006600"/>
                </a:solidFill>
                <a:sym typeface="Symbol" pitchFamily="2" charset="2"/>
              </a:rPr>
              <a:t>qty</a:t>
            </a:r>
          </a:p>
          <a:p>
            <a:pPr eaLnBrk="1" hangingPunct="1">
              <a:buFontTx/>
              <a:buNone/>
            </a:pPr>
            <a:r>
              <a:rPr lang="en-US" altLang="zh-TW" sz="2700">
                <a:solidFill>
                  <a:srgbClr val="006600"/>
                </a:solidFill>
                <a:sym typeface="Symbol" pitchFamily="2" charset="2"/>
              </a:rPr>
              <a:t>	</a:t>
            </a:r>
            <a:r>
              <a:rPr lang="en-US" altLang="zh-TW" sz="2700" i="1">
                <a:solidFill>
                  <a:srgbClr val="006600"/>
                </a:solidFill>
                <a:sym typeface="Symbol" pitchFamily="2" charset="2"/>
              </a:rPr>
              <a:t>sid</a:t>
            </a:r>
            <a:r>
              <a:rPr lang="en-US" altLang="zh-TW" sz="2700">
                <a:solidFill>
                  <a:srgbClr val="006600"/>
                </a:solidFill>
                <a:sym typeface="Symbol" pitchFamily="2" charset="2"/>
              </a:rPr>
              <a:t>  </a:t>
            </a:r>
            <a:r>
              <a:rPr lang="en-US" altLang="zh-TW" sz="2700" i="1">
                <a:solidFill>
                  <a:srgbClr val="006600"/>
                </a:solidFill>
                <a:sym typeface="Symbol" pitchFamily="2" charset="2"/>
              </a:rPr>
              <a:t>sname</a:t>
            </a:r>
          </a:p>
          <a:p>
            <a:pPr eaLnBrk="1" hangingPunct="1">
              <a:buFontTx/>
              <a:buNone/>
            </a:pPr>
            <a:r>
              <a:rPr lang="en-US" altLang="zh-TW" sz="2700">
                <a:solidFill>
                  <a:srgbClr val="006600"/>
                </a:solidFill>
                <a:sym typeface="Symbol" pitchFamily="2" charset="2"/>
              </a:rPr>
              <a:t>	</a:t>
            </a:r>
            <a:r>
              <a:rPr lang="en-US" altLang="zh-TW" sz="2700" i="1">
                <a:solidFill>
                  <a:srgbClr val="006600"/>
                </a:solidFill>
                <a:sym typeface="Symbol" pitchFamily="2" charset="2"/>
              </a:rPr>
              <a:t>sname</a:t>
            </a:r>
            <a:r>
              <a:rPr lang="en-US" altLang="zh-TW" sz="2700">
                <a:solidFill>
                  <a:srgbClr val="006600"/>
                </a:solidFill>
                <a:sym typeface="Symbol" pitchFamily="2" charset="2"/>
              </a:rPr>
              <a:t>  </a:t>
            </a:r>
            <a:r>
              <a:rPr lang="en-US" altLang="zh-TW" sz="2700" i="1">
                <a:solidFill>
                  <a:srgbClr val="006600"/>
                </a:solidFill>
                <a:sym typeface="Symbol" pitchFamily="2" charset="2"/>
              </a:rPr>
              <a:t>sid</a:t>
            </a:r>
          </a:p>
          <a:p>
            <a:pPr eaLnBrk="1" hangingPunct="1">
              <a:buFontTx/>
              <a:buNone/>
            </a:pPr>
            <a:r>
              <a:rPr lang="en-US" altLang="zh-TW" sz="2700">
                <a:sym typeface="Symbol" pitchFamily="2" charset="2"/>
              </a:rPr>
              <a:t>The relation is in 3NF:</a:t>
            </a:r>
          </a:p>
          <a:p>
            <a:pPr eaLnBrk="1" hangingPunct="1">
              <a:buFontTx/>
              <a:buNone/>
            </a:pPr>
            <a:r>
              <a:rPr lang="en-US" altLang="zh-TW" sz="2700">
                <a:sym typeface="Symbol" pitchFamily="2" charset="2"/>
              </a:rPr>
              <a:t>	For </a:t>
            </a:r>
            <a:r>
              <a:rPr lang="en-US" altLang="zh-TW" sz="2700" i="1">
                <a:sym typeface="Symbol" pitchFamily="2" charset="2"/>
              </a:rPr>
              <a:t>sid</a:t>
            </a:r>
            <a:r>
              <a:rPr lang="en-US" altLang="zh-TW" sz="2700">
                <a:sym typeface="Symbol" pitchFamily="2" charset="2"/>
              </a:rPr>
              <a:t>  </a:t>
            </a:r>
            <a:r>
              <a:rPr lang="en-US" altLang="zh-TW" sz="2700" i="1">
                <a:sym typeface="Symbol" pitchFamily="2" charset="2"/>
              </a:rPr>
              <a:t>sname</a:t>
            </a:r>
            <a:r>
              <a:rPr lang="en-US" altLang="zh-TW" sz="2700">
                <a:sym typeface="Symbol" pitchFamily="2" charset="2"/>
              </a:rPr>
              <a:t>, </a:t>
            </a:r>
            <a:r>
              <a:rPr lang="en-US" altLang="zh-TW" sz="2700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 sz="2700">
                <a:sym typeface="Symbol" pitchFamily="2" charset="2"/>
              </a:rPr>
              <a:t> </a:t>
            </a:r>
            <a:r>
              <a:rPr lang="en-US" altLang="zh-TW" sz="2700" i="1">
                <a:sym typeface="Symbol" pitchFamily="2" charset="2"/>
              </a:rPr>
              <a:t>sname</a:t>
            </a:r>
            <a:r>
              <a:rPr lang="en-US" altLang="zh-TW" sz="2700">
                <a:sym typeface="Symbol" pitchFamily="2" charset="2"/>
              </a:rPr>
              <a:t> is in a candidate key.</a:t>
            </a:r>
          </a:p>
          <a:p>
            <a:pPr eaLnBrk="1" hangingPunct="1">
              <a:buFontTx/>
              <a:buNone/>
            </a:pPr>
            <a:r>
              <a:rPr lang="en-US" altLang="zh-TW" sz="2700">
                <a:sym typeface="Symbol" pitchFamily="2" charset="2"/>
              </a:rPr>
              <a:t>	For </a:t>
            </a:r>
            <a:r>
              <a:rPr lang="en-US" altLang="zh-TW" sz="2700" i="1">
                <a:sym typeface="Symbol" pitchFamily="2" charset="2"/>
              </a:rPr>
              <a:t>sname</a:t>
            </a:r>
            <a:r>
              <a:rPr lang="en-US" altLang="zh-TW" sz="2700">
                <a:sym typeface="Symbol" pitchFamily="2" charset="2"/>
              </a:rPr>
              <a:t>  </a:t>
            </a:r>
            <a:r>
              <a:rPr lang="en-US" altLang="zh-TW" sz="2700" i="1">
                <a:sym typeface="Symbol" pitchFamily="2" charset="2"/>
              </a:rPr>
              <a:t>sid</a:t>
            </a:r>
            <a:r>
              <a:rPr lang="en-US" altLang="zh-TW" sz="2700">
                <a:sym typeface="Symbol" pitchFamily="2" charset="2"/>
              </a:rPr>
              <a:t>, </a:t>
            </a:r>
            <a:r>
              <a:rPr lang="en-US" altLang="zh-TW" sz="2700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 sz="2700">
                <a:sym typeface="Symbol" pitchFamily="2" charset="2"/>
              </a:rPr>
              <a:t> </a:t>
            </a:r>
            <a:r>
              <a:rPr lang="en-US" altLang="zh-TW" sz="2700" i="1">
                <a:sym typeface="Symbol" pitchFamily="2" charset="2"/>
              </a:rPr>
              <a:t>sid</a:t>
            </a:r>
            <a:r>
              <a:rPr lang="en-US" altLang="zh-TW" sz="2700">
                <a:sym typeface="Symbol" pitchFamily="2" charset="2"/>
              </a:rPr>
              <a:t> is in a candidate key.</a:t>
            </a:r>
          </a:p>
          <a:p>
            <a:pPr eaLnBrk="1" hangingPunct="1">
              <a:buFontTx/>
              <a:buNone/>
            </a:pPr>
            <a:r>
              <a:rPr lang="en-US" altLang="zh-TW" sz="2700">
                <a:sym typeface="Symbol" pitchFamily="2" charset="2"/>
              </a:rPr>
              <a:t>However, this leads to redundancy</a:t>
            </a:r>
            <a:r>
              <a:rPr lang="zh-TW" altLang="en-US" sz="2700">
                <a:sym typeface="Symbol" pitchFamily="2" charset="2"/>
              </a:rPr>
              <a:t> </a:t>
            </a:r>
            <a:r>
              <a:rPr lang="en-US" altLang="zh-TW" sz="2700">
                <a:sym typeface="Symbol" pitchFamily="2" charset="2"/>
              </a:rPr>
              <a:t>(Not BCNF)</a:t>
            </a:r>
          </a:p>
          <a:p>
            <a:pPr eaLnBrk="1" hangingPunct="1">
              <a:buFontTx/>
              <a:buNone/>
            </a:pPr>
            <a:endParaRPr lang="en-US" altLang="zh-TW" sz="2700">
              <a:sym typeface="Symbol" pitchFamily="2" charset="2"/>
            </a:endParaRPr>
          </a:p>
        </p:txBody>
      </p:sp>
      <p:sp>
        <p:nvSpPr>
          <p:cNvPr id="96259" name="Rectangle 3">
            <a:extLst>
              <a:ext uri="{FF2B5EF4-FFF2-40B4-BE49-F238E27FC236}">
                <a16:creationId xmlns:a16="http://schemas.microsoft.com/office/drawing/2014/main" id="{CAEF0ED4-9C3E-9A4C-9E43-7470A346C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457200"/>
            <a:ext cx="8382000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ctr" eaLnBrk="1" hangingPunct="1">
              <a:defRPr/>
            </a:pPr>
            <a:r>
              <a:rPr lang="en-US" altLang="zh-TW" sz="4400" b="1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More Examples</a:t>
            </a:r>
          </a:p>
        </p:txBody>
      </p:sp>
      <p:sp>
        <p:nvSpPr>
          <p:cNvPr id="98308" name="Line 4">
            <a:extLst>
              <a:ext uri="{FF2B5EF4-FFF2-40B4-BE49-F238E27FC236}">
                <a16:creationId xmlns:a16="http://schemas.microsoft.com/office/drawing/2014/main" id="{25FA2DE1-5521-7448-BFF0-9942347DF15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468938" y="2898775"/>
            <a:ext cx="66040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09" name="Line 5">
            <a:extLst>
              <a:ext uri="{FF2B5EF4-FFF2-40B4-BE49-F238E27FC236}">
                <a16:creationId xmlns:a16="http://schemas.microsoft.com/office/drawing/2014/main" id="{D4B55AB3-7C7A-6A42-9050-58684EF247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04100" y="2898775"/>
            <a:ext cx="661988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0" name="Line 6">
            <a:extLst>
              <a:ext uri="{FF2B5EF4-FFF2-40B4-BE49-F238E27FC236}">
                <a16:creationId xmlns:a16="http://schemas.microsoft.com/office/drawing/2014/main" id="{3CEAC18A-1F95-4244-9421-B8EEE51A2A9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83300" y="2336800"/>
            <a:ext cx="471488" cy="803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1" name="Line 7">
            <a:extLst>
              <a:ext uri="{FF2B5EF4-FFF2-40B4-BE49-F238E27FC236}">
                <a16:creationId xmlns:a16="http://schemas.microsoft.com/office/drawing/2014/main" id="{548E757A-E709-EA4C-A1FA-7BFA266F38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80238" y="2336800"/>
            <a:ext cx="471487" cy="803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8312" name="Rectangle 8">
            <a:extLst>
              <a:ext uri="{FF2B5EF4-FFF2-40B4-BE49-F238E27FC236}">
                <a16:creationId xmlns:a16="http://schemas.microsoft.com/office/drawing/2014/main" id="{A1F637EE-7373-C24E-8264-615EFD4385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9338" y="3140075"/>
            <a:ext cx="1274762" cy="441325"/>
          </a:xfrm>
          <a:prstGeom prst="rect">
            <a:avLst/>
          </a:prstGeom>
          <a:solidFill>
            <a:srgbClr val="EEDDCC"/>
          </a:solidFill>
          <a:ln w="12700" algn="ctr">
            <a:solidFill>
              <a:schemeClr val="tx1"/>
            </a:solidFill>
            <a:miter lim="800000"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SSP</a:t>
            </a:r>
          </a:p>
        </p:txBody>
      </p:sp>
      <p:sp>
        <p:nvSpPr>
          <p:cNvPr id="98313" name="Oval 9">
            <a:extLst>
              <a:ext uri="{FF2B5EF4-FFF2-40B4-BE49-F238E27FC236}">
                <a16:creationId xmlns:a16="http://schemas.microsoft.com/office/drawing/2014/main" id="{2FDA8A86-BF57-6C47-8AE0-4E81F9215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538413"/>
            <a:ext cx="1179513" cy="481012"/>
          </a:xfrm>
          <a:prstGeom prst="ellipse">
            <a:avLst/>
          </a:prstGeom>
          <a:solidFill>
            <a:srgbClr val="EEDDCC"/>
          </a:solidFill>
          <a:ln w="12700" algn="ctr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sid</a:t>
            </a:r>
          </a:p>
        </p:txBody>
      </p:sp>
      <p:sp>
        <p:nvSpPr>
          <p:cNvPr id="98314" name="Oval 10">
            <a:extLst>
              <a:ext uri="{FF2B5EF4-FFF2-40B4-BE49-F238E27FC236}">
                <a16:creationId xmlns:a16="http://schemas.microsoft.com/office/drawing/2014/main" id="{6554A693-D501-CB44-B0DF-3A8FAAF73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1313" y="1976438"/>
            <a:ext cx="1181100" cy="481012"/>
          </a:xfrm>
          <a:prstGeom prst="ellipse">
            <a:avLst/>
          </a:prstGeom>
          <a:solidFill>
            <a:srgbClr val="EEDDCC"/>
          </a:solidFill>
          <a:ln w="12700" algn="ctr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sname</a:t>
            </a:r>
          </a:p>
        </p:txBody>
      </p:sp>
      <p:sp>
        <p:nvSpPr>
          <p:cNvPr id="98315" name="Oval 11">
            <a:extLst>
              <a:ext uri="{FF2B5EF4-FFF2-40B4-BE49-F238E27FC236}">
                <a16:creationId xmlns:a16="http://schemas.microsoft.com/office/drawing/2014/main" id="{B2119C1F-9A51-CD49-903F-8299252BD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4988" y="1976438"/>
            <a:ext cx="1181100" cy="481012"/>
          </a:xfrm>
          <a:prstGeom prst="ellipse">
            <a:avLst/>
          </a:prstGeom>
          <a:solidFill>
            <a:srgbClr val="EEDDCC"/>
          </a:solidFill>
          <a:ln w="12700" algn="ctr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part_id</a:t>
            </a:r>
          </a:p>
        </p:txBody>
      </p:sp>
      <p:sp>
        <p:nvSpPr>
          <p:cNvPr id="98316" name="Oval 12">
            <a:extLst>
              <a:ext uri="{FF2B5EF4-FFF2-40B4-BE49-F238E27FC236}">
                <a16:creationId xmlns:a16="http://schemas.microsoft.com/office/drawing/2014/main" id="{4BCD47AC-1608-674D-BCC1-B376C9C98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35888" y="2538413"/>
            <a:ext cx="1179512" cy="481012"/>
          </a:xfrm>
          <a:prstGeom prst="ellipse">
            <a:avLst/>
          </a:prstGeom>
          <a:solidFill>
            <a:srgbClr val="EEDDCC"/>
          </a:solidFill>
          <a:ln w="12700" algn="ctr">
            <a:solidFill>
              <a:schemeClr val="tx1"/>
            </a:solidFill>
            <a:round/>
            <a:headEnd/>
            <a:tailEnd/>
          </a:ln>
          <a:effectLst>
            <a:outerShdw dist="71842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TW" sz="2400">
                <a:latin typeface="Arial" panose="020B0604020202020204" pitchFamily="34" charset="0"/>
              </a:rPr>
              <a:t>qty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Slide Number Placeholder 3">
            <a:extLst>
              <a:ext uri="{FF2B5EF4-FFF2-40B4-BE49-F238E27FC236}">
                <a16:creationId xmlns:a16="http://schemas.microsoft.com/office/drawing/2014/main" id="{CDB35609-B226-2C48-9C64-59C8607F6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026D2D-3FD0-B94E-896A-2DB31AF17970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84</a:t>
            </a:fld>
            <a:endParaRPr lang="en-US" altLang="zh-TW" sz="1400"/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AA78E04E-B98A-1E4E-8E2F-8896B8DD7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4000"/>
            <a:ext cx="85344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800100" indent="-3429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ym typeface="Symbol" pitchFamily="2" charset="2"/>
              </a:rPr>
              <a:t>If we decompose the schema into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ym typeface="Symbol" pitchFamily="2" charset="2"/>
              </a:rPr>
              <a:t>	</a:t>
            </a:r>
            <a:r>
              <a:rPr lang="en-US" altLang="zh-TW" sz="2300" i="1">
                <a:sym typeface="Symbol" pitchFamily="2" charset="2"/>
              </a:rPr>
              <a:t>R</a:t>
            </a:r>
            <a:r>
              <a:rPr lang="en-US" altLang="zh-TW" sz="2300" baseline="-25000">
                <a:sym typeface="Symbol" pitchFamily="2" charset="2"/>
              </a:rPr>
              <a:t>1</a:t>
            </a:r>
            <a:r>
              <a:rPr lang="en-US" altLang="zh-TW" sz="2300">
                <a:sym typeface="Symbol" pitchFamily="2" charset="2"/>
              </a:rPr>
              <a:t> = ( sid, sname ), </a:t>
            </a:r>
            <a:r>
              <a:rPr lang="en-US" altLang="zh-TW" sz="2300" i="1">
                <a:sym typeface="Symbol" pitchFamily="2" charset="2"/>
              </a:rPr>
              <a:t>R</a:t>
            </a:r>
            <a:r>
              <a:rPr lang="en-US" altLang="zh-TW" sz="2300" baseline="-25000">
                <a:sym typeface="Symbol" pitchFamily="2" charset="2"/>
              </a:rPr>
              <a:t>2</a:t>
            </a:r>
            <a:r>
              <a:rPr lang="en-US" altLang="zh-TW" sz="2300">
                <a:sym typeface="Symbol" pitchFamily="2" charset="2"/>
              </a:rPr>
              <a:t> = ( sid, part_id, qty 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ym typeface="Symbol" pitchFamily="2" charset="2"/>
              </a:rPr>
              <a:t>These are in BCNF.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30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ym typeface="Symbol" pitchFamily="2" charset="2"/>
              </a:rPr>
              <a:t>The decomposition is dependency preserving.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ym typeface="Symbol" pitchFamily="2" charset="2"/>
              </a:rPr>
              <a:t>{ </a:t>
            </a:r>
            <a:r>
              <a:rPr lang="en-US" altLang="zh-TW" sz="2300" i="1">
                <a:sym typeface="Symbol" pitchFamily="2" charset="2"/>
              </a:rPr>
              <a:t>sname</a:t>
            </a:r>
            <a:r>
              <a:rPr lang="en-US" altLang="zh-TW" sz="2300">
                <a:sym typeface="Symbol" pitchFamily="2" charset="2"/>
              </a:rPr>
              <a:t>, </a:t>
            </a:r>
            <a:r>
              <a:rPr lang="en-US" altLang="zh-TW" sz="2300" i="1">
                <a:sym typeface="Symbol" pitchFamily="2" charset="2"/>
              </a:rPr>
              <a:t>part_id</a:t>
            </a:r>
            <a:r>
              <a:rPr lang="en-US" altLang="zh-TW" sz="2300">
                <a:sym typeface="Symbol" pitchFamily="2" charset="2"/>
              </a:rPr>
              <a:t> }  </a:t>
            </a:r>
            <a:r>
              <a:rPr lang="en-US" altLang="zh-TW" sz="2300" i="1">
                <a:sym typeface="Symbol" pitchFamily="2" charset="2"/>
              </a:rPr>
              <a:t>qty</a:t>
            </a:r>
            <a:r>
              <a:rPr lang="en-US" altLang="zh-TW" sz="2300">
                <a:sym typeface="Symbol" pitchFamily="2" charset="2"/>
              </a:rPr>
              <a:t> can be deduced from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300">
              <a:sym typeface="Symbol" pitchFamily="2" charset="2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AutoNum type="arabicParenBoth"/>
            </a:pPr>
            <a:r>
              <a:rPr lang="en-US" altLang="zh-TW" sz="2300">
                <a:sym typeface="Symbol" pitchFamily="2" charset="2"/>
              </a:rPr>
              <a:t> </a:t>
            </a:r>
            <a:r>
              <a:rPr lang="en-US" altLang="zh-TW" sz="2300" i="1">
                <a:sym typeface="Symbol" pitchFamily="2" charset="2"/>
              </a:rPr>
              <a:t>sname</a:t>
            </a:r>
            <a:r>
              <a:rPr lang="en-US" altLang="zh-TW" sz="2300">
                <a:sym typeface="Symbol" pitchFamily="2" charset="2"/>
              </a:rPr>
              <a:t>  </a:t>
            </a:r>
            <a:r>
              <a:rPr lang="en-US" altLang="zh-TW" sz="2300" i="1">
                <a:sym typeface="Symbol" pitchFamily="2" charset="2"/>
              </a:rPr>
              <a:t>sid</a:t>
            </a:r>
            <a:r>
              <a:rPr lang="en-US" altLang="zh-TW" sz="2300">
                <a:sym typeface="Symbol" pitchFamily="2" charset="2"/>
              </a:rPr>
              <a:t>				(</a:t>
            </a:r>
            <a:r>
              <a:rPr lang="en-US" altLang="zh-TW" sz="2300" i="1">
                <a:sym typeface="Symbol" pitchFamily="2" charset="2"/>
              </a:rPr>
              <a:t>given</a:t>
            </a:r>
            <a:r>
              <a:rPr lang="en-US" altLang="zh-TW" sz="2300">
                <a:sym typeface="Symbol" pitchFamily="2" charset="2"/>
              </a:rPr>
              <a:t>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AutoNum type="arabicParenBoth"/>
            </a:pPr>
            <a:r>
              <a:rPr lang="en-US" altLang="zh-TW" sz="2300">
                <a:sym typeface="Symbol" pitchFamily="2" charset="2"/>
              </a:rPr>
              <a:t> { </a:t>
            </a:r>
            <a:r>
              <a:rPr lang="en-US" altLang="zh-TW" sz="2300" i="1">
                <a:sym typeface="Symbol" pitchFamily="2" charset="2"/>
              </a:rPr>
              <a:t>sname</a:t>
            </a:r>
            <a:r>
              <a:rPr lang="en-US" altLang="zh-TW" sz="2300">
                <a:sym typeface="Symbol" pitchFamily="2" charset="2"/>
              </a:rPr>
              <a:t>, </a:t>
            </a:r>
            <a:r>
              <a:rPr lang="en-US" altLang="zh-TW" sz="2300" i="1">
                <a:sym typeface="Symbol" pitchFamily="2" charset="2"/>
              </a:rPr>
              <a:t>part_id</a:t>
            </a:r>
            <a:r>
              <a:rPr lang="en-US" altLang="zh-TW" sz="2300">
                <a:sym typeface="Symbol" pitchFamily="2" charset="2"/>
              </a:rPr>
              <a:t> }  { </a:t>
            </a:r>
            <a:r>
              <a:rPr lang="en-US" altLang="zh-TW" sz="2300" i="1">
                <a:sym typeface="Symbol" pitchFamily="2" charset="2"/>
              </a:rPr>
              <a:t>sid</a:t>
            </a:r>
            <a:r>
              <a:rPr lang="en-US" altLang="zh-TW" sz="2300">
                <a:sym typeface="Symbol" pitchFamily="2" charset="2"/>
              </a:rPr>
              <a:t>, </a:t>
            </a:r>
            <a:r>
              <a:rPr lang="en-US" altLang="zh-TW" sz="2300" i="1">
                <a:sym typeface="Symbol" pitchFamily="2" charset="2"/>
              </a:rPr>
              <a:t>part_id</a:t>
            </a:r>
            <a:r>
              <a:rPr lang="en-US" altLang="zh-TW" sz="2300">
                <a:sym typeface="Symbol" pitchFamily="2" charset="2"/>
              </a:rPr>
              <a:t> }	(</a:t>
            </a:r>
            <a:r>
              <a:rPr lang="en-US" altLang="zh-TW" sz="2300" i="1">
                <a:sym typeface="Symbol" pitchFamily="2" charset="2"/>
              </a:rPr>
              <a:t>augmentation</a:t>
            </a:r>
            <a:r>
              <a:rPr lang="en-US" altLang="zh-TW" sz="2300">
                <a:sym typeface="Symbol" pitchFamily="2" charset="2"/>
              </a:rPr>
              <a:t> on (1))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AutoNum type="arabicParenBoth"/>
            </a:pPr>
            <a:r>
              <a:rPr lang="en-US" altLang="zh-TW" sz="2300">
                <a:sym typeface="Symbol" pitchFamily="2" charset="2"/>
              </a:rPr>
              <a:t> { </a:t>
            </a:r>
            <a:r>
              <a:rPr lang="en-US" altLang="zh-TW" sz="2300" i="1">
                <a:sym typeface="Symbol" pitchFamily="2" charset="2"/>
              </a:rPr>
              <a:t>sid</a:t>
            </a:r>
            <a:r>
              <a:rPr lang="en-US" altLang="zh-TW" sz="2300">
                <a:sym typeface="Symbol" pitchFamily="2" charset="2"/>
              </a:rPr>
              <a:t>, </a:t>
            </a:r>
            <a:r>
              <a:rPr lang="en-US" altLang="zh-TW" sz="2300" i="1">
                <a:sym typeface="Symbol" pitchFamily="2" charset="2"/>
              </a:rPr>
              <a:t>part_id</a:t>
            </a:r>
            <a:r>
              <a:rPr lang="en-US" altLang="zh-TW" sz="2300">
                <a:sym typeface="Symbol" pitchFamily="2" charset="2"/>
              </a:rPr>
              <a:t> }  </a:t>
            </a:r>
            <a:r>
              <a:rPr lang="en-US" altLang="zh-TW" sz="2300" i="1">
                <a:sym typeface="Symbol" pitchFamily="2" charset="2"/>
              </a:rPr>
              <a:t>qty</a:t>
            </a:r>
            <a:r>
              <a:rPr lang="en-US" altLang="zh-TW" sz="2300">
                <a:sym typeface="Symbol" pitchFamily="2" charset="2"/>
              </a:rPr>
              <a:t>			(</a:t>
            </a:r>
            <a:r>
              <a:rPr lang="en-US" altLang="zh-TW" sz="2300" i="1">
                <a:sym typeface="Symbol" pitchFamily="2" charset="2"/>
              </a:rPr>
              <a:t>given</a:t>
            </a:r>
            <a:r>
              <a:rPr lang="en-US" altLang="zh-TW" sz="2300">
                <a:sym typeface="Symbol" pitchFamily="2" charset="2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30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ym typeface="Symbol" pitchFamily="2" charset="2"/>
              </a:rPr>
              <a:t>and finally transitivity on (2) and (3).</a:t>
            </a:r>
          </a:p>
        </p:txBody>
      </p:sp>
      <p:grpSp>
        <p:nvGrpSpPr>
          <p:cNvPr id="99331" name="Group 3">
            <a:extLst>
              <a:ext uri="{FF2B5EF4-FFF2-40B4-BE49-F238E27FC236}">
                <a16:creationId xmlns:a16="http://schemas.microsoft.com/office/drawing/2014/main" id="{39213CE7-96B9-B246-81CF-4D183784A868}"/>
              </a:ext>
            </a:extLst>
          </p:cNvPr>
          <p:cNvGrpSpPr>
            <a:grpSpLocks/>
          </p:cNvGrpSpPr>
          <p:nvPr/>
        </p:nvGrpSpPr>
        <p:grpSpPr bwMode="auto">
          <a:xfrm>
            <a:off x="4608513" y="304800"/>
            <a:ext cx="4230687" cy="1676400"/>
            <a:chOff x="2903" y="318"/>
            <a:chExt cx="2736" cy="1011"/>
          </a:xfrm>
        </p:grpSpPr>
        <p:sp>
          <p:nvSpPr>
            <p:cNvPr id="99332" name="Line 4">
              <a:extLst>
                <a:ext uri="{FF2B5EF4-FFF2-40B4-BE49-F238E27FC236}">
                  <a16:creationId xmlns:a16="http://schemas.microsoft.com/office/drawing/2014/main" id="{6D5A053E-44A9-6A40-82D6-3FB47C26A2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468" y="899"/>
              <a:ext cx="416" cy="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333" name="Line 5">
              <a:extLst>
                <a:ext uri="{FF2B5EF4-FFF2-40B4-BE49-F238E27FC236}">
                  <a16:creationId xmlns:a16="http://schemas.microsoft.com/office/drawing/2014/main" id="{A50A33AF-CE7D-BF4E-83D3-B6A12B66B0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87" y="899"/>
              <a:ext cx="417" cy="15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334" name="Line 6">
              <a:extLst>
                <a:ext uri="{FF2B5EF4-FFF2-40B4-BE49-F238E27FC236}">
                  <a16:creationId xmlns:a16="http://schemas.microsoft.com/office/drawing/2014/main" id="{6C5722EA-3154-A84D-888C-87372644DC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855" y="545"/>
              <a:ext cx="297" cy="5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335" name="Line 7">
              <a:extLst>
                <a:ext uri="{FF2B5EF4-FFF2-40B4-BE49-F238E27FC236}">
                  <a16:creationId xmlns:a16="http://schemas.microsoft.com/office/drawing/2014/main" id="{7C29A0A5-F30B-5C4F-932C-2E9A36310E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0" y="545"/>
              <a:ext cx="297" cy="50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336" name="Rectangle 8">
              <a:extLst>
                <a:ext uri="{FF2B5EF4-FFF2-40B4-BE49-F238E27FC236}">
                  <a16:creationId xmlns:a16="http://schemas.microsoft.com/office/drawing/2014/main" id="{CC63781F-7352-DD44-BBF9-8490DB120F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4" y="1051"/>
              <a:ext cx="803" cy="278"/>
            </a:xfrm>
            <a:prstGeom prst="rect">
              <a:avLst/>
            </a:prstGeom>
            <a:solidFill>
              <a:srgbClr val="EEDDCC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400">
                  <a:latin typeface="Arial" panose="020B0604020202020204" pitchFamily="34" charset="0"/>
                </a:rPr>
                <a:t>SSP</a:t>
              </a:r>
            </a:p>
          </p:txBody>
        </p:sp>
        <p:sp>
          <p:nvSpPr>
            <p:cNvPr id="99337" name="Oval 9">
              <a:extLst>
                <a:ext uri="{FF2B5EF4-FFF2-40B4-BE49-F238E27FC236}">
                  <a16:creationId xmlns:a16="http://schemas.microsoft.com/office/drawing/2014/main" id="{2575239C-B21F-0C4C-905C-27FE839E5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3" y="672"/>
              <a:ext cx="743" cy="303"/>
            </a:xfrm>
            <a:prstGeom prst="ellipse">
              <a:avLst/>
            </a:prstGeom>
            <a:solidFill>
              <a:srgbClr val="EEDDCC"/>
            </a:solidFill>
            <a:ln w="12700" algn="ctr">
              <a:solidFill>
                <a:schemeClr val="tx1"/>
              </a:solidFill>
              <a:round/>
              <a:headEnd/>
              <a:tailEnd/>
            </a:ln>
            <a:effectLst>
              <a:outerShdw dist="7184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400">
                  <a:latin typeface="Arial" panose="020B0604020202020204" pitchFamily="34" charset="0"/>
                </a:rPr>
                <a:t>sid</a:t>
              </a:r>
            </a:p>
          </p:txBody>
        </p:sp>
        <p:sp>
          <p:nvSpPr>
            <p:cNvPr id="99338" name="Oval 10">
              <a:extLst>
                <a:ext uri="{FF2B5EF4-FFF2-40B4-BE49-F238E27FC236}">
                  <a16:creationId xmlns:a16="http://schemas.microsoft.com/office/drawing/2014/main" id="{302125EA-6966-3843-BD63-42E38F870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8" y="318"/>
              <a:ext cx="744" cy="303"/>
            </a:xfrm>
            <a:prstGeom prst="ellipse">
              <a:avLst/>
            </a:prstGeom>
            <a:solidFill>
              <a:srgbClr val="EEDDCC"/>
            </a:solidFill>
            <a:ln w="12700" algn="ctr">
              <a:solidFill>
                <a:schemeClr val="tx1"/>
              </a:solidFill>
              <a:round/>
              <a:headEnd/>
              <a:tailEnd/>
            </a:ln>
            <a:effectLst>
              <a:outerShdw dist="7184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400">
                  <a:latin typeface="Arial" panose="020B0604020202020204" pitchFamily="34" charset="0"/>
                </a:rPr>
                <a:t>sname</a:t>
              </a:r>
            </a:p>
          </p:txBody>
        </p:sp>
        <p:sp>
          <p:nvSpPr>
            <p:cNvPr id="99339" name="Oval 11">
              <a:extLst>
                <a:ext uri="{FF2B5EF4-FFF2-40B4-BE49-F238E27FC236}">
                  <a16:creationId xmlns:a16="http://schemas.microsoft.com/office/drawing/2014/main" id="{EA21B176-8FD8-5F4D-B826-EE03C7F3BF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0" y="318"/>
              <a:ext cx="744" cy="303"/>
            </a:xfrm>
            <a:prstGeom prst="ellipse">
              <a:avLst/>
            </a:prstGeom>
            <a:solidFill>
              <a:srgbClr val="EEDDCC"/>
            </a:solidFill>
            <a:ln w="12700" algn="ctr">
              <a:solidFill>
                <a:schemeClr val="tx1"/>
              </a:solidFill>
              <a:round/>
              <a:headEnd/>
              <a:tailEnd/>
            </a:ln>
            <a:effectLst>
              <a:outerShdw dist="7184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400">
                  <a:latin typeface="Arial" panose="020B0604020202020204" pitchFamily="34" charset="0"/>
                </a:rPr>
                <a:t>part_id</a:t>
              </a:r>
            </a:p>
          </p:txBody>
        </p:sp>
        <p:sp>
          <p:nvSpPr>
            <p:cNvPr id="99340" name="Oval 12">
              <a:extLst>
                <a:ext uri="{FF2B5EF4-FFF2-40B4-BE49-F238E27FC236}">
                  <a16:creationId xmlns:a16="http://schemas.microsoft.com/office/drawing/2014/main" id="{0D541AE1-72C8-8048-8F7E-744FB5D8A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96" y="672"/>
              <a:ext cx="743" cy="303"/>
            </a:xfrm>
            <a:prstGeom prst="ellipse">
              <a:avLst/>
            </a:prstGeom>
            <a:solidFill>
              <a:srgbClr val="EEDDCC"/>
            </a:solidFill>
            <a:ln w="12700" algn="ctr">
              <a:solidFill>
                <a:schemeClr val="tx1"/>
              </a:solidFill>
              <a:round/>
              <a:headEnd/>
              <a:tailEnd/>
            </a:ln>
            <a:effectLst>
              <a:outerShdw dist="7184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400">
                  <a:latin typeface="Arial" panose="020B0604020202020204" pitchFamily="34" charset="0"/>
                </a:rPr>
                <a:t>qty</a:t>
              </a:r>
            </a:p>
          </p:txBody>
        </p:sp>
      </p:grp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Slide Number Placeholder 3">
            <a:extLst>
              <a:ext uri="{FF2B5EF4-FFF2-40B4-BE49-F238E27FC236}">
                <a16:creationId xmlns:a16="http://schemas.microsoft.com/office/drawing/2014/main" id="{4ED5A666-215E-3240-9865-BCD97479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202AE4-7539-3E46-ACB2-59983864F294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85</a:t>
            </a:fld>
            <a:endParaRPr lang="en-US" altLang="zh-TW" sz="1400"/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36F2C294-9BBA-3C4F-A614-3545CA5FB3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066800"/>
            <a:ext cx="4876800" cy="1311275"/>
          </a:xfrm>
          <a:prstGeom prst="rect">
            <a:avLst/>
          </a:prstGeom>
          <a:solidFill>
            <a:srgbClr val="CCFFCC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000">
                <a:solidFill>
                  <a:srgbClr val="006600"/>
                </a:solidFill>
                <a:latin typeface="Arial" panose="020B0604020202020204" pitchFamily="34" charset="0"/>
                <a:sym typeface="Symbol" pitchFamily="2" charset="2"/>
              </a:rPr>
              <a:t>At a city, for a certain part, the supplier is unique:</a:t>
            </a:r>
          </a:p>
          <a:p>
            <a:pPr eaLnBrk="1" hangingPunct="1">
              <a:lnSpc>
                <a:spcPct val="4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000" i="1">
                <a:solidFill>
                  <a:srgbClr val="006600"/>
                </a:solidFill>
                <a:latin typeface="Arial" panose="020B0604020202020204" pitchFamily="34" charset="0"/>
                <a:sym typeface="Symbol" pitchFamily="2" charset="2"/>
              </a:rPr>
              <a:t>city</a:t>
            </a:r>
            <a:r>
              <a:rPr kumimoji="0" lang="en-US" altLang="zh-TW" sz="2000">
                <a:solidFill>
                  <a:srgbClr val="006600"/>
                </a:solidFill>
                <a:latin typeface="Arial" panose="020B0604020202020204" pitchFamily="34" charset="0"/>
                <a:sym typeface="Symbol" pitchFamily="2" charset="2"/>
              </a:rPr>
              <a:t>  </a:t>
            </a:r>
            <a:r>
              <a:rPr kumimoji="0" lang="en-US" altLang="zh-TW" sz="2000" i="1">
                <a:solidFill>
                  <a:srgbClr val="006600"/>
                </a:solidFill>
                <a:latin typeface="Arial" panose="020B0604020202020204" pitchFamily="34" charset="0"/>
                <a:sym typeface="Symbol" pitchFamily="2" charset="2"/>
              </a:rPr>
              <a:t>part_id</a:t>
            </a:r>
            <a:r>
              <a:rPr kumimoji="0" lang="en-US" altLang="zh-TW" sz="2000">
                <a:solidFill>
                  <a:srgbClr val="006600"/>
                </a:solidFill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000" i="1">
                <a:solidFill>
                  <a:srgbClr val="006600"/>
                </a:solidFill>
                <a:latin typeface="Arial" panose="020B0604020202020204" pitchFamily="34" charset="0"/>
                <a:sym typeface="Symbol" pitchFamily="2" charset="2"/>
              </a:rPr>
              <a:t>sid</a:t>
            </a:r>
            <a:r>
              <a:rPr kumimoji="0" lang="en-US" altLang="zh-TW" sz="2000">
                <a:solidFill>
                  <a:srgbClr val="006600"/>
                </a:solidFill>
                <a:latin typeface="Arial" panose="020B0604020202020204" pitchFamily="34" charset="0"/>
                <a:sym typeface="Symbol" pitchFamily="2" charset="2"/>
              </a:rPr>
              <a:t>.</a:t>
            </a:r>
          </a:p>
          <a:p>
            <a:pPr eaLnBrk="1" hangingPunct="1">
              <a:lnSpc>
                <a:spcPct val="60000"/>
              </a:lnSpc>
              <a:spcBef>
                <a:spcPct val="50000"/>
              </a:spcBef>
              <a:buClr>
                <a:srgbClr val="663300"/>
              </a:buClr>
              <a:buFont typeface="Wingdings" pitchFamily="2" charset="2"/>
              <a:buNone/>
            </a:pPr>
            <a:r>
              <a:rPr kumimoji="0" lang="en-US" altLang="zh-TW" sz="2000">
                <a:solidFill>
                  <a:srgbClr val="006600"/>
                </a:solidFill>
                <a:latin typeface="Arial" panose="020B0604020202020204" pitchFamily="34" charset="0"/>
                <a:sym typeface="Symbol" pitchFamily="2" charset="2"/>
              </a:rPr>
              <a:t>Also, </a:t>
            </a:r>
            <a:r>
              <a:rPr kumimoji="0" lang="en-US" altLang="zh-TW" sz="2000" i="1">
                <a:solidFill>
                  <a:srgbClr val="006600"/>
                </a:solidFill>
                <a:latin typeface="Arial" panose="020B0604020202020204" pitchFamily="34" charset="0"/>
                <a:sym typeface="Symbol" pitchFamily="2" charset="2"/>
              </a:rPr>
              <a:t>sid</a:t>
            </a:r>
            <a:r>
              <a:rPr kumimoji="0" lang="en-US" altLang="zh-TW" sz="2000">
                <a:solidFill>
                  <a:srgbClr val="006600"/>
                </a:solidFill>
                <a:latin typeface="Arial" panose="020B0604020202020204" pitchFamily="34" charset="0"/>
                <a:sym typeface="Symbol" pitchFamily="2" charset="2"/>
              </a:rPr>
              <a:t>  </a:t>
            </a:r>
            <a:r>
              <a:rPr kumimoji="0" lang="en-US" altLang="zh-TW" sz="2000" i="1">
                <a:solidFill>
                  <a:srgbClr val="006600"/>
                </a:solidFill>
                <a:latin typeface="Arial" panose="020B0604020202020204" pitchFamily="34" charset="0"/>
                <a:sym typeface="Symbol" pitchFamily="2" charset="2"/>
              </a:rPr>
              <a:t>city</a:t>
            </a: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7B35262D-B0BE-E34B-9E13-B7B0EE4D8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2819400"/>
            <a:ext cx="807720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81000" indent="-381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ym typeface="Symbol" pitchFamily="2" charset="2"/>
              </a:rPr>
              <a:t>The relation is not in BCNF: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300" i="1">
                <a:sym typeface="Symbol" pitchFamily="2" charset="2"/>
              </a:rPr>
              <a:t>sid</a:t>
            </a:r>
            <a:r>
              <a:rPr lang="en-US" altLang="zh-TW" sz="2300">
                <a:sym typeface="Symbol" pitchFamily="2" charset="2"/>
              </a:rPr>
              <a:t>  </a:t>
            </a:r>
            <a:r>
              <a:rPr lang="en-US" altLang="zh-TW" sz="2300" i="1">
                <a:sym typeface="Symbol" pitchFamily="2" charset="2"/>
              </a:rPr>
              <a:t>city</a:t>
            </a:r>
            <a:r>
              <a:rPr lang="en-US" altLang="zh-TW" sz="2300">
                <a:sym typeface="Symbol" pitchFamily="2" charset="2"/>
              </a:rPr>
              <a:t> is not trivial, and </a:t>
            </a:r>
            <a:r>
              <a:rPr lang="en-US" altLang="zh-TW" sz="2300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 sz="2300">
                <a:sym typeface="Symbol" pitchFamily="2" charset="2"/>
              </a:rPr>
              <a:t> </a:t>
            </a:r>
            <a:r>
              <a:rPr lang="en-US" altLang="zh-TW" sz="2300" i="1">
                <a:sym typeface="Symbol" pitchFamily="2" charset="2"/>
              </a:rPr>
              <a:t>sid</a:t>
            </a:r>
            <a:r>
              <a:rPr lang="en-US" altLang="zh-TW" sz="2300">
                <a:sym typeface="Symbol" pitchFamily="2" charset="2"/>
              </a:rPr>
              <a:t> is not a superkey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300"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ym typeface="Symbol" pitchFamily="2" charset="2"/>
              </a:rPr>
              <a:t>It is in 3NF: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300" i="1">
                <a:sym typeface="Symbol" pitchFamily="2" charset="2"/>
              </a:rPr>
              <a:t>sid</a:t>
            </a:r>
            <a:r>
              <a:rPr lang="en-US" altLang="zh-TW" sz="2300">
                <a:sym typeface="Symbol" pitchFamily="2" charset="2"/>
              </a:rPr>
              <a:t>  </a:t>
            </a:r>
            <a:r>
              <a:rPr lang="en-US" altLang="zh-TW" sz="2300" i="1">
                <a:sym typeface="Symbol" pitchFamily="2" charset="2"/>
              </a:rPr>
              <a:t>city</a:t>
            </a:r>
            <a:r>
              <a:rPr lang="en-US" altLang="zh-TW" sz="2300">
                <a:sym typeface="Symbol" pitchFamily="2" charset="2"/>
              </a:rPr>
              <a:t> </a:t>
            </a:r>
            <a:r>
              <a:rPr lang="en-US" altLang="zh-TW" sz="2300">
                <a:latin typeface="Arial" panose="020B0604020202020204" pitchFamily="34" charset="0"/>
                <a:sym typeface="Symbol" pitchFamily="2" charset="2"/>
              </a:rPr>
              <a:t>…</a:t>
            </a:r>
            <a:r>
              <a:rPr lang="en-US" altLang="zh-TW" sz="2300">
                <a:sym typeface="Symbol" pitchFamily="2" charset="2"/>
              </a:rPr>
              <a:t> </a:t>
            </a:r>
            <a:r>
              <a:rPr lang="en-US" altLang="zh-TW" sz="2300" i="1">
                <a:sym typeface="Symbol" pitchFamily="2" charset="2"/>
              </a:rPr>
              <a:t>city</a:t>
            </a:r>
            <a:r>
              <a:rPr lang="en-US" altLang="zh-TW" sz="2300">
                <a:sym typeface="Symbol" pitchFamily="2" charset="2"/>
              </a:rPr>
              <a:t> is in the candidate key of { </a:t>
            </a:r>
            <a:r>
              <a:rPr lang="en-US" altLang="zh-TW" sz="2300" i="1">
                <a:sym typeface="Symbol" pitchFamily="2" charset="2"/>
              </a:rPr>
              <a:t>city</a:t>
            </a:r>
            <a:r>
              <a:rPr lang="en-US" altLang="zh-TW" sz="2300">
                <a:sym typeface="Symbol" pitchFamily="2" charset="2"/>
              </a:rPr>
              <a:t>, </a:t>
            </a:r>
            <a:r>
              <a:rPr lang="en-US" altLang="zh-TW" sz="2300" i="1">
                <a:sym typeface="Symbol" pitchFamily="2" charset="2"/>
              </a:rPr>
              <a:t>part_id</a:t>
            </a:r>
            <a:r>
              <a:rPr lang="en-US" altLang="zh-TW" sz="2300">
                <a:sym typeface="Symbol" pitchFamily="2" charset="2"/>
              </a:rPr>
              <a:t> }.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zh-TW" sz="2300">
              <a:solidFill>
                <a:schemeClr val="bg2"/>
              </a:solidFill>
              <a:sym typeface="Symbol" pitchFamily="2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olidFill>
                  <a:srgbClr val="000099"/>
                </a:solidFill>
                <a:sym typeface="Symbol" pitchFamily="2" charset="2"/>
              </a:rPr>
              <a:t>If we decompose into ( </a:t>
            </a:r>
            <a:r>
              <a:rPr lang="en-US" altLang="zh-TW" sz="2300" i="1">
                <a:solidFill>
                  <a:srgbClr val="000099"/>
                </a:solidFill>
                <a:sym typeface="Symbol" pitchFamily="2" charset="2"/>
              </a:rPr>
              <a:t>sid</a:t>
            </a:r>
            <a:r>
              <a:rPr lang="en-US" altLang="zh-TW" sz="2300">
                <a:solidFill>
                  <a:srgbClr val="000099"/>
                </a:solidFill>
                <a:sym typeface="Symbol" pitchFamily="2" charset="2"/>
              </a:rPr>
              <a:t>, </a:t>
            </a:r>
            <a:r>
              <a:rPr lang="en-US" altLang="zh-TW" sz="2300" i="1">
                <a:solidFill>
                  <a:srgbClr val="000099"/>
                </a:solidFill>
                <a:sym typeface="Symbol" pitchFamily="2" charset="2"/>
              </a:rPr>
              <a:t>city</a:t>
            </a:r>
            <a:r>
              <a:rPr lang="en-US" altLang="zh-TW" sz="2300">
                <a:solidFill>
                  <a:srgbClr val="000099"/>
                </a:solidFill>
                <a:sym typeface="Symbol" pitchFamily="2" charset="2"/>
              </a:rPr>
              <a:t> ) and ( </a:t>
            </a:r>
            <a:r>
              <a:rPr lang="en-US" altLang="zh-TW" sz="2300" i="1">
                <a:solidFill>
                  <a:srgbClr val="000099"/>
                </a:solidFill>
                <a:sym typeface="Symbol" pitchFamily="2" charset="2"/>
              </a:rPr>
              <a:t>sid</a:t>
            </a:r>
            <a:r>
              <a:rPr lang="en-US" altLang="zh-TW" sz="2300">
                <a:solidFill>
                  <a:srgbClr val="000099"/>
                </a:solidFill>
                <a:sym typeface="Symbol" pitchFamily="2" charset="2"/>
              </a:rPr>
              <a:t>, </a:t>
            </a:r>
            <a:r>
              <a:rPr lang="en-US" altLang="zh-TW" sz="2300" i="1">
                <a:solidFill>
                  <a:srgbClr val="000099"/>
                </a:solidFill>
                <a:sym typeface="Symbol" pitchFamily="2" charset="2"/>
              </a:rPr>
              <a:t>part_id</a:t>
            </a:r>
            <a:r>
              <a:rPr lang="en-US" altLang="zh-TW" sz="2300">
                <a:solidFill>
                  <a:srgbClr val="000099"/>
                </a:solidFill>
                <a:sym typeface="Symbol" pitchFamily="2" charset="2"/>
              </a:rPr>
              <a:t> ) we have BCNF, however	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300">
                <a:solidFill>
                  <a:srgbClr val="000099"/>
                </a:solidFill>
                <a:sym typeface="Symbol" pitchFamily="2" charset="2"/>
              </a:rPr>
              <a:t>    { </a:t>
            </a:r>
            <a:r>
              <a:rPr lang="en-US" altLang="zh-TW" sz="2300" i="1">
                <a:solidFill>
                  <a:srgbClr val="000099"/>
                </a:solidFill>
                <a:sym typeface="Symbol" pitchFamily="2" charset="2"/>
              </a:rPr>
              <a:t>city</a:t>
            </a:r>
            <a:r>
              <a:rPr lang="en-US" altLang="zh-TW" sz="2300">
                <a:solidFill>
                  <a:srgbClr val="000099"/>
                </a:solidFill>
                <a:sym typeface="Symbol" pitchFamily="2" charset="2"/>
              </a:rPr>
              <a:t>, </a:t>
            </a:r>
            <a:r>
              <a:rPr lang="en-US" altLang="zh-TW" sz="2300" i="1">
                <a:solidFill>
                  <a:srgbClr val="000099"/>
                </a:solidFill>
                <a:sym typeface="Symbol" pitchFamily="2" charset="2"/>
              </a:rPr>
              <a:t>part_id</a:t>
            </a:r>
            <a:r>
              <a:rPr lang="en-US" altLang="zh-TW" sz="2300">
                <a:solidFill>
                  <a:srgbClr val="000099"/>
                </a:solidFill>
                <a:sym typeface="Symbol" pitchFamily="2" charset="2"/>
              </a:rPr>
              <a:t> }  </a:t>
            </a:r>
            <a:r>
              <a:rPr lang="en-US" altLang="zh-TW" sz="2300" i="1">
                <a:solidFill>
                  <a:srgbClr val="000099"/>
                </a:solidFill>
                <a:sym typeface="Symbol" pitchFamily="2" charset="2"/>
              </a:rPr>
              <a:t>sid    </a:t>
            </a:r>
            <a:r>
              <a:rPr lang="en-US" altLang="zh-TW" sz="2300">
                <a:solidFill>
                  <a:srgbClr val="000099"/>
                </a:solidFill>
                <a:sym typeface="Symbol" pitchFamily="2" charset="2"/>
              </a:rPr>
              <a:t>will not be preserved</a:t>
            </a:r>
            <a:r>
              <a:rPr lang="en-US" altLang="zh-TW" sz="2300">
                <a:sym typeface="Symbol" pitchFamily="2" charset="2"/>
              </a:rPr>
              <a:t>.</a:t>
            </a:r>
          </a:p>
        </p:txBody>
      </p:sp>
      <p:grpSp>
        <p:nvGrpSpPr>
          <p:cNvPr id="100356" name="Group 4">
            <a:extLst>
              <a:ext uri="{FF2B5EF4-FFF2-40B4-BE49-F238E27FC236}">
                <a16:creationId xmlns:a16="http://schemas.microsoft.com/office/drawing/2014/main" id="{D50F6F78-A97D-1946-9C37-5000572F4251}"/>
              </a:ext>
            </a:extLst>
          </p:cNvPr>
          <p:cNvGrpSpPr>
            <a:grpSpLocks/>
          </p:cNvGrpSpPr>
          <p:nvPr/>
        </p:nvGrpSpPr>
        <p:grpSpPr bwMode="auto">
          <a:xfrm>
            <a:off x="4953000" y="628650"/>
            <a:ext cx="4114800" cy="1962150"/>
            <a:chOff x="1104" y="1920"/>
            <a:chExt cx="3360" cy="1829"/>
          </a:xfrm>
        </p:grpSpPr>
        <p:sp>
          <p:nvSpPr>
            <p:cNvPr id="100358" name="Line 5">
              <a:extLst>
                <a:ext uri="{FF2B5EF4-FFF2-40B4-BE49-F238E27FC236}">
                  <a16:creationId xmlns:a16="http://schemas.microsoft.com/office/drawing/2014/main" id="{32E67A5A-3B7E-5C4E-BC09-ED45109A4D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488" y="2304"/>
              <a:ext cx="672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59" name="Line 6">
              <a:extLst>
                <a:ext uri="{FF2B5EF4-FFF2-40B4-BE49-F238E27FC236}">
                  <a16:creationId xmlns:a16="http://schemas.microsoft.com/office/drawing/2014/main" id="{4E7989DA-5729-2842-8E03-EF5B567DAB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08" y="2256"/>
              <a:ext cx="480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60" name="Line 7">
              <a:extLst>
                <a:ext uri="{FF2B5EF4-FFF2-40B4-BE49-F238E27FC236}">
                  <a16:creationId xmlns:a16="http://schemas.microsoft.com/office/drawing/2014/main" id="{86DB036A-D917-D94B-88DC-F145E76EEB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16" y="2304"/>
              <a:ext cx="432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61" name="Line 8">
              <a:extLst>
                <a:ext uri="{FF2B5EF4-FFF2-40B4-BE49-F238E27FC236}">
                  <a16:creationId xmlns:a16="http://schemas.microsoft.com/office/drawing/2014/main" id="{90486558-E12C-9548-A0D0-CC32E0AA3D1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28" y="2112"/>
              <a:ext cx="0" cy="62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0362" name="Rectangle 9">
              <a:extLst>
                <a:ext uri="{FF2B5EF4-FFF2-40B4-BE49-F238E27FC236}">
                  <a16:creationId xmlns:a16="http://schemas.microsoft.com/office/drawing/2014/main" id="{8170E171-144E-C046-B26E-6566AD1A24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735"/>
              <a:ext cx="959" cy="385"/>
            </a:xfrm>
            <a:prstGeom prst="rect">
              <a:avLst/>
            </a:prstGeom>
            <a:solidFill>
              <a:srgbClr val="EEDDCC"/>
            </a:solidFill>
            <a:ln w="12700" algn="ctr">
              <a:solidFill>
                <a:schemeClr val="tx1"/>
              </a:solidFill>
              <a:miter lim="800000"/>
              <a:headEnd/>
              <a:tailEnd/>
            </a:ln>
            <a:effectLst>
              <a:outerShdw dist="7184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000" b="1">
                  <a:latin typeface="Arial" panose="020B0604020202020204" pitchFamily="34" charset="0"/>
                </a:rPr>
                <a:t>SUPPLY</a:t>
              </a:r>
            </a:p>
          </p:txBody>
        </p:sp>
        <p:sp>
          <p:nvSpPr>
            <p:cNvPr id="100363" name="Oval 10">
              <a:extLst>
                <a:ext uri="{FF2B5EF4-FFF2-40B4-BE49-F238E27FC236}">
                  <a16:creationId xmlns:a16="http://schemas.microsoft.com/office/drawing/2014/main" id="{46830088-90D0-9649-A6F1-2BBCFAB491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1920"/>
              <a:ext cx="959" cy="479"/>
            </a:xfrm>
            <a:prstGeom prst="ellipse">
              <a:avLst/>
            </a:prstGeom>
            <a:solidFill>
              <a:srgbClr val="EEDDCC"/>
            </a:solidFill>
            <a:ln w="12700" algn="ctr">
              <a:solidFill>
                <a:schemeClr val="tx1"/>
              </a:solidFill>
              <a:round/>
              <a:headEnd/>
              <a:tailEnd/>
            </a:ln>
            <a:effectLst>
              <a:outerShdw dist="7184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400">
                  <a:latin typeface="Arial" panose="020B0604020202020204" pitchFamily="34" charset="0"/>
                </a:rPr>
                <a:t>part_id</a:t>
              </a:r>
            </a:p>
          </p:txBody>
        </p:sp>
        <p:sp>
          <p:nvSpPr>
            <p:cNvPr id="100364" name="Text Box 11">
              <a:extLst>
                <a:ext uri="{FF2B5EF4-FFF2-40B4-BE49-F238E27FC236}">
                  <a16:creationId xmlns:a16="http://schemas.microsoft.com/office/drawing/2014/main" id="{A0F713C4-053F-8C4A-9436-05F4E086F0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3407"/>
              <a:ext cx="1009" cy="3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1800">
                  <a:latin typeface="Arial" panose="020B0604020202020204" pitchFamily="34" charset="0"/>
                </a:rPr>
                <a:t>SUPPLY</a:t>
              </a:r>
            </a:p>
          </p:txBody>
        </p:sp>
        <p:sp>
          <p:nvSpPr>
            <p:cNvPr id="100365" name="Rectangle 12">
              <a:extLst>
                <a:ext uri="{FF2B5EF4-FFF2-40B4-BE49-F238E27FC236}">
                  <a16:creationId xmlns:a16="http://schemas.microsoft.com/office/drawing/2014/main" id="{D8DA278F-135D-6D4A-B960-E307E1E25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5" y="3360"/>
              <a:ext cx="481" cy="336"/>
            </a:xfrm>
            <a:prstGeom prst="rect">
              <a:avLst/>
            </a:prstGeom>
            <a:solidFill>
              <a:srgbClr val="E2C5A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63500" dir="3187806" algn="ctr" rotWithShape="0">
                <a:schemeClr val="accent1"/>
              </a:outerShdw>
            </a:effectLst>
          </p:spPr>
          <p:txBody>
            <a:bodyPr wrap="none" anchor="ctr" anchorCtr="1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2200">
                  <a:latin typeface="Arial" panose="020B0604020202020204" pitchFamily="34" charset="0"/>
                </a:rPr>
                <a:t>city</a:t>
              </a:r>
            </a:p>
          </p:txBody>
        </p:sp>
        <p:sp>
          <p:nvSpPr>
            <p:cNvPr id="100366" name="Rectangle 13">
              <a:extLst>
                <a:ext uri="{FF2B5EF4-FFF2-40B4-BE49-F238E27FC236}">
                  <a16:creationId xmlns:a16="http://schemas.microsoft.com/office/drawing/2014/main" id="{1EF92735-5C9D-314A-AC15-7C831105D0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3360"/>
              <a:ext cx="767" cy="336"/>
            </a:xfrm>
            <a:prstGeom prst="rect">
              <a:avLst/>
            </a:prstGeom>
            <a:solidFill>
              <a:srgbClr val="E2C5A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63500" dir="3187806" algn="ctr" rotWithShape="0">
                <a:schemeClr val="accent1"/>
              </a:outerShdw>
            </a:effectLst>
          </p:spPr>
          <p:txBody>
            <a:bodyPr wrap="none" anchor="ctr" anchorCtr="1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2200">
                  <a:latin typeface="Arial" panose="020B0604020202020204" pitchFamily="34" charset="0"/>
                </a:rPr>
                <a:t>part_id</a:t>
              </a:r>
            </a:p>
          </p:txBody>
        </p:sp>
        <p:sp>
          <p:nvSpPr>
            <p:cNvPr id="100367" name="Rectangle 14">
              <a:extLst>
                <a:ext uri="{FF2B5EF4-FFF2-40B4-BE49-F238E27FC236}">
                  <a16:creationId xmlns:a16="http://schemas.microsoft.com/office/drawing/2014/main" id="{CD0FFA76-3AE2-FE41-B612-BAE617F928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3360"/>
              <a:ext cx="529" cy="336"/>
            </a:xfrm>
            <a:prstGeom prst="rect">
              <a:avLst/>
            </a:prstGeom>
            <a:solidFill>
              <a:srgbClr val="E2C5A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63500" dir="3187806" algn="ctr" rotWithShape="0">
                <a:schemeClr val="accent1"/>
              </a:outerShdw>
            </a:effectLst>
          </p:spPr>
          <p:txBody>
            <a:bodyPr wrap="none" anchor="ctr" anchorCtr="1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TW" sz="2200">
                  <a:latin typeface="Arial" panose="020B0604020202020204" pitchFamily="34" charset="0"/>
                </a:rPr>
                <a:t>sid</a:t>
              </a:r>
            </a:p>
          </p:txBody>
        </p:sp>
        <p:sp>
          <p:nvSpPr>
            <p:cNvPr id="100368" name="Oval 15">
              <a:extLst>
                <a:ext uri="{FF2B5EF4-FFF2-40B4-BE49-F238E27FC236}">
                  <a16:creationId xmlns:a16="http://schemas.microsoft.com/office/drawing/2014/main" id="{488A9950-72A2-0C46-BF3F-072066F977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160"/>
              <a:ext cx="962" cy="481"/>
            </a:xfrm>
            <a:prstGeom prst="ellipse">
              <a:avLst/>
            </a:prstGeom>
            <a:solidFill>
              <a:srgbClr val="EEDDCC"/>
            </a:solidFill>
            <a:ln w="12700" algn="ctr">
              <a:solidFill>
                <a:schemeClr val="tx1"/>
              </a:solidFill>
              <a:round/>
              <a:headEnd/>
              <a:tailEnd/>
            </a:ln>
            <a:effectLst>
              <a:outerShdw dist="7184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400">
                  <a:latin typeface="Arial" panose="020B0604020202020204" pitchFamily="34" charset="0"/>
                </a:rPr>
                <a:t>city</a:t>
              </a:r>
            </a:p>
          </p:txBody>
        </p:sp>
        <p:sp>
          <p:nvSpPr>
            <p:cNvPr id="100369" name="Oval 16">
              <a:extLst>
                <a:ext uri="{FF2B5EF4-FFF2-40B4-BE49-F238E27FC236}">
                  <a16:creationId xmlns:a16="http://schemas.microsoft.com/office/drawing/2014/main" id="{0407E543-C9D9-6F4A-BFB2-FA08622126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3" y="2160"/>
              <a:ext cx="961" cy="481"/>
            </a:xfrm>
            <a:prstGeom prst="ellipse">
              <a:avLst/>
            </a:prstGeom>
            <a:solidFill>
              <a:srgbClr val="EEDDCC"/>
            </a:solidFill>
            <a:ln w="12700" algn="ctr">
              <a:solidFill>
                <a:schemeClr val="tx1"/>
              </a:solidFill>
              <a:round/>
              <a:headEnd/>
              <a:tailEnd/>
            </a:ln>
            <a:effectLst>
              <a:outerShdw dist="71842" dir="2700000" algn="ctr" rotWithShape="0">
                <a:schemeClr val="bg2">
                  <a:alpha val="50000"/>
                </a:schemeClr>
              </a:outerShdw>
            </a:effec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新細明體" panose="02020500000000000000" pitchFamily="18" charset="-12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kumimoji="0" lang="en-US" altLang="zh-TW" sz="2400">
                  <a:latin typeface="Arial" panose="020B0604020202020204" pitchFamily="34" charset="0"/>
                </a:rPr>
                <a:t>sid</a:t>
              </a:r>
            </a:p>
          </p:txBody>
        </p:sp>
      </p:grpSp>
      <p:sp>
        <p:nvSpPr>
          <p:cNvPr id="100357" name="Rectangle 17">
            <a:extLst>
              <a:ext uri="{FF2B5EF4-FFF2-40B4-BE49-F238E27FC236}">
                <a16:creationId xmlns:a16="http://schemas.microsoft.com/office/drawing/2014/main" id="{D5C36153-2DAF-DD4D-845A-878392FCF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457200"/>
            <a:ext cx="2303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TW" sz="2400">
                <a:solidFill>
                  <a:srgbClr val="000099"/>
                </a:solidFill>
                <a:latin typeface="Arial" panose="020B0604020202020204" pitchFamily="34" charset="0"/>
              </a:rPr>
              <a:t>More Examples</a:t>
            </a:r>
            <a:endParaRPr kumimoji="0" lang="en-US" altLang="en-US" sz="2400">
              <a:solidFill>
                <a:srgbClr val="000099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Slide Number Placeholder 5">
            <a:extLst>
              <a:ext uri="{FF2B5EF4-FFF2-40B4-BE49-F238E27FC236}">
                <a16:creationId xmlns:a16="http://schemas.microsoft.com/office/drawing/2014/main" id="{8534C92B-9746-B34A-99CF-46A3889D4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9472781-D860-1440-A6F9-F0D7D8F911FC}" type="slidenum">
              <a:rPr lang="en-US" altLang="zh-TW" sz="1400" smtClean="0"/>
              <a:pPr>
                <a:spcBef>
                  <a:spcPct val="0"/>
                </a:spcBef>
                <a:buFontTx/>
                <a:buNone/>
              </a:pPr>
              <a:t>86</a:t>
            </a:fld>
            <a:endParaRPr lang="en-US" altLang="zh-TW" sz="1400"/>
          </a:p>
        </p:txBody>
      </p:sp>
      <p:sp>
        <p:nvSpPr>
          <p:cNvPr id="99330" name="Rectangle 2">
            <a:extLst>
              <a:ext uri="{FF2B5EF4-FFF2-40B4-BE49-F238E27FC236}">
                <a16:creationId xmlns:a16="http://schemas.microsoft.com/office/drawing/2014/main" id="{12BE45C6-21E8-1945-9828-B8201E3099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zh-TW"/>
              <a:t>Design Goals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5F0047C3-EFDA-3941-92C5-F8148A47D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 sz="2700">
                <a:sym typeface="Symbol" pitchFamily="2" charset="2"/>
              </a:rPr>
              <a:t>Goal for a relational database design is:</a:t>
            </a:r>
          </a:p>
          <a:p>
            <a:pPr lvl="1" eaLnBrk="1" hangingPunct="1"/>
            <a:r>
              <a:rPr lang="en-US" altLang="zh-TW" sz="2700">
                <a:sym typeface="Symbol" pitchFamily="2" charset="2"/>
              </a:rPr>
              <a:t>BCNF</a:t>
            </a:r>
          </a:p>
          <a:p>
            <a:pPr lvl="1" eaLnBrk="1" hangingPunct="1"/>
            <a:r>
              <a:rPr lang="en-US" altLang="zh-TW" sz="2700">
                <a:sym typeface="Symbol" pitchFamily="2" charset="2"/>
              </a:rPr>
              <a:t>lossless join</a:t>
            </a:r>
          </a:p>
          <a:p>
            <a:pPr lvl="1" eaLnBrk="1" hangingPunct="1"/>
            <a:r>
              <a:rPr lang="en-US" altLang="zh-TW" sz="2700">
                <a:sym typeface="Symbol" pitchFamily="2" charset="2"/>
              </a:rPr>
              <a:t>Dependency preservation</a:t>
            </a:r>
          </a:p>
          <a:p>
            <a:pPr lvl="1" eaLnBrk="1" hangingPunct="1">
              <a:buFontTx/>
              <a:buNone/>
            </a:pPr>
            <a:endParaRPr lang="en-US" altLang="zh-TW" sz="2700">
              <a:sym typeface="Symbol" pitchFamily="2" charset="2"/>
            </a:endParaRPr>
          </a:p>
          <a:p>
            <a:pPr eaLnBrk="1" hangingPunct="1"/>
            <a:r>
              <a:rPr lang="en-US" altLang="zh-TW" sz="2700">
                <a:sym typeface="Symbol" pitchFamily="2" charset="2"/>
              </a:rPr>
              <a:t>If we cannot achieve this, we accept:</a:t>
            </a:r>
          </a:p>
          <a:p>
            <a:pPr lvl="1" eaLnBrk="1" hangingPunct="1"/>
            <a:r>
              <a:rPr lang="en-US" altLang="zh-TW" sz="2700">
                <a:sym typeface="Symbol" pitchFamily="2" charset="2"/>
              </a:rPr>
              <a:t>3NF</a:t>
            </a:r>
          </a:p>
          <a:p>
            <a:pPr lvl="1" eaLnBrk="1" hangingPunct="1"/>
            <a:r>
              <a:rPr lang="en-US" altLang="zh-TW" sz="2700">
                <a:sym typeface="Symbol" pitchFamily="2" charset="2"/>
              </a:rPr>
              <a:t>lossless join</a:t>
            </a:r>
          </a:p>
          <a:p>
            <a:pPr lvl="1" eaLnBrk="1" hangingPunct="1"/>
            <a:r>
              <a:rPr lang="en-US" altLang="zh-TW" sz="2700">
                <a:sym typeface="Symbol" pitchFamily="2" charset="2"/>
              </a:rPr>
              <a:t>Dependency preservation</a:t>
            </a:r>
          </a:p>
          <a:p>
            <a:pPr eaLnBrk="1" hangingPunct="1"/>
            <a:endParaRPr lang="zh-TW" altLang="en-US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ystyle">
  <a:themeElements>
    <a:clrScheme name="mysty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ystyle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mysty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ty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mystyle">
  <a:themeElements>
    <a:clrScheme name="mystyl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ystyle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mystyle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ystyle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ystyl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Settings\mhwong\Application Data\Microsoft\Templates\mystyle.pot</Template>
  <TotalTime>6397</TotalTime>
  <Words>6615</Words>
  <Application>Microsoft Office PowerPoint</Application>
  <PresentationFormat>全屏显示(4:3)</PresentationFormat>
  <Paragraphs>1248</Paragraphs>
  <Slides>86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86</vt:i4>
      </vt:variant>
    </vt:vector>
  </HeadingPairs>
  <TitlesOfParts>
    <vt:vector size="96" baseType="lpstr">
      <vt:lpstr>DotumChe</vt:lpstr>
      <vt:lpstr>Arial</vt:lpstr>
      <vt:lpstr>Perpetua</vt:lpstr>
      <vt:lpstr>Symbol</vt:lpstr>
      <vt:lpstr>Times New Roman</vt:lpstr>
      <vt:lpstr>Wingdings</vt:lpstr>
      <vt:lpstr>mystyle</vt:lpstr>
      <vt:lpstr>1_mystyle</vt:lpstr>
      <vt:lpstr>Worksheet</vt:lpstr>
      <vt:lpstr>Equation</vt:lpstr>
      <vt:lpstr>Design, Implementation and Management of Database Systems</vt:lpstr>
      <vt:lpstr>Motivation Example</vt:lpstr>
      <vt:lpstr>Motivation Example</vt:lpstr>
      <vt:lpstr>Motivation Example</vt:lpstr>
      <vt:lpstr>Motivation Example</vt:lpstr>
      <vt:lpstr>Motivation Example</vt:lpstr>
      <vt:lpstr>Problems caused by redundancy</vt:lpstr>
      <vt:lpstr>Decompositions</vt:lpstr>
      <vt:lpstr>PowerPoint 演示文稿</vt:lpstr>
      <vt:lpstr>Functional Dependencies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Closure of a set of FDs</vt:lpstr>
      <vt:lpstr>PowerPoint 演示文稿</vt:lpstr>
      <vt:lpstr>PowerPoint 演示文稿</vt:lpstr>
      <vt:lpstr>Proof of Armstrong’s Axioms (soundness)</vt:lpstr>
      <vt:lpstr>PowerPoint 演示文稿</vt:lpstr>
      <vt:lpstr>PowerPoint 演示文稿</vt:lpstr>
      <vt:lpstr>Additional rules</vt:lpstr>
      <vt:lpstr>PowerPoint 演示文稿</vt:lpstr>
      <vt:lpstr>PowerPoint 演示文稿</vt:lpstr>
      <vt:lpstr>PowerPoint 演示文稿</vt:lpstr>
      <vt:lpstr>Attribute Closure</vt:lpstr>
      <vt:lpstr>PowerPoint 演示文稿</vt:lpstr>
      <vt:lpstr>PowerPoint 演示文稿</vt:lpstr>
      <vt:lpstr>PowerPoint 演示文稿</vt:lpstr>
      <vt:lpstr>Relational Database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Third Normal Form</vt:lpstr>
      <vt:lpstr>PowerPoint 演示文稿</vt:lpstr>
      <vt:lpstr>PowerPoint 演示文稿</vt:lpstr>
      <vt:lpstr>PowerPoint 演示文稿</vt:lpstr>
      <vt:lpstr>PowerPoint 演示文稿</vt:lpstr>
      <vt:lpstr>Decomposition</vt:lpstr>
      <vt:lpstr>PowerPoint 演示文稿</vt:lpstr>
      <vt:lpstr>PowerPoint 演示文稿</vt:lpstr>
      <vt:lpstr>PowerPoint 演示文稿</vt:lpstr>
      <vt:lpstr>Lossless Join Decomposition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Dependency Preservation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Normalization</vt:lpstr>
      <vt:lpstr>BCNF Decomposition</vt:lpstr>
      <vt:lpstr>PowerPoint 演示文稿</vt:lpstr>
      <vt:lpstr>PowerPoint 演示文稿</vt:lpstr>
      <vt:lpstr>PowerPoint 演示文稿</vt:lpstr>
      <vt:lpstr>PowerPoint 演示文稿</vt:lpstr>
      <vt:lpstr>Canonical Cover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3NF Synthesis Algorithm</vt:lpstr>
      <vt:lpstr>PowerPoint 演示文稿</vt:lpstr>
      <vt:lpstr>PowerPoint 演示文稿</vt:lpstr>
      <vt:lpstr>BCNF VS 3NF</vt:lpstr>
      <vt:lpstr>PowerPoint 演示文稿</vt:lpstr>
      <vt:lpstr>PowerPoint 演示文稿</vt:lpstr>
      <vt:lpstr>PowerPoint 演示文稿</vt:lpstr>
      <vt:lpstr>Design Goals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潇 晏</cp:lastModifiedBy>
  <cp:revision>84</cp:revision>
  <cp:lastPrinted>2019-03-05T08:59:55Z</cp:lastPrinted>
  <dcterms:created xsi:type="dcterms:W3CDTF">1601-01-01T00:00:00Z</dcterms:created>
  <dcterms:modified xsi:type="dcterms:W3CDTF">2026-09-21T13:21:00Z</dcterms:modified>
</cp:coreProperties>
</file>